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14"/>
  </p:notesMasterIdLst>
  <p:handoutMasterIdLst>
    <p:handoutMasterId r:id="rId15"/>
  </p:handoutMasterIdLst>
  <p:sldIdLst>
    <p:sldId id="428" r:id="rId7"/>
    <p:sldId id="429" r:id="rId8"/>
    <p:sldId id="330" r:id="rId9"/>
    <p:sldId id="331" r:id="rId10"/>
    <p:sldId id="441" r:id="rId11"/>
    <p:sldId id="334" r:id="rId12"/>
    <p:sldId id="439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330"/>
            <p14:sldId id="331"/>
            <p14:sldId id="441"/>
            <p14:sldId id="334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1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8" name="Gao, Shuyu" initials="GS" lastIdx="1" clrIdx="7">
    <p:extLst>
      <p:ext uri="{19B8F6BF-5375-455C-9EA6-DF929625EA0E}">
        <p15:presenceInfo xmlns:p15="http://schemas.microsoft.com/office/powerpoint/2012/main" userId="S::sgao303@gatech.edu::745fdf33-32d9-42c7-8a89-b5a22794559e" providerId="AD"/>
      </p:ext>
    </p:extLst>
  </p:cmAuthor>
  <p:cmAuthor id="2" name="Figueroa, Shabana" initials="FS [2]" lastIdx="1" clrIdx="1"/>
  <p:cmAuthor id="3" name="Serban, Nicoleta" initials="SN" lastIdx="12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70B"/>
    <a:srgbClr val="F8FFF1"/>
    <a:srgbClr val="000000"/>
    <a:srgbClr val="EEB211"/>
    <a:srgbClr val="9932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86" autoAdjust="0"/>
    <p:restoredTop sz="92671" autoAdjust="0"/>
  </p:normalViewPr>
  <p:slideViewPr>
    <p:cSldViewPr snapToGrid="0">
      <p:cViewPr varScale="1">
        <p:scale>
          <a:sx n="83" d="100"/>
          <a:sy n="83" d="100"/>
        </p:scale>
        <p:origin x="1002" y="114"/>
      </p:cViewPr>
      <p:guideLst>
        <p:guide orient="horz" pos="1620"/>
        <p:guide pos="2880"/>
        <p:guide pos="144"/>
        <p:guide orient="horz" pos="444"/>
        <p:guide orient="horz" pos="804"/>
        <p:guide pos="3480"/>
        <p:guide pos="432"/>
        <p:guide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1/30/2020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1/30/2020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FC1340CC-78E1-404E-942C-7AB62C289CB5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8287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C6B19B3C-5F31-1A44-BFA7-36F6400D30FB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2826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688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6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Simple Linear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036532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Regression Concepts: </a:t>
            </a:r>
          </a:p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Assumptions and Diagnostics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-135358"/>
            <a:ext cx="4727575" cy="1330325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ext Box 2"/>
          <p:cNvSpPr txBox="1">
            <a:spLocks noChangeArrowheads="1"/>
          </p:cNvSpPr>
          <p:nvPr/>
        </p:nvSpPr>
        <p:spPr bwMode="auto">
          <a:xfrm>
            <a:off x="146173" y="205407"/>
            <a:ext cx="67971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Outliers in Regression</a:t>
            </a:r>
          </a:p>
        </p:txBody>
      </p:sp>
      <p:sp>
        <p:nvSpPr>
          <p:cNvPr id="90115" name="TextBox 2"/>
          <p:cNvSpPr txBox="1">
            <a:spLocks noChangeArrowheads="1"/>
          </p:cNvSpPr>
          <p:nvPr/>
        </p:nvSpPr>
        <p:spPr bwMode="auto">
          <a:xfrm>
            <a:off x="146173" y="933789"/>
            <a:ext cx="8381815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data point far from the majority of the data (in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and/or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 may be called an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outlier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especially if it does not follow the general trend of the rest of the data. </a:t>
            </a: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457200" indent="-457200">
              <a:buFont typeface="Wingdings" charset="2"/>
              <a:buChar char="Ø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Data points that are far from the mean of the x</a:t>
            </a:r>
            <a:r>
              <a:rPr lang="ja-JP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’</a:t>
            </a:r>
            <a:r>
              <a:rPr lang="en-US" altLang="ja-JP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 are called </a:t>
            </a:r>
            <a:r>
              <a:rPr lang="en-US" altLang="ja-JP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leverage points</a:t>
            </a:r>
            <a:r>
              <a:rPr lang="en-US" altLang="ja-JP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457200" indent="-457200">
              <a:buFont typeface="Wingdings" charset="2"/>
              <a:buChar char="Ø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data point that is far from the mean of </a:t>
            </a:r>
            <a:r>
              <a:rPr lang="en-US" altLang="ja-JP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either or both the x’s and/or the y’s are </a:t>
            </a:r>
            <a:r>
              <a:rPr lang="en-US" altLang="ja-JP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influential points </a:t>
            </a:r>
            <a:r>
              <a:rPr lang="en-US" altLang="ja-JP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if they influence the fit of the regression</a:t>
            </a:r>
            <a:r>
              <a:rPr lang="en-US" altLang="ja-JP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  <a:endParaRPr lang="en-US" altLang="ja-JP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457200" indent="-457200">
              <a:buFont typeface="Wingdings" charset="2"/>
              <a:buChar char="Ø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An outlier may or may not impact </a:t>
            </a:r>
            <a:r>
              <a:rPr lang="en-US" altLang="ja-JP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regression fit significantly, thus it may or may not be an influential point.</a:t>
            </a: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upshot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Sometimes there are good reasons for excluding subsets </a:t>
            </a:r>
            <a:r>
              <a:rPr lang="en-US" altLang="en-US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(there were errors in the data entry; there were errors in the experiment).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Sometimes - the outlier belongs in the data. Outliers should always be examined.</a:t>
            </a:r>
          </a:p>
        </p:txBody>
      </p:sp>
    </p:spTree>
    <p:extLst>
      <p:ext uri="{BB962C8B-B14F-4D97-AF65-F5344CB8AC3E}">
        <p14:creationId xmlns:p14="http://schemas.microsoft.com/office/powerpoint/2010/main" val="42767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ext Box 2"/>
          <p:cNvSpPr txBox="1">
            <a:spLocks noChangeArrowheads="1"/>
          </p:cNvSpPr>
          <p:nvPr/>
        </p:nvSpPr>
        <p:spPr bwMode="auto">
          <a:xfrm>
            <a:off x="144766" y="198892"/>
            <a:ext cx="71861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Checking for Outliers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81" y="1005262"/>
            <a:ext cx="4977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Look at the </a:t>
            </a:r>
            <a:r>
              <a:rPr lang="en-US" b="1" dirty="0">
                <a:solidFill>
                  <a:srgbClr val="DFA70B"/>
                </a:solidFill>
                <a:latin typeface="Helvetica" charset="0"/>
                <a:ea typeface="Helvetica" charset="0"/>
                <a:cs typeface="Helvetica" charset="0"/>
              </a:rPr>
              <a:t>standardized residuals</a:t>
            </a:r>
            <a:r>
              <a:rPr lang="en-US" dirty="0">
                <a:solidFill>
                  <a:srgbClr val="DFA70B"/>
                </a:solidFill>
                <a:latin typeface="Helvetica" charset="0"/>
                <a:ea typeface="Helvetica" charset="0"/>
                <a:cs typeface="Helvetica" charset="0"/>
              </a:rPr>
              <a:t>:</a:t>
            </a:r>
            <a:endParaRPr lang="en-US" b="1" dirty="0">
              <a:solidFill>
                <a:srgbClr val="DFA70B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766" y="2298356"/>
            <a:ext cx="76322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Compare the standardized residuals to the -2 to +2 band (or -1 to + 1).</a:t>
            </a:r>
          </a:p>
          <a:p>
            <a:endParaRPr lang="en-US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Standardized residuals bigger than 1 are large.</a:t>
            </a:r>
          </a:p>
          <a:p>
            <a:pPr marL="457200" indent="-457200">
              <a:buFont typeface="Arial" charset="0"/>
              <a:buChar char="•"/>
            </a:pP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Standardized residuals bigger than 2 extremely large.</a:t>
            </a:r>
          </a:p>
          <a:p>
            <a:pPr marL="285750" indent="-285750">
              <a:buFont typeface="Arial" charset="0"/>
              <a:buChar char="•"/>
            </a:pPr>
            <a:endParaRPr lang="en-US" dirty="0">
              <a:latin typeface="Helvetica" charset="0"/>
              <a:ea typeface="Helvetica" charset="0"/>
              <a:cs typeface="Helvetica" charset="0"/>
            </a:endParaRPr>
          </a:p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Most statistics packages will calculate these automatically.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27142" y="1495816"/>
                <a:ext cx="1605300" cy="6433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𝑀𝑆𝐸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42" y="1495816"/>
                <a:ext cx="1605300" cy="6433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9132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 Box 2"/>
          <p:cNvSpPr txBox="1">
            <a:spLocks noChangeArrowheads="1"/>
          </p:cNvSpPr>
          <p:nvPr/>
        </p:nvSpPr>
        <p:spPr bwMode="auto">
          <a:xfrm>
            <a:off x="143462" y="199445"/>
            <a:ext cx="92026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Coefficient of Determination</a:t>
            </a:r>
          </a:p>
        </p:txBody>
      </p:sp>
      <p:sp>
        <p:nvSpPr>
          <p:cNvPr id="92162" name="Text Box 3"/>
          <p:cNvSpPr txBox="1">
            <a:spLocks noChangeArrowheads="1"/>
          </p:cNvSpPr>
          <p:nvPr/>
        </p:nvSpPr>
        <p:spPr bwMode="auto">
          <a:xfrm>
            <a:off x="162340" y="1004553"/>
            <a:ext cx="697989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statistic that efficiently summarizes how well the X’s can be used to predict Y is the R-square:</a:t>
            </a:r>
          </a:p>
          <a:p>
            <a:pPr eaLnBrk="1" hangingPunct="1"/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 R</a:t>
            </a:r>
            <a:r>
              <a:rPr lang="en-US" altLang="en-US" b="1" baseline="30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1 – SSE / SST</a:t>
            </a:r>
          </a:p>
        </p:txBody>
      </p:sp>
      <p:sp>
        <p:nvSpPr>
          <p:cNvPr id="92168" name="Rectangle 8"/>
          <p:cNvSpPr>
            <a:spLocks noChangeArrowheads="1"/>
          </p:cNvSpPr>
          <p:nvPr/>
        </p:nvSpPr>
        <p:spPr bwMode="auto">
          <a:xfrm>
            <a:off x="4595194" y="2034707"/>
            <a:ext cx="3450051" cy="12003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solidFill>
                  <a:schemeClr val="bg2">
                    <a:lumMod val="10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</a:t>
            </a:r>
            <a:r>
              <a:rPr lang="en-US" altLang="en-US" b="1" baseline="30000" dirty="0">
                <a:solidFill>
                  <a:schemeClr val="bg2">
                    <a:lumMod val="10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altLang="en-US" b="1" dirty="0">
                <a:solidFill>
                  <a:schemeClr val="bg2">
                    <a:lumMod val="10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Proportion of total variability in Y that can be explained by the regression (that uses X)</a:t>
            </a:r>
          </a:p>
        </p:txBody>
      </p:sp>
      <p:sp>
        <p:nvSpPr>
          <p:cNvPr id="92166" name="Rectangle 9"/>
          <p:cNvSpPr>
            <a:spLocks noChangeArrowheads="1"/>
          </p:cNvSpPr>
          <p:nvPr/>
        </p:nvSpPr>
        <p:spPr bwMode="auto">
          <a:xfrm>
            <a:off x="149088" y="2015692"/>
            <a:ext cx="25442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which is interpreted 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64" name="Object 19"/>
              <p:cNvSpPr txBox="1"/>
              <p:nvPr/>
            </p:nvSpPr>
            <p:spPr bwMode="auto">
              <a:xfrm>
                <a:off x="612914" y="2357687"/>
                <a:ext cx="2970530" cy="1463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SSE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r>
                  <a:rPr lang="en-US" sz="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en-US" sz="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SST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ba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164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914" y="2357687"/>
                <a:ext cx="2970530" cy="1463675"/>
              </a:xfrm>
              <a:prstGeom prst="rect">
                <a:avLst/>
              </a:prstGeom>
              <a:blipFill>
                <a:blip r:embed="rId2"/>
                <a:stretch>
                  <a:fillRect b="-141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85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ext Box 2"/>
          <p:cNvSpPr txBox="1">
            <a:spLocks noChangeArrowheads="1"/>
          </p:cNvSpPr>
          <p:nvPr/>
        </p:nvSpPr>
        <p:spPr bwMode="auto">
          <a:xfrm>
            <a:off x="135721" y="194634"/>
            <a:ext cx="68896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Correlation Coefficient</a:t>
            </a:r>
          </a:p>
        </p:txBody>
      </p:sp>
      <p:sp>
        <p:nvSpPr>
          <p:cNvPr id="93186" name="Text Box 3"/>
          <p:cNvSpPr txBox="1">
            <a:spLocks noChangeArrowheads="1"/>
          </p:cNvSpPr>
          <p:nvPr/>
        </p:nvSpPr>
        <p:spPr bwMode="auto">
          <a:xfrm>
            <a:off x="157494" y="1012625"/>
            <a:ext cx="7564777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statistic that efficiently summarizes how well the 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X’s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are linearly related to 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is the correlation coefficient:</a:t>
            </a:r>
          </a:p>
          <a:p>
            <a:pPr eaLnBrk="1" hangingPunct="1">
              <a:spcBef>
                <a:spcPct val="50000"/>
              </a:spcBef>
            </a:pPr>
            <a:endParaRPr lang="en-US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endParaRPr lang="en-US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Correlation coefficient and coefficient of variation:</a:t>
            </a:r>
          </a:p>
          <a:p>
            <a:pPr eaLnBrk="1" hangingPunct="1">
              <a:spcBef>
                <a:spcPct val="50000"/>
              </a:spcBef>
            </a:pPr>
            <a:endParaRPr lang="en-US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</a:rPr>
              <a:t> 		</a:t>
            </a:r>
            <a:endParaRPr lang="en-US" altLang="en-US" sz="21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7" name="Object 4"/>
              <p:cNvSpPr txBox="1"/>
              <p:nvPr/>
            </p:nvSpPr>
            <p:spPr bwMode="auto">
              <a:xfrm>
                <a:off x="601436" y="1579636"/>
                <a:ext cx="7564777" cy="10260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cor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𝑋𝑌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𝑋𝑋</m:t>
                                  </m:r>
                                </m:sub>
                              </m:sSub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𝑌𝑌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𝑋𝑋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𝑌𝑌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18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436" y="1579636"/>
                <a:ext cx="7564777" cy="1026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318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572804"/>
              </p:ext>
            </p:extLst>
          </p:nvPr>
        </p:nvGraphicFramePr>
        <p:xfrm>
          <a:off x="646270" y="3268941"/>
          <a:ext cx="824039" cy="362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4" imgW="520700" imgH="228600" progId="Equation.3">
                  <p:embed/>
                </p:oleObj>
              </mc:Choice>
              <mc:Fallback>
                <p:oleObj name="Equation" r:id="rId4" imgW="520700" imgH="228600" progId="Equation.3">
                  <p:embed/>
                  <p:pic>
                    <p:nvPicPr>
                      <p:cNvPr id="9318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270" y="3268941"/>
                        <a:ext cx="824039" cy="362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170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38732"/>
            <a:ext cx="4727575" cy="133032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B8D62D-BE99-40AF-BF97-BFAE812B12CE}">
  <ds:schemaRefs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b057fda7-913b-4ab6-8820-932873bcd66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1269</TotalTime>
  <Words>329</Words>
  <Application>Microsoft Office PowerPoint</Application>
  <PresentationFormat>On-screen Show (16:9)</PresentationFormat>
  <Paragraphs>45</Paragraphs>
  <Slides>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2" baseType="lpstr">
      <vt:lpstr>MS PGothic</vt:lpstr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Book</vt:lpstr>
      <vt:lpstr>Vitesse Medium</vt:lpstr>
      <vt:lpstr>Wingdings</vt:lpstr>
      <vt:lpstr>1_Half Page Slash</vt:lpstr>
      <vt:lpstr>Half Page Slash</vt:lpstr>
      <vt:lpstr>Full Page Layout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Rodriguez, Ramon S</cp:lastModifiedBy>
  <cp:revision>203</cp:revision>
  <dcterms:modified xsi:type="dcterms:W3CDTF">2020-01-30T17:43:40Z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