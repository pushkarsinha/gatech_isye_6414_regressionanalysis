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4"/>
  </p:notesMasterIdLst>
  <p:handoutMasterIdLst>
    <p:handoutMasterId r:id="rId15"/>
  </p:handoutMasterIdLst>
  <p:sldIdLst>
    <p:sldId id="428" r:id="rId7"/>
    <p:sldId id="429" r:id="rId8"/>
    <p:sldId id="335" r:id="rId9"/>
    <p:sldId id="336" r:id="rId10"/>
    <p:sldId id="337" r:id="rId11"/>
    <p:sldId id="338" r:id="rId12"/>
    <p:sldId id="439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335"/>
            <p14:sldId id="336"/>
            <p14:sldId id="337"/>
            <p14:sldId id="338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8" name="Gao, Shuyu" initials="GS" lastIdx="1" clrIdx="7">
    <p:extLst>
      <p:ext uri="{19B8F6BF-5375-455C-9EA6-DF929625EA0E}">
        <p15:presenceInfo xmlns:p15="http://schemas.microsoft.com/office/powerpoint/2012/main" userId="S::sgao303@gatech.edu::745fdf33-32d9-42c7-8a89-b5a22794559e" providerId="AD"/>
      </p:ext>
    </p:extLst>
  </p:cmAuthor>
  <p:cmAuthor id="2" name="Figueroa, Shabana" initials="FS [2]" lastIdx="1" clrIdx="1"/>
  <p:cmAuthor id="3" name="Serban, Nicoleta" initials="SN" lastIdx="12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F8FFF1"/>
    <a:srgbClr val="000000"/>
    <a:srgbClr val="EEB211"/>
    <a:srgbClr val="9932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21" autoAdjust="0"/>
    <p:restoredTop sz="85950"/>
  </p:normalViewPr>
  <p:slideViewPr>
    <p:cSldViewPr snapToGrid="0">
      <p:cViewPr varScale="1">
        <p:scale>
          <a:sx n="71" d="100"/>
          <a:sy n="71" d="100"/>
        </p:scale>
        <p:origin x="1332" y="66"/>
      </p:cViewPr>
      <p:guideLst>
        <p:guide orient="horz" pos="1620"/>
        <p:guide pos="2880"/>
        <p:guide pos="144"/>
        <p:guide orient="horz" pos="444"/>
        <p:guide orient="horz" pos="804"/>
        <p:guide pos="3480"/>
        <p:guide pos="432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1/30/2020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1/30/2020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ea typeface="MS PGothic" charset="-128"/>
            </a:endParaRPr>
          </a:p>
        </p:txBody>
      </p:sp>
      <p:sp>
        <p:nvSpPr>
          <p:cNvPr id="952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47914786-70BD-5849-9D57-DBBDEF2BD231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1585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68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811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575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6" r:id="rId6"/>
    <p:sldLayoutId id="2147483707" r:id="rId7"/>
    <p:sldLayoutId id="2147483708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Simple Linear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036532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Regression Concepts: </a:t>
            </a:r>
          </a:p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Model Diagnostic Example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-135358"/>
            <a:ext cx="4727575" cy="1330325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ext Box 2"/>
          <p:cNvSpPr txBox="1">
            <a:spLocks noChangeArrowheads="1"/>
          </p:cNvSpPr>
          <p:nvPr/>
        </p:nvSpPr>
        <p:spPr bwMode="auto">
          <a:xfrm>
            <a:off x="123040" y="199240"/>
            <a:ext cx="80593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Linear Regression: Example in 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9544" y="1010117"/>
            <a:ext cx="77953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company, which sells medical supplies to hospitals, clinics, and doctors’ offices had considered the effectiveness of a new advertising program. Management wants to know if the advertising is related to sales. </a:t>
            </a:r>
          </a:p>
          <a:p>
            <a:pPr>
              <a:defRPr/>
            </a:pPr>
            <a:endParaRPr 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This company intends to increase the sales with an effective advertising program.</a:t>
            </a:r>
          </a:p>
        </p:txBody>
      </p:sp>
      <p:sp>
        <p:nvSpPr>
          <p:cNvPr id="97284" name="TextBox 2"/>
          <p:cNvSpPr txBox="1">
            <a:spLocks noChangeArrowheads="1"/>
          </p:cNvSpPr>
          <p:nvPr/>
        </p:nvSpPr>
        <p:spPr bwMode="auto">
          <a:xfrm>
            <a:off x="149544" y="3109253"/>
            <a:ext cx="697074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Do the assumptions of the linear regression model hold? What is the explanatory power of the model?</a:t>
            </a:r>
          </a:p>
          <a:p>
            <a:endParaRPr lang="en-US" altLang="en-US" b="1" dirty="0">
              <a:solidFill>
                <a:srgbClr val="DFA70B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37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ext Box 2"/>
          <p:cNvSpPr txBox="1">
            <a:spLocks noChangeArrowheads="1"/>
          </p:cNvSpPr>
          <p:nvPr/>
        </p:nvSpPr>
        <p:spPr bwMode="auto">
          <a:xfrm>
            <a:off x="117688" y="204879"/>
            <a:ext cx="78385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Example in R: Residual Analysis</a:t>
            </a:r>
          </a:p>
        </p:txBody>
      </p:sp>
      <p:sp>
        <p:nvSpPr>
          <p:cNvPr id="96258" name="Rectangle 3"/>
          <p:cNvSpPr>
            <a:spLocks noChangeArrowheads="1"/>
          </p:cNvSpPr>
          <p:nvPr/>
        </p:nvSpPr>
        <p:spPr bwMode="auto">
          <a:xfrm>
            <a:off x="3829050" y="1943100"/>
            <a:ext cx="6858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50819" y="1006321"/>
            <a:ext cx="8190976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lphaLcPeriod"/>
              <a:defRPr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are the assumptions of linear regression?</a:t>
            </a:r>
          </a:p>
          <a:p>
            <a:pPr eaLnBrk="1" hangingPunct="1">
              <a:spcBef>
                <a:spcPct val="50000"/>
              </a:spcBef>
              <a:buFontTx/>
              <a:buAutoNum type="alphaLcPeriod"/>
              <a:defRPr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Do the assumptions hold? Provide the graphical displays needed to support the diagnostics. Interpret.</a:t>
            </a:r>
          </a:p>
          <a:p>
            <a:pPr eaLnBrk="1" hangingPunct="1">
              <a:spcBef>
                <a:spcPct val="50000"/>
              </a:spcBef>
              <a:buFontTx/>
              <a:buAutoNum type="alphaLcPeriod"/>
              <a:defRPr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Do you identify any outliers?</a:t>
            </a:r>
          </a:p>
          <a:p>
            <a:pPr eaLnBrk="1" hangingPunct="1">
              <a:spcBef>
                <a:spcPct val="50000"/>
              </a:spcBef>
              <a:buFontTx/>
              <a:buAutoNum type="alphaLcPeriod"/>
              <a:defRPr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How much variability in sales is explained by the advertising expenditure? </a:t>
            </a:r>
          </a:p>
        </p:txBody>
      </p:sp>
    </p:spTree>
    <p:extLst>
      <p:ext uri="{BB962C8B-B14F-4D97-AF65-F5344CB8AC3E}">
        <p14:creationId xmlns:p14="http://schemas.microsoft.com/office/powerpoint/2010/main" val="8754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5633" y="1010131"/>
            <a:ext cx="7593187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457200" indent="-457200">
              <a:buFont typeface="+mj-lt"/>
              <a:buAutoNum type="alphaLcPeriod"/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assumptions are:</a:t>
            </a:r>
            <a:b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</a:br>
            <a:r>
              <a:rPr 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Linearity, Constant Variance, Independence, and Normality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42900" indent="-342900">
              <a:buFont typeface="+mj-lt"/>
              <a:buAutoNum type="alphaLcPeriod"/>
              <a:defRPr/>
            </a:pPr>
            <a:endParaRPr 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42900" indent="-342900">
              <a:buFont typeface="+mj-lt"/>
              <a:buAutoNum type="alphaLcPeriod"/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</a:p>
          <a:p>
            <a:pPr eaLnBrk="1" hangingPunct="1">
              <a:defRPr/>
            </a:pPr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Based on the above plots, </a:t>
            </a:r>
            <a:r>
              <a:rPr 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assumptions appear to hold</a:t>
            </a:r>
            <a:r>
              <a:rPr lang="en-US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28" y="2794820"/>
            <a:ext cx="2133600" cy="1541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228" y="2794821"/>
            <a:ext cx="2200275" cy="1569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732" y="2772198"/>
            <a:ext cx="2201465" cy="1629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19129" y="210412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Example in R (cont’d)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D19D7A-3338-4F88-8FB3-D530A3FE5002}"/>
              </a:ext>
            </a:extLst>
          </p:cNvPr>
          <p:cNvSpPr/>
          <p:nvPr/>
        </p:nvSpPr>
        <p:spPr>
          <a:xfrm>
            <a:off x="600780" y="1844595"/>
            <a:ext cx="53416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plot(adv, sales)</a:t>
            </a:r>
            <a:b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</a:b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model$fitted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model$residuals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  <a:b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</a:b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library(car); </a:t>
            </a:r>
            <a:r>
              <a:rPr 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qqPlot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model$residuals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8581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ext Box 2"/>
          <p:cNvSpPr txBox="1">
            <a:spLocks noChangeArrowheads="1"/>
          </p:cNvSpPr>
          <p:nvPr/>
        </p:nvSpPr>
        <p:spPr bwMode="auto">
          <a:xfrm>
            <a:off x="150800" y="999378"/>
            <a:ext cx="8276783" cy="300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marL="396875" indent="-396875" eaLnBrk="1" hangingPunct="1">
              <a:spcBef>
                <a:spcPct val="50000"/>
              </a:spcBef>
              <a:buFont typeface="Calibri Light" charset="0"/>
              <a:buAutoNum type="alphaLcPeriod" startAt="3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Do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you identify any outliers?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Based on the plots provided in part b, </a:t>
            </a:r>
            <a:r>
              <a:rPr lang="en-US" alt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there do not appear to be outliers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d. </a:t>
            </a:r>
            <a:r>
              <a:rPr lang="en-US" altLang="en-US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</a:t>
            </a:r>
            <a:r>
              <a:rPr lang="en-US" altLang="en-US" i="1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How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much variability in sales is explained by the advertisement expenditure?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</a:p>
          <a:p>
            <a:pPr marL="914400" eaLnBrk="1" hangingPunct="1">
              <a:spcBef>
                <a:spcPct val="50000"/>
              </a:spcBef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summary(model)$</a:t>
            </a:r>
            <a:r>
              <a:rPr lang="en-US" altLang="en-US" sz="16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r.squared</a:t>
            </a:r>
            <a:endParaRPr lang="en-US" altLang="en-US" sz="16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914400" eaLnBrk="1" hangingPunct="1">
              <a:spcBef>
                <a:spcPct val="50000"/>
              </a:spcBef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0.8105919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Around </a:t>
            </a:r>
            <a:r>
              <a:rPr lang="en-US" alt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81%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of the variability in sales is explained by the advertising expenditure.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19129" y="210412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Example in R (cont’d)</a:t>
            </a:r>
          </a:p>
        </p:txBody>
      </p:sp>
    </p:spTree>
    <p:extLst>
      <p:ext uri="{BB962C8B-B14F-4D97-AF65-F5344CB8AC3E}">
        <p14:creationId xmlns:p14="http://schemas.microsoft.com/office/powerpoint/2010/main" val="146550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38732"/>
            <a:ext cx="4727575" cy="13303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B8D62D-BE99-40AF-BF97-BFAE812B12CE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b057fda7-913b-4ab6-8820-932873bcd66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233</Words>
  <Application>Microsoft Office PowerPoint</Application>
  <PresentationFormat>On-screen Show (16:9)</PresentationFormat>
  <Paragraphs>44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22" baseType="lpstr">
      <vt:lpstr>MS PGothic</vt:lpstr>
      <vt:lpstr>MS PGothic</vt:lpstr>
      <vt:lpstr>Arial</vt:lpstr>
      <vt:lpstr>Calibri</vt:lpstr>
      <vt:lpstr>Calibri Light</vt:lpstr>
      <vt:lpstr>Helvetica</vt:lpstr>
      <vt:lpstr>Helvetica Neue</vt:lpstr>
      <vt:lpstr>Times New Roman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Rodriguez, Ramon S</cp:lastModifiedBy>
  <cp:revision>199</cp:revision>
  <dcterms:modified xsi:type="dcterms:W3CDTF">2020-01-30T18:29:18Z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