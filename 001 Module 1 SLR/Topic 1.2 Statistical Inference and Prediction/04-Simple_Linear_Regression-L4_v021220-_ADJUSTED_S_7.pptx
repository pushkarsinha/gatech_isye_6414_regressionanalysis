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9"/>
  </p:notesMasterIdLst>
  <p:handoutMasterIdLst>
    <p:handoutMasterId r:id="rId20"/>
  </p:handoutMasterIdLst>
  <p:sldIdLst>
    <p:sldId id="428" r:id="rId7"/>
    <p:sldId id="429" r:id="rId8"/>
    <p:sldId id="436" r:id="rId9"/>
    <p:sldId id="434" r:id="rId10"/>
    <p:sldId id="397" r:id="rId11"/>
    <p:sldId id="295" r:id="rId12"/>
    <p:sldId id="435" r:id="rId13"/>
    <p:sldId id="297" r:id="rId14"/>
    <p:sldId id="416" r:id="rId15"/>
    <p:sldId id="417" r:id="rId16"/>
    <p:sldId id="299" r:id="rId17"/>
    <p:sldId id="439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436"/>
            <p14:sldId id="434"/>
            <p14:sldId id="397"/>
            <p14:sldId id="295"/>
            <p14:sldId id="435"/>
            <p14:sldId id="297"/>
            <p14:sldId id="416"/>
            <p14:sldId id="417"/>
            <p14:sldId id="299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780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4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  <a:srgbClr val="000000"/>
    <a:srgbClr val="DFA70B"/>
    <a:srgbClr val="F8FFF1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C5FEC-0D0D-4079-A062-9E07E769EFEE}" v="8" dt="2020-01-21T13:24:36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88673" autoAdjust="0"/>
  </p:normalViewPr>
  <p:slideViewPr>
    <p:cSldViewPr snapToGrid="0">
      <p:cViewPr varScale="1">
        <p:scale>
          <a:sx n="146" d="100"/>
          <a:sy n="146" d="100"/>
        </p:scale>
        <p:origin x="372" y="114"/>
      </p:cViewPr>
      <p:guideLst>
        <p:guide orient="horz" pos="1620"/>
        <p:guide pos="2880"/>
        <p:guide pos="144"/>
        <p:guide orient="horz" pos="444"/>
        <p:guide orient="horz" pos="780"/>
        <p:guide pos="3480"/>
        <p:guide pos="432"/>
        <p:guide pos="25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2BC5FEC-0D0D-4079-A062-9E07E769EFEE}"/>
    <pc:docChg chg="modSld">
      <pc:chgData name="" userId="" providerId="" clId="Web-{A2BC5FEC-0D0D-4079-A062-9E07E769EFEE}" dt="2020-01-21T13:24:57.007" v="15"/>
      <pc:docMkLst>
        <pc:docMk/>
      </pc:docMkLst>
      <pc:sldChg chg="addSp delSp modSp">
        <pc:chgData name="" userId="" providerId="" clId="Web-{A2BC5FEC-0D0D-4079-A062-9E07E769EFEE}" dt="2020-01-21T13:24:57.007" v="15"/>
        <pc:sldMkLst>
          <pc:docMk/>
          <pc:sldMk cId="833696849" sldId="434"/>
        </pc:sldMkLst>
        <pc:spChg chg="add del mod">
          <ac:chgData name="" userId="" providerId="" clId="Web-{A2BC5FEC-0D0D-4079-A062-9E07E769EFEE}" dt="2020-01-21T13:24:57.007" v="15"/>
          <ac:spMkLst>
            <pc:docMk/>
            <pc:sldMk cId="833696849" sldId="434"/>
            <ac:spMk id="7" creationId="{2D87985E-1808-45A4-A6A3-88216CE810BD}"/>
          </ac:spMkLst>
        </pc:spChg>
        <pc:spChg chg="add del mod">
          <ac:chgData name="" userId="" providerId="" clId="Web-{A2BC5FEC-0D0D-4079-A062-9E07E769EFEE}" dt="2020-01-21T13:24:57.007" v="14"/>
          <ac:spMkLst>
            <pc:docMk/>
            <pc:sldMk cId="833696849" sldId="434"/>
            <ac:spMk id="8" creationId="{311B1991-4954-4DDE-B161-ED47F6EA10FB}"/>
          </ac:spMkLst>
        </pc:spChg>
        <pc:grpChg chg="add del">
          <ac:chgData name="" userId="" providerId="" clId="Web-{A2BC5FEC-0D0D-4079-A062-9E07E769EFEE}" dt="2020-01-21T13:24:48.539" v="9"/>
          <ac:grpSpMkLst>
            <pc:docMk/>
            <pc:sldMk cId="833696849" sldId="434"/>
            <ac:grpSpMk id="39944" creationId="{00000000-0000-0000-0000-000000000000}"/>
          </ac:grpSpMkLst>
        </pc:gr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64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7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8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8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0.png"/><Relationship Id="rId9" Type="http://schemas.openxmlformats.org/officeDocument/2006/relationships/image" Target="../media/image1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14503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Statistical Inference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0">
            <a:extLst>
              <a:ext uri="{FF2B5EF4-FFF2-40B4-BE49-F238E27FC236}">
                <a16:creationId xmlns:a16="http://schemas.microsoft.com/office/drawing/2014/main" id="{D7B23469-A20E-49FA-8E6B-9E2E6E43D2B3}"/>
              </a:ext>
            </a:extLst>
          </p:cNvPr>
          <p:cNvSpPr txBox="1"/>
          <p:nvPr/>
        </p:nvSpPr>
        <p:spPr>
          <a:xfrm>
            <a:off x="2862862" y="4055972"/>
            <a:ext cx="523685" cy="47222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= 0</a:t>
            </a:r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136679" y="199367"/>
            <a:ext cx="8532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Regression Estimators: Properties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1" name="Text Box 5"/>
              <p:cNvSpPr txBox="1">
                <a:spLocks noChangeArrowheads="1"/>
              </p:cNvSpPr>
              <p:nvPr/>
            </p:nvSpPr>
            <p:spPr bwMode="auto">
              <a:xfrm>
                <a:off x="129601" y="1006614"/>
                <a:ext cx="44295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For the slope parameter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b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β</m:t>
                    </m:r>
                  </m:oMath>
                </a14:m>
                <a:r>
                  <a:rPr lang="en-US" altLang="en-US" b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1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we can show</a:t>
                </a:r>
              </a:p>
            </p:txBody>
          </p:sp>
        </mc:Choice>
        <mc:Fallback xmlns="">
          <p:sp>
            <p:nvSpPr>
              <p:cNvPr id="3994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601" y="1006614"/>
                <a:ext cx="4429536" cy="369332"/>
              </a:xfrm>
              <a:prstGeom prst="rect">
                <a:avLst/>
              </a:prstGeom>
              <a:blipFill>
                <a:blip r:embed="rId3"/>
                <a:stretch>
                  <a:fillRect l="-1100" t="-9836" b="-24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3597" y="1618917"/>
                <a:ext cx="5657339" cy="5915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kern="100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sz="16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β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600" i="0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1600" i="0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600" i="0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6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600" i="0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600" b="0" i="0" kern="1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1600" i="0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 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6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fixed 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xx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US" sz="1600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= </m:t>
                    </m:r>
                    <m:sSub>
                      <m:sSubPr>
                        <m:ctrlPr>
                          <a:rPr lang="en-US" sz="16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b="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600" b="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c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lang="en-US" sz="1600" i="0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sz="16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fixed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97" y="1618917"/>
                <a:ext cx="5657339" cy="5915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38839" y="2292633"/>
                <a:ext cx="3277244" cy="8749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600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39" y="2292633"/>
                <a:ext cx="3277244" cy="874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38839" y="3236732"/>
                <a:ext cx="4281172" cy="8133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39" y="3236732"/>
                <a:ext cx="4281172" cy="8133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3597" y="4479917"/>
                <a:ext cx="1861535" cy="3720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US" sz="1600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60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1600" b="0" i="0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β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97" y="4479917"/>
                <a:ext cx="1861535" cy="372090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线连接符 16"/>
          <p:cNvCxnSpPr>
            <a:cxnSpLocks/>
          </p:cNvCxnSpPr>
          <p:nvPr/>
        </p:nvCxnSpPr>
        <p:spPr>
          <a:xfrm>
            <a:off x="2836303" y="4059331"/>
            <a:ext cx="518274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20"/>
          <p:cNvSpPr txBox="1"/>
          <p:nvPr/>
        </p:nvSpPr>
        <p:spPr>
          <a:xfrm>
            <a:off x="3812783" y="4055972"/>
            <a:ext cx="690797" cy="47222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ea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= 1</a:t>
            </a:r>
          </a:p>
        </p:txBody>
      </p:sp>
      <p:cxnSp>
        <p:nvCxnSpPr>
          <p:cNvPr id="16" name="直线连接符 34"/>
          <p:cNvCxnSpPr>
            <a:cxnSpLocks/>
          </p:cNvCxnSpPr>
          <p:nvPr/>
        </p:nvCxnSpPr>
        <p:spPr>
          <a:xfrm>
            <a:off x="3736514" y="4059966"/>
            <a:ext cx="729493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5524684" y="997762"/>
            <a:ext cx="2682530" cy="914163"/>
            <a:chOff x="4757361" y="780354"/>
            <a:chExt cx="2682530" cy="914163"/>
          </a:xfrm>
        </p:grpSpPr>
        <p:sp>
          <p:nvSpPr>
            <p:cNvPr id="2" name="Rectangle 1"/>
            <p:cNvSpPr/>
            <p:nvPr/>
          </p:nvSpPr>
          <p:spPr>
            <a:xfrm>
              <a:off x="4757361" y="780354"/>
              <a:ext cx="2148597" cy="9141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4822222" y="780354"/>
                  <a:ext cx="1260217" cy="4035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(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)</m:t>
                      </m:r>
                    </m:oMath>
                  </a14:m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KishoreFont Medium" charset="0"/>
                    </a:rPr>
                    <a:t> =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en-US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β</m:t>
                      </m:r>
                    </m:oMath>
                  </a14:m>
                  <a:r>
                    <a:rPr lang="en-US" altLang="en-US" b="1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KishoreFont Medium" charset="0"/>
                    </a:rPr>
                    <a:t>1</a:t>
                  </a:r>
                  <a:endPara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2222" y="780354"/>
                  <a:ext cx="1260217" cy="403508"/>
                </a:xfrm>
                <a:prstGeom prst="rect">
                  <a:avLst/>
                </a:prstGeom>
                <a:blipFill>
                  <a:blip r:embed="rId8"/>
                  <a:stretch>
                    <a:fillRect l="-1449" t="-606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4822222" y="1208306"/>
                  <a:ext cx="2617669" cy="403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KishoreFont Medium" charset="0"/>
                    </a:rPr>
                    <a:t>Var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(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US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β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US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a:rPr lang="en-US" altLang="en-US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𝝈</m:t>
                      </m:r>
                      <m:r>
                        <m:rPr>
                          <m:nor/>
                        </m:rPr>
                        <a:rPr lang="en-US" altLang="en-US" b="1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en-US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/ </m:t>
                      </m:r>
                      <m:r>
                        <m:rPr>
                          <m:nor/>
                        </m:rPr>
                        <a:rPr lang="en-US" altLang="en-US" b="1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en-US" b="1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xx</m:t>
                      </m:r>
                    </m:oMath>
                  </a14:m>
                  <a:endPara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2222" y="1208306"/>
                  <a:ext cx="2617669" cy="403508"/>
                </a:xfrm>
                <a:prstGeom prst="rect">
                  <a:avLst/>
                </a:prstGeom>
                <a:blipFill>
                  <a:blip r:embed="rId9"/>
                  <a:stretch>
                    <a:fillRect l="-2098" t="-606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5404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8" grpId="0"/>
      <p:bldP spid="9" grpId="0"/>
      <p:bldP spid="10" grpId="0"/>
      <p:bldP spid="11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5384" y="971014"/>
            <a:ext cx="7218760" cy="703659"/>
            <a:chOff x="502" y="1840"/>
            <a:chExt cx="6063" cy="5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4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502" y="1869"/>
                  <a:ext cx="6063" cy="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Furthermore</a:t>
                  </a:r>
                  <a:r>
                    <a:rPr lang="en-US" altLang="en-US" dirty="0">
                      <a:latin typeface="Helvetica" panose="020B0604020202020204" pitchFamily="34" charset="0"/>
                      <a:cs typeface="Helvetica" panose="020B0604020202020204" pitchFamily="34" charset="0"/>
                    </a:rPr>
                    <a:t>,</a:t>
                  </a:r>
                  <a:r>
                    <a:rPr lang="en-US" altLang="en-US" dirty="0">
                      <a:latin typeface="Times New Roman" charset="0"/>
                    </a:rPr>
                    <a:t>      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is a linear combination of </a:t>
                  </a:r>
                  <a:r>
                    <a: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{Y</a:t>
                  </a:r>
                  <a:r>
                    <a:rPr lang="en-US" alt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  <a:r>
                    <a: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,…,</a:t>
                  </a:r>
                  <a:r>
                    <a:rPr lang="en-US" altLang="en-US" dirty="0" err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Y</a:t>
                  </a:r>
                  <a:r>
                    <a:rPr lang="en-US" altLang="en-US" baseline="-25000" dirty="0" err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n</a:t>
                  </a:r>
                  <a:r>
                    <a: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}.</a:t>
                  </a:r>
                  <a:r>
                    <a: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Helvetica Neue" charset="0"/>
                    </a:rPr>
                    <a:t>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If we assume  that</a:t>
                  </a:r>
                  <a:r>
                    <a:rPr lang="en-US" altLang="en-US" dirty="0">
                      <a:latin typeface="Times New Roman" charset="0"/>
                    </a:rPr>
                    <a:t> </a:t>
                  </a:r>
                  <a:r>
                    <a:rPr lang="en-US" altLang="en-US" sz="1950" dirty="0" err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e</a:t>
                  </a:r>
                  <a:r>
                    <a:rPr lang="en-US" altLang="en-US" sz="1950" baseline="-25000" dirty="0" err="1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i</a:t>
                  </a:r>
                  <a:r>
                    <a:rPr lang="en-US" altLang="en-US" sz="195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US" alt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~</a:t>
                  </a:r>
                  <a:r>
                    <a:rPr lang="en-US" altLang="en-US" dirty="0">
                      <a:latin typeface="Times New Roman" charset="0"/>
                    </a:rPr>
                    <a:t>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Normal</a:t>
                  </a:r>
                  <a:r>
                    <a:rPr lang="zh-CN" altLang="en-US" dirty="0">
                      <a:latin typeface="Helvetica Neue" charset="0"/>
                      <a:ea typeface="Helvetica Neue" charset="0"/>
                      <a:cs typeface="Helvetica Neue" charset="0"/>
                    </a:rPr>
                    <a:t> </a:t>
                  </a:r>
                  <a:r>
                    <a:rPr lang="en-US" altLang="en-US" dirty="0">
                      <a:latin typeface="Helvetica" panose="020B0604020202020204" pitchFamily="34" charset="0"/>
                      <a:cs typeface="Helvetica" panose="020B0604020202020204" pitchFamily="34" charset="0"/>
                    </a:rPr>
                    <a:t>(0,</a:t>
                  </a:r>
                  <a:r>
                    <a:rPr lang="en-US" altLang="en-US" dirty="0">
                      <a:latin typeface="Times New Roman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en-US" dirty="0">
                      <a:latin typeface="Times New Roman" charset="0"/>
                    </a:rPr>
                    <a:t>) ,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then</a:t>
                  </a:r>
                  <a:r>
                    <a:rPr lang="en-US" altLang="en-US" dirty="0">
                      <a:latin typeface="Helvetica Neue" charset="0"/>
                      <a:ea typeface="Helvetica Neue" charset="0"/>
                      <a:cs typeface="Helvetica Neue" charset="0"/>
                    </a:rPr>
                    <a:t>       </a:t>
                  </a:r>
                  <a:r>
                    <a:rPr lang="en-US" altLang="en-US" dirty="0">
                      <a:latin typeface="Helvetica" panose="020B0604020202020204" pitchFamily="34" charset="0"/>
                      <a:ea typeface="Helvetica Neue" charset="0"/>
                      <a:cs typeface="Helvetica" panose="020B0604020202020204" pitchFamily="34" charset="0"/>
                    </a:rPr>
                    <a:t>is also distributed as </a:t>
                  </a:r>
                </a:p>
              </p:txBody>
            </p:sp>
          </mc:Choice>
          <mc:Fallback xmlns="">
            <p:sp>
              <p:nvSpPr>
                <p:cNvPr id="39947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2" y="1869"/>
                  <a:ext cx="6063" cy="562"/>
                </a:xfrm>
                <a:prstGeom prst="rect">
                  <a:avLst/>
                </a:prstGeom>
                <a:blipFill>
                  <a:blip r:embed="rId3"/>
                  <a:stretch>
                    <a:fillRect l="-675" t="-6364" b="-1454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49" name="Object 8"/>
                <p:cNvSpPr txBox="1"/>
                <p:nvPr/>
              </p:nvSpPr>
              <p:spPr bwMode="auto">
                <a:xfrm>
                  <a:off x="1693" y="1840"/>
                  <a:ext cx="248" cy="3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9949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93" y="1840"/>
                  <a:ext cx="248" cy="384"/>
                </a:xfrm>
                <a:prstGeom prst="rect">
                  <a:avLst/>
                </a:prstGeom>
                <a:blipFill>
                  <a:blip r:embed="rId4"/>
                  <a:stretch>
                    <a:fillRect l="-10417" t="-4000" r="-35417" b="-4000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944" name="Group 13"/>
          <p:cNvGrpSpPr>
            <a:grpSpLocks/>
          </p:cNvGrpSpPr>
          <p:nvPr/>
        </p:nvGrpSpPr>
        <p:grpSpPr bwMode="auto">
          <a:xfrm>
            <a:off x="734024" y="1965145"/>
            <a:ext cx="2072421" cy="849192"/>
            <a:chOff x="4821" y="3483"/>
            <a:chExt cx="1920" cy="816"/>
          </a:xfrm>
          <a:noFill/>
        </p:grpSpPr>
        <p:sp>
          <p:nvSpPr>
            <p:cNvPr id="39945" name="Oval 11"/>
            <p:cNvSpPr>
              <a:spLocks noChangeArrowheads="1"/>
            </p:cNvSpPr>
            <p:nvPr/>
          </p:nvSpPr>
          <p:spPr bwMode="auto">
            <a:xfrm>
              <a:off x="4821" y="3483"/>
              <a:ext cx="1920" cy="816"/>
            </a:xfrm>
            <a:prstGeom prst="ellipse">
              <a:avLst/>
            </a:prstGeom>
            <a:grpFill/>
            <a:ln w="381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latin typeface="Times New Roman" charset="0"/>
              </a:endParaRPr>
            </a:p>
          </p:txBody>
        </p:sp>
        <p:graphicFrame>
          <p:nvGraphicFramePr>
            <p:cNvPr id="399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3447393"/>
                </p:ext>
              </p:extLst>
            </p:nvPr>
          </p:nvGraphicFramePr>
          <p:xfrm>
            <a:off x="5013" y="3555"/>
            <a:ext cx="1452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Equation" r:id="rId5" imgW="1041400" imgH="457200" progId="Equation.3">
                    <p:embed/>
                  </p:oleObj>
                </mc:Choice>
                <mc:Fallback>
                  <p:oleObj name="Equation" r:id="rId5" imgW="1041400" imgH="457200" progId="Equation.3">
                    <p:embed/>
                    <p:pic>
                      <p:nvPicPr>
                        <p:cNvPr id="3994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3" y="3555"/>
                          <a:ext cx="1452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60379" y="3050931"/>
                <a:ext cx="1723099" cy="673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KishoreFont Medium" charset="0"/>
                          <a:ea typeface="KishoreFont Medium" charset="0"/>
                          <a:cs typeface="KishoreFont Medium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>
                              <a:latin typeface="KishoreFont Medium" charset="0"/>
                              <a:ea typeface="KishoreFont Medium" charset="0"/>
                              <a:cs typeface="KishoreFont Medium" charset="0"/>
                            </a:rPr>
                            <m:t>m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KishoreFont Medium" charset="0"/>
                                  <a:ea typeface="KishoreFont Medium" charset="0"/>
                                  <a:cs typeface="KishoreFont Medium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KishoreFont Medium" charset="0"/>
                                  <a:ea typeface="KishoreFont Medium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KishoreFont Medium" charset="0"/>
                                  <a:ea typeface="KishoreFont Medium" charset="0"/>
                                  <a:cs typeface="KishoreFont Medium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79" y="3050931"/>
                <a:ext cx="1723099" cy="673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265675" y="3244414"/>
            <a:ext cx="646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  <a:ea typeface="KishoreFont Medium" charset="0"/>
                <a:cs typeface="KishoreFont Medium" charset="0"/>
              </a:rPr>
              <a:t>a linear combination of normally distributed random variables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65949" y="4144032"/>
                <a:ext cx="464358" cy="38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49" y="4144032"/>
                <a:ext cx="464358" cy="384336"/>
              </a:xfrm>
              <a:prstGeom prst="rect">
                <a:avLst/>
              </a:prstGeom>
              <a:blipFill>
                <a:blip r:embed="rId8"/>
                <a:stretch>
                  <a:fillRect t="-7937" r="-15789"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94947" y="4163101"/>
            <a:ext cx="2486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itchFamily="2" charset="0"/>
                <a:ea typeface="KishoreFont Medium" charset="0"/>
                <a:cs typeface="KishoreFont Medium" charset="0"/>
              </a:rPr>
              <a:t>~ Normally distributed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8">
                <a:extLst>
                  <a:ext uri="{FF2B5EF4-FFF2-40B4-BE49-F238E27FC236}">
                    <a16:creationId xmlns:a16="http://schemas.microsoft.com/office/drawing/2014/main" id="{513FABB1-2886-408B-A234-8CA9D6AEC6DE}"/>
                  </a:ext>
                </a:extLst>
              </p:cNvPr>
              <p:cNvSpPr txBox="1"/>
              <p:nvPr/>
            </p:nvSpPr>
            <p:spPr bwMode="auto">
              <a:xfrm>
                <a:off x="3139089" y="1282475"/>
                <a:ext cx="2952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Object 8">
                <a:extLst>
                  <a:ext uri="{FF2B5EF4-FFF2-40B4-BE49-F238E27FC236}">
                    <a16:creationId xmlns:a16="http://schemas.microsoft.com/office/drawing/2014/main" id="{513FABB1-2886-408B-A234-8CA9D6AE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9089" y="1282475"/>
                <a:ext cx="295275" cy="457200"/>
              </a:xfrm>
              <a:prstGeom prst="rect">
                <a:avLst/>
              </a:prstGeom>
              <a:blipFill>
                <a:blip r:embed="rId9"/>
                <a:stretch>
                  <a:fillRect l="-4167" t="-2703" r="-2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36679" y="199367"/>
            <a:ext cx="8532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Regression Estimators: Properties </a:t>
            </a:r>
          </a:p>
        </p:txBody>
      </p:sp>
    </p:spTree>
    <p:extLst>
      <p:ext uri="{BB962C8B-B14F-4D97-AF65-F5344CB8AC3E}">
        <p14:creationId xmlns:p14="http://schemas.microsoft.com/office/powerpoint/2010/main" val="83369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937" name="Text Box 7"/>
              <p:cNvSpPr txBox="1">
                <a:spLocks noChangeArrowheads="1"/>
              </p:cNvSpPr>
              <p:nvPr/>
            </p:nvSpPr>
            <p:spPr bwMode="auto">
              <a:xfrm>
                <a:off x="146416" y="996437"/>
                <a:ext cx="8319541" cy="1076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Sampling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smtClean="0">
                            <a:solidFill>
                              <a:srgbClr val="DFA70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b="1" i="1">
                                <a:solidFill>
                                  <a:srgbClr val="DFA7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1" i="1">
                                <a:solidFill>
                                  <a:srgbClr val="DFA70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b="1" i="1">
                            <a:solidFill>
                              <a:srgbClr val="DFA70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en-US" b="1" dirty="0">
                    <a:solidFill>
                      <a:srgbClr val="DFA70B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: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do not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dirty="0" smtClean="0">
                    <a:latin typeface="Times New Roman" charset="0"/>
                  </a:rPr>
                  <a:t>.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can replace it by MSE, but then the sampling distribution becomes the t-distribution with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n-2</a:t>
                </a:r>
                <a:r>
                  <a:rPr lang="en-US" altLang="en-US" dirty="0">
                    <a:latin typeface="Times New Roman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df</a:t>
                </a:r>
                <a:r>
                  <a:rPr lang="en-US" altLang="en-US" dirty="0">
                    <a:latin typeface="Helvetica Neue"/>
                  </a:rPr>
                  <a:t>.</a:t>
                </a:r>
                <a:r>
                  <a:rPr lang="en-US" altLang="en-US" dirty="0">
                    <a:latin typeface="Times New Roman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993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416" y="996437"/>
                <a:ext cx="8319541" cy="1076705"/>
              </a:xfrm>
              <a:prstGeom prst="rect">
                <a:avLst/>
              </a:prstGeom>
              <a:blipFill>
                <a:blip r:embed="rId3"/>
                <a:stretch>
                  <a:fillRect l="-586" t="-1130" b="-79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45" name="Oval 11"/>
          <p:cNvSpPr>
            <a:spLocks noChangeArrowheads="1"/>
          </p:cNvSpPr>
          <p:nvPr/>
        </p:nvSpPr>
        <p:spPr bwMode="auto">
          <a:xfrm>
            <a:off x="1355417" y="2337238"/>
            <a:ext cx="2850095" cy="1008046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5D8A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6" name="Object 10"/>
              <p:cNvSpPr txBox="1"/>
              <p:nvPr/>
            </p:nvSpPr>
            <p:spPr bwMode="auto">
              <a:xfrm>
                <a:off x="1684835" y="2363412"/>
                <a:ext cx="2068844" cy="9818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𝑋𝑋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94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835" y="2363412"/>
                <a:ext cx="2068844" cy="981872"/>
              </a:xfrm>
              <a:prstGeom prst="rect">
                <a:avLst/>
              </a:prstGeom>
              <a:blipFill>
                <a:blip r:embed="rId4"/>
                <a:stretch>
                  <a:fillRect r="-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1658" y="3491958"/>
                <a:ext cx="4358291" cy="8433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accPr>
                            <m:e>
                              <m:r>
                                <a:rPr lang="el-GR" altLang="en-US" sz="2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MSE</m:t>
                      </m:r>
                      <m:r>
                        <m:rPr>
                          <m:nor/>
                        </m:rPr>
                        <a:rPr lang="en-U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400" i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lang="en-US" sz="2400" b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−2</m:t>
                          </m:r>
                        </m:den>
                      </m:f>
                      <m:r>
                        <m:rPr>
                          <m:nor/>
                        </m:rPr>
                        <a:rPr lang="en-U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sz="24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8" y="3491958"/>
                <a:ext cx="4358291" cy="8433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大括号 22"/>
          <p:cNvSpPr/>
          <p:nvPr/>
        </p:nvSpPr>
        <p:spPr>
          <a:xfrm>
            <a:off x="4539044" y="2337238"/>
            <a:ext cx="389822" cy="2136591"/>
          </a:xfrm>
          <a:prstGeom prst="rightBrac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3"/>
              <p:cNvSpPr txBox="1"/>
              <p:nvPr/>
            </p:nvSpPr>
            <p:spPr>
              <a:xfrm>
                <a:off x="6112534" y="2975759"/>
                <a:ext cx="2458330" cy="15585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400" b="0" i="0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i="0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MSE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400" i="0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400" i="0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xx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 ~</m:t>
                    </m:r>
                  </m:oMath>
                </a14:m>
                <a:r>
                  <a:rPr lang="en-US" sz="2400" kern="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sz="2400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00" dirty="0">
                    <a:effectLst/>
                    <a:latin typeface="KishoreFont Medium"/>
                    <a:ea typeface="DengXian" charset="-122"/>
                    <a:cs typeface="Times New Roman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3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534" y="2975759"/>
                <a:ext cx="2458330" cy="15585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C3AA33-BF61-4446-97AD-A5180BAAE15A}"/>
              </a:ext>
            </a:extLst>
          </p:cNvPr>
          <p:cNvCxnSpPr/>
          <p:nvPr/>
        </p:nvCxnSpPr>
        <p:spPr>
          <a:xfrm>
            <a:off x="5262398" y="3409580"/>
            <a:ext cx="66501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36679" y="199367"/>
            <a:ext cx="8532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Regression Estimators: Properties </a:t>
            </a:r>
          </a:p>
        </p:txBody>
      </p:sp>
    </p:spTree>
    <p:extLst>
      <p:ext uri="{BB962C8B-B14F-4D97-AF65-F5344CB8AC3E}">
        <p14:creationId xmlns:p14="http://schemas.microsoft.com/office/powerpoint/2010/main" val="312208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3016" name="Text Box 4"/>
              <p:cNvSpPr txBox="1">
                <a:spLocks noChangeArrowheads="1"/>
              </p:cNvSpPr>
              <p:nvPr/>
            </p:nvSpPr>
            <p:spPr bwMode="auto">
              <a:xfrm>
                <a:off x="145478" y="989261"/>
                <a:ext cx="6786510" cy="679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sampling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, we can derive confidence intervals and perform hypothesis testing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30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478" y="989261"/>
                <a:ext cx="6786510" cy="679481"/>
              </a:xfrm>
              <a:prstGeom prst="rect">
                <a:avLst/>
              </a:prstGeom>
              <a:blipFill>
                <a:blip r:embed="rId2"/>
                <a:stretch>
                  <a:fillRect l="-809" t="-3571" b="-107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011" name="Group 8"/>
          <p:cNvGrpSpPr>
            <a:grpSpLocks/>
          </p:cNvGrpSpPr>
          <p:nvPr/>
        </p:nvGrpSpPr>
        <p:grpSpPr bwMode="auto">
          <a:xfrm>
            <a:off x="688994" y="1890385"/>
            <a:ext cx="5596703" cy="1511439"/>
            <a:chOff x="453" y="2308"/>
            <a:chExt cx="4085" cy="968"/>
          </a:xfrm>
          <a:solidFill>
            <a:schemeClr val="bg1"/>
          </a:solidFill>
        </p:grpSpPr>
        <p:sp>
          <p:nvSpPr>
            <p:cNvPr id="48134" name="Rectangle 6"/>
            <p:cNvSpPr>
              <a:spLocks noChangeArrowheads="1"/>
            </p:cNvSpPr>
            <p:nvPr/>
          </p:nvSpPr>
          <p:spPr bwMode="auto">
            <a:xfrm>
              <a:off x="453" y="2308"/>
              <a:ext cx="4085" cy="968"/>
            </a:xfrm>
            <a:prstGeom prst="rect">
              <a:avLst/>
            </a:prstGeom>
            <a:grpFill/>
            <a:ln w="19050">
              <a:solidFill>
                <a:srgbClr val="385D8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 sz="1600">
                <a:latin typeface="KishoreFont Medium" charset="0"/>
                <a:ea typeface="KishoreFont Medium" charset="0"/>
                <a:cs typeface="KishoreFont Medium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14" name="Object 1024"/>
                <p:cNvSpPr txBox="1"/>
                <p:nvPr/>
              </p:nvSpPr>
              <p:spPr bwMode="auto">
                <a:xfrm>
                  <a:off x="515" y="2364"/>
                  <a:ext cx="3961" cy="87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MSE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i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MSE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000" i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𝑋𝑋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3014" name="Object 10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5" y="2364"/>
                  <a:ext cx="3961" cy="8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112" y="214531"/>
            <a:ext cx="83156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Inference for Slope Parameter </a:t>
            </a:r>
          </a:p>
        </p:txBody>
      </p:sp>
    </p:spTree>
    <p:extLst>
      <p:ext uri="{BB962C8B-B14F-4D97-AF65-F5344CB8AC3E}">
        <p14:creationId xmlns:p14="http://schemas.microsoft.com/office/powerpoint/2010/main" val="372385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7033" y="993964"/>
                <a:ext cx="2070236" cy="1008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  <m:t>MSE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KishoreFont Medium" charset="0"/>
                                          <a:cs typeface="KishoreFont Medium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  <a:ea typeface="KishoreFont Medium" charset="0"/>
                                          <a:cs typeface="KishoreFont Medium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KishoreFont Medium" charset="0"/>
                                          <a:cs typeface="KishoreFont Medium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~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𝑛</m:t>
                          </m:r>
                          <m:r>
                            <a:rPr lang="en-US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3" y="993964"/>
                <a:ext cx="2070236" cy="10085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613003" y="1218983"/>
                <a:ext cx="17451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kern="100" dirty="0" smtClean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t–interval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endParaRPr lang="en-US" kern="100" dirty="0">
                  <a:latin typeface="DengXian" charset="-122"/>
                  <a:ea typeface="DengXian" charset="-122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003" y="1218983"/>
                <a:ext cx="1745158" cy="369332"/>
              </a:xfrm>
              <a:prstGeom prst="rect">
                <a:avLst/>
              </a:prstGeom>
              <a:blipFill>
                <a:blip r:embed="rId3"/>
                <a:stretch>
                  <a:fillRect r="-350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箭头连接符 1"/>
          <p:cNvCxnSpPr/>
          <p:nvPr/>
        </p:nvCxnSpPr>
        <p:spPr>
          <a:xfrm>
            <a:off x="2344918" y="1418662"/>
            <a:ext cx="228600" cy="0"/>
          </a:xfrm>
          <a:prstGeom prst="straightConnector1">
            <a:avLst/>
          </a:prstGeom>
          <a:ln>
            <a:headEnd type="none" w="sm" len="lg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右大括号 2"/>
          <p:cNvSpPr/>
          <p:nvPr/>
        </p:nvSpPr>
        <p:spPr>
          <a:xfrm>
            <a:off x="2540157" y="2210101"/>
            <a:ext cx="155343" cy="827467"/>
          </a:xfrm>
          <a:prstGeom prst="rightBrac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3"/>
              <p:cNvSpPr txBox="1"/>
              <p:nvPr/>
            </p:nvSpPr>
            <p:spPr>
              <a:xfrm>
                <a:off x="2842646" y="2175532"/>
                <a:ext cx="6057146" cy="12882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 dirty="0" smtClean="0">
                    <a:latin typeface="KishoreFont Medium" charset="0"/>
                    <a:ea typeface="KishoreFont Medium" charset="0"/>
                    <a:cs typeface="KishoreFont Medium" charset="0"/>
                  </a:rPr>
                  <a:t>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a:rPr lang="en-US" sz="20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±</m:t>
                    </m:r>
                    <m:r>
                      <a:rPr lang="en-US" sz="20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a:rPr lang="en-US" sz="20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 </m:t>
                    </m:r>
                    <m:sSub>
                      <m:sSubPr>
                        <m:ctrlPr>
                          <a:rPr lang="en-US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t</m:t>
                        </m:r>
                      </m:e>
                      <m:sub>
                        <m:f>
                          <m:fPr>
                            <m:ctrlPr>
                              <a:rPr lang="en-US" sz="20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r>
                              <a:rPr lang="en-US" sz="20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20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, </m:t>
                        </m:r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𝑛</m:t>
                        </m:r>
                        <m:r>
                          <a:rPr lang="en-US" sz="20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−2</m:t>
                        </m:r>
                      </m:sub>
                    </m:sSub>
                    <m:r>
                      <a:rPr lang="en-US" sz="20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 </m:t>
                    </m:r>
                    <m:r>
                      <a:rPr lang="en-US" sz="20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a:rPr lang="en-US" sz="20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0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MSE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000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000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xx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>
          <p:sp>
            <p:nvSpPr>
              <p:cNvPr id="8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646" y="2175532"/>
                <a:ext cx="6057146" cy="1288251"/>
              </a:xfrm>
              <a:prstGeom prst="rect">
                <a:avLst/>
              </a:prstGeom>
              <a:blipFill>
                <a:blip r:embed="rId4"/>
                <a:stretch>
                  <a:fillRect l="-10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7"/>
              <p:cNvSpPr txBox="1"/>
              <p:nvPr/>
            </p:nvSpPr>
            <p:spPr>
              <a:xfrm>
                <a:off x="2695501" y="3089005"/>
                <a:ext cx="1038676" cy="5105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Estimate </a:t>
                </a:r>
              </a:p>
              <a:p>
                <a:pPr algn="r"/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kern="100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>
          <p:sp>
            <p:nvSpPr>
              <p:cNvPr id="9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501" y="3089005"/>
                <a:ext cx="1038676" cy="510540"/>
              </a:xfrm>
              <a:prstGeom prst="rect">
                <a:avLst/>
              </a:prstGeom>
              <a:blipFill>
                <a:blip r:embed="rId5"/>
                <a:stretch>
                  <a:fillRect t="-3614" r="-11111" b="-301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10"/>
          <p:cNvSpPr txBox="1"/>
          <p:nvPr/>
        </p:nvSpPr>
        <p:spPr>
          <a:xfrm>
            <a:off x="4049012" y="3070417"/>
            <a:ext cx="1064184" cy="58113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t-critical </a:t>
            </a:r>
            <a:b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</a:br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point</a:t>
            </a:r>
          </a:p>
          <a:p>
            <a:pPr algn="just"/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  <a:p>
            <a:pPr algn="just"/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  <a:p>
            <a:pPr algn="just"/>
            <a:r>
              <a:rPr lang="en-US" sz="1600" kern="100" dirty="0">
                <a:latin typeface="Helvetica" panose="020B0604020202020204" pitchFamily="34" charset="0"/>
                <a:ea typeface="DengXian" charset="-122"/>
                <a:cs typeface="Helvetica" panose="020B0604020202020204" pitchFamily="34" charset="0"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5"/>
              <p:cNvSpPr txBox="1"/>
              <p:nvPr/>
            </p:nvSpPr>
            <p:spPr>
              <a:xfrm>
                <a:off x="4972087" y="3080857"/>
                <a:ext cx="2345644" cy="5041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Standard Deviation/Error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kern="100" dirty="0">
                  <a:ea typeface="DengXian" charset="-122"/>
                  <a:cs typeface="Times New Roman" charset="0"/>
                </a:endParaRPr>
              </a:p>
              <a:p>
                <a:r>
                  <a:rPr lang="en-US" sz="1600" kern="100" dirty="0">
                    <a:ea typeface="DengXian" charset="-122"/>
                    <a:cs typeface="Times New Roman" charset="0"/>
                  </a:rPr>
                  <a:t> </a:t>
                </a:r>
              </a:p>
              <a:p>
                <a:r>
                  <a:rPr lang="en-US" sz="1600" kern="100" dirty="0">
                    <a:ea typeface="DengXian" charset="-122"/>
                    <a:cs typeface="Times New Roman" charset="0"/>
                  </a:rPr>
                  <a:t> </a:t>
                </a:r>
              </a:p>
              <a:p>
                <a:r>
                  <a:rPr lang="en-US" sz="1600" kern="100" dirty="0">
                    <a:ea typeface="DengXian" charset="-122"/>
                    <a:cs typeface="Times New Roman" charset="0"/>
                  </a:rPr>
                  <a:t>     </a:t>
                </a:r>
              </a:p>
            </p:txBody>
          </p:sp>
        </mc:Choice>
        <mc:Fallback>
          <p:sp>
            <p:nvSpPr>
              <p:cNvPr id="11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87" y="3080857"/>
                <a:ext cx="2345644" cy="504190"/>
              </a:xfrm>
              <a:prstGeom prst="rect">
                <a:avLst/>
              </a:prstGeom>
              <a:blipFill>
                <a:blip r:embed="rId6"/>
                <a:stretch>
                  <a:fillRect l="-1563" t="-3614" b="-325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8"/>
              <p:cNvSpPr txBox="1"/>
              <p:nvPr/>
            </p:nvSpPr>
            <p:spPr>
              <a:xfrm>
                <a:off x="3951732" y="4077204"/>
                <a:ext cx="1500886" cy="6329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Sampling distribution </a:t>
                </a:r>
                <a:b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</a:br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of</a:t>
                </a:r>
                <a:r>
                  <a:rPr lang="en-US" sz="1600" kern="100" dirty="0">
                    <a:latin typeface="KishoreFont Medium" charset="0"/>
                    <a:ea typeface="DengXian" charset="-122"/>
                    <a:cs typeface="Times New Roman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sz="1600" kern="100" dirty="0">
                    <a:latin typeface="Helvetica" panose="020B0604020202020204" pitchFamily="34" charset="0"/>
                    <a:ea typeface="DengXian" charset="-122"/>
                    <a:cs typeface="Helvetica" panose="020B0604020202020204" pitchFamily="34" charset="0"/>
                  </a:rPr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sz="160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sz="16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>
          <p:sp>
            <p:nvSpPr>
              <p:cNvPr id="12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32" y="4077204"/>
                <a:ext cx="1500886" cy="632988"/>
              </a:xfrm>
              <a:prstGeom prst="rect">
                <a:avLst/>
              </a:prstGeom>
              <a:blipFill>
                <a:blip r:embed="rId7"/>
                <a:stretch>
                  <a:fillRect l="-2033" t="-2885" b="-432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线连接符 25"/>
          <p:cNvCxnSpPr>
            <a:cxnSpLocks/>
          </p:cNvCxnSpPr>
          <p:nvPr/>
        </p:nvCxnSpPr>
        <p:spPr>
          <a:xfrm flipV="1">
            <a:off x="2842646" y="3078048"/>
            <a:ext cx="761736" cy="280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26"/>
          <p:cNvCxnSpPr>
            <a:cxnSpLocks/>
          </p:cNvCxnSpPr>
          <p:nvPr/>
        </p:nvCxnSpPr>
        <p:spPr>
          <a:xfrm>
            <a:off x="4145278" y="3073040"/>
            <a:ext cx="708342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线箭头连接符 29"/>
          <p:cNvCxnSpPr>
            <a:cxnSpLocks/>
          </p:cNvCxnSpPr>
          <p:nvPr/>
        </p:nvCxnSpPr>
        <p:spPr>
          <a:xfrm flipV="1">
            <a:off x="4454569" y="3661100"/>
            <a:ext cx="529" cy="465907"/>
          </a:xfrm>
          <a:prstGeom prst="straightConnector1">
            <a:avLst/>
          </a:prstGeom>
          <a:ln>
            <a:headEnd type="none" w="sm" len="lg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30"/>
          <p:cNvCxnSpPr>
            <a:cxnSpLocks/>
          </p:cNvCxnSpPr>
          <p:nvPr/>
        </p:nvCxnSpPr>
        <p:spPr>
          <a:xfrm flipH="1" flipV="1">
            <a:off x="5897111" y="3682087"/>
            <a:ext cx="11320" cy="444920"/>
          </a:xfrm>
          <a:prstGeom prst="straightConnector1">
            <a:avLst/>
          </a:prstGeom>
          <a:ln>
            <a:headEnd type="none" w="sm" len="lg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583515" y="2316057"/>
            <a:ext cx="199548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1 - α</a:t>
            </a:r>
          </a:p>
          <a:p>
            <a:pPr defTabSz="91437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Confidence interval</a:t>
            </a:r>
          </a:p>
        </p:txBody>
      </p:sp>
      <p:cxnSp>
        <p:nvCxnSpPr>
          <p:cNvPr id="29" name="直线连接符 25"/>
          <p:cNvCxnSpPr>
            <a:cxnSpLocks/>
          </p:cNvCxnSpPr>
          <p:nvPr/>
        </p:nvCxnSpPr>
        <p:spPr>
          <a:xfrm>
            <a:off x="5056669" y="3073040"/>
            <a:ext cx="804258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1"/>
              <p:cNvSpPr txBox="1"/>
              <p:nvPr/>
            </p:nvSpPr>
            <p:spPr>
              <a:xfrm>
                <a:off x="5450128" y="4027822"/>
                <a:ext cx="1875140" cy="10527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en-US" sz="16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 </m:t>
                    </m:r>
                    <m:f>
                      <m:f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6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60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xx</m:t>
                            </m:r>
                          </m:sub>
                        </m:sSub>
                      </m:den>
                    </m:f>
                  </m:oMath>
                </a14:m>
                <a:endParaRPr lang="en-US" sz="16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σ</m:t>
                    </m:r>
                  </m:oMath>
                </a14:m>
                <a:r>
                  <a:rPr lang="en-US" sz="1600" baseline="300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←</m:t>
                    </m:r>
                    <m:r>
                      <m:rPr>
                        <m:nor/>
                      </m:rPr>
                      <a:rPr 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MSE</m:t>
                    </m:r>
                  </m:oMath>
                </a14:m>
                <a:endParaRPr lang="en-US" sz="1600" kern="1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24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128" y="4027822"/>
                <a:ext cx="1875140" cy="1052791"/>
              </a:xfrm>
              <a:prstGeom prst="rect">
                <a:avLst/>
              </a:prstGeom>
              <a:blipFill>
                <a:blip r:embed="rId8"/>
                <a:stretch>
                  <a:fillRect l="-16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2">
            <a:extLst>
              <a:ext uri="{FF2B5EF4-FFF2-40B4-BE49-F238E27FC236}">
                <a16:creationId xmlns:a16="http://schemas.microsoft.com/office/drawing/2014/main" id="{D6A0B8D6-138C-4407-AD12-952E9398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12" y="214531"/>
            <a:ext cx="83156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Confidence Interval Derivation</a:t>
            </a:r>
          </a:p>
        </p:txBody>
      </p:sp>
    </p:spTree>
    <p:extLst>
      <p:ext uri="{BB962C8B-B14F-4D97-AF65-F5344CB8AC3E}">
        <p14:creationId xmlns:p14="http://schemas.microsoft.com/office/powerpoint/2010/main" val="426706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  <p:bldP spid="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Rectangle 7"/>
              <p:cNvSpPr>
                <a:spLocks noChangeArrowheads="1"/>
              </p:cNvSpPr>
              <p:nvPr/>
            </p:nvSpPr>
            <p:spPr bwMode="auto">
              <a:xfrm>
                <a:off x="133059" y="1010683"/>
                <a:ext cx="7644286" cy="3462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One way we can test statistical significance is to use the t-test for    </a:t>
                </a:r>
                <a:r>
                  <a:rPr lang="en-US" altLang="en-US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</a:p>
              <a:p>
                <a:pPr marL="460375">
                  <a:spcBef>
                    <a:spcPct val="50000"/>
                  </a:spcBef>
                </a:pP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alt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  vs.  H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≠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Math1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sz="2000" dirty="0">
                  <a:latin typeface="Times New Roman" charset="0"/>
                  <a:sym typeface="Math1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sz="2000" dirty="0">
                  <a:latin typeface="Times New Roman" charset="0"/>
                  <a:sym typeface="Math1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sz="2000" dirty="0">
                  <a:latin typeface="Times New Roman" charset="0"/>
                  <a:sym typeface="Math1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reject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altLang="en-US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if |t-value|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large. If the null hypothesis is rejected, we interpret this 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being </a:t>
                </a:r>
                <a:r>
                  <a:rPr lang="en-US" altLang="en-US" b="1" dirty="0" smtClean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statistically significant</a:t>
                </a:r>
                <a:r>
                  <a:rPr lang="en-US" altLang="en-US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endParaRPr lang="en-US" altLang="en-US" sz="2000" dirty="0">
                  <a:latin typeface="Times New Roman" charset="0"/>
                  <a:sym typeface="Math1" charset="0"/>
                </a:endParaRPr>
              </a:p>
            </p:txBody>
          </p:sp>
        </mc:Choice>
        <mc:Fallback xmlns="">
          <p:sp>
            <p:nvSpPr>
              <p:cNvPr id="4608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059" y="1010683"/>
                <a:ext cx="7644286" cy="3462486"/>
              </a:xfrm>
              <a:prstGeom prst="rect">
                <a:avLst/>
              </a:prstGeom>
              <a:blipFill>
                <a:blip r:embed="rId2"/>
                <a:stretch>
                  <a:fillRect l="-718" t="-10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33059" y="206624"/>
            <a:ext cx="82876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Testing the Overall Regression</a:t>
            </a:r>
          </a:p>
        </p:txBody>
      </p:sp>
      <p:grpSp>
        <p:nvGrpSpPr>
          <p:cNvPr id="46084" name="Group 10"/>
          <p:cNvGrpSpPr>
            <a:grpSpLocks/>
          </p:cNvGrpSpPr>
          <p:nvPr/>
        </p:nvGrpSpPr>
        <p:grpSpPr bwMode="auto">
          <a:xfrm>
            <a:off x="693360" y="2137776"/>
            <a:ext cx="3932698" cy="857250"/>
            <a:chOff x="971" y="1872"/>
            <a:chExt cx="2821" cy="720"/>
          </a:xfrm>
          <a:solidFill>
            <a:srgbClr val="F8FFF1"/>
          </a:solidFill>
        </p:grpSpPr>
        <p:sp>
          <p:nvSpPr>
            <p:cNvPr id="54278" name="Rectangle 11"/>
            <p:cNvSpPr>
              <a:spLocks noChangeArrowheads="1"/>
            </p:cNvSpPr>
            <p:nvPr/>
          </p:nvSpPr>
          <p:spPr bwMode="auto">
            <a:xfrm>
              <a:off x="971" y="1872"/>
              <a:ext cx="2821" cy="72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385D8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87" name="Object 1024"/>
                <p:cNvSpPr txBox="1"/>
                <p:nvPr/>
              </p:nvSpPr>
              <p:spPr bwMode="auto">
                <a:xfrm>
                  <a:off x="1146" y="1917"/>
                  <a:ext cx="2472" cy="6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value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−0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𝑋𝑋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087" name="Object 10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46" y="1917"/>
                  <a:ext cx="2472" cy="631"/>
                </a:xfrm>
                <a:prstGeom prst="rect">
                  <a:avLst/>
                </a:prstGeom>
                <a:blipFill>
                  <a:blip r:embed="rId3"/>
                  <a:stretch>
                    <a:fillRect b="-1626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474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>
                <a:spLocks noChangeArrowheads="1"/>
              </p:cNvSpPr>
              <p:nvPr/>
            </p:nvSpPr>
            <p:spPr bwMode="auto">
              <a:xfrm>
                <a:off x="693357" y="1014687"/>
                <a:ext cx="4393045" cy="935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How will the procedure change if we test:</a:t>
                </a:r>
              </a:p>
              <a:p>
                <a:pPr algn="ctr"/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altLang="en-US" baseline="-2500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c   vs.   H</a:t>
                </a:r>
                <a:r>
                  <a:rPr lang="en-US" altLang="en-US" baseline="-25000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≠</a:t>
                </a:r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Math1" charset="0"/>
                  </a:rPr>
                  <a:t> c </a:t>
                </a:r>
              </a:p>
              <a:p>
                <a:pPr eaLnBrk="1" hangingPunct="1"/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charset="0"/>
                  </a:rPr>
                  <a:t>for some known </a:t>
                </a:r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Math1" charset="0"/>
                  </a:rPr>
                  <a:t>c</a:t>
                </a:r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Times New Roman" charset="0"/>
                    <a:sym typeface="Math1" charset="0"/>
                  </a:rPr>
                  <a:t>?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357" y="1014687"/>
                <a:ext cx="4393045" cy="935705"/>
              </a:xfrm>
              <a:prstGeom prst="rect">
                <a:avLst/>
              </a:prstGeom>
              <a:blipFill>
                <a:blip r:embed="rId2"/>
                <a:stretch>
                  <a:fillRect l="-1108" t="-2564" b="-8333"/>
                </a:stretch>
              </a:blipFill>
              <a:ln w="1270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7578" y="2151761"/>
                <a:ext cx="6002869" cy="712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t-value =</a:t>
                </a:r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β</m:t>
                                </m:r>
                              </m:e>
                            </m:acc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c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se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β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kern="100" dirty="0">
                    <a:effectLst/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how large to reject </a:t>
                </a:r>
                <a:r>
                  <a:rPr lang="en-US" kern="100" dirty="0" smtClean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H</a:t>
                </a:r>
                <a:r>
                  <a:rPr lang="en-US" kern="100" baseline="-250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0</a:t>
                </a:r>
                <a:r>
                  <a:rPr lang="en-US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: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= c </a:t>
                </a:r>
                <a:r>
                  <a:rPr lang="en-US" kern="100" dirty="0" smtClean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?</a:t>
                </a:r>
                <a:endParaRPr lang="en-US" kern="100" dirty="0">
                  <a:effectLst/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8" y="2151761"/>
                <a:ext cx="6002869" cy="712054"/>
              </a:xfrm>
              <a:prstGeom prst="rect">
                <a:avLst/>
              </a:prstGeo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47578" y="2869441"/>
                <a:ext cx="5594411" cy="558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For significance level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10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α</m:t>
                    </m:r>
                  </m:oMath>
                </a14:m>
                <a:r>
                  <a:rPr lang="en-US" kern="100" dirty="0">
                    <a:effectLst/>
                    <a:latin typeface="KishoreFont Medium" charset="0"/>
                    <a:ea typeface="KishoreFont Medium" charset="0"/>
                    <a:cs typeface="KishoreFont Medium" charset="0"/>
                  </a:rPr>
                  <a:t> , </a:t>
                </a: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Reject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if |t-value|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&gt;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t</m:t>
                        </m:r>
                      </m:e>
                      <m:sub>
                        <m:f>
                          <m:f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α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0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i="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−2</m:t>
                        </m:r>
                      </m:sub>
                    </m:sSub>
                  </m:oMath>
                </a14:m>
                <a:endParaRPr lang="en-US" kern="1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8" y="2869441"/>
                <a:ext cx="5594411" cy="558166"/>
              </a:xfrm>
              <a:prstGeom prst="rect">
                <a:avLst/>
              </a:prstGeom>
              <a:blipFill>
                <a:blip r:embed="rId4"/>
                <a:stretch>
                  <a:fillRect l="-871" t="-7692" b="-6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47578" y="3430636"/>
            <a:ext cx="6350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Alternatively, compute </a:t>
            </a:r>
            <a:r>
              <a:rPr lang="en-US" kern="100" dirty="0">
                <a:effectLst/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P-value = </a:t>
            </a:r>
            <a:r>
              <a:rPr lang="en-US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2P(T</a:t>
            </a:r>
            <a:r>
              <a:rPr lang="en-US" kern="100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n-2  </a:t>
            </a:r>
            <a:r>
              <a:rPr lang="en-US" kern="1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KishoreFont Medium" charset="0"/>
              </a:rPr>
              <a:t>&gt; |t-value|)</a:t>
            </a:r>
            <a:endParaRPr lang="en-US" kern="100" dirty="0">
              <a:latin typeface="Cambria Math" panose="02040503050406030204" pitchFamily="18" charset="0"/>
              <a:ea typeface="Cambria Math" panose="02040503050406030204" pitchFamily="18" charset="0"/>
              <a:cs typeface="KishoreFont Medium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7578" y="4030703"/>
            <a:ext cx="55944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If P-value small </a:t>
            </a:r>
            <a:r>
              <a:rPr lang="en-US" b="1" kern="100" dirty="0">
                <a:solidFill>
                  <a:srgbClr val="DFA70B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(p-value &lt; 0.01)</a:t>
            </a:r>
            <a:r>
              <a:rPr lang="en-US" kern="100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               </a:t>
            </a:r>
            <a:r>
              <a:rPr lang="en-US" b="1" kern="100" dirty="0">
                <a:solidFill>
                  <a:srgbClr val="DFA70B"/>
                </a:solidFill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Reject</a:t>
            </a:r>
          </a:p>
        </p:txBody>
      </p:sp>
      <p:cxnSp>
        <p:nvCxnSpPr>
          <p:cNvPr id="21" name="直线箭头连接符 31"/>
          <p:cNvCxnSpPr>
            <a:cxnSpLocks/>
          </p:cNvCxnSpPr>
          <p:nvPr/>
        </p:nvCxnSpPr>
        <p:spPr>
          <a:xfrm>
            <a:off x="3735405" y="4239090"/>
            <a:ext cx="596425" cy="0"/>
          </a:xfrm>
          <a:prstGeom prst="straightConnector1">
            <a:avLst/>
          </a:prstGeom>
          <a:ln w="3810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3DD31F8B-9328-488E-AD9B-38AE1D07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59" y="206624"/>
            <a:ext cx="82876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Testing Regression at Different Levels</a:t>
            </a:r>
          </a:p>
        </p:txBody>
      </p:sp>
    </p:spTree>
    <p:extLst>
      <p:ext uri="{BB962C8B-B14F-4D97-AF65-F5344CB8AC3E}">
        <p14:creationId xmlns:p14="http://schemas.microsoft.com/office/powerpoint/2010/main" val="103112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6"/>
              <p:cNvSpPr txBox="1">
                <a:spLocks noChangeArrowheads="1"/>
              </p:cNvSpPr>
              <p:nvPr/>
            </p:nvSpPr>
            <p:spPr bwMode="auto">
              <a:xfrm>
                <a:off x="685800" y="1014687"/>
                <a:ext cx="5177591" cy="120032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eaLnBrk="1" hangingPunct="1"/>
                <a:r>
                  <a:rPr lang="en-US" altLang="en-US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How will the procedure change if we test: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𝑜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 </a:t>
                </a:r>
                <a:r>
                  <a:rPr lang="en-US" b="1" kern="100" dirty="0">
                    <a:solidFill>
                      <a:srgbClr val="DFA70B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solidFill>
                      <a:srgbClr val="993200"/>
                    </a:solidFill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𝐴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&gt;0</m:t>
                    </m:r>
                  </m:oMath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KishoreFont Medium" charset="0"/>
                </a:endParaRPr>
              </a:p>
              <a:p>
                <a:pPr algn="ctr"/>
                <a:r>
                  <a:rPr lang="en-US" altLang="en-US" b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  <a:sym typeface="Math1" charset="0"/>
                  </a:rPr>
                  <a:t>OR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𝑜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=0</m:t>
                    </m:r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 </a:t>
                </a:r>
                <a:r>
                  <a:rPr lang="en-US" b="1" kern="100" dirty="0">
                    <a:solidFill>
                      <a:srgbClr val="DFA70B"/>
                    </a:solidFill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solidFill>
                      <a:srgbClr val="993200"/>
                    </a:solidFill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𝐴</m:t>
                        </m:r>
                      </m:sub>
                    </m:sSub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&lt;</m:t>
                    </m:r>
                    <m:r>
                      <a:rPr lang="en-US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014687"/>
                <a:ext cx="5177591" cy="1200329"/>
              </a:xfrm>
              <a:prstGeom prst="rect">
                <a:avLst/>
              </a:prstGeom>
              <a:blipFill>
                <a:blip r:embed="rId2"/>
                <a:stretch>
                  <a:fillRect l="-939" t="-2000" b="-6000"/>
                </a:stretch>
              </a:blipFill>
              <a:ln w="19050">
                <a:solidFill>
                  <a:srgbClr val="385D8A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5800" y="2418520"/>
                <a:ext cx="5177591" cy="923330"/>
              </a:xfrm>
              <a:prstGeom prst="rect">
                <a:avLst/>
              </a:prstGeom>
              <a:ln w="19050">
                <a:solidFill>
                  <a:srgbClr val="385D8A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latin typeface="Helvetica" pitchFamily="2" charset="0"/>
                    <a:ea typeface="KishoreFont Medium" charset="0"/>
                    <a:cs typeface="KishoreFont Medium" charset="0"/>
                  </a:rPr>
                  <a:t>What if we want to test for positive relationship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𝑜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≤0</m:t>
                    </m:r>
                  </m:oMath>
                </a14:m>
                <a:r>
                  <a:rPr lang="en-US" kern="100" dirty="0">
                    <a:effectLst/>
                    <a:latin typeface="KishoreFont Medium" charset="0"/>
                    <a:ea typeface="KishoreFont Medium" charset="0"/>
                    <a:cs typeface="KishoreFont Medium" charset="0"/>
                  </a:rPr>
                  <a:t>  </a:t>
                </a:r>
                <a:r>
                  <a:rPr lang="en-US" b="1" kern="100" dirty="0">
                    <a:solidFill>
                      <a:srgbClr val="DFA70B"/>
                    </a:solidFill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solidFill>
                      <a:srgbClr val="993200"/>
                    </a:solidFill>
                    <a:effectLst/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:r>
                  <a:rPr lang="en-US" kern="100" dirty="0">
                    <a:effectLst/>
                    <a:latin typeface="KishoreFont Medium" charset="0"/>
                    <a:ea typeface="KishoreFont Medium" charset="0"/>
                    <a:cs typeface="KishoreFont Medium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𝐴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&gt;0</m:t>
                    </m:r>
                    <m:r>
                      <m:rPr>
                        <m:nor/>
                      </m:rPr>
                      <a:rPr lang="en-US" kern="100" dirty="0">
                        <a:latin typeface="KishoreFont Medium" charset="0"/>
                        <a:ea typeface="KishoreFont Medium" charset="0"/>
                        <a:cs typeface="KishoreFont Medium" charset="0"/>
                      </a:rPr>
                      <m:t>?</m:t>
                    </m:r>
                  </m:oMath>
                </a14:m>
                <a:endParaRPr lang="en-US" kern="100" dirty="0">
                  <a:latin typeface="KishoreFont Medium" charset="0"/>
                  <a:ea typeface="KishoreFont Medium" charset="0"/>
                  <a:cs typeface="KishoreFont Medium" charset="0"/>
                </a:endParaRPr>
              </a:p>
              <a:p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P-value =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P(T</a:t>
                </a:r>
                <a:r>
                  <a:rPr lang="en-US" kern="100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n-2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&gt; t-value)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418520"/>
                <a:ext cx="5177591" cy="923330"/>
              </a:xfrm>
              <a:prstGeom prst="rect">
                <a:avLst/>
              </a:prstGeom>
              <a:blipFill>
                <a:blip r:embed="rId3"/>
                <a:stretch>
                  <a:fillRect l="-939" t="-3247" b="-8442"/>
                </a:stretch>
              </a:blipFill>
              <a:ln w="19050">
                <a:solidFill>
                  <a:srgbClr val="385D8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5800" y="3640732"/>
                <a:ext cx="5177591" cy="923330"/>
              </a:xfrm>
              <a:prstGeom prst="rect">
                <a:avLst/>
              </a:prstGeom>
              <a:ln w="19050">
                <a:solidFill>
                  <a:srgbClr val="385D8A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kern="100" dirty="0">
                    <a:latin typeface="Helvetica" pitchFamily="2" charset="0"/>
                    <a:ea typeface="KishoreFont Medium" charset="0"/>
                    <a:cs typeface="KishoreFont Medium" charset="0"/>
                  </a:rPr>
                  <a:t>What if we want to test for negative relationship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𝑜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≥0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rPr>
                  <a:t> </a:t>
                </a:r>
                <a:r>
                  <a:rPr lang="en-US" b="1" kern="100" dirty="0">
                    <a:solidFill>
                      <a:srgbClr val="DFA70B"/>
                    </a:solidFill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solidFill>
                      <a:srgbClr val="993200"/>
                    </a:solidFill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effectLst/>
                    <a:latin typeface="Helvetica" charset="0"/>
                    <a:ea typeface="DengXian" charset="-122"/>
                    <a:cs typeface="Times New Roman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𝐻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𝐴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𝛽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charset="0"/>
                      </a:rPr>
                      <m:t>&lt;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0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?</m:t>
                    </m:r>
                  </m:oMath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</a:endParaRPr>
              </a:p>
              <a:p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</a:t>
                </a:r>
                <a:r>
                  <a:rPr lang="en-US" kern="100" dirty="0">
                    <a:effectLst/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-value =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P(T</a:t>
                </a:r>
                <a:r>
                  <a:rPr lang="en-US" kern="100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n-2 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&lt; t-value)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640732"/>
                <a:ext cx="5177591" cy="923330"/>
              </a:xfrm>
              <a:prstGeom prst="rect">
                <a:avLst/>
              </a:prstGeom>
              <a:blipFill>
                <a:blip r:embed="rId4"/>
                <a:stretch>
                  <a:fillRect l="-939" t="-2581" b="-7742"/>
                </a:stretch>
              </a:blipFill>
              <a:ln w="19050">
                <a:solidFill>
                  <a:srgbClr val="385D8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433EBDF3-8D7F-437F-A51B-17C876B0E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59" y="264170"/>
            <a:ext cx="95928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200" dirty="0">
                <a:latin typeface="Vitesse" charset="0"/>
                <a:ea typeface="Vitesse" charset="0"/>
                <a:cs typeface="Vitesse" charset="0"/>
              </a:rPr>
              <a:t>Testing Regression at Different Levels (cont’d)</a:t>
            </a:r>
          </a:p>
        </p:txBody>
      </p:sp>
    </p:spTree>
    <p:extLst>
      <p:ext uri="{BB962C8B-B14F-4D97-AF65-F5344CB8AC3E}">
        <p14:creationId xmlns:p14="http://schemas.microsoft.com/office/powerpoint/2010/main" val="296880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2"/>
          <p:cNvSpPr txBox="1">
            <a:spLocks noChangeArrowheads="1"/>
          </p:cNvSpPr>
          <p:nvPr/>
        </p:nvSpPr>
        <p:spPr bwMode="auto">
          <a:xfrm>
            <a:off x="136566" y="212368"/>
            <a:ext cx="88708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Inference for Intercept Parameter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323325" y="1607628"/>
            <a:ext cx="3314700" cy="1371600"/>
            <a:chOff x="1436680" y="1876943"/>
            <a:chExt cx="3314700" cy="1371600"/>
          </a:xfrm>
        </p:grpSpPr>
        <p:sp>
          <p:nvSpPr>
            <p:cNvPr id="54282" name="Rectangle 8"/>
            <p:cNvSpPr>
              <a:spLocks noChangeArrowheads="1"/>
            </p:cNvSpPr>
            <p:nvPr/>
          </p:nvSpPr>
          <p:spPr bwMode="auto">
            <a:xfrm>
              <a:off x="1436680" y="1876943"/>
              <a:ext cx="3314700" cy="1371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385D8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63" name="Object 5"/>
            <p:cNvGraphicFramePr>
              <a:graphicFrameLocks noChangeAspect="1"/>
            </p:cNvGraphicFramePr>
            <p:nvPr/>
          </p:nvGraphicFramePr>
          <p:xfrm>
            <a:off x="1554163" y="2334809"/>
            <a:ext cx="2732087" cy="873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4" name="Equation" r:id="rId3" imgW="1511300" imgH="482600" progId="Equation.3">
                    <p:embed/>
                  </p:oleObj>
                </mc:Choice>
                <mc:Fallback>
                  <p:oleObj name="Equation" r:id="rId3" imgW="1511300" imgH="482600" progId="Equation.3">
                    <p:embed/>
                    <p:pic>
                      <p:nvPicPr>
                        <p:cNvPr id="4916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4163" y="2334809"/>
                          <a:ext cx="2732087" cy="873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64" name="AutoShape 7"/>
          <p:cNvSpPr>
            <a:spLocks noChangeArrowheads="1"/>
          </p:cNvSpPr>
          <p:nvPr/>
        </p:nvSpPr>
        <p:spPr bwMode="auto">
          <a:xfrm>
            <a:off x="694675" y="1207578"/>
            <a:ext cx="550069" cy="910828"/>
          </a:xfrm>
          <a:prstGeom prst="curvedRightArrow">
            <a:avLst>
              <a:gd name="adj1" fmla="val 33117"/>
              <a:gd name="adj2" fmla="val 66234"/>
              <a:gd name="adj3" fmla="val 33333"/>
            </a:avLst>
          </a:prstGeom>
          <a:solidFill>
            <a:schemeClr val="bg1"/>
          </a:solidFill>
          <a:ln w="12700">
            <a:solidFill>
              <a:srgbClr val="385D8A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p:sp>
        <p:nvSpPr>
          <p:cNvPr id="49159" name="Text Box 9"/>
          <p:cNvSpPr txBox="1">
            <a:spLocks noChangeArrowheads="1"/>
          </p:cNvSpPr>
          <p:nvPr/>
        </p:nvSpPr>
        <p:spPr bwMode="auto">
          <a:xfrm>
            <a:off x="127582" y="3088030"/>
            <a:ext cx="6018132" cy="369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Confidence interval</a:t>
            </a: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60" name="Object 10"/>
              <p:cNvSpPr txBox="1"/>
              <p:nvPr/>
            </p:nvSpPr>
            <p:spPr bwMode="auto">
              <a:xfrm>
                <a:off x="694357" y="3469956"/>
                <a:ext cx="6855109" cy="117761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385D8A"/>
                </a:solidFill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MSE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̄"/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𝑋𝑋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rad>
                            </m:e>
                          </m:d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MSE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̄"/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𝑋𝑋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ra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16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357" y="3469956"/>
                <a:ext cx="6855109" cy="1177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385D8A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A399-807B-486C-A62E-F7AAE619204C}"/>
                  </a:ext>
                </a:extLst>
              </p:cNvPr>
              <p:cNvSpPr txBox="1"/>
              <p:nvPr/>
            </p:nvSpPr>
            <p:spPr>
              <a:xfrm>
                <a:off x="1672897" y="1021968"/>
                <a:ext cx="2269083" cy="3245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9A399-807B-486C-A62E-F7AAE6192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897" y="1021968"/>
                <a:ext cx="2269083" cy="324512"/>
              </a:xfrm>
              <a:prstGeom prst="rect">
                <a:avLst/>
              </a:prstGeom>
              <a:blipFill>
                <a:blip r:embed="rId6"/>
                <a:stretch>
                  <a:fillRect l="-5094" t="-18868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3E6A58-78B2-404B-BE75-052E0F41A892}"/>
                  </a:ext>
                </a:extLst>
              </p:cNvPr>
              <p:cNvSpPr txBox="1"/>
              <p:nvPr/>
            </p:nvSpPr>
            <p:spPr>
              <a:xfrm>
                <a:off x="1440808" y="1724139"/>
                <a:ext cx="3197217" cy="3142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3E6A58-78B2-404B-BE75-052E0F41A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08" y="1724139"/>
                <a:ext cx="3197217" cy="314253"/>
              </a:xfrm>
              <a:prstGeom prst="rect">
                <a:avLst/>
              </a:prstGeom>
              <a:blipFill>
                <a:blip r:embed="rId7"/>
                <a:stretch>
                  <a:fillRect l="-2476" t="-23529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2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6061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241</Words>
  <Application>Microsoft Office PowerPoint</Application>
  <PresentationFormat>On-screen Show (16:9)</PresentationFormat>
  <Paragraphs>91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30" baseType="lpstr">
      <vt:lpstr>MS PGothic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Math1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210</cp:revision>
  <dcterms:modified xsi:type="dcterms:W3CDTF">2020-02-12T18:58:08Z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