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 id="2147483705" r:id="rId5"/>
    <p:sldMasterId id="2147483699" r:id="rId6"/>
  </p:sldMasterIdLst>
  <p:notesMasterIdLst>
    <p:notesMasterId r:id="rId17"/>
  </p:notesMasterIdLst>
  <p:handoutMasterIdLst>
    <p:handoutMasterId r:id="rId18"/>
  </p:handoutMasterIdLst>
  <p:sldIdLst>
    <p:sldId id="428" r:id="rId7"/>
    <p:sldId id="429" r:id="rId8"/>
    <p:sldId id="310" r:id="rId9"/>
    <p:sldId id="306" r:id="rId10"/>
    <p:sldId id="307" r:id="rId11"/>
    <p:sldId id="308" r:id="rId12"/>
    <p:sldId id="311" r:id="rId13"/>
    <p:sldId id="312" r:id="rId14"/>
    <p:sldId id="313" r:id="rId15"/>
    <p:sldId id="439"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28"/>
            <p14:sldId id="429"/>
            <p14:sldId id="310"/>
            <p14:sldId id="306"/>
            <p14:sldId id="307"/>
            <p14:sldId id="308"/>
            <p14:sldId id="311"/>
            <p14:sldId id="312"/>
            <p14:sldId id="313"/>
            <p14:sldId id="4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44" userDrawn="1">
          <p15:clr>
            <a:srgbClr val="A4A3A4"/>
          </p15:clr>
        </p15:guide>
        <p15:guide id="4" orient="horz" pos="444" userDrawn="1">
          <p15:clr>
            <a:srgbClr val="A4A3A4"/>
          </p15:clr>
        </p15:guide>
        <p15:guide id="5" orient="horz" pos="804" userDrawn="1">
          <p15:clr>
            <a:srgbClr val="A4A3A4"/>
          </p15:clr>
        </p15:guide>
        <p15:guide id="6" pos="3480" userDrawn="1">
          <p15:clr>
            <a:srgbClr val="A4A3A4"/>
          </p15:clr>
        </p15:guide>
        <p15:guide id="7" pos="432" userDrawn="1">
          <p15:clr>
            <a:srgbClr val="A4A3A4"/>
          </p15:clr>
        </p15:guide>
        <p15:guide id="8" pos="25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odriguez, Ramon S" initials="RRS" lastIdx="1" clrIdx="6">
    <p:extLst>
      <p:ext uri="{19B8F6BF-5375-455C-9EA6-DF929625EA0E}">
        <p15:presenceInfo xmlns:p15="http://schemas.microsoft.com/office/powerpoint/2012/main" userId="S-1-5-21-1177238915-2111687655-1060284298-1451345" providerId="AD"/>
      </p:ext>
    </p:extLst>
  </p:cmAuthor>
  <p:cmAuthor id="1" name="Figueroa, Shabana" initials="FS" lastIdx="16" clrIdx="0"/>
  <p:cmAuthor id="2" name="Figueroa, Shabana" initials="FS [2]" lastIdx="1" clrIdx="1"/>
  <p:cmAuthor id="3" name="Serban, Nicoleta" initials="SN" lastIdx="12" clrIdx="2"/>
  <p:cmAuthor id="4" name="Hu, Rui" initials="HR" lastIdx="1" clrIdx="3"/>
  <p:cmAuthor id="5" name="Hu, Rui" initials="HR [2]" lastIdx="1" clrIdx="4"/>
  <p:cmAuthor id="6" name="Richard Levine" initials="RL" lastIdx="2" clrIdx="5">
    <p:extLst>
      <p:ext uri="{19B8F6BF-5375-455C-9EA6-DF929625EA0E}">
        <p15:presenceInfo xmlns:p15="http://schemas.microsoft.com/office/powerpoint/2012/main" userId="Richard Levin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A70B"/>
    <a:srgbClr val="F8FFF1"/>
    <a:srgbClr val="000000"/>
    <a:srgbClr val="EEB211"/>
    <a:srgbClr val="9932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89" autoAdjust="0"/>
    <p:restoredTop sz="85972"/>
  </p:normalViewPr>
  <p:slideViewPr>
    <p:cSldViewPr snapToGrid="0">
      <p:cViewPr varScale="1">
        <p:scale>
          <a:sx n="71" d="100"/>
          <a:sy n="71" d="100"/>
        </p:scale>
        <p:origin x="1332" y="60"/>
      </p:cViewPr>
      <p:guideLst>
        <p:guide orient="horz" pos="1620"/>
        <p:guide pos="2880"/>
        <p:guide pos="144"/>
        <p:guide orient="horz" pos="444"/>
        <p:guide orient="horz" pos="804"/>
        <p:guide pos="3480"/>
        <p:guide pos="432"/>
        <p:guide pos="25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1/30/2020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1/30/2020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24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ea typeface="MS PGothic" charset="-128"/>
              </a:rPr>
              <a:t>SHOW SLIDE ONLY – NS WILL READ THE SCRIPT BELOW</a:t>
            </a:r>
          </a:p>
          <a:p>
            <a:endParaRPr lang="en-US" altLang="en-US" dirty="0">
              <a:ea typeface="MS PGothic" charset="-128"/>
            </a:endParaRPr>
          </a:p>
          <a:p>
            <a:r>
              <a:rPr lang="en-US" altLang="en-US" dirty="0">
                <a:ea typeface="MS PGothic" charset="-128"/>
              </a:rPr>
              <a:t>The t-tests provide information about statistical significance, but they can’t say anything about</a:t>
            </a:r>
          </a:p>
          <a:p>
            <a:r>
              <a:rPr lang="en-US" altLang="en-US" dirty="0">
                <a:ea typeface="MS PGothic" charset="-128"/>
              </a:rPr>
              <a:t>the practical importance of the model. Does knowing x really tell you anything of value about</a:t>
            </a:r>
          </a:p>
          <a:p>
            <a:r>
              <a:rPr lang="en-US" altLang="en-US" dirty="0">
                <a:ea typeface="MS PGothic" charset="-128"/>
              </a:rPr>
              <a:t>y? This isn’t a question that can be answered completely statistically; it requires knowledge and</a:t>
            </a:r>
          </a:p>
          <a:p>
            <a:r>
              <a:rPr lang="en-US" altLang="en-US" dirty="0">
                <a:ea typeface="MS PGothic" charset="-128"/>
              </a:rPr>
              <a:t>understanding of the data. Statistics can help again! Recall that we assume that the errors have</a:t>
            </a:r>
          </a:p>
          <a:p>
            <a:r>
              <a:rPr lang="en-US" altLang="en-US" dirty="0">
                <a:ea typeface="MS PGothic" charset="-128"/>
              </a:rPr>
              <a:t>standard deviation . That means that, roughly speaking, we would expect to know the value of y</a:t>
            </a:r>
          </a:p>
          <a:p>
            <a:r>
              <a:rPr lang="en-US" altLang="en-US" dirty="0">
                <a:ea typeface="MS PGothic" charset="-128"/>
              </a:rPr>
              <a:t>to within 2 after doing the regression (since the errors off the regression line are assumed to be</a:t>
            </a:r>
          </a:p>
          <a:p>
            <a:r>
              <a:rPr lang="en-US" altLang="en-US" dirty="0">
                <a:ea typeface="MS PGothic" charset="-128"/>
              </a:rPr>
              <a:t>normally distributed). The residual mean square provides an estimate of 2 that can be used in this</a:t>
            </a:r>
          </a:p>
          <a:p>
            <a:r>
              <a:rPr lang="en-US" altLang="en-US" dirty="0">
                <a:ea typeface="MS PGothic" charset="-128"/>
              </a:rPr>
              <a:t>formula. Its square root is called the standard error of the estimate.</a:t>
            </a:r>
          </a:p>
          <a:p>
            <a:endParaRPr lang="en-US" altLang="en-US" dirty="0">
              <a:ea typeface="MS PGothic" charset="-128"/>
            </a:endParaRPr>
          </a:p>
          <a:p>
            <a:r>
              <a:rPr lang="en-US" altLang="en-US" dirty="0">
                <a:ea typeface="MS PGothic" charset="-128"/>
              </a:rPr>
              <a:t>An even more accurate assessment of this is provided by a prediction interval given a particular</a:t>
            </a:r>
          </a:p>
          <a:p>
            <a:r>
              <a:rPr lang="en-US" altLang="en-US" dirty="0">
                <a:ea typeface="MS PGothic" charset="-128"/>
              </a:rPr>
              <a:t>value of x. This interval provides guidance as to how accurate y* is as a prediction of y for some</a:t>
            </a:r>
          </a:p>
          <a:p>
            <a:r>
              <a:rPr lang="en-US" altLang="en-US" dirty="0">
                <a:ea typeface="MS PGothic" charset="-128"/>
              </a:rPr>
              <a:t>particular value x*; its width depends on both sigma^2 and the position of x* relative to x, since values</a:t>
            </a:r>
          </a:p>
          <a:p>
            <a:r>
              <a:rPr lang="en-US" altLang="en-US" dirty="0">
                <a:ea typeface="MS PGothic" charset="-128"/>
              </a:rPr>
              <a:t>further from x are harder to predict. </a:t>
            </a:r>
          </a:p>
        </p:txBody>
      </p:sp>
      <p:sp>
        <p:nvSpPr>
          <p:cNvPr id="624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544AECBB-C40F-4F49-B5CC-DE0D0B03EB1C}" type="slidenum">
              <a:rPr lang="en-US" altLang="en-US"/>
              <a:pPr/>
              <a:t>3</a:t>
            </a:fld>
            <a:endParaRPr lang="en-US" altLang="en-US"/>
          </a:p>
        </p:txBody>
      </p:sp>
    </p:spTree>
    <p:extLst>
      <p:ext uri="{BB962C8B-B14F-4D97-AF65-F5344CB8AC3E}">
        <p14:creationId xmlns:p14="http://schemas.microsoft.com/office/powerpoint/2010/main" val="1830843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45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MS PGothic" charset="-128"/>
              </a:rPr>
              <a:t>SHOW SLIDE ONLY – NS WILL READ THE SCRIPT BELOW</a:t>
            </a:r>
          </a:p>
          <a:p>
            <a:endParaRPr lang="en-US" altLang="en-US">
              <a:ea typeface="MS PGothic" charset="-128"/>
            </a:endParaRPr>
          </a:p>
          <a:p>
            <a:r>
              <a:rPr lang="en-US" altLang="en-US">
                <a:ea typeface="MS PGothic" charset="-128"/>
              </a:rPr>
              <a:t>The t-tests provide information about statistical significance, but they can’t say anything about</a:t>
            </a:r>
          </a:p>
          <a:p>
            <a:r>
              <a:rPr lang="en-US" altLang="en-US">
                <a:ea typeface="MS PGothic" charset="-128"/>
              </a:rPr>
              <a:t>the practical importance of the model. Does knowing x really tell you anything of value about</a:t>
            </a:r>
          </a:p>
          <a:p>
            <a:r>
              <a:rPr lang="en-US" altLang="en-US">
                <a:ea typeface="MS PGothic" charset="-128"/>
              </a:rPr>
              <a:t>y? This isn’t a question that can be answered completely statistically; it requires knowledge and</a:t>
            </a:r>
          </a:p>
          <a:p>
            <a:r>
              <a:rPr lang="en-US" altLang="en-US">
                <a:ea typeface="MS PGothic" charset="-128"/>
              </a:rPr>
              <a:t>understanding of the data. Statistics can help again! Recall that we assume that the errors have</a:t>
            </a:r>
          </a:p>
          <a:p>
            <a:r>
              <a:rPr lang="en-US" altLang="en-US">
                <a:ea typeface="MS PGothic" charset="-128"/>
              </a:rPr>
              <a:t>standard deviation . That means that, roughly speaking, we would expect to know the value of y</a:t>
            </a:r>
          </a:p>
          <a:p>
            <a:r>
              <a:rPr lang="en-US" altLang="en-US">
                <a:ea typeface="MS PGothic" charset="-128"/>
              </a:rPr>
              <a:t>to within 2 after doing the regression (since the errors off the regression line are assumed to be</a:t>
            </a:r>
          </a:p>
          <a:p>
            <a:r>
              <a:rPr lang="en-US" altLang="en-US">
                <a:ea typeface="MS PGothic" charset="-128"/>
              </a:rPr>
              <a:t>normally distributed). The residual mean square provides an estimate of 2 that can be used in this</a:t>
            </a:r>
          </a:p>
          <a:p>
            <a:r>
              <a:rPr lang="en-US" altLang="en-US">
                <a:ea typeface="MS PGothic" charset="-128"/>
              </a:rPr>
              <a:t>formula. Its square root is called the standard error of the estimate.</a:t>
            </a:r>
          </a:p>
          <a:p>
            <a:endParaRPr lang="en-US" altLang="en-US">
              <a:ea typeface="MS PGothic" charset="-128"/>
            </a:endParaRPr>
          </a:p>
          <a:p>
            <a:r>
              <a:rPr lang="en-US" altLang="en-US">
                <a:ea typeface="MS PGothic" charset="-128"/>
              </a:rPr>
              <a:t>An even more accurate assessment of this is provided by a prediction interval given a particular</a:t>
            </a:r>
          </a:p>
          <a:p>
            <a:r>
              <a:rPr lang="en-US" altLang="en-US">
                <a:ea typeface="MS PGothic" charset="-128"/>
              </a:rPr>
              <a:t>value of x. This interval provides guidance as to how accurate y* is as a prediction of y for some</a:t>
            </a:r>
          </a:p>
          <a:p>
            <a:r>
              <a:rPr lang="en-US" altLang="en-US">
                <a:ea typeface="MS PGothic" charset="-128"/>
              </a:rPr>
              <a:t>particular value x*; its width depends on both sigma^2 and the position of x* relative to x, since values</a:t>
            </a:r>
          </a:p>
          <a:p>
            <a:r>
              <a:rPr lang="en-US" altLang="en-US">
                <a:ea typeface="MS PGothic" charset="-128"/>
              </a:rPr>
              <a:t>further from x are harder to predict. </a:t>
            </a:r>
          </a:p>
        </p:txBody>
      </p:sp>
      <p:sp>
        <p:nvSpPr>
          <p:cNvPr id="645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F7C468EA-739A-7D4E-A44F-0EE39827079C}" type="slidenum">
              <a:rPr lang="en-US" altLang="en-US"/>
              <a:pPr/>
              <a:t>7</a:t>
            </a:fld>
            <a:endParaRPr lang="en-US" altLang="en-US"/>
          </a:p>
        </p:txBody>
      </p:sp>
    </p:spTree>
    <p:extLst>
      <p:ext uri="{BB962C8B-B14F-4D97-AF65-F5344CB8AC3E}">
        <p14:creationId xmlns:p14="http://schemas.microsoft.com/office/powerpoint/2010/main" val="2622934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a:p>
            <a:r>
              <a:rPr lang="en-US" altLang="en-US" dirty="0">
                <a:ea typeface="MS PGothic" charset="-128"/>
              </a:rPr>
              <a:t>The prediction interval should not be confused with a confidence interval for a fitted</a:t>
            </a:r>
          </a:p>
          <a:p>
            <a:r>
              <a:rPr lang="en-US" altLang="en-US" dirty="0">
                <a:ea typeface="MS PGothic" charset="-128"/>
              </a:rPr>
              <a:t>value, which will be narrower. The prediction interval is used to provide an interval estimate for</a:t>
            </a:r>
          </a:p>
          <a:p>
            <a:r>
              <a:rPr lang="en-US" altLang="en-US" dirty="0">
                <a:ea typeface="MS PGothic" charset="-128"/>
              </a:rPr>
              <a:t>a prediction of y for one member of the population with a particular value of x*; the confidence</a:t>
            </a:r>
          </a:p>
          <a:p>
            <a:r>
              <a:rPr lang="en-US" altLang="en-US" dirty="0">
                <a:ea typeface="MS PGothic" charset="-128"/>
              </a:rPr>
              <a:t>interval is used to provide an interval estimate for the true average value of y for all members of</a:t>
            </a:r>
          </a:p>
          <a:p>
            <a:r>
              <a:rPr lang="en-US" altLang="en-US" dirty="0">
                <a:ea typeface="MS PGothic" charset="-128"/>
              </a:rPr>
              <a:t>the population with a particular value of x*.</a:t>
            </a:r>
            <a:endParaRPr lang="en-US" altLang="en-US" b="1" dirty="0">
              <a:ea typeface="MS PGothic" charset="-128"/>
            </a:endParaRPr>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C561DE58-E282-8144-9A2B-20DB6B110F9D}" type="slidenum">
              <a:rPr lang="en-US" altLang="en-US"/>
              <a:pPr/>
              <a:t>9</a:t>
            </a:fld>
            <a:endParaRPr lang="en-US" altLang="en-US"/>
          </a:p>
        </p:txBody>
      </p:sp>
    </p:spTree>
    <p:extLst>
      <p:ext uri="{BB962C8B-B14F-4D97-AF65-F5344CB8AC3E}">
        <p14:creationId xmlns:p14="http://schemas.microsoft.com/office/powerpoint/2010/main" val="2981932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6302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443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3607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65100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30626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25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9290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67198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97524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1206883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7"/>
          <a:stretch>
            <a:fillRect/>
          </a:stretch>
        </p:blipFill>
        <p:spPr>
          <a:xfrm>
            <a:off x="0" y="0"/>
            <a:ext cx="9144000" cy="5143500"/>
          </a:xfrm>
          <a:prstGeom prst="rect">
            <a:avLst/>
          </a:prstGeom>
        </p:spPr>
      </p:pic>
    </p:spTree>
    <p:extLst>
      <p:ext uri="{BB962C8B-B14F-4D97-AF65-F5344CB8AC3E}">
        <p14:creationId xmlns:p14="http://schemas.microsoft.com/office/powerpoint/2010/main" val="23112462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2736575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30436561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6"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7.wmf"/><Relationship Id="rId2" Type="http://schemas.openxmlformats.org/officeDocument/2006/relationships/slideLayout" Target="../slideLayouts/slideLayout1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png"/><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9.wmf"/><Relationship Id="rId2" Type="http://schemas.openxmlformats.org/officeDocument/2006/relationships/slideLayout" Target="../slideLayouts/slideLayout11.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7.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1.xml"/><Relationship Id="rId1" Type="http://schemas.openxmlformats.org/officeDocument/2006/relationships/vmlDrawing" Target="../drawings/vmlDrawing3.vml"/><Relationship Id="rId5" Type="http://schemas.openxmlformats.org/officeDocument/2006/relationships/image" Target="../media/image11.png"/><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vmlDrawing" Target="../drawings/vmlDrawing4.vml"/><Relationship Id="rId6" Type="http://schemas.openxmlformats.org/officeDocument/2006/relationships/image" Target="../media/image12.png"/><Relationship Id="rId5" Type="http://schemas.openxmlformats.org/officeDocument/2006/relationships/image" Target="../media/image7.w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wmf"/><Relationship Id="rId2" Type="http://schemas.openxmlformats.org/officeDocument/2006/relationships/slideLayout" Target="../slideLayouts/slideLayout11.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13.w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7.wmf"/><Relationship Id="rId2" Type="http://schemas.openxmlformats.org/officeDocument/2006/relationships/slideLayout" Target="../slideLayouts/slideLayout11.xml"/><Relationship Id="rId1" Type="http://schemas.openxmlformats.org/officeDocument/2006/relationships/vmlDrawing" Target="../drawings/vmlDrawing6.vml"/><Relationship Id="rId6" Type="http://schemas.openxmlformats.org/officeDocument/2006/relationships/oleObject" Target="../embeddings/oleObject11.bin"/><Relationship Id="rId5" Type="http://schemas.openxmlformats.org/officeDocument/2006/relationships/image" Target="../media/image16.emf"/><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7956" y="228858"/>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6" name="Text Placeholder 2"/>
          <p:cNvSpPr>
            <a:spLocks noGrp="1"/>
          </p:cNvSpPr>
          <p:nvPr/>
        </p:nvSpPr>
        <p:spPr>
          <a:xfrm>
            <a:off x="117956" y="740369"/>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Simple Linear Regression</a:t>
            </a:r>
          </a:p>
        </p:txBody>
      </p:sp>
      <p:sp>
        <p:nvSpPr>
          <p:cNvPr id="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9" name="Text Placeholder 5"/>
          <p:cNvSpPr>
            <a:spLocks noGrp="1"/>
          </p:cNvSpPr>
          <p:nvPr/>
        </p:nvSpPr>
        <p:spPr>
          <a:xfrm>
            <a:off x="117956" y="3885645"/>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Helvetica" panose="020B0604020202020204" pitchFamily="34" charset="0"/>
                <a:ea typeface="Vitesse" charset="0"/>
                <a:cs typeface="Helvetica" panose="020B0604020202020204" pitchFamily="34" charset="0"/>
              </a:rPr>
              <a:t>Regression Concepts: </a:t>
            </a:r>
          </a:p>
          <a:p>
            <a:r>
              <a:rPr lang="en-US" sz="2000" dirty="0">
                <a:latin typeface="Helvetica" panose="020B0604020202020204" pitchFamily="34" charset="0"/>
                <a:ea typeface="Vitesse" charset="0"/>
                <a:cs typeface="Helvetica" panose="020B0604020202020204" pitchFamily="34" charset="0"/>
              </a:rPr>
              <a:t>Regression Line and Prediction</a:t>
            </a:r>
          </a:p>
        </p:txBody>
      </p:sp>
      <p:sp>
        <p:nvSpPr>
          <p:cNvPr id="1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693339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43478" y="-135358"/>
            <a:ext cx="4727575" cy="1330325"/>
          </a:xfrm>
        </p:spPr>
        <p:txBody>
          <a:bodyPr anchor="ctr">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149995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Box 2"/>
          <p:cNvSpPr txBox="1">
            <a:spLocks noChangeArrowheads="1"/>
          </p:cNvSpPr>
          <p:nvPr/>
        </p:nvSpPr>
        <p:spPr bwMode="auto">
          <a:xfrm>
            <a:off x="122917" y="220839"/>
            <a:ext cx="692856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defRPr/>
            </a:pPr>
            <a:r>
              <a:rPr lang="en-US" altLang="en-US" sz="3600" dirty="0">
                <a:solidFill>
                  <a:schemeClr val="bg2">
                    <a:lumMod val="10000"/>
                  </a:schemeClr>
                </a:solidFill>
                <a:latin typeface="Vitesse" charset="0"/>
                <a:ea typeface="Vitesse" charset="0"/>
                <a:cs typeface="Vitesse" charset="0"/>
              </a:rPr>
              <a:t>Estimation vs. Prediction</a:t>
            </a:r>
          </a:p>
        </p:txBody>
      </p:sp>
      <p:sp>
        <p:nvSpPr>
          <p:cNvPr id="69635" name="Text Box 3"/>
          <p:cNvSpPr txBox="1">
            <a:spLocks noChangeArrowheads="1"/>
          </p:cNvSpPr>
          <p:nvPr/>
        </p:nvSpPr>
        <p:spPr bwMode="auto">
          <a:xfrm>
            <a:off x="129543" y="1009665"/>
            <a:ext cx="7597642"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defRPr/>
            </a:pPr>
            <a:r>
              <a:rPr lang="en-US" altLang="en-US" dirty="0">
                <a:latin typeface="Helvetica" panose="020B0604020202020204" pitchFamily="34" charset="0"/>
                <a:ea typeface="Helvetica Neue" charset="0"/>
                <a:cs typeface="Helvetica" panose="020B0604020202020204" pitchFamily="34" charset="0"/>
              </a:rPr>
              <a:t>Interpretation of estimated mean response:</a:t>
            </a:r>
          </a:p>
          <a:p>
            <a:pPr marL="457200" indent="-457200">
              <a:spcBef>
                <a:spcPct val="50000"/>
              </a:spcBef>
              <a:buFont typeface="Wingdings" charset="2"/>
              <a:buChar char="Ø"/>
              <a:defRPr/>
            </a:pPr>
            <a:r>
              <a:rPr lang="en-US" altLang="en-US" dirty="0">
                <a:latin typeface="Helvetica" panose="020B0604020202020204" pitchFamily="34" charset="0"/>
                <a:ea typeface="Helvetica Neue" charset="0"/>
                <a:cs typeface="Helvetica" panose="020B0604020202020204" pitchFamily="34" charset="0"/>
              </a:rPr>
              <a:t>If x* is one of the observations for the predicting variable, then we use </a:t>
            </a:r>
            <a:r>
              <a:rPr lang="en-US" altLang="en-US" b="1" dirty="0">
                <a:solidFill>
                  <a:srgbClr val="DFA70B"/>
                </a:solidFill>
                <a:latin typeface="Helvetica" panose="020B0604020202020204" pitchFamily="34" charset="0"/>
                <a:ea typeface="Helvetica Neue" charset="0"/>
                <a:cs typeface="Helvetica" panose="020B0604020202020204" pitchFamily="34" charset="0"/>
              </a:rPr>
              <a:t>estimation</a:t>
            </a:r>
            <a:r>
              <a:rPr lang="en-US" altLang="en-US" dirty="0">
                <a:latin typeface="Helvetica" panose="020B0604020202020204" pitchFamily="34" charset="0"/>
                <a:ea typeface="Helvetica Neue" charset="0"/>
                <a:cs typeface="Helvetica" panose="020B0604020202020204" pitchFamily="34" charset="0"/>
              </a:rPr>
              <a:t>. Estimated regression line for the value x* is interpreted as the </a:t>
            </a:r>
            <a:r>
              <a:rPr lang="en-US" altLang="en-US" b="1" u="sng" dirty="0">
                <a:solidFill>
                  <a:srgbClr val="DFA70B"/>
                </a:solidFill>
                <a:latin typeface="Helvetica" panose="020B0604020202020204" pitchFamily="34" charset="0"/>
                <a:ea typeface="Helvetica Neue" charset="0"/>
                <a:cs typeface="Helvetica" panose="020B0604020202020204" pitchFamily="34" charset="0"/>
              </a:rPr>
              <a:t>average</a:t>
            </a:r>
            <a:r>
              <a:rPr lang="en-US" altLang="en-US" dirty="0">
                <a:latin typeface="Helvetica" panose="020B0604020202020204" pitchFamily="34" charset="0"/>
                <a:ea typeface="Helvetica Neue" charset="0"/>
                <a:cs typeface="Helvetica" panose="020B0604020202020204" pitchFamily="34" charset="0"/>
              </a:rPr>
              <a:t> estimated mean response for </a:t>
            </a:r>
            <a:r>
              <a:rPr lang="en-US" altLang="en-US" b="1" u="sng" dirty="0">
                <a:solidFill>
                  <a:srgbClr val="DFA70B"/>
                </a:solidFill>
                <a:latin typeface="Helvetica" panose="020B0604020202020204" pitchFamily="34" charset="0"/>
                <a:ea typeface="Helvetica Neue" charset="0"/>
                <a:cs typeface="Helvetica" panose="020B0604020202020204" pitchFamily="34" charset="0"/>
              </a:rPr>
              <a:t>all</a:t>
            </a:r>
            <a:r>
              <a:rPr lang="en-US" altLang="en-US" dirty="0">
                <a:solidFill>
                  <a:schemeClr val="accent6">
                    <a:lumMod val="75000"/>
                  </a:schemeClr>
                </a:solidFill>
                <a:latin typeface="Helvetica" panose="020B0604020202020204" pitchFamily="34" charset="0"/>
                <a:ea typeface="Helvetica Neue" charset="0"/>
                <a:cs typeface="Helvetica" panose="020B0604020202020204" pitchFamily="34" charset="0"/>
              </a:rPr>
              <a:t> </a:t>
            </a:r>
            <a:r>
              <a:rPr lang="en-US" altLang="en-US" dirty="0">
                <a:latin typeface="Helvetica" panose="020B0604020202020204" pitchFamily="34" charset="0"/>
                <a:ea typeface="Helvetica Neue" charset="0"/>
                <a:cs typeface="Helvetica" panose="020B0604020202020204" pitchFamily="34" charset="0"/>
              </a:rPr>
              <a:t>settings under which the predicting variable is equal to x*. </a:t>
            </a:r>
          </a:p>
          <a:p>
            <a:pPr marL="457200" indent="-457200">
              <a:spcBef>
                <a:spcPct val="50000"/>
              </a:spcBef>
              <a:buFont typeface="Wingdings" charset="2"/>
              <a:buChar char="Ø"/>
              <a:defRPr/>
            </a:pPr>
            <a:r>
              <a:rPr lang="en-US" altLang="en-US" dirty="0">
                <a:latin typeface="Helvetica" panose="020B0604020202020204" pitchFamily="34" charset="0"/>
                <a:ea typeface="Helvetica Neue" charset="0"/>
                <a:cs typeface="Helvetica" panose="020B0604020202020204" pitchFamily="34" charset="0"/>
              </a:rPr>
              <a:t>If x* is a new observation of the predicting variables, the we use </a:t>
            </a:r>
            <a:r>
              <a:rPr lang="en-US" altLang="en-US" b="1" dirty="0">
                <a:solidFill>
                  <a:srgbClr val="DFA70B"/>
                </a:solidFill>
                <a:latin typeface="Helvetica" panose="020B0604020202020204" pitchFamily="34" charset="0"/>
                <a:ea typeface="Helvetica Neue" charset="0"/>
                <a:cs typeface="Helvetica" panose="020B0604020202020204" pitchFamily="34" charset="0"/>
              </a:rPr>
              <a:t>prediction</a:t>
            </a:r>
            <a:r>
              <a:rPr lang="en-US" altLang="en-US" dirty="0">
                <a:latin typeface="Helvetica" panose="020B0604020202020204" pitchFamily="34" charset="0"/>
                <a:ea typeface="Helvetica Neue" charset="0"/>
                <a:cs typeface="Helvetica" panose="020B0604020202020204" pitchFamily="34" charset="0"/>
              </a:rPr>
              <a:t>. Predicted regression line for the value x* is interpreted as the estimated mean response for </a:t>
            </a:r>
            <a:r>
              <a:rPr lang="en-US" altLang="en-US" b="1" u="sng" dirty="0">
                <a:solidFill>
                  <a:srgbClr val="DFA70B"/>
                </a:solidFill>
                <a:latin typeface="Helvetica" panose="020B0604020202020204" pitchFamily="34" charset="0"/>
                <a:ea typeface="Helvetica Neue" charset="0"/>
                <a:cs typeface="Helvetica" panose="020B0604020202020204" pitchFamily="34" charset="0"/>
              </a:rPr>
              <a:t>one</a:t>
            </a:r>
            <a:r>
              <a:rPr lang="en-US" altLang="en-US" dirty="0">
                <a:latin typeface="Helvetica" panose="020B0604020202020204" pitchFamily="34" charset="0"/>
                <a:ea typeface="Helvetica Neue" charset="0"/>
                <a:cs typeface="Helvetica" panose="020B0604020202020204" pitchFamily="34" charset="0"/>
              </a:rPr>
              <a:t> setting under which the predicting variable is equal to x*. </a:t>
            </a:r>
          </a:p>
          <a:p>
            <a:pPr marL="257175" indent="-257175">
              <a:spcBef>
                <a:spcPct val="50000"/>
              </a:spcBef>
              <a:buFont typeface="Arial" panose="020B0604020202020204" pitchFamily="34" charset="0"/>
              <a:buChar char="•"/>
              <a:defRPr/>
            </a:pPr>
            <a:endParaRPr lang="en-US" alt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242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698959" y="1860114"/>
            <a:ext cx="2227771" cy="511969"/>
          </a:xfrm>
          <a:prstGeom prst="rect">
            <a:avLst/>
          </a:prstGeom>
          <a:solidFill>
            <a:schemeClr val="bg1"/>
          </a:solidFill>
          <a:ln w="12700">
            <a:solidFill>
              <a:srgbClr val="385D8A"/>
            </a:solidFill>
            <a:miter lim="800000"/>
            <a:headEnd/>
            <a:tailEnd/>
          </a:ln>
        </p:spPr>
        <p:txBody>
          <a:bodyPr wrap="none"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defRPr/>
            </a:pPr>
            <a:endParaRPr lang="en-US" altLang="en-US">
              <a:latin typeface="Times New Roman" panose="02020603050405020304" pitchFamily="18" charset="0"/>
            </a:endParaRPr>
          </a:p>
        </p:txBody>
      </p:sp>
      <p:sp>
        <p:nvSpPr>
          <p:cNvPr id="57346" name="Text Box 2"/>
          <p:cNvSpPr txBox="1">
            <a:spLocks noChangeArrowheads="1"/>
          </p:cNvSpPr>
          <p:nvPr/>
        </p:nvSpPr>
        <p:spPr bwMode="auto">
          <a:xfrm>
            <a:off x="117505" y="214885"/>
            <a:ext cx="8319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Estimating the Regression Line</a:t>
            </a:r>
          </a:p>
        </p:txBody>
      </p:sp>
      <p:sp>
        <p:nvSpPr>
          <p:cNvPr id="57347" name="Text Box 3"/>
          <p:cNvSpPr txBox="1">
            <a:spLocks noChangeArrowheads="1"/>
          </p:cNvSpPr>
          <p:nvPr/>
        </p:nvSpPr>
        <p:spPr bwMode="auto">
          <a:xfrm>
            <a:off x="154831" y="1005528"/>
            <a:ext cx="794870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At some selected value of x (say x*), we estimate the “mean response” of y (or the regression line) via</a:t>
            </a:r>
          </a:p>
        </p:txBody>
      </p:sp>
      <p:graphicFrame>
        <p:nvGraphicFramePr>
          <p:cNvPr id="57348" name="Object 4"/>
          <p:cNvGraphicFramePr>
            <a:graphicFrameLocks noChangeAspect="1"/>
          </p:cNvGraphicFramePr>
          <p:nvPr>
            <p:extLst>
              <p:ext uri="{D42A27DB-BD31-4B8C-83A1-F6EECF244321}">
                <p14:modId xmlns:p14="http://schemas.microsoft.com/office/powerpoint/2010/main" val="3030547717"/>
              </p:ext>
            </p:extLst>
          </p:nvPr>
        </p:nvGraphicFramePr>
        <p:xfrm>
          <a:off x="697880" y="1860115"/>
          <a:ext cx="2228850" cy="511969"/>
        </p:xfrm>
        <a:graphic>
          <a:graphicData uri="http://schemas.openxmlformats.org/presentationml/2006/ole">
            <mc:AlternateContent xmlns:mc="http://schemas.openxmlformats.org/markup-compatibility/2006">
              <mc:Choice xmlns:v="urn:schemas-microsoft-com:vml" Requires="v">
                <p:oleObj spid="_x0000_s1055" name="Equation" r:id="rId3" imgW="1104900" imgH="254000" progId="Equation.3">
                  <p:embed/>
                </p:oleObj>
              </mc:Choice>
              <mc:Fallback>
                <p:oleObj name="Equation" r:id="rId3" imgW="1104900" imgH="254000" progId="Equation.3">
                  <p:embed/>
                  <p:pic>
                    <p:nvPicPr>
                      <p:cNvPr id="57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80" y="1860115"/>
                        <a:ext cx="2228850" cy="511969"/>
                      </a:xfrm>
                      <a:prstGeom prst="rect">
                        <a:avLst/>
                      </a:prstGeom>
                      <a:noFill/>
                      <a:ln>
                        <a:noFill/>
                      </a:ln>
                      <a:effectLst/>
                      <a:extLst/>
                    </p:spPr>
                  </p:pic>
                </p:oleObj>
              </mc:Fallback>
            </mc:AlternateContent>
          </a:graphicData>
        </a:graphic>
      </p:graphicFrame>
      <p:grpSp>
        <p:nvGrpSpPr>
          <p:cNvPr id="2" name="Group 5"/>
          <p:cNvGrpSpPr>
            <a:grpSpLocks/>
          </p:cNvGrpSpPr>
          <p:nvPr/>
        </p:nvGrpSpPr>
        <p:grpSpPr bwMode="auto">
          <a:xfrm>
            <a:off x="140543" y="2703501"/>
            <a:ext cx="7592615" cy="923925"/>
            <a:chOff x="636" y="2792"/>
            <a:chExt cx="6377" cy="776"/>
          </a:xfrm>
        </p:grpSpPr>
        <mc:AlternateContent xmlns:mc="http://schemas.openxmlformats.org/markup-compatibility/2006">
          <mc:Choice xmlns:a14="http://schemas.microsoft.com/office/drawing/2010/main" Requires="a14">
            <p:sp>
              <p:nvSpPr>
                <p:cNvPr id="57350" name="Text Box 6"/>
                <p:cNvSpPr txBox="1">
                  <a:spLocks noChangeArrowheads="1"/>
                </p:cNvSpPr>
                <p:nvPr/>
              </p:nvSpPr>
              <p:spPr bwMode="auto">
                <a:xfrm>
                  <a:off x="636" y="2792"/>
                  <a:ext cx="6377" cy="7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r>
                    <a:rPr lang="en-US" altLang="en-US" dirty="0">
                      <a:latin typeface="Helvetica" panose="020B0604020202020204" pitchFamily="34" charset="0"/>
                      <a:ea typeface="Helvetica Neue" charset="0"/>
                      <a:cs typeface="Helvetica" panose="020B0604020202020204" pitchFamily="34" charset="0"/>
                    </a:rPr>
                    <a:t>Because the estimators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oMath>
                  </a14:m>
                  <a:r>
                    <a:rPr lang="en-US" altLang="en-US" dirty="0">
                      <a:latin typeface="Times New Roman" charset="0"/>
                    </a:rPr>
                    <a:t> </a:t>
                  </a:r>
                  <a:r>
                    <a:rPr lang="en-US" altLang="en-US" dirty="0">
                      <a:latin typeface="Helvetica" panose="020B0604020202020204" pitchFamily="34" charset="0"/>
                      <a:ea typeface="Helvetica Neue" charset="0"/>
                      <a:cs typeface="Helvetica" panose="020B0604020202020204" pitchFamily="34" charset="0"/>
                    </a:rPr>
                    <a:t>and</a:t>
                  </a:r>
                  <a:r>
                    <a:rPr lang="en-US" altLang="en-US" dirty="0">
                      <a:latin typeface="Helvetica Neue" charset="0"/>
                      <a:ea typeface="Helvetica Neue" charset="0"/>
                      <a:cs typeface="Helvetica Neue"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1</m:t>
                          </m:r>
                        </m:sub>
                      </m:sSub>
                    </m:oMath>
                  </a14:m>
                  <a:r>
                    <a:rPr lang="en-US" altLang="en-US" dirty="0">
                      <a:latin typeface="Times New Roman" charset="0"/>
                    </a:rPr>
                    <a:t> </a:t>
                  </a:r>
                  <a:r>
                    <a:rPr lang="en-US" altLang="en-US" dirty="0">
                      <a:latin typeface="Helvetica" panose="020B0604020202020204" pitchFamily="34" charset="0"/>
                      <a:ea typeface="Helvetica Neue" charset="0"/>
                      <a:cs typeface="Helvetica" panose="020B0604020202020204" pitchFamily="34" charset="0"/>
                    </a:rPr>
                    <a:t>are normally distributed, so is</a:t>
                  </a:r>
                  <a:r>
                    <a:rPr lang="en-US" altLang="en-US" dirty="0">
                      <a:latin typeface="Helvetica Neue" charset="0"/>
                      <a:ea typeface="Helvetica Neue" charset="0"/>
                      <a:cs typeface="Helvetica Neue" charset="0"/>
                    </a:rPr>
                    <a:t>   . </a:t>
                  </a:r>
                  <a:r>
                    <a:rPr lang="en-US" altLang="en-US" dirty="0">
                      <a:latin typeface="Helvetica" panose="020B0604020202020204" pitchFamily="34" charset="0"/>
                      <a:ea typeface="Helvetica Neue" charset="0"/>
                      <a:cs typeface="Helvetica" panose="020B0604020202020204" pitchFamily="34" charset="0"/>
                    </a:rPr>
                    <a:t>That means we can draw inference using    if we know expected value and variance.</a:t>
                  </a:r>
                </a:p>
              </p:txBody>
            </p:sp>
          </mc:Choice>
          <mc:Fallback>
            <p:sp>
              <p:nvSpPr>
                <p:cNvPr id="57350" name="Text Box 6"/>
                <p:cNvSpPr txBox="1">
                  <a:spLocks noRot="1" noChangeAspect="1" noMove="1" noResize="1" noEditPoints="1" noAdjustHandles="1" noChangeArrowheads="1" noChangeShapeType="1" noTextEdit="1"/>
                </p:cNvSpPr>
                <p:nvPr/>
              </p:nvSpPr>
              <p:spPr bwMode="auto">
                <a:xfrm>
                  <a:off x="636" y="2792"/>
                  <a:ext cx="6377" cy="776"/>
                </a:xfrm>
                <a:prstGeom prst="rect">
                  <a:avLst/>
                </a:prstGeom>
                <a:blipFill>
                  <a:blip r:embed="rId5"/>
                  <a:stretch>
                    <a:fillRect l="-642" t="-3289" b="-92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57351" name="Object 7"/>
                <p:cNvGraphicFramePr>
                  <a:graphicFrameLocks noChangeAspect="1"/>
                </p:cNvGraphicFramePr>
                <p:nvPr/>
              </p:nvGraphicFramePr>
              <p:xfrm>
                <a:off x="6311" y="2819"/>
                <a:ext cx="198" cy="288"/>
              </p:xfrm>
              <a:graphic>
                <a:graphicData uri="http://schemas.openxmlformats.org/presentationml/2006/ole">
                  <mc:AlternateContent>
                    <mc:Choice xmlns:v="urn:schemas-microsoft-com:vml" Requires="v">
                      <p:oleObj spid="_x0000_s1056" name="Equation" r:id="rId6" imgW="139639" imgH="203112" progId="Equation.3">
                        <p:embed/>
                      </p:oleObj>
                    </mc:Choice>
                    <mc:Fallback>
                      <p:oleObj name="Equation" r:id="rId6" imgW="139639" imgH="203112" progId="Equation.3">
                        <p:embed/>
                        <p:pic>
                          <p:nvPicPr>
                            <p:cNvPr id="57351" name="Object 7"/>
                            <p:cNvPicPr>
                              <a:picLocks noChangeAspect="1" noChangeArrowheads="1"/>
                            </p:cNvPicPr>
                            <p:nvPr/>
                          </p:nvPicPr>
                          <p:blipFill>
                            <a:blip r:embed="rId7">
                              <a:extLst>
                                <a:ext uri="{28A0092B-C50C-407E-A947-70E740481C1C}">
                                  <a14:useLocalDpi val="0"/>
                                </a:ext>
                              </a:extLst>
                            </a:blip>
                            <a:srcRect/>
                            <a:stretch>
                              <a:fillRect/>
                            </a:stretch>
                          </p:blipFill>
                          <p:spPr bwMode="auto">
                            <a:xfrm>
                              <a:off x="6311" y="2819"/>
                              <a:ext cx="198" cy="28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blurRad="63500" dist="38099" dir="2700000" algn="ctr" rotWithShape="0">
                                      <a:srgbClr val="000000">
                                        <a:alpha val="74997"/>
                                      </a:srgbClr>
                                    </a:outerShdw>
                                  </a:effectLst>
                                </a14:hiddenEffects>
                              </a:ext>
                            </a:extLst>
                          </p:spPr>
                        </p:pic>
                      </p:oleObj>
                    </mc:Fallback>
                  </mc:AlternateContent>
                </a:graphicData>
              </a:graphic>
            </p:graphicFrame>
          </mc:Choice>
          <mc:Fallback>
            <p:graphicFrame>
              <p:nvGraphicFramePr>
                <p:cNvPr id="57351" name="Object 7"/>
                <p:cNvGraphicFramePr>
                  <a:graphicFrameLocks noChangeAspect="1"/>
                </p:cNvGraphicFramePr>
                <p:nvPr/>
              </p:nvGraphicFramePr>
              <p:xfrm>
                <a:off x="6311" y="2819"/>
                <a:ext cx="198" cy="288"/>
              </p:xfrm>
              <a:graphic>
                <a:graphicData uri="http://schemas.openxmlformats.org/presentationml/2006/ole">
                  <mc:AlternateContent>
                    <mc:Choice xmlns:v="urn:schemas-microsoft-com:vml" Requires="v">
                      <p:oleObj spid="_x0000_s1056" name="Equation" r:id="rId6" imgW="139639" imgH="203112" progId="Equation.3">
                        <p:embed/>
                      </p:oleObj>
                    </mc:Choice>
                    <mc:Fallback>
                      <p:oleObj name="Equation" r:id="rId6" imgW="139639" imgH="203112" progId="Equation.3">
                        <p:embed/>
                        <p:pic>
                          <p:nvPicPr>
                            <p:cNvPr id="5735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1" y="2819"/>
                              <a:ext cx="19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mc:Fallback>
        </mc:AlternateContent>
        <mc:AlternateContent xmlns:mc="http://schemas.openxmlformats.org/markup-compatibility/2006">
          <mc:Choice xmlns:a14="http://schemas.microsoft.com/office/drawing/2010/main" Requires="a14">
            <p:graphicFrame>
              <p:nvGraphicFramePr>
                <p:cNvPr id="57352" name="Object 8"/>
                <p:cNvGraphicFramePr>
                  <a:graphicFrameLocks noChangeAspect="1"/>
                </p:cNvGraphicFramePr>
                <p:nvPr/>
              </p:nvGraphicFramePr>
              <p:xfrm>
                <a:off x="4230" y="3049"/>
                <a:ext cx="198" cy="288"/>
              </p:xfrm>
              <a:graphic>
                <a:graphicData uri="http://schemas.openxmlformats.org/presentationml/2006/ole">
                  <mc:AlternateContent>
                    <mc:Choice xmlns:v="urn:schemas-microsoft-com:vml" Requires="v">
                      <p:oleObj spid="_x0000_s1057" name="Equation" r:id="rId8" imgW="139639" imgH="203112" progId="Equation.3">
                        <p:embed/>
                      </p:oleObj>
                    </mc:Choice>
                    <mc:Fallback>
                      <p:oleObj name="Equation" r:id="rId8" imgW="139639" imgH="203112" progId="Equation.3">
                        <p:embed/>
                        <p:pic>
                          <p:nvPicPr>
                            <p:cNvPr id="57352" name="Object 8"/>
                            <p:cNvPicPr>
                              <a:picLocks noChangeAspect="1" noChangeArrowheads="1"/>
                            </p:cNvPicPr>
                            <p:nvPr/>
                          </p:nvPicPr>
                          <p:blipFill>
                            <a:blip r:embed="rId7">
                              <a:extLst>
                                <a:ext uri="{28A0092B-C50C-407E-A947-70E740481C1C}">
                                  <a14:useLocalDpi val="0"/>
                                </a:ext>
                              </a:extLst>
                            </a:blip>
                            <a:srcRect/>
                            <a:stretch>
                              <a:fillRect/>
                            </a:stretch>
                          </p:blipFill>
                          <p:spPr bwMode="auto">
                            <a:xfrm>
                              <a:off x="4230" y="3049"/>
                              <a:ext cx="198" cy="2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p:graphicFrame>
              <p:nvGraphicFramePr>
                <p:cNvPr id="57352" name="Object 8"/>
                <p:cNvGraphicFramePr>
                  <a:graphicFrameLocks noChangeAspect="1"/>
                </p:cNvGraphicFramePr>
                <p:nvPr/>
              </p:nvGraphicFramePr>
              <p:xfrm>
                <a:off x="4230" y="3049"/>
                <a:ext cx="198" cy="288"/>
              </p:xfrm>
              <a:graphic>
                <a:graphicData uri="http://schemas.openxmlformats.org/presentationml/2006/ole">
                  <mc:AlternateContent>
                    <mc:Choice xmlns:v="urn:schemas-microsoft-com:vml" Requires="v">
                      <p:oleObj spid="_x0000_s1057" name="Equation" r:id="rId8" imgW="139639" imgH="203112" progId="Equation.3">
                        <p:embed/>
                      </p:oleObj>
                    </mc:Choice>
                    <mc:Fallback>
                      <p:oleObj name="Equation" r:id="rId8" imgW="139639" imgH="203112" progId="Equation.3">
                        <p:embed/>
                        <p:pic>
                          <p:nvPicPr>
                            <p:cNvPr id="57352"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0" y="3049"/>
                              <a:ext cx="1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grpSp>
    </p:spTree>
    <p:extLst>
      <p:ext uri="{BB962C8B-B14F-4D97-AF65-F5344CB8AC3E}">
        <p14:creationId xmlns:p14="http://schemas.microsoft.com/office/powerpoint/2010/main" val="3576201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695016" y="1656785"/>
            <a:ext cx="3280630" cy="1433818"/>
          </a:xfrm>
          <a:prstGeom prst="rect">
            <a:avLst/>
          </a:prstGeom>
          <a:solidFill>
            <a:schemeClr val="bg1"/>
          </a:solidFill>
          <a:ln w="12700">
            <a:solidFill>
              <a:srgbClr val="385D8A"/>
            </a:solidFill>
            <a:miter lim="800000"/>
            <a:headEnd/>
            <a:tailEnd/>
          </a:ln>
        </p:spPr>
        <p:txBody>
          <a:bodyPr wrap="none"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defRPr/>
            </a:pPr>
            <a:endParaRPr lang="en-US" alt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8372" name="Object 5"/>
              <p:cNvSpPr txBox="1"/>
              <p:nvPr/>
            </p:nvSpPr>
            <p:spPr bwMode="auto">
              <a:xfrm>
                <a:off x="695017" y="2188903"/>
                <a:ext cx="3672310" cy="901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en-US" i="0" smtClean="0">
                          <a:solidFill>
                            <a:srgbClr val="000000"/>
                          </a:solidFill>
                          <a:latin typeface="Cambria Math" panose="02040503050406030204" pitchFamily="18" charset="0"/>
                        </a:rPr>
                        <m:t>Var</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b="0" i="1" smtClean="0">
                              <a:solidFill>
                                <a:srgbClr val="000000"/>
                              </a:solidFill>
                              <a:latin typeface="Cambria Math" panose="02040503050406030204" pitchFamily="18" charset="0"/>
                            </a:rPr>
                            <m:t>𝑌</m:t>
                          </m:r>
                        </m:e>
                      </m:ac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m:rPr>
                          <m:nor/>
                        </m:rPr>
                        <a:rPr lang="en-US" baseline="3000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𝜎</m:t>
                          </m:r>
                        </m:e>
                        <m:sup>
                          <m:r>
                            <a:rPr lang="en-US" i="1">
                              <a:solidFill>
                                <a:srgbClr val="000000"/>
                              </a:solidFill>
                              <a:latin typeface="Cambria Math" panose="02040503050406030204" pitchFamily="18" charset="0"/>
                            </a:rPr>
                            <m:t>2</m:t>
                          </m:r>
                        </m:sup>
                      </m:sSup>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𝑛</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m:rPr>
                                  <m:nor/>
                                </m:rPr>
                                <a:rPr lang="en-US" baseline="3000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𝑥</m:t>
                                  </m:r>
                                </m:e>
                              </m:acc>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m:t>
                                  </m:r>
                                </m:e>
                                <m:sup>
                                  <m:r>
                                    <a:rPr lang="en-US" i="1">
                                      <a:solidFill>
                                        <a:srgbClr val="000000"/>
                                      </a:solidFill>
                                      <a:latin typeface="Cambria Math" panose="02040503050406030204" pitchFamily="18" charset="0"/>
                                    </a:rPr>
                                    <m:t>2</m:t>
                                  </m:r>
                                </m:sup>
                              </m:sSup>
                            </m:num>
                            <m:den>
                              <m:sSub>
                                <m:sSubPr>
                                  <m:ctrlPr>
                                    <a:rPr lang="en-US" i="1">
                                      <a:solidFill>
                                        <a:srgbClr val="000000"/>
                                      </a:solidFill>
                                      <a:latin typeface="Cambria Math" panose="02040503050406030204" pitchFamily="18" charset="0"/>
                                    </a:rPr>
                                  </m:ctrlPr>
                                </m:sSubPr>
                                <m:e>
                                  <m:r>
                                    <m:rPr>
                                      <m:sty m:val="p"/>
                                    </m:rPr>
                                    <a:rPr lang="en-US" i="0">
                                      <a:solidFill>
                                        <a:srgbClr val="000000"/>
                                      </a:solidFill>
                                      <a:latin typeface="Cambria Math" panose="02040503050406030204" pitchFamily="18" charset="0"/>
                                    </a:rPr>
                                    <m:t>S</m:t>
                                  </m:r>
                                </m:e>
                                <m:sub>
                                  <m:r>
                                    <a:rPr lang="en-US" i="1">
                                      <a:solidFill>
                                        <a:srgbClr val="000000"/>
                                      </a:solidFill>
                                      <a:latin typeface="Cambria Math" panose="02040503050406030204" pitchFamily="18" charset="0"/>
                                    </a:rPr>
                                    <m:t>𝑋𝑋</m:t>
                                  </m:r>
                                </m:sub>
                              </m:sSub>
                            </m:den>
                          </m:f>
                        </m:e>
                      </m:d>
                    </m:oMath>
                  </m:oMathPara>
                </a14:m>
                <a:endParaRPr lang="en-US" dirty="0"/>
              </a:p>
            </p:txBody>
          </p:sp>
        </mc:Choice>
        <mc:Fallback xmlns="">
          <p:sp>
            <p:nvSpPr>
              <p:cNvPr id="58372" name="Object 5"/>
              <p:cNvSpPr txBox="1">
                <a:spLocks noRot="1" noChangeAspect="1" noMove="1" noResize="1" noEditPoints="1" noAdjustHandles="1" noChangeArrowheads="1" noChangeShapeType="1" noTextEdit="1"/>
              </p:cNvSpPr>
              <p:nvPr/>
            </p:nvSpPr>
            <p:spPr bwMode="auto">
              <a:xfrm>
                <a:off x="695017" y="2188903"/>
                <a:ext cx="3672310" cy="901700"/>
              </a:xfrm>
              <a:prstGeom prst="rect">
                <a:avLst/>
              </a:prstGeom>
              <a:blipFill>
                <a:blip r:embed="rId3"/>
                <a:stretch>
                  <a:fillRect/>
                </a:stretch>
              </a:blipFill>
              <a:ln>
                <a:noFill/>
              </a:ln>
              <a:effectLst/>
            </p:spPr>
            <p:txBody>
              <a:bodyPr/>
              <a:lstStyle/>
              <a:p>
                <a:r>
                  <a:rPr lang="en-US">
                    <a:noFill/>
                  </a:rPr>
                  <a:t> </a:t>
                </a:r>
              </a:p>
            </p:txBody>
          </p:sp>
        </mc:Fallback>
      </mc:AlternateContent>
      <p:graphicFrame>
        <p:nvGraphicFramePr>
          <p:cNvPr id="58373" name="Object 6"/>
          <p:cNvGraphicFramePr>
            <a:graphicFrameLocks noChangeAspect="1"/>
          </p:cNvGraphicFramePr>
          <p:nvPr>
            <p:extLst>
              <p:ext uri="{D42A27DB-BD31-4B8C-83A1-F6EECF244321}">
                <p14:modId xmlns:p14="http://schemas.microsoft.com/office/powerpoint/2010/main" val="2182174149"/>
              </p:ext>
            </p:extLst>
          </p:nvPr>
        </p:nvGraphicFramePr>
        <p:xfrm>
          <a:off x="184812" y="1031614"/>
          <a:ext cx="235744" cy="342900"/>
        </p:xfrm>
        <a:graphic>
          <a:graphicData uri="http://schemas.openxmlformats.org/presentationml/2006/ole">
            <mc:AlternateContent xmlns:mc="http://schemas.openxmlformats.org/markup-compatibility/2006">
              <mc:Choice xmlns:v="urn:schemas-microsoft-com:vml" Requires="v">
                <p:oleObj spid="_x0000_s2069" name="Equation" r:id="rId4" imgW="139639" imgH="203112" progId="Equation.3">
                  <p:embed/>
                </p:oleObj>
              </mc:Choice>
              <mc:Fallback>
                <p:oleObj name="Equation" r:id="rId4" imgW="139639" imgH="203112" progId="Equation.3">
                  <p:embed/>
                  <p:pic>
                    <p:nvPicPr>
                      <p:cNvPr id="58373"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812" y="1031614"/>
                        <a:ext cx="235744"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74" name="Text Box 7"/>
          <p:cNvSpPr txBox="1">
            <a:spLocks noChangeArrowheads="1"/>
          </p:cNvSpPr>
          <p:nvPr/>
        </p:nvSpPr>
        <p:spPr bwMode="auto">
          <a:xfrm>
            <a:off x="329287" y="1007801"/>
            <a:ext cx="46863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has a normal distribution with</a:t>
            </a:r>
          </a:p>
        </p:txBody>
      </p:sp>
      <p:grpSp>
        <p:nvGrpSpPr>
          <p:cNvPr id="2" name="Group 8"/>
          <p:cNvGrpSpPr>
            <a:grpSpLocks/>
          </p:cNvGrpSpPr>
          <p:nvPr/>
        </p:nvGrpSpPr>
        <p:grpSpPr bwMode="auto">
          <a:xfrm>
            <a:off x="144627" y="3382702"/>
            <a:ext cx="6115050" cy="646509"/>
            <a:chOff x="154" y="2991"/>
            <a:chExt cx="5136" cy="543"/>
          </a:xfrm>
        </p:grpSpPr>
        <p:sp>
          <p:nvSpPr>
            <p:cNvPr id="58377" name="Text Box 9"/>
            <p:cNvSpPr txBox="1">
              <a:spLocks noChangeArrowheads="1"/>
            </p:cNvSpPr>
            <p:nvPr/>
          </p:nvSpPr>
          <p:spPr bwMode="auto">
            <a:xfrm>
              <a:off x="154" y="2991"/>
              <a:ext cx="5136"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b="1" dirty="0">
                  <a:solidFill>
                    <a:srgbClr val="DFA70B"/>
                  </a:solidFill>
                  <a:latin typeface="Helvetica" panose="020B0604020202020204" pitchFamily="34" charset="0"/>
                  <a:cs typeface="Helvetica" panose="020B0604020202020204" pitchFamily="34" charset="0"/>
                </a:rPr>
                <a:t>Note: </a:t>
              </a:r>
              <a:r>
                <a:rPr lang="en-US" altLang="en-US" dirty="0">
                  <a:latin typeface="Helvetica" panose="020B0604020202020204" pitchFamily="34" charset="0"/>
                  <a:cs typeface="Helvetica" panose="020B0604020202020204" pitchFamily="34" charset="0"/>
                </a:rPr>
                <a:t>Variability is smallest if we check the regression line at the middle of the x’s, i.e., at             .</a:t>
              </a:r>
            </a:p>
          </p:txBody>
        </p:sp>
        <p:graphicFrame>
          <p:nvGraphicFramePr>
            <p:cNvPr id="58378" name="Object 10"/>
            <p:cNvGraphicFramePr>
              <a:graphicFrameLocks noChangeAspect="1"/>
            </p:cNvGraphicFramePr>
            <p:nvPr>
              <p:extLst>
                <p:ext uri="{D42A27DB-BD31-4B8C-83A1-F6EECF244321}">
                  <p14:modId xmlns:p14="http://schemas.microsoft.com/office/powerpoint/2010/main" val="1403287343"/>
                </p:ext>
              </p:extLst>
            </p:nvPr>
          </p:nvGraphicFramePr>
          <p:xfrm>
            <a:off x="2833" y="3243"/>
            <a:ext cx="624" cy="256"/>
          </p:xfrm>
          <a:graphic>
            <a:graphicData uri="http://schemas.openxmlformats.org/presentationml/2006/ole">
              <mc:AlternateContent xmlns:mc="http://schemas.openxmlformats.org/markup-compatibility/2006">
                <mc:Choice xmlns:v="urn:schemas-microsoft-com:vml" Requires="v">
                  <p:oleObj spid="_x0000_s2070" name="Equation" r:id="rId6" imgW="431425" imgH="177646" progId="Equation.3">
                    <p:embed/>
                  </p:oleObj>
                </mc:Choice>
                <mc:Fallback>
                  <p:oleObj name="Equation" r:id="rId6" imgW="431425" imgH="177646" progId="Equation.3">
                    <p:embed/>
                    <p:pic>
                      <p:nvPicPr>
                        <p:cNvPr id="58378"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3" y="3243"/>
                          <a:ext cx="624"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sp>
        <p:nvSpPr>
          <p:cNvPr id="11" name="TextBox 10"/>
          <p:cNvSpPr txBox="1">
            <a:spLocks noChangeArrowheads="1"/>
          </p:cNvSpPr>
          <p:nvPr/>
        </p:nvSpPr>
        <p:spPr bwMode="auto">
          <a:xfrm>
            <a:off x="5525101" y="1651348"/>
            <a:ext cx="2731003" cy="1200329"/>
          </a:xfrm>
          <a:prstGeom prst="rect">
            <a:avLst/>
          </a:prstGeom>
          <a:solidFill>
            <a:schemeClr val="bg1"/>
          </a:solidFill>
          <a:ln w="12700">
            <a:solidFill>
              <a:srgbClr val="385D8A"/>
            </a:solidFill>
            <a:miter lim="800000"/>
            <a:headEnd/>
            <a:tailEnd/>
          </a:ln>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r>
              <a:rPr lang="en-US" altLang="en-US" b="1" dirty="0">
                <a:solidFill>
                  <a:schemeClr val="bg2">
                    <a:lumMod val="25000"/>
                  </a:schemeClr>
                </a:solidFill>
                <a:latin typeface="Helvetica" panose="020B0604020202020204" pitchFamily="34" charset="0"/>
                <a:ea typeface="Helvetica Neue" charset="0"/>
                <a:cs typeface="Helvetica" panose="020B0604020202020204" pitchFamily="34" charset="0"/>
              </a:rPr>
              <a:t>If x* is away from the range of x</a:t>
            </a:r>
            <a:r>
              <a:rPr lang="ja-JP" altLang="en-US" b="1" dirty="0">
                <a:solidFill>
                  <a:schemeClr val="bg2">
                    <a:lumMod val="25000"/>
                  </a:schemeClr>
                </a:solidFill>
                <a:latin typeface="Helvetica" panose="020B0604020202020204" pitchFamily="34" charset="0"/>
                <a:ea typeface="Helvetica Neue" charset="0"/>
                <a:cs typeface="Helvetica" panose="020B0604020202020204" pitchFamily="34" charset="0"/>
              </a:rPr>
              <a:t>’</a:t>
            </a:r>
            <a:r>
              <a:rPr lang="en-US" altLang="ja-JP" b="1" dirty="0">
                <a:solidFill>
                  <a:schemeClr val="bg2">
                    <a:lumMod val="25000"/>
                  </a:schemeClr>
                </a:solidFill>
                <a:latin typeface="Helvetica" panose="020B0604020202020204" pitchFamily="34" charset="0"/>
                <a:ea typeface="Helvetica Neue" charset="0"/>
                <a:cs typeface="Helvetica" panose="020B0604020202020204" pitchFamily="34" charset="0"/>
              </a:rPr>
              <a:t>s, </a:t>
            </a:r>
            <a:r>
              <a:rPr lang="en-US" altLang="en-US" b="1" dirty="0">
                <a:solidFill>
                  <a:schemeClr val="bg2">
                    <a:lumMod val="25000"/>
                  </a:schemeClr>
                </a:solidFill>
                <a:latin typeface="Helvetica" panose="020B0604020202020204" pitchFamily="34" charset="0"/>
                <a:ea typeface="Helvetica Neue" charset="0"/>
                <a:cs typeface="Helvetica" panose="020B0604020202020204" pitchFamily="34" charset="0"/>
              </a:rPr>
              <a:t>how will be the impact on estimation?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C54EA35-FA71-459D-868C-92510AF5DEF1}"/>
                  </a:ext>
                </a:extLst>
              </p:cNvPr>
              <p:cNvSpPr txBox="1"/>
              <p:nvPr/>
            </p:nvSpPr>
            <p:spPr>
              <a:xfrm>
                <a:off x="1204891" y="1727382"/>
                <a:ext cx="2122441"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1</m:t>
                          </m:r>
                        </m:sub>
                      </m:sSub>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oMath>
                  </m:oMathPara>
                </a14:m>
                <a:endParaRPr lang="en-US" dirty="0"/>
              </a:p>
            </p:txBody>
          </p:sp>
        </mc:Choice>
        <mc:Fallback xmlns="">
          <p:sp>
            <p:nvSpPr>
              <p:cNvPr id="3" name="TextBox 2">
                <a:extLst>
                  <a:ext uri="{FF2B5EF4-FFF2-40B4-BE49-F238E27FC236}">
                    <a16:creationId xmlns:a16="http://schemas.microsoft.com/office/drawing/2014/main" id="{9C54EA35-FA71-459D-868C-92510AF5DEF1}"/>
                  </a:ext>
                </a:extLst>
              </p:cNvPr>
              <p:cNvSpPr txBox="1">
                <a:spLocks noRot="1" noChangeAspect="1" noMove="1" noResize="1" noEditPoints="1" noAdjustHandles="1" noChangeArrowheads="1" noChangeShapeType="1" noTextEdit="1"/>
              </p:cNvSpPr>
              <p:nvPr/>
            </p:nvSpPr>
            <p:spPr>
              <a:xfrm>
                <a:off x="1204891" y="1727382"/>
                <a:ext cx="2122441" cy="312650"/>
              </a:xfrm>
              <a:prstGeom prst="rect">
                <a:avLst/>
              </a:prstGeom>
              <a:blipFill>
                <a:blip r:embed="rId8"/>
                <a:stretch>
                  <a:fillRect l="-2299" t="-11538" r="-287" b="-25000"/>
                </a:stretch>
              </a:blipFill>
            </p:spPr>
            <p:txBody>
              <a:bodyPr/>
              <a:lstStyle/>
              <a:p>
                <a:r>
                  <a:rPr lang="en-US">
                    <a:noFill/>
                  </a:rPr>
                  <a:t> </a:t>
                </a:r>
              </a:p>
            </p:txBody>
          </p:sp>
        </mc:Fallback>
      </mc:AlternateContent>
      <p:sp>
        <p:nvSpPr>
          <p:cNvPr id="12" name="Text Box 2"/>
          <p:cNvSpPr txBox="1">
            <a:spLocks noChangeArrowheads="1"/>
          </p:cNvSpPr>
          <p:nvPr/>
        </p:nvSpPr>
        <p:spPr bwMode="auto">
          <a:xfrm>
            <a:off x="117505" y="214885"/>
            <a:ext cx="8319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Estimating the Regression Line</a:t>
            </a:r>
          </a:p>
        </p:txBody>
      </p:sp>
    </p:spTree>
    <p:extLst>
      <p:ext uri="{BB962C8B-B14F-4D97-AF65-F5344CB8AC3E}">
        <p14:creationId xmlns:p14="http://schemas.microsoft.com/office/powerpoint/2010/main" val="3481470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1" name="Rectangle 10"/>
          <p:cNvSpPr>
            <a:spLocks noChangeArrowheads="1"/>
          </p:cNvSpPr>
          <p:nvPr/>
        </p:nvSpPr>
        <p:spPr bwMode="auto">
          <a:xfrm>
            <a:off x="136438" y="3311428"/>
            <a:ext cx="7150719" cy="369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marL="457200" indent="-457200" eaLnBrk="1" hangingPunct="1">
              <a:spcBef>
                <a:spcPct val="50000"/>
              </a:spcBef>
              <a:buFont typeface="Wingdings" panose="05000000000000000000" pitchFamily="2" charset="2"/>
              <a:buChar char="Ø"/>
            </a:pPr>
            <a:r>
              <a:rPr lang="en-US" altLang="en-US" dirty="0">
                <a:latin typeface="Helvetica" panose="020B0604020202020204" pitchFamily="34" charset="0"/>
                <a:ea typeface="Helvetica Neue" charset="0"/>
                <a:cs typeface="Helvetica" panose="020B0604020202020204" pitchFamily="34" charset="0"/>
              </a:rPr>
              <a:t>As x* changes, we can construct a confidence band for </a:t>
            </a:r>
          </a:p>
        </p:txBody>
      </p:sp>
      <p:graphicFrame>
        <p:nvGraphicFramePr>
          <p:cNvPr id="59400" name="Object 9"/>
          <p:cNvGraphicFramePr>
            <a:graphicFrameLocks noChangeAspect="1"/>
          </p:cNvGraphicFramePr>
          <p:nvPr>
            <p:extLst>
              <p:ext uri="{D42A27DB-BD31-4B8C-83A1-F6EECF244321}">
                <p14:modId xmlns:p14="http://schemas.microsoft.com/office/powerpoint/2010/main" val="3246419684"/>
              </p:ext>
            </p:extLst>
          </p:nvPr>
        </p:nvGraphicFramePr>
        <p:xfrm>
          <a:off x="6275498" y="3324525"/>
          <a:ext cx="264990" cy="342900"/>
        </p:xfrm>
        <a:graphic>
          <a:graphicData uri="http://schemas.openxmlformats.org/presentationml/2006/ole">
            <mc:AlternateContent xmlns:mc="http://schemas.openxmlformats.org/markup-compatibility/2006">
              <mc:Choice xmlns:v="urn:schemas-microsoft-com:vml" Requires="v">
                <p:oleObj spid="_x0000_s3083" name="Equation" r:id="rId3" imgW="139639" imgH="203112" progId="Equation.3">
                  <p:embed/>
                </p:oleObj>
              </mc:Choice>
              <mc:Fallback>
                <p:oleObj name="Equation" r:id="rId3" imgW="139639" imgH="203112" progId="Equation.3">
                  <p:embed/>
                  <p:pic>
                    <p:nvPicPr>
                      <p:cNvPr id="5940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5498" y="3324525"/>
                        <a:ext cx="264990" cy="342900"/>
                      </a:xfrm>
                      <a:prstGeom prst="rect">
                        <a:avLst/>
                      </a:prstGeom>
                      <a:noFill/>
                      <a:ln>
                        <a:noFill/>
                      </a:ln>
                      <a:effectLst/>
                    </p:spPr>
                  </p:pic>
                </p:oleObj>
              </mc:Fallback>
            </mc:AlternateContent>
          </a:graphicData>
        </a:graphic>
      </p:graphicFrame>
      <p:sp>
        <p:nvSpPr>
          <p:cNvPr id="64514" name="Rectangle 2"/>
          <p:cNvSpPr>
            <a:spLocks noChangeArrowheads="1"/>
          </p:cNvSpPr>
          <p:nvPr/>
        </p:nvSpPr>
        <p:spPr bwMode="auto">
          <a:xfrm>
            <a:off x="695594" y="1282207"/>
            <a:ext cx="4286250" cy="1257300"/>
          </a:xfrm>
          <a:prstGeom prst="rect">
            <a:avLst/>
          </a:prstGeom>
          <a:solidFill>
            <a:schemeClr val="bg1"/>
          </a:solidFill>
          <a:ln w="12700">
            <a:solidFill>
              <a:srgbClr val="385D8A"/>
            </a:solidFill>
            <a:miter lim="800000"/>
            <a:headEnd/>
            <a:tailEnd/>
          </a:ln>
        </p:spPr>
        <p:txBody>
          <a:bodyPr wrap="none"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defRPr/>
            </a:pPr>
            <a:endParaRPr lang="en-US" altLang="en-US">
              <a:solidFill>
                <a:schemeClr val="bg2">
                  <a:lumMod val="25000"/>
                </a:schemeClr>
              </a:solidFill>
              <a:latin typeface="Times New Roman" panose="02020603050405020304" pitchFamily="18" charset="0"/>
            </a:endParaRPr>
          </a:p>
        </p:txBody>
      </p:sp>
      <p:sp>
        <p:nvSpPr>
          <p:cNvPr id="59394" name="Text Box 3"/>
          <p:cNvSpPr txBox="1">
            <a:spLocks noChangeArrowheads="1"/>
          </p:cNvSpPr>
          <p:nvPr/>
        </p:nvSpPr>
        <p:spPr bwMode="auto">
          <a:xfrm>
            <a:off x="111229" y="216170"/>
            <a:ext cx="83436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Confidence Interval for Mean Response</a:t>
            </a:r>
          </a:p>
        </p:txBody>
      </p:sp>
      <mc:AlternateContent xmlns:mc="http://schemas.openxmlformats.org/markup-compatibility/2006" xmlns:a14="http://schemas.microsoft.com/office/drawing/2010/main">
        <mc:Choice Requires="a14">
          <p:sp>
            <p:nvSpPr>
              <p:cNvPr id="59395" name="Object 5"/>
              <p:cNvSpPr txBox="1"/>
              <p:nvPr/>
            </p:nvSpPr>
            <p:spPr bwMode="auto">
              <a:xfrm>
                <a:off x="796969" y="1378914"/>
                <a:ext cx="4114800" cy="10509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𝑥</m:t>
                      </m:r>
                      <m:r>
                        <m:rPr>
                          <m:nor/>
                        </m:rPr>
                        <a:rPr lang="en-US" sz="2000" b="0" i="0" baseline="30000"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𝑡</m:t>
                          </m:r>
                        </m:e>
                        <m:sub>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𝛼</m:t>
                              </m:r>
                            </m:num>
                            <m:den>
                              <m:r>
                                <a:rPr lang="en-US" sz="2000" i="1">
                                  <a:solidFill>
                                    <a:srgbClr val="000000"/>
                                  </a:solidFill>
                                  <a:latin typeface="Cambria Math" panose="02040503050406030204" pitchFamily="18" charset="0"/>
                                </a:rPr>
                                <m:t>2</m:t>
                              </m:r>
                            </m:den>
                          </m:f>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𝑛</m:t>
                          </m:r>
                          <m:r>
                            <a:rPr lang="en-US" sz="2000" i="1">
                              <a:solidFill>
                                <a:srgbClr val="000000"/>
                              </a:solidFill>
                              <a:latin typeface="Cambria Math" panose="02040503050406030204" pitchFamily="18" charset="0"/>
                            </a:rPr>
                            <m:t>−2</m:t>
                          </m:r>
                        </m:sub>
                      </m:sSub>
                      <m:rad>
                        <m:radPr>
                          <m:degHide m:val="on"/>
                          <m:ctrlPr>
                            <a:rPr lang="en-US" sz="2000" i="1">
                              <a:solidFill>
                                <a:srgbClr val="000000"/>
                              </a:solidFill>
                              <a:latin typeface="Cambria Math" panose="02040503050406030204" pitchFamily="18" charset="0"/>
                            </a:rPr>
                          </m:ctrlPr>
                        </m:radPr>
                        <m:deg/>
                        <m:e>
                          <m:sSup>
                            <m:sSupPr>
                              <m:ctrlPr>
                                <a:rPr lang="en-US" sz="2000" i="1">
                                  <a:solidFill>
                                    <a:srgbClr val="000000"/>
                                  </a:solidFill>
                                  <a:latin typeface="Cambria Math" panose="02040503050406030204" pitchFamily="18" charset="0"/>
                                </a:rPr>
                              </m:ctrlPr>
                            </m:sSup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𝜎</m:t>
                                  </m:r>
                                </m:e>
                              </m:acc>
                            </m:e>
                            <m:sup>
                              <m:r>
                                <a:rPr lang="en-US" sz="2000" i="1">
                                  <a:solidFill>
                                    <a:srgbClr val="000000"/>
                                  </a:solidFill>
                                  <a:latin typeface="Cambria Math" panose="02040503050406030204" pitchFamily="18" charset="0"/>
                                </a:rPr>
                                <m:t>2</m:t>
                              </m:r>
                            </m:sup>
                          </m:sSup>
                          <m:d>
                            <m:dPr>
                              <m:ctrlPr>
                                <a:rPr lang="en-US" sz="2000" i="1">
                                  <a:solidFill>
                                    <a:srgbClr val="000000"/>
                                  </a:solidFill>
                                  <a:latin typeface="Cambria Math" panose="02040503050406030204" pitchFamily="18" charset="0"/>
                                </a:rPr>
                              </m:ctrlPr>
                            </m:dPr>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𝑛</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𝑥</m:t>
                                  </m:r>
                                  <m:r>
                                    <m:rPr>
                                      <m:nor/>
                                    </m:rPr>
                                    <a:rPr lang="en-US" sz="2000" i="0" baseline="3000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𝑥</m:t>
                                      </m:r>
                                    </m:e>
                                  </m:acc>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num>
                                <m:den>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𝑆</m:t>
                                      </m:r>
                                    </m:e>
                                    <m:sub>
                                      <m:r>
                                        <a:rPr lang="en-US" sz="2000" i="1">
                                          <a:solidFill>
                                            <a:srgbClr val="000000"/>
                                          </a:solidFill>
                                          <a:latin typeface="Cambria Math" panose="02040503050406030204" pitchFamily="18" charset="0"/>
                                        </a:rPr>
                                        <m:t>𝑋𝑋</m:t>
                                      </m:r>
                                    </m:sub>
                                  </m:sSub>
                                </m:den>
                              </m:f>
                            </m:e>
                          </m:d>
                        </m:e>
                      </m:rad>
                    </m:oMath>
                  </m:oMathPara>
                </a14:m>
                <a:endParaRPr lang="en-US" sz="2000" dirty="0"/>
              </a:p>
            </p:txBody>
          </p:sp>
        </mc:Choice>
        <mc:Fallback xmlns="">
          <p:sp>
            <p:nvSpPr>
              <p:cNvPr id="59395" name="Object 5"/>
              <p:cNvSpPr txBox="1">
                <a:spLocks noRot="1" noChangeAspect="1" noMove="1" noResize="1" noEditPoints="1" noAdjustHandles="1" noChangeArrowheads="1" noChangeShapeType="1" noTextEdit="1"/>
              </p:cNvSpPr>
              <p:nvPr/>
            </p:nvSpPr>
            <p:spPr bwMode="auto">
              <a:xfrm>
                <a:off x="796969" y="1378914"/>
                <a:ext cx="4114800" cy="1050925"/>
              </a:xfrm>
              <a:prstGeom prst="rect">
                <a:avLst/>
              </a:prstGeom>
              <a:blipFill>
                <a:blip r:embed="rId5"/>
                <a:stretch>
                  <a:fillRect/>
                </a:stretch>
              </a:blipFill>
              <a:ln>
                <a:noFill/>
              </a:ln>
              <a:effectLst/>
            </p:spPr>
            <p:txBody>
              <a:bodyPr/>
              <a:lstStyle/>
              <a:p>
                <a:r>
                  <a:rPr lang="en-US">
                    <a:noFill/>
                  </a:rPr>
                  <a:t> </a:t>
                </a:r>
              </a:p>
            </p:txBody>
          </p:sp>
        </mc:Fallback>
      </mc:AlternateContent>
      <p:sp>
        <p:nvSpPr>
          <p:cNvPr id="52230" name="Text Box 6"/>
          <p:cNvSpPr txBox="1">
            <a:spLocks noChangeArrowheads="1"/>
          </p:cNvSpPr>
          <p:nvPr/>
        </p:nvSpPr>
        <p:spPr bwMode="auto">
          <a:xfrm>
            <a:off x="136438" y="2876435"/>
            <a:ext cx="6057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marL="457200" indent="-457200" eaLnBrk="1" hangingPunct="1">
              <a:spcBef>
                <a:spcPct val="50000"/>
              </a:spcBef>
              <a:buFont typeface="Wingdings" panose="05000000000000000000" pitchFamily="2" charset="2"/>
              <a:buChar char="Ø"/>
            </a:pPr>
            <a:r>
              <a:rPr lang="en-US" altLang="en-US" dirty="0">
                <a:latin typeface="Helvetica" panose="020B0604020202020204" pitchFamily="34" charset="0"/>
                <a:ea typeface="Helvetica Neue" charset="0"/>
                <a:cs typeface="Helvetica" panose="020B0604020202020204" pitchFamily="34" charset="0"/>
              </a:rPr>
              <a:t>Interval length depends on x*</a:t>
            </a:r>
          </a:p>
        </p:txBody>
      </p:sp>
      <p:sp>
        <p:nvSpPr>
          <p:cNvPr id="52231" name="Rectangle 7"/>
          <p:cNvSpPr>
            <a:spLocks noChangeArrowheads="1"/>
          </p:cNvSpPr>
          <p:nvPr/>
        </p:nvSpPr>
        <p:spPr bwMode="auto">
          <a:xfrm>
            <a:off x="141316" y="3736066"/>
            <a:ext cx="55707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marL="457200" indent="-457200" eaLnBrk="1" hangingPunct="1">
              <a:spcBef>
                <a:spcPct val="50000"/>
              </a:spcBef>
              <a:buFont typeface="Wingdings" panose="05000000000000000000" pitchFamily="2" charset="2"/>
              <a:buChar char="Ø"/>
            </a:pPr>
            <a:r>
              <a:rPr lang="en-US" altLang="en-US" dirty="0">
                <a:latin typeface="Helvetica" panose="020B0604020202020204" pitchFamily="34" charset="0"/>
                <a:ea typeface="Helvetica Neue" charset="0"/>
                <a:cs typeface="Helvetica" panose="020B0604020202020204" pitchFamily="34" charset="0"/>
              </a:rPr>
              <a:t>Confidence bands show why extrapolation fails</a:t>
            </a:r>
          </a:p>
        </p:txBody>
      </p:sp>
    </p:spTree>
    <p:extLst>
      <p:ext uri="{BB962C8B-B14F-4D97-AF65-F5344CB8AC3E}">
        <p14:creationId xmlns:p14="http://schemas.microsoft.com/office/powerpoint/2010/main" val="2393651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3"/>
          <p:cNvSpPr txBox="1">
            <a:spLocks noChangeArrowheads="1"/>
          </p:cNvSpPr>
          <p:nvPr/>
        </p:nvSpPr>
        <p:spPr bwMode="auto">
          <a:xfrm>
            <a:off x="143730" y="1005233"/>
            <a:ext cx="701777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One of the primary motivations for regression is to use the regression equation to predict future responses. The prediction is the same as the estimator for the “mean response”, which is   .</a:t>
            </a:r>
          </a:p>
        </p:txBody>
      </p:sp>
      <p:sp>
        <p:nvSpPr>
          <p:cNvPr id="55300" name="Text Box 4"/>
          <p:cNvSpPr txBox="1">
            <a:spLocks noChangeArrowheads="1"/>
          </p:cNvSpPr>
          <p:nvPr/>
        </p:nvSpPr>
        <p:spPr bwMode="auto">
          <a:xfrm>
            <a:off x="989874" y="2658511"/>
            <a:ext cx="46863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1.  Due to the new (n+1)</a:t>
            </a:r>
            <a:r>
              <a:rPr lang="en-US" altLang="en-US" baseline="30000" dirty="0" err="1">
                <a:latin typeface="Helvetica" panose="020B0604020202020204" pitchFamily="34" charset="0"/>
                <a:ea typeface="Helvetica Neue" charset="0"/>
                <a:cs typeface="Helvetica" panose="020B0604020202020204" pitchFamily="34" charset="0"/>
              </a:rPr>
              <a:t>th</a:t>
            </a:r>
            <a:r>
              <a:rPr lang="en-US" altLang="en-US" baseline="30000" dirty="0">
                <a:latin typeface="Helvetica" panose="020B0604020202020204" pitchFamily="34" charset="0"/>
                <a:ea typeface="Helvetica Neue" charset="0"/>
                <a:cs typeface="Helvetica" panose="020B0604020202020204" pitchFamily="34" charset="0"/>
              </a:rPr>
              <a:t> </a:t>
            </a:r>
            <a:r>
              <a:rPr lang="en-US" altLang="en-US" dirty="0">
                <a:latin typeface="Helvetica" panose="020B0604020202020204" pitchFamily="34" charset="0"/>
                <a:ea typeface="Helvetica Neue" charset="0"/>
                <a:cs typeface="Helvetica" panose="020B0604020202020204" pitchFamily="34" charset="0"/>
              </a:rPr>
              <a:t>observation</a:t>
            </a:r>
          </a:p>
        </p:txBody>
      </p:sp>
      <p:graphicFrame>
        <p:nvGraphicFramePr>
          <p:cNvPr id="63492" name="Object 5"/>
          <p:cNvGraphicFramePr>
            <a:graphicFrameLocks noChangeAspect="1"/>
          </p:cNvGraphicFramePr>
          <p:nvPr>
            <p:extLst>
              <p:ext uri="{D42A27DB-BD31-4B8C-83A1-F6EECF244321}">
                <p14:modId xmlns:p14="http://schemas.microsoft.com/office/powerpoint/2010/main" val="2886019701"/>
              </p:ext>
            </p:extLst>
          </p:nvPr>
        </p:nvGraphicFramePr>
        <p:xfrm>
          <a:off x="6378676" y="1572411"/>
          <a:ext cx="235744" cy="342900"/>
        </p:xfrm>
        <a:graphic>
          <a:graphicData uri="http://schemas.openxmlformats.org/presentationml/2006/ole">
            <mc:AlternateContent xmlns:mc="http://schemas.openxmlformats.org/markup-compatibility/2006">
              <mc:Choice xmlns:v="urn:schemas-microsoft-com:vml" Requires="v">
                <p:oleObj spid="_x0000_s4107" name="Equation" r:id="rId4" imgW="139639" imgH="203112" progId="Equation.3">
                  <p:embed/>
                </p:oleObj>
              </mc:Choice>
              <mc:Fallback>
                <p:oleObj name="Equation" r:id="rId4" imgW="139639" imgH="203112" progId="Equation.3">
                  <p:embed/>
                  <p:pic>
                    <p:nvPicPr>
                      <p:cNvPr id="6349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8676" y="1572411"/>
                        <a:ext cx="235744"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55302" name="Rectangle 6"/>
              <p:cNvSpPr>
                <a:spLocks noChangeArrowheads="1"/>
              </p:cNvSpPr>
              <p:nvPr/>
            </p:nvSpPr>
            <p:spPr bwMode="auto">
              <a:xfrm>
                <a:off x="989874" y="3126427"/>
                <a:ext cx="50292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r>
                  <a:rPr lang="en-US" altLang="en-US" dirty="0" smtClean="0">
                    <a:latin typeface="Helvetica Neue" charset="0"/>
                    <a:ea typeface="Helvetica Neue" charset="0"/>
                    <a:cs typeface="Helvetica Neue" charset="0"/>
                  </a:rPr>
                  <a:t>2.  </a:t>
                </a:r>
                <a:r>
                  <a:rPr lang="en-US" altLang="en-US" dirty="0" smtClean="0">
                    <a:latin typeface="Helvetica" panose="020B0604020202020204" pitchFamily="34" charset="0"/>
                    <a:ea typeface="Helvetica Neue" charset="0"/>
                    <a:cs typeface="Helvetica" panose="020B0604020202020204" pitchFamily="34" charset="0"/>
                  </a:rPr>
                  <a:t>Due to parameter estimates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0</m:t>
                        </m:r>
                      </m:sub>
                    </m:sSub>
                  </m:oMath>
                </a14:m>
                <a:r>
                  <a:rPr lang="en-US" altLang="en-US" dirty="0">
                    <a:latin typeface="Helvetica" panose="020B0604020202020204" pitchFamily="34" charset="0"/>
                    <a:cs typeface="Helvetica" panose="020B0604020202020204" pitchFamily="34" charset="0"/>
                  </a:rPr>
                  <a:t> </a:t>
                </a:r>
                <a:r>
                  <a:rPr lang="en-US" altLang="en-US" dirty="0">
                    <a:latin typeface="Helvetica" panose="020B0604020202020204" pitchFamily="34" charset="0"/>
                    <a:ea typeface="Helvetica Neue" charset="0"/>
                    <a:cs typeface="Helvetica" panose="020B0604020202020204" pitchFamily="34" charset="0"/>
                  </a:rPr>
                  <a:t>and</a:t>
                </a:r>
                <a:r>
                  <a:rPr lang="en-US" altLang="en-US" dirty="0">
                    <a:latin typeface="Helvetica" panose="020B0604020202020204" pitchFamily="34" charset="0"/>
                    <a:cs typeface="Helvetica" panose="020B060402020202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1</m:t>
                        </m:r>
                      </m:sub>
                    </m:sSub>
                  </m:oMath>
                </a14:m>
                <a:r>
                  <a:rPr lang="en-US" altLang="en-US" dirty="0">
                    <a:latin typeface="Helvetica" panose="020B0604020202020204" pitchFamily="34" charset="0"/>
                    <a:ea typeface="Helvetica Neue" charset="0"/>
                    <a:cs typeface="Helvetica" panose="020B0604020202020204" pitchFamily="34" charset="0"/>
                  </a:rPr>
                  <a:t>)</a:t>
                </a:r>
              </a:p>
            </p:txBody>
          </p:sp>
        </mc:Choice>
        <mc:Fallback>
          <p:sp>
            <p:nvSpPr>
              <p:cNvPr id="55302" name="Rectangle 6"/>
              <p:cNvSpPr>
                <a:spLocks noRot="1" noChangeAspect="1" noMove="1" noResize="1" noEditPoints="1" noAdjustHandles="1" noChangeArrowheads="1" noChangeShapeType="1" noTextEdit="1"/>
              </p:cNvSpPr>
              <p:nvPr/>
            </p:nvSpPr>
            <p:spPr bwMode="auto">
              <a:xfrm>
                <a:off x="989874" y="3126427"/>
                <a:ext cx="5029200" cy="369332"/>
              </a:xfrm>
              <a:prstGeom prst="rect">
                <a:avLst/>
              </a:prstGeom>
              <a:blipFill>
                <a:blip r:embed="rId6"/>
                <a:stretch>
                  <a:fillRect l="-970" t="-10000"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3495" name="Rectangle 8"/>
          <p:cNvSpPr>
            <a:spLocks noChangeArrowheads="1"/>
          </p:cNvSpPr>
          <p:nvPr/>
        </p:nvSpPr>
        <p:spPr bwMode="auto">
          <a:xfrm>
            <a:off x="693378" y="2207830"/>
            <a:ext cx="6229350" cy="369332"/>
          </a:xfrm>
          <a:prstGeom prst="rect">
            <a:avLst/>
          </a:prstGeom>
          <a:solidFill>
            <a:schemeClr val="bg1"/>
          </a:solidFill>
          <a:ln w="12700">
            <a:solidFill>
              <a:srgbClr val="385D8A"/>
            </a:solidFill>
            <a:miter lim="800000"/>
            <a:headEnd/>
            <a:tailEnd/>
          </a:ln>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But the prediction contains two sources of uncertainty:</a:t>
            </a:r>
          </a:p>
        </p:txBody>
      </p:sp>
      <p:sp>
        <p:nvSpPr>
          <p:cNvPr id="8" name="Text Box 2">
            <a:extLst>
              <a:ext uri="{FF2B5EF4-FFF2-40B4-BE49-F238E27FC236}">
                <a16:creationId xmlns:a16="http://schemas.microsoft.com/office/drawing/2014/main" id="{E96C2969-7F4B-6D4B-BF56-624A5F066D04}"/>
              </a:ext>
            </a:extLst>
          </p:cNvPr>
          <p:cNvSpPr txBox="1">
            <a:spLocks noChangeArrowheads="1"/>
          </p:cNvSpPr>
          <p:nvPr/>
        </p:nvSpPr>
        <p:spPr bwMode="auto">
          <a:xfrm>
            <a:off x="171065" y="213709"/>
            <a:ext cx="7976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defRPr/>
            </a:pPr>
            <a:r>
              <a:rPr lang="en-US" altLang="en-US" sz="3600" dirty="0">
                <a:solidFill>
                  <a:schemeClr val="bg2">
                    <a:lumMod val="10000"/>
                  </a:schemeClr>
                </a:solidFill>
                <a:latin typeface="Vitesse" charset="0"/>
                <a:ea typeface="Vitesse" charset="0"/>
                <a:cs typeface="Vitesse" charset="0"/>
              </a:rPr>
              <a:t>Predicting a New Response</a:t>
            </a:r>
          </a:p>
        </p:txBody>
      </p:sp>
    </p:spTree>
    <p:extLst>
      <p:ext uri="{BB962C8B-B14F-4D97-AF65-F5344CB8AC3E}">
        <p14:creationId xmlns:p14="http://schemas.microsoft.com/office/powerpoint/2010/main" val="2730093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utoUpdateAnimBg="0"/>
      <p:bldP spid="5530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1682" name="Text Box 2"/>
              <p:cNvSpPr txBox="1">
                <a:spLocks noChangeArrowheads="1"/>
              </p:cNvSpPr>
              <p:nvPr/>
            </p:nvSpPr>
            <p:spPr bwMode="auto">
              <a:xfrm>
                <a:off x="137935" y="1008550"/>
                <a:ext cx="5943600" cy="10618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457200" indent="-4572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buFontTx/>
                  <a:buAutoNum type="arabicPeriod"/>
                </a:pPr>
                <a:r>
                  <a:rPr lang="en-US" altLang="en-US" dirty="0">
                    <a:latin typeface="Helvetica" panose="020B0604020202020204" pitchFamily="34" charset="0"/>
                    <a:ea typeface="Helvetica Neue" charset="0"/>
                    <a:cs typeface="Helvetica" panose="020B0604020202020204" pitchFamily="34" charset="0"/>
                  </a:rPr>
                  <a:t>Variation of the estimated regression line:</a:t>
                </a:r>
                <a:br>
                  <a:rPr lang="en-US" altLang="en-US" dirty="0">
                    <a:latin typeface="Helvetica" panose="020B0604020202020204" pitchFamily="34" charset="0"/>
                    <a:ea typeface="Helvetica Neue" charset="0"/>
                    <a:cs typeface="Helvetica" panose="020B0604020202020204" pitchFamily="34" charset="0"/>
                  </a:rPr>
                </a:br>
                <a:endParaRPr lang="en-US" altLang="en-US" dirty="0">
                  <a:latin typeface="Helvetica" panose="020B0604020202020204" pitchFamily="34" charset="0"/>
                  <a:ea typeface="Helvetica Neue" charset="0"/>
                  <a:cs typeface="Helvetica" panose="020B0604020202020204" pitchFamily="34" charset="0"/>
                </a:endParaRPr>
              </a:p>
              <a:p>
                <a:pPr>
                  <a:spcBef>
                    <a:spcPct val="50000"/>
                  </a:spcBef>
                  <a:buFontTx/>
                  <a:buAutoNum type="arabicPeriod"/>
                </a:pPr>
                <a:r>
                  <a:rPr lang="en-US" altLang="en-US" dirty="0">
                    <a:latin typeface="Helvetica" panose="020B0604020202020204" pitchFamily="34" charset="0"/>
                    <a:ea typeface="Helvetica Neue" charset="0"/>
                    <a:cs typeface="Helvetica" panose="020B0604020202020204" pitchFamily="34" charset="0"/>
                  </a:rPr>
                  <a:t>Variation of a new measurement:   </a:t>
                </a:r>
                <a14:m>
                  <m:oMath xmlns:m="http://schemas.openxmlformats.org/officeDocument/2006/math">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𝜎</m:t>
                        </m:r>
                      </m:e>
                      <m:sup>
                        <m:r>
                          <a:rPr lang="en-US" i="1">
                            <a:solidFill>
                              <a:srgbClr val="000000"/>
                            </a:solidFill>
                            <a:latin typeface="Cambria Math" panose="02040503050406030204" pitchFamily="18" charset="0"/>
                          </a:rPr>
                          <m:t>2</m:t>
                        </m:r>
                      </m:sup>
                    </m:sSup>
                  </m:oMath>
                </a14:m>
                <a:endParaRPr lang="en-US" altLang="en-US" baseline="30000" dirty="0">
                  <a:latin typeface="Helvetica" panose="020B0604020202020204" pitchFamily="34" charset="0"/>
                  <a:cs typeface="Helvetica" panose="020B0604020202020204" pitchFamily="34" charset="0"/>
                </a:endParaRPr>
              </a:p>
            </p:txBody>
          </p:sp>
        </mc:Choice>
        <mc:Fallback>
          <p:sp>
            <p:nvSpPr>
              <p:cNvPr id="71682" name="Text Box 2"/>
              <p:cNvSpPr txBox="1">
                <a:spLocks noRot="1" noChangeAspect="1" noMove="1" noResize="1" noEditPoints="1" noAdjustHandles="1" noChangeArrowheads="1" noChangeShapeType="1" noTextEdit="1"/>
              </p:cNvSpPr>
              <p:nvPr/>
            </p:nvSpPr>
            <p:spPr bwMode="auto">
              <a:xfrm>
                <a:off x="137935" y="1008550"/>
                <a:ext cx="5943600" cy="1061829"/>
              </a:xfrm>
              <a:prstGeom prst="rect">
                <a:avLst/>
              </a:prstGeom>
              <a:blipFill>
                <a:blip r:embed="rId3"/>
                <a:stretch>
                  <a:fillRect l="-718" t="-2857" b="-8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65538" name="Object 3"/>
          <p:cNvGraphicFramePr>
            <a:graphicFrameLocks noChangeAspect="1"/>
          </p:cNvGraphicFramePr>
          <p:nvPr>
            <p:extLst>
              <p:ext uri="{D42A27DB-BD31-4B8C-83A1-F6EECF244321}">
                <p14:modId xmlns:p14="http://schemas.microsoft.com/office/powerpoint/2010/main" val="103327645"/>
              </p:ext>
            </p:extLst>
          </p:nvPr>
        </p:nvGraphicFramePr>
        <p:xfrm>
          <a:off x="5132813" y="815669"/>
          <a:ext cx="1938338" cy="798910"/>
        </p:xfrm>
        <a:graphic>
          <a:graphicData uri="http://schemas.openxmlformats.org/presentationml/2006/ole">
            <mc:AlternateContent xmlns:mc="http://schemas.openxmlformats.org/markup-compatibility/2006">
              <mc:Choice xmlns:v="urn:schemas-microsoft-com:vml" Requires="v">
                <p:oleObj spid="_x0000_s5141" name="Equation" r:id="rId4" imgW="1167893" imgH="482391" progId="Equation.3">
                  <p:embed/>
                </p:oleObj>
              </mc:Choice>
              <mc:Fallback>
                <p:oleObj name="Equation" r:id="rId4" imgW="1167893" imgH="482391" progId="Equation.3">
                  <p:embed/>
                  <p:pic>
                    <p:nvPicPr>
                      <p:cNvPr id="6553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2813" y="815669"/>
                        <a:ext cx="1938338" cy="798910"/>
                      </a:xfrm>
                      <a:prstGeom prst="rect">
                        <a:avLst/>
                      </a:prstGeom>
                      <a:noFill/>
                      <a:ln>
                        <a:noFill/>
                      </a:ln>
                      <a:effectLst/>
                      <a:extLst/>
                    </p:spPr>
                  </p:pic>
                </p:oleObj>
              </mc:Fallback>
            </mc:AlternateContent>
          </a:graphicData>
        </a:graphic>
      </p:graphicFrame>
      <p:grpSp>
        <p:nvGrpSpPr>
          <p:cNvPr id="2" name="Group 5"/>
          <p:cNvGrpSpPr>
            <a:grpSpLocks/>
          </p:cNvGrpSpPr>
          <p:nvPr/>
        </p:nvGrpSpPr>
        <p:grpSpPr bwMode="auto">
          <a:xfrm>
            <a:off x="599656" y="2301296"/>
            <a:ext cx="6057900" cy="1541860"/>
            <a:chOff x="392" y="2284"/>
            <a:chExt cx="5088" cy="1295"/>
          </a:xfrm>
        </p:grpSpPr>
        <p:sp>
          <p:nvSpPr>
            <p:cNvPr id="65543" name="Text Box 6"/>
            <p:cNvSpPr txBox="1">
              <a:spLocks noChangeArrowheads="1"/>
            </p:cNvSpPr>
            <p:nvPr/>
          </p:nvSpPr>
          <p:spPr bwMode="auto">
            <a:xfrm>
              <a:off x="392" y="2284"/>
              <a:ext cx="5088"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The new observation is independent of the regression data, so the total variation in predicting y | x* is</a:t>
              </a:r>
            </a:p>
          </p:txBody>
        </p:sp>
        <p:graphicFrame>
          <p:nvGraphicFramePr>
            <p:cNvPr id="65544" name="Object 7"/>
            <p:cNvGraphicFramePr>
              <a:graphicFrameLocks noChangeAspect="1"/>
            </p:cNvGraphicFramePr>
            <p:nvPr/>
          </p:nvGraphicFramePr>
          <p:xfrm>
            <a:off x="620" y="2908"/>
            <a:ext cx="4070" cy="671"/>
          </p:xfrm>
          <a:graphic>
            <a:graphicData uri="http://schemas.openxmlformats.org/presentationml/2006/ole">
              <mc:AlternateContent xmlns:mc="http://schemas.openxmlformats.org/markup-compatibility/2006">
                <mc:Choice xmlns:v="urn:schemas-microsoft-com:vml" Requires="v">
                  <p:oleObj spid="_x0000_s5142" name="Equation" r:id="rId6" imgW="2921000" imgH="482600" progId="Equation.3">
                    <p:embed/>
                  </p:oleObj>
                </mc:Choice>
                <mc:Fallback>
                  <p:oleObj name="Equation" r:id="rId6" imgW="2921000" imgH="482600" progId="Equation.3">
                    <p:embed/>
                    <p:pic>
                      <p:nvPicPr>
                        <p:cNvPr id="65544"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 y="2908"/>
                          <a:ext cx="4070" cy="671"/>
                        </a:xfrm>
                        <a:prstGeom prst="rect">
                          <a:avLst/>
                        </a:prstGeom>
                        <a:noFill/>
                        <a:ln>
                          <a:noFill/>
                        </a:ln>
                        <a:effectLst/>
                        <a:extLst/>
                      </p:spPr>
                    </p:pic>
                  </p:oleObj>
                </mc:Fallback>
              </mc:AlternateContent>
            </a:graphicData>
          </a:graphic>
        </p:graphicFrame>
      </p:grpSp>
      <p:sp>
        <p:nvSpPr>
          <p:cNvPr id="3" name="Oval 2"/>
          <p:cNvSpPr/>
          <p:nvPr/>
        </p:nvSpPr>
        <p:spPr>
          <a:xfrm>
            <a:off x="2763078" y="3178723"/>
            <a:ext cx="523462" cy="457805"/>
          </a:xfrm>
          <a:prstGeom prst="ellipse">
            <a:avLst/>
          </a:prstGeom>
          <a:noFill/>
          <a:ln w="19050">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Text Box 2"/>
          <p:cNvSpPr txBox="1">
            <a:spLocks noChangeArrowheads="1"/>
          </p:cNvSpPr>
          <p:nvPr/>
        </p:nvSpPr>
        <p:spPr bwMode="auto">
          <a:xfrm>
            <a:off x="171065" y="213709"/>
            <a:ext cx="7976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defRPr/>
            </a:pPr>
            <a:r>
              <a:rPr lang="en-US" altLang="en-US" sz="3600" dirty="0">
                <a:solidFill>
                  <a:schemeClr val="bg2">
                    <a:lumMod val="10000"/>
                  </a:schemeClr>
                </a:solidFill>
                <a:latin typeface="Vitesse" charset="0"/>
                <a:ea typeface="Vitesse" charset="0"/>
                <a:cs typeface="Vitesse" charset="0"/>
              </a:rPr>
              <a:t>Predicting a New Response</a:t>
            </a:r>
          </a:p>
        </p:txBody>
      </p:sp>
    </p:spTree>
    <p:extLst>
      <p:ext uri="{BB962C8B-B14F-4D97-AF65-F5344CB8AC3E}">
        <p14:creationId xmlns:p14="http://schemas.microsoft.com/office/powerpoint/2010/main" val="13822797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693582" y="1585648"/>
            <a:ext cx="4675586" cy="1063796"/>
          </a:xfrm>
          <a:prstGeom prst="rect">
            <a:avLst/>
          </a:prstGeom>
          <a:solidFill>
            <a:schemeClr val="bg1"/>
          </a:solidFill>
          <a:ln w="12700">
            <a:solidFill>
              <a:srgbClr val="385D8A"/>
            </a:solidFill>
            <a:miter lim="800000"/>
            <a:headEnd/>
            <a:tailEnd/>
          </a:ln>
        </p:spPr>
        <p:txBody>
          <a:bodyPr wrap="none"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defRPr/>
            </a:pPr>
            <a:endParaRPr lang="en-US" altLang="en-US">
              <a:latin typeface="Times New Roman" panose="02020603050405020304" pitchFamily="18" charset="0"/>
            </a:endParaRPr>
          </a:p>
        </p:txBody>
      </p:sp>
      <p:sp>
        <p:nvSpPr>
          <p:cNvPr id="66563" name="Text Box 4"/>
          <p:cNvSpPr txBox="1">
            <a:spLocks noChangeArrowheads="1"/>
          </p:cNvSpPr>
          <p:nvPr/>
        </p:nvSpPr>
        <p:spPr bwMode="auto">
          <a:xfrm>
            <a:off x="155714" y="1010052"/>
            <a:ext cx="5975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r>
              <a:rPr lang="en-US" altLang="en-US" dirty="0">
                <a:latin typeface="Helvetica" panose="020B0604020202020204" pitchFamily="34" charset="0"/>
                <a:ea typeface="Helvetica Neue" charset="0"/>
                <a:cs typeface="Helvetica" panose="020B0604020202020204" pitchFamily="34" charset="0"/>
              </a:rPr>
              <a:t>A </a:t>
            </a:r>
            <a:r>
              <a:rPr lang="en-US" altLang="en-US" dirty="0" smtClean="0">
                <a:latin typeface="Helvetica" panose="020B0604020202020204" pitchFamily="34" charset="0"/>
                <a:ea typeface="Helvetica Neue" charset="0"/>
                <a:cs typeface="Helvetica" panose="020B0604020202020204" pitchFamily="34" charset="0"/>
              </a:rPr>
              <a:t>100(</a:t>
            </a:r>
            <a:r>
              <a:rPr lang="en-US" altLang="en-US" dirty="0" smtClean="0">
                <a:latin typeface="Cambria Math" panose="02040503050406030204" pitchFamily="18" charset="0"/>
                <a:ea typeface="Cambria Math" panose="02040503050406030204" pitchFamily="18" charset="0"/>
                <a:cs typeface="KishoreFont Medium" charset="0"/>
              </a:rPr>
              <a:t>1 </a:t>
            </a:r>
            <a:r>
              <a:rPr lang="en-US" altLang="en-US" dirty="0">
                <a:latin typeface="Cambria Math" panose="02040503050406030204" pitchFamily="18" charset="0"/>
                <a:ea typeface="Cambria Math" panose="02040503050406030204" pitchFamily="18" charset="0"/>
                <a:cs typeface="KishoreFont Medium" charset="0"/>
              </a:rPr>
              <a:t>- </a:t>
            </a:r>
            <a:r>
              <a:rPr lang="en-US" altLang="en-US" dirty="0" smtClean="0">
                <a:latin typeface="Cambria Math" panose="02040503050406030204" pitchFamily="18" charset="0"/>
                <a:ea typeface="Cambria Math" panose="02040503050406030204" pitchFamily="18" charset="0"/>
                <a:cs typeface="KishoreFont Medium" charset="0"/>
              </a:rPr>
              <a:t>α</a:t>
            </a:r>
            <a:r>
              <a:rPr lang="en-US" altLang="en-US" dirty="0" smtClean="0">
                <a:latin typeface="Helvetica" panose="020B0604020202020204" pitchFamily="34" charset="0"/>
                <a:ea typeface="Helvetica Neue" charset="0"/>
                <a:cs typeface="Helvetica" panose="020B0604020202020204" pitchFamily="34" charset="0"/>
              </a:rPr>
              <a:t>)%  </a:t>
            </a:r>
            <a:r>
              <a:rPr lang="en-US" altLang="en-US" b="1" i="1" dirty="0">
                <a:latin typeface="Helvetica" panose="020B0604020202020204" pitchFamily="34" charset="0"/>
                <a:ea typeface="Helvetica Neue" charset="0"/>
                <a:cs typeface="Helvetica" panose="020B0604020202020204" pitchFamily="34" charset="0"/>
              </a:rPr>
              <a:t>prediction</a:t>
            </a:r>
            <a:r>
              <a:rPr lang="en-US" altLang="en-US" dirty="0">
                <a:latin typeface="Helvetica" panose="020B0604020202020204" pitchFamily="34" charset="0"/>
                <a:ea typeface="Helvetica Neue" charset="0"/>
                <a:cs typeface="Helvetica" panose="020B0604020202020204" pitchFamily="34" charset="0"/>
              </a:rPr>
              <a:t> interval for a future y* (at x*) is</a:t>
            </a:r>
          </a:p>
        </p:txBody>
      </p:sp>
      <p:graphicFrame>
        <p:nvGraphicFramePr>
          <p:cNvPr id="66564" name="Object 5"/>
          <p:cNvGraphicFramePr>
            <a:graphicFrameLocks noChangeAspect="1"/>
          </p:cNvGraphicFramePr>
          <p:nvPr>
            <p:extLst>
              <p:ext uri="{D42A27DB-BD31-4B8C-83A1-F6EECF244321}">
                <p14:modId xmlns:p14="http://schemas.microsoft.com/office/powerpoint/2010/main" val="2235731629"/>
              </p:ext>
            </p:extLst>
          </p:nvPr>
        </p:nvGraphicFramePr>
        <p:xfrm>
          <a:off x="875965" y="1710974"/>
          <a:ext cx="4192587" cy="862013"/>
        </p:xfrm>
        <a:graphic>
          <a:graphicData uri="http://schemas.openxmlformats.org/presentationml/2006/ole">
            <mc:AlternateContent xmlns:mc="http://schemas.openxmlformats.org/markup-compatibility/2006">
              <mc:Choice xmlns:v="urn:schemas-microsoft-com:vml" Requires="v">
                <p:oleObj spid="_x0000_s6165" name="Equation" r:id="rId4" imgW="2527300" imgH="520700" progId="Equation.3">
                  <p:embed/>
                </p:oleObj>
              </mc:Choice>
              <mc:Fallback>
                <p:oleObj name="Equation" r:id="rId4" imgW="2527300" imgH="520700" progId="Equation.3">
                  <p:embed/>
                  <p:pic>
                    <p:nvPicPr>
                      <p:cNvPr id="66564"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5965" y="1710974"/>
                        <a:ext cx="4192587"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pSp>
        <p:nvGrpSpPr>
          <p:cNvPr id="2" name="Group 6"/>
          <p:cNvGrpSpPr>
            <a:grpSpLocks/>
          </p:cNvGrpSpPr>
          <p:nvPr/>
        </p:nvGrpSpPr>
        <p:grpSpPr bwMode="auto">
          <a:xfrm>
            <a:off x="665916" y="2964779"/>
            <a:ext cx="6129340" cy="976316"/>
            <a:chOff x="528" y="3360"/>
            <a:chExt cx="5148" cy="820"/>
          </a:xfrm>
        </p:grpSpPr>
        <p:graphicFrame>
          <p:nvGraphicFramePr>
            <p:cNvPr id="66567" name="Object 7"/>
            <p:cNvGraphicFramePr>
              <a:graphicFrameLocks noChangeAspect="1"/>
            </p:cNvGraphicFramePr>
            <p:nvPr/>
          </p:nvGraphicFramePr>
          <p:xfrm>
            <a:off x="528" y="3360"/>
            <a:ext cx="1221" cy="353"/>
          </p:xfrm>
          <a:graphic>
            <a:graphicData uri="http://schemas.openxmlformats.org/presentationml/2006/ole">
              <mc:AlternateContent xmlns:mc="http://schemas.openxmlformats.org/markup-compatibility/2006">
                <mc:Choice xmlns:v="urn:schemas-microsoft-com:vml" Requires="v">
                  <p:oleObj spid="_x0000_s6166" name="Equation" r:id="rId6" imgW="875920" imgH="253890" progId="Equation.3">
                    <p:embed/>
                  </p:oleObj>
                </mc:Choice>
                <mc:Fallback>
                  <p:oleObj name="Equation" r:id="rId6" imgW="875920" imgH="253890" progId="Equation.3">
                    <p:embed/>
                    <p:pic>
                      <p:nvPicPr>
                        <p:cNvPr id="6656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8" y="3360"/>
                          <a:ext cx="1221"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66568" name="Text Box 8"/>
            <p:cNvSpPr txBox="1">
              <a:spLocks noChangeArrowheads="1"/>
            </p:cNvSpPr>
            <p:nvPr/>
          </p:nvSpPr>
          <p:spPr bwMode="auto">
            <a:xfrm>
              <a:off x="1749" y="3405"/>
              <a:ext cx="3927" cy="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panose="020B0604020202020204" pitchFamily="34" charset="0"/>
                  <a:ea typeface="Helvetica Neue" charset="0"/>
                  <a:cs typeface="Helvetica" panose="020B0604020202020204" pitchFamily="34" charset="0"/>
                </a:rPr>
                <a:t>is the same as the line estimate, but the interval is wider than the confidence interval for the mean response</a:t>
              </a:r>
              <a:r>
                <a:rPr lang="en-US" altLang="en-US" dirty="0" smtClean="0">
                  <a:latin typeface="Helvetica" panose="020B0604020202020204" pitchFamily="34" charset="0"/>
                  <a:ea typeface="Helvetica Neue" charset="0"/>
                  <a:cs typeface="Helvetica" panose="020B0604020202020204" pitchFamily="34" charset="0"/>
                </a:rPr>
                <a:t>.</a:t>
              </a:r>
            </a:p>
          </p:txBody>
        </p:sp>
      </p:grpSp>
      <p:sp>
        <p:nvSpPr>
          <p:cNvPr id="9" name="Oval 8"/>
          <p:cNvSpPr/>
          <p:nvPr/>
        </p:nvSpPr>
        <p:spPr>
          <a:xfrm>
            <a:off x="3238662" y="1911784"/>
            <a:ext cx="381000" cy="466288"/>
          </a:xfrm>
          <a:prstGeom prst="ellipse">
            <a:avLst/>
          </a:prstGeom>
          <a:noFill/>
          <a:ln w="19050">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Text Box 2">
            <a:extLst>
              <a:ext uri="{FF2B5EF4-FFF2-40B4-BE49-F238E27FC236}">
                <a16:creationId xmlns:a16="http://schemas.microsoft.com/office/drawing/2014/main" id="{A819F689-513A-1D48-915D-22E346B85A78}"/>
              </a:ext>
            </a:extLst>
          </p:cNvPr>
          <p:cNvSpPr txBox="1">
            <a:spLocks noChangeArrowheads="1"/>
          </p:cNvSpPr>
          <p:nvPr/>
        </p:nvSpPr>
        <p:spPr bwMode="auto">
          <a:xfrm>
            <a:off x="171065" y="213709"/>
            <a:ext cx="79767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defRPr/>
            </a:pPr>
            <a:r>
              <a:rPr lang="en-US" altLang="en-US" sz="3600" dirty="0">
                <a:solidFill>
                  <a:schemeClr val="bg2">
                    <a:lumMod val="10000"/>
                  </a:schemeClr>
                </a:solidFill>
                <a:latin typeface="Vitesse" charset="0"/>
                <a:ea typeface="Vitesse" charset="0"/>
                <a:cs typeface="Vitesse" charset="0"/>
              </a:rPr>
              <a:t>Predicting a New Response</a:t>
            </a:r>
          </a:p>
        </p:txBody>
      </p:sp>
    </p:spTree>
    <p:extLst>
      <p:ext uri="{BB962C8B-B14F-4D97-AF65-F5344CB8AC3E}">
        <p14:creationId xmlns:p14="http://schemas.microsoft.com/office/powerpoint/2010/main" val="2648334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0156" y="238732"/>
            <a:ext cx="4727575" cy="1330325"/>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extLst>
      <p:ext uri="{BB962C8B-B14F-4D97-AF65-F5344CB8AC3E}">
        <p14:creationId xmlns:p14="http://schemas.microsoft.com/office/powerpoint/2010/main" val="173288935"/>
      </p:ext>
    </p:extLst>
  </p:cSld>
  <p:clrMapOvr>
    <a:masterClrMapping/>
  </p:clrMapOvr>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B8D62D-BE99-40AF-BF97-BFAE812B12CE}">
  <ds:schemaRefs>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b057fda7-913b-4ab6-8820-932873bcd66c"/>
    <ds:schemaRef ds:uri="http://www.w3.org/XML/1998/namespace"/>
  </ds:schemaRefs>
</ds:datastoreItem>
</file>

<file path=customXml/itemProps2.xml><?xml version="1.0" encoding="utf-8"?>
<ds:datastoreItem xmlns:ds="http://schemas.openxmlformats.org/officeDocument/2006/customXml" ds:itemID="{F28EF043-B0E6-49AE-B312-D395614284AA}">
  <ds:schemaRefs>
    <ds:schemaRef ds:uri="http://schemas.microsoft.com/sharepoint/v3/contenttype/forms"/>
  </ds:schemaRefs>
</ds:datastoreItem>
</file>

<file path=customXml/itemProps3.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1197</TotalTime>
  <Words>900</Words>
  <Application>Microsoft Office PowerPoint</Application>
  <PresentationFormat>On-screen Show (16:9)</PresentationFormat>
  <Paragraphs>79</Paragraphs>
  <Slides>10</Slides>
  <Notes>3</Notes>
  <HiddenSlides>0</HiddenSlides>
  <MMClips>0</MMClips>
  <ScaleCrop>false</ScaleCrop>
  <HeadingPairs>
    <vt:vector size="8" baseType="variant">
      <vt:variant>
        <vt:lpstr>Fonts Used</vt:lpstr>
      </vt:variant>
      <vt:variant>
        <vt:i4>13</vt:i4>
      </vt:variant>
      <vt:variant>
        <vt:lpstr>Theme</vt:lpstr>
      </vt:variant>
      <vt:variant>
        <vt:i4>3</vt:i4>
      </vt:variant>
      <vt:variant>
        <vt:lpstr>Embedded OLE Servers</vt:lpstr>
      </vt:variant>
      <vt:variant>
        <vt:i4>1</vt:i4>
      </vt:variant>
      <vt:variant>
        <vt:lpstr>Slide Titles</vt:lpstr>
      </vt:variant>
      <vt:variant>
        <vt:i4>10</vt:i4>
      </vt:variant>
    </vt:vector>
  </HeadingPairs>
  <TitlesOfParts>
    <vt:vector size="27" baseType="lpstr">
      <vt:lpstr>MS PGothic</vt:lpstr>
      <vt:lpstr>Arial</vt:lpstr>
      <vt:lpstr>Calibri</vt:lpstr>
      <vt:lpstr>Cambria Math</vt:lpstr>
      <vt:lpstr>Helvetica</vt:lpstr>
      <vt:lpstr>Helvetica Neue</vt:lpstr>
      <vt:lpstr>KishoreFont Medium</vt:lpstr>
      <vt:lpstr>Times New Roman</vt:lpstr>
      <vt:lpstr>Vitesse</vt:lpstr>
      <vt:lpstr>Vitesse Bold</vt:lpstr>
      <vt:lpstr>Vitesse Book</vt:lpstr>
      <vt:lpstr>Vitesse Medium</vt:lpstr>
      <vt:lpstr>Wingdings</vt:lpstr>
      <vt:lpstr>1_Half Page Slash</vt:lpstr>
      <vt:lpstr>Half Page Slash</vt:lpstr>
      <vt:lpstr>Full Page Layout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Levine</dc:creator>
  <cp:lastModifiedBy>Rodriguez, Ramon S</cp:lastModifiedBy>
  <cp:revision>198</cp:revision>
  <dcterms:modified xsi:type="dcterms:W3CDTF">2020-01-30T16:38:54Z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ies>
</file>