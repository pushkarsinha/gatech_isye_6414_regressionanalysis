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7" r:id="rId4"/>
    <p:sldMasterId id="2147483705" r:id="rId5"/>
    <p:sldMasterId id="2147483699" r:id="rId6"/>
  </p:sldMasterIdLst>
  <p:notesMasterIdLst>
    <p:notesMasterId r:id="rId14"/>
  </p:notesMasterIdLst>
  <p:handoutMasterIdLst>
    <p:handoutMasterId r:id="rId15"/>
  </p:handoutMasterIdLst>
  <p:sldIdLst>
    <p:sldId id="428" r:id="rId7"/>
    <p:sldId id="429" r:id="rId8"/>
    <p:sldId id="300" r:id="rId9"/>
    <p:sldId id="301" r:id="rId10"/>
    <p:sldId id="302" r:id="rId11"/>
    <p:sldId id="303" r:id="rId12"/>
    <p:sldId id="439" r:id="rId13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3C567BE6-4E2E-2A45-BD72-59F9659A3211}">
          <p14:sldIdLst>
            <p14:sldId id="428"/>
            <p14:sldId id="429"/>
            <p14:sldId id="300"/>
            <p14:sldId id="301"/>
            <p14:sldId id="302"/>
            <p14:sldId id="303"/>
            <p14:sldId id="43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  <p15:guide id="3" pos="144" userDrawn="1">
          <p15:clr>
            <a:srgbClr val="A4A3A4"/>
          </p15:clr>
        </p15:guide>
        <p15:guide id="4" orient="horz" pos="444" userDrawn="1">
          <p15:clr>
            <a:srgbClr val="A4A3A4"/>
          </p15:clr>
        </p15:guide>
        <p15:guide id="5" orient="horz" pos="804" userDrawn="1">
          <p15:clr>
            <a:srgbClr val="A4A3A4"/>
          </p15:clr>
        </p15:guide>
        <p15:guide id="6" pos="3480" userDrawn="1">
          <p15:clr>
            <a:srgbClr val="A4A3A4"/>
          </p15:clr>
        </p15:guide>
        <p15:guide id="7" pos="432" userDrawn="1">
          <p15:clr>
            <a:srgbClr val="A4A3A4"/>
          </p15:clr>
        </p15:guide>
        <p15:guide id="8" pos="256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7" name="Rodriguez, Ramon S" initials="RRS" lastIdx="1" clrIdx="6">
    <p:extLst>
      <p:ext uri="{19B8F6BF-5375-455C-9EA6-DF929625EA0E}">
        <p15:presenceInfo xmlns:p15="http://schemas.microsoft.com/office/powerpoint/2012/main" userId="S-1-5-21-1177238915-2111687655-1060284298-1451345" providerId="AD"/>
      </p:ext>
    </p:extLst>
  </p:cmAuthor>
  <p:cmAuthor id="1" name="Figueroa, Shabana" initials="FS" lastIdx="16" clrIdx="0"/>
  <p:cmAuthor id="2" name="Figueroa, Shabana" initials="FS [2]" lastIdx="1" clrIdx="1"/>
  <p:cmAuthor id="3" name="Serban, Nicoleta" initials="SN" lastIdx="12" clrIdx="2"/>
  <p:cmAuthor id="4" name="Hu, Rui" initials="HR" lastIdx="1" clrIdx="3"/>
  <p:cmAuthor id="5" name="Hu, Rui" initials="HR [2]" lastIdx="1" clrIdx="4"/>
  <p:cmAuthor id="6" name="Richard Levine" initials="RL" lastIdx="2" clrIdx="5">
    <p:extLst>
      <p:ext uri="{19B8F6BF-5375-455C-9EA6-DF929625EA0E}">
        <p15:presenceInfo xmlns:p15="http://schemas.microsoft.com/office/powerpoint/2012/main" userId="Richard Levine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FA70B"/>
    <a:srgbClr val="F8FFF1"/>
    <a:srgbClr val="000000"/>
    <a:srgbClr val="EEB211"/>
    <a:srgbClr val="993200"/>
    <a:srgbClr val="F7FFEE"/>
    <a:srgbClr val="F5FCEA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20FEFF3-F093-4D67-AA1A-F135C470FF7A}" v="2" dt="2020-01-30T15:43:15.67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610" autoAdjust="0"/>
    <p:restoredTop sz="85965"/>
  </p:normalViewPr>
  <p:slideViewPr>
    <p:cSldViewPr snapToGrid="0">
      <p:cViewPr varScale="1">
        <p:scale>
          <a:sx n="101" d="100"/>
          <a:sy n="101" d="100"/>
        </p:scale>
        <p:origin x="1382" y="67"/>
      </p:cViewPr>
      <p:guideLst>
        <p:guide orient="horz" pos="1620"/>
        <p:guide pos="2880"/>
        <p:guide pos="144"/>
        <p:guide orient="horz" pos="444"/>
        <p:guide orient="horz" pos="804"/>
        <p:guide pos="3480"/>
        <p:guide pos="432"/>
        <p:guide pos="2568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6/11/relationships/changesInfo" Target="changesInfos/changesInfo1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5" Type="http://schemas.openxmlformats.org/officeDocument/2006/relationships/slideMaster" Target="slideMasters/slideMaster2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4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notesMaster" Target="notesMasters/notesMaster1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clId="Web-{720FEFF3-F093-4D67-AA1A-F135C470FF7A}"/>
    <pc:docChg chg="modSld">
      <pc:chgData name="" userId="" providerId="" clId="Web-{720FEFF3-F093-4D67-AA1A-F135C470FF7A}" dt="2020-01-30T15:43:15.678" v="1"/>
      <pc:docMkLst>
        <pc:docMk/>
      </pc:docMkLst>
      <pc:sldChg chg="modSp">
        <pc:chgData name="" userId="" providerId="" clId="Web-{720FEFF3-F093-4D67-AA1A-F135C470FF7A}" dt="2020-01-30T15:43:15.678" v="1"/>
        <pc:sldMkLst>
          <pc:docMk/>
          <pc:sldMk cId="1732449200" sldId="300"/>
        </pc:sldMkLst>
        <pc:spChg chg="mod">
          <ac:chgData name="" userId="" providerId="" clId="Web-{720FEFF3-F093-4D67-AA1A-F135C470FF7A}" dt="2020-01-30T15:43:01.053" v="0"/>
          <ac:spMkLst>
            <pc:docMk/>
            <pc:sldMk cId="1732449200" sldId="300"/>
            <ac:spMk id="2" creationId="{00000000-0000-0000-0000-000000000000}"/>
          </ac:spMkLst>
        </pc:spChg>
        <pc:spChg chg="mod">
          <ac:chgData name="" userId="" providerId="" clId="Web-{720FEFF3-F093-4D67-AA1A-F135C470FF7A}" dt="2020-01-30T15:43:15.678" v="1"/>
          <ac:spMkLst>
            <pc:docMk/>
            <pc:sldMk cId="1732449200" sldId="300"/>
            <ac:spMk id="55300" creationId="{00000000-0000-0000-0000-00000000000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DFD447-ACB1-BC49-B8EF-23729E0A333F}" type="datetimeFigureOut">
              <a:rPr lang="en-US" smtClean="0"/>
              <a:t>5/19/2021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EF598F-7A46-204A-ADDD-A1229C86B2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1738FA-185A-CF4F-BD02-7990310E47F3}" type="datetimeFigureOut">
              <a:rPr lang="en-US" smtClean="0"/>
              <a:t>5/19/2021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3F7A93-C87A-E149-BF89-5D793380F1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51202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altLang="en-US">
              <a:ea typeface="MS PGothic" charset="-128"/>
            </a:endParaRPr>
          </a:p>
        </p:txBody>
      </p:sp>
      <p:sp>
        <p:nvSpPr>
          <p:cNvPr id="51203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9pPr>
          </a:lstStyle>
          <a:p>
            <a:fld id="{D4C13D64-D16A-9D45-84BD-EEB045BBA4F0}" type="slidenum">
              <a:rPr lang="en-US" altLang="en-US"/>
              <a:pPr/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6540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3F7A93-C87A-E149-BF89-5D793380F19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79001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0"/>
          </p:nvPr>
        </p:nvSpPr>
        <p:spPr>
          <a:xfrm>
            <a:off x="481920" y="1421266"/>
            <a:ext cx="4727575" cy="133032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630256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74638"/>
            <a:ext cx="5520941" cy="993775"/>
          </a:xfrm>
          <a:prstGeom prst="rect">
            <a:avLst/>
          </a:prstGeom>
        </p:spPr>
        <p:txBody>
          <a:bodyPr/>
          <a:lstStyle>
            <a:lvl1pPr algn="l">
              <a:defRPr lang="en-US" sz="44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0"/>
          </p:nvPr>
        </p:nvSpPr>
        <p:spPr>
          <a:xfrm>
            <a:off x="628649" y="1436688"/>
            <a:ext cx="4375430" cy="2994025"/>
          </a:xfrm>
          <a:prstGeom prst="rect">
            <a:avLst/>
          </a:prstGeom>
        </p:spPr>
        <p:txBody>
          <a:bodyPr/>
          <a:lstStyle>
            <a:lvl1pPr>
              <a:defRPr>
                <a:latin typeface="Vitesse Book" charset="0"/>
                <a:ea typeface="Vitesse Book" charset="0"/>
                <a:cs typeface="Vitesse Book" charset="0"/>
              </a:defRPr>
            </a:lvl1pPr>
            <a:lvl2pPr>
              <a:defRPr>
                <a:latin typeface="Vitesse Book" charset="0"/>
                <a:ea typeface="Vitesse Book" charset="0"/>
                <a:cs typeface="Vitesse Book" charset="0"/>
              </a:defRPr>
            </a:lvl2pPr>
            <a:lvl3pPr>
              <a:defRPr>
                <a:latin typeface="Vitesse Book" charset="0"/>
                <a:ea typeface="Vitesse Book" charset="0"/>
                <a:cs typeface="Vitesse Book" charset="0"/>
              </a:defRPr>
            </a:lvl3pPr>
            <a:lvl4pPr>
              <a:defRPr>
                <a:latin typeface="Vitesse Book" charset="0"/>
                <a:ea typeface="Vitesse Book" charset="0"/>
                <a:cs typeface="Vitesse Book" charset="0"/>
              </a:defRPr>
            </a:lvl4pPr>
            <a:lvl5pPr>
              <a:defRPr>
                <a:latin typeface="Vitesse Book" charset="0"/>
                <a:ea typeface="Vitesse Book" charset="0"/>
                <a:cs typeface="Vitesse Book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944312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2002E78-3C88-9A40-B579-FA4DB2691E4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607370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918051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4F0668-60AC-E24C-8E50-B74DE0FA4F0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510021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252349" y="274678"/>
            <a:ext cx="8562392" cy="993775"/>
          </a:xfrm>
          <a:prstGeom prst="rect">
            <a:avLst/>
          </a:prstGeom>
        </p:spPr>
        <p:txBody>
          <a:bodyPr/>
          <a:lstStyle>
            <a:lvl1pPr algn="l"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23062657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w/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5"/>
          <p:cNvSpPr>
            <a:spLocks noGrp="1"/>
          </p:cNvSpPr>
          <p:nvPr>
            <p:ph sz="quarter" idx="10"/>
          </p:nvPr>
        </p:nvSpPr>
        <p:spPr>
          <a:xfrm>
            <a:off x="252349" y="1268453"/>
            <a:ext cx="8280166" cy="3519917"/>
          </a:xfrm>
          <a:prstGeom prst="rect">
            <a:avLst/>
          </a:prstGeom>
        </p:spPr>
        <p:txBody>
          <a:bodyPr/>
          <a:lstStyle>
            <a:lvl1pPr>
              <a:defRPr sz="2000">
                <a:latin typeface="Helvetica" charset="0"/>
                <a:ea typeface="Helvetica" charset="0"/>
                <a:cs typeface="Helvetica" charset="0"/>
              </a:defRPr>
            </a:lvl1pPr>
            <a:lvl2pPr>
              <a:defRPr sz="1800">
                <a:latin typeface="Helvetica" charset="0"/>
                <a:ea typeface="Helvetica" charset="0"/>
                <a:cs typeface="Helvetica" charset="0"/>
              </a:defRPr>
            </a:lvl2pPr>
            <a:lvl3pPr>
              <a:defRPr sz="1800">
                <a:latin typeface="Helvetica" charset="0"/>
                <a:ea typeface="Helvetica" charset="0"/>
                <a:cs typeface="Helvetica" charset="0"/>
              </a:defRPr>
            </a:lvl3pPr>
            <a:lvl4pPr>
              <a:defRPr sz="1800">
                <a:latin typeface="Helvetica" charset="0"/>
                <a:ea typeface="Helvetica" charset="0"/>
                <a:cs typeface="Helvetica" charset="0"/>
              </a:defRPr>
            </a:lvl4pPr>
            <a:lvl5pPr>
              <a:defRPr sz="1800">
                <a:latin typeface="Helvetica" charset="0"/>
                <a:ea typeface="Helvetica" charset="0"/>
                <a:cs typeface="Helvetica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252349" y="274678"/>
            <a:ext cx="8280166" cy="993775"/>
          </a:xfrm>
          <a:prstGeom prst="rect">
            <a:avLst/>
          </a:prstGeom>
        </p:spPr>
        <p:txBody>
          <a:bodyPr/>
          <a:lstStyle>
            <a:lvl1pPr algn="l"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41825185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w/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4"/>
          <p:cNvSpPr>
            <a:spLocks noGrp="1"/>
          </p:cNvSpPr>
          <p:nvPr>
            <p:ph sz="quarter" idx="10" hasCustomPrompt="1"/>
          </p:nvPr>
        </p:nvSpPr>
        <p:spPr>
          <a:xfrm>
            <a:off x="252347" y="1268453"/>
            <a:ext cx="8449503" cy="3286125"/>
          </a:xfrm>
          <a:prstGeom prst="rect">
            <a:avLst/>
          </a:prstGeom>
        </p:spPr>
        <p:txBody>
          <a:bodyPr/>
          <a:lstStyle>
            <a:lvl1pPr marL="0" indent="0">
              <a:buFont typeface="Arial"/>
              <a:buNone/>
              <a:defRPr sz="2000"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r>
              <a:rPr lang="en-US" b="1" dirty="0" err="1">
                <a:latin typeface="Helvetica"/>
                <a:cs typeface="Helvetica"/>
              </a:rPr>
              <a:t>Lorem</a:t>
            </a:r>
            <a:r>
              <a:rPr lang="en-US" b="1" dirty="0">
                <a:latin typeface="Helvetica"/>
                <a:cs typeface="Helvetica"/>
              </a:rPr>
              <a:t> </a:t>
            </a:r>
            <a:r>
              <a:rPr lang="en-US" b="1" dirty="0" err="1">
                <a:latin typeface="Helvetica"/>
                <a:cs typeface="Helvetica"/>
              </a:rPr>
              <a:t>Ipsum</a:t>
            </a:r>
            <a:r>
              <a:rPr lang="en-US" b="1" dirty="0">
                <a:latin typeface="Helvetica"/>
                <a:cs typeface="Helvetica"/>
              </a:rPr>
              <a:t> is simply dummy text </a:t>
            </a:r>
          </a:p>
          <a:p>
            <a:r>
              <a:rPr lang="en-US" sz="1800" dirty="0"/>
              <a:t>of the printing and typesetting industry. </a:t>
            </a:r>
            <a:r>
              <a:rPr lang="en-US" sz="1800" dirty="0" err="1"/>
              <a:t>Lorem</a:t>
            </a:r>
            <a:r>
              <a:rPr lang="en-US" sz="1800" dirty="0"/>
              <a:t> </a:t>
            </a:r>
            <a:r>
              <a:rPr lang="en-US" sz="1800" dirty="0" err="1"/>
              <a:t>Ipsum</a:t>
            </a:r>
            <a:r>
              <a:rPr lang="en-US" sz="1800" dirty="0"/>
              <a:t> has been the industry's standard dummy text ever since the 1500s, when an unknown printer took a galley of type and scrambled it to make a type specimen book. </a:t>
            </a:r>
          </a:p>
          <a:p>
            <a:endParaRPr lang="en-US" sz="1800" dirty="0"/>
          </a:p>
          <a:p>
            <a:r>
              <a:rPr lang="en-US" b="1" dirty="0"/>
              <a:t>It has survived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not only five centuries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but also the leap into electronic typesetting, 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remaining essentially unchanged. 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252348" y="274678"/>
            <a:ext cx="8449503" cy="993775"/>
          </a:xfrm>
          <a:prstGeom prst="rect">
            <a:avLst/>
          </a:prstGeom>
        </p:spPr>
        <p:txBody>
          <a:bodyPr/>
          <a:lstStyle>
            <a:lvl1pPr algn="l"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30929079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w/ Text + 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10" hasCustomPrompt="1"/>
          </p:nvPr>
        </p:nvSpPr>
        <p:spPr>
          <a:xfrm>
            <a:off x="233538" y="1110075"/>
            <a:ext cx="3595277" cy="3612444"/>
          </a:xfrm>
          <a:prstGeom prst="rect">
            <a:avLst/>
          </a:prstGeom>
        </p:spPr>
        <p:txBody>
          <a:bodyPr/>
          <a:lstStyle>
            <a:lvl1pPr marL="0" indent="0">
              <a:buFont typeface="Arial"/>
              <a:buNone/>
              <a:defRPr sz="2000"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r>
              <a:rPr lang="en-US" b="1" dirty="0" err="1">
                <a:latin typeface="Helvetica"/>
                <a:cs typeface="Helvetica"/>
              </a:rPr>
              <a:t>Lorem</a:t>
            </a:r>
            <a:r>
              <a:rPr lang="en-US" b="1" dirty="0">
                <a:latin typeface="Helvetica"/>
                <a:cs typeface="Helvetica"/>
              </a:rPr>
              <a:t> </a:t>
            </a:r>
            <a:r>
              <a:rPr lang="en-US" b="1" dirty="0" err="1">
                <a:latin typeface="Helvetica"/>
                <a:cs typeface="Helvetica"/>
              </a:rPr>
              <a:t>Ipsum</a:t>
            </a:r>
            <a:r>
              <a:rPr lang="en-US" b="1" dirty="0">
                <a:latin typeface="Helvetica"/>
                <a:cs typeface="Helvetica"/>
              </a:rPr>
              <a:t> is simply dummy text.</a:t>
            </a:r>
          </a:p>
          <a:p>
            <a:endParaRPr lang="en-US" sz="1800" dirty="0"/>
          </a:p>
          <a:p>
            <a:r>
              <a:rPr lang="en-US" b="1" dirty="0"/>
              <a:t>It has survived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not only five centuries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but also the leap into electronic typesetting, 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remaining essentially unchanged. </a:t>
            </a:r>
          </a:p>
        </p:txBody>
      </p:sp>
      <p:sp>
        <p:nvSpPr>
          <p:cNvPr id="6" name="Chart Placeholder 3"/>
          <p:cNvSpPr>
            <a:spLocks noGrp="1"/>
          </p:cNvSpPr>
          <p:nvPr>
            <p:ph type="chart" sz="quarter" idx="11"/>
          </p:nvPr>
        </p:nvSpPr>
        <p:spPr>
          <a:xfrm>
            <a:off x="3828815" y="1110075"/>
            <a:ext cx="4948296" cy="361244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252348" y="274678"/>
            <a:ext cx="8186095" cy="993775"/>
          </a:xfrm>
          <a:prstGeom prst="rect">
            <a:avLst/>
          </a:prstGeom>
        </p:spPr>
        <p:txBody>
          <a:bodyPr/>
          <a:lstStyle>
            <a:lvl1pPr algn="l"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16719838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w/ 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hart Placeholder 3"/>
          <p:cNvSpPr>
            <a:spLocks noGrp="1"/>
          </p:cNvSpPr>
          <p:nvPr>
            <p:ph type="chart" sz="quarter" idx="10"/>
          </p:nvPr>
        </p:nvSpPr>
        <p:spPr>
          <a:xfrm>
            <a:off x="252349" y="1268453"/>
            <a:ext cx="8110832" cy="356431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endParaRPr lang="en-US" dirty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252348" y="274678"/>
            <a:ext cx="8186095" cy="993775"/>
          </a:xfrm>
          <a:prstGeom prst="rect">
            <a:avLst/>
          </a:prstGeom>
        </p:spPr>
        <p:txBody>
          <a:bodyPr/>
          <a:lstStyle>
            <a:lvl1pPr algn="l"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29975240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2002E78-3C88-9A40-B579-FA4DB2691E4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206883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theme" Target="../theme/theme2.xml"/><Relationship Id="rId5" Type="http://schemas.openxmlformats.org/officeDocument/2006/relationships/image" Target="../media/image1.jpg"/><Relationship Id="rId4" Type="http://schemas.openxmlformats.org/officeDocument/2006/relationships/image" Target="../media/image4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8.xml"/><Relationship Id="rId7" Type="http://schemas.openxmlformats.org/officeDocument/2006/relationships/theme" Target="../theme/theme3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5" Type="http://schemas.openxmlformats.org/officeDocument/2006/relationships/slideLayout" Target="../slideLayouts/slideLayout10.xml"/><Relationship Id="rId10" Type="http://schemas.openxmlformats.org/officeDocument/2006/relationships/image" Target="../media/image4.png"/><Relationship Id="rId4" Type="http://schemas.openxmlformats.org/officeDocument/2006/relationships/slideLayout" Target="../slideLayouts/slideLayout9.xml"/><Relationship Id="rId9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13BCFA4D-1CC5-4243-98FC-591DF878C6E5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12462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 userDrawn="1"/>
        </p:nvGrpSpPr>
        <p:grpSpPr>
          <a:xfrm>
            <a:off x="0" y="0"/>
            <a:ext cx="9142647" cy="5144187"/>
            <a:chOff x="0" y="0"/>
            <a:chExt cx="9142647" cy="5144187"/>
          </a:xfrm>
        </p:grpSpPr>
        <p:pic>
          <p:nvPicPr>
            <p:cNvPr id="5" name="Picture 4"/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 flipH="1" flipV="1">
              <a:off x="5423765" y="2211757"/>
              <a:ext cx="3718882" cy="2932430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xmlns="" id="{5BC3A035-B0EE-3A43-AADA-02BA46FB093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8111132" y="4644572"/>
              <a:ext cx="945783" cy="401634"/>
            </a:xfrm>
            <a:prstGeom prst="rect">
              <a:avLst/>
            </a:prstGeom>
          </p:spPr>
        </p:pic>
        <p:pic>
          <p:nvPicPr>
            <p:cNvPr id="7" name="Picture 6"/>
            <p:cNvPicPr>
              <a:picLocks noChangeAspect="1"/>
            </p:cNvPicPr>
            <p:nvPr userDrawn="1"/>
          </p:nvPicPr>
          <p:blipFill>
            <a:blip r:embed="rId4"/>
            <a:stretch>
              <a:fillRect/>
            </a:stretch>
          </p:blipFill>
          <p:spPr>
            <a:xfrm>
              <a:off x="0" y="0"/>
              <a:ext cx="3719590" cy="2933934"/>
            </a:xfrm>
            <a:prstGeom prst="rect">
              <a:avLst/>
            </a:prstGeom>
          </p:spPr>
        </p:pic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13BCFA4D-1CC5-4243-98FC-591DF878C6E5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7365758"/>
      </p:ext>
    </p:extLst>
  </p:cSld>
  <p:clrMap bg1="lt1" tx1="dk1" bg2="lt2" tx2="dk2" accent1="accent1" accent2="accent2" accent3="accent3" accent4="accent4" accent5="accent5" accent6="accent6" hlink="hlink" folHlink="folHlink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 userDrawn="1"/>
        </p:nvGrpSpPr>
        <p:grpSpPr>
          <a:xfrm>
            <a:off x="0" y="0"/>
            <a:ext cx="9142647" cy="5144187"/>
            <a:chOff x="0" y="0"/>
            <a:chExt cx="9142647" cy="5144187"/>
          </a:xfrm>
        </p:grpSpPr>
        <p:pic>
          <p:nvPicPr>
            <p:cNvPr id="4" name="Picture 3"/>
            <p:cNvPicPr>
              <a:picLocks noChangeAspect="1"/>
            </p:cNvPicPr>
            <p:nvPr userDrawn="1"/>
          </p:nvPicPr>
          <p:blipFill>
            <a:blip r:embed="rId8"/>
            <a:stretch>
              <a:fillRect/>
            </a:stretch>
          </p:blipFill>
          <p:spPr>
            <a:xfrm flipH="1" flipV="1">
              <a:off x="5423765" y="2211757"/>
              <a:ext cx="3718882" cy="2932430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xmlns="" id="{5BC3A035-B0EE-3A43-AADA-02BA46FB093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9"/>
            <a:stretch>
              <a:fillRect/>
            </a:stretch>
          </p:blipFill>
          <p:spPr>
            <a:xfrm>
              <a:off x="8111132" y="4644572"/>
              <a:ext cx="945783" cy="401634"/>
            </a:xfrm>
            <a:prstGeom prst="rect">
              <a:avLst/>
            </a:prstGeom>
          </p:spPr>
        </p:pic>
        <p:pic>
          <p:nvPicPr>
            <p:cNvPr id="7" name="Picture 6"/>
            <p:cNvPicPr>
              <a:picLocks noChangeAspect="1"/>
            </p:cNvPicPr>
            <p:nvPr userDrawn="1"/>
          </p:nvPicPr>
          <p:blipFill>
            <a:blip r:embed="rId10"/>
            <a:stretch>
              <a:fillRect/>
            </a:stretch>
          </p:blipFill>
          <p:spPr>
            <a:xfrm>
              <a:off x="0" y="0"/>
              <a:ext cx="3719590" cy="293393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043656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701" r:id="rId2"/>
    <p:sldLayoutId id="2147483702" r:id="rId3"/>
    <p:sldLayoutId id="2147483703" r:id="rId4"/>
    <p:sldLayoutId id="2147483704" r:id="rId5"/>
    <p:sldLayoutId id="2147483706" r:id="rId6"/>
  </p:sldLayoutIdLst>
  <p:txStyles>
    <p:titleStyle>
      <a:lvl1pPr algn="l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457200" rtl="0" eaLnBrk="1" latinLnBrk="0" hangingPunct="1">
        <a:spcBef>
          <a:spcPct val="20000"/>
        </a:spcBef>
        <a:buFont typeface="Arial"/>
        <a:buNone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/>
        </p:nvSpPr>
        <p:spPr>
          <a:xfrm>
            <a:off x="117956" y="228858"/>
            <a:ext cx="5691763" cy="712848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lang="en-US" sz="4000" b="0" i="0" kern="1200" dirty="0">
                <a:solidFill>
                  <a:schemeClr val="tx1"/>
                </a:solidFill>
                <a:latin typeface="Vitesse Bold"/>
                <a:ea typeface="Vitesse" charset="0"/>
                <a:cs typeface="Vitesse Bold"/>
              </a:defRPr>
            </a:lvl1pPr>
          </a:lstStyle>
          <a:p>
            <a:r>
              <a:rPr lang="en-US" sz="3600" dirty="0">
                <a:latin typeface="Vitesse" charset="0"/>
                <a:cs typeface="Vitesse" charset="0"/>
              </a:rPr>
              <a:t>Regression Analysis</a:t>
            </a:r>
          </a:p>
        </p:txBody>
      </p:sp>
      <p:sp>
        <p:nvSpPr>
          <p:cNvPr id="6" name="Text Placeholder 2"/>
          <p:cNvSpPr>
            <a:spLocks noGrp="1"/>
          </p:cNvSpPr>
          <p:nvPr/>
        </p:nvSpPr>
        <p:spPr>
          <a:xfrm>
            <a:off x="117956" y="740369"/>
            <a:ext cx="5511340" cy="542236"/>
          </a:xfrm>
          <a:prstGeom prst="rect">
            <a:avLst/>
          </a:prstGeom>
        </p:spPr>
        <p:txBody>
          <a:bodyPr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lang="en-US" sz="3000" b="0" i="0" kern="1200" dirty="0">
                <a:solidFill>
                  <a:schemeClr val="tx2"/>
                </a:solidFill>
                <a:latin typeface="Vitesse Medium" charset="0"/>
                <a:ea typeface="Vitesse Medium" charset="0"/>
                <a:cs typeface="Vitesse Medium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Simple Linear Regression</a:t>
            </a:r>
          </a:p>
        </p:txBody>
      </p:sp>
      <p:sp>
        <p:nvSpPr>
          <p:cNvPr id="7" name="Text Placeholder 3"/>
          <p:cNvSpPr>
            <a:spLocks noGrp="1"/>
          </p:cNvSpPr>
          <p:nvPr/>
        </p:nvSpPr>
        <p:spPr>
          <a:xfrm>
            <a:off x="117957" y="2018346"/>
            <a:ext cx="4305091" cy="432669"/>
          </a:xfrm>
          <a:prstGeom prst="rect">
            <a:avLst/>
          </a:prstGeom>
        </p:spPr>
        <p:txBody>
          <a:bodyPr anchor="ctr"/>
          <a:lstStyle>
            <a:lvl1pPr marL="0" indent="0" algn="l" defTabSz="457200" rtl="0" eaLnBrk="1" latinLnBrk="0" hangingPunct="1">
              <a:lnSpc>
                <a:spcPts val="1400"/>
              </a:lnSpc>
              <a:spcBef>
                <a:spcPct val="20000"/>
              </a:spcBef>
              <a:buFont typeface="Arial"/>
              <a:buNone/>
              <a:defRPr lang="en-US" sz="2400" b="1" kern="1200" baseline="0" dirty="0">
                <a:solidFill>
                  <a:srgbClr val="EEB211"/>
                </a:solidFill>
                <a:latin typeface="Helvetica" charset="0"/>
                <a:ea typeface="Helvetica" charset="0"/>
                <a:cs typeface="Helvetica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  <a:p>
            <a:r>
              <a:rPr lang="en-US" dirty="0" err="1"/>
              <a:t>Nicoleta</a:t>
            </a:r>
            <a:r>
              <a:rPr lang="en-US" dirty="0"/>
              <a:t> </a:t>
            </a:r>
            <a:r>
              <a:rPr lang="en-US" dirty="0" err="1"/>
              <a:t>Serban</a:t>
            </a:r>
            <a:r>
              <a:rPr lang="en-US" dirty="0"/>
              <a:t>, Ph.D. </a:t>
            </a:r>
          </a:p>
        </p:txBody>
      </p:sp>
      <p:sp>
        <p:nvSpPr>
          <p:cNvPr id="8" name="Text Placeholder 4"/>
          <p:cNvSpPr>
            <a:spLocks noGrp="1"/>
          </p:cNvSpPr>
          <p:nvPr/>
        </p:nvSpPr>
        <p:spPr>
          <a:xfrm>
            <a:off x="108550" y="2376336"/>
            <a:ext cx="4305091" cy="254281"/>
          </a:xfrm>
          <a:prstGeom prst="rect">
            <a:avLst/>
          </a:prstGeom>
        </p:spPr>
        <p:txBody>
          <a:bodyPr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600" b="0" i="1" kern="1200" baseline="0">
                <a:solidFill>
                  <a:schemeClr val="tx1"/>
                </a:solidFill>
                <a:latin typeface="Helvetica" charset="0"/>
                <a:ea typeface="Helvetica" charset="0"/>
                <a:cs typeface="Helvetica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Professor </a:t>
            </a:r>
          </a:p>
        </p:txBody>
      </p:sp>
      <p:sp>
        <p:nvSpPr>
          <p:cNvPr id="9" name="Text Placeholder 5"/>
          <p:cNvSpPr>
            <a:spLocks noGrp="1"/>
          </p:cNvSpPr>
          <p:nvPr/>
        </p:nvSpPr>
        <p:spPr>
          <a:xfrm>
            <a:off x="117956" y="3964076"/>
            <a:ext cx="4305091" cy="878110"/>
          </a:xfrm>
          <a:prstGeom prst="rect">
            <a:avLst/>
          </a:prstGeom>
        </p:spPr>
        <p:txBody>
          <a:bodyPr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400" b="0" i="0" kern="1200" baseline="0">
                <a:solidFill>
                  <a:schemeClr val="tx2"/>
                </a:solidFill>
                <a:latin typeface="Helvetica" charset="0"/>
                <a:ea typeface="Helvetica" charset="0"/>
                <a:cs typeface="Helvetica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>
                <a:latin typeface="Helvetica" panose="020B0604020202020204" pitchFamily="34" charset="0"/>
                <a:ea typeface="Vitesse" charset="0"/>
                <a:cs typeface="Helvetica" panose="020B0604020202020204" pitchFamily="34" charset="0"/>
              </a:rPr>
              <a:t>Regression Concepts: </a:t>
            </a:r>
          </a:p>
          <a:p>
            <a:r>
              <a:rPr lang="en-US" sz="2000" dirty="0">
                <a:latin typeface="Helvetica" panose="020B0604020202020204" pitchFamily="34" charset="0"/>
                <a:ea typeface="Vitesse" charset="0"/>
                <a:cs typeface="Helvetica" panose="020B0604020202020204" pitchFamily="34" charset="0"/>
              </a:rPr>
              <a:t>Statistical Inference Examples</a:t>
            </a:r>
          </a:p>
        </p:txBody>
      </p:sp>
      <p:sp>
        <p:nvSpPr>
          <p:cNvPr id="10" name="Text Placeholder 6"/>
          <p:cNvSpPr>
            <a:spLocks noGrp="1"/>
          </p:cNvSpPr>
          <p:nvPr/>
        </p:nvSpPr>
        <p:spPr>
          <a:xfrm>
            <a:off x="117956" y="2661666"/>
            <a:ext cx="4305091" cy="322253"/>
          </a:xfrm>
          <a:prstGeom prst="rect">
            <a:avLst/>
          </a:prstGeom>
        </p:spPr>
        <p:txBody>
          <a:bodyPr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200" b="0" i="0" kern="1200" baseline="0">
                <a:solidFill>
                  <a:schemeClr val="tx1"/>
                </a:solidFill>
                <a:latin typeface="Helvetica" charset="0"/>
                <a:ea typeface="Helvetica" charset="0"/>
                <a:cs typeface="Helvetica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School of Industrial and Systems Engineering</a:t>
            </a:r>
          </a:p>
        </p:txBody>
      </p:sp>
    </p:spTree>
    <p:extLst>
      <p:ext uri="{BB962C8B-B14F-4D97-AF65-F5344CB8AC3E}">
        <p14:creationId xmlns:p14="http://schemas.microsoft.com/office/powerpoint/2010/main" val="16933392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820" t="7499" r="15454" b="5507"/>
          <a:stretch/>
        </p:blipFill>
        <p:spPr>
          <a:xfrm>
            <a:off x="1237534" y="1285661"/>
            <a:ext cx="2069432" cy="2619446"/>
          </a:xfrm>
          <a:prstGeom prst="rect">
            <a:avLst/>
          </a:prstGeom>
        </p:spPr>
      </p:pic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143478" y="-135358"/>
            <a:ext cx="4727575" cy="1330325"/>
          </a:xfrm>
        </p:spPr>
        <p:txBody>
          <a:bodyPr anchor="ctr">
            <a:normAutofit/>
          </a:bodyPr>
          <a:lstStyle/>
          <a:p>
            <a:pPr>
              <a:spcBef>
                <a:spcPct val="0"/>
              </a:spcBef>
            </a:pPr>
            <a:r>
              <a:rPr lang="en-US" sz="3600" dirty="0">
                <a:latin typeface="Vitesse" charset="0"/>
                <a:ea typeface="Vitesse" charset="0"/>
                <a:cs typeface="Vitesse" charset="0"/>
              </a:rPr>
              <a:t>About This Lesson</a:t>
            </a:r>
          </a:p>
        </p:txBody>
      </p:sp>
    </p:spTree>
    <p:extLst>
      <p:ext uri="{BB962C8B-B14F-4D97-AF65-F5344CB8AC3E}">
        <p14:creationId xmlns:p14="http://schemas.microsoft.com/office/powerpoint/2010/main" val="14999553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Text Box 2"/>
          <p:cNvSpPr txBox="1">
            <a:spLocks noChangeArrowheads="1"/>
          </p:cNvSpPr>
          <p:nvPr/>
        </p:nvSpPr>
        <p:spPr bwMode="auto">
          <a:xfrm>
            <a:off x="125580" y="213699"/>
            <a:ext cx="9030243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 sz="3600" dirty="0">
                <a:latin typeface="Vitesse" charset="0"/>
                <a:ea typeface="Vitesse" charset="0"/>
                <a:cs typeface="Vitesse" charset="0"/>
              </a:rPr>
              <a:t>Linear Regression: Example in R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52084" y="1007169"/>
            <a:ext cx="7717041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dirty="0">
                <a:latin typeface="Helvetica"/>
                <a:ea typeface="Helvetica Neue" charset="0"/>
                <a:cs typeface="Helvetica"/>
              </a:rPr>
              <a:t>A company, which sells medical supplies to hospitals, clinics, and doctor's offices, had considered the effectiveness of a new advertising program. </a:t>
            </a:r>
          </a:p>
          <a:p>
            <a:pPr>
              <a:defRPr/>
            </a:pPr>
            <a:endParaRPr lang="en-US" dirty="0">
              <a:latin typeface="Helvetica"/>
              <a:ea typeface="Helvetica Neue" charset="0"/>
              <a:cs typeface="Helvetica"/>
            </a:endParaRPr>
          </a:p>
          <a:p>
            <a:pPr>
              <a:defRPr/>
            </a:pPr>
            <a:r>
              <a:rPr lang="en-US" dirty="0">
                <a:latin typeface="Helvetica"/>
                <a:ea typeface="Helvetica Neue" charset="0"/>
                <a:cs typeface="Helvetica"/>
              </a:rPr>
              <a:t>Management wants to know if the advertisement is related to sales. This company intends to increase the sales with an effective advertising program.</a:t>
            </a:r>
          </a:p>
        </p:txBody>
      </p:sp>
      <p:sp>
        <p:nvSpPr>
          <p:cNvPr id="55300" name="TextBox 2"/>
          <p:cNvSpPr txBox="1">
            <a:spLocks noChangeArrowheads="1"/>
          </p:cNvSpPr>
          <p:nvPr/>
        </p:nvSpPr>
        <p:spPr bwMode="auto">
          <a:xfrm>
            <a:off x="163236" y="3185333"/>
            <a:ext cx="7583426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9pPr>
          </a:lstStyle>
          <a:p>
            <a:r>
              <a:rPr lang="en-US" altLang="en-US" b="1" dirty="0">
                <a:solidFill>
                  <a:srgbClr val="DFA70B"/>
                </a:solidFill>
                <a:latin typeface="Helvetica"/>
                <a:ea typeface="Helvetica Neue" charset="0"/>
                <a:cs typeface="Helvetica"/>
              </a:rPr>
              <a:t>What inferences can be made on the regression coefficients?</a:t>
            </a:r>
            <a:endParaRPr lang="en-US" altLang="en-US" dirty="0">
              <a:solidFill>
                <a:srgbClr val="DFA70B"/>
              </a:solidFill>
              <a:latin typeface="Helvetica"/>
              <a:ea typeface="Helvetica Neue" charset="0"/>
              <a:cs typeface="Helvetica"/>
            </a:endParaRPr>
          </a:p>
          <a:p>
            <a:endParaRPr lang="en-US" altLang="en-US" dirty="0">
              <a:solidFill>
                <a:schemeClr val="accent6">
                  <a:lumMod val="50000"/>
                </a:schemeClr>
              </a:solidFill>
              <a:latin typeface="Helvetica"/>
              <a:ea typeface="Helvetica Neue" charset="0"/>
              <a:cs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17324492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30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Text Box 2"/>
          <p:cNvSpPr txBox="1">
            <a:spLocks noChangeArrowheads="1"/>
          </p:cNvSpPr>
          <p:nvPr/>
        </p:nvSpPr>
        <p:spPr bwMode="auto">
          <a:xfrm>
            <a:off x="124384" y="205768"/>
            <a:ext cx="67437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 sz="3600" dirty="0">
                <a:latin typeface="Vitesse" charset="0"/>
                <a:ea typeface="Vitesse" charset="0"/>
                <a:cs typeface="Vitesse" charset="0"/>
              </a:rPr>
              <a:t>Example in R: Inference</a:t>
            </a:r>
          </a:p>
        </p:txBody>
      </p:sp>
      <p:sp>
        <p:nvSpPr>
          <p:cNvPr id="52226" name="Rectangle 3"/>
          <p:cNvSpPr>
            <a:spLocks noChangeArrowheads="1"/>
          </p:cNvSpPr>
          <p:nvPr/>
        </p:nvSpPr>
        <p:spPr bwMode="auto">
          <a:xfrm>
            <a:off x="3829050" y="1943100"/>
            <a:ext cx="68580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altLang="en-US">
              <a:latin typeface="Times New Roman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 Box 4"/>
              <p:cNvSpPr txBox="1">
                <a:spLocks noChangeArrowheads="1"/>
              </p:cNvSpPr>
              <p:nvPr/>
            </p:nvSpPr>
            <p:spPr bwMode="auto">
              <a:xfrm>
                <a:off x="144262" y="1009034"/>
                <a:ext cx="8063436" cy="32778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/>
                <a:ext uri="{91240B29-F687-4f45-9708-019B960494DF}"/>
              </a:extLst>
            </p:spPr>
            <p:txBody>
              <a:bodyPr wrap="square">
                <a:spAutoFit/>
              </a:bodyPr>
              <a:lstStyle>
                <a:lvl1pPr marL="457200" indent="-4572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AutoNum type="alphaLcPeriod"/>
                  <a:defRPr/>
                </a:pPr>
                <a:r>
                  <a:rPr lang="en-US" alt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What is the estimate of the coefficient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i="1" smtClean="0">
                            <a:latin typeface="Cambria Math" panose="02040503050406030204" pitchFamily="18" charset="0"/>
                            <a:cs typeface="Helvetica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Helvetica" panose="020B0604020202020204" pitchFamily="34" charset="0"/>
                          </a:rPr>
                          <m:t>𝛽</m:t>
                        </m:r>
                      </m:e>
                      <m:sub>
                        <m:r>
                          <a:rPr lang="en-US" altLang="en-US" b="0" i="1" smtClean="0">
                            <a:latin typeface="Cambria Math" panose="02040503050406030204" pitchFamily="18" charset="0"/>
                            <a:cs typeface="Helvetica" panose="020B0604020202020204" pitchFamily="34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 and its variance? What is its sampling distribution? </a:t>
                </a:r>
              </a:p>
              <a:p>
                <a:pPr>
                  <a:spcBef>
                    <a:spcPct val="50000"/>
                  </a:spcBef>
                  <a:buFontTx/>
                  <a:buAutoNum type="alphaLcPeriod"/>
                  <a:defRPr/>
                </a:pPr>
                <a:r>
                  <a:rPr lang="en-US" alt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What is the estimate of the coefficient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i="1">
                            <a:latin typeface="Cambria Math" panose="02040503050406030204" pitchFamily="18" charset="0"/>
                            <a:cs typeface="Helvetica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Helvetica" panose="020B0604020202020204" pitchFamily="34" charset="0"/>
                          </a:rPr>
                          <m:t>𝛽</m:t>
                        </m:r>
                      </m:e>
                      <m:sub>
                        <m:r>
                          <a:rPr lang="en-US" alt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Helvetica" panose="020B0604020202020204" pitchFamily="34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en-US" baseline="-250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 </a:t>
                </a:r>
                <a:r>
                  <a:rPr lang="en-US" alt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and its variance?</a:t>
                </a:r>
              </a:p>
              <a:p>
                <a:pPr>
                  <a:spcBef>
                    <a:spcPct val="50000"/>
                  </a:spcBef>
                  <a:buFontTx/>
                  <a:buAutoNum type="alphaLcPeriod"/>
                  <a:defRPr/>
                </a:pPr>
                <a:r>
                  <a:rPr lang="en-US" alt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Is the coefficient</a:t>
                </a:r>
                <a:r>
                  <a:rPr lang="en-US" altLang="en-US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i="1">
                            <a:latin typeface="Cambria Math" panose="02040503050406030204" pitchFamily="18" charset="0"/>
                            <a:cs typeface="Helvetica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Helvetica" panose="020B0604020202020204" pitchFamily="34" charset="0"/>
                          </a:rPr>
                          <m:t>𝛽</m:t>
                        </m:r>
                      </m:e>
                      <m:sub>
                        <m:r>
                          <a:rPr lang="en-US" altLang="en-US" i="1">
                            <a:latin typeface="Cambria Math" panose="02040503050406030204" pitchFamily="18" charset="0"/>
                            <a:cs typeface="Helvetica" panose="020B0604020202020204" pitchFamily="34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en-US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 </a:t>
                </a:r>
                <a:r>
                  <a:rPr lang="en-US" alt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statistically significant? What is the p-value of the test? Interpret. </a:t>
                </a:r>
              </a:p>
              <a:p>
                <a:pPr>
                  <a:spcBef>
                    <a:spcPct val="50000"/>
                  </a:spcBef>
                  <a:buFontTx/>
                  <a:buAutoNum type="alphaLcPeriod"/>
                  <a:defRPr/>
                </a:pPr>
                <a:r>
                  <a:rPr lang="en-US" alt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Is the coefficient</a:t>
                </a:r>
                <a:r>
                  <a:rPr lang="en-US" altLang="en-US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i="1">
                            <a:latin typeface="Cambria Math" panose="02040503050406030204" pitchFamily="18" charset="0"/>
                            <a:cs typeface="Helvetica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Helvetica" panose="020B0604020202020204" pitchFamily="34" charset="0"/>
                          </a:rPr>
                          <m:t>𝛽</m:t>
                        </m:r>
                      </m:e>
                      <m:sub>
                        <m:r>
                          <a:rPr lang="en-US" altLang="en-US" i="1">
                            <a:latin typeface="Cambria Math" panose="02040503050406030204" pitchFamily="18" charset="0"/>
                            <a:cs typeface="Helvetica" panose="020B0604020202020204" pitchFamily="34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en-US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 </a:t>
                </a:r>
                <a:r>
                  <a:rPr lang="en-US" alt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statistically positive? What is the p-value of the test? Interpret. </a:t>
                </a:r>
              </a:p>
              <a:p>
                <a:pPr>
                  <a:spcBef>
                    <a:spcPct val="50000"/>
                  </a:spcBef>
                  <a:buFontTx/>
                  <a:buAutoNum type="alphaLcPeriod"/>
                  <a:defRPr/>
                </a:pPr>
                <a:r>
                  <a:rPr lang="en-US" alt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Obtain the 99%</a:t>
                </a:r>
                <a:r>
                  <a:rPr lang="en-US" altLang="en-US" dirty="0">
                    <a:solidFill>
                      <a:schemeClr val="accent6">
                        <a:lumMod val="75000"/>
                      </a:schemeClr>
                    </a:solidFill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 </a:t>
                </a:r>
                <a:r>
                  <a:rPr lang="en-US" alt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confidence interval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i="1">
                            <a:latin typeface="Cambria Math" panose="02040503050406030204" pitchFamily="18" charset="0"/>
                            <a:cs typeface="Helvetica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Helvetica" panose="020B0604020202020204" pitchFamily="34" charset="0"/>
                          </a:rPr>
                          <m:t>𝛽</m:t>
                        </m:r>
                      </m:e>
                      <m:sub>
                        <m:r>
                          <a:rPr lang="en-US" altLang="en-US" i="1">
                            <a:latin typeface="Cambria Math" panose="02040503050406030204" pitchFamily="18" charset="0"/>
                            <a:cs typeface="Helvetica" panose="020B0604020202020204" pitchFamily="34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en-US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.</a:t>
                </a:r>
              </a:p>
              <a:p>
                <a:pPr eaLnBrk="1" hangingPunct="1">
                  <a:spcBef>
                    <a:spcPct val="50000"/>
                  </a:spcBef>
                  <a:buFontTx/>
                  <a:buAutoNum type="alphaLcPeriod"/>
                  <a:defRPr/>
                </a:pPr>
                <a:r>
                  <a:rPr lang="en-US" alt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What is the p-value of a hypothesis testing procedure?</a:t>
                </a:r>
              </a:p>
            </p:txBody>
          </p:sp>
        </mc:Choice>
        <mc:Fallback xmlns="">
          <p:sp>
            <p:nvSpPr>
              <p:cNvPr id="5" name="Text 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44262" y="1009034"/>
                <a:ext cx="8063436" cy="3277820"/>
              </a:xfrm>
              <a:prstGeom prst="rect">
                <a:avLst/>
              </a:prstGeom>
              <a:blipFill>
                <a:blip r:embed="rId2"/>
                <a:stretch>
                  <a:fillRect l="-530" t="-1117" b="-2235"/>
                </a:stretch>
              </a:blipFill>
              <a:ln>
                <a:noFill/>
              </a:ln>
              <a:extLst>
                <a:ext uri="{909E8E84-426E-40dd-AFC4-6F175D3DCCD1}"/>
                <a:ext uri="{91240B29-F687-4f45-9708-019B960494DF}"/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55194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Text Box 3"/>
          <p:cNvSpPr txBox="1">
            <a:spLocks noChangeArrowheads="1"/>
          </p:cNvSpPr>
          <p:nvPr/>
        </p:nvSpPr>
        <p:spPr bwMode="auto">
          <a:xfrm>
            <a:off x="140708" y="1016065"/>
            <a:ext cx="6940239" cy="2031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9pPr>
          </a:lstStyle>
          <a:p>
            <a:pPr eaLnBrk="1" hangingPunct="1"/>
            <a:r>
              <a:rPr lang="de-DE" altLang="en-US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summary(model)</a:t>
            </a:r>
          </a:p>
          <a:p>
            <a:pPr eaLnBrk="1" hangingPunct="1"/>
            <a:r>
              <a:rPr lang="de-DE" altLang="en-US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Coefficients:</a:t>
            </a:r>
          </a:p>
          <a:p>
            <a:pPr eaLnBrk="1" hangingPunct="1"/>
            <a:r>
              <a:rPr lang="de-DE" altLang="en-US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                    Estimate    Std. Error   t value    Pr(&gt;|t|)    </a:t>
            </a:r>
          </a:p>
          <a:p>
            <a:pPr eaLnBrk="1" hangingPunct="1"/>
            <a:r>
              <a:rPr lang="de-DE" altLang="en-US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(Intercept)  -157.3301   145.1912    -1.084        0.29    </a:t>
            </a:r>
          </a:p>
          <a:p>
            <a:pPr eaLnBrk="1" hangingPunct="1"/>
            <a:r>
              <a:rPr lang="de-DE" altLang="en-US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adv                  2.7721       0.2794     9.921  8.87e-10 </a:t>
            </a:r>
          </a:p>
          <a:p>
            <a:pPr eaLnBrk="1" hangingPunct="1"/>
            <a:r>
              <a:rPr lang="de-DE" altLang="en-US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Residual standard error: 101.4 on 23 degrees of freedom</a:t>
            </a:r>
          </a:p>
          <a:p>
            <a:pPr eaLnBrk="1" hangingPunct="1"/>
            <a:endParaRPr lang="de-DE" altLang="en-US" dirty="0">
              <a:latin typeface="Helvetica" panose="020B0604020202020204" pitchFamily="34" charset="0"/>
              <a:ea typeface="Helvetica Neue" charset="0"/>
              <a:cs typeface="Helvetica" panose="020B0604020202020204" pitchFamily="34" charset="0"/>
            </a:endParaRPr>
          </a:p>
        </p:txBody>
      </p:sp>
      <p:sp>
        <p:nvSpPr>
          <p:cNvPr id="53251" name="TextBox 1"/>
          <p:cNvSpPr txBox="1">
            <a:spLocks noChangeArrowheads="1"/>
          </p:cNvSpPr>
          <p:nvPr/>
        </p:nvSpPr>
        <p:spPr bwMode="auto">
          <a:xfrm>
            <a:off x="693695" y="2900124"/>
            <a:ext cx="5029200" cy="1869743"/>
          </a:xfrm>
          <a:prstGeom prst="rect">
            <a:avLst/>
          </a:prstGeom>
          <a:solidFill>
            <a:schemeClr val="bg1"/>
          </a:solidFill>
          <a:ln w="12700">
            <a:solidFill>
              <a:srgbClr val="385D8A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9pPr>
          </a:lstStyle>
          <a:p>
            <a:pPr eaLnBrk="1" hangingPunct="1">
              <a:buFont typeface="Calibri Light" charset="0"/>
              <a:buAutoNum type="alphaLcPeriod"/>
            </a:pPr>
            <a:r>
              <a:rPr lang="de-DE" altLang="en-US" sz="1650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The estimate for </a:t>
            </a:r>
            <a:r>
              <a:rPr lang="en-US" altLang="en-US" sz="1650" dirty="0">
                <a:latin typeface="Helvetica" panose="020B0604020202020204" pitchFamily="34" charset="0"/>
                <a:cs typeface="Helvetica" panose="020B0604020202020204" pitchFamily="34" charset="0"/>
              </a:rPr>
              <a:t>b</a:t>
            </a:r>
            <a:r>
              <a:rPr lang="en-US" altLang="en-US" sz="1650" baseline="-25000" dirty="0">
                <a:latin typeface="Helvetica" panose="020B0604020202020204" pitchFamily="34" charset="0"/>
                <a:cs typeface="Helvetica" panose="020B0604020202020204" pitchFamily="34" charset="0"/>
              </a:rPr>
              <a:t>1 </a:t>
            </a:r>
            <a:r>
              <a:rPr lang="en-US" altLang="en-US" sz="1650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is 2.7721. The variance estimate is </a:t>
            </a:r>
            <a:r>
              <a:rPr lang="en-US" altLang="en-US" sz="1650" dirty="0">
                <a:latin typeface="Helvetica" panose="020B0604020202020204" pitchFamily="34" charset="0"/>
                <a:cs typeface="Helvetica" panose="020B0604020202020204" pitchFamily="34" charset="0"/>
              </a:rPr>
              <a:t>0.2794</a:t>
            </a:r>
            <a:r>
              <a:rPr lang="en-US" altLang="en-US" sz="1650" baseline="30000" dirty="0">
                <a:latin typeface="Helvetica" panose="020B0604020202020204" pitchFamily="34" charset="0"/>
                <a:cs typeface="Helvetica" panose="020B0604020202020204" pitchFamily="34" charset="0"/>
              </a:rPr>
              <a:t>2</a:t>
            </a:r>
            <a:r>
              <a:rPr lang="en-US" altLang="en-US" sz="1650" dirty="0">
                <a:latin typeface="Helvetica" panose="020B0604020202020204" pitchFamily="34" charset="0"/>
                <a:cs typeface="Helvetica" panose="020B0604020202020204" pitchFamily="34" charset="0"/>
              </a:rPr>
              <a:t>. </a:t>
            </a:r>
            <a:r>
              <a:rPr lang="en-US" altLang="en-US" sz="1650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The sampling distribution is a t-distribution with 23 degrees of freedom.</a:t>
            </a:r>
          </a:p>
          <a:p>
            <a:pPr eaLnBrk="1" hangingPunct="1">
              <a:buFont typeface="Calibri Light" charset="0"/>
              <a:buAutoNum type="alphaLcPeriod"/>
            </a:pPr>
            <a:r>
              <a:rPr lang="en-US" altLang="en-US" sz="1650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The estimate for </a:t>
            </a:r>
            <a:r>
              <a:rPr lang="en-US" altLang="en-US" sz="1650" dirty="0">
                <a:latin typeface="Helvetica" panose="020B0604020202020204" pitchFamily="34" charset="0"/>
                <a:cs typeface="Helvetica" panose="020B0604020202020204" pitchFamily="34" charset="0"/>
              </a:rPr>
              <a:t>b</a:t>
            </a:r>
            <a:r>
              <a:rPr lang="en-US" altLang="en-US" sz="1650" baseline="-25000" dirty="0">
                <a:latin typeface="Helvetica" panose="020B0604020202020204" pitchFamily="34" charset="0"/>
                <a:cs typeface="Helvetica" panose="020B0604020202020204" pitchFamily="34" charset="0"/>
              </a:rPr>
              <a:t>0</a:t>
            </a:r>
            <a:r>
              <a:rPr lang="en-US" altLang="en-US" sz="165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n-US" altLang="en-US" sz="1650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is -157.3301. The variance estimate is 145.1912</a:t>
            </a:r>
            <a:r>
              <a:rPr lang="en-US" altLang="en-US" sz="1650" baseline="30000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2</a:t>
            </a:r>
            <a:r>
              <a:rPr lang="en-US" altLang="en-US" sz="1650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.</a:t>
            </a:r>
          </a:p>
          <a:p>
            <a:pPr eaLnBrk="1" hangingPunct="1">
              <a:buFont typeface="Calibri Light" charset="0"/>
              <a:buAutoNum type="alphaLcPeriod"/>
            </a:pPr>
            <a:r>
              <a:rPr lang="en-US" altLang="en-US" sz="1650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The estimate for</a:t>
            </a:r>
            <a:r>
              <a:rPr lang="en-US" altLang="en-US" sz="1650" dirty="0">
                <a:latin typeface="Helvetica" panose="020B0604020202020204" pitchFamily="34" charset="0"/>
                <a:cs typeface="Helvetica" panose="020B0604020202020204" pitchFamily="34" charset="0"/>
              </a:rPr>
              <a:t> b</a:t>
            </a:r>
            <a:r>
              <a:rPr lang="en-US" altLang="en-US" sz="1650" baseline="-25000" dirty="0">
                <a:latin typeface="Helvetica" panose="020B0604020202020204" pitchFamily="34" charset="0"/>
                <a:cs typeface="Helvetica" panose="020B0604020202020204" pitchFamily="34" charset="0"/>
              </a:rPr>
              <a:t>1 </a:t>
            </a:r>
            <a:r>
              <a:rPr lang="en-US" altLang="en-US" sz="1650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is statistically significant, as evidenced by a p-value of 8.87×10</a:t>
            </a:r>
            <a:r>
              <a:rPr lang="en-US" altLang="en-US" sz="1650" baseline="30000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-10</a:t>
            </a:r>
            <a:endParaRPr lang="en-US" altLang="en-US" sz="1650" dirty="0">
              <a:latin typeface="Helvetica" panose="020B0604020202020204" pitchFamily="34" charset="0"/>
              <a:ea typeface="Helvetica Neue" charset="0"/>
              <a:cs typeface="Helvetica" panose="020B0604020202020204" pitchFamily="34" charset="0"/>
            </a:endParaRPr>
          </a:p>
        </p:txBody>
      </p:sp>
      <p:sp>
        <p:nvSpPr>
          <p:cNvPr id="5" name="Oval 4"/>
          <p:cNvSpPr/>
          <p:nvPr/>
        </p:nvSpPr>
        <p:spPr>
          <a:xfrm>
            <a:off x="3083771" y="2900124"/>
            <a:ext cx="775358" cy="363946"/>
          </a:xfrm>
          <a:prstGeom prst="ellipse">
            <a:avLst/>
          </a:prstGeom>
          <a:noFill/>
          <a:ln w="19050">
            <a:solidFill>
              <a:srgbClr val="385D8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350"/>
          </a:p>
        </p:txBody>
      </p:sp>
      <p:sp>
        <p:nvSpPr>
          <p:cNvPr id="7" name="Oval 6"/>
          <p:cNvSpPr/>
          <p:nvPr/>
        </p:nvSpPr>
        <p:spPr>
          <a:xfrm>
            <a:off x="1591486" y="2193226"/>
            <a:ext cx="939763" cy="233949"/>
          </a:xfrm>
          <a:prstGeom prst="ellipse">
            <a:avLst/>
          </a:prstGeom>
          <a:noFill/>
          <a:ln w="19050">
            <a:solidFill>
              <a:srgbClr val="385D8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350"/>
          </a:p>
        </p:txBody>
      </p:sp>
      <p:sp>
        <p:nvSpPr>
          <p:cNvPr id="9" name="Oval 8"/>
          <p:cNvSpPr/>
          <p:nvPr/>
        </p:nvSpPr>
        <p:spPr>
          <a:xfrm>
            <a:off x="2797483" y="2169241"/>
            <a:ext cx="896282" cy="257934"/>
          </a:xfrm>
          <a:prstGeom prst="ellipse">
            <a:avLst/>
          </a:prstGeom>
          <a:noFill/>
          <a:ln w="19050">
            <a:solidFill>
              <a:srgbClr val="385D8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350"/>
          </a:p>
        </p:txBody>
      </p:sp>
      <p:sp>
        <p:nvSpPr>
          <p:cNvPr id="10" name="Oval 9"/>
          <p:cNvSpPr/>
          <p:nvPr/>
        </p:nvSpPr>
        <p:spPr>
          <a:xfrm>
            <a:off x="2126338" y="3133933"/>
            <a:ext cx="840581" cy="353460"/>
          </a:xfrm>
          <a:prstGeom prst="ellipse">
            <a:avLst/>
          </a:prstGeom>
          <a:noFill/>
          <a:ln w="19050">
            <a:solidFill>
              <a:srgbClr val="385D8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350"/>
          </a:p>
        </p:txBody>
      </p:sp>
      <p:sp>
        <p:nvSpPr>
          <p:cNvPr id="11" name="Oval 10"/>
          <p:cNvSpPr/>
          <p:nvPr/>
        </p:nvSpPr>
        <p:spPr>
          <a:xfrm>
            <a:off x="1347956" y="1897123"/>
            <a:ext cx="1113106" cy="272118"/>
          </a:xfrm>
          <a:prstGeom prst="ellipse">
            <a:avLst/>
          </a:prstGeom>
          <a:noFill/>
          <a:ln w="19050">
            <a:solidFill>
              <a:srgbClr val="385D8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350"/>
          </a:p>
        </p:txBody>
      </p:sp>
      <p:sp>
        <p:nvSpPr>
          <p:cNvPr id="12" name="Oval 11"/>
          <p:cNvSpPr/>
          <p:nvPr/>
        </p:nvSpPr>
        <p:spPr>
          <a:xfrm>
            <a:off x="3083771" y="3640509"/>
            <a:ext cx="1113725" cy="389931"/>
          </a:xfrm>
          <a:prstGeom prst="ellipse">
            <a:avLst/>
          </a:prstGeom>
          <a:noFill/>
          <a:ln w="19050">
            <a:solidFill>
              <a:srgbClr val="385D8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350"/>
          </a:p>
        </p:txBody>
      </p:sp>
      <p:sp>
        <p:nvSpPr>
          <p:cNvPr id="13" name="Oval 12"/>
          <p:cNvSpPr/>
          <p:nvPr/>
        </p:nvSpPr>
        <p:spPr>
          <a:xfrm>
            <a:off x="2614827" y="1838146"/>
            <a:ext cx="995361" cy="331095"/>
          </a:xfrm>
          <a:prstGeom prst="ellipse">
            <a:avLst/>
          </a:prstGeom>
          <a:noFill/>
          <a:ln w="19050">
            <a:solidFill>
              <a:srgbClr val="385D8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350"/>
          </a:p>
        </p:txBody>
      </p:sp>
      <p:sp>
        <p:nvSpPr>
          <p:cNvPr id="14" name="Oval 13"/>
          <p:cNvSpPr/>
          <p:nvPr/>
        </p:nvSpPr>
        <p:spPr>
          <a:xfrm>
            <a:off x="2126338" y="3895622"/>
            <a:ext cx="1059097" cy="353460"/>
          </a:xfrm>
          <a:prstGeom prst="ellipse">
            <a:avLst/>
          </a:prstGeom>
          <a:noFill/>
          <a:ln w="19050">
            <a:solidFill>
              <a:srgbClr val="385D8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350"/>
          </a:p>
        </p:txBody>
      </p:sp>
      <p:sp>
        <p:nvSpPr>
          <p:cNvPr id="15" name="Oval 14"/>
          <p:cNvSpPr/>
          <p:nvPr/>
        </p:nvSpPr>
        <p:spPr>
          <a:xfrm>
            <a:off x="4511573" y="2129096"/>
            <a:ext cx="1166761" cy="353616"/>
          </a:xfrm>
          <a:prstGeom prst="ellipse">
            <a:avLst/>
          </a:prstGeom>
          <a:noFill/>
          <a:ln w="19050">
            <a:solidFill>
              <a:srgbClr val="385D8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350"/>
          </a:p>
        </p:txBody>
      </p:sp>
      <p:sp>
        <p:nvSpPr>
          <p:cNvPr id="16" name="Oval 15"/>
          <p:cNvSpPr/>
          <p:nvPr/>
        </p:nvSpPr>
        <p:spPr>
          <a:xfrm>
            <a:off x="3479532" y="4393880"/>
            <a:ext cx="1143000" cy="376688"/>
          </a:xfrm>
          <a:prstGeom prst="ellipse">
            <a:avLst/>
          </a:prstGeom>
          <a:noFill/>
          <a:ln w="19050">
            <a:solidFill>
              <a:srgbClr val="385D8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350"/>
          </a:p>
        </p:txBody>
      </p:sp>
      <p:sp>
        <p:nvSpPr>
          <p:cNvPr id="17" name="Text Box 2"/>
          <p:cNvSpPr txBox="1">
            <a:spLocks noChangeArrowheads="1"/>
          </p:cNvSpPr>
          <p:nvPr/>
        </p:nvSpPr>
        <p:spPr bwMode="auto">
          <a:xfrm>
            <a:off x="125434" y="203364"/>
            <a:ext cx="59436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 sz="3600" dirty="0">
                <a:latin typeface="Vitesse" charset="0"/>
                <a:ea typeface="Vitesse" charset="0"/>
                <a:cs typeface="Vitesse" charset="0"/>
              </a:rPr>
              <a:t>Example in R (cont’d)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xmlns="" id="{A21CD9AE-CF1C-4E83-8C4E-15CB030DF1FF}"/>
              </a:ext>
            </a:extLst>
          </p:cNvPr>
          <p:cNvSpPr/>
          <p:nvPr/>
        </p:nvSpPr>
        <p:spPr>
          <a:xfrm>
            <a:off x="3627875" y="2447119"/>
            <a:ext cx="401905" cy="257934"/>
          </a:xfrm>
          <a:prstGeom prst="ellipse">
            <a:avLst/>
          </a:prstGeom>
          <a:noFill/>
          <a:ln w="19050">
            <a:solidFill>
              <a:srgbClr val="385D8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35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xmlns="" id="{09B528C2-42CF-441F-8C34-7BDBAA64F3CA}"/>
              </a:ext>
            </a:extLst>
          </p:cNvPr>
          <p:cNvSpPr/>
          <p:nvPr/>
        </p:nvSpPr>
        <p:spPr>
          <a:xfrm>
            <a:off x="2837825" y="3432247"/>
            <a:ext cx="387952" cy="288387"/>
          </a:xfrm>
          <a:prstGeom prst="ellipse">
            <a:avLst/>
          </a:prstGeom>
          <a:noFill/>
          <a:ln w="19050">
            <a:solidFill>
              <a:srgbClr val="385D8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350"/>
          </a:p>
        </p:txBody>
      </p:sp>
    </p:spTree>
    <p:extLst>
      <p:ext uri="{BB962C8B-B14F-4D97-AF65-F5344CB8AC3E}">
        <p14:creationId xmlns:p14="http://schemas.microsoft.com/office/powerpoint/2010/main" val="8925678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  <p:bldP spid="7" grpId="0" animBg="1"/>
      <p:bldP spid="7" grpId="1" animBg="1"/>
      <p:bldP spid="9" grpId="0" animBg="1"/>
      <p:bldP spid="9" grpId="1" animBg="1"/>
      <p:bldP spid="10" grpId="0" animBg="1"/>
      <p:bldP spid="10" grpId="1" animBg="1"/>
      <p:bldP spid="11" grpId="0" animBg="1"/>
      <p:bldP spid="11" grpId="1" animBg="1"/>
      <p:bldP spid="12" grpId="0" animBg="1"/>
      <p:bldP spid="12" grpId="1" animBg="1"/>
      <p:bldP spid="13" grpId="0" animBg="1"/>
      <p:bldP spid="13" grpId="1" animBg="1"/>
      <p:bldP spid="14" grpId="0" animBg="1"/>
      <p:bldP spid="14" grpId="1" animBg="1"/>
      <p:bldP spid="15" grpId="0" animBg="1"/>
      <p:bldP spid="16" grpId="0" animBg="1"/>
      <p:bldP spid="18" grpId="0" animBg="1"/>
      <p:bldP spid="18" grpId="1" animBg="1"/>
      <p:bldP spid="19" grpId="0" animBg="1"/>
      <p:bldP spid="19" grpId="1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Text Box 3"/>
          <p:cNvSpPr txBox="1">
            <a:spLocks noChangeArrowheads="1"/>
          </p:cNvSpPr>
          <p:nvPr/>
        </p:nvSpPr>
        <p:spPr bwMode="auto">
          <a:xfrm>
            <a:off x="5067586" y="1052072"/>
            <a:ext cx="3968135" cy="18466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9pPr>
          </a:lstStyle>
          <a:p>
            <a:r>
              <a:rPr lang="en-US" altLang="en-US" sz="16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tvalue</a:t>
            </a:r>
            <a:r>
              <a:rPr lang="en-US" altLang="en-US" sz="16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 = </a:t>
            </a:r>
            <a:r>
              <a:rPr lang="de-DE" altLang="en-US" sz="1600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9.921</a:t>
            </a:r>
            <a:endParaRPr lang="en-US" altLang="en-US" sz="1600" i="1" dirty="0">
              <a:latin typeface="Helvetica" panose="020B0604020202020204" pitchFamily="34" charset="0"/>
              <a:ea typeface="Helvetica Neue" charset="0"/>
              <a:cs typeface="Helvetica" panose="020B0604020202020204" pitchFamily="34" charset="0"/>
            </a:endParaRPr>
          </a:p>
          <a:p>
            <a:pPr eaLnBrk="1" hangingPunct="1"/>
            <a:r>
              <a:rPr lang="en-US" altLang="en-US" sz="16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1- </a:t>
            </a:r>
            <a:r>
              <a:rPr lang="en-US" altLang="en-US" sz="16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pt</a:t>
            </a:r>
            <a:r>
              <a:rPr lang="en-US" altLang="en-US" sz="16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(</a:t>
            </a:r>
            <a:r>
              <a:rPr lang="en-US" altLang="en-US" sz="16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tvalue</a:t>
            </a:r>
            <a:r>
              <a:rPr lang="en-US" altLang="en-US" sz="16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, 23)</a:t>
            </a:r>
          </a:p>
          <a:p>
            <a:pPr eaLnBrk="1" hangingPunct="1"/>
            <a:r>
              <a:rPr lang="en-US" altLang="en-US" sz="1600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[1] 4.433214e-10</a:t>
            </a:r>
            <a:endParaRPr lang="de-DE" altLang="en-US" sz="1600" dirty="0">
              <a:latin typeface="Helvetica" panose="020B0604020202020204" pitchFamily="34" charset="0"/>
              <a:ea typeface="Helvetica Neue" charset="0"/>
              <a:cs typeface="Helvetica" panose="020B0604020202020204" pitchFamily="34" charset="0"/>
            </a:endParaRPr>
          </a:p>
          <a:p>
            <a:pPr eaLnBrk="1" hangingPunct="1"/>
            <a:r>
              <a:rPr lang="de-DE" altLang="en-US" sz="16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confint(model, level=0.99)</a:t>
            </a:r>
          </a:p>
          <a:p>
            <a:pPr eaLnBrk="1" hangingPunct="1"/>
            <a:r>
              <a:rPr lang="de-DE" altLang="en-US" sz="1600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                             0.5 %         99.5 %</a:t>
            </a:r>
          </a:p>
          <a:p>
            <a:pPr eaLnBrk="1" hangingPunct="1"/>
            <a:r>
              <a:rPr lang="de-DE" altLang="en-US" sz="1600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(Intercept)  -564.930546   250.27032</a:t>
            </a:r>
          </a:p>
          <a:p>
            <a:pPr eaLnBrk="1" hangingPunct="1"/>
            <a:r>
              <a:rPr lang="de-DE" altLang="en-US" sz="1600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adv                  1.987712       3.55652</a:t>
            </a:r>
            <a:endParaRPr lang="is-IS" altLang="en-US" sz="1600" dirty="0">
              <a:latin typeface="Helvetica" panose="020B0604020202020204" pitchFamily="34" charset="0"/>
              <a:ea typeface="Helvetica Neue" charset="0"/>
              <a:cs typeface="Helvetica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4275" name="TextBox 4"/>
              <p:cNvSpPr txBox="1">
                <a:spLocks noChangeArrowheads="1"/>
              </p:cNvSpPr>
              <p:nvPr/>
            </p:nvSpPr>
            <p:spPr bwMode="auto">
              <a:xfrm>
                <a:off x="696702" y="1031904"/>
                <a:ext cx="4039261" cy="3293209"/>
              </a:xfrm>
              <a:prstGeom prst="rect">
                <a:avLst/>
              </a:prstGeom>
              <a:noFill/>
              <a:ln w="12700">
                <a:solidFill>
                  <a:srgbClr val="385D8A"/>
                </a:solidFill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5pPr>
                <a:lvl6pPr marL="25146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6pPr>
                <a:lvl7pPr marL="29718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7pPr>
                <a:lvl8pPr marL="34290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8pPr>
                <a:lvl9pPr marL="38862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9pPr>
              </a:lstStyle>
              <a:p>
                <a:pPr marL="344488" indent="-344488"/>
                <a:r>
                  <a:rPr lang="de-DE" altLang="en-US" sz="1600" dirty="0" smtClean="0">
                    <a:solidFill>
                      <a:schemeClr val="bg2">
                        <a:lumMod val="25000"/>
                      </a:schemeClr>
                    </a:solidFill>
                    <a:latin typeface="Helvetica Neue" charset="0"/>
                    <a:ea typeface="Helvetica Neue" charset="0"/>
                    <a:cs typeface="Helvetica Neue" charset="0"/>
                  </a:rPr>
                  <a:t>d.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1600" i="1">
                            <a:latin typeface="Cambria Math" panose="02040503050406030204" pitchFamily="18" charset="0"/>
                            <a:cs typeface="Helvetica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Helvetica" panose="020B0604020202020204" pitchFamily="34" charset="0"/>
                          </a:rPr>
                          <m:t>𝛽</m:t>
                        </m:r>
                      </m:e>
                      <m:sub>
                        <m:r>
                          <a:rPr lang="en-US" altLang="en-US" sz="1600" i="1">
                            <a:latin typeface="Cambria Math" panose="02040503050406030204" pitchFamily="18" charset="0"/>
                            <a:cs typeface="Helvetica" panose="020B0604020202020204" pitchFamily="34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en-US" sz="1600" dirty="0">
                    <a:solidFill>
                      <a:schemeClr val="bg2">
                        <a:lumMod val="25000"/>
                      </a:schemeClr>
                    </a:solidFill>
                    <a:latin typeface="Times New Roman" charset="0"/>
                  </a:rPr>
                  <a:t> </a:t>
                </a:r>
                <a:r>
                  <a:rPr lang="en-US" altLang="en-US" sz="1600" dirty="0">
                    <a:solidFill>
                      <a:schemeClr val="bg2">
                        <a:lumMod val="25000"/>
                      </a:schemeClr>
                    </a:solidFill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statistically positive: </a:t>
                </a:r>
                <a:r>
                  <a:rPr lang="en-US" altLang="en-US" sz="1600" dirty="0">
                    <a:solidFill>
                      <a:schemeClr val="bg2">
                        <a:lumMod val="25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H</a:t>
                </a:r>
                <a:r>
                  <a:rPr lang="en-US" altLang="en-US" sz="1600" baseline="-25000" dirty="0">
                    <a:solidFill>
                      <a:schemeClr val="bg2">
                        <a:lumMod val="25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US" altLang="en-US" sz="1600" dirty="0">
                    <a:solidFill>
                      <a:schemeClr val="bg2">
                        <a:lumMod val="25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:</a:t>
                </a:r>
                <a:r>
                  <a:rPr lang="en-US" altLang="en-US" sz="1600" dirty="0">
                    <a:solidFill>
                      <a:schemeClr val="bg2">
                        <a:lumMod val="25000"/>
                      </a:schemeClr>
                    </a:solidFill>
                    <a:latin typeface="Times New Roman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1600" i="1">
                            <a:latin typeface="Cambria Math" panose="02040503050406030204" pitchFamily="18" charset="0"/>
                            <a:cs typeface="Helvetica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Helvetica" panose="020B0604020202020204" pitchFamily="34" charset="0"/>
                          </a:rPr>
                          <m:t>𝛽</m:t>
                        </m:r>
                      </m:e>
                      <m:sub>
                        <m:r>
                          <a:rPr lang="en-US" altLang="en-US" sz="1600" i="1">
                            <a:latin typeface="Cambria Math" panose="02040503050406030204" pitchFamily="18" charset="0"/>
                            <a:cs typeface="Helvetica" panose="020B0604020202020204" pitchFamily="34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en-US" sz="1600" dirty="0">
                    <a:solidFill>
                      <a:schemeClr val="bg2">
                        <a:lumMod val="25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&gt;0</a:t>
                </a:r>
                <a:endParaRPr lang="de-DE" altLang="en-US" sz="1600" dirty="0">
                  <a:solidFill>
                    <a:schemeClr val="bg2">
                      <a:lumMod val="25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344488"/>
                <a:r>
                  <a:rPr lang="de-DE" altLang="en-US" sz="1600" dirty="0">
                    <a:solidFill>
                      <a:schemeClr val="bg2">
                        <a:lumMod val="25000"/>
                      </a:schemeClr>
                    </a:solidFill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We </a:t>
                </a:r>
                <a:r>
                  <a:rPr lang="en-US" altLang="en-US" sz="1600" dirty="0">
                    <a:solidFill>
                      <a:schemeClr val="bg2">
                        <a:lumMod val="25000"/>
                      </a:schemeClr>
                    </a:solidFill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accept the alternative hypothesis because p-value is 4.43×10-10. (The test statistic is </a:t>
                </a:r>
                <a:r>
                  <a:rPr lang="de-DE" altLang="en-US" sz="1600" dirty="0">
                    <a:solidFill>
                      <a:schemeClr val="bg2">
                        <a:lumMod val="25000"/>
                      </a:schemeClr>
                    </a:solidFill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9.921</a:t>
                </a:r>
                <a:r>
                  <a:rPr lang="en-US" altLang="en-US" sz="1600" dirty="0">
                    <a:solidFill>
                      <a:schemeClr val="bg2">
                        <a:lumMod val="25000"/>
                      </a:schemeClr>
                    </a:solidFill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.)</a:t>
                </a:r>
              </a:p>
              <a:p>
                <a:pPr marL="344488" indent="-344488" eaLnBrk="1" hangingPunct="1"/>
                <a:endParaRPr lang="en-US" altLang="en-US" sz="1600" dirty="0">
                  <a:solidFill>
                    <a:schemeClr val="bg2">
                      <a:lumMod val="25000"/>
                    </a:schemeClr>
                  </a:solidFill>
                  <a:latin typeface="Times New Roman" charset="0"/>
                </a:endParaRPr>
              </a:p>
              <a:p>
                <a:pPr marL="344488" indent="-344488"/>
                <a:r>
                  <a:rPr lang="en-US" altLang="en-US" sz="1600" dirty="0" smtClean="0">
                    <a:solidFill>
                      <a:schemeClr val="bg2">
                        <a:lumMod val="25000"/>
                      </a:schemeClr>
                    </a:solidFill>
                    <a:latin typeface="Helvetica Neue" charset="0"/>
                    <a:ea typeface="Helvetica Neue" charset="0"/>
                    <a:cs typeface="Helvetica Neue" charset="0"/>
                  </a:rPr>
                  <a:t>e.   </a:t>
                </a:r>
                <a:r>
                  <a:rPr lang="en-US" altLang="en-US" sz="1600" dirty="0">
                    <a:solidFill>
                      <a:schemeClr val="bg2">
                        <a:lumMod val="25000"/>
                      </a:schemeClr>
                    </a:solidFill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The </a:t>
                </a:r>
                <a:r>
                  <a:rPr lang="en-US" altLang="en-US" sz="1600" dirty="0" err="1">
                    <a:solidFill>
                      <a:schemeClr val="bg2">
                        <a:lumMod val="25000"/>
                      </a:schemeClr>
                    </a:solidFill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the</a:t>
                </a:r>
                <a:r>
                  <a:rPr lang="en-US" altLang="en-US" sz="1600" dirty="0">
                    <a:solidFill>
                      <a:schemeClr val="bg2">
                        <a:lumMod val="25000"/>
                      </a:schemeClr>
                    </a:solidFill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 99% confidence interval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1600" i="1">
                            <a:latin typeface="Cambria Math" panose="02040503050406030204" pitchFamily="18" charset="0"/>
                            <a:cs typeface="Helvetica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Helvetica" panose="020B0604020202020204" pitchFamily="34" charset="0"/>
                          </a:rPr>
                          <m:t>𝛽</m:t>
                        </m:r>
                      </m:e>
                      <m:sub>
                        <m:r>
                          <a:rPr lang="en-US" altLang="en-US" sz="1600" i="1">
                            <a:latin typeface="Cambria Math" panose="02040503050406030204" pitchFamily="18" charset="0"/>
                            <a:cs typeface="Helvetica" panose="020B0604020202020204" pitchFamily="34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en-US" sz="1600" dirty="0">
                    <a:solidFill>
                      <a:schemeClr val="bg2">
                        <a:lumMod val="25000"/>
                      </a:schemeClr>
                    </a:solidFill>
                    <a:latin typeface="Times New Roman" charset="0"/>
                  </a:rPr>
                  <a:t> </a:t>
                </a:r>
                <a:r>
                  <a:rPr lang="en-US" altLang="en-US" sz="1600" dirty="0">
                    <a:solidFill>
                      <a:schemeClr val="bg2">
                        <a:lumMod val="25000"/>
                      </a:schemeClr>
                    </a:solidFill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is (1.988, 3.557)</a:t>
                </a:r>
              </a:p>
              <a:p>
                <a:pPr marL="344488" indent="-344488" eaLnBrk="1" hangingPunct="1"/>
                <a:endParaRPr lang="en-US" altLang="en-US" sz="1600" dirty="0">
                  <a:solidFill>
                    <a:schemeClr val="bg2">
                      <a:lumMod val="25000"/>
                    </a:schemeClr>
                  </a:solidFill>
                  <a:latin typeface="Helvetica Neue" charset="0"/>
                  <a:ea typeface="Helvetica Neue" charset="0"/>
                  <a:cs typeface="Helvetica Neue" charset="0"/>
                </a:endParaRPr>
              </a:p>
              <a:p>
                <a:pPr marL="344488" indent="-344488" eaLnBrk="1" hangingPunct="1"/>
                <a:r>
                  <a:rPr lang="en-US" altLang="en-US" sz="1600" dirty="0" smtClean="0">
                    <a:solidFill>
                      <a:schemeClr val="bg2">
                        <a:lumMod val="25000"/>
                      </a:schemeClr>
                    </a:solidFill>
                    <a:latin typeface="Helvetica Neue" charset="0"/>
                    <a:ea typeface="Helvetica Neue" charset="0"/>
                    <a:cs typeface="Helvetica Neue" charset="0"/>
                  </a:rPr>
                  <a:t>f.  </a:t>
                </a:r>
                <a:r>
                  <a:rPr lang="en-US" altLang="en-US" sz="1600" dirty="0">
                    <a:solidFill>
                      <a:schemeClr val="bg2">
                        <a:lumMod val="25000"/>
                      </a:schemeClr>
                    </a:solidFill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The p-value is </a:t>
                </a:r>
                <a:r>
                  <a:rPr lang="en-US" altLang="en-US" sz="1600" i="1" dirty="0">
                    <a:solidFill>
                      <a:schemeClr val="bg2">
                        <a:lumMod val="25000"/>
                      </a:schemeClr>
                    </a:solidFill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a measure of how </a:t>
                </a:r>
                <a:r>
                  <a:rPr lang="en-US" altLang="en-US" sz="1600" i="1" dirty="0" err="1">
                    <a:solidFill>
                      <a:schemeClr val="bg2">
                        <a:lumMod val="25000"/>
                      </a:schemeClr>
                    </a:solidFill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rejectable</a:t>
                </a:r>
                <a:r>
                  <a:rPr lang="en-US" altLang="en-US" sz="1600" i="1" dirty="0">
                    <a:solidFill>
                      <a:schemeClr val="bg2">
                        <a:lumMod val="25000"/>
                      </a:schemeClr>
                    </a:solidFill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 the null hypothesis is</a:t>
                </a:r>
                <a:r>
                  <a:rPr lang="en-US" altLang="en-US" sz="1600" dirty="0">
                    <a:solidFill>
                      <a:schemeClr val="bg2">
                        <a:lumMod val="25000"/>
                      </a:schemeClr>
                    </a:solidFill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. The smaller the p-value, the more </a:t>
                </a:r>
                <a:r>
                  <a:rPr lang="en-US" altLang="en-US" sz="1600" dirty="0" err="1">
                    <a:solidFill>
                      <a:schemeClr val="bg2">
                        <a:lumMod val="25000"/>
                      </a:schemeClr>
                    </a:solidFill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rejectable</a:t>
                </a:r>
                <a:r>
                  <a:rPr lang="en-US" altLang="en-US" sz="1600" dirty="0">
                    <a:solidFill>
                      <a:schemeClr val="bg2">
                        <a:lumMod val="25000"/>
                      </a:schemeClr>
                    </a:solidFill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 the null hypothesis is for the observed data</a:t>
                </a:r>
                <a:r>
                  <a:rPr lang="en-US" altLang="en-US" sz="1600" dirty="0">
                    <a:solidFill>
                      <a:schemeClr val="bg2">
                        <a:lumMod val="25000"/>
                      </a:schemeClr>
                    </a:solidFill>
                    <a:latin typeface="Helvetica Neue" charset="0"/>
                    <a:ea typeface="Helvetica Neue" charset="0"/>
                    <a:cs typeface="Helvetica Neue" charset="0"/>
                  </a:rPr>
                  <a:t>.</a:t>
                </a:r>
                <a:endParaRPr lang="de-DE" altLang="en-US" sz="1600" dirty="0">
                  <a:solidFill>
                    <a:schemeClr val="bg2">
                      <a:lumMod val="25000"/>
                    </a:schemeClr>
                  </a:solidFill>
                  <a:latin typeface="Helvetica Neue" charset="0"/>
                  <a:ea typeface="Helvetica Neue" charset="0"/>
                  <a:cs typeface="Helvetica Neue" charset="0"/>
                </a:endParaRPr>
              </a:p>
            </p:txBody>
          </p:sp>
        </mc:Choice>
        <mc:Fallback>
          <p:sp>
            <p:nvSpPr>
              <p:cNvPr id="5427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96702" y="1031904"/>
                <a:ext cx="4039261" cy="3293209"/>
              </a:xfrm>
              <a:prstGeom prst="rect">
                <a:avLst/>
              </a:prstGeom>
              <a:blipFill rotWithShape="0">
                <a:blip r:embed="rId3"/>
                <a:stretch>
                  <a:fillRect l="-602" t="-552" r="-752" b="-1105"/>
                </a:stretch>
              </a:blipFill>
              <a:ln w="12700">
                <a:solidFill>
                  <a:srgbClr val="385D8A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Oval 10"/>
          <p:cNvSpPr/>
          <p:nvPr/>
        </p:nvSpPr>
        <p:spPr>
          <a:xfrm flipV="1">
            <a:off x="5096290" y="1280720"/>
            <a:ext cx="1606791" cy="317499"/>
          </a:xfrm>
          <a:prstGeom prst="ellipse">
            <a:avLst/>
          </a:prstGeom>
          <a:noFill/>
          <a:ln w="19050">
            <a:solidFill>
              <a:srgbClr val="385D8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350"/>
          </a:p>
        </p:txBody>
      </p:sp>
      <p:sp>
        <p:nvSpPr>
          <p:cNvPr id="9" name="TextBox 6"/>
          <p:cNvSpPr txBox="1">
            <a:spLocks noChangeArrowheads="1"/>
          </p:cNvSpPr>
          <p:nvPr/>
        </p:nvSpPr>
        <p:spPr bwMode="auto">
          <a:xfrm>
            <a:off x="5168344" y="2986892"/>
            <a:ext cx="3313047" cy="1323439"/>
          </a:xfrm>
          <a:prstGeom prst="rect">
            <a:avLst/>
          </a:prstGeom>
          <a:solidFill>
            <a:schemeClr val="bg1"/>
          </a:solidFill>
          <a:ln w="12700">
            <a:solidFill>
              <a:srgbClr val="385D8A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9pPr>
          </a:lstStyle>
          <a:p>
            <a:pPr eaLnBrk="1" hangingPunct="1"/>
            <a:r>
              <a:rPr lang="en-US" altLang="en-US" sz="1600" b="1" dirty="0">
                <a:solidFill>
                  <a:schemeClr val="bg2">
                    <a:lumMod val="25000"/>
                  </a:schemeClr>
                </a:solidFill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Please read the P-value Statement by the American Statistical Association at:</a:t>
            </a:r>
          </a:p>
          <a:p>
            <a:r>
              <a:rPr lang="en-US" altLang="en-US" sz="1600" b="1" i="1" dirty="0">
                <a:solidFill>
                  <a:schemeClr val="bg2">
                    <a:lumMod val="25000"/>
                  </a:schemeClr>
                </a:solidFill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  <a:sym typeface="Math1" charset="0"/>
              </a:rPr>
              <a:t>https://doi.org/10.1080/00031305.2016.1154108</a:t>
            </a:r>
          </a:p>
        </p:txBody>
      </p:sp>
      <p:sp>
        <p:nvSpPr>
          <p:cNvPr id="13" name="Text Box 2"/>
          <p:cNvSpPr txBox="1">
            <a:spLocks noChangeArrowheads="1"/>
          </p:cNvSpPr>
          <p:nvPr/>
        </p:nvSpPr>
        <p:spPr bwMode="auto">
          <a:xfrm>
            <a:off x="125434" y="203364"/>
            <a:ext cx="59436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 sz="3600" dirty="0">
                <a:latin typeface="Vitesse" charset="0"/>
                <a:ea typeface="Vitesse" charset="0"/>
                <a:cs typeface="Vitesse" charset="0"/>
              </a:rPr>
              <a:t>Example in R (cont’d)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xmlns="" id="{6F3B15DE-AD91-4E17-8315-256BB149A180}"/>
              </a:ext>
            </a:extLst>
          </p:cNvPr>
          <p:cNvSpPr/>
          <p:nvPr/>
        </p:nvSpPr>
        <p:spPr>
          <a:xfrm>
            <a:off x="5100344" y="1800597"/>
            <a:ext cx="2535208" cy="349608"/>
          </a:xfrm>
          <a:prstGeom prst="ellipse">
            <a:avLst/>
          </a:prstGeom>
          <a:noFill/>
          <a:ln w="19050">
            <a:solidFill>
              <a:srgbClr val="385D8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35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xmlns="" id="{699912A1-9962-4FC2-9536-44BF3E966BC3}"/>
              </a:ext>
            </a:extLst>
          </p:cNvPr>
          <p:cNvSpPr/>
          <p:nvPr/>
        </p:nvSpPr>
        <p:spPr>
          <a:xfrm>
            <a:off x="6142828" y="2499089"/>
            <a:ext cx="2535208" cy="349608"/>
          </a:xfrm>
          <a:prstGeom prst="ellipse">
            <a:avLst/>
          </a:prstGeom>
          <a:noFill/>
          <a:ln w="19050">
            <a:solidFill>
              <a:srgbClr val="385D8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35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xmlns="" id="{2C624021-25AE-49D1-83D2-BC4AE0E56946}"/>
              </a:ext>
            </a:extLst>
          </p:cNvPr>
          <p:cNvSpPr/>
          <p:nvPr/>
        </p:nvSpPr>
        <p:spPr>
          <a:xfrm>
            <a:off x="851633" y="2526742"/>
            <a:ext cx="2245601" cy="239029"/>
          </a:xfrm>
          <a:prstGeom prst="ellipse">
            <a:avLst/>
          </a:prstGeom>
          <a:noFill/>
          <a:ln w="19050">
            <a:solidFill>
              <a:srgbClr val="385D8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350"/>
          </a:p>
        </p:txBody>
      </p:sp>
    </p:spTree>
    <p:extLst>
      <p:ext uri="{BB962C8B-B14F-4D97-AF65-F5344CB8AC3E}">
        <p14:creationId xmlns:p14="http://schemas.microsoft.com/office/powerpoint/2010/main" val="38671288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9" grpId="0" animBg="1"/>
      <p:bldP spid="12" grpId="0" animBg="1"/>
      <p:bldP spid="14" grpId="0" animBg="1"/>
      <p:bldP spid="1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130156" y="212228"/>
            <a:ext cx="4727575" cy="1330325"/>
          </a:xfrm>
        </p:spPr>
        <p:txBody>
          <a:bodyPr>
            <a:normAutofit/>
          </a:bodyPr>
          <a:lstStyle/>
          <a:p>
            <a:pPr>
              <a:spcBef>
                <a:spcPct val="0"/>
              </a:spcBef>
            </a:pPr>
            <a:r>
              <a:rPr lang="en-US" sz="3600" dirty="0">
                <a:latin typeface="Vitesse" charset="0"/>
                <a:ea typeface="Vitesse" charset="0"/>
                <a:cs typeface="Vitesse" charset="0"/>
              </a:rPr>
              <a:t>Summary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59" t="6607" r="13881" b="7744"/>
          <a:stretch/>
        </p:blipFill>
        <p:spPr>
          <a:xfrm>
            <a:off x="1161904" y="1285661"/>
            <a:ext cx="2201521" cy="2406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288935"/>
      </p:ext>
    </p:extLst>
  </p:cSld>
  <p:clrMapOvr>
    <a:masterClrMapping/>
  </p:clrMapOvr>
</p:sld>
</file>

<file path=ppt/theme/theme1.xml><?xml version="1.0" encoding="utf-8"?>
<a:theme xmlns:a="http://schemas.openxmlformats.org/drawingml/2006/main" name="1_Half Page Slash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vert="horz" lIns="91440" tIns="45720" rIns="91440" bIns="45720" rtlCol="0">
        <a:normAutofit/>
      </a:bodyPr>
      <a:lstStyle>
        <a:defPPr algn="l">
          <a:lnSpc>
            <a:spcPts val="1200"/>
          </a:lnSpc>
          <a:defRPr sz="1200" dirty="0" smtClean="0">
            <a:solidFill>
              <a:srgbClr val="000000"/>
            </a:solidFill>
            <a:latin typeface="Helvetica"/>
            <a:cs typeface="Helvetica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Half Page Slash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vert="horz" lIns="91440" tIns="45720" rIns="91440" bIns="45720" rtlCol="0">
        <a:normAutofit/>
      </a:bodyPr>
      <a:lstStyle>
        <a:defPPr algn="l">
          <a:lnSpc>
            <a:spcPts val="1200"/>
          </a:lnSpc>
          <a:defRPr sz="1200" dirty="0" smtClean="0">
            <a:solidFill>
              <a:srgbClr val="000000"/>
            </a:solidFill>
            <a:latin typeface="Helvetica"/>
            <a:cs typeface="Helvetica"/>
          </a:defRPr>
        </a:defPPr>
      </a:lstStyle>
    </a:txDef>
  </a:objectDefaults>
  <a:extraClrSchemeLst/>
</a:theme>
</file>

<file path=ppt/theme/theme3.xml><?xml version="1.0" encoding="utf-8"?>
<a:theme xmlns:a="http://schemas.openxmlformats.org/drawingml/2006/main" name="Full Page Layout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16D43FDACDF02458C96071D7628C880" ma:contentTypeVersion="4" ma:contentTypeDescription="Create a new document." ma:contentTypeScope="" ma:versionID="93db545676783a71a92c456b471b0a8b">
  <xsd:schema xmlns:xsd="http://www.w3.org/2001/XMLSchema" xmlns:xs="http://www.w3.org/2001/XMLSchema" xmlns:p="http://schemas.microsoft.com/office/2006/metadata/properties" xmlns:ns1="http://schemas.microsoft.com/sharepoint/v3" xmlns:ns2="b057fda7-913b-4ab6-8820-932873bcd66c" targetNamespace="http://schemas.microsoft.com/office/2006/metadata/properties" ma:root="true" ma:fieldsID="1e1586ca1b53aa448b4e9fddfe24baf2" ns1:_="" ns2:_="">
    <xsd:import namespace="http://schemas.microsoft.com/sharepoint/v3"/>
    <xsd:import namespace="b057fda7-913b-4ab6-8820-932873bcd66c"/>
    <xsd:element name="properties">
      <xsd:complexType>
        <xsd:sequence>
          <xsd:element name="documentManagement">
            <xsd:complexType>
              <xsd:all>
                <xsd:element ref="ns1:PublishingStartDate" minOccurs="0"/>
                <xsd:element ref="ns1:PublishingExpirationDate" minOccurs="0"/>
                <xsd:element ref="ns2:SharedWithUsers" minOccurs="0"/>
                <xsd:element ref="ns2:SharingHintHash" minOccurs="0"/>
                <xsd:element ref="ns2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PublishingStartDate" ma:index="8" nillable="true" ma:displayName="Scheduling Start Date" ma:description="Scheduling Start Date is a site column created by the Publishing feature. It is used to specify the date and time on which this page will first appear to site visitors." ma:internalName="PublishingStartDate">
      <xsd:simpleType>
        <xsd:restriction base="dms:Unknown"/>
      </xsd:simpleType>
    </xsd:element>
    <xsd:element name="PublishingExpirationDate" ma:index="9" nillable="true" ma:displayName="Scheduling End Date" ma:description="Scheduling End Date is a site column created by the Publishing feature. It is used to specify the date and time on which this page will no longer appear to site visitors." ma:internalName="PublishingExpirationDat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057fda7-913b-4ab6-8820-932873bcd66c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ingHintHash" ma:index="11" nillable="true" ma:displayName="Sharing Hint Hash" ma:internalName="SharingHintHash" ma:readOnly="true">
      <xsd:simpleType>
        <xsd:restriction base="dms:Text"/>
      </xsd:simple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PublishingExpirationDate xmlns="http://schemas.microsoft.com/sharepoint/v3" xsi:nil="true"/>
    <PublishingStartDate xmlns="http://schemas.microsoft.com/sharepoint/v3" xsi:nil="true"/>
  </documentManagement>
</p:properties>
</file>

<file path=customXml/itemProps1.xml><?xml version="1.0" encoding="utf-8"?>
<ds:datastoreItem xmlns:ds="http://schemas.openxmlformats.org/officeDocument/2006/customXml" ds:itemID="{E066AAC9-B2D0-46BD-87E7-92BBFA7E106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b057fda7-913b-4ab6-8820-932873bcd66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F28EF043-B0E6-49AE-B312-D395614284A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0B8D62D-BE99-40AF-BF97-BFAE812B12CE}">
  <ds:schemaRefs>
    <ds:schemaRef ds:uri="http://schemas.microsoft.com/office/2006/documentManagement/types"/>
    <ds:schemaRef ds:uri="http://schemas.microsoft.com/sharepoint/v3"/>
    <ds:schemaRef ds:uri="http://purl.org/dc/terms/"/>
    <ds:schemaRef ds:uri="http://schemas.openxmlformats.org/package/2006/metadata/core-properties"/>
    <ds:schemaRef ds:uri="http://purl.org/dc/dcmitype/"/>
    <ds:schemaRef ds:uri="http://schemas.microsoft.com/office/infopath/2007/PartnerControls"/>
    <ds:schemaRef ds:uri="http://purl.org/dc/elements/1.1/"/>
    <ds:schemaRef ds:uri="http://schemas.microsoft.com/office/2006/metadata/properties"/>
    <ds:schemaRef ds:uri="b057fda7-913b-4ab6-8820-932873bcd66c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1217</TotalTime>
  <Words>260</Words>
  <Application>Microsoft Office PowerPoint</Application>
  <PresentationFormat>On-screen Show (16:9)</PresentationFormat>
  <Paragraphs>50</Paragraphs>
  <Slides>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7</vt:i4>
      </vt:variant>
    </vt:vector>
  </HeadingPairs>
  <TitlesOfParts>
    <vt:vector size="23" baseType="lpstr">
      <vt:lpstr>MS PGothic</vt:lpstr>
      <vt:lpstr>Arial</vt:lpstr>
      <vt:lpstr>Calibri</vt:lpstr>
      <vt:lpstr>Calibri Light</vt:lpstr>
      <vt:lpstr>Cambria Math</vt:lpstr>
      <vt:lpstr>Helvetica</vt:lpstr>
      <vt:lpstr>Helvetica Neue</vt:lpstr>
      <vt:lpstr>Math1</vt:lpstr>
      <vt:lpstr>Times New Roman</vt:lpstr>
      <vt:lpstr>Vitesse</vt:lpstr>
      <vt:lpstr>Vitesse Bold</vt:lpstr>
      <vt:lpstr>Vitesse Book</vt:lpstr>
      <vt:lpstr>Vitesse Medium</vt:lpstr>
      <vt:lpstr>1_Half Page Slash</vt:lpstr>
      <vt:lpstr>Half Page Slash</vt:lpstr>
      <vt:lpstr>Full Page Layout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Richard Levine</dc:creator>
  <cp:lastModifiedBy>Aymee Garcia</cp:lastModifiedBy>
  <cp:revision>203</cp:revision>
  <dcterms:modified xsi:type="dcterms:W3CDTF">2021-05-19T06:30:09Z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0x010100E16D43FDACDF02458C96071D7628C880</vt:lpwstr>
  </property>
</Properties>
</file>