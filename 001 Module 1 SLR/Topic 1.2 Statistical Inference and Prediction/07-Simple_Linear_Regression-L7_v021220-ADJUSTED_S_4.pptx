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6"/>
  </p:notesMasterIdLst>
  <p:handoutMasterIdLst>
    <p:handoutMasterId r:id="rId17"/>
  </p:handoutMasterIdLst>
  <p:sldIdLst>
    <p:sldId id="428" r:id="rId7"/>
    <p:sldId id="429" r:id="rId8"/>
    <p:sldId id="314" r:id="rId9"/>
    <p:sldId id="315" r:id="rId10"/>
    <p:sldId id="316" r:id="rId11"/>
    <p:sldId id="434" r:id="rId12"/>
    <p:sldId id="436" r:id="rId13"/>
    <p:sldId id="438" r:id="rId14"/>
    <p:sldId id="43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314"/>
            <p14:sldId id="315"/>
            <p14:sldId id="316"/>
            <p14:sldId id="434"/>
            <p14:sldId id="436"/>
            <p14:sldId id="438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2" name="Figueroa, Shabana" initials="FS [2]" lastIdx="1" clrIdx="1"/>
  <p:cmAuthor id="3" name="Serban, Nicoleta" initials="SN" lastIdx="12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D8A"/>
    <a:srgbClr val="DFA70B"/>
    <a:srgbClr val="F8FFF1"/>
    <a:srgbClr val="000000"/>
    <a:srgbClr val="EEB211"/>
    <a:srgbClr val="9932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70" autoAdjust="0"/>
    <p:restoredTop sz="86002"/>
  </p:normalViewPr>
  <p:slideViewPr>
    <p:cSldViewPr snapToGrid="0">
      <p:cViewPr varScale="1">
        <p:scale>
          <a:sx n="144" d="100"/>
          <a:sy n="144" d="100"/>
        </p:scale>
        <p:origin x="954" y="120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96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ea typeface="MS PGothic" charset="-128"/>
            </a:endParaRPr>
          </a:p>
        </p:txBody>
      </p:sp>
      <p:sp>
        <p:nvSpPr>
          <p:cNvPr id="696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DA9DD863-7447-D84E-A4AB-A125AAA3C9C6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257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68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53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  <p:sldLayoutId id="2147483707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Simple Linear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3885645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Regression Concepts: Regression Line and Prediction Examples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890" y="1011952"/>
            <a:ext cx="75970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Helvetica Neue" charset="0"/>
                <a:ea typeface="Helvetica Neue" charset="0"/>
                <a:cs typeface="Helvetica Neue" charset="0"/>
              </a:rPr>
              <a:t>A company, which sells medical supplies to hospitals, clinics, and doctor's offices, had considered the effectiveness of a new advertising program. Management wants to know if the advertisement is related to sales. </a:t>
            </a:r>
          </a:p>
          <a:p>
            <a:pPr>
              <a:defRPr/>
            </a:pPr>
            <a:endParaRPr 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pPr>
              <a:defRPr/>
            </a:pPr>
            <a:r>
              <a:rPr lang="en-US" dirty="0">
                <a:latin typeface="Helvetica Neue" charset="0"/>
                <a:ea typeface="Helvetica Neue" charset="0"/>
                <a:cs typeface="Helvetica Neue" charset="0"/>
              </a:rPr>
              <a:t>This company intends to increase the sales with an effective advertising program.</a:t>
            </a:r>
          </a:p>
        </p:txBody>
      </p:sp>
      <p:sp>
        <p:nvSpPr>
          <p:cNvPr id="71684" name="TextBox 2"/>
          <p:cNvSpPr txBox="1">
            <a:spLocks noChangeArrowheads="1"/>
          </p:cNvSpPr>
          <p:nvPr/>
        </p:nvSpPr>
        <p:spPr bwMode="auto">
          <a:xfrm>
            <a:off x="147263" y="3464868"/>
            <a:ext cx="75970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solidFill>
                  <a:srgbClr val="DFA70B"/>
                </a:solidFill>
                <a:latin typeface="Helvetica Neue" charset="0"/>
                <a:ea typeface="Helvetica Neue" charset="0"/>
                <a:cs typeface="Helvetica Neue" charset="0"/>
              </a:rPr>
              <a:t>What inferences can be made on the prediction of the sales given a targeted advertisement expenditure?</a:t>
            </a:r>
            <a:endParaRPr lang="en-US" altLang="en-US" dirty="0">
              <a:solidFill>
                <a:srgbClr val="DFA70B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20761" y="215453"/>
            <a:ext cx="812456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Linear Regression: Example in R</a:t>
            </a:r>
          </a:p>
        </p:txBody>
      </p:sp>
    </p:spTree>
    <p:extLst>
      <p:ext uri="{BB962C8B-B14F-4D97-AF65-F5344CB8AC3E}">
        <p14:creationId xmlns:p14="http://schemas.microsoft.com/office/powerpoint/2010/main" val="123913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44907" y="1555554"/>
            <a:ext cx="8336485" cy="272382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+mj-lt"/>
              <a:buAutoNum type="alphaLcPeriod"/>
              <a:defRPr/>
            </a:pP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What sales would you predict for an advertisement expenditure of </a:t>
            </a:r>
            <a:r>
              <a:rPr lang="en-US" altLang="en-US" b="1" dirty="0">
                <a:solidFill>
                  <a:srgbClr val="DFA70B"/>
                </a:solidFill>
                <a:latin typeface="Helvetica" charset="0"/>
                <a:ea typeface="Helvetica" charset="0"/>
                <a:cs typeface="Helvetica" charset="0"/>
              </a:rPr>
              <a:t>$30,000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?</a:t>
            </a:r>
          </a:p>
          <a:p>
            <a:pPr eaLnBrk="1" hangingPunct="1">
              <a:spcBef>
                <a:spcPct val="50000"/>
              </a:spcBef>
              <a:buFontTx/>
              <a:buAutoNum type="alphaLcPeriod"/>
              <a:defRPr/>
            </a:pP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What is the variance estimate of the estimated predicted sales for an advertisement expenditure of </a:t>
            </a:r>
            <a:r>
              <a:rPr lang="en-US" altLang="en-US" b="1" dirty="0">
                <a:solidFill>
                  <a:srgbClr val="DFA70B"/>
                </a:solidFill>
                <a:latin typeface="Helvetica" charset="0"/>
                <a:ea typeface="Helvetica" charset="0"/>
                <a:cs typeface="Helvetica" charset="0"/>
              </a:rPr>
              <a:t>$30,000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? </a:t>
            </a:r>
          </a:p>
          <a:p>
            <a:pPr eaLnBrk="1" hangingPunct="1">
              <a:spcBef>
                <a:spcPct val="50000"/>
              </a:spcBef>
              <a:buFontTx/>
              <a:buAutoNum type="alphaLcPeriod"/>
              <a:defRPr/>
            </a:pP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What are the lower and upper limits of predicted sales for an advertisement expenditure of </a:t>
            </a:r>
            <a:r>
              <a:rPr lang="en-US" altLang="en-US" b="1" dirty="0">
                <a:solidFill>
                  <a:srgbClr val="DFA70B"/>
                </a:solidFill>
                <a:latin typeface="Helvetica" charset="0"/>
                <a:ea typeface="Helvetica" charset="0"/>
                <a:cs typeface="Helvetica" charset="0"/>
              </a:rPr>
              <a:t>$30,000 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at </a:t>
            </a:r>
            <a:r>
              <a:rPr lang="en-US" altLang="en-US" b="1" dirty="0">
                <a:solidFill>
                  <a:srgbClr val="DFA70B"/>
                </a:solidFill>
                <a:latin typeface="Helvetica" charset="0"/>
                <a:ea typeface="Helvetica" charset="0"/>
                <a:cs typeface="Helvetica" charset="0"/>
              </a:rPr>
              <a:t>99%</a:t>
            </a:r>
            <a:r>
              <a:rPr lang="en-US" altLang="en-US" dirty="0">
                <a:solidFill>
                  <a:schemeClr val="accent6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confidence level? How will the limits change if we lower the confidence level to </a:t>
            </a:r>
            <a:r>
              <a:rPr lang="en-US" altLang="en-US" b="1" dirty="0">
                <a:solidFill>
                  <a:srgbClr val="DFA70B"/>
                </a:solidFill>
                <a:latin typeface="Helvetica" charset="0"/>
                <a:ea typeface="Helvetica" charset="0"/>
                <a:cs typeface="Helvetica" charset="0"/>
              </a:rPr>
              <a:t>95%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?</a:t>
            </a:r>
          </a:p>
          <a:p>
            <a:pPr eaLnBrk="1" hangingPunct="1">
              <a:spcBef>
                <a:spcPct val="50000"/>
              </a:spcBef>
              <a:buFontTx/>
              <a:buAutoNum type="alphaLcPeriod"/>
              <a:defRPr/>
            </a:pP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Compare the </a:t>
            </a:r>
            <a:r>
              <a:rPr lang="en-US" altLang="en-US">
                <a:latin typeface="Helvetica" charset="0"/>
                <a:ea typeface="Helvetica" charset="0"/>
                <a:cs typeface="Helvetica" charset="0"/>
              </a:rPr>
              <a:t>confidence </a:t>
            </a:r>
            <a:r>
              <a:rPr lang="en-US" altLang="en-US" smtClean="0">
                <a:latin typeface="Helvetica" charset="0"/>
                <a:ea typeface="Helvetica" charset="0"/>
                <a:cs typeface="Helvetica" charset="0"/>
              </a:rPr>
              <a:t>intervals</a:t>
            </a:r>
            <a:r>
              <a:rPr lang="en-US" altLang="en-US" smtClean="0"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of the estimated regression line versus the predicted regression line. Interpret. 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18016" y="206348"/>
            <a:ext cx="818211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Example in R</a:t>
            </a:r>
            <a:r>
              <a:rPr lang="en-US" altLang="zh-CN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:</a:t>
            </a:r>
            <a:r>
              <a:rPr lang="zh-CN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 </a:t>
            </a:r>
            <a:r>
              <a:rPr lang="en-US" altLang="zh-CN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Estimating Regression Line &amp; Prediction</a:t>
            </a:r>
            <a:endParaRPr lang="en-US" altLang="en-US" sz="3600" dirty="0">
              <a:solidFill>
                <a:schemeClr val="bg2">
                  <a:lumMod val="10000"/>
                </a:schemeClr>
              </a:solidFill>
              <a:latin typeface="Vitesse" charset="0"/>
              <a:ea typeface="Vitesse" charset="0"/>
              <a:cs typeface="Vitess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72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3"/>
          <p:cNvSpPr txBox="1">
            <a:spLocks noChangeArrowheads="1"/>
          </p:cNvSpPr>
          <p:nvPr/>
        </p:nvSpPr>
        <p:spPr bwMode="auto">
          <a:xfrm>
            <a:off x="593038" y="1034335"/>
            <a:ext cx="5966791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de-DE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summary</a:t>
            </a:r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(</a:t>
            </a:r>
            <a:r>
              <a:rPr lang="de-DE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  <a:p>
            <a:pPr eaLnBrk="1" hangingPunct="1"/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Coefficients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:</a:t>
            </a:r>
          </a:p>
          <a:p>
            <a:pPr eaLnBrk="1" hangingPunct="1"/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      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Estimate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   Std. Error   t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value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  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Pr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(&gt;|t|)    </a:t>
            </a:r>
          </a:p>
          <a:p>
            <a:pPr eaLnBrk="1" hangingPunct="1"/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(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Intercept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)  -157.3301   145.1912    -1.084        0.29    </a:t>
            </a:r>
          </a:p>
          <a:p>
            <a:pPr eaLnBrk="1" hangingPunct="1"/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adv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     2.7721       0.2794     9.921  8.87e-10 </a:t>
            </a:r>
          </a:p>
          <a:p>
            <a:pPr eaLnBrk="1" hangingPunct="1"/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---</a:t>
            </a:r>
          </a:p>
          <a:p>
            <a:pPr eaLnBrk="1" hangingPunct="1"/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Residual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standard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error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: 101.4 on 23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degrees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of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freedom</a:t>
            </a:r>
            <a:endParaRPr lang="de-DE" altLang="en-US" sz="1600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xbar = mean(ADV)</a:t>
            </a:r>
          </a:p>
          <a:p>
            <a:pPr eaLnBrk="1" hangingPunct="1"/>
            <a:r>
              <a:rPr lang="de-DE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n</a:t>
            </a:r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 = 23+2</a:t>
            </a:r>
          </a:p>
          <a:p>
            <a:pPr eaLnBrk="1" hangingPunct="1"/>
            <a:r>
              <a:rPr lang="de-DE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mse</a:t>
            </a:r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 =101.4^2</a:t>
            </a:r>
          </a:p>
          <a:p>
            <a:pPr eaLnBrk="1" hangingPunct="1"/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var.beta1 = 0.2794^2</a:t>
            </a:r>
          </a:p>
          <a:p>
            <a:pPr eaLnBrk="1" hangingPunct="1"/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sxx = mse/var.beta1</a:t>
            </a:r>
          </a:p>
          <a:p>
            <a:pPr eaLnBrk="1" hangingPunct="1"/>
            <a:r>
              <a:rPr lang="pt-BR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pred.var</a:t>
            </a:r>
            <a:r>
              <a:rPr lang="pt-BR" altLang="en-US" sz="1600" i="1" dirty="0">
                <a:latin typeface="Helvetica Neue" charset="0"/>
                <a:ea typeface="Helvetica Neue" charset="0"/>
                <a:cs typeface="Helvetica Neue" charset="0"/>
              </a:rPr>
              <a:t> = </a:t>
            </a:r>
            <a:r>
              <a:rPr lang="pt-BR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mse</a:t>
            </a:r>
            <a:r>
              <a:rPr lang="pt-BR" altLang="en-US" sz="1600" i="1" dirty="0">
                <a:latin typeface="Helvetica Neue" charset="0"/>
                <a:ea typeface="Helvetica Neue" charset="0"/>
                <a:cs typeface="Helvetica Neue" charset="0"/>
              </a:rPr>
              <a:t>*(1+1/</a:t>
            </a:r>
            <a:r>
              <a:rPr lang="pt-BR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n</a:t>
            </a:r>
            <a:r>
              <a:rPr lang="pt-BR" altLang="en-US" sz="1600" i="1" dirty="0">
                <a:latin typeface="Helvetica Neue" charset="0"/>
                <a:ea typeface="Helvetica Neue" charset="0"/>
                <a:cs typeface="Helvetica Neue" charset="0"/>
              </a:rPr>
              <a:t>+(xbar-300)^2/</a:t>
            </a:r>
            <a:r>
              <a:rPr lang="pt-BR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sxx</a:t>
            </a:r>
            <a:r>
              <a:rPr lang="pt-BR" altLang="en-US" sz="1600" i="1" dirty="0"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  <a:p>
            <a:pPr eaLnBrk="1" hangingPunct="1"/>
            <a:r>
              <a:rPr lang="de-DE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pred.var</a:t>
            </a:r>
            <a:endParaRPr lang="de-DE" altLang="en-US" sz="1600" i="1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[1] 14286.16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18508" y="215592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Example in R </a:t>
            </a:r>
          </a:p>
        </p:txBody>
      </p:sp>
    </p:spTree>
    <p:extLst>
      <p:ext uri="{BB962C8B-B14F-4D97-AF65-F5344CB8AC3E}">
        <p14:creationId xmlns:p14="http://schemas.microsoft.com/office/powerpoint/2010/main" val="251565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3"/>
          <p:cNvSpPr txBox="1">
            <a:spLocks noChangeArrowheads="1"/>
          </p:cNvSpPr>
          <p:nvPr/>
        </p:nvSpPr>
        <p:spPr bwMode="auto">
          <a:xfrm>
            <a:off x="593036" y="1036137"/>
            <a:ext cx="571182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de-DE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summary</a:t>
            </a:r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(</a:t>
            </a:r>
            <a:r>
              <a:rPr lang="de-DE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  <a:p>
            <a:pPr eaLnBrk="1" hangingPunct="1"/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Coefficients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:</a:t>
            </a:r>
          </a:p>
          <a:p>
            <a:pPr eaLnBrk="1" hangingPunct="1"/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      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Estimate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   Std. Error   t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value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  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Pr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(&gt;|t|)    </a:t>
            </a:r>
          </a:p>
          <a:p>
            <a:pPr eaLnBrk="1" hangingPunct="1"/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(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Intercept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)  -157.3301   145.1912    -1.084        0.29    </a:t>
            </a:r>
          </a:p>
          <a:p>
            <a:pPr eaLnBrk="1" hangingPunct="1"/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adv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     2.7721       0.2794     9.921  8.87e-10 </a:t>
            </a:r>
          </a:p>
          <a:p>
            <a:pPr eaLnBrk="1" hangingPunct="1"/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---</a:t>
            </a:r>
          </a:p>
          <a:p>
            <a:pPr eaLnBrk="1" hangingPunct="1"/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Residual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standard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error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: 101.4 on 23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degrees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of</a:t>
            </a:r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de-DE" altLang="en-US" sz="1600" dirty="0" err="1">
                <a:latin typeface="Helvetica Neue" charset="0"/>
                <a:ea typeface="Helvetica Neue" charset="0"/>
                <a:cs typeface="Helvetica Neue" charset="0"/>
              </a:rPr>
              <a:t>freedom</a:t>
            </a:r>
            <a:endParaRPr lang="de-DE" altLang="en-US" sz="1600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xbar = mean(ADV)</a:t>
            </a:r>
          </a:p>
          <a:p>
            <a:pPr eaLnBrk="1" hangingPunct="1"/>
            <a:r>
              <a:rPr lang="de-DE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n</a:t>
            </a:r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 = 23+2</a:t>
            </a:r>
          </a:p>
          <a:p>
            <a:pPr eaLnBrk="1" hangingPunct="1"/>
            <a:r>
              <a:rPr lang="de-DE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mse</a:t>
            </a:r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 =101.4^2</a:t>
            </a:r>
          </a:p>
          <a:p>
            <a:pPr eaLnBrk="1" hangingPunct="1"/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var.beta1 = 0.2794^2</a:t>
            </a:r>
          </a:p>
          <a:p>
            <a:pPr eaLnBrk="1" hangingPunct="1"/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sxx = mse/var.beta1</a:t>
            </a:r>
          </a:p>
          <a:p>
            <a:pPr eaLnBrk="1" hangingPunct="1"/>
            <a:r>
              <a:rPr lang="pt-BR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pred.var</a:t>
            </a:r>
            <a:r>
              <a:rPr lang="pt-BR" altLang="en-US" sz="1600" i="1" dirty="0">
                <a:latin typeface="Helvetica Neue" charset="0"/>
                <a:ea typeface="Helvetica Neue" charset="0"/>
                <a:cs typeface="Helvetica Neue" charset="0"/>
              </a:rPr>
              <a:t> = </a:t>
            </a:r>
            <a:r>
              <a:rPr lang="pt-BR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mse</a:t>
            </a:r>
            <a:r>
              <a:rPr lang="pt-BR" altLang="en-US" sz="1600" i="1" dirty="0">
                <a:latin typeface="Helvetica Neue" charset="0"/>
                <a:ea typeface="Helvetica Neue" charset="0"/>
                <a:cs typeface="Helvetica Neue" charset="0"/>
              </a:rPr>
              <a:t>*(1+1/</a:t>
            </a:r>
            <a:r>
              <a:rPr lang="pt-BR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n</a:t>
            </a:r>
            <a:r>
              <a:rPr lang="pt-BR" altLang="en-US" sz="1600" i="1" dirty="0">
                <a:latin typeface="Helvetica Neue" charset="0"/>
                <a:ea typeface="Helvetica Neue" charset="0"/>
                <a:cs typeface="Helvetica Neue" charset="0"/>
              </a:rPr>
              <a:t>+(xbar-300)^2/</a:t>
            </a:r>
            <a:r>
              <a:rPr lang="pt-BR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sxx</a:t>
            </a:r>
            <a:r>
              <a:rPr lang="pt-BR" altLang="en-US" sz="1600" i="1" dirty="0"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  <a:p>
            <a:pPr eaLnBrk="1" hangingPunct="1"/>
            <a:r>
              <a:rPr lang="de-DE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pred.var</a:t>
            </a:r>
            <a:endParaRPr lang="de-DE" altLang="en-US" sz="1600" i="1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de-DE" altLang="en-US" sz="1600" dirty="0">
                <a:latin typeface="Helvetica Neue" charset="0"/>
                <a:ea typeface="Helvetica Neue" charset="0"/>
                <a:cs typeface="Helvetica Neue" charset="0"/>
              </a:rPr>
              <a:t>[1] 14286.16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983472" y="1558609"/>
            <a:ext cx="3031632" cy="2308324"/>
          </a:xfrm>
          <a:prstGeom prst="rect">
            <a:avLst/>
          </a:prstGeom>
          <a:solidFill>
            <a:schemeClr val="bg1"/>
          </a:solidFill>
          <a:ln w="12700">
            <a:solidFill>
              <a:srgbClr val="385D8A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buFont typeface="+mj-lt"/>
              <a:buAutoNum type="alphaLcPeriod"/>
              <a:defRPr/>
            </a:pPr>
            <a:r>
              <a:rPr lang="en-US" sz="1400" dirty="0">
                <a:latin typeface="Helvetica Neue" charset="0"/>
                <a:ea typeface="Helvetica Neue" charset="0"/>
                <a:cs typeface="Helvetica Neue" charset="0"/>
              </a:rPr>
              <a:t>For advertising expenditure of </a:t>
            </a:r>
            <a:r>
              <a:rPr lang="en-US" altLang="en-US" sz="1400" dirty="0">
                <a:latin typeface="Helvetica Neue" charset="0"/>
                <a:ea typeface="Helvetica Neue" charset="0"/>
                <a:cs typeface="Helvetica Neue" charset="0"/>
              </a:rPr>
              <a:t>$30,000, t</a:t>
            </a:r>
            <a:r>
              <a:rPr lang="en-US" sz="1400" dirty="0">
                <a:latin typeface="Helvetica Neue" charset="0"/>
                <a:ea typeface="Helvetica Neue" charset="0"/>
                <a:cs typeface="Helvetica Neue" charset="0"/>
              </a:rPr>
              <a:t>he predicted sales is:</a:t>
            </a:r>
          </a:p>
          <a:p>
            <a:pPr algn="ctr">
              <a:defRPr/>
            </a:pPr>
            <a:r>
              <a:rPr lang="en-US" sz="1400" dirty="0">
                <a:latin typeface="Helvetica Neue" charset="0"/>
                <a:ea typeface="Helvetica Neue" charset="0"/>
                <a:cs typeface="Helvetica Neue" charset="0"/>
              </a:rPr>
              <a:t>-157.33 + 300 × 2.77 </a:t>
            </a:r>
            <a:br>
              <a:rPr lang="en-US" sz="1400" dirty="0">
                <a:latin typeface="Helvetica Neue" charset="0"/>
                <a:ea typeface="Helvetica Neue" charset="0"/>
                <a:cs typeface="Helvetica Neue" charset="0"/>
              </a:rPr>
            </a:br>
            <a:r>
              <a:rPr lang="en-US" sz="1400" dirty="0">
                <a:latin typeface="Helvetica Neue" charset="0"/>
                <a:ea typeface="Helvetica Neue" charset="0"/>
                <a:cs typeface="Helvetica Neue" charset="0"/>
              </a:rPr>
              <a:t>= 673.67 thousand</a:t>
            </a:r>
            <a:r>
              <a:rPr lang="en-US" altLang="en-US" sz="1400" dirty="0">
                <a:latin typeface="Helvetica Neue" charset="0"/>
                <a:ea typeface="Helvetica Neue" charset="0"/>
                <a:cs typeface="Helvetica Neue" charset="0"/>
              </a:rPr>
              <a:t/>
            </a:r>
            <a:br>
              <a:rPr lang="en-US" altLang="en-US" sz="1400" dirty="0">
                <a:latin typeface="Helvetica Neue" charset="0"/>
                <a:ea typeface="Helvetica Neue" charset="0"/>
                <a:cs typeface="Helvetica Neue" charset="0"/>
              </a:rPr>
            </a:br>
            <a:endParaRPr lang="en-US" alt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marL="285750" indent="-285750">
              <a:buFont typeface="+mj-lt"/>
              <a:buAutoNum type="alphaLcPeriod" startAt="2"/>
              <a:defRPr/>
            </a:pPr>
            <a:r>
              <a:rPr lang="en-US" altLang="en-US" sz="1400" dirty="0">
                <a:latin typeface="Helvetica Neue" charset="0"/>
                <a:ea typeface="Helvetica Neue" charset="0"/>
                <a:cs typeface="Helvetica Neue" charset="0"/>
              </a:rPr>
              <a:t>The variance of the predicted sales </a:t>
            </a:r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is </a:t>
            </a:r>
          </a:p>
          <a:p>
            <a:pPr>
              <a:defRPr/>
            </a:pP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>
              <a:defRPr/>
            </a:pPr>
            <a:endParaRPr lang="de-DE" altLang="en-US" sz="800" dirty="0"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endParaRPr lang="de-DE" altLang="en-US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684" name="Object 1"/>
              <p:cNvSpPr txBox="1"/>
              <p:nvPr/>
            </p:nvSpPr>
            <p:spPr bwMode="auto">
              <a:xfrm>
                <a:off x="5983472" y="3042053"/>
                <a:ext cx="2918728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sz="1400" i="0" baseline="30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̄"/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𝑋𝑋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=14286.16</m:t>
                      </m:r>
                    </m:oMath>
                  </m:oMathPara>
                </a14:m>
                <a:endParaRPr lang="en-US" sz="14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71684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3472" y="3042053"/>
                <a:ext cx="2918728" cy="6667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7429584" y="1990459"/>
            <a:ext cx="382573" cy="275663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8" name="Oval 7"/>
          <p:cNvSpPr/>
          <p:nvPr/>
        </p:nvSpPr>
        <p:spPr>
          <a:xfrm>
            <a:off x="6048636" y="3187148"/>
            <a:ext cx="252842" cy="259725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350"/>
          </a:p>
        </p:txBody>
      </p:sp>
      <p:sp>
        <p:nvSpPr>
          <p:cNvPr id="9" name="Oval 8"/>
          <p:cNvSpPr/>
          <p:nvPr/>
        </p:nvSpPr>
        <p:spPr>
          <a:xfrm>
            <a:off x="1221175" y="3257966"/>
            <a:ext cx="826286" cy="280988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Oval 9"/>
          <p:cNvSpPr/>
          <p:nvPr/>
        </p:nvSpPr>
        <p:spPr>
          <a:xfrm>
            <a:off x="6690542" y="3389077"/>
            <a:ext cx="174084" cy="163129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350"/>
          </a:p>
        </p:txBody>
      </p:sp>
      <p:sp>
        <p:nvSpPr>
          <p:cNvPr id="11" name="Oval 10"/>
          <p:cNvSpPr/>
          <p:nvPr/>
        </p:nvSpPr>
        <p:spPr>
          <a:xfrm>
            <a:off x="649130" y="3085124"/>
            <a:ext cx="200025" cy="175818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2" name="Oval 11"/>
          <p:cNvSpPr/>
          <p:nvPr/>
        </p:nvSpPr>
        <p:spPr>
          <a:xfrm>
            <a:off x="7215923" y="3344957"/>
            <a:ext cx="331190" cy="253429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350"/>
          </a:p>
        </p:txBody>
      </p:sp>
      <p:sp>
        <p:nvSpPr>
          <p:cNvPr id="13" name="Oval 12"/>
          <p:cNvSpPr/>
          <p:nvPr/>
        </p:nvSpPr>
        <p:spPr>
          <a:xfrm>
            <a:off x="613201" y="3765752"/>
            <a:ext cx="2017356" cy="274696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4" name="Oval 13"/>
          <p:cNvSpPr/>
          <p:nvPr/>
        </p:nvSpPr>
        <p:spPr>
          <a:xfrm>
            <a:off x="7454414" y="3085124"/>
            <a:ext cx="152334" cy="216762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350"/>
          </a:p>
        </p:txBody>
      </p:sp>
      <p:sp>
        <p:nvSpPr>
          <p:cNvPr id="15" name="Oval 14"/>
          <p:cNvSpPr/>
          <p:nvPr/>
        </p:nvSpPr>
        <p:spPr>
          <a:xfrm>
            <a:off x="580016" y="2797034"/>
            <a:ext cx="1997532" cy="254013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118508" y="215592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Example in R </a:t>
            </a:r>
          </a:p>
        </p:txBody>
      </p:sp>
    </p:spTree>
    <p:extLst>
      <p:ext uri="{BB962C8B-B14F-4D97-AF65-F5344CB8AC3E}">
        <p14:creationId xmlns:p14="http://schemas.microsoft.com/office/powerpoint/2010/main" val="61819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612473" y="1035767"/>
            <a:ext cx="6232271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new = data.frame(adv = 300)</a:t>
            </a:r>
            <a:endParaRPr lang="en-US" altLang="en-US" sz="1600" i="1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predict.lm</a:t>
            </a:r>
            <a:r>
              <a:rPr lang="en-US" altLang="en-US" sz="1600" i="1" dirty="0">
                <a:latin typeface="Helvetica Neue" charset="0"/>
                <a:ea typeface="Helvetica Neue" charset="0"/>
                <a:cs typeface="Helvetica Neue" charset="0"/>
              </a:rPr>
              <a:t>(model, new, interval = "predict", level = 0.99)</a:t>
            </a: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fit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lwr</a:t>
            </a:r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upr</a:t>
            </a:r>
            <a:endParaRPr lang="en-US" altLang="en-US" sz="1600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1 674.3047   338.712   1009.897</a:t>
            </a:r>
          </a:p>
          <a:p>
            <a:pPr eaLnBrk="1" hangingPunct="1"/>
            <a:r>
              <a:rPr lang="en-US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predict.lm</a:t>
            </a:r>
            <a:r>
              <a:rPr lang="en-US" altLang="en-US" sz="1600" i="1" dirty="0">
                <a:latin typeface="Helvetica Neue" charset="0"/>
                <a:ea typeface="Helvetica Neue" charset="0"/>
                <a:cs typeface="Helvetica Neue" charset="0"/>
              </a:rPr>
              <a:t>(model, new, interval = "predict", level = 0.95)</a:t>
            </a: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fit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lwr</a:t>
            </a:r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upr</a:t>
            </a:r>
            <a:endParaRPr lang="en-US" altLang="en-US" sz="1600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1 674.3047   427.0146    921.5948</a:t>
            </a:r>
          </a:p>
          <a:p>
            <a:pPr eaLnBrk="1" hangingPunct="1"/>
            <a:r>
              <a:rPr lang="en-US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predict.lm</a:t>
            </a:r>
            <a:r>
              <a:rPr lang="en-US" altLang="en-US" sz="1600" i="1" dirty="0">
                <a:latin typeface="Helvetica Neue" charset="0"/>
                <a:ea typeface="Helvetica Neue" charset="0"/>
                <a:cs typeface="Helvetica Neue" charset="0"/>
              </a:rPr>
              <a:t>(model, new, interval = "confidence", level = 0.99)</a:t>
            </a: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fit 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lwr</a:t>
            </a:r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upr</a:t>
            </a:r>
            <a:endParaRPr lang="en-US" altLang="en-US" sz="1600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1 674.3047    496.6497   851.9596</a:t>
            </a:r>
          </a:p>
          <a:p>
            <a:pPr eaLnBrk="1" hangingPunct="1"/>
            <a:r>
              <a:rPr lang="en-US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predict.lm</a:t>
            </a:r>
            <a:r>
              <a:rPr lang="en-US" altLang="en-US" sz="1600" i="1" dirty="0">
                <a:latin typeface="Helvetica Neue" charset="0"/>
                <a:ea typeface="Helvetica Neue" charset="0"/>
                <a:cs typeface="Helvetica Neue" charset="0"/>
              </a:rPr>
              <a:t>(model, new, interval = "confidence", level = 0.95)</a:t>
            </a: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fit 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lwr</a:t>
            </a:r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upr</a:t>
            </a:r>
            <a:endParaRPr lang="en-US" altLang="en-US" sz="1600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1 674.3047    543.395     805.2143</a:t>
            </a: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115083" y="210385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Example in R (cont’d)</a:t>
            </a:r>
          </a:p>
        </p:txBody>
      </p:sp>
    </p:spTree>
    <p:extLst>
      <p:ext uri="{BB962C8B-B14F-4D97-AF65-F5344CB8AC3E}">
        <p14:creationId xmlns:p14="http://schemas.microsoft.com/office/powerpoint/2010/main" val="2556486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611848" y="1033290"/>
            <a:ext cx="5941353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de-DE" altLang="en-US" sz="1600" i="1" dirty="0">
                <a:latin typeface="Helvetica Neue" charset="0"/>
                <a:ea typeface="Helvetica Neue" charset="0"/>
                <a:cs typeface="Helvetica Neue" charset="0"/>
              </a:rPr>
              <a:t>new = data.frame(adv = 300)</a:t>
            </a:r>
            <a:endParaRPr lang="en-US" altLang="en-US" sz="1600" i="1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predict.lm</a:t>
            </a:r>
            <a:r>
              <a:rPr lang="en-US" altLang="en-US" sz="1600" i="1" dirty="0">
                <a:latin typeface="Helvetica Neue" charset="0"/>
                <a:ea typeface="Helvetica Neue" charset="0"/>
                <a:cs typeface="Helvetica Neue" charset="0"/>
              </a:rPr>
              <a:t>(model, new, interval = "predict", level = 0.99)</a:t>
            </a: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fit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lwr</a:t>
            </a:r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upr</a:t>
            </a:r>
            <a:endParaRPr lang="en-US" altLang="en-US" sz="1600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1 674.3047   338.712   1009.897</a:t>
            </a:r>
          </a:p>
          <a:p>
            <a:pPr eaLnBrk="1" hangingPunct="1"/>
            <a:r>
              <a:rPr lang="en-US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predict.lm</a:t>
            </a:r>
            <a:r>
              <a:rPr lang="en-US" altLang="en-US" sz="1600" i="1" dirty="0">
                <a:latin typeface="Helvetica Neue" charset="0"/>
                <a:ea typeface="Helvetica Neue" charset="0"/>
                <a:cs typeface="Helvetica Neue" charset="0"/>
              </a:rPr>
              <a:t>(model, new, interval = "predict", level = 0.95)</a:t>
            </a: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fit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lwr</a:t>
            </a:r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upr</a:t>
            </a:r>
            <a:endParaRPr lang="en-US" altLang="en-US" sz="1600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1 674.3047   427.0146    921.5948</a:t>
            </a:r>
          </a:p>
          <a:p>
            <a:pPr eaLnBrk="1" hangingPunct="1"/>
            <a:r>
              <a:rPr lang="en-US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predict.lm</a:t>
            </a:r>
            <a:r>
              <a:rPr lang="en-US" altLang="en-US" sz="1600" i="1" dirty="0">
                <a:latin typeface="Helvetica Neue" charset="0"/>
                <a:ea typeface="Helvetica Neue" charset="0"/>
                <a:cs typeface="Helvetica Neue" charset="0"/>
              </a:rPr>
              <a:t>(model, new, interval = "confidence", level = 0.99)</a:t>
            </a: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fit 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lwr</a:t>
            </a:r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upr</a:t>
            </a:r>
            <a:endParaRPr lang="en-US" altLang="en-US" sz="1600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1 674.3047    496.6497   851.9596</a:t>
            </a:r>
          </a:p>
          <a:p>
            <a:pPr eaLnBrk="1" hangingPunct="1"/>
            <a:r>
              <a:rPr lang="en-US" altLang="en-US" sz="1600" i="1" dirty="0" err="1">
                <a:latin typeface="Helvetica Neue" charset="0"/>
                <a:ea typeface="Helvetica Neue" charset="0"/>
                <a:cs typeface="Helvetica Neue" charset="0"/>
              </a:rPr>
              <a:t>predict.lm</a:t>
            </a:r>
            <a:r>
              <a:rPr lang="en-US" altLang="en-US" sz="1600" i="1" dirty="0">
                <a:latin typeface="Helvetica Neue" charset="0"/>
                <a:ea typeface="Helvetica Neue" charset="0"/>
                <a:cs typeface="Helvetica Neue" charset="0"/>
              </a:rPr>
              <a:t>(model, new, interval = "confidence", level = 0.95)</a:t>
            </a: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fit 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lwr</a:t>
            </a:r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             </a:t>
            </a:r>
            <a:r>
              <a:rPr lang="en-US" altLang="en-US" sz="1600" dirty="0" err="1">
                <a:latin typeface="Helvetica Neue" charset="0"/>
                <a:ea typeface="Helvetica Neue" charset="0"/>
                <a:cs typeface="Helvetica Neue" charset="0"/>
              </a:rPr>
              <a:t>upr</a:t>
            </a:r>
            <a:endParaRPr lang="en-US" altLang="en-US" sz="1600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1 674.3047    543.395     805.2143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D2E08F-85EE-4AE6-B831-5973D0921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8799" y="1058886"/>
            <a:ext cx="2649914" cy="2893100"/>
          </a:xfrm>
          <a:prstGeom prst="rect">
            <a:avLst/>
          </a:prstGeom>
          <a:noFill/>
          <a:ln w="19050">
            <a:solidFill>
              <a:srgbClr val="385D8A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marL="342900" indent="-342900" eaLnBrk="1" hangingPunct="1">
              <a:buFont typeface="+mj-lt"/>
              <a:buAutoNum type="alphaLcPeriod" startAt="3"/>
            </a:pPr>
            <a:r>
              <a:rPr lang="en-US" altLang="en-US" sz="1400" dirty="0">
                <a:latin typeface="Helvetica Neue" charset="0"/>
                <a:ea typeface="Helvetica Neue" charset="0"/>
                <a:cs typeface="Helvetica Neue" charset="0"/>
              </a:rPr>
              <a:t>A 99% </a:t>
            </a:r>
            <a:r>
              <a:rPr lang="en-US" altLang="en-US" sz="1400" b="1" dirty="0">
                <a:latin typeface="Helvetica Neue" charset="0"/>
                <a:ea typeface="Helvetica Neue" charset="0"/>
                <a:cs typeface="Helvetica Neue" charset="0"/>
              </a:rPr>
              <a:t>prediction</a:t>
            </a:r>
            <a:r>
              <a:rPr lang="en-US" altLang="en-US" sz="1400" dirty="0">
                <a:latin typeface="Helvetica Neue" charset="0"/>
                <a:ea typeface="Helvetica Neue" charset="0"/>
                <a:cs typeface="Helvetica Neue" charset="0"/>
              </a:rPr>
              <a:t> interval at an advertisement expenditure of $30,000 is (338.712, 1009.897). A 95% interval is (427.014, 921.594).     </a:t>
            </a:r>
          </a:p>
          <a:p>
            <a:pPr marL="342900" indent="-342900" eaLnBrk="1" hangingPunct="1">
              <a:buFont typeface="+mj-lt"/>
              <a:buAutoNum type="alphaLcPeriod" startAt="3"/>
            </a:pPr>
            <a:endParaRPr lang="en-US" alt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marL="342900" indent="-342900" eaLnBrk="1" hangingPunct="1">
              <a:buFont typeface="+mj-lt"/>
              <a:buAutoNum type="alphaLcPeriod" startAt="3"/>
            </a:pPr>
            <a:r>
              <a:rPr lang="en-US" altLang="en-US" sz="1400" dirty="0">
                <a:latin typeface="Helvetica Neue" charset="0"/>
                <a:ea typeface="Helvetica Neue" charset="0"/>
                <a:cs typeface="Helvetica Neue" charset="0"/>
              </a:rPr>
              <a:t>A 99% </a:t>
            </a:r>
            <a:r>
              <a:rPr lang="en-US" altLang="en-US" sz="1400" b="1" dirty="0">
                <a:latin typeface="Helvetica Neue" charset="0"/>
                <a:ea typeface="Helvetica Neue" charset="0"/>
                <a:cs typeface="Helvetica Neue" charset="0"/>
              </a:rPr>
              <a:t>confidence</a:t>
            </a:r>
            <a:r>
              <a:rPr lang="en-US" altLang="en-US" sz="1400" dirty="0">
                <a:latin typeface="Helvetica Neue" charset="0"/>
                <a:ea typeface="Helvetica Neue" charset="0"/>
                <a:cs typeface="Helvetica Neue" charset="0"/>
              </a:rPr>
              <a:t> interval at an advertisement expenditure of $30,000 is (496.649, 851.959). A 95% interval is (543.395, 805.214).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2C151A-FBBE-4181-B8DD-1E20E5E338EF}"/>
              </a:ext>
            </a:extLst>
          </p:cNvPr>
          <p:cNvSpPr/>
          <p:nvPr/>
        </p:nvSpPr>
        <p:spPr>
          <a:xfrm>
            <a:off x="695888" y="4334956"/>
            <a:ext cx="7129518" cy="523220"/>
          </a:xfrm>
          <a:prstGeom prst="rect">
            <a:avLst/>
          </a:prstGeom>
          <a:ln w="19050">
            <a:solidFill>
              <a:srgbClr val="385D8A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1400" dirty="0">
                <a:latin typeface="Helvetica Neue" charset="0"/>
                <a:ea typeface="Helvetica Neue" charset="0"/>
                <a:cs typeface="Helvetica Neue" charset="0"/>
              </a:rPr>
              <a:t>The confidence intervals are </a:t>
            </a:r>
            <a:r>
              <a:rPr lang="en-US" altLang="en-US" sz="1400" u="sng" dirty="0">
                <a:latin typeface="Helvetica Neue" charset="0"/>
                <a:ea typeface="Helvetica Neue" charset="0"/>
                <a:cs typeface="Helvetica Neue" charset="0"/>
              </a:rPr>
              <a:t>narrower</a:t>
            </a:r>
            <a:r>
              <a:rPr lang="en-US" altLang="en-US" sz="1400" dirty="0">
                <a:latin typeface="Helvetica Neue" charset="0"/>
                <a:ea typeface="Helvetica Neue" charset="0"/>
                <a:cs typeface="Helvetica Neue" charset="0"/>
              </a:rPr>
              <a:t> than the prediction intervals because the prediction intervals have additional variance from the variation of a new measurement.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A3BAF-3144-4002-BF13-BD0DC1BF87C6}"/>
              </a:ext>
            </a:extLst>
          </p:cNvPr>
          <p:cNvSpPr/>
          <p:nvPr/>
        </p:nvSpPr>
        <p:spPr>
          <a:xfrm>
            <a:off x="577389" y="1058886"/>
            <a:ext cx="2901306" cy="286330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5160A7-B30D-41A6-912F-A7A1135A85CF}"/>
              </a:ext>
            </a:extLst>
          </p:cNvPr>
          <p:cNvSpPr/>
          <p:nvPr/>
        </p:nvSpPr>
        <p:spPr>
          <a:xfrm>
            <a:off x="2266971" y="1354014"/>
            <a:ext cx="469600" cy="212261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897A3B8-FC1F-462F-8362-FADEEE0B7304}"/>
              </a:ext>
            </a:extLst>
          </p:cNvPr>
          <p:cNvSpPr/>
          <p:nvPr/>
        </p:nvSpPr>
        <p:spPr>
          <a:xfrm>
            <a:off x="7217741" y="1084959"/>
            <a:ext cx="923582" cy="286761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359303-9EEA-4CE1-871E-98D991D0871D}"/>
              </a:ext>
            </a:extLst>
          </p:cNvPr>
          <p:cNvSpPr/>
          <p:nvPr/>
        </p:nvSpPr>
        <p:spPr>
          <a:xfrm>
            <a:off x="3637791" y="1995827"/>
            <a:ext cx="874574" cy="385788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99B225E-19D9-480A-85E0-AE2647A746C4}"/>
              </a:ext>
            </a:extLst>
          </p:cNvPr>
          <p:cNvSpPr/>
          <p:nvPr/>
        </p:nvSpPr>
        <p:spPr>
          <a:xfrm>
            <a:off x="7204489" y="2610678"/>
            <a:ext cx="1044987" cy="214888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11ED421-C2A9-4FC5-AAFA-63CD90394A86}"/>
              </a:ext>
            </a:extLst>
          </p:cNvPr>
          <p:cNvSpPr/>
          <p:nvPr/>
        </p:nvSpPr>
        <p:spPr>
          <a:xfrm>
            <a:off x="3637791" y="2716365"/>
            <a:ext cx="1195285" cy="332567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55ED78-2652-4E92-8321-23FB83326A32}"/>
              </a:ext>
            </a:extLst>
          </p:cNvPr>
          <p:cNvSpPr/>
          <p:nvPr/>
        </p:nvSpPr>
        <p:spPr>
          <a:xfrm>
            <a:off x="3663031" y="1247899"/>
            <a:ext cx="829973" cy="385788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A60EAD-32E4-44A0-971B-A06708A42553}"/>
              </a:ext>
            </a:extLst>
          </p:cNvPr>
          <p:cNvSpPr/>
          <p:nvPr/>
        </p:nvSpPr>
        <p:spPr>
          <a:xfrm>
            <a:off x="3641017" y="3464750"/>
            <a:ext cx="1222531" cy="332567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517EC7-C9DF-4697-98B7-0F8BD6B2914C}"/>
              </a:ext>
            </a:extLst>
          </p:cNvPr>
          <p:cNvSpPr/>
          <p:nvPr/>
        </p:nvSpPr>
        <p:spPr>
          <a:xfrm>
            <a:off x="2276538" y="2091045"/>
            <a:ext cx="460033" cy="212261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042677-EDD9-46D6-AE5A-C4F2DD601307}"/>
              </a:ext>
            </a:extLst>
          </p:cNvPr>
          <p:cNvSpPr/>
          <p:nvPr/>
        </p:nvSpPr>
        <p:spPr>
          <a:xfrm>
            <a:off x="2276539" y="2817438"/>
            <a:ext cx="460033" cy="212261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F8EA95-BEAC-4328-8915-9646F0D5B92F}"/>
              </a:ext>
            </a:extLst>
          </p:cNvPr>
          <p:cNvSpPr/>
          <p:nvPr/>
        </p:nvSpPr>
        <p:spPr>
          <a:xfrm>
            <a:off x="2276540" y="3554469"/>
            <a:ext cx="460033" cy="212261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115083" y="210385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 charset="0"/>
                <a:ea typeface="Vitesse" charset="0"/>
                <a:cs typeface="Vitesse" charset="0"/>
              </a:rPr>
              <a:t>Example in R (cont’d)</a:t>
            </a:r>
          </a:p>
        </p:txBody>
      </p:sp>
    </p:spTree>
    <p:extLst>
      <p:ext uri="{BB962C8B-B14F-4D97-AF65-F5344CB8AC3E}">
        <p14:creationId xmlns:p14="http://schemas.microsoft.com/office/powerpoint/2010/main" val="42027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7" grpId="1" animBg="1"/>
      <p:bldP spid="8" grpId="0" animBg="1"/>
      <p:bldP spid="8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18854"/>
            <a:ext cx="4727575" cy="13303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B8D62D-BE99-40AF-BF97-BFAE812B12CE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b057fda7-913b-4ab6-8820-932873bcd66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636</Words>
  <Application>Microsoft Office PowerPoint</Application>
  <PresentationFormat>On-screen Show (16:9)</PresentationFormat>
  <Paragraphs>89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MS PGothic</vt:lpstr>
      <vt:lpstr>Arial</vt:lpstr>
      <vt:lpstr>Calibri</vt:lpstr>
      <vt:lpstr>Cambria Math</vt:lpstr>
      <vt:lpstr>Helvetica</vt:lpstr>
      <vt:lpstr>Helvetica Neue</vt:lpstr>
      <vt:lpstr>Times New Roman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Rodriguez, Ramon S</cp:lastModifiedBy>
  <cp:revision>197</cp:revision>
  <dcterms:modified xsi:type="dcterms:W3CDTF">2020-02-12T20:36:50Z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