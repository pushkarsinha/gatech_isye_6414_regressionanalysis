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23"/>
  </p:notesMasterIdLst>
  <p:handoutMasterIdLst>
    <p:handoutMasterId r:id="rId24"/>
  </p:handoutMasterIdLst>
  <p:sldIdLst>
    <p:sldId id="428" r:id="rId7"/>
    <p:sldId id="429" r:id="rId8"/>
    <p:sldId id="430" r:id="rId9"/>
    <p:sldId id="277" r:id="rId10"/>
    <p:sldId id="279" r:id="rId11"/>
    <p:sldId id="444" r:id="rId12"/>
    <p:sldId id="280" r:id="rId13"/>
    <p:sldId id="443" r:id="rId14"/>
    <p:sldId id="281" r:id="rId15"/>
    <p:sldId id="282" r:id="rId16"/>
    <p:sldId id="410" r:id="rId17"/>
    <p:sldId id="411" r:id="rId18"/>
    <p:sldId id="412" r:id="rId19"/>
    <p:sldId id="283" r:id="rId20"/>
    <p:sldId id="284" r:id="rId21"/>
    <p:sldId id="439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430"/>
            <p14:sldId id="277"/>
            <p14:sldId id="279"/>
            <p14:sldId id="444"/>
            <p14:sldId id="280"/>
            <p14:sldId id="443"/>
            <p14:sldId id="281"/>
            <p14:sldId id="282"/>
            <p14:sldId id="410"/>
            <p14:sldId id="411"/>
            <p14:sldId id="412"/>
            <p14:sldId id="283"/>
            <p14:sldId id="284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  <p15:guide id="9" orient="horz" pos="1476" userDrawn="1">
          <p15:clr>
            <a:srgbClr val="A4A3A4"/>
          </p15:clr>
        </p15:guide>
        <p15:guide id="10" pos="1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4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000000"/>
    <a:srgbClr val="EEB211"/>
    <a:srgbClr val="F8FFF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A1D82-3F03-4D5D-82A0-770C2121DCB5}" v="2" dt="2020-01-30T14:16:57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9" autoAdjust="0"/>
    <p:restoredTop sz="88200" autoAdjust="0"/>
  </p:normalViewPr>
  <p:slideViewPr>
    <p:cSldViewPr snapToGrid="0">
      <p:cViewPr varScale="1">
        <p:scale>
          <a:sx n="145" d="100"/>
          <a:sy n="145" d="100"/>
        </p:scale>
        <p:origin x="498" y="126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  <p:guide orient="horz" pos="1476"/>
        <p:guide pos="1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09A1D82-3F03-4D5D-82A0-770C2121DCB5}"/>
    <pc:docChg chg="modSld">
      <pc:chgData name="" userId="" providerId="" clId="Web-{909A1D82-3F03-4D5D-82A0-770C2121DCB5}" dt="2020-01-30T14:16:59.606" v="2" actId="1076"/>
      <pc:docMkLst>
        <pc:docMk/>
      </pc:docMkLst>
      <pc:sldChg chg="modSp">
        <pc:chgData name="" userId="" providerId="" clId="Web-{909A1D82-3F03-4D5D-82A0-770C2121DCB5}" dt="2020-01-30T14:15:48.606" v="0"/>
        <pc:sldMkLst>
          <pc:docMk/>
          <pc:sldMk cId="1693339278" sldId="428"/>
        </pc:sldMkLst>
        <pc:spChg chg="mod">
          <ac:chgData name="" userId="" providerId="" clId="Web-{909A1D82-3F03-4D5D-82A0-770C2121DCB5}" dt="2020-01-30T14:15:48.606" v="0"/>
          <ac:spMkLst>
            <pc:docMk/>
            <pc:sldMk cId="1693339278" sldId="428"/>
            <ac:spMk id="9" creationId="{00000000-0000-0000-0000-000000000000}"/>
          </ac:spMkLst>
        </pc:spChg>
      </pc:sldChg>
      <pc:sldChg chg="modSp">
        <pc:chgData name="" userId="" providerId="" clId="Web-{909A1D82-3F03-4D5D-82A0-770C2121DCB5}" dt="2020-01-30T14:16:59.606" v="2" actId="1076"/>
        <pc:sldMkLst>
          <pc:docMk/>
          <pc:sldMk cId="438228581" sldId="430"/>
        </pc:sldMkLst>
        <pc:spChg chg="mod">
          <ac:chgData name="" userId="" providerId="" clId="Web-{909A1D82-3F03-4D5D-82A0-770C2121DCB5}" dt="2020-01-30T14:16:59.606" v="2" actId="1076"/>
          <ac:spMkLst>
            <pc:docMk/>
            <pc:sldMk cId="438228581" sldId="43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3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D81EEF1D-FD95-2743-98AB-27E9EAB41342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31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>
              <a:ea typeface="MS PGothic" charset="-128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01AF69E3-A06B-A446-82F2-C10DFD26C4FD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610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>
              <a:ea typeface="MS PGothic" charset="-128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01AF69E3-A06B-A446-82F2-C10DFD26C4FD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8500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32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83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>
              <a:ea typeface="MS PGothic" charset="-128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0516069F-7D35-8746-846A-543A02D01A89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52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717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78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  <p:sldLayoutId id="2147483707" r:id="rId7"/>
    <p:sldLayoutId id="214748370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0.png"/><Relationship Id="rId5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0.png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14503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/>
                <a:ea typeface="Vitesse" charset="0"/>
                <a:cs typeface="Helvetica"/>
              </a:rPr>
              <a:t>Regression Concepts: Estimation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3" y="221670"/>
            <a:ext cx="8562392" cy="99377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Simple Linear Regression: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37029" y="1026041"/>
                <a:ext cx="8231719" cy="29940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Our goal is to find the best line that describes a linear relationship; that is, find </a:t>
                </a:r>
                <a:r>
                  <a:rPr lang="en-US" altLang="en-US" sz="1800" b="1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1800" b="1" i="1" dirty="0" smtClean="0">
                        <a:solidFill>
                          <a:srgbClr val="DFA70B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</m:oMath>
                </a14:m>
                <a:r>
                  <a:rPr lang="en-US" altLang="en-US" sz="1800" b="1" baseline="-25000" dirty="0" smtClean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sz="1800" b="1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1800" b="1" i="1" dirty="0">
                        <a:solidFill>
                          <a:srgbClr val="DFA70B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</m:oMath>
                </a14:m>
                <a:r>
                  <a:rPr lang="en-US" altLang="en-US" sz="1800" b="1" baseline="-25000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1800" b="1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) </a:t>
                </a: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</a:t>
                </a:r>
              </a:p>
              <a:p>
                <a:pPr>
                  <a:defRPr/>
                </a:pP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Y =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18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0</a:t>
                </a:r>
                <a:r>
                  <a:rPr lang="en-US" alt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18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1</a:t>
                </a:r>
                <a:r>
                  <a:rPr lang="en-US" alt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x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ε</m:t>
                    </m:r>
                  </m:oMath>
                </a14:m>
                <a:r>
                  <a:rPr lang="en-US" alt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/>
                </a:r>
                <a:br>
                  <a:rPr lang="en-US" alt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</a:br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r>
                  <a:rPr lang="en-US" sz="1800" b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Equivalently, estimating:</a:t>
                </a:r>
              </a:p>
              <a:p>
                <a:pPr>
                  <a:defRPr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1.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1800" baseline="-25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0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	</a:t>
                </a:r>
                <a:r>
                  <a:rPr lang="en-US" sz="1800" i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Intercept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</a:p>
              <a:p>
                <a:pPr>
                  <a:defRPr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	2.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1800" baseline="-25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1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	</a:t>
                </a:r>
                <a:r>
                  <a:rPr lang="en-US" sz="1800" i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Slope</a:t>
                </a:r>
              </a:p>
              <a:p>
                <a:pPr>
                  <a:defRPr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1800" b="1" dirty="0" smtClean="0">
                        <a:solidFill>
                          <a:srgbClr val="DFA70B"/>
                        </a:solidFill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m:t>ε</m:t>
                    </m:r>
                  </m:oMath>
                </a14:m>
                <a:r>
                  <a:rPr lang="en-US" altLang="en-US" sz="1800" b="1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</a:t>
                </a:r>
                <a:r>
                  <a:rPr 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deviance of the data from the linear model</a:t>
                </a:r>
              </a:p>
              <a:p>
                <a:pPr>
                  <a:defRPr/>
                </a:pPr>
                <a:endParaRPr lang="en-US" sz="18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endParaRPr lang="en-US" sz="1800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37029" y="1026041"/>
                <a:ext cx="8231719" cy="2994025"/>
              </a:xfrm>
              <a:prstGeom prst="rect">
                <a:avLst/>
              </a:prstGeom>
              <a:blipFill>
                <a:blip r:embed="rId3"/>
                <a:stretch>
                  <a:fillRect l="-592" b="-14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22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17" t="10438" r="22957" b="14763"/>
          <a:stretch/>
        </p:blipFill>
        <p:spPr>
          <a:xfrm>
            <a:off x="583092" y="1098897"/>
            <a:ext cx="4930987" cy="38472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/>
              <p:cNvSpPr>
                <a:spLocks noChangeArrowheads="1"/>
              </p:cNvSpPr>
              <p:nvPr/>
            </p:nvSpPr>
            <p:spPr bwMode="auto">
              <a:xfrm>
                <a:off x="5433392" y="1188874"/>
                <a:ext cx="3346173" cy="1785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Our goal is to find the line that describes a linear relationship;  that is, find </a:t>
                </a:r>
                <a:r>
                  <a:rPr lang="en-US" altLang="en-US" b="1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b="1" i="1" dirty="0">
                        <a:solidFill>
                          <a:srgbClr val="DFA70B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</m:oMath>
                </a14:m>
                <a:r>
                  <a:rPr lang="en-US" altLang="en-US" b="1" baseline="-25000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b="1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b="1" i="1" dirty="0">
                        <a:solidFill>
                          <a:srgbClr val="DFA70B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</m:oMath>
                </a14:m>
                <a:r>
                  <a:rPr lang="en-US" altLang="en-US" b="1" baseline="-25000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b="1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)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</a:p>
              <a:p>
                <a:pPr eaLnBrk="1" hangingPunct="1">
                  <a:defRPr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</a:t>
                </a:r>
              </a:p>
              <a:p>
                <a:pPr>
                  <a:defRPr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      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Y =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ε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/>
                </a:r>
                <a:b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</a:br>
                <a:endParaRPr lang="en-US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3392" y="1188874"/>
                <a:ext cx="3346173" cy="1785104"/>
              </a:xfrm>
              <a:prstGeom prst="rect">
                <a:avLst/>
              </a:prstGeom>
              <a:blipFill>
                <a:blip r:embed="rId4"/>
                <a:stretch>
                  <a:fillRect l="-1457" t="-1706" r="-32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113203" y="221670"/>
            <a:ext cx="8562392" cy="993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Simple Linear Regression: Model</a:t>
            </a:r>
          </a:p>
        </p:txBody>
      </p:sp>
    </p:spTree>
    <p:extLst>
      <p:ext uri="{BB962C8B-B14F-4D97-AF65-F5344CB8AC3E}">
        <p14:creationId xmlns:p14="http://schemas.microsoft.com/office/powerpoint/2010/main" val="307587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Text Box 3"/>
              <p:cNvSpPr txBox="1">
                <a:spLocks noChangeArrowheads="1"/>
              </p:cNvSpPr>
              <p:nvPr/>
            </p:nvSpPr>
            <p:spPr bwMode="auto">
              <a:xfrm>
                <a:off x="135837" y="984176"/>
                <a:ext cx="5772150" cy="7386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18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sz="2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{(x</a:t>
                </a:r>
                <a:r>
                  <a:rPr lang="en-US" altLang="en-US" sz="2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,y</a:t>
                </a:r>
                <a:r>
                  <a:rPr lang="en-US" altLang="en-US" sz="2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),…,(</a:t>
                </a:r>
                <a:r>
                  <a:rPr lang="en-US" altLang="en-US" sz="21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sz="21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sz="21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,y</a:t>
                </a:r>
                <a:r>
                  <a:rPr lang="en-US" altLang="en-US" sz="21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)} </a:t>
                </a:r>
              </a:p>
              <a:p>
                <a:pPr>
                  <a:defRPr/>
                </a:pPr>
                <a:r>
                  <a:rPr lang="en-US" alt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Model</a:t>
                </a:r>
                <a:r>
                  <a:rPr lang="en-US" alt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sz="2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Y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ε</m:t>
                    </m:r>
                  </m:oMath>
                </a14:m>
                <a:r>
                  <a:rPr lang="en-US" altLang="en-US" sz="2100" b="1" baseline="-250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1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 =1,…,n</a:t>
                </a:r>
                <a:endParaRPr lang="en-US" altLang="en-US" sz="21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19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837" y="984176"/>
                <a:ext cx="5772150" cy="738664"/>
              </a:xfrm>
              <a:prstGeom prst="rect">
                <a:avLst/>
              </a:prstGeom>
              <a:blipFill>
                <a:blip r:embed="rId3"/>
                <a:stretch>
                  <a:fillRect l="-845" t="-4918" b="-1639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Rectangle 9"/>
              <p:cNvSpPr>
                <a:spLocks noChangeArrowheads="1"/>
              </p:cNvSpPr>
              <p:nvPr/>
            </p:nvSpPr>
            <p:spPr bwMode="auto">
              <a:xfrm>
                <a:off x="149088" y="2064531"/>
                <a:ext cx="7710721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 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Linearity/Mean Zero Assumption: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E(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= 0</a:t>
                </a:r>
              </a:p>
              <a:p>
                <a:pPr marL="457200" indent="-457200" eaLnBrk="1" hangingPunct="1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Var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baseline="30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}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Later we assume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~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Normal)</a:t>
                </a:r>
              </a:p>
            </p:txBody>
          </p:sp>
        </mc:Choice>
        <mc:Fallback xmlns="">
          <p:sp>
            <p:nvSpPr>
              <p:cNvPr id="820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088" y="2064531"/>
                <a:ext cx="7710721" cy="2308324"/>
              </a:xfrm>
              <a:prstGeom prst="rect">
                <a:avLst/>
              </a:prstGeom>
              <a:blipFill>
                <a:blip r:embed="rId4"/>
                <a:stretch>
                  <a:fillRect l="-632" t="-1587" b="-34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113203" y="221670"/>
            <a:ext cx="8562392" cy="993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Simple Linear Regression: Model</a:t>
            </a:r>
          </a:p>
        </p:txBody>
      </p:sp>
    </p:spTree>
    <p:extLst>
      <p:ext uri="{BB962C8B-B14F-4D97-AF65-F5344CB8AC3E}">
        <p14:creationId xmlns:p14="http://schemas.microsoft.com/office/powerpoint/2010/main" val="409086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3203" y="221670"/>
            <a:ext cx="8562392" cy="993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Simple Linear Regression: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F8E6DB-731C-40DE-90AD-E459709B3C8A}"/>
                  </a:ext>
                </a:extLst>
              </p:cNvPr>
              <p:cNvSpPr txBox="1"/>
              <p:nvPr/>
            </p:nvSpPr>
            <p:spPr>
              <a:xfrm>
                <a:off x="5524500" y="1010680"/>
                <a:ext cx="3291508" cy="203132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385D8A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b="1" i="1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model parameters are: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𝜷</m:t>
                    </m:r>
                  </m:oMath>
                </a14:m>
                <a:r>
                  <a:rPr lang="en-US" b="1" i="1" baseline="-2500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0</a:t>
                </a:r>
                <a:r>
                  <a:rPr lang="en-US" b="1" i="1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𝜷</m:t>
                    </m:r>
                  </m:oMath>
                </a14:m>
                <a:r>
                  <a:rPr lang="en-US" b="1" i="1" baseline="-2500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en-US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, </m:t>
                    </m:r>
                    <m:r>
                      <a:rPr lang="en-US" altLang="en-US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𝝈</m:t>
                    </m:r>
                  </m:oMath>
                </a14:m>
                <a:r>
                  <a:rPr lang="en-US" altLang="en-US" b="1" i="1" baseline="3000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</a:t>
                </a:r>
                <a:endParaRPr lang="en-US" b="1" i="1" dirty="0">
                  <a:solidFill>
                    <a:schemeClr val="bg2">
                      <a:lumMod val="1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257175" indent="-257175">
                  <a:buFont typeface="Arial" panose="020B0604020202020204" pitchFamily="34" charset="0"/>
                  <a:buChar char="•"/>
                  <a:defRPr/>
                </a:pPr>
                <a:r>
                  <a:rPr lang="en-US" b="1" i="1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Unknown regardless how much data are observed</a:t>
                </a:r>
              </a:p>
              <a:p>
                <a:pPr marL="257175" indent="-257175">
                  <a:buFont typeface="Arial" panose="020B0604020202020204" pitchFamily="34" charset="0"/>
                  <a:buChar char="•"/>
                  <a:defRPr/>
                </a:pPr>
                <a:r>
                  <a:rPr lang="en-US" b="1" i="1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Estimated given the model assumptions</a:t>
                </a:r>
              </a:p>
              <a:p>
                <a:pPr marL="257175" indent="-257175">
                  <a:buFont typeface="Arial" panose="020B0604020202020204" pitchFamily="34" charset="0"/>
                  <a:buChar char="•"/>
                  <a:defRPr/>
                </a:pPr>
                <a:r>
                  <a:rPr lang="en-US" b="1" i="1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Estimated based on data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F8E6DB-731C-40DE-90AD-E459709B3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0" y="1010680"/>
                <a:ext cx="3291508" cy="2031325"/>
              </a:xfrm>
              <a:prstGeom prst="rect">
                <a:avLst/>
              </a:prstGeom>
              <a:blipFill>
                <a:blip r:embed="rId5"/>
                <a:stretch>
                  <a:fillRect l="-916" t="-885" r="-549" b="-2950"/>
                </a:stretch>
              </a:blipFill>
              <a:ln w="38100">
                <a:solidFill>
                  <a:srgbClr val="385D8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9"/>
              <p:cNvSpPr>
                <a:spLocks noChangeArrowheads="1"/>
              </p:cNvSpPr>
              <p:nvPr/>
            </p:nvSpPr>
            <p:spPr bwMode="auto">
              <a:xfrm>
                <a:off x="149088" y="2064531"/>
                <a:ext cx="7710721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 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Linearity/Mean Zero Assumption: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E(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= 0</a:t>
                </a:r>
              </a:p>
              <a:p>
                <a:pPr marL="457200" indent="-457200" eaLnBrk="1" hangingPunct="1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Var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baseline="30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}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Later we assume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~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Normal)</a:t>
                </a:r>
              </a:p>
            </p:txBody>
          </p:sp>
        </mc:Choice>
        <mc:Fallback xmlns="">
          <p:sp>
            <p:nvSpPr>
              <p:cNvPr id="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088" y="2064531"/>
                <a:ext cx="7710721" cy="2308324"/>
              </a:xfrm>
              <a:prstGeom prst="rect">
                <a:avLst/>
              </a:prstGeom>
              <a:blipFill>
                <a:blip r:embed="rId6"/>
                <a:stretch>
                  <a:fillRect l="-632" t="-1587" b="-34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135837" y="984176"/>
                <a:ext cx="5772150" cy="7386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18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sz="2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{(x</a:t>
                </a:r>
                <a:r>
                  <a:rPr lang="en-US" altLang="en-US" sz="2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,y</a:t>
                </a:r>
                <a:r>
                  <a:rPr lang="en-US" altLang="en-US" sz="2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),…,(</a:t>
                </a:r>
                <a:r>
                  <a:rPr lang="en-US" altLang="en-US" sz="21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sz="21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sz="21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,y</a:t>
                </a:r>
                <a:r>
                  <a:rPr lang="en-US" altLang="en-US" sz="21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)} </a:t>
                </a:r>
              </a:p>
              <a:p>
                <a:pPr>
                  <a:defRPr/>
                </a:pPr>
                <a:r>
                  <a:rPr lang="en-US" alt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Model</a:t>
                </a:r>
                <a:r>
                  <a:rPr lang="en-US" alt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sz="2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Y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ε</m:t>
                    </m:r>
                  </m:oMath>
                </a14:m>
                <a:r>
                  <a:rPr lang="en-US" altLang="en-US" sz="2100" b="1" baseline="-250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1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 =1,…,n</a:t>
                </a:r>
                <a:endParaRPr lang="en-US" altLang="en-US" sz="21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837" y="984176"/>
                <a:ext cx="5772150" cy="738664"/>
              </a:xfrm>
              <a:prstGeom prst="rect">
                <a:avLst/>
              </a:prstGeom>
              <a:blipFill>
                <a:blip r:embed="rId7"/>
                <a:stretch>
                  <a:fillRect l="-845" t="-4918" b="-1639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72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4578" name="Text Box 3"/>
              <p:cNvSpPr txBox="1">
                <a:spLocks noChangeArrowheads="1"/>
              </p:cNvSpPr>
              <p:nvPr/>
            </p:nvSpPr>
            <p:spPr bwMode="auto">
              <a:xfrm>
                <a:off x="155644" y="995045"/>
                <a:ext cx="3680411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To estimate 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a:rPr lang="en-US" altLang="en-US" b="0" i="0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,</m:t>
                    </m:r>
                  </m:oMath>
                </a14:m>
                <a:r>
                  <a:rPr lang="en-US" altLang="en-US" dirty="0"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a:rPr lang="en-US" alt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 ,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 find values that minimize sum of squared errors:</a:t>
                </a:r>
              </a:p>
            </p:txBody>
          </p:sp>
        </mc:Choice>
        <mc:Fallback>
          <p:sp>
            <p:nvSpPr>
              <p:cNvPr id="2457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644" y="995045"/>
                <a:ext cx="3680411" cy="923330"/>
              </a:xfrm>
              <a:prstGeom prst="rect">
                <a:avLst/>
              </a:prstGeom>
              <a:blipFill>
                <a:blip r:embed="rId3"/>
                <a:stretch>
                  <a:fillRect l="-1493" t="-3947" b="-92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6" name="AutoShape 11"/>
          <p:cNvSpPr>
            <a:spLocks noChangeArrowheads="1"/>
          </p:cNvSpPr>
          <p:nvPr/>
        </p:nvSpPr>
        <p:spPr bwMode="auto">
          <a:xfrm>
            <a:off x="3925683" y="2389584"/>
            <a:ext cx="732235" cy="364331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EEB21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charset="0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10302" y="208516"/>
            <a:ext cx="78421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Model Estimation: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989574" y="-171826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>
              <a:lnSpc>
                <a:spcPts val="1200"/>
              </a:lnSpc>
            </a:pPr>
            <a:endParaRPr lang="en-US" sz="120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960" y="995045"/>
            <a:ext cx="4198396" cy="29270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541051" y="1811699"/>
                <a:ext cx="3056150" cy="1382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s-I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  <m:brk m:alnAt="23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sup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sz="2800" b="0" i="0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2800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β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0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β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i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nor/>
                            </m:rPr>
                            <a:rPr lang="en-US" sz="2800" b="0" i="0" baseline="30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51" y="1811699"/>
                <a:ext cx="3056150" cy="13820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68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4578" name="Text Box 3"/>
              <p:cNvSpPr txBox="1">
                <a:spLocks noChangeArrowheads="1"/>
              </p:cNvSpPr>
              <p:nvPr/>
            </p:nvSpPr>
            <p:spPr bwMode="auto">
              <a:xfrm>
                <a:off x="155643" y="1007228"/>
                <a:ext cx="745012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To estimate 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i="0" dirty="0">
                        <a:latin typeface="Cambria Math" charset="0"/>
                        <a:ea typeface="Cambria Math" charset="0"/>
                        <a:cs typeface="Cambria Math" charset="0"/>
                      </a:rPr>
                      <m:t>β</m:t>
                    </m:r>
                  </m:oMath>
                </a14:m>
                <a:r>
                  <a:rPr lang="en-US" altLang="en-US" baseline="-250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,</a:t>
                </a:r>
                <a:r>
                  <a:rPr lang="en-US" alt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i="0" dirty="0">
                        <a:latin typeface="Cambria Math" charset="0"/>
                        <a:ea typeface="Cambria Math" charset="0"/>
                        <a:cs typeface="Cambria Math" charset="0"/>
                      </a:rPr>
                      <m:t>β</m:t>
                    </m:r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),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 find values that minimize squared error:</a:t>
                </a:r>
              </a:p>
            </p:txBody>
          </p:sp>
        </mc:Choice>
        <mc:Fallback>
          <p:sp>
            <p:nvSpPr>
              <p:cNvPr id="2457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643" y="1007228"/>
                <a:ext cx="7450121" cy="369332"/>
              </a:xfrm>
              <a:prstGeom prst="rect">
                <a:avLst/>
              </a:prstGeom>
              <a:blipFill>
                <a:blip r:embed="rId3"/>
                <a:stretch>
                  <a:fillRect l="-736" t="-9836" b="-229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-1989574" y="-171826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>
              <a:lnSpc>
                <a:spcPts val="1200"/>
              </a:lnSpc>
            </a:pPr>
            <a:endParaRPr lang="en-US" sz="120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869474-F784-4B6C-8477-1E3814BB413E}"/>
              </a:ext>
            </a:extLst>
          </p:cNvPr>
          <p:cNvGrpSpPr/>
          <p:nvPr/>
        </p:nvGrpSpPr>
        <p:grpSpPr>
          <a:xfrm>
            <a:off x="4848796" y="1646786"/>
            <a:ext cx="3719478" cy="1990461"/>
            <a:chOff x="4724407" y="2165682"/>
            <a:chExt cx="3618622" cy="1990461"/>
          </a:xfrm>
        </p:grpSpPr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50F2D3FA-626A-4B41-A55A-88971ABDD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551" y="2165682"/>
              <a:ext cx="3567478" cy="1990461"/>
            </a:xfrm>
            <a:prstGeom prst="rect">
              <a:avLst/>
            </a:prstGeom>
            <a:solidFill>
              <a:schemeClr val="bg1">
                <a:alpha val="4000"/>
              </a:schemeClr>
            </a:solidFill>
            <a:ln w="12700">
              <a:solidFill>
                <a:srgbClr val="385D8A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en-US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7975D3B-0848-4E57-9EAA-8BAF0F5D430B}"/>
                    </a:ext>
                  </a:extLst>
                </p:cNvPr>
                <p:cNvSpPr txBox="1"/>
                <p:nvPr/>
              </p:nvSpPr>
              <p:spPr>
                <a:xfrm>
                  <a:off x="4724407" y="2348259"/>
                  <a:ext cx="2682212" cy="546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𝛽</m:t>
                          </m:r>
                        </m:e>
                      </m:acc>
                      <m:r>
                        <a:rPr lang="en-US" sz="2800" b="0" i="0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0</m:t>
                      </m:r>
                    </m:oMath>
                  </a14:m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KishoreFont Medium" charset="0"/>
                    </a:rPr>
                    <a:t> =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y</m:t>
                          </m:r>
                        </m:e>
                      </m:acc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−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𝛽</m:t>
                          </m:r>
                        </m:e>
                      </m:acc>
                      <m:r>
                        <a:rPr lang="en-US" sz="2800" b="0" i="0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1</m:t>
                      </m:r>
                      <m:acc>
                        <m:accPr>
                          <m:chr m:val="̅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x</m:t>
                          </m:r>
                        </m:e>
                      </m:acc>
                    </m:oMath>
                  </a14:m>
                  <a:endPara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7975D3B-0848-4E57-9EAA-8BAF0F5D4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407" y="2348259"/>
                  <a:ext cx="2682212" cy="546560"/>
                </a:xfrm>
                <a:prstGeom prst="rect">
                  <a:avLst/>
                </a:prstGeom>
                <a:blipFill>
                  <a:blip r:embed="rId4"/>
                  <a:stretch>
                    <a:fillRect t="-6667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B9C052-0F40-401F-AB8B-100FBC17780B}"/>
                  </a:ext>
                </a:extLst>
              </p:cNvPr>
              <p:cNvSpPr txBox="1"/>
              <p:nvPr/>
            </p:nvSpPr>
            <p:spPr>
              <a:xfrm>
                <a:off x="4937773" y="2552041"/>
                <a:ext cx="3609899" cy="1073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</m:acc>
                    <m:r>
                      <a:rPr lang="en-US" sz="2800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1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28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xy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sz="2800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xx</m:t>
                        </m:r>
                        <m:r>
                          <a:rPr lang="en-US" sz="2800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bg-BG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≡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US" sz="28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sz="2800" baseline="-25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xi</m:t>
                            </m:r>
                            <m:r>
                              <m:rPr>
                                <m:nor/>
                              </m:rPr>
                              <a:rPr lang="en-US" sz="28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-US" sz="28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)</m:t>
                            </m:r>
                          </m:e>
                        </m:nary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xi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8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B9C052-0F40-401F-AB8B-100FBC177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73" y="2552041"/>
                <a:ext cx="3609899" cy="10736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1051" y="1811699"/>
                <a:ext cx="3056150" cy="1382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s-I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  <m:brk m:alnAt="23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sup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sz="2800" b="0" i="0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β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0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β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800" b="0" i="0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i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nor/>
                            </m:rPr>
                            <a:rPr lang="en-US" sz="2800" b="0" i="0" baseline="30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51" y="1811699"/>
                <a:ext cx="3056150" cy="13820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3925683" y="2389584"/>
            <a:ext cx="732235" cy="364331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EEB21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10302" y="208516"/>
            <a:ext cx="78421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Model Estimation: Approach</a:t>
            </a:r>
          </a:p>
        </p:txBody>
      </p:sp>
    </p:spTree>
    <p:extLst>
      <p:ext uri="{BB962C8B-B14F-4D97-AF65-F5344CB8AC3E}">
        <p14:creationId xmlns:p14="http://schemas.microsoft.com/office/powerpoint/2010/main" val="76682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469226" y="801189"/>
                <a:ext cx="5239833" cy="8338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600" i="0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600" i="0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16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sz="1600" b="0" i="0" kern="10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600" i="0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600" b="0" i="0" kern="10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i="0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β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kern="100" smtClean="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b="0" i="0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i="0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β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kern="100" smtClean="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i="0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600" i="0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sz="1600" i="0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1600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226" y="801189"/>
                <a:ext cx="5239833" cy="833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497497" y="1825515"/>
                <a:ext cx="3864605" cy="15754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∂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600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600" i="0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600" i="0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600" i="0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sz="1600" i="0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en-US" sz="1600" i="0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i="0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0</m:t>
                      </m:r>
                    </m:oMath>
                  </m:oMathPara>
                </a14:m>
                <a:endParaRPr lang="en-US" sz="1600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∂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600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600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600" i="0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600" i="0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600" i="0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sz="1600" i="0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kern="100" smtClean="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600" i="0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en-US" sz="1600" i="0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i="0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0</m:t>
                      </m:r>
                    </m:oMath>
                  </m:oMathPara>
                </a14:m>
                <a:endParaRPr lang="en-US" sz="1600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497" y="1825515"/>
                <a:ext cx="3864605" cy="15754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25882" y="3705170"/>
                <a:ext cx="4022527" cy="10904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sz="1600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Result</a:t>
                </a:r>
                <a:r>
                  <a:rPr lang="en-US" sz="1600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into a system of linear equation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kern="100" dirty="0" smtClean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sz="1600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a:rPr lang="en-US" sz="16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en-US" sz="16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Solve using linear algebra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sz="1600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Solutions to the system </a:t>
                </a:r>
                <a:r>
                  <a:rPr lang="en-US" sz="1600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</m:acc>
                    <m:r>
                      <a:rPr lang="en-US" sz="1600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0</m:t>
                    </m:r>
                  </m:oMath>
                </a14:m>
                <a:r>
                  <a:rPr lang="en-US" sz="1600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600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</m:acc>
                    <m:r>
                      <a:rPr lang="en-US" sz="1600" baseline="-25000"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1</m:t>
                    </m:r>
                  </m:oMath>
                </a14:m>
                <a:endParaRPr lang="en-US" sz="1600" kern="100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82" y="3705170"/>
                <a:ext cx="4022527" cy="1090491"/>
              </a:xfrm>
              <a:prstGeom prst="rect">
                <a:avLst/>
              </a:prstGeom>
              <a:blipFill>
                <a:blip r:embed="rId5"/>
                <a:stretch>
                  <a:fillRect l="-606" t="-1676" r="-3182" b="-6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7">
            <a:extLst>
              <a:ext uri="{FF2B5EF4-FFF2-40B4-BE49-F238E27FC236}">
                <a16:creationId xmlns:a16="http://schemas.microsoft.com/office/drawing/2014/main" id="{CA3B84D0-45FA-42AB-A226-D703FBED7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43271"/>
            <a:ext cx="2580640" cy="1052390"/>
          </a:xfrm>
          <a:prstGeom prst="rect">
            <a:avLst/>
          </a:prstGeom>
          <a:solidFill>
            <a:schemeClr val="bg1">
              <a:alpha val="4000"/>
            </a:schemeClr>
          </a:solidFill>
          <a:ln w="12700">
            <a:solidFill>
              <a:srgbClr val="385D8A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ED649B-731F-479E-9F77-AAC510E654B4}"/>
                  </a:ext>
                </a:extLst>
              </p:cNvPr>
              <p:cNvSpPr txBox="1"/>
              <p:nvPr/>
            </p:nvSpPr>
            <p:spPr>
              <a:xfrm>
                <a:off x="4619727" y="4210296"/>
                <a:ext cx="3141375" cy="512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</m:acc>
                    <m:r>
                      <a:rPr lang="en-US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xy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xx</m:t>
                        </m:r>
                        <m:r>
                          <a:rPr lang="en-US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bg-BG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≡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x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)</m:t>
                            </m:r>
                          </m:e>
                        </m:nary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en-US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ED649B-731F-479E-9F77-AAC510E65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727" y="4210296"/>
                <a:ext cx="3141375" cy="512384"/>
              </a:xfrm>
              <a:prstGeom prst="rect">
                <a:avLst/>
              </a:prstGeom>
              <a:blipFill>
                <a:blip r:embed="rId6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CED449A-73B5-4E44-8ED3-4C33FF6884B8}"/>
                  </a:ext>
                </a:extLst>
              </p:cNvPr>
              <p:cNvSpPr txBox="1"/>
              <p:nvPr/>
            </p:nvSpPr>
            <p:spPr>
              <a:xfrm>
                <a:off x="4541931" y="3769690"/>
                <a:ext cx="3059597" cy="38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</m:acc>
                    <m:r>
                      <a:rPr lang="en-US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0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−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</m:acc>
                    <m:r>
                      <a:rPr lang="en-US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x</m:t>
                        </m:r>
                      </m:e>
                    </m:acc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CED449A-73B5-4E44-8ED3-4C33FF688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931" y="3769690"/>
                <a:ext cx="3059597" cy="384336"/>
              </a:xfrm>
              <a:prstGeom prst="rect">
                <a:avLst/>
              </a:prstGeom>
              <a:blipFill>
                <a:blip r:embed="rId7"/>
                <a:stretch>
                  <a:fillRect l="-598" t="-6349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5644" y="200640"/>
            <a:ext cx="78421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Model Estimation: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49018" y="2270788"/>
            <a:ext cx="39993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kern="100" dirty="0">
                <a:latin typeface="Helvetica" pitchFamily="2" charset="0"/>
                <a:ea typeface="KishoreFont Medium" charset="0"/>
                <a:cs typeface="KishoreFont Medium" charset="0"/>
              </a:rPr>
              <a:t>To solve, take the first order derivatives of the function to be minimized and equate to 0: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362" y="1030854"/>
            <a:ext cx="35237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600" kern="100" dirty="0">
                <a:latin typeface="Helvetica" pitchFamily="2" charset="0"/>
                <a:ea typeface="KishoreFont Medium" charset="0"/>
                <a:cs typeface="KishoreFont Medium" charset="0"/>
              </a:rPr>
              <a:t>Begin with the minimization problem:</a:t>
            </a:r>
          </a:p>
        </p:txBody>
      </p:sp>
    </p:spTree>
    <p:extLst>
      <p:ext uri="{BB962C8B-B14F-4D97-AF65-F5344CB8AC3E}">
        <p14:creationId xmlns:p14="http://schemas.microsoft.com/office/powerpoint/2010/main" val="123218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650" name="Text Box 3"/>
              <p:cNvSpPr txBox="1">
                <a:spLocks noChangeArrowheads="1"/>
              </p:cNvSpPr>
              <p:nvPr/>
            </p:nvSpPr>
            <p:spPr bwMode="auto">
              <a:xfrm>
                <a:off x="153014" y="1014498"/>
                <a:ext cx="6286500" cy="29335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Given the estimates of b</a:t>
                </a:r>
                <a:r>
                  <a:rPr lang="en-US" altLang="en-US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and b</a:t>
                </a:r>
                <a:r>
                  <a:rPr lang="en-US" altLang="en-US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we define: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Fitted values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en-US" sz="20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a:rPr lang="en-US" altLang="en-US" sz="2000" b="0" i="0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i</m:t>
                    </m: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</m:acc>
                    <m:r>
                      <a:rPr lang="en-US" sz="2000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0</m:t>
                    </m: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</m:acc>
                    <m:r>
                      <a:rPr lang="en-US" sz="2000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1</m:t>
                    </m: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Residuals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r>
                  <a:rPr lang="en-US" altLang="en-US" sz="2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	    </a:t>
                </a:r>
                <a:r>
                  <a:rPr lang="en-US" alt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r</a:t>
                </a:r>
                <a:r>
                  <a:rPr lang="en-US" altLang="en-US" sz="20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ε</m:t>
                        </m:r>
                      </m:e>
                    </m:acc>
                    <m:r>
                      <m:rPr>
                        <m:sty m:val="p"/>
                      </m:rPr>
                      <a:rPr lang="en-US" altLang="en-US" sz="2000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i</m:t>
                    </m:r>
                    <m:r>
                      <a:rPr lang="en-US" altLang="en-US" sz="20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 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a:rPr lang="en-US" altLang="en-US" sz="20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i</m:t>
                    </m:r>
                  </m:oMath>
                </a14:m>
                <a:endParaRPr lang="en-US" alt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457200" indent="-457200" eaLnBrk="1" hangingPunct="1">
                  <a:spcBef>
                    <a:spcPts val="2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Mean squared error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Estimator for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altLang="en-US" baseline="30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2</a:t>
                </a:r>
                <a:endParaRPr lang="en-US" alt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en-US" sz="2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                        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MSE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bg-BG" alt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nor/>
                              </m:rPr>
                              <a:rPr lang="en-US" altLang="en-US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altLang="en-US" sz="2000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en-US" sz="2000" baseline="30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2</m:t>
                            </m:r>
                          </m:e>
                        </m:nary>
                      </m:num>
                      <m:den>
                        <m:r>
                          <m:rPr>
                            <m:nor/>
                          </m:rPr>
                          <a:rPr lang="en-US" alt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−2</m:t>
                        </m:r>
                      </m:den>
                    </m:f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alt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en-US" sz="20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SSE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en-US" sz="20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en-US" sz="20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−2</m:t>
                        </m:r>
                      </m:den>
                    </m:f>
                  </m:oMath>
                </a14:m>
                <a:endParaRPr lang="en-US" altLang="en-US" sz="2800" b="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en-US" alt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7650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014" y="1014498"/>
                <a:ext cx="6286500" cy="2933560"/>
              </a:xfrm>
              <a:prstGeom prst="rect">
                <a:avLst/>
              </a:prstGeom>
              <a:blipFill>
                <a:blip r:embed="rId2"/>
                <a:stretch>
                  <a:fillRect l="-776" t="-10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2294280" y="1477617"/>
            <a:ext cx="1641615" cy="398091"/>
          </a:xfrm>
          <a:prstGeom prst="rect">
            <a:avLst/>
          </a:prstGeom>
          <a:noFill/>
          <a:ln w="12700">
            <a:solidFill>
              <a:srgbClr val="38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94280" y="1968832"/>
            <a:ext cx="1641616" cy="374318"/>
          </a:xfrm>
          <a:prstGeom prst="rect">
            <a:avLst/>
          </a:prstGeom>
          <a:noFill/>
          <a:ln w="12700">
            <a:solidFill>
              <a:srgbClr val="38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286979" y="2933169"/>
            <a:ext cx="2376373" cy="611788"/>
          </a:xfrm>
          <a:prstGeom prst="rect">
            <a:avLst/>
          </a:prstGeom>
          <a:noFill/>
          <a:ln w="12700">
            <a:solidFill>
              <a:srgbClr val="385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49" name="Text Box 2"/>
          <p:cNvSpPr txBox="1">
            <a:spLocks noChangeArrowheads="1"/>
          </p:cNvSpPr>
          <p:nvPr/>
        </p:nvSpPr>
        <p:spPr bwMode="auto">
          <a:xfrm>
            <a:off x="119884" y="213735"/>
            <a:ext cx="77348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Fitted Values and Residuals</a:t>
            </a:r>
          </a:p>
        </p:txBody>
      </p:sp>
    </p:spTree>
    <p:extLst>
      <p:ext uri="{BB962C8B-B14F-4D97-AF65-F5344CB8AC3E}">
        <p14:creationId xmlns:p14="http://schemas.microsoft.com/office/powerpoint/2010/main" val="115176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5"/>
              <p:cNvSpPr txBox="1"/>
              <p:nvPr/>
            </p:nvSpPr>
            <p:spPr>
              <a:xfrm>
                <a:off x="1954239" y="3277137"/>
                <a:ext cx="5597228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en-US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Estimating</a:t>
                </a:r>
                <a:r>
                  <a:rPr lang="en-US" sz="2800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σ</m:t>
                    </m:r>
                  </m:oMath>
                </a14:m>
                <a:r>
                  <a:rPr lang="en-US" sz="2400" kern="1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</a:t>
                </a:r>
                <a:r>
                  <a:rPr lang="en-US" sz="2800" kern="100" baseline="300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</a:t>
                </a:r>
                <a:r>
                  <a:rPr lang="en-US" sz="2800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         </a:t>
                </a:r>
                <a:r>
                  <a:rPr lang="en-US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Sample </a:t>
                </a:r>
                <a:r>
                  <a:rPr lang="en-US" kern="100" dirty="0" smtClean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variance</a:t>
                </a:r>
                <a:endParaRPr lang="en-US" kern="100" dirty="0">
                  <a:effectLst/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239" y="3277137"/>
                <a:ext cx="5597228" cy="523220"/>
              </a:xfrm>
              <a:prstGeom prst="rect">
                <a:avLst/>
              </a:prstGeom>
              <a:blipFill>
                <a:blip r:embed="rId2"/>
                <a:stretch>
                  <a:fillRect l="-980" b="-141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6"/>
          <p:cNvCxnSpPr/>
          <p:nvPr/>
        </p:nvCxnSpPr>
        <p:spPr>
          <a:xfrm flipH="1">
            <a:off x="3698241" y="3558331"/>
            <a:ext cx="654435" cy="7359"/>
          </a:xfrm>
          <a:prstGeom prst="straightConnector1">
            <a:avLst/>
          </a:prstGeom>
          <a:ln w="9525"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线箭头连接符 6"/>
          <p:cNvCxnSpPr/>
          <p:nvPr/>
        </p:nvCxnSpPr>
        <p:spPr>
          <a:xfrm flipH="1" flipV="1">
            <a:off x="2095500" y="2971535"/>
            <a:ext cx="9625" cy="356636"/>
          </a:xfrm>
          <a:prstGeom prst="straightConnector1">
            <a:avLst/>
          </a:prstGeom>
          <a:ln w="9525"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4"/>
          <p:cNvSpPr txBox="1"/>
          <p:nvPr/>
        </p:nvSpPr>
        <p:spPr>
          <a:xfrm>
            <a:off x="84011" y="2244054"/>
            <a:ext cx="2608446" cy="710949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endParaRPr lang="en-US" kern="100" dirty="0">
              <a:solidFill>
                <a:srgbClr val="993200"/>
              </a:solidFill>
              <a:effectLst/>
              <a:latin typeface="Helvetica" panose="020B0604020202020204" pitchFamily="34" charset="0"/>
              <a:ea typeface="KishoreFont Medium" charset="0"/>
              <a:cs typeface="Helvetica" panose="020B0604020202020204" pitchFamily="34" charset="0"/>
            </a:endParaRPr>
          </a:p>
          <a:p>
            <a:r>
              <a:rPr lang="en-US" kern="100" dirty="0">
                <a:solidFill>
                  <a:srgbClr val="993200"/>
                </a:solidFill>
                <a:effectLst/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 </a:t>
            </a:r>
            <a:r>
              <a:rPr lang="en-US" kern="100" dirty="0">
                <a:solidFill>
                  <a:schemeClr val="tx1"/>
                </a:solidFill>
                <a:effectLst/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Assuming</a:t>
            </a:r>
            <a:endParaRPr lang="en-US" sz="2000" kern="100" baseline="30000" dirty="0">
              <a:solidFill>
                <a:schemeClr val="tx1"/>
              </a:solidFill>
              <a:effectLst/>
              <a:latin typeface="Helvetica" panose="020B0604020202020204" pitchFamily="34" charset="0"/>
              <a:ea typeface="KishoreFont Medium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43620" y="2408638"/>
                <a:ext cx="24329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~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~ N(0,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4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σ</m:t>
                    </m:r>
                  </m:oMath>
                </a14:m>
                <a:r>
                  <a:rPr lang="en-US" sz="24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2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620" y="2408638"/>
                <a:ext cx="2432910" cy="461665"/>
              </a:xfrm>
              <a:prstGeom prst="rect">
                <a:avLst/>
              </a:prstGeom>
              <a:blipFill>
                <a:blip r:embed="rId3"/>
                <a:stretch>
                  <a:fillRect t="-10526" r="-300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F35C729-7B39-4435-BBB8-9A11D8874CB5}"/>
              </a:ext>
            </a:extLst>
          </p:cNvPr>
          <p:cNvSpPr/>
          <p:nvPr/>
        </p:nvSpPr>
        <p:spPr>
          <a:xfrm>
            <a:off x="1954239" y="1849808"/>
            <a:ext cx="58325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chi-squared distribution with n-2 degrees of </a:t>
            </a:r>
            <a:r>
              <a:rPr lang="en-US" dirty="0" smtClean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freedom) 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4EDD6F-99A7-49AC-8D6C-F76791C999F8}"/>
                  </a:ext>
                </a:extLst>
              </p:cNvPr>
              <p:cNvSpPr txBox="1"/>
              <p:nvPr/>
            </p:nvSpPr>
            <p:spPr>
              <a:xfrm>
                <a:off x="167983" y="906834"/>
                <a:ext cx="2577757" cy="7534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~ 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latin typeface="KishoreFont Medium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C4EDD6F-99A7-49AC-8D6C-F76791C99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" y="906834"/>
                <a:ext cx="2577757" cy="753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">
            <a:extLst>
              <a:ext uri="{FF2B5EF4-FFF2-40B4-BE49-F238E27FC236}">
                <a16:creationId xmlns:a16="http://schemas.microsoft.com/office/drawing/2014/main" id="{7FFA148D-3878-4489-BE43-A5407C488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84" y="213735"/>
            <a:ext cx="77348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Variance Sampling Distribution</a:t>
            </a:r>
          </a:p>
        </p:txBody>
      </p:sp>
    </p:spTree>
    <p:extLst>
      <p:ext uri="{BB962C8B-B14F-4D97-AF65-F5344CB8AC3E}">
        <p14:creationId xmlns:p14="http://schemas.microsoft.com/office/powerpoint/2010/main" val="197685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54699" y="1032884"/>
                <a:ext cx="8119850" cy="8830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kern="100" dirty="0">
                    <a:solidFill>
                      <a:srgbClr val="DFA70B"/>
                    </a:solidFill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What is the sample variance estimation?</a:t>
                </a:r>
              </a:p>
              <a:p>
                <a:pPr lvl="1"/>
                <a:r>
                  <a:rPr lang="en-US" sz="1600" b="1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Basic statistic concept: </a:t>
                </a:r>
              </a:p>
              <a:p>
                <a:pPr lvl="1"/>
                <a:r>
                  <a:rPr lang="en-US" sz="1600" b="1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Consider </a:t>
                </a:r>
                <a:r>
                  <a:rPr lang="en-US" sz="1600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Z</a:t>
                </a:r>
                <a:r>
                  <a:rPr lang="en-US" sz="1600" kern="100" baseline="-250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1</a:t>
                </a:r>
                <a:r>
                  <a:rPr lang="en-US" sz="1600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,…,Z</a:t>
                </a:r>
                <a:r>
                  <a:rPr lang="en-US" sz="1600" kern="100" baseline="-25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n</a:t>
                </a:r>
                <a:r>
                  <a:rPr lang="en-US" sz="1600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~ N</a:t>
                </a:r>
                <a14:m>
                  <m:oMath xmlns:m="http://schemas.openxmlformats.org/officeDocument/2006/math">
                    <m:r>
                      <a:rPr lang="en-US" sz="1600" b="0" i="0" kern="100" smtClean="0">
                        <a:effectLst/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(</m:t>
                    </m:r>
                    <m:r>
                      <m:rPr>
                        <m:nor/>
                      </m:rPr>
                      <a:rPr lang="en-US" sz="1600" i="0" kern="100">
                        <a:effectLst/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m:t>μ</m:t>
                    </m:r>
                    <m:r>
                      <m:rPr>
                        <m:nor/>
                      </m:rPr>
                      <a:rPr lang="en-US" sz="1600" b="0" i="0" kern="100" smtClean="0">
                        <a:effectLst/>
                        <a:latin typeface="Helvetica" panose="020B0604020202020204" pitchFamily="34" charset="0"/>
                        <a:ea typeface="KishoreFont Medium" charset="0"/>
                        <a:cs typeface="Helvetica" panose="020B0604020202020204" pitchFamily="34" charset="0"/>
                      </a:rPr>
                      <m:t>, </m:t>
                    </m:r>
                    <m:sSup>
                      <m:sSup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600" i="0" kern="1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600" i="0" kern="100">
                            <a:effectLst/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)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kern="100">
                        <a:effectLst/>
                        <a:latin typeface="Cambria Math" charset="0"/>
                        <a:ea typeface="DengXian" charset="-122"/>
                        <a:cs typeface="Times New Roman" charset="0"/>
                      </a:rPr>
                      <m:t>μ</m:t>
                    </m:r>
                  </m:oMath>
                </a14:m>
                <a:r>
                  <a:rPr lang="en-US" sz="1600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</a:t>
                </a:r>
                <a:r>
                  <a:rPr lang="en-US" sz="1600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and</a:t>
                </a:r>
                <a:r>
                  <a:rPr lang="en-US" sz="1600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kern="100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pPr>
                      <m:e>
                        <m:r>
                          <a:rPr lang="en-US" sz="1600" i="1" kern="100">
                            <a:latin typeface="Cambria Math" charset="0"/>
                            <a:ea typeface="DengXian" charset="-122"/>
                            <a:cs typeface="Times New Roman" charset="0"/>
                          </a:rPr>
                          <m:t>𝜎</m:t>
                        </m:r>
                      </m:e>
                      <m:sup>
                        <m:r>
                          <a:rPr lang="en-US" sz="1600" i="1" kern="100">
                            <a:latin typeface="Cambria Math" charset="0"/>
                            <a:ea typeface="KishoreFont Medium" charset="0"/>
                            <a:cs typeface="KishoreFont Medium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kern="100" baseline="300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</a:t>
                </a:r>
                <a:r>
                  <a:rPr lang="en-US" sz="1600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unknown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99" y="1032884"/>
                <a:ext cx="8119850" cy="883062"/>
              </a:xfrm>
              <a:prstGeom prst="rect">
                <a:avLst/>
              </a:prstGeom>
              <a:blipFill>
                <a:blip r:embed="rId2"/>
                <a:stretch>
                  <a:fillRect l="-375" t="-2069" b="-8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4700" y="286862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11" name="直线箭头连接符 9"/>
          <p:cNvCxnSpPr/>
          <p:nvPr/>
        </p:nvCxnSpPr>
        <p:spPr>
          <a:xfrm>
            <a:off x="5287579" y="2315698"/>
            <a:ext cx="2286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41153" y="2170663"/>
            <a:ext cx="304762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The sample variance estimator: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638838" y="1876582"/>
                <a:ext cx="1588897" cy="7056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sz="16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i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Z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838" y="1876582"/>
                <a:ext cx="1588897" cy="705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584637" y="1901632"/>
                <a:ext cx="1772087" cy="6669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S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~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637" y="1901632"/>
                <a:ext cx="1772087" cy="6669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54699" y="2554138"/>
                <a:ext cx="6666271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kern="100" dirty="0">
                    <a:solidFill>
                      <a:srgbClr val="DFA70B"/>
                    </a:solidFill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Why n-1?</a:t>
                </a:r>
              </a:p>
              <a:p>
                <a:pPr marR="0" lv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We lose a degree of freedom because we 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kern="100">
                        <a:effectLst/>
                        <a:latin typeface="Cambria Math" charset="0"/>
                        <a:ea typeface="DengXian" charset="-122"/>
                        <a:cs typeface="Times New Roman" charset="0"/>
                      </a:rPr>
                      <m:t>μ</m:t>
                    </m:r>
                    <m:r>
                      <a:rPr lang="en-US" sz="1600" kern="100">
                        <a:effectLst/>
                        <a:latin typeface="Cambria Math" charset="0"/>
                        <a:ea typeface="DengXian" charset="-122"/>
                        <a:cs typeface="Times New Roman" charset="0"/>
                      </a:rPr>
                      <m:t>←</m:t>
                    </m:r>
                    <m:acc>
                      <m:accPr>
                        <m:chr m:val="̅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DengXian" charset="-122"/>
                            <a:cs typeface="Times New Roman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600" kern="100">
                            <a:effectLst/>
                            <a:latin typeface="Cambria Math" charset="0"/>
                            <a:ea typeface="DengXian" charset="-122"/>
                            <a:cs typeface="Times New Roman" charset="0"/>
                          </a:rPr>
                          <m:t>Z</m:t>
                        </m:r>
                      </m:e>
                    </m:acc>
                  </m:oMath>
                </a14:m>
                <a:r>
                  <a:rPr lang="en-US" sz="1600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99" y="2554138"/>
                <a:ext cx="6666271" cy="584775"/>
              </a:xfrm>
              <a:prstGeom prst="rect">
                <a:avLst/>
              </a:prstGeom>
              <a:blipFill>
                <a:blip r:embed="rId5"/>
                <a:stretch>
                  <a:fillRect l="-457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31906" y="3427599"/>
            <a:ext cx="19173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Now, going back to</a:t>
            </a:r>
            <a:endParaRPr lang="en-US" sz="1600" kern="100" dirty="0">
              <a:effectLst/>
              <a:latin typeface="Helvetica" panose="020B0604020202020204" pitchFamily="34" charset="0"/>
              <a:ea typeface="DengXian" charset="-122"/>
              <a:cs typeface="Helvetica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54698" y="3959942"/>
            <a:ext cx="81198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This looks like the sample variance estimates except we use n-2 degrees of freedom. </a:t>
            </a:r>
            <a:r>
              <a:rPr lang="en-US" sz="1600" b="1" kern="100" dirty="0">
                <a:solidFill>
                  <a:srgbClr val="DFA70B"/>
                </a:solidFill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Why?</a:t>
            </a:r>
            <a:endParaRPr lang="en-US" sz="1600" b="1" kern="100" dirty="0">
              <a:solidFill>
                <a:srgbClr val="DFA70B"/>
              </a:solidFill>
              <a:effectLst/>
              <a:latin typeface="Helvetica" panose="020B0604020202020204" pitchFamily="34" charset="0"/>
              <a:ea typeface="DengXian" charset="-122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389105" y="3179503"/>
                <a:ext cx="1958741" cy="6517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ϵ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6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−2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~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−2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105" y="3179503"/>
                <a:ext cx="1958741" cy="6517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">
            <a:extLst>
              <a:ext uri="{FF2B5EF4-FFF2-40B4-BE49-F238E27FC236}">
                <a16:creationId xmlns:a16="http://schemas.microsoft.com/office/drawing/2014/main" id="{10C3E0BF-72CA-449A-858E-AAB22FBD2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83" y="213735"/>
            <a:ext cx="815466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Variance Sampling Distribution (cont’d)</a:t>
            </a:r>
          </a:p>
        </p:txBody>
      </p:sp>
    </p:spTree>
    <p:extLst>
      <p:ext uri="{BB962C8B-B14F-4D97-AF65-F5344CB8AC3E}">
        <p14:creationId xmlns:p14="http://schemas.microsoft.com/office/powerpoint/2010/main" val="148226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1195" y="100458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Recall that 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316496" y="891353"/>
                <a:ext cx="2525307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96" y="891353"/>
                <a:ext cx="2525307" cy="5068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534739" y="1444325"/>
                <a:ext cx="4042773" cy="506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indent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ϵ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lang="en-US" b="0" i="0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0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b="0" i="0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𝛽</m:t>
                                </m:r>
                              </m:e>
                            </m:acc>
                            <m:r>
                              <a:rPr lang="en-US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b="0" i="0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b="0" i="0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 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𝛽</m:t>
                                </m:r>
                              </m:e>
                            </m:acc>
                            <m:r>
                              <a:rPr lang="en-US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0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739" y="1444325"/>
                <a:ext cx="4042773" cy="506870"/>
              </a:xfrm>
              <a:prstGeom prst="rect">
                <a:avLst/>
              </a:prstGeom>
              <a:blipFill>
                <a:blip r:embed="rId3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右大括号 12"/>
          <p:cNvSpPr/>
          <p:nvPr/>
        </p:nvSpPr>
        <p:spPr>
          <a:xfrm>
            <a:off x="5577512" y="993988"/>
            <a:ext cx="288252" cy="971403"/>
          </a:xfrm>
          <a:prstGeom prst="rightBrac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13"/>
              <p:cNvSpPr txBox="1"/>
              <p:nvPr/>
            </p:nvSpPr>
            <p:spPr>
              <a:xfrm>
                <a:off x="5865764" y="1114786"/>
                <a:ext cx="2348441" cy="13806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We lose two degrees of freedom because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←</m:t>
                      </m:r>
                      <m:r>
                        <a:rPr lang="en-US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𝛽</m:t>
                          </m:r>
                        </m:e>
                      </m:acc>
                      <m:r>
                        <a:rPr lang="en-US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0</m:t>
                      </m:r>
                    </m:oMath>
                  </m:oMathPara>
                </a14:m>
                <a:endParaRPr lang="en-US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←</m:t>
                      </m:r>
                      <m:r>
                        <a:rPr lang="en-US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𝛽</m:t>
                          </m:r>
                        </m:e>
                      </m:acc>
                      <m:r>
                        <a:rPr lang="en-US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1</m:t>
                      </m:r>
                    </m:oMath>
                  </m:oMathPara>
                </a14:m>
                <a:endParaRPr lang="en-US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 </a:t>
                </a: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kern="100" dirty="0"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9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764" y="1114786"/>
                <a:ext cx="2348441" cy="1380679"/>
              </a:xfrm>
              <a:prstGeom prst="rect">
                <a:avLst/>
              </a:prstGeom>
              <a:blipFill>
                <a:blip r:embed="rId4"/>
                <a:stretch>
                  <a:fillRect l="-2078" t="-2655" r="-36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cxnSpLocks/>
          </p:cNvCxnSpPr>
          <p:nvPr/>
        </p:nvCxnSpPr>
        <p:spPr>
          <a:xfrm flipV="1">
            <a:off x="1748099" y="1480877"/>
            <a:ext cx="0" cy="239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31194" y="2467474"/>
            <a:ext cx="39335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Thus, assuming that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165158" y="2393678"/>
                <a:ext cx="1653209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~ 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0,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i="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158" y="2393678"/>
                <a:ext cx="1653209" cy="506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线箭头连接符 14"/>
          <p:cNvCxnSpPr/>
          <p:nvPr/>
        </p:nvCxnSpPr>
        <p:spPr>
          <a:xfrm>
            <a:off x="1762248" y="3241843"/>
            <a:ext cx="228600" cy="0"/>
          </a:xfrm>
          <a:prstGeom prst="straightConnector1">
            <a:avLst/>
          </a:prstGeom>
          <a:ln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067716" y="3421635"/>
                <a:ext cx="5339860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 </a:t>
                </a:r>
                <a:r>
                  <a:rPr lang="en-US" b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(</a:t>
                </a:r>
                <a:r>
                  <a:rPr lang="en-US" b="1" dirty="0">
                    <a:solidFill>
                      <a:srgbClr val="DFA70B"/>
                    </a:solidFill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This is called the sampling 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DFA70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solidFill>
                                  <a:srgbClr val="DFA7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DFA70B"/>
                                </a:solidFill>
                                <a:latin typeface="Cambria Math" charset="0"/>
                                <a:ea typeface="DengXian" charset="-122"/>
                                <a:cs typeface="Times New Roman" charset="0"/>
                              </a:rPr>
                              <m:t>𝝈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solidFill>
                              <a:srgbClr val="DFA70B"/>
                            </a:solidFill>
                            <a:latin typeface="Cambria Math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DFA70B"/>
                    </a:solidFill>
                    <a:effectLst/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)</a:t>
                </a:r>
                <a:r>
                  <a:rPr lang="en-US" b="1" dirty="0">
                    <a:solidFill>
                      <a:srgbClr val="DFA70B"/>
                    </a:solidFill>
                    <a:effectLst/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716" y="3421635"/>
                <a:ext cx="5339860" cy="375552"/>
              </a:xfrm>
              <a:prstGeom prst="rect">
                <a:avLst/>
              </a:prstGeom>
              <a:blipFill>
                <a:blip r:embed="rId6"/>
                <a:stretch>
                  <a:fillRect t="-4839" r="-1826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083059" y="2965216"/>
                <a:ext cx="2034403" cy="4712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MSE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</m:t>
                      </m:r>
                      <m: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−2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059" y="2965216"/>
                <a:ext cx="2034403" cy="471283"/>
              </a:xfrm>
              <a:prstGeom prst="rect">
                <a:avLst/>
              </a:prstGeom>
              <a:blipFill>
                <a:blip r:embed="rId7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2">
            <a:extLst>
              <a:ext uri="{FF2B5EF4-FFF2-40B4-BE49-F238E27FC236}">
                <a16:creationId xmlns:a16="http://schemas.microsoft.com/office/drawing/2014/main" id="{10C3E0BF-72CA-449A-858E-AAB22FBD2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83" y="213735"/>
            <a:ext cx="815466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Variance Sampling Distribution (cont’d)</a:t>
            </a:r>
          </a:p>
        </p:txBody>
      </p:sp>
    </p:spTree>
    <p:extLst>
      <p:ext uri="{BB962C8B-B14F-4D97-AF65-F5344CB8AC3E}">
        <p14:creationId xmlns:p14="http://schemas.microsoft.com/office/powerpoint/2010/main" val="233635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5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2"/>
          <p:cNvSpPr txBox="1">
            <a:spLocks noChangeArrowheads="1"/>
          </p:cNvSpPr>
          <p:nvPr/>
        </p:nvSpPr>
        <p:spPr bwMode="auto">
          <a:xfrm>
            <a:off x="109838" y="214385"/>
            <a:ext cx="834944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Model Parameter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0157" y="1012215"/>
                <a:ext cx="8335901" cy="3438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Commonly interested in the behavior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latin typeface="Cambria Math" charset="0"/>
                        <a:ea typeface="KishoreFont Medium" charset="0"/>
                        <a:cs typeface="KishoreFont Medium" charset="0"/>
                      </a:rPr>
                      <m:t> </m:t>
                    </m:r>
                  </m:oMath>
                </a14:m>
                <a:r>
                  <a:rPr lang="en-US" altLang="en-US" b="1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/>
                </a:r>
                <a:br>
                  <a:rPr lang="en-US" altLang="en-US" b="1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</a:br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 positive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consistent with a direct relationship between x and y; </a:t>
                </a:r>
                <a:r>
                  <a:rPr lang="en-US" b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e.g.</a:t>
                </a:r>
                <a:r>
                  <a:rPr lang="en-US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higher values of height are associated with higher values of weight, or lower values of revenue are associated with lower values of profit; 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  <a:defRPr/>
                </a:pPr>
                <a:endParaRPr 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 negative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consistent with an inverse relationship between x and y</a:t>
                </a:r>
                <a:r>
                  <a:rPr lang="en-US" b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; e.g.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higher price of a product is associated with lower demand, or a lower inflation rate is associated with a higher savings rate;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  <a:defRPr/>
                </a:pPr>
                <a:endParaRPr 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 close-to-zero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means that there is not a significant association between x and y.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57" y="1012215"/>
                <a:ext cx="8335901" cy="3438955"/>
              </a:xfrm>
              <a:prstGeom prst="rect">
                <a:avLst/>
              </a:prstGeom>
              <a:blipFill>
                <a:blip r:embed="rId2"/>
                <a:stretch>
                  <a:fillRect l="-585" t="-887" b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39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6043" y="1003557"/>
                <a:ext cx="7727963" cy="2141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Least Squares estimated coefficients have specific interpretations:</a:t>
                </a:r>
                <a:r>
                  <a:rPr lang="en-US" altLang="en-US" b="1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/>
                </a:r>
                <a:br>
                  <a:rPr lang="en-US" altLang="en-US" b="1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</a:br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sz="20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β</m:t>
                            </m:r>
                          </m:e>
                        </m:acc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the estimated expected change in the response variable associated with one unit of change in the predicting variable;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  <a:defRPr/>
                </a:pPr>
                <a:endParaRPr 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sz="2000" b="1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β</m:t>
                            </m:r>
                          </m:e>
                        </m:acc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the estimated expected value of the response variable when the predicting variable equals zero.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43" y="1003557"/>
                <a:ext cx="7727963" cy="2141099"/>
              </a:xfrm>
              <a:prstGeom prst="rect">
                <a:avLst/>
              </a:prstGeom>
              <a:blipFill>
                <a:blip r:embed="rId2"/>
                <a:stretch>
                  <a:fillRect l="-710" t="-1709" r="-552" b="-3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97" name="Title 1"/>
          <p:cNvSpPr>
            <a:spLocks noGrp="1"/>
          </p:cNvSpPr>
          <p:nvPr>
            <p:ph type="title" idx="4294967295"/>
          </p:nvPr>
        </p:nvSpPr>
        <p:spPr>
          <a:xfrm>
            <a:off x="112178" y="205398"/>
            <a:ext cx="7861313" cy="854075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Model Estimate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29752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11640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sharepoint/v3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b057fda7-913b-4ab6-8820-932873bcd66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4182</TotalTime>
  <Words>498</Words>
  <Application>Microsoft Office PowerPoint</Application>
  <PresentationFormat>On-screen Show (16:9)</PresentationFormat>
  <Paragraphs>119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3" baseType="lpstr">
      <vt:lpstr>MS PGothic</vt:lpstr>
      <vt:lpstr>Arial</vt:lpstr>
      <vt:lpstr>Calibri</vt:lpstr>
      <vt:lpstr>Cambria Math</vt:lpstr>
      <vt:lpstr>DengXian</vt:lpstr>
      <vt:lpstr>Helvetica</vt:lpstr>
      <vt:lpstr>Helvetica Neue</vt:lpstr>
      <vt:lpstr>KishoreFont Medium</vt:lpstr>
      <vt:lpstr>Times New Roman</vt:lpstr>
      <vt:lpstr>Vitesse</vt:lpstr>
      <vt:lpstr>Vitesse Bold</vt:lpstr>
      <vt:lpstr>Vitesse Book</vt:lpstr>
      <vt:lpstr>Vitesse Medium</vt:lpstr>
      <vt:lpstr>Wingdings</vt:lpstr>
      <vt:lpstr>1_Half Page Slash</vt:lpstr>
      <vt:lpstr>Half Page Slash</vt:lpstr>
      <vt:lpstr>Full Page Layout</vt:lpstr>
      <vt:lpstr>PowerPoint Presentation</vt:lpstr>
      <vt:lpstr>PowerPoint Presentation</vt:lpstr>
      <vt:lpstr>Simple Linear Regression: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Estimate Interpretation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207</cp:revision>
  <dcterms:modified xsi:type="dcterms:W3CDTF">2020-02-12T18:36:20Z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