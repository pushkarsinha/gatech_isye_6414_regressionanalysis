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5"/>
  </p:notesMasterIdLst>
  <p:handoutMasterIdLst>
    <p:handoutMasterId r:id="rId16"/>
  </p:handoutMasterIdLst>
  <p:sldIdLst>
    <p:sldId id="428" r:id="rId7"/>
    <p:sldId id="429" r:id="rId8"/>
    <p:sldId id="285" r:id="rId9"/>
    <p:sldId id="286" r:id="rId10"/>
    <p:sldId id="287" r:id="rId11"/>
    <p:sldId id="433" r:id="rId12"/>
    <p:sldId id="289" r:id="rId13"/>
    <p:sldId id="439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285"/>
            <p14:sldId id="286"/>
            <p14:sldId id="287"/>
            <p14:sldId id="433"/>
            <p14:sldId id="289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000000"/>
    <a:srgbClr val="EEB211"/>
    <a:srgbClr val="F8FFF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E72041-24F2-4FF4-99A9-F0C4CE3F8D62}" v="4" dt="2020-01-30T14:47:41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2" autoAdjust="0"/>
    <p:restoredTop sz="88469" autoAdjust="0"/>
  </p:normalViewPr>
  <p:slideViewPr>
    <p:cSldViewPr snapToGrid="0">
      <p:cViewPr varScale="1">
        <p:scale>
          <a:sx n="148" d="100"/>
          <a:sy n="148" d="100"/>
        </p:scale>
        <p:origin x="906" y="108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7E72041-24F2-4FF4-99A9-F0C4CE3F8D62}"/>
    <pc:docChg chg="modSld">
      <pc:chgData name="" userId="" providerId="" clId="Web-{47E72041-24F2-4FF4-99A9-F0C4CE3F8D62}" dt="2020-01-30T14:47:41.814" v="3"/>
      <pc:docMkLst>
        <pc:docMk/>
      </pc:docMkLst>
      <pc:sldChg chg="modSp">
        <pc:chgData name="" userId="" providerId="" clId="Web-{47E72041-24F2-4FF4-99A9-F0C4CE3F8D62}" dt="2020-01-30T14:46:54.626" v="1"/>
        <pc:sldMkLst>
          <pc:docMk/>
          <pc:sldMk cId="1709741156" sldId="285"/>
        </pc:sldMkLst>
        <pc:spChg chg="mod">
          <ac:chgData name="" userId="" providerId="" clId="Web-{47E72041-24F2-4FF4-99A9-F0C4CE3F8D62}" dt="2020-01-30T14:46:40.845" v="0"/>
          <ac:spMkLst>
            <pc:docMk/>
            <pc:sldMk cId="1709741156" sldId="285"/>
            <ac:spMk id="2" creationId="{00000000-0000-0000-0000-000000000000}"/>
          </ac:spMkLst>
        </pc:spChg>
        <pc:spChg chg="mod">
          <ac:chgData name="" userId="" providerId="" clId="Web-{47E72041-24F2-4FF4-99A9-F0C4CE3F8D62}" dt="2020-01-30T14:46:54.626" v="1"/>
          <ac:spMkLst>
            <pc:docMk/>
            <pc:sldMk cId="1709741156" sldId="285"/>
            <ac:spMk id="30723" creationId="{00000000-0000-0000-0000-000000000000}"/>
          </ac:spMkLst>
        </pc:spChg>
      </pc:sldChg>
      <pc:sldChg chg="modSp">
        <pc:chgData name="" userId="" providerId="" clId="Web-{47E72041-24F2-4FF4-99A9-F0C4CE3F8D62}" dt="2020-01-30T14:47:10.908" v="2"/>
        <pc:sldMkLst>
          <pc:docMk/>
          <pc:sldMk cId="4292964831" sldId="286"/>
        </pc:sldMkLst>
        <pc:spChg chg="mod">
          <ac:chgData name="" userId="" providerId="" clId="Web-{47E72041-24F2-4FF4-99A9-F0C4CE3F8D62}" dt="2020-01-30T14:47:10.908" v="2"/>
          <ac:spMkLst>
            <pc:docMk/>
            <pc:sldMk cId="4292964831" sldId="286"/>
            <ac:spMk id="32771" creationId="{00000000-0000-0000-0000-000000000000}"/>
          </ac:spMkLst>
        </pc:spChg>
      </pc:sldChg>
      <pc:sldChg chg="modSp">
        <pc:chgData name="" userId="" providerId="" clId="Web-{47E72041-24F2-4FF4-99A9-F0C4CE3F8D62}" dt="2020-01-30T14:47:41.814" v="3"/>
        <pc:sldMkLst>
          <pc:docMk/>
          <pc:sldMk cId="1237378082" sldId="287"/>
        </pc:sldMkLst>
        <pc:spChg chg="mod">
          <ac:chgData name="" userId="" providerId="" clId="Web-{47E72041-24F2-4FF4-99A9-F0C4CE3F8D62}" dt="2020-01-30T14:47:41.814" v="3"/>
          <ac:spMkLst>
            <pc:docMk/>
            <pc:sldMk cId="1237378082" sldId="287"/>
            <ac:spMk id="389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>
              <a:ea typeface="MS PGothic" charset="-128"/>
            </a:endParaRP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4A7CF6BD-1259-6A4D-9033-48C78071213C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024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raymind</a:t>
            </a:r>
            <a:r>
              <a:rPr lang="en-US" baseline="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5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717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78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7" r:id="rId7"/>
    <p:sldLayoutId id="2147483708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114503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Regression Concepts: Estimation Example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/>
          <p:cNvSpPr txBox="1">
            <a:spLocks noChangeArrowheads="1"/>
          </p:cNvSpPr>
          <p:nvPr/>
        </p:nvSpPr>
        <p:spPr bwMode="auto">
          <a:xfrm>
            <a:off x="122099" y="215299"/>
            <a:ext cx="55435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9686" y="1006690"/>
            <a:ext cx="80311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Helvetica"/>
                <a:ea typeface="Helvetica Neue" charset="0"/>
                <a:cs typeface="Helvetica"/>
              </a:rPr>
              <a:t>A company, which sells medical supplies to hospitals, clinics, and doctor's offices, had considered the effectiveness of a new advertising program. Management wants to know if the advertising is related to sales. This company intends to increase the sales with an effective advertising program.</a:t>
            </a:r>
          </a:p>
        </p:txBody>
      </p:sp>
      <p:sp>
        <p:nvSpPr>
          <p:cNvPr id="30723" name="TextBox 2"/>
          <p:cNvSpPr txBox="1">
            <a:spLocks noChangeArrowheads="1"/>
          </p:cNvSpPr>
          <p:nvPr/>
        </p:nvSpPr>
        <p:spPr bwMode="auto">
          <a:xfrm>
            <a:off x="152862" y="2484173"/>
            <a:ext cx="690744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r>
              <a:rPr lang="en-US" altLang="en-US" b="1" dirty="0">
                <a:solidFill>
                  <a:srgbClr val="DFA70B"/>
                </a:solidFill>
                <a:latin typeface="Helvetica"/>
                <a:ea typeface="Helvetica Neue" charset="0"/>
                <a:cs typeface="Helvetica"/>
              </a:rPr>
              <a:t>Which are the response and the predicting variables?</a:t>
            </a:r>
          </a:p>
          <a:p>
            <a:r>
              <a:rPr lang="en-US" altLang="en-US" dirty="0">
                <a:latin typeface="Helvetica"/>
                <a:ea typeface="Helvetica Neue" charset="0"/>
                <a:cs typeface="Helvetica"/>
              </a:rPr>
              <a:t>Y = </a:t>
            </a:r>
            <a:r>
              <a:rPr lang="en-US" altLang="en-US" b="1" dirty="0">
                <a:latin typeface="Helvetica"/>
                <a:ea typeface="Helvetica Neue" charset="0"/>
                <a:cs typeface="Helvetica"/>
              </a:rPr>
              <a:t>Sales</a:t>
            </a:r>
            <a:r>
              <a:rPr lang="en-US" altLang="en-US" dirty="0">
                <a:latin typeface="Helvetica"/>
                <a:ea typeface="Helvetica Neue" charset="0"/>
                <a:cs typeface="Helvetica"/>
              </a:rPr>
              <a:t> and X = </a:t>
            </a:r>
            <a:r>
              <a:rPr lang="en-US" altLang="en-US" b="1" dirty="0">
                <a:latin typeface="Helvetica"/>
                <a:ea typeface="Helvetica Neue" charset="0"/>
                <a:cs typeface="Helvetica"/>
              </a:rPr>
              <a:t>Advertising Expenditure </a:t>
            </a:r>
          </a:p>
          <a:p>
            <a:endParaRPr lang="en-US" altLang="en-US" dirty="0">
              <a:latin typeface="Helvetica"/>
              <a:ea typeface="Helvetica Neue" charset="0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0974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/>
          <p:cNvSpPr txBox="1">
            <a:spLocks noChangeArrowheads="1"/>
          </p:cNvSpPr>
          <p:nvPr/>
        </p:nvSpPr>
        <p:spPr bwMode="auto">
          <a:xfrm>
            <a:off x="111752" y="212272"/>
            <a:ext cx="71437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R: Estimation </a:t>
            </a:r>
          </a:p>
        </p:txBody>
      </p:sp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3829050" y="1943100"/>
            <a:ext cx="6858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>
              <a:latin typeface="Times New Roman" charset="0"/>
            </a:endParaRP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138295" y="1001227"/>
            <a:ext cx="7985047" cy="3277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Fit a linear regression. What are the estimated regression coefficients and the estimated regression line?</a:t>
            </a:r>
          </a:p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Interpret the coefficients.</a:t>
            </a:r>
          </a:p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What does the model predict sales as the advertising expenditure increases for an additional</a:t>
            </a:r>
            <a:r>
              <a:rPr lang="en-US" altLang="en-US" dirty="0">
                <a:solidFill>
                  <a:schemeClr val="accent6">
                    <a:lumMod val="50000"/>
                  </a:schemeClr>
                </a:solidFill>
                <a:latin typeface="Helvetica"/>
                <a:ea typeface="Helvetica Neue" charset="0"/>
                <a:cs typeface="Helvetica"/>
              </a:rPr>
              <a:t> </a:t>
            </a:r>
            <a:r>
              <a:rPr lang="en-US" altLang="en-US" b="1" dirty="0">
                <a:solidFill>
                  <a:srgbClr val="DFA70B"/>
                </a:solidFill>
                <a:latin typeface="Helvetica"/>
                <a:ea typeface="Helvetica Neue" charset="0"/>
                <a:cs typeface="Helvetica"/>
              </a:rPr>
              <a:t>$1,000</a:t>
            </a:r>
            <a:r>
              <a:rPr lang="en-US" altLang="en-US" dirty="0">
                <a:latin typeface="Helvetica"/>
                <a:ea typeface="Helvetica Neue" charset="0"/>
                <a:cs typeface="Helvetica"/>
              </a:rPr>
              <a:t>?</a:t>
            </a:r>
          </a:p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What sales would you predict for an advertising expenditure of </a:t>
            </a:r>
            <a:r>
              <a:rPr lang="en-US" altLang="en-US" b="1" dirty="0">
                <a:solidFill>
                  <a:srgbClr val="DFA70B"/>
                </a:solidFill>
                <a:latin typeface="Helvetica"/>
                <a:ea typeface="Helvetica Neue" charset="0"/>
                <a:cs typeface="Helvetica"/>
              </a:rPr>
              <a:t>$30,000</a:t>
            </a:r>
            <a:r>
              <a:rPr lang="en-US" altLang="en-US" dirty="0">
                <a:latin typeface="Helvetica"/>
                <a:ea typeface="Helvetica Neue" charset="0"/>
                <a:cs typeface="Helvetica"/>
              </a:rPr>
              <a:t>?</a:t>
            </a:r>
          </a:p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What is the estimate of the error variance?</a:t>
            </a:r>
          </a:p>
          <a:p>
            <a:pPr eaLnBrk="1" hangingPunct="1">
              <a:spcBef>
                <a:spcPct val="50000"/>
              </a:spcBef>
              <a:buFont typeface="+mj-lt"/>
              <a:buAutoNum type="alphaUcPeriod"/>
            </a:pPr>
            <a:r>
              <a:rPr lang="en-US" altLang="en-US" dirty="0">
                <a:latin typeface="Helvetica"/>
                <a:ea typeface="Helvetica Neue" charset="0"/>
                <a:cs typeface="Helvetica"/>
              </a:rPr>
              <a:t>What could you say about the sales for an advertising expenditure of </a:t>
            </a:r>
            <a:r>
              <a:rPr lang="en-US" altLang="en-US" b="1" dirty="0">
                <a:solidFill>
                  <a:srgbClr val="DFA70B"/>
                </a:solidFill>
                <a:latin typeface="Helvetica"/>
                <a:ea typeface="Helvetica Neue" charset="0"/>
                <a:cs typeface="Helvetica"/>
              </a:rPr>
              <a:t>$100,000</a:t>
            </a:r>
            <a:r>
              <a:rPr lang="en-US" altLang="en-US" dirty="0">
                <a:latin typeface="Helvetica"/>
                <a:ea typeface="Helvetica Neue" charset="0"/>
                <a:cs typeface="Helvetic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92964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>
            <a:spLocks noChangeArrowheads="1"/>
          </p:cNvSpPr>
          <p:nvPr/>
        </p:nvSpPr>
        <p:spPr bwMode="auto">
          <a:xfrm>
            <a:off x="138167" y="211579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180712" y="1039346"/>
            <a:ext cx="679477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## Read Data in R</a:t>
            </a:r>
          </a:p>
          <a:p>
            <a:pPr eaLnBrk="1" hangingPunct="1"/>
            <a:r>
              <a:rPr lang="de-DE" altLang="en-US" sz="1600" i="1" dirty="0">
                <a:latin typeface="Helvetica"/>
                <a:ea typeface="Helvetica Neue" charset="0"/>
                <a:cs typeface="Helvetica"/>
              </a:rPr>
              <a:t>data = read.table(“</a:t>
            </a:r>
            <a:r>
              <a:rPr lang="de-DE" altLang="ja-JP" sz="1600" i="1" dirty="0">
                <a:latin typeface="Helvetica"/>
                <a:ea typeface="Helvetica Neue" charset="0"/>
                <a:cs typeface="Helvetica"/>
              </a:rPr>
              <a:t>meddcor.txt", sep="", header = FALSE)</a:t>
            </a:r>
          </a:p>
          <a:p>
            <a:pPr eaLnBrk="1" hangingPunct="1"/>
            <a:r>
              <a:rPr lang="de-DE" altLang="ja-JP" sz="1600" dirty="0">
                <a:latin typeface="Helvetica"/>
                <a:ea typeface="Helvetica Neue" charset="0"/>
                <a:cs typeface="Helvetica"/>
              </a:rPr>
              <a:t>## Response &amp; Predicting Variable</a:t>
            </a:r>
          </a:p>
          <a:p>
            <a:pPr eaLnBrk="1" hangingPunct="1"/>
            <a:r>
              <a:rPr lang="de-DE" altLang="en-US" sz="1600" i="1" dirty="0">
                <a:latin typeface="Helvetica"/>
                <a:ea typeface="Helvetica Neue" charset="0"/>
                <a:cs typeface="Helvetica"/>
              </a:rPr>
              <a:t>sales = data[,1] </a:t>
            </a:r>
          </a:p>
          <a:p>
            <a:pPr eaLnBrk="1" hangingPunct="1"/>
            <a:r>
              <a:rPr lang="de-DE" altLang="en-US" sz="1600" i="1" dirty="0">
                <a:latin typeface="Helvetica"/>
                <a:ea typeface="Helvetica Neue" charset="0"/>
                <a:cs typeface="Helvetica"/>
              </a:rPr>
              <a:t>adv = data[,2]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## Fit a linear regression model</a:t>
            </a:r>
          </a:p>
          <a:p>
            <a:pPr eaLnBrk="1" hangingPunct="1"/>
            <a:r>
              <a:rPr lang="de-DE" altLang="en-US" sz="1600" i="1" dirty="0">
                <a:latin typeface="Helvetica"/>
                <a:ea typeface="Helvetica Neue" charset="0"/>
                <a:cs typeface="Helvetica"/>
              </a:rPr>
              <a:t>model = lm(sales ~ adv)</a:t>
            </a:r>
          </a:p>
          <a:p>
            <a:pPr eaLnBrk="1" hangingPunct="1"/>
            <a:r>
              <a:rPr lang="de-DE" altLang="en-US" sz="1600" i="1" dirty="0">
                <a:latin typeface="Helvetica"/>
                <a:ea typeface="Helvetica Neue" charset="0"/>
                <a:cs typeface="Helvetica"/>
              </a:rPr>
              <a:t>summary(model)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Coefficients: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                   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Estimate	Std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.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Error		t value	Pr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(&gt;|t|)    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(Intercept) -157.3301  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	145.1912    	-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1.084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     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0.29    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adv              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  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2.7721       0.2794     </a:t>
            </a:r>
            <a:r>
              <a:rPr lang="de-DE" altLang="en-US" sz="1600" dirty="0" smtClean="0">
                <a:latin typeface="Helvetica"/>
                <a:ea typeface="Helvetica Neue" charset="0"/>
                <a:cs typeface="Helvetica"/>
              </a:rPr>
              <a:t>	9.921     	8.87e-10 </a:t>
            </a:r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***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Residual standard error: 101.4 on 23 degrees of freedom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Multiple R-squared:  0.8106,	Adjusted R-squared:  0.8024 </a:t>
            </a:r>
          </a:p>
          <a:p>
            <a:pPr eaLnBrk="1" hangingPunct="1"/>
            <a:r>
              <a:rPr lang="de-DE" altLang="en-US" sz="1600" dirty="0">
                <a:latin typeface="Helvetica"/>
                <a:ea typeface="Helvetica Neue" charset="0"/>
                <a:cs typeface="Helvetica"/>
              </a:rPr>
              <a:t>F-statistic: 98.43 on 1 and 23 DF,  p-value: 8.873e-10</a:t>
            </a:r>
            <a:endParaRPr lang="en-US" altLang="en-US" sz="1600" dirty="0">
              <a:latin typeface="Helvetica"/>
              <a:ea typeface="Helvetica Neue" charset="0"/>
              <a:cs typeface="Helvetic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171649" y="1827449"/>
                <a:ext cx="3607681" cy="1230850"/>
              </a:xfrm>
              <a:prstGeom prst="rect">
                <a:avLst/>
              </a:prstGeom>
              <a:solidFill>
                <a:schemeClr val="bg1">
                  <a:alpha val="30000"/>
                </a:schemeClr>
              </a:solidFill>
              <a:ln w="12700" cmpd="sng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r>
                  <a:rPr lang="en-US" altLang="en-US" sz="1800" b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Estimated Model Parameters: 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800" b="1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sz="1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en-US" sz="1800" b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-157.3301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800" b="1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𝜷</m:t>
                            </m:r>
                          </m:e>
                        </m:acc>
                      </m:e>
                      <m:sub>
                        <m:r>
                          <a:rPr lang="en-US" altLang="en-US" sz="1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en-US" sz="1800" b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2.7721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1800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1800" b="1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</m:acc>
                  </m:oMath>
                </a14:m>
                <a:r>
                  <a:rPr lang="en-US" altLang="en-US" sz="1800" b="1" dirty="0">
                    <a:solidFill>
                      <a:schemeClr val="bg2">
                        <a:lumMod val="10000"/>
                      </a:schemeClr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101.4 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49" y="1827449"/>
                <a:ext cx="3607681" cy="1230850"/>
              </a:xfrm>
              <a:prstGeom prst="rect">
                <a:avLst/>
              </a:prstGeom>
              <a:blipFill>
                <a:blip r:embed="rId2"/>
                <a:stretch>
                  <a:fillRect l="-1178" t="-2451" b="-6373"/>
                </a:stretch>
              </a:blipFill>
              <a:ln w="12700" cmpd="sng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39B292C-0DE8-4ED6-A66A-F8D0F3527BC8}"/>
              </a:ext>
            </a:extLst>
          </p:cNvPr>
          <p:cNvSpPr/>
          <p:nvPr/>
        </p:nvSpPr>
        <p:spPr>
          <a:xfrm>
            <a:off x="1239339" y="3528973"/>
            <a:ext cx="959315" cy="225398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13EA7-AF71-4B61-B480-902134E46AEE}"/>
              </a:ext>
            </a:extLst>
          </p:cNvPr>
          <p:cNvSpPr/>
          <p:nvPr/>
        </p:nvSpPr>
        <p:spPr>
          <a:xfrm>
            <a:off x="1530061" y="3770466"/>
            <a:ext cx="676976" cy="225398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F1BF6-43E6-4DBF-B098-25CCC6F8A680}"/>
              </a:ext>
            </a:extLst>
          </p:cNvPr>
          <p:cNvSpPr/>
          <p:nvPr/>
        </p:nvSpPr>
        <p:spPr>
          <a:xfrm>
            <a:off x="2478433" y="4025008"/>
            <a:ext cx="565018" cy="219446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7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7891" name="Text Box 3"/>
              <p:cNvSpPr txBox="1">
                <a:spLocks noChangeArrowheads="1"/>
              </p:cNvSpPr>
              <p:nvPr/>
            </p:nvSpPr>
            <p:spPr bwMode="auto">
              <a:xfrm>
                <a:off x="158264" y="1003372"/>
                <a:ext cx="7825675" cy="3970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buFont typeface="+mj-lt"/>
                  <a:buAutoNum type="alphaUcPeriod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Fit a linear regression. What are the estimated regression coefficients and the estimated regression line?                   </a:t>
                </a:r>
              </a:p>
              <a:p>
                <a:pPr indent="0">
                  <a:defRPr/>
                </a:pPr>
                <a:r>
                  <a:rPr lang="en-US" altLang="en-US" b="1" i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Estimates 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0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</a:t>
                </a:r>
                <a:r>
                  <a:rPr lang="en-US" alt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𝛽</m:t>
                    </m:r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1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are (-157.33, 2.77) and the 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regression equation is: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 </a:t>
                </a:r>
              </a:p>
              <a:p>
                <a:pPr>
                  <a:defRPr/>
                </a:pPr>
                <a:r>
                  <a:rPr lang="zh-CN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                      </a:t>
                </a:r>
                <a:r>
                  <a:rPr lang="en-US" altLang="en-US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Sales = -157.33 +  2.77 </a:t>
                </a:r>
                <a:r>
                  <a:rPr lang="en-US" altLang="en-US" i="1" dirty="0" err="1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Adv</a:t>
                </a:r>
                <a:r>
                  <a:rPr lang="en-US" altLang="en-US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Expenditure</a:t>
                </a:r>
                <a:endParaRPr lang="en-US" altLang="en-US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eaLnBrk="1" hangingPunct="1">
                  <a:buFont typeface="+mj-lt"/>
                  <a:buAutoNum type="alphaUcPeriod"/>
                  <a:defRPr/>
                </a:pPr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eaLnBrk="1" hangingPunct="1">
                  <a:buFont typeface="+mj-lt"/>
                  <a:buAutoNum type="alphaUcPeriod" startAt="2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Interpret the coefficients.</a:t>
                </a:r>
                <a:b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</a:br>
                <a:r>
                  <a:rPr lang="en-US" altLang="en-US" b="1" i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dirty="0">
                    <a:latin typeface="Helvetica" panose="020B0604020202020204" pitchFamily="34" charset="0"/>
                    <a:ea typeface="Helvetica" charset="0"/>
                    <a:cs typeface="Helvetica" panose="020B0604020202020204" pitchFamily="34" charset="0"/>
                  </a:rPr>
                  <a:t>The sales increase by $2770 with each $100 additional expenditure in advertisement. Or the sales increase with $27.7 with each dollar invested in advertisement expenditure. </a:t>
                </a:r>
              </a:p>
              <a:p>
                <a:pPr eaLnBrk="1" hangingPunct="1">
                  <a:buFont typeface="+mj-lt"/>
                  <a:buAutoNum type="alphaUcPeriod" startAt="2"/>
                  <a:defRPr/>
                </a:pPr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eaLnBrk="1" hangingPunct="1">
                  <a:buFont typeface="+mj-lt"/>
                  <a:buAutoNum type="alphaUcPeriod" startAt="2"/>
                  <a:defRPr/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What does the model predict as the advertising expenditure increases for an additional $1,000?</a:t>
                </a:r>
                <a:b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r>
                  <a:rPr lang="en-US" altLang="en-US" b="1" i="1" dirty="0">
                    <a:solidFill>
                      <a:srgbClr val="DFA70B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increase in sales is 10×2.77 = 27.7 thousands.</a:t>
                </a:r>
              </a:p>
            </p:txBody>
          </p:sp>
        </mc:Choice>
        <mc:Fallback>
          <p:sp>
            <p:nvSpPr>
              <p:cNvPr id="37891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264" y="1003372"/>
                <a:ext cx="7825675" cy="3970318"/>
              </a:xfrm>
              <a:prstGeom prst="rect">
                <a:avLst/>
              </a:prstGeom>
              <a:blipFill>
                <a:blip r:embed="rId2"/>
                <a:stretch>
                  <a:fillRect l="-545" t="-922" b="-169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38167" y="211579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5F1BF6-43E6-4DBF-B098-25CCC6F8A680}"/>
              </a:ext>
            </a:extLst>
          </p:cNvPr>
          <p:cNvSpPr/>
          <p:nvPr/>
        </p:nvSpPr>
        <p:spPr>
          <a:xfrm>
            <a:off x="5733046" y="2961235"/>
            <a:ext cx="585865" cy="298348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5F1BF6-43E6-4DBF-B098-25CCC6F8A680}"/>
              </a:ext>
            </a:extLst>
          </p:cNvPr>
          <p:cNvSpPr/>
          <p:nvPr/>
        </p:nvSpPr>
        <p:spPr>
          <a:xfrm>
            <a:off x="4169819" y="4620398"/>
            <a:ext cx="354414" cy="272323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2770" y="1007815"/>
                <a:ext cx="5589644" cy="4224448"/>
              </a:xfrm>
            </p:spPr>
            <p:txBody>
              <a:bodyPr anchor="t"/>
              <a:lstStyle/>
              <a:p>
                <a:pPr marL="457200" indent="-457200" defTabSz="342900">
                  <a:spcBef>
                    <a:spcPct val="0"/>
                  </a:spcBef>
                  <a:buFont typeface="+mj-lt"/>
                  <a:buAutoNum type="alphaUcPeriod" startAt="4"/>
                  <a:defRPr/>
                </a:pP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sales would you predict for an advertisement expenditure of $30,000? </a:t>
                </a:r>
              </a:p>
              <a:p>
                <a:pPr marL="457200" indent="-225425" defTabSz="342900">
                  <a:spcBef>
                    <a:spcPct val="0"/>
                  </a:spcBef>
                  <a:defRPr/>
                </a:pPr>
                <a:r>
                  <a:rPr lang="en-US" altLang="en-US" sz="1800" b="1" i="1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	</a:t>
                </a:r>
                <a:r>
                  <a:rPr lang="en-US" altLang="en-US" sz="1800" b="1" i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sz="1800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predicted sales is </a:t>
                </a:r>
                <a:b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-157.33 + 300 × 2.77 = 673.67 thousands</a:t>
                </a:r>
              </a:p>
              <a:p>
                <a:pPr marL="457200" indent="-457200" defTabSz="342900">
                  <a:spcBef>
                    <a:spcPct val="0"/>
                  </a:spcBef>
                  <a:buFont typeface="+mj-lt"/>
                  <a:buAutoNum type="alphaUcPeriod" startAt="4"/>
                  <a:defRPr/>
                </a:pPr>
                <a:endParaRPr lang="en-US" altLang="en-US" sz="1800" dirty="0">
                  <a:solidFill>
                    <a:srgbClr val="000000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marL="457200" indent="-457200" defTabSz="342900">
                  <a:spcBef>
                    <a:spcPct val="0"/>
                  </a:spcBef>
                  <a:buFont typeface="+mj-lt"/>
                  <a:buAutoNum type="alphaUcPeriod" startAt="5"/>
                  <a:defRPr/>
                </a:pP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What is the estimate of the error variance?</a:t>
                </a:r>
                <a:b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</a:br>
                <a:r>
                  <a:rPr lang="en-US" altLang="en-US" sz="1800" b="1" i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Solution:</a:t>
                </a:r>
                <a:r>
                  <a:rPr lang="en-US" altLang="en-US" sz="1800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1800" b="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en-US" sz="1800" baseline="300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2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with MSE =  10,281.96</a:t>
                </a:r>
              </a:p>
              <a:p>
                <a:pPr marL="457200" indent="-457200" defTabSz="342900">
                  <a:spcBef>
                    <a:spcPct val="0"/>
                  </a:spcBef>
                  <a:buFont typeface="+mj-lt"/>
                  <a:buAutoNum type="alphaUcPeriod" startAt="5"/>
                  <a:defRPr/>
                </a:pPr>
                <a:endParaRPr lang="en-US" altLang="en-US" sz="1800" dirty="0">
                  <a:solidFill>
                    <a:srgbClr val="000000"/>
                  </a:solidFill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57200" indent="-457200" defTabSz="342900">
                  <a:spcBef>
                    <a:spcPct val="0"/>
                  </a:spcBef>
                  <a:buFont typeface="+mj-lt"/>
                  <a:buAutoNum type="alphaUcPeriod" startAt="5"/>
                  <a:defRPr/>
                </a:pP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What could you say about the sales for an advertising expenditure of $100,000?  	</a:t>
                </a:r>
              </a:p>
              <a:p>
                <a:pPr marL="457200" defTabSz="342900">
                  <a:spcBef>
                    <a:spcPct val="0"/>
                  </a:spcBef>
                  <a:defRPr/>
                </a:pPr>
                <a:r>
                  <a:rPr lang="en-US" altLang="en-US" sz="1800" b="1" i="1" dirty="0">
                    <a:solidFill>
                      <a:srgbClr val="DFA70B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Solution: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An advertisement expenditure of $100,000 or 1000 units is outside of the</a:t>
                </a:r>
                <a:r>
                  <a:rPr lang="zh-CN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observed range and thus we cannot predict the sales since this is extrapolation.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2770" y="1007815"/>
                <a:ext cx="5589644" cy="4224448"/>
              </a:xfrm>
              <a:blipFill>
                <a:blip r:embed="rId3"/>
                <a:stretch>
                  <a:fillRect l="-763" t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chart1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450" y="1064483"/>
            <a:ext cx="2743200" cy="1923802"/>
          </a:xfrm>
          <a:prstGeom prst="rect">
            <a:avLst/>
          </a:prstGeom>
          <a:ln>
            <a:solidFill>
              <a:srgbClr val="385D8A"/>
            </a:solidFill>
          </a:ln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38167" y="211579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Example in R (cont’d)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5F1BF6-43E6-4DBF-B098-25CCC6F8A680}"/>
              </a:ext>
            </a:extLst>
          </p:cNvPr>
          <p:cNvSpPr/>
          <p:nvPr/>
        </p:nvSpPr>
        <p:spPr>
          <a:xfrm>
            <a:off x="2492081" y="4618684"/>
            <a:ext cx="1424826" cy="301333"/>
          </a:xfrm>
          <a:prstGeom prst="rect">
            <a:avLst/>
          </a:prstGeom>
          <a:noFill/>
          <a:ln w="2857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35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8D62D-BE99-40AF-BF97-BFAE812B12CE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b057fda7-913b-4ab6-8820-932873bcd66c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319</Words>
  <Application>Microsoft Office PowerPoint</Application>
  <PresentationFormat>On-screen Show (16:9)</PresentationFormat>
  <Paragraphs>59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MS PGothic</vt:lpstr>
      <vt:lpstr>宋体</vt:lpstr>
      <vt:lpstr>Arial</vt:lpstr>
      <vt:lpstr>Calibri</vt:lpstr>
      <vt:lpstr>Cambria Math</vt:lpstr>
      <vt:lpstr>Helvetica</vt:lpstr>
      <vt:lpstr>Helvetica Neue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197</cp:revision>
  <dcterms:modified xsi:type="dcterms:W3CDTF">2020-02-12T18:42:06Z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