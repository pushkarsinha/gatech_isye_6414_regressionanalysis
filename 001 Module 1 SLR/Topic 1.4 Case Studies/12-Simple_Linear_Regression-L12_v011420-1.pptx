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7" r:id="rId4"/>
    <p:sldMasterId id="2147483705" r:id="rId5"/>
    <p:sldMasterId id="2147483699" r:id="rId6"/>
  </p:sldMasterIdLst>
  <p:notesMasterIdLst>
    <p:notesMasterId r:id="rId19"/>
  </p:notesMasterIdLst>
  <p:handoutMasterIdLst>
    <p:handoutMasterId r:id="rId20"/>
  </p:handoutMasterIdLst>
  <p:sldIdLst>
    <p:sldId id="428" r:id="rId7"/>
    <p:sldId id="429" r:id="rId8"/>
    <p:sldId id="265" r:id="rId9"/>
    <p:sldId id="266" r:id="rId10"/>
    <p:sldId id="267" r:id="rId11"/>
    <p:sldId id="303" r:id="rId12"/>
    <p:sldId id="301" r:id="rId13"/>
    <p:sldId id="441" r:id="rId14"/>
    <p:sldId id="269" r:id="rId15"/>
    <p:sldId id="443" r:id="rId16"/>
    <p:sldId id="279" r:id="rId17"/>
    <p:sldId id="439" r:id="rId1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C567BE6-4E2E-2A45-BD72-59F9659A3211}">
          <p14:sldIdLst>
            <p14:sldId id="428"/>
            <p14:sldId id="429"/>
            <p14:sldId id="265"/>
            <p14:sldId id="266"/>
            <p14:sldId id="267"/>
            <p14:sldId id="303"/>
            <p14:sldId id="301"/>
            <p14:sldId id="441"/>
            <p14:sldId id="269"/>
            <p14:sldId id="443"/>
            <p14:sldId id="279"/>
            <p14:sldId id="439"/>
          </p14:sldIdLst>
        </p14:section>
      </p14:sectionLst>
    </p:ext>
    <p:ext uri="{EFAFB233-063F-42B5-8137-9DF3F51BA10A}">
      <p15:sldGuideLst xmlns:p15="http://schemas.microsoft.com/office/powerpoint/2012/main">
        <p15:guide id="1" orient="horz" pos="1620">
          <p15:clr>
            <a:srgbClr val="A4A3A4"/>
          </p15:clr>
        </p15:guide>
        <p15:guide id="2" pos="2880" userDrawn="1">
          <p15:clr>
            <a:srgbClr val="A4A3A4"/>
          </p15:clr>
        </p15:guide>
        <p15:guide id="3" pos="144" userDrawn="1">
          <p15:clr>
            <a:srgbClr val="A4A3A4"/>
          </p15:clr>
        </p15:guide>
        <p15:guide id="4" orient="horz" pos="444" userDrawn="1">
          <p15:clr>
            <a:srgbClr val="A4A3A4"/>
          </p15:clr>
        </p15:guide>
        <p15:guide id="5" orient="horz" pos="804" userDrawn="1">
          <p15:clr>
            <a:srgbClr val="A4A3A4"/>
          </p15:clr>
        </p15:guide>
        <p15:guide id="6" pos="3480" userDrawn="1">
          <p15:clr>
            <a:srgbClr val="A4A3A4"/>
          </p15:clr>
        </p15:guide>
        <p15:guide id="7" pos="432" userDrawn="1">
          <p15:clr>
            <a:srgbClr val="A4A3A4"/>
          </p15:clr>
        </p15:guide>
        <p15:guide id="8" pos="256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Rodriguez, Ramon S" initials="RRS" lastIdx="1" clrIdx="6">
    <p:extLst>
      <p:ext uri="{19B8F6BF-5375-455C-9EA6-DF929625EA0E}">
        <p15:presenceInfo xmlns:p15="http://schemas.microsoft.com/office/powerpoint/2012/main" userId="S-1-5-21-1177238915-2111687655-1060284298-1451345" providerId="AD"/>
      </p:ext>
    </p:extLst>
  </p:cmAuthor>
  <p:cmAuthor id="1" name="Figueroa, Shabana" initials="FS" lastIdx="16" clrIdx="0"/>
  <p:cmAuthor id="8" name="Gao, Shuyu" initials="GS" lastIdx="8" clrIdx="7">
    <p:extLst>
      <p:ext uri="{19B8F6BF-5375-455C-9EA6-DF929625EA0E}">
        <p15:presenceInfo xmlns:p15="http://schemas.microsoft.com/office/powerpoint/2012/main" userId="S::sgao303@gatech.edu::745fdf33-32d9-42c7-8a89-b5a22794559e" providerId="AD"/>
      </p:ext>
    </p:extLst>
  </p:cmAuthor>
  <p:cmAuthor id="2" name="Figueroa, Shabana" initials="FS [2]" lastIdx="1" clrIdx="1"/>
  <p:cmAuthor id="3" name="Serban, Nicoleta" initials="SN" lastIdx="12" clrIdx="2"/>
  <p:cmAuthor id="4" name="Hu, Rui" initials="HR" lastIdx="1" clrIdx="3"/>
  <p:cmAuthor id="5" name="Hu, Rui" initials="HR [2]" lastIdx="1" clrIdx="4"/>
  <p:cmAuthor id="6" name="Richard Levine" initials="RL" lastIdx="2" clrIdx="5">
    <p:extLst>
      <p:ext uri="{19B8F6BF-5375-455C-9EA6-DF929625EA0E}">
        <p15:presenceInfo xmlns:p15="http://schemas.microsoft.com/office/powerpoint/2012/main" userId="Richard Levin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A70B"/>
    <a:srgbClr val="F8FFF1"/>
    <a:srgbClr val="000000"/>
    <a:srgbClr val="EEB211"/>
    <a:srgbClr val="993200"/>
    <a:srgbClr val="F7FFEE"/>
    <a:srgbClr val="F5FCEA"/>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6" autoAdjust="0"/>
    <p:restoredTop sz="85986"/>
  </p:normalViewPr>
  <p:slideViewPr>
    <p:cSldViewPr snapToGrid="0">
      <p:cViewPr varScale="1">
        <p:scale>
          <a:sx n="96" d="100"/>
          <a:sy n="96" d="100"/>
        </p:scale>
        <p:origin x="994" y="77"/>
      </p:cViewPr>
      <p:guideLst>
        <p:guide orient="horz" pos="1620"/>
        <p:guide pos="2880"/>
        <p:guide pos="144"/>
        <p:guide orient="horz" pos="444"/>
        <p:guide orient="horz" pos="804"/>
        <p:guide pos="3480"/>
        <p:guide pos="432"/>
        <p:guide pos="256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9DFD447-ACB1-BC49-B8EF-23729E0A333F}" type="datetimeFigureOut">
              <a:rPr lang="en-US" smtClean="0"/>
              <a:t>1/25/2021</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EF598F-7A46-204A-ADDD-A1229C86B248}" type="slidenum">
              <a:rPr lang="en-US" smtClean="0"/>
              <a:t>‹#›</a:t>
            </a:fld>
            <a:endParaRPr lang="en-US"/>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1738FA-185A-CF4F-BD02-7990310E47F3}" type="datetimeFigureOut">
              <a:rPr lang="en-US" smtClean="0"/>
              <a:t>1/25/2021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3F7A93-C87A-E149-BF89-5D793380F19A}"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3</a:t>
            </a:fld>
            <a:endParaRPr lang="en-US"/>
          </a:p>
        </p:txBody>
      </p:sp>
    </p:spTree>
    <p:extLst>
      <p:ext uri="{BB962C8B-B14F-4D97-AF65-F5344CB8AC3E}">
        <p14:creationId xmlns:p14="http://schemas.microsoft.com/office/powerpoint/2010/main" val="37386323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4</a:t>
            </a:fld>
            <a:endParaRPr lang="en-US"/>
          </a:p>
        </p:txBody>
      </p:sp>
    </p:spTree>
    <p:extLst>
      <p:ext uri="{BB962C8B-B14F-4D97-AF65-F5344CB8AC3E}">
        <p14:creationId xmlns:p14="http://schemas.microsoft.com/office/powerpoint/2010/main" val="8912977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99BE3481-38DB-434B-B170-CFE83842A57C}" type="slidenum">
              <a:rPr lang="en-US" smtClean="0"/>
              <a:t>5</a:t>
            </a:fld>
            <a:endParaRPr lang="en-US"/>
          </a:p>
        </p:txBody>
      </p:sp>
    </p:spTree>
    <p:extLst>
      <p:ext uri="{BB962C8B-B14F-4D97-AF65-F5344CB8AC3E}">
        <p14:creationId xmlns:p14="http://schemas.microsoft.com/office/powerpoint/2010/main" val="2210284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99BE3481-38DB-434B-B170-CFE83842A57C}" type="slidenum">
              <a:rPr lang="en-US" smtClean="0"/>
              <a:t>6</a:t>
            </a:fld>
            <a:endParaRPr lang="en-US"/>
          </a:p>
        </p:txBody>
      </p:sp>
    </p:spTree>
    <p:extLst>
      <p:ext uri="{BB962C8B-B14F-4D97-AF65-F5344CB8AC3E}">
        <p14:creationId xmlns:p14="http://schemas.microsoft.com/office/powerpoint/2010/main" val="2009498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Show</a:t>
            </a:r>
            <a:r>
              <a:rPr lang="en-US" baseline="0" dirty="0"/>
              <a:t> slide only: </a:t>
            </a:r>
          </a:p>
          <a:p>
            <a:endParaRPr lang="en-US" baseline="0" dirty="0"/>
          </a:p>
          <a:p>
            <a:r>
              <a:rPr lang="en-US" sz="1200" b="0" i="0" u="none" strike="noStrike" kern="1200" baseline="0" dirty="0">
                <a:solidFill>
                  <a:schemeClr val="tx1"/>
                </a:solidFill>
                <a:latin typeface="+mn-lt"/>
                <a:ea typeface="+mn-ea"/>
                <a:cs typeface="+mn-cs"/>
              </a:rPr>
              <a:t>There are  unusual observations in these plots. In the plot of residuals versus fitted values</a:t>
            </a:r>
          </a:p>
          <a:p>
            <a:r>
              <a:rPr lang="en-US" sz="1200" b="0" i="0" u="none" strike="noStrike" kern="1200" baseline="0" dirty="0">
                <a:solidFill>
                  <a:schemeClr val="tx1"/>
                </a:solidFill>
                <a:latin typeface="+mn-lt"/>
                <a:ea typeface="+mn-ea"/>
                <a:cs typeface="+mn-cs"/>
              </a:rPr>
              <a:t>one point is isolated all the way to the left of the plot, corresponding to a very unusually low</a:t>
            </a:r>
          </a:p>
          <a:p>
            <a:r>
              <a:rPr lang="en-US" sz="1200" b="0" i="0" u="none" strike="noStrike" kern="1200" baseline="0" dirty="0">
                <a:solidFill>
                  <a:schemeClr val="tx1"/>
                </a:solidFill>
                <a:latin typeface="+mn-lt"/>
                <a:ea typeface="+mn-ea"/>
                <a:cs typeface="+mn-cs"/>
              </a:rPr>
              <a:t>fitted value (estimated exchange rate change).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This is Brazil, which has an annualized inflation rate more than 75 percentage points higher than that of the United States. This is a leverage point, and it is a problem. A leverage point can have a strong effect on the fitted regression, drawing the line away from the bulk of the points. It also can affect measures of fit like R2, t–statistics. What is going on here? Brazil had a period of hyperinflation from 1980 to 1994, a time period during which prices went up by a factor of roughly 1 trillion (that is, something that cost 1 Real at the beginning of the 1980s cost roughly 1 trillion Reals in the mid- 1990s). This hyperinflation was caused by an expansion of the money supply; the government financed projects not through taxes or borrowing but simply by printing more money, a crisis triggered by the worldwide energy crisis of the 1970s and political instabilities of the Brazilian military dictatorship. It is worth noting that this shows how changing the definition of “long term” can change the numbers for a country dramatically (the numbers for Brazil would be noticeably different if the starting time period was 1985 rather than 1975, and would be dramatically different if it was 1995 instead of 1975), because of the dependence of the annualized rates on the first and last values.</a:t>
            </a:r>
            <a:r>
              <a:rPr lang="en-US" baseline="0" dirty="0"/>
              <a:t> </a:t>
            </a:r>
          </a:p>
          <a:p>
            <a:endParaRPr lang="en-US" baseline="0" dirty="0"/>
          </a:p>
        </p:txBody>
      </p:sp>
      <p:sp>
        <p:nvSpPr>
          <p:cNvPr id="4" name="Slide Number Placeholder 3"/>
          <p:cNvSpPr>
            <a:spLocks noGrp="1"/>
          </p:cNvSpPr>
          <p:nvPr>
            <p:ph type="sldNum" sz="quarter" idx="10"/>
          </p:nvPr>
        </p:nvSpPr>
        <p:spPr/>
        <p:txBody>
          <a:bodyPr/>
          <a:lstStyle/>
          <a:p>
            <a:fld id="{99BE3481-38DB-434B-B170-CFE83842A57C}" type="slidenum">
              <a:rPr lang="en-US" smtClean="0"/>
              <a:t>7</a:t>
            </a:fld>
            <a:endParaRPr lang="en-US"/>
          </a:p>
        </p:txBody>
      </p:sp>
    </p:spTree>
    <p:extLst>
      <p:ext uri="{BB962C8B-B14F-4D97-AF65-F5344CB8AC3E}">
        <p14:creationId xmlns:p14="http://schemas.microsoft.com/office/powerpoint/2010/main" val="38984464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8</a:t>
            </a:fld>
            <a:endParaRPr lang="en-US"/>
          </a:p>
        </p:txBody>
      </p:sp>
    </p:spTree>
    <p:extLst>
      <p:ext uri="{BB962C8B-B14F-4D97-AF65-F5344CB8AC3E}">
        <p14:creationId xmlns:p14="http://schemas.microsoft.com/office/powerpoint/2010/main" val="9792088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99BE3481-38DB-434B-B170-CFE83842A57C}" type="slidenum">
              <a:rPr lang="en-US" smtClean="0"/>
              <a:t>9</a:t>
            </a:fld>
            <a:endParaRPr lang="en-US"/>
          </a:p>
        </p:txBody>
      </p:sp>
    </p:spTree>
    <p:extLst>
      <p:ext uri="{BB962C8B-B14F-4D97-AF65-F5344CB8AC3E}">
        <p14:creationId xmlns:p14="http://schemas.microsoft.com/office/powerpoint/2010/main" val="10388024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99BE3481-38DB-434B-B170-CFE83842A57C}" type="slidenum">
              <a:rPr lang="en-US" smtClean="0"/>
              <a:t>10</a:t>
            </a:fld>
            <a:endParaRPr lang="en-US"/>
          </a:p>
        </p:txBody>
      </p:sp>
    </p:spTree>
    <p:extLst>
      <p:ext uri="{BB962C8B-B14F-4D97-AF65-F5344CB8AC3E}">
        <p14:creationId xmlns:p14="http://schemas.microsoft.com/office/powerpoint/2010/main" val="25918680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15363"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
        <p:nvSpPr>
          <p:cNvPr id="4" name="Slide Number Placeholder 3"/>
          <p:cNvSpPr>
            <a:spLocks noGrp="1"/>
          </p:cNvSpPr>
          <p:nvPr>
            <p:ph type="sldNum" sz="quarter" idx="5"/>
          </p:nvPr>
        </p:nvSpPr>
        <p:spPr/>
        <p:txBody>
          <a:bodyPr/>
          <a:lstStyle/>
          <a:p>
            <a:pPr>
              <a:defRPr/>
            </a:pPr>
            <a:fld id="{EEB0A727-CD93-43DD-ACDD-AAF4F8395EA0}" type="slidenum">
              <a:rPr lang="en-US" smtClean="0"/>
              <a:pPr>
                <a:defRPr/>
              </a:pPr>
              <a:t>11</a:t>
            </a:fld>
            <a:endParaRPr lang="en-US"/>
          </a:p>
        </p:txBody>
      </p:sp>
    </p:spTree>
    <p:extLst>
      <p:ext uri="{BB962C8B-B14F-4D97-AF65-F5344CB8AC3E}">
        <p14:creationId xmlns:p14="http://schemas.microsoft.com/office/powerpoint/2010/main" val="16172899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481920" y="1421266"/>
            <a:ext cx="4727575" cy="1330325"/>
          </a:xfrm>
        </p:spPr>
        <p:txBody>
          <a:bodyP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2663025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628650" y="274638"/>
            <a:ext cx="5520941" cy="993775"/>
          </a:xfrm>
          <a:prstGeom prst="rect">
            <a:avLst/>
          </a:prstGeom>
        </p:spPr>
        <p:txBody>
          <a:bodyPr/>
          <a:lstStyle>
            <a:lvl1pPr algn="l">
              <a:defRPr lang="en-US" sz="4400" kern="1200" dirty="0">
                <a:solidFill>
                  <a:schemeClr val="tx1"/>
                </a:solidFill>
                <a:latin typeface="Vitesse Bold"/>
                <a:ea typeface="+mj-ea"/>
                <a:cs typeface="Vitesse Bold"/>
              </a:defRPr>
            </a:lvl1pPr>
          </a:lstStyle>
          <a:p>
            <a:r>
              <a:rPr lang="en-US"/>
              <a:t>Click to edit Master title style</a:t>
            </a:r>
          </a:p>
        </p:txBody>
      </p:sp>
      <p:sp>
        <p:nvSpPr>
          <p:cNvPr id="6" name="Content Placeholder 5"/>
          <p:cNvSpPr>
            <a:spLocks noGrp="1"/>
          </p:cNvSpPr>
          <p:nvPr>
            <p:ph sz="quarter" idx="10"/>
          </p:nvPr>
        </p:nvSpPr>
        <p:spPr>
          <a:xfrm>
            <a:off x="628649" y="1436688"/>
            <a:ext cx="4375430" cy="2994025"/>
          </a:xfrm>
          <a:prstGeom prst="rect">
            <a:avLst/>
          </a:prstGeom>
        </p:spPr>
        <p:txBody>
          <a:bodyPr/>
          <a:lstStyle>
            <a:lvl1pPr>
              <a:defRPr>
                <a:latin typeface="Vitesse Book" charset="0"/>
                <a:ea typeface="Vitesse Book" charset="0"/>
                <a:cs typeface="Vitesse Book" charset="0"/>
              </a:defRPr>
            </a:lvl1pPr>
            <a:lvl2pPr>
              <a:defRPr>
                <a:latin typeface="Vitesse Book" charset="0"/>
                <a:ea typeface="Vitesse Book" charset="0"/>
                <a:cs typeface="Vitesse Book" charset="0"/>
              </a:defRPr>
            </a:lvl2pPr>
            <a:lvl3pPr>
              <a:defRPr>
                <a:latin typeface="Vitesse Book" charset="0"/>
                <a:ea typeface="Vitesse Book" charset="0"/>
                <a:cs typeface="Vitesse Book" charset="0"/>
              </a:defRPr>
            </a:lvl3pPr>
            <a:lvl4pPr>
              <a:defRPr>
                <a:latin typeface="Vitesse Book" charset="0"/>
                <a:ea typeface="Vitesse Book" charset="0"/>
                <a:cs typeface="Vitesse Book" charset="0"/>
              </a:defRPr>
            </a:lvl4pPr>
            <a:lvl5pPr>
              <a:defRPr>
                <a:latin typeface="Vitesse Book" charset="0"/>
                <a:ea typeface="Vitesse Book" charset="0"/>
                <a:cs typeface="Vitesse Book"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94431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628650" y="4767263"/>
            <a:ext cx="2057400" cy="273844"/>
          </a:xfrm>
          <a:prstGeom prst="rect">
            <a:avLst/>
          </a:prstGeom>
        </p:spPr>
        <p:txBody>
          <a:bodyPr/>
          <a:lstStyle>
            <a:lvl1pPr>
              <a:defRPr/>
            </a:lvl1pPr>
          </a:lstStyle>
          <a:p>
            <a:pPr>
              <a:defRPr/>
            </a:pPr>
            <a:endParaRPr lang="en-US"/>
          </a:p>
        </p:txBody>
      </p:sp>
      <p:sp>
        <p:nvSpPr>
          <p:cNvPr id="3" name="Footer Placeholder 4"/>
          <p:cNvSpPr>
            <a:spLocks noGrp="1"/>
          </p:cNvSpPr>
          <p:nvPr>
            <p:ph type="ftr" sz="quarter" idx="11"/>
          </p:nvPr>
        </p:nvSpPr>
        <p:spPr>
          <a:xfrm>
            <a:off x="3028950" y="4767263"/>
            <a:ext cx="3086100" cy="273844"/>
          </a:xfrm>
          <a:prstGeom prst="rect">
            <a:avLst/>
          </a:prstGeom>
        </p:spPr>
        <p:txBody>
          <a:bodyPr/>
          <a:lstStyle>
            <a:lvl1pPr>
              <a:defRPr/>
            </a:lvl1pPr>
          </a:lstStyle>
          <a:p>
            <a:pPr>
              <a:defRPr/>
            </a:pPr>
            <a:endParaRPr lang="en-US"/>
          </a:p>
        </p:txBody>
      </p:sp>
      <p:sp>
        <p:nvSpPr>
          <p:cNvPr id="4" name="Slide Number Placeholder 5"/>
          <p:cNvSpPr>
            <a:spLocks noGrp="1"/>
          </p:cNvSpPr>
          <p:nvPr>
            <p:ph type="sldNum" sz="quarter" idx="12"/>
          </p:nvPr>
        </p:nvSpPr>
        <p:spPr>
          <a:xfrm>
            <a:off x="6457950" y="4767263"/>
            <a:ext cx="2057400" cy="273844"/>
          </a:xfrm>
          <a:prstGeom prst="rect">
            <a:avLst/>
          </a:prstGeom>
        </p:spPr>
        <p:txBody>
          <a:bodyPr/>
          <a:lstStyle>
            <a:lvl1pPr>
              <a:defRPr/>
            </a:lvl1pPr>
          </a:lstStyle>
          <a:p>
            <a:pPr>
              <a:defRPr/>
            </a:pPr>
            <a:fld id="{A2002E78-3C88-9A40-B579-FA4DB2691E4F}" type="slidenum">
              <a:rPr lang="en-US" altLang="en-US"/>
              <a:pPr>
                <a:defRPr/>
              </a:pPr>
              <a:t>‹#›</a:t>
            </a:fld>
            <a:endParaRPr lang="en-US" altLang="en-US"/>
          </a:p>
        </p:txBody>
      </p:sp>
    </p:spTree>
    <p:extLst>
      <p:ext uri="{BB962C8B-B14F-4D97-AF65-F5344CB8AC3E}">
        <p14:creationId xmlns:p14="http://schemas.microsoft.com/office/powerpoint/2010/main" val="3360737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1805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28650" y="1369219"/>
            <a:ext cx="78867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4767263"/>
            <a:ext cx="2057400" cy="273844"/>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lvl1pPr>
              <a:defRPr/>
            </a:lvl1pPr>
          </a:lstStyle>
          <a:p>
            <a:pPr>
              <a:defRPr/>
            </a:pPr>
            <a:fld id="{134F0668-60AC-E24C-8E50-B74DE0FA4F02}" type="slidenum">
              <a:rPr lang="en-US" altLang="en-US"/>
              <a:pPr>
                <a:defRPr/>
              </a:pPr>
              <a:t>‹#›</a:t>
            </a:fld>
            <a:endParaRPr lang="en-US" altLang="en-US"/>
          </a:p>
        </p:txBody>
      </p:sp>
    </p:spTree>
    <p:extLst>
      <p:ext uri="{BB962C8B-B14F-4D97-AF65-F5344CB8AC3E}">
        <p14:creationId xmlns:p14="http://schemas.microsoft.com/office/powerpoint/2010/main" val="2651002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ull Page Blank">
    <p:spTree>
      <p:nvGrpSpPr>
        <p:cNvPr id="1" name=""/>
        <p:cNvGrpSpPr/>
        <p:nvPr/>
      </p:nvGrpSpPr>
      <p:grpSpPr>
        <a:xfrm>
          <a:off x="0" y="0"/>
          <a:ext cx="0" cy="0"/>
          <a:chOff x="0" y="0"/>
          <a:chExt cx="0" cy="0"/>
        </a:xfrm>
      </p:grpSpPr>
      <p:sp>
        <p:nvSpPr>
          <p:cNvPr id="4" name="Title 1"/>
          <p:cNvSpPr>
            <a:spLocks noGrp="1"/>
          </p:cNvSpPr>
          <p:nvPr>
            <p:ph type="title"/>
          </p:nvPr>
        </p:nvSpPr>
        <p:spPr>
          <a:xfrm>
            <a:off x="252349" y="274678"/>
            <a:ext cx="8562392"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2306265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ull Page w/ Bullets">
    <p:spTree>
      <p:nvGrpSpPr>
        <p:cNvPr id="1" name=""/>
        <p:cNvGrpSpPr/>
        <p:nvPr/>
      </p:nvGrpSpPr>
      <p:grpSpPr>
        <a:xfrm>
          <a:off x="0" y="0"/>
          <a:ext cx="0" cy="0"/>
          <a:chOff x="0" y="0"/>
          <a:chExt cx="0" cy="0"/>
        </a:xfrm>
      </p:grpSpPr>
      <p:sp>
        <p:nvSpPr>
          <p:cNvPr id="10" name="Content Placeholder 5"/>
          <p:cNvSpPr>
            <a:spLocks noGrp="1"/>
          </p:cNvSpPr>
          <p:nvPr>
            <p:ph sz="quarter" idx="10"/>
          </p:nvPr>
        </p:nvSpPr>
        <p:spPr>
          <a:xfrm>
            <a:off x="252349" y="1268453"/>
            <a:ext cx="8280166" cy="3519917"/>
          </a:xfrm>
          <a:prstGeom prst="rect">
            <a:avLst/>
          </a:prstGeom>
        </p:spPr>
        <p:txBody>
          <a:bodyPr/>
          <a:lstStyle>
            <a:lvl1pPr>
              <a:defRPr sz="2000">
                <a:latin typeface="Helvetica" charset="0"/>
                <a:ea typeface="Helvetica" charset="0"/>
                <a:cs typeface="Helvetica" charset="0"/>
              </a:defRPr>
            </a:lvl1pPr>
            <a:lvl2pPr>
              <a:defRPr sz="1800">
                <a:latin typeface="Helvetica" charset="0"/>
                <a:ea typeface="Helvetica" charset="0"/>
                <a:cs typeface="Helvetica" charset="0"/>
              </a:defRPr>
            </a:lvl2pPr>
            <a:lvl3pPr>
              <a:defRPr sz="1800">
                <a:latin typeface="Helvetica" charset="0"/>
                <a:ea typeface="Helvetica" charset="0"/>
                <a:cs typeface="Helvetica" charset="0"/>
              </a:defRPr>
            </a:lvl3pPr>
            <a:lvl4pPr>
              <a:defRPr sz="1800">
                <a:latin typeface="Helvetica" charset="0"/>
                <a:ea typeface="Helvetica" charset="0"/>
                <a:cs typeface="Helvetica" charset="0"/>
              </a:defRPr>
            </a:lvl4pPr>
            <a:lvl5pPr>
              <a:defRPr sz="1800">
                <a:latin typeface="Helvetica" charset="0"/>
                <a:ea typeface="Helvetica" charset="0"/>
                <a:cs typeface="Helvetica"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252349" y="274678"/>
            <a:ext cx="8280166"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4182518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ull Page w/ Text">
    <p:spTree>
      <p:nvGrpSpPr>
        <p:cNvPr id="1" name=""/>
        <p:cNvGrpSpPr/>
        <p:nvPr/>
      </p:nvGrpSpPr>
      <p:grpSpPr>
        <a:xfrm>
          <a:off x="0" y="0"/>
          <a:ext cx="0" cy="0"/>
          <a:chOff x="0" y="0"/>
          <a:chExt cx="0" cy="0"/>
        </a:xfrm>
      </p:grpSpPr>
      <p:sp>
        <p:nvSpPr>
          <p:cNvPr id="4" name="Content Placeholder 4"/>
          <p:cNvSpPr>
            <a:spLocks noGrp="1"/>
          </p:cNvSpPr>
          <p:nvPr>
            <p:ph sz="quarter" idx="10" hasCustomPrompt="1"/>
          </p:nvPr>
        </p:nvSpPr>
        <p:spPr>
          <a:xfrm>
            <a:off x="252347" y="1268453"/>
            <a:ext cx="8449503" cy="3286125"/>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 </a:t>
            </a:r>
          </a:p>
          <a:p>
            <a:r>
              <a:rPr lang="en-US" sz="1800" dirty="0"/>
              <a:t>of the printing and typesetting industry. </a:t>
            </a:r>
            <a:r>
              <a:rPr lang="en-US" sz="1800" dirty="0" err="1"/>
              <a:t>Lorem</a:t>
            </a:r>
            <a:r>
              <a:rPr lang="en-US" sz="1800" dirty="0"/>
              <a:t> </a:t>
            </a:r>
            <a:r>
              <a:rPr lang="en-US" sz="1800" dirty="0" err="1"/>
              <a:t>Ipsum</a:t>
            </a:r>
            <a:r>
              <a:rPr lang="en-US" sz="1800" dirty="0"/>
              <a:t> has been the industry's standard dummy text ever since the 1500s, when an unknown printer took a galley of type and scrambled it to make a type specimen book. </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5" name="Title 1"/>
          <p:cNvSpPr>
            <a:spLocks noGrp="1"/>
          </p:cNvSpPr>
          <p:nvPr>
            <p:ph type="title"/>
          </p:nvPr>
        </p:nvSpPr>
        <p:spPr>
          <a:xfrm>
            <a:off x="252348" y="274678"/>
            <a:ext cx="8449503"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3092907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ull Page w/ Text + Graphic">
    <p:spTree>
      <p:nvGrpSpPr>
        <p:cNvPr id="1" name=""/>
        <p:cNvGrpSpPr/>
        <p:nvPr/>
      </p:nvGrpSpPr>
      <p:grpSpPr>
        <a:xfrm>
          <a:off x="0" y="0"/>
          <a:ext cx="0" cy="0"/>
          <a:chOff x="0" y="0"/>
          <a:chExt cx="0" cy="0"/>
        </a:xfrm>
      </p:grpSpPr>
      <p:sp>
        <p:nvSpPr>
          <p:cNvPr id="5" name="Content Placeholder 4"/>
          <p:cNvSpPr>
            <a:spLocks noGrp="1"/>
          </p:cNvSpPr>
          <p:nvPr>
            <p:ph sz="quarter" idx="10" hasCustomPrompt="1"/>
          </p:nvPr>
        </p:nvSpPr>
        <p:spPr>
          <a:xfrm>
            <a:off x="233538" y="1110075"/>
            <a:ext cx="3595277" cy="3612444"/>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6" name="Chart Placeholder 3"/>
          <p:cNvSpPr>
            <a:spLocks noGrp="1"/>
          </p:cNvSpPr>
          <p:nvPr>
            <p:ph type="chart" sz="quarter" idx="11"/>
          </p:nvPr>
        </p:nvSpPr>
        <p:spPr>
          <a:xfrm>
            <a:off x="3828815" y="1110075"/>
            <a:ext cx="4948296" cy="3612444"/>
          </a:xfrm>
          <a:prstGeom prst="rect">
            <a:avLst/>
          </a:prstGeom>
        </p:spPr>
        <p:txBody>
          <a:bodyPr/>
          <a:lstStyle>
            <a:lvl1pPr marL="0" indent="0">
              <a:buNone/>
              <a:defRPr/>
            </a:lvl1pPr>
          </a:lstStyle>
          <a:p>
            <a:endParaRPr lang="en-US" dirty="0"/>
          </a:p>
        </p:txBody>
      </p:sp>
      <p:sp>
        <p:nvSpPr>
          <p:cNvPr id="10" name="Title 1"/>
          <p:cNvSpPr>
            <a:spLocks noGrp="1"/>
          </p:cNvSpPr>
          <p:nvPr>
            <p:ph type="title"/>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1671983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Page w/ Graphic">
    <p:spTree>
      <p:nvGrpSpPr>
        <p:cNvPr id="1" name=""/>
        <p:cNvGrpSpPr/>
        <p:nvPr/>
      </p:nvGrpSpPr>
      <p:grpSpPr>
        <a:xfrm>
          <a:off x="0" y="0"/>
          <a:ext cx="0" cy="0"/>
          <a:chOff x="0" y="0"/>
          <a:chExt cx="0" cy="0"/>
        </a:xfrm>
      </p:grpSpPr>
      <p:sp>
        <p:nvSpPr>
          <p:cNvPr id="4" name="Chart Placeholder 3"/>
          <p:cNvSpPr>
            <a:spLocks noGrp="1"/>
          </p:cNvSpPr>
          <p:nvPr>
            <p:ph type="chart" sz="quarter" idx="10"/>
          </p:nvPr>
        </p:nvSpPr>
        <p:spPr>
          <a:xfrm>
            <a:off x="252349" y="1268453"/>
            <a:ext cx="8110832" cy="3564316"/>
          </a:xfrm>
          <a:prstGeom prst="rect">
            <a:avLst/>
          </a:prstGeom>
        </p:spPr>
        <p:txBody>
          <a:bodyPr/>
          <a:lstStyle>
            <a:lvl1pPr marL="0" indent="0">
              <a:buNone/>
              <a:defRPr sz="2000">
                <a:latin typeface="Helvetica" charset="0"/>
                <a:ea typeface="Helvetica" charset="0"/>
                <a:cs typeface="Helvetica" charset="0"/>
              </a:defRPr>
            </a:lvl1pPr>
          </a:lstStyle>
          <a:p>
            <a:endParaRPr lang="en-US" dirty="0"/>
          </a:p>
        </p:txBody>
      </p:sp>
      <p:sp>
        <p:nvSpPr>
          <p:cNvPr id="5" name="Title 1"/>
          <p:cNvSpPr>
            <a:spLocks noGrp="1"/>
          </p:cNvSpPr>
          <p:nvPr>
            <p:ph type="title"/>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2997524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Full Page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42439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theme" Target="../theme/theme2.xml"/><Relationship Id="rId5" Type="http://schemas.openxmlformats.org/officeDocument/2006/relationships/image" Target="../media/image1.jpg"/><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8.xml"/><Relationship Id="rId7" Type="http://schemas.openxmlformats.org/officeDocument/2006/relationships/theme" Target="../theme/theme3.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10" Type="http://schemas.openxmlformats.org/officeDocument/2006/relationships/image" Target="../media/image4.png"/><Relationship Id="rId4" Type="http://schemas.openxmlformats.org/officeDocument/2006/relationships/slideLayout" Target="../slideLayouts/slideLayout9.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xmlns="" id="{13BCFA4D-1CC5-4243-98FC-591DF878C6E5}"/>
              </a:ext>
            </a:extLst>
          </p:cNvPr>
          <p:cNvPicPr>
            <a:picLocks noChangeAspect="1"/>
          </p:cNvPicPr>
          <p:nvPr userDrawn="1"/>
        </p:nvPicPr>
        <p:blipFill>
          <a:blip r:embed="rId7"/>
          <a:stretch>
            <a:fillRect/>
          </a:stretch>
        </p:blipFill>
        <p:spPr>
          <a:xfrm>
            <a:off x="0" y="0"/>
            <a:ext cx="9144000" cy="5143500"/>
          </a:xfrm>
          <a:prstGeom prst="rect">
            <a:avLst/>
          </a:prstGeom>
        </p:spPr>
      </p:pic>
    </p:spTree>
    <p:extLst>
      <p:ext uri="{BB962C8B-B14F-4D97-AF65-F5344CB8AC3E}">
        <p14:creationId xmlns:p14="http://schemas.microsoft.com/office/powerpoint/2010/main" val="231124621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0" y="0"/>
            <a:ext cx="9142647" cy="5144187"/>
            <a:chOff x="0" y="0"/>
            <a:chExt cx="9142647" cy="5144187"/>
          </a:xfrm>
        </p:grpSpPr>
        <p:pic>
          <p:nvPicPr>
            <p:cNvPr id="5" name="Picture 4"/>
            <p:cNvPicPr>
              <a:picLocks noChangeAspect="1"/>
            </p:cNvPicPr>
            <p:nvPr userDrawn="1"/>
          </p:nvPicPr>
          <p:blipFill>
            <a:blip r:embed="rId2"/>
            <a:stretch>
              <a:fillRect/>
            </a:stretch>
          </p:blipFill>
          <p:spPr>
            <a:xfrm flipH="1" flipV="1">
              <a:off x="5423765" y="2211757"/>
              <a:ext cx="3718882" cy="2932430"/>
            </a:xfrm>
            <a:prstGeom prst="rect">
              <a:avLst/>
            </a:prstGeom>
          </p:spPr>
        </p:pic>
        <p:pic>
          <p:nvPicPr>
            <p:cNvPr id="6" name="Picture 5">
              <a:extLst>
                <a:ext uri="{FF2B5EF4-FFF2-40B4-BE49-F238E27FC236}">
                  <a16:creationId xmlns:a16="http://schemas.microsoft.com/office/drawing/2014/main" xmlns="" id="{5BC3A035-B0EE-3A43-AADA-02BA46FB0931}"/>
                </a:ext>
              </a:extLst>
            </p:cNvPr>
            <p:cNvPicPr>
              <a:picLocks noChangeAspect="1"/>
            </p:cNvPicPr>
            <p:nvPr userDrawn="1"/>
          </p:nvPicPr>
          <p:blipFill>
            <a:blip r:embed="rId3"/>
            <a:stretch>
              <a:fillRect/>
            </a:stretch>
          </p:blipFill>
          <p:spPr>
            <a:xfrm>
              <a:off x="8111132" y="4644572"/>
              <a:ext cx="945783" cy="401634"/>
            </a:xfrm>
            <a:prstGeom prst="rect">
              <a:avLst/>
            </a:prstGeom>
          </p:spPr>
        </p:pic>
        <p:pic>
          <p:nvPicPr>
            <p:cNvPr id="7" name="Picture 6"/>
            <p:cNvPicPr>
              <a:picLocks noChangeAspect="1"/>
            </p:cNvPicPr>
            <p:nvPr userDrawn="1"/>
          </p:nvPicPr>
          <p:blipFill>
            <a:blip r:embed="rId4"/>
            <a:stretch>
              <a:fillRect/>
            </a:stretch>
          </p:blipFill>
          <p:spPr>
            <a:xfrm>
              <a:off x="0" y="0"/>
              <a:ext cx="3719590" cy="2933934"/>
            </a:xfrm>
            <a:prstGeom prst="rect">
              <a:avLst/>
            </a:prstGeom>
          </p:spPr>
        </p:pic>
      </p:grpSp>
      <p:pic>
        <p:nvPicPr>
          <p:cNvPr id="8" name="Picture 7">
            <a:extLst>
              <a:ext uri="{FF2B5EF4-FFF2-40B4-BE49-F238E27FC236}">
                <a16:creationId xmlns:a16="http://schemas.microsoft.com/office/drawing/2014/main" xmlns="" id="{13BCFA4D-1CC5-4243-98FC-591DF878C6E5}"/>
              </a:ext>
            </a:extLst>
          </p:cNvPr>
          <p:cNvPicPr>
            <a:picLocks noChangeAspect="1"/>
          </p:cNvPicPr>
          <p:nvPr userDrawn="1"/>
        </p:nvPicPr>
        <p:blipFill>
          <a:blip r:embed="rId5"/>
          <a:stretch>
            <a:fillRect/>
          </a:stretch>
        </p:blipFill>
        <p:spPr>
          <a:xfrm>
            <a:off x="0" y="0"/>
            <a:ext cx="9144000" cy="5143500"/>
          </a:xfrm>
          <a:prstGeom prst="rect">
            <a:avLst/>
          </a:prstGeom>
        </p:spPr>
      </p:pic>
    </p:spTree>
    <p:extLst>
      <p:ext uri="{BB962C8B-B14F-4D97-AF65-F5344CB8AC3E}">
        <p14:creationId xmlns:p14="http://schemas.microsoft.com/office/powerpoint/2010/main" val="1927365758"/>
      </p:ext>
    </p:extLst>
  </p:cSld>
  <p:clrMap bg1="lt1" tx1="dk1" bg2="lt2" tx2="dk2" accent1="accent1" accent2="accent2" accent3="accent3" accent4="accent4" accent5="accent5" accent6="accent6" hlink="hlink" folHlink="folHlink"/>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0" y="0"/>
            <a:ext cx="9142647" cy="5144187"/>
            <a:chOff x="0" y="0"/>
            <a:chExt cx="9142647" cy="5144187"/>
          </a:xfrm>
        </p:grpSpPr>
        <p:pic>
          <p:nvPicPr>
            <p:cNvPr id="4" name="Picture 3"/>
            <p:cNvPicPr>
              <a:picLocks noChangeAspect="1"/>
            </p:cNvPicPr>
            <p:nvPr userDrawn="1"/>
          </p:nvPicPr>
          <p:blipFill>
            <a:blip r:embed="rId8"/>
            <a:stretch>
              <a:fillRect/>
            </a:stretch>
          </p:blipFill>
          <p:spPr>
            <a:xfrm flipH="1" flipV="1">
              <a:off x="5423765" y="2211757"/>
              <a:ext cx="3718882" cy="2932430"/>
            </a:xfrm>
            <a:prstGeom prst="rect">
              <a:avLst/>
            </a:prstGeom>
          </p:spPr>
        </p:pic>
        <p:pic>
          <p:nvPicPr>
            <p:cNvPr id="6" name="Picture 5">
              <a:extLst>
                <a:ext uri="{FF2B5EF4-FFF2-40B4-BE49-F238E27FC236}">
                  <a16:creationId xmlns:a16="http://schemas.microsoft.com/office/drawing/2014/main" xmlns="" id="{5BC3A035-B0EE-3A43-AADA-02BA46FB0931}"/>
                </a:ext>
              </a:extLst>
            </p:cNvPr>
            <p:cNvPicPr>
              <a:picLocks noChangeAspect="1"/>
            </p:cNvPicPr>
            <p:nvPr userDrawn="1"/>
          </p:nvPicPr>
          <p:blipFill>
            <a:blip r:embed="rId9"/>
            <a:stretch>
              <a:fillRect/>
            </a:stretch>
          </p:blipFill>
          <p:spPr>
            <a:xfrm>
              <a:off x="8111132" y="4644572"/>
              <a:ext cx="945783" cy="401634"/>
            </a:xfrm>
            <a:prstGeom prst="rect">
              <a:avLst/>
            </a:prstGeom>
          </p:spPr>
        </p:pic>
        <p:pic>
          <p:nvPicPr>
            <p:cNvPr id="7" name="Picture 6"/>
            <p:cNvPicPr>
              <a:picLocks noChangeAspect="1"/>
            </p:cNvPicPr>
            <p:nvPr userDrawn="1"/>
          </p:nvPicPr>
          <p:blipFill>
            <a:blip r:embed="rId10"/>
            <a:stretch>
              <a:fillRect/>
            </a:stretch>
          </p:blipFill>
          <p:spPr>
            <a:xfrm>
              <a:off x="0" y="0"/>
              <a:ext cx="3719590" cy="2933934"/>
            </a:xfrm>
            <a:prstGeom prst="rect">
              <a:avLst/>
            </a:prstGeom>
          </p:spPr>
        </p:pic>
      </p:grpSp>
    </p:spTree>
    <p:extLst>
      <p:ext uri="{BB962C8B-B14F-4D97-AF65-F5344CB8AC3E}">
        <p14:creationId xmlns:p14="http://schemas.microsoft.com/office/powerpoint/2010/main" val="304365610"/>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10" r:id="rId6"/>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nvSpPr>
        <p:spPr>
          <a:xfrm>
            <a:off x="117956" y="228858"/>
            <a:ext cx="5691763" cy="712848"/>
          </a:xfrm>
          <a:prstGeom prst="rect">
            <a:avLst/>
          </a:prstGeom>
        </p:spPr>
        <p:txBody>
          <a:bodyPr/>
          <a:lstStyle>
            <a:lvl1pPr algn="l" defTabSz="457200" rtl="0" eaLnBrk="1" latinLnBrk="0" hangingPunct="1">
              <a:spcBef>
                <a:spcPct val="0"/>
              </a:spcBef>
              <a:buNone/>
              <a:defRPr lang="en-US" sz="4000" b="0" i="0" kern="1200" dirty="0">
                <a:solidFill>
                  <a:schemeClr val="tx1"/>
                </a:solidFill>
                <a:latin typeface="Vitesse Bold"/>
                <a:ea typeface="Vitesse" charset="0"/>
                <a:cs typeface="Vitesse Bold"/>
              </a:defRPr>
            </a:lvl1pPr>
          </a:lstStyle>
          <a:p>
            <a:r>
              <a:rPr lang="en-US" sz="3600" dirty="0">
                <a:latin typeface="Vitesse" charset="0"/>
                <a:cs typeface="Vitesse" charset="0"/>
              </a:rPr>
              <a:t>Regression Analysis</a:t>
            </a:r>
          </a:p>
        </p:txBody>
      </p:sp>
      <p:sp>
        <p:nvSpPr>
          <p:cNvPr id="6" name="Text Placeholder 2"/>
          <p:cNvSpPr>
            <a:spLocks noGrp="1"/>
          </p:cNvSpPr>
          <p:nvPr/>
        </p:nvSpPr>
        <p:spPr>
          <a:xfrm>
            <a:off x="117956" y="740369"/>
            <a:ext cx="5511340" cy="542236"/>
          </a:xfrm>
          <a:prstGeom prst="rect">
            <a:avLst/>
          </a:prstGeom>
        </p:spPr>
        <p:txBody>
          <a:bodyPr/>
          <a:lstStyle>
            <a:lvl1pPr marL="0" indent="0" algn="l" defTabSz="457200" rtl="0" eaLnBrk="1" latinLnBrk="0" hangingPunct="1">
              <a:spcBef>
                <a:spcPct val="20000"/>
              </a:spcBef>
              <a:buFont typeface="Arial"/>
              <a:buNone/>
              <a:defRPr lang="en-US" sz="3000" b="0" i="0" kern="1200" dirty="0">
                <a:solidFill>
                  <a:schemeClr val="tx2"/>
                </a:solidFill>
                <a:latin typeface="Vitesse Medium" charset="0"/>
                <a:ea typeface="Vitesse Medium" charset="0"/>
                <a:cs typeface="Vitesse Medium"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Simple Linear Regression</a:t>
            </a:r>
          </a:p>
        </p:txBody>
      </p:sp>
      <p:sp>
        <p:nvSpPr>
          <p:cNvPr id="7" name="Text Placeholder 3"/>
          <p:cNvSpPr>
            <a:spLocks noGrp="1"/>
          </p:cNvSpPr>
          <p:nvPr/>
        </p:nvSpPr>
        <p:spPr>
          <a:xfrm>
            <a:off x="117957" y="2018346"/>
            <a:ext cx="4305091" cy="432669"/>
          </a:xfrm>
          <a:prstGeom prst="rect">
            <a:avLst/>
          </a:prstGeom>
        </p:spPr>
        <p:txBody>
          <a:bodyPr anchor="ctr"/>
          <a:lstStyle>
            <a:lvl1pPr marL="0" indent="0" algn="l" defTabSz="457200" rtl="0" eaLnBrk="1" latinLnBrk="0" hangingPunct="1">
              <a:lnSpc>
                <a:spcPts val="1400"/>
              </a:lnSpc>
              <a:spcBef>
                <a:spcPct val="20000"/>
              </a:spcBef>
              <a:buFont typeface="Arial"/>
              <a:buNone/>
              <a:defRPr lang="en-US" sz="2400" b="1" kern="1200" baseline="0" dirty="0">
                <a:solidFill>
                  <a:srgbClr val="EEB21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a:p>
            <a:r>
              <a:rPr lang="en-US" dirty="0" err="1"/>
              <a:t>Nicoleta</a:t>
            </a:r>
            <a:r>
              <a:rPr lang="en-US" dirty="0"/>
              <a:t> </a:t>
            </a:r>
            <a:r>
              <a:rPr lang="en-US" dirty="0" err="1"/>
              <a:t>Serban</a:t>
            </a:r>
            <a:r>
              <a:rPr lang="en-US" dirty="0"/>
              <a:t>, Ph.D. </a:t>
            </a:r>
          </a:p>
        </p:txBody>
      </p:sp>
      <p:sp>
        <p:nvSpPr>
          <p:cNvPr id="8" name="Text Placeholder 4"/>
          <p:cNvSpPr>
            <a:spLocks noGrp="1"/>
          </p:cNvSpPr>
          <p:nvPr/>
        </p:nvSpPr>
        <p:spPr>
          <a:xfrm>
            <a:off x="108550" y="2376336"/>
            <a:ext cx="4305091" cy="254281"/>
          </a:xfrm>
          <a:prstGeom prst="rect">
            <a:avLst/>
          </a:prstGeom>
        </p:spPr>
        <p:txBody>
          <a:bodyPr/>
          <a:lstStyle>
            <a:lvl1pPr marL="0" indent="0" algn="l" defTabSz="457200" rtl="0" eaLnBrk="1" latinLnBrk="0" hangingPunct="1">
              <a:spcBef>
                <a:spcPct val="20000"/>
              </a:spcBef>
              <a:buFont typeface="Arial"/>
              <a:buNone/>
              <a:defRPr sz="1600" b="0" i="1"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Professor </a:t>
            </a:r>
          </a:p>
        </p:txBody>
      </p:sp>
      <p:sp>
        <p:nvSpPr>
          <p:cNvPr id="9" name="Text Placeholder 5"/>
          <p:cNvSpPr>
            <a:spLocks noGrp="1"/>
          </p:cNvSpPr>
          <p:nvPr/>
        </p:nvSpPr>
        <p:spPr>
          <a:xfrm>
            <a:off x="126136" y="3885645"/>
            <a:ext cx="4305091" cy="878110"/>
          </a:xfrm>
          <a:prstGeom prst="rect">
            <a:avLst/>
          </a:prstGeom>
        </p:spPr>
        <p:txBody>
          <a:bodyPr/>
          <a:lstStyle>
            <a:lvl1pPr marL="0" indent="0" algn="l" defTabSz="457200" rtl="0" eaLnBrk="1" latinLnBrk="0" hangingPunct="1">
              <a:spcBef>
                <a:spcPct val="20000"/>
              </a:spcBef>
              <a:buFont typeface="Arial"/>
              <a:buNone/>
              <a:defRPr sz="1400" b="0" i="0" kern="1200" baseline="0">
                <a:solidFill>
                  <a:schemeClr val="tx2"/>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dirty="0">
                <a:latin typeface="Helvetica" panose="020B0604020202020204" pitchFamily="34" charset="0"/>
                <a:cs typeface="Helvetica" panose="020B0604020202020204" pitchFamily="34" charset="0"/>
              </a:rPr>
              <a:t>Example 1: Testing the Theory of Purchasing Power Parity </a:t>
            </a:r>
          </a:p>
          <a:p>
            <a:r>
              <a:rPr lang="en-US" sz="2000" dirty="0">
                <a:latin typeface="Helvetica" panose="020B0604020202020204" pitchFamily="34" charset="0"/>
                <a:cs typeface="Helvetica" panose="020B0604020202020204" pitchFamily="34" charset="0"/>
              </a:rPr>
              <a:t>(Part 1)</a:t>
            </a:r>
            <a:endParaRPr lang="en-US" sz="2000" dirty="0">
              <a:latin typeface="Helvetica" panose="020B0604020202020204" pitchFamily="34" charset="0"/>
              <a:ea typeface="Vitesse" charset="0"/>
              <a:cs typeface="Helvetica" panose="020B0604020202020204" pitchFamily="34" charset="0"/>
            </a:endParaRPr>
          </a:p>
        </p:txBody>
      </p:sp>
      <p:sp>
        <p:nvSpPr>
          <p:cNvPr id="10" name="Text Placeholder 6"/>
          <p:cNvSpPr>
            <a:spLocks noGrp="1"/>
          </p:cNvSpPr>
          <p:nvPr/>
        </p:nvSpPr>
        <p:spPr>
          <a:xfrm>
            <a:off x="117956" y="2661666"/>
            <a:ext cx="4305091" cy="322253"/>
          </a:xfrm>
          <a:prstGeom prst="rect">
            <a:avLst/>
          </a:prstGeom>
        </p:spPr>
        <p:txBody>
          <a:bodyPr/>
          <a:lstStyle>
            <a:lvl1pPr marL="0" indent="0" algn="l" defTabSz="457200" rtl="0" eaLnBrk="1" latinLnBrk="0" hangingPunct="1">
              <a:spcBef>
                <a:spcPct val="20000"/>
              </a:spcBef>
              <a:buFont typeface="Arial"/>
              <a:buNone/>
              <a:defRPr sz="1200" b="0" i="0"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School of Industrial and Systems Engineering</a:t>
            </a:r>
          </a:p>
        </p:txBody>
      </p:sp>
    </p:spTree>
    <p:extLst>
      <p:ext uri="{BB962C8B-B14F-4D97-AF65-F5344CB8AC3E}">
        <p14:creationId xmlns:p14="http://schemas.microsoft.com/office/powerpoint/2010/main" val="1693339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15820" t="7499" r="15454" b="5507"/>
          <a:stretch/>
        </p:blipFill>
        <p:spPr>
          <a:xfrm>
            <a:off x="1237534" y="1285661"/>
            <a:ext cx="2069432" cy="2619446"/>
          </a:xfrm>
          <a:prstGeom prst="rect">
            <a:avLst/>
          </a:prstGeom>
        </p:spPr>
      </p:pic>
      <p:sp>
        <p:nvSpPr>
          <p:cNvPr id="2" name="Text Placeholder 1"/>
          <p:cNvSpPr>
            <a:spLocks noGrp="1"/>
          </p:cNvSpPr>
          <p:nvPr>
            <p:ph type="body" sz="quarter" idx="10"/>
          </p:nvPr>
        </p:nvSpPr>
        <p:spPr>
          <a:xfrm>
            <a:off x="143478" y="-135358"/>
            <a:ext cx="4727575" cy="1330325"/>
          </a:xfrm>
        </p:spPr>
        <p:txBody>
          <a:bodyPr anchor="ctr">
            <a:normAutofit/>
          </a:bodyPr>
          <a:lstStyle/>
          <a:p>
            <a:pPr>
              <a:spcBef>
                <a:spcPct val="0"/>
              </a:spcBef>
            </a:pPr>
            <a:r>
              <a:rPr lang="en-US" sz="3600" dirty="0">
                <a:latin typeface="Vitesse" charset="0"/>
                <a:ea typeface="Vitesse" charset="0"/>
                <a:cs typeface="Vitesse" charset="0"/>
              </a:rPr>
              <a:t>About This Lesson</a:t>
            </a:r>
          </a:p>
        </p:txBody>
      </p:sp>
    </p:spTree>
    <p:extLst>
      <p:ext uri="{BB962C8B-B14F-4D97-AF65-F5344CB8AC3E}">
        <p14:creationId xmlns:p14="http://schemas.microsoft.com/office/powerpoint/2010/main" val="1499955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4869" y="1058189"/>
            <a:ext cx="6980550" cy="1384995"/>
          </a:xfrm>
          <a:prstGeom prst="rect">
            <a:avLst/>
          </a:prstGeom>
          <a:noFill/>
        </p:spPr>
        <p:txBody>
          <a:bodyPr wrap="square" rtlCol="0">
            <a:spAutoFit/>
          </a:bodyPr>
          <a:lstStyle/>
          <a:p>
            <a:r>
              <a:rPr lang="en-US" sz="1400" b="1" dirty="0">
                <a:solidFill>
                  <a:srgbClr val="DFA70B"/>
                </a:solidFill>
                <a:latin typeface="Helvetica" panose="020B0604020202020204" pitchFamily="34" charset="0"/>
                <a:ea typeface="Helvetica Neue" charset="0"/>
                <a:cs typeface="Helvetica" panose="020B0604020202020204" pitchFamily="34" charset="0"/>
              </a:rPr>
              <a:t># Function for fitted line plot: See </a:t>
            </a:r>
            <a:r>
              <a:rPr lang="en-US" sz="1400" b="1" dirty="0" err="1">
                <a:solidFill>
                  <a:srgbClr val="DFA70B"/>
                </a:solidFill>
                <a:latin typeface="Helvetica" panose="020B0604020202020204" pitchFamily="34" charset="0"/>
                <a:ea typeface="Helvetica Neue" charset="0"/>
                <a:cs typeface="Helvetica" panose="020B0604020202020204" pitchFamily="34" charset="0"/>
              </a:rPr>
              <a:t>ppp-revised.R</a:t>
            </a:r>
            <a:r>
              <a:rPr lang="en-US" sz="1400" b="1" dirty="0">
                <a:solidFill>
                  <a:srgbClr val="DFA70B"/>
                </a:solidFill>
                <a:latin typeface="Helvetica" panose="020B0604020202020204" pitchFamily="34" charset="0"/>
                <a:ea typeface="Helvetica Neue" charset="0"/>
                <a:cs typeface="Helvetica" panose="020B0604020202020204" pitchFamily="34" charset="0"/>
              </a:rPr>
              <a:t> for this function</a:t>
            </a:r>
          </a:p>
          <a:p>
            <a:r>
              <a:rPr lang="en-US" sz="1400" b="1" dirty="0">
                <a:solidFill>
                  <a:srgbClr val="DFA70B"/>
                </a:solidFill>
                <a:latin typeface="Helvetica" panose="020B0604020202020204" pitchFamily="34" charset="0"/>
                <a:ea typeface="Helvetica Neue" charset="0"/>
                <a:cs typeface="Helvetica" panose="020B0604020202020204" pitchFamily="34" charset="0"/>
              </a:rPr>
              <a:t>#</a:t>
            </a:r>
            <a:r>
              <a:rPr lang="en-US" sz="1400" b="1" dirty="0" err="1">
                <a:solidFill>
                  <a:srgbClr val="DFA70B"/>
                </a:solidFill>
                <a:latin typeface="Helvetica" panose="020B0604020202020204" pitchFamily="34" charset="0"/>
                <a:ea typeface="Helvetica Neue" charset="0"/>
                <a:cs typeface="Helvetica" panose="020B0604020202020204" pitchFamily="34" charset="0"/>
              </a:rPr>
              <a:t>regplot.confbands.fun</a:t>
            </a:r>
            <a:r>
              <a:rPr lang="en-US" sz="1400" b="1" dirty="0">
                <a:solidFill>
                  <a:srgbClr val="DFA70B"/>
                </a:solidFill>
                <a:latin typeface="Helvetica" panose="020B0604020202020204" pitchFamily="34" charset="0"/>
                <a:ea typeface="Helvetica Neue" charset="0"/>
                <a:cs typeface="Helvetica" panose="020B0604020202020204" pitchFamily="34" charset="0"/>
              </a:rPr>
              <a:t> = function(x, y, </a:t>
            </a:r>
            <a:r>
              <a:rPr lang="en-US" sz="1400" b="1" dirty="0" err="1">
                <a:solidFill>
                  <a:srgbClr val="DFA70B"/>
                </a:solidFill>
                <a:latin typeface="Helvetica" panose="020B0604020202020204" pitchFamily="34" charset="0"/>
                <a:ea typeface="Helvetica Neue" charset="0"/>
                <a:cs typeface="Helvetica" panose="020B0604020202020204" pitchFamily="34" charset="0"/>
              </a:rPr>
              <a:t>confidencelevel</a:t>
            </a:r>
            <a:r>
              <a:rPr lang="en-US" sz="1400" b="1" dirty="0">
                <a:solidFill>
                  <a:srgbClr val="DFA70B"/>
                </a:solidFill>
                <a:latin typeface="Helvetica" panose="020B0604020202020204" pitchFamily="34" charset="0"/>
                <a:ea typeface="Helvetica Neue" charset="0"/>
                <a:cs typeface="Helvetica" panose="020B0604020202020204" pitchFamily="34" charset="0"/>
              </a:rPr>
              <a:t>=.95, </a:t>
            </a:r>
            <a:r>
              <a:rPr lang="en-US" sz="1400" b="1" dirty="0" err="1">
                <a:solidFill>
                  <a:srgbClr val="DFA70B"/>
                </a:solidFill>
                <a:latin typeface="Helvetica" panose="020B0604020202020204" pitchFamily="34" charset="0"/>
                <a:ea typeface="Helvetica Neue" charset="0"/>
                <a:cs typeface="Helvetica" panose="020B0604020202020204" pitchFamily="34" charset="0"/>
              </a:rPr>
              <a:t>CImean</a:t>
            </a:r>
            <a:r>
              <a:rPr lang="en-US" sz="1400" b="1" dirty="0">
                <a:solidFill>
                  <a:srgbClr val="DFA70B"/>
                </a:solidFill>
                <a:latin typeface="Helvetica" panose="020B0604020202020204" pitchFamily="34" charset="0"/>
                <a:ea typeface="Helvetica Neue" charset="0"/>
                <a:cs typeface="Helvetica" panose="020B0604020202020204" pitchFamily="34" charset="0"/>
              </a:rPr>
              <a:t>=T, PI=T, </a:t>
            </a:r>
            <a:r>
              <a:rPr lang="en-US" sz="1400" b="1" dirty="0" err="1">
                <a:solidFill>
                  <a:srgbClr val="DFA70B"/>
                </a:solidFill>
                <a:latin typeface="Helvetica" panose="020B0604020202020204" pitchFamily="34" charset="0"/>
                <a:ea typeface="Helvetica Neue" charset="0"/>
                <a:cs typeface="Helvetica" panose="020B0604020202020204" pitchFamily="34" charset="0"/>
              </a:rPr>
              <a:t>CIregline</a:t>
            </a:r>
            <a:r>
              <a:rPr lang="en-US" sz="1400" b="1" dirty="0">
                <a:solidFill>
                  <a:srgbClr val="DFA70B"/>
                </a:solidFill>
                <a:latin typeface="Helvetica" panose="020B0604020202020204" pitchFamily="34" charset="0"/>
                <a:ea typeface="Helvetica Neue" charset="0"/>
                <a:cs typeface="Helvetica" panose="020B0604020202020204" pitchFamily="34" charset="0"/>
              </a:rPr>
              <a:t>=F, legend=F){</a:t>
            </a:r>
          </a:p>
          <a:p>
            <a:r>
              <a:rPr lang="en-US" sz="1400" b="1" dirty="0">
                <a:solidFill>
                  <a:srgbClr val="DFA70B"/>
                </a:solidFill>
                <a:latin typeface="Helvetica" panose="020B0604020202020204" pitchFamily="34" charset="0"/>
                <a:ea typeface="Helvetica Neue" charset="0"/>
                <a:cs typeface="Helvetica" panose="020B0604020202020204" pitchFamily="34" charset="0"/>
              </a:rPr>
              <a:t>    #### Modified from a function written by Sandra McBride, Duke University</a:t>
            </a:r>
          </a:p>
          <a:p>
            <a:r>
              <a:rPr lang="en-US" sz="1400" b="1" dirty="0">
                <a:solidFill>
                  <a:srgbClr val="DFA70B"/>
                </a:solidFill>
                <a:latin typeface="Helvetica" panose="020B0604020202020204" pitchFamily="34" charset="0"/>
                <a:ea typeface="Helvetica Neue" charset="0"/>
                <a:cs typeface="Helvetica" panose="020B0604020202020204" pitchFamily="34" charset="0"/>
              </a:rPr>
              <a:t>….}</a:t>
            </a:r>
          </a:p>
          <a:p>
            <a:pPr marL="396875"/>
            <a:r>
              <a:rPr lang="en-US" sz="1400" i="1" dirty="0" err="1">
                <a:latin typeface="Helvetica" panose="020B0604020202020204" pitchFamily="34" charset="0"/>
                <a:ea typeface="Helvetica Neue" charset="0"/>
                <a:cs typeface="Helvetica" panose="020B0604020202020204" pitchFamily="34" charset="0"/>
              </a:rPr>
              <a:t>regplot.confbands.fun</a:t>
            </a:r>
            <a:r>
              <a:rPr lang="en-US" sz="1400" i="1" dirty="0">
                <a:latin typeface="Helvetica" panose="020B0604020202020204" pitchFamily="34" charset="0"/>
                <a:ea typeface="Helvetica Neue" charset="0"/>
                <a:cs typeface="Helvetica" panose="020B0604020202020204" pitchFamily="34" charset="0"/>
              </a:rPr>
              <a:t>(</a:t>
            </a:r>
            <a:r>
              <a:rPr lang="en-US" sz="1400" i="1" dirty="0" err="1">
                <a:latin typeface="Helvetica" panose="020B0604020202020204" pitchFamily="34" charset="0"/>
                <a:ea typeface="Helvetica Neue" charset="0"/>
                <a:cs typeface="Helvetica" panose="020B0604020202020204" pitchFamily="34" charset="0"/>
              </a:rPr>
              <a:t>Inflation.difference,Exchange.rate.change</a:t>
            </a:r>
            <a:r>
              <a:rPr lang="en-US" sz="1400" i="1" dirty="0">
                <a:latin typeface="Helvetica" panose="020B0604020202020204" pitchFamily="34" charset="0"/>
                <a:ea typeface="Helvetica Neue" charset="0"/>
                <a:cs typeface="Helvetica" panose="020B0604020202020204" pitchFamily="34" charset="0"/>
              </a:rPr>
              <a:t>)</a:t>
            </a:r>
          </a:p>
        </p:txBody>
      </p:sp>
      <p:sp>
        <p:nvSpPr>
          <p:cNvPr id="8" name="TextBox 7"/>
          <p:cNvSpPr txBox="1"/>
          <p:nvPr/>
        </p:nvSpPr>
        <p:spPr>
          <a:xfrm>
            <a:off x="5451219" y="2511640"/>
            <a:ext cx="3313220" cy="1815882"/>
          </a:xfrm>
          <a:prstGeom prst="rect">
            <a:avLst/>
          </a:prstGeom>
          <a:noFill/>
        </p:spPr>
        <p:txBody>
          <a:bodyPr wrap="square" rtlCol="0">
            <a:spAutoFit/>
          </a:bodyPr>
          <a:lstStyle/>
          <a:p>
            <a:r>
              <a:rPr lang="en-US" sz="1400" dirty="0">
                <a:latin typeface="Helvetica" panose="020B0604020202020204" pitchFamily="34" charset="0"/>
                <a:ea typeface="Helvetica Neue" charset="0"/>
                <a:cs typeface="Helvetica" panose="020B0604020202020204" pitchFamily="34" charset="0"/>
              </a:rPr>
              <a:t>The fitted line plot shows several lines:</a:t>
            </a:r>
          </a:p>
          <a:p>
            <a:pPr marL="362903" lvl="1" indent="-154305">
              <a:buFont typeface="Arial" panose="020B0604020202020204" pitchFamily="34" charset="0"/>
              <a:buChar char="•"/>
            </a:pPr>
            <a:r>
              <a:rPr lang="en-US" sz="1400" dirty="0">
                <a:latin typeface="Helvetica" panose="020B0604020202020204" pitchFamily="34" charset="0"/>
                <a:ea typeface="Helvetica Neue" charset="0"/>
                <a:cs typeface="Helvetica" panose="020B0604020202020204" pitchFamily="34" charset="0"/>
              </a:rPr>
              <a:t>The continuous line is the fitted regression line.</a:t>
            </a:r>
          </a:p>
          <a:p>
            <a:pPr marL="362903" lvl="1" indent="-154305">
              <a:buFont typeface="Arial" panose="020B0604020202020204" pitchFamily="34" charset="0"/>
              <a:buChar char="•"/>
            </a:pPr>
            <a:r>
              <a:rPr lang="en-US" sz="1400" dirty="0">
                <a:latin typeface="Helvetica" panose="020B0604020202020204" pitchFamily="34" charset="0"/>
                <a:ea typeface="Helvetica Neue" charset="0"/>
                <a:cs typeface="Helvetica" panose="020B0604020202020204" pitchFamily="34" charset="0"/>
              </a:rPr>
              <a:t>The wider interrupted line band  is the prediction confidence band.</a:t>
            </a:r>
          </a:p>
          <a:p>
            <a:pPr marL="362903" lvl="1" indent="-154305">
              <a:buFont typeface="Arial" panose="020B0604020202020204" pitchFamily="34" charset="0"/>
              <a:buChar char="•"/>
            </a:pPr>
            <a:r>
              <a:rPr lang="en-US" sz="1400" dirty="0">
                <a:latin typeface="Helvetica" panose="020B0604020202020204" pitchFamily="34" charset="0"/>
                <a:ea typeface="Helvetica Neue" charset="0"/>
                <a:cs typeface="Helvetica" panose="020B0604020202020204" pitchFamily="34" charset="0"/>
              </a:rPr>
              <a:t>The narrower interrupted line band  is the confidence band.</a:t>
            </a:r>
          </a:p>
          <a:p>
            <a:pPr marL="362903" lvl="1" indent="-154305">
              <a:buFont typeface="Arial" panose="020B0604020202020204" pitchFamily="34" charset="0"/>
              <a:buChar char="•"/>
            </a:pPr>
            <a:r>
              <a:rPr lang="en-US" sz="1400" dirty="0">
                <a:latin typeface="Helvetica" panose="020B0604020202020204" pitchFamily="34" charset="0"/>
                <a:ea typeface="Helvetica Neue" charset="0"/>
                <a:cs typeface="Helvetica" panose="020B0604020202020204" pitchFamily="34" charset="0"/>
              </a:rPr>
              <a:t>The circles correspond to outliers.</a:t>
            </a:r>
          </a:p>
        </p:txBody>
      </p:sp>
      <p:sp>
        <p:nvSpPr>
          <p:cNvPr id="9" name="Title 1"/>
          <p:cNvSpPr txBox="1">
            <a:spLocks/>
          </p:cNvSpPr>
          <p:nvPr/>
        </p:nvSpPr>
        <p:spPr>
          <a:xfrm>
            <a:off x="144868" y="218352"/>
            <a:ext cx="7698227" cy="600851"/>
          </a:xfrm>
          <a:prstGeom prst="rect">
            <a:avLst/>
          </a:prstGeom>
        </p:spPr>
        <p:txBody>
          <a:bodyP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en-US" sz="3600" dirty="0">
                <a:latin typeface="Vitesse" charset="0"/>
                <a:ea typeface="Vitesse" charset="0"/>
                <a:cs typeface="Vitesse" charset="0"/>
              </a:rPr>
              <a:t>Confidence Bands in R</a:t>
            </a:r>
          </a:p>
        </p:txBody>
      </p:sp>
      <p:grpSp>
        <p:nvGrpSpPr>
          <p:cNvPr id="2" name="Group 1"/>
          <p:cNvGrpSpPr/>
          <p:nvPr/>
        </p:nvGrpSpPr>
        <p:grpSpPr>
          <a:xfrm>
            <a:off x="661902" y="2511640"/>
            <a:ext cx="4132964" cy="2605775"/>
            <a:chOff x="245045" y="2511640"/>
            <a:chExt cx="4132964" cy="2605775"/>
          </a:xfrm>
        </p:grpSpPr>
        <p:pic>
          <p:nvPicPr>
            <p:cNvPr id="7" name="Picture 6"/>
            <p:cNvPicPr>
              <a:picLocks noChangeAspect="1"/>
            </p:cNvPicPr>
            <p:nvPr/>
          </p:nvPicPr>
          <p:blipFill>
            <a:blip r:embed="rId3"/>
            <a:stretch>
              <a:fillRect/>
            </a:stretch>
          </p:blipFill>
          <p:spPr>
            <a:xfrm>
              <a:off x="245045" y="2511640"/>
              <a:ext cx="4132964" cy="2605775"/>
            </a:xfrm>
            <a:prstGeom prst="rect">
              <a:avLst/>
            </a:prstGeom>
          </p:spPr>
        </p:pic>
        <p:sp>
          <p:nvSpPr>
            <p:cNvPr id="11" name="Oval 10"/>
            <p:cNvSpPr/>
            <p:nvPr/>
          </p:nvSpPr>
          <p:spPr>
            <a:xfrm>
              <a:off x="3775637" y="3235532"/>
              <a:ext cx="181329" cy="118563"/>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2" name="Oval 11">
              <a:extLst>
                <a:ext uri="{FF2B5EF4-FFF2-40B4-BE49-F238E27FC236}">
                  <a16:creationId xmlns:a16="http://schemas.microsoft.com/office/drawing/2014/main" xmlns="" id="{9491CEB8-EF51-4FFE-B40C-87B4B116CA13}"/>
                </a:ext>
              </a:extLst>
            </p:cNvPr>
            <p:cNvSpPr/>
            <p:nvPr/>
          </p:nvSpPr>
          <p:spPr>
            <a:xfrm>
              <a:off x="868591" y="4415870"/>
              <a:ext cx="181329" cy="118563"/>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grpSp>
    </p:spTree>
    <p:extLst>
      <p:ext uri="{BB962C8B-B14F-4D97-AF65-F5344CB8AC3E}">
        <p14:creationId xmlns:p14="http://schemas.microsoft.com/office/powerpoint/2010/main" val="1785941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8757" y="1029190"/>
            <a:ext cx="5285885" cy="3293209"/>
          </a:xfrm>
          <a:prstGeom prst="rect">
            <a:avLst/>
          </a:prstGeom>
          <a:noFill/>
        </p:spPr>
        <p:txBody>
          <a:bodyPr wrap="square" rtlCol="0">
            <a:spAutoFit/>
          </a:bodyPr>
          <a:lstStyle/>
          <a:p>
            <a:r>
              <a:rPr lang="en-US" sz="1600" b="1" dirty="0">
                <a:solidFill>
                  <a:srgbClr val="DFA70B"/>
                </a:solidFill>
                <a:latin typeface="Helvetica" panose="020B0604020202020204" pitchFamily="34" charset="0"/>
                <a:ea typeface="Helvetica Neue" charset="0"/>
                <a:cs typeface="Helvetica" panose="020B0604020202020204" pitchFamily="34" charset="0"/>
              </a:rPr>
              <a:t># Confidence and prediction intervals for new observation</a:t>
            </a:r>
          </a:p>
          <a:p>
            <a:r>
              <a:rPr lang="en-US" sz="1600" b="1" dirty="0">
                <a:solidFill>
                  <a:srgbClr val="DFA70B"/>
                </a:solidFill>
                <a:latin typeface="Helvetica" panose="020B0604020202020204" pitchFamily="34" charset="0"/>
                <a:ea typeface="Helvetica Neue" charset="0"/>
                <a:cs typeface="Helvetica" panose="020B0604020202020204" pitchFamily="34" charset="0"/>
              </a:rPr>
              <a:t># Create new data point</a:t>
            </a:r>
          </a:p>
          <a:p>
            <a:pPr marL="396875"/>
            <a:r>
              <a:rPr lang="en-US" sz="1600" i="1" dirty="0" err="1">
                <a:latin typeface="Helvetica" panose="020B0604020202020204" pitchFamily="34" charset="0"/>
                <a:ea typeface="Helvetica Neue" charset="0"/>
                <a:cs typeface="Helvetica" panose="020B0604020202020204" pitchFamily="34" charset="0"/>
              </a:rPr>
              <a:t>newppp</a:t>
            </a:r>
            <a:r>
              <a:rPr lang="en-US" sz="1600" i="1" dirty="0">
                <a:latin typeface="Helvetica" panose="020B0604020202020204" pitchFamily="34" charset="0"/>
                <a:ea typeface="Helvetica Neue" charset="0"/>
                <a:cs typeface="Helvetica" panose="020B0604020202020204" pitchFamily="34" charset="0"/>
              </a:rPr>
              <a:t> = </a:t>
            </a:r>
            <a:r>
              <a:rPr lang="en-US" sz="1600" i="1" dirty="0" err="1">
                <a:latin typeface="Helvetica" panose="020B0604020202020204" pitchFamily="34" charset="0"/>
                <a:ea typeface="Helvetica Neue" charset="0"/>
                <a:cs typeface="Helvetica" panose="020B0604020202020204" pitchFamily="34" charset="0"/>
              </a:rPr>
              <a:t>data.frame</a:t>
            </a:r>
            <a:r>
              <a:rPr lang="en-US" sz="1600" i="1" dirty="0">
                <a:latin typeface="Helvetica" panose="020B0604020202020204" pitchFamily="34" charset="0"/>
                <a:ea typeface="Helvetica Neue" charset="0"/>
                <a:cs typeface="Helvetica" panose="020B0604020202020204" pitchFamily="34" charset="0"/>
              </a:rPr>
              <a:t>(</a:t>
            </a:r>
            <a:r>
              <a:rPr lang="en-US" sz="1600" i="1" dirty="0" err="1">
                <a:latin typeface="Helvetica" panose="020B0604020202020204" pitchFamily="34" charset="0"/>
                <a:ea typeface="Helvetica Neue" charset="0"/>
                <a:cs typeface="Helvetica" panose="020B0604020202020204" pitchFamily="34" charset="0"/>
              </a:rPr>
              <a:t>Inflation.difference</a:t>
            </a:r>
            <a:r>
              <a:rPr lang="en-US" sz="1600" i="1" dirty="0">
                <a:latin typeface="Helvetica" panose="020B0604020202020204" pitchFamily="34" charset="0"/>
                <a:ea typeface="Helvetica Neue" charset="0"/>
                <a:cs typeface="Helvetica" panose="020B0604020202020204" pitchFamily="34" charset="0"/>
              </a:rPr>
              <a:t> = c(-0.68))</a:t>
            </a:r>
          </a:p>
          <a:p>
            <a:r>
              <a:rPr lang="en-US" sz="1600" b="1" dirty="0">
                <a:solidFill>
                  <a:srgbClr val="DFA70B"/>
                </a:solidFill>
                <a:latin typeface="Helvetica" panose="020B0604020202020204" pitchFamily="34" charset="0"/>
                <a:ea typeface="Helvetica Neue" charset="0"/>
                <a:cs typeface="Helvetica" panose="020B0604020202020204" pitchFamily="34" charset="0"/>
              </a:rPr>
              <a:t># Specify whether a confidence or prediction interval</a:t>
            </a:r>
          </a:p>
          <a:p>
            <a:pPr marL="396875"/>
            <a:r>
              <a:rPr lang="en-US" sz="1600" i="1" dirty="0">
                <a:latin typeface="Helvetica" panose="020B0604020202020204" pitchFamily="34" charset="0"/>
                <a:ea typeface="Helvetica Neue" charset="0"/>
                <a:cs typeface="Helvetica" panose="020B0604020202020204" pitchFamily="34" charset="0"/>
              </a:rPr>
              <a:t>predict(</a:t>
            </a:r>
            <a:r>
              <a:rPr lang="en-US" sz="1600" i="1" dirty="0" err="1">
                <a:latin typeface="Helvetica" panose="020B0604020202020204" pitchFamily="34" charset="0"/>
                <a:ea typeface="Helvetica Neue" charset="0"/>
                <a:cs typeface="Helvetica" panose="020B0604020202020204" pitchFamily="34" charset="0"/>
              </a:rPr>
              <a:t>pppa,newppp,interval</a:t>
            </a:r>
            <a:r>
              <a:rPr lang="en-US" sz="1600" i="1" dirty="0">
                <a:latin typeface="Helvetica" panose="020B0604020202020204" pitchFamily="34" charset="0"/>
                <a:ea typeface="Helvetica Neue" charset="0"/>
                <a:cs typeface="Helvetica" panose="020B0604020202020204" pitchFamily="34" charset="0"/>
              </a:rPr>
              <a:t>=c("confidence"))</a:t>
            </a:r>
          </a:p>
          <a:p>
            <a:pPr marL="396875"/>
            <a:r>
              <a:rPr lang="en-US" sz="1600" dirty="0">
                <a:latin typeface="Helvetica" panose="020B0604020202020204" pitchFamily="34" charset="0"/>
                <a:ea typeface="Helvetica Neue" charset="0"/>
                <a:cs typeface="Helvetica" panose="020B0604020202020204" pitchFamily="34" charset="0"/>
              </a:rPr>
              <a:t>        fit                 </a:t>
            </a:r>
            <a:r>
              <a:rPr lang="en-US" sz="1600" dirty="0" err="1">
                <a:latin typeface="Helvetica" panose="020B0604020202020204" pitchFamily="34" charset="0"/>
                <a:ea typeface="Helvetica Neue" charset="0"/>
                <a:cs typeface="Helvetica" panose="020B0604020202020204" pitchFamily="34" charset="0"/>
              </a:rPr>
              <a:t>lwr</a:t>
            </a:r>
            <a:r>
              <a:rPr lang="en-US" sz="1600" dirty="0">
                <a:latin typeface="Helvetica" panose="020B0604020202020204" pitchFamily="34" charset="0"/>
                <a:ea typeface="Helvetica Neue" charset="0"/>
                <a:cs typeface="Helvetica" panose="020B0604020202020204" pitchFamily="34" charset="0"/>
              </a:rPr>
              <a:t>               </a:t>
            </a:r>
            <a:r>
              <a:rPr lang="en-US" sz="1600" dirty="0" err="1">
                <a:latin typeface="Helvetica" panose="020B0604020202020204" pitchFamily="34" charset="0"/>
                <a:ea typeface="Helvetica Neue" charset="0"/>
                <a:cs typeface="Helvetica" panose="020B0604020202020204" pitchFamily="34" charset="0"/>
              </a:rPr>
              <a:t>upr</a:t>
            </a:r>
            <a:endParaRPr lang="en-US" sz="1600" dirty="0">
              <a:latin typeface="Helvetica" panose="020B0604020202020204" pitchFamily="34" charset="0"/>
              <a:ea typeface="Helvetica Neue" charset="0"/>
              <a:cs typeface="Helvetica" panose="020B0604020202020204" pitchFamily="34" charset="0"/>
            </a:endParaRPr>
          </a:p>
          <a:p>
            <a:pPr marL="396875"/>
            <a:r>
              <a:rPr lang="en-US" sz="1600" dirty="0">
                <a:latin typeface="Helvetica" panose="020B0604020202020204" pitchFamily="34" charset="0"/>
                <a:ea typeface="Helvetica Neue" charset="0"/>
                <a:cs typeface="Helvetica" panose="020B0604020202020204" pitchFamily="34" charset="0"/>
              </a:rPr>
              <a:t>1 -2.173351   -2.756818   -1.589884</a:t>
            </a:r>
          </a:p>
          <a:p>
            <a:pPr marL="396875"/>
            <a:r>
              <a:rPr lang="en-US" sz="1600" i="1" dirty="0">
                <a:latin typeface="Helvetica" panose="020B0604020202020204" pitchFamily="34" charset="0"/>
                <a:ea typeface="Helvetica Neue" charset="0"/>
                <a:cs typeface="Helvetica" panose="020B0604020202020204" pitchFamily="34" charset="0"/>
              </a:rPr>
              <a:t>predict(</a:t>
            </a:r>
            <a:r>
              <a:rPr lang="en-US" sz="1600" i="1" dirty="0" err="1">
                <a:latin typeface="Helvetica" panose="020B0604020202020204" pitchFamily="34" charset="0"/>
                <a:ea typeface="Helvetica Neue" charset="0"/>
                <a:cs typeface="Helvetica" panose="020B0604020202020204" pitchFamily="34" charset="0"/>
              </a:rPr>
              <a:t>pppa,newppp,interval</a:t>
            </a:r>
            <a:r>
              <a:rPr lang="en-US" sz="1600" i="1" dirty="0">
                <a:latin typeface="Helvetica" panose="020B0604020202020204" pitchFamily="34" charset="0"/>
                <a:ea typeface="Helvetica Neue" charset="0"/>
                <a:cs typeface="Helvetica" panose="020B0604020202020204" pitchFamily="34" charset="0"/>
              </a:rPr>
              <a:t>=c("prediction"))</a:t>
            </a:r>
          </a:p>
          <a:p>
            <a:pPr marL="396875"/>
            <a:r>
              <a:rPr lang="en-US" sz="1600" dirty="0">
                <a:latin typeface="Helvetica" panose="020B0604020202020204" pitchFamily="34" charset="0"/>
                <a:ea typeface="Helvetica Neue" charset="0"/>
                <a:cs typeface="Helvetica" panose="020B0604020202020204" pitchFamily="34" charset="0"/>
              </a:rPr>
              <a:t>        fit                 </a:t>
            </a:r>
            <a:r>
              <a:rPr lang="en-US" sz="1600" dirty="0" err="1">
                <a:latin typeface="Helvetica" panose="020B0604020202020204" pitchFamily="34" charset="0"/>
                <a:ea typeface="Helvetica Neue" charset="0"/>
                <a:cs typeface="Helvetica" panose="020B0604020202020204" pitchFamily="34" charset="0"/>
              </a:rPr>
              <a:t>lwr</a:t>
            </a:r>
            <a:r>
              <a:rPr lang="en-US" sz="1600" dirty="0">
                <a:latin typeface="Helvetica" panose="020B0604020202020204" pitchFamily="34" charset="0"/>
                <a:ea typeface="Helvetica Neue" charset="0"/>
                <a:cs typeface="Helvetica" panose="020B0604020202020204" pitchFamily="34" charset="0"/>
              </a:rPr>
              <a:t>               </a:t>
            </a:r>
            <a:r>
              <a:rPr lang="en-US" sz="1600" dirty="0" err="1">
                <a:latin typeface="Helvetica" panose="020B0604020202020204" pitchFamily="34" charset="0"/>
                <a:ea typeface="Helvetica Neue" charset="0"/>
                <a:cs typeface="Helvetica" panose="020B0604020202020204" pitchFamily="34" charset="0"/>
              </a:rPr>
              <a:t>upr</a:t>
            </a:r>
            <a:endParaRPr lang="en-US" sz="1600" dirty="0">
              <a:latin typeface="Helvetica" panose="020B0604020202020204" pitchFamily="34" charset="0"/>
              <a:ea typeface="Helvetica Neue" charset="0"/>
              <a:cs typeface="Helvetica" panose="020B0604020202020204" pitchFamily="34" charset="0"/>
            </a:endParaRPr>
          </a:p>
          <a:p>
            <a:pPr marL="396875"/>
            <a:r>
              <a:rPr lang="en-US" sz="1600" dirty="0">
                <a:latin typeface="Helvetica" panose="020B0604020202020204" pitchFamily="34" charset="0"/>
                <a:ea typeface="Helvetica Neue" charset="0"/>
                <a:cs typeface="Helvetica" panose="020B0604020202020204" pitchFamily="34" charset="0"/>
              </a:rPr>
              <a:t>1 -2.173351   -5.554071    1.207369</a:t>
            </a:r>
          </a:p>
          <a:p>
            <a:r>
              <a:rPr lang="en-US" sz="1600" b="1" dirty="0">
                <a:solidFill>
                  <a:srgbClr val="DFA70B"/>
                </a:solidFill>
                <a:latin typeface="Helvetica" panose="020B0604020202020204" pitchFamily="34" charset="0"/>
                <a:ea typeface="Helvetica Neue" charset="0"/>
                <a:cs typeface="Helvetica" panose="020B0604020202020204" pitchFamily="34" charset="0"/>
              </a:rPr>
              <a:t>## Why are the intervals different?</a:t>
            </a:r>
          </a:p>
        </p:txBody>
      </p:sp>
      <p:sp>
        <p:nvSpPr>
          <p:cNvPr id="6" name="Title 1"/>
          <p:cNvSpPr txBox="1">
            <a:spLocks/>
          </p:cNvSpPr>
          <p:nvPr/>
        </p:nvSpPr>
        <p:spPr>
          <a:xfrm>
            <a:off x="135310" y="205974"/>
            <a:ext cx="8924544" cy="579030"/>
          </a:xfrm>
          <a:prstGeom prst="rect">
            <a:avLst/>
          </a:prstGeom>
        </p:spPr>
        <p:txBody>
          <a:bodyP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en-US" sz="3600" dirty="0">
                <a:latin typeface="Vitesse" charset="0"/>
                <a:ea typeface="Vitesse" charset="0"/>
                <a:cs typeface="Vitesse" charset="0"/>
              </a:rPr>
              <a:t>Confidence and Prediction Intervals</a:t>
            </a:r>
          </a:p>
        </p:txBody>
      </p:sp>
      <p:sp>
        <p:nvSpPr>
          <p:cNvPr id="7" name="TextBox 6"/>
          <p:cNvSpPr txBox="1"/>
          <p:nvPr/>
        </p:nvSpPr>
        <p:spPr>
          <a:xfrm>
            <a:off x="5536249" y="1042637"/>
            <a:ext cx="3123657" cy="3293209"/>
          </a:xfrm>
          <a:prstGeom prst="rect">
            <a:avLst/>
          </a:prstGeom>
          <a:noFill/>
          <a:ln w="19050">
            <a:solidFill>
              <a:schemeClr val="accent1">
                <a:lumMod val="50000"/>
              </a:schemeClr>
            </a:solidFill>
          </a:ln>
        </p:spPr>
        <p:txBody>
          <a:bodyPr wrap="square" rtlCol="0">
            <a:spAutoFit/>
          </a:bodyPr>
          <a:lstStyle/>
          <a:p>
            <a:r>
              <a:rPr lang="en-US" sz="1600" dirty="0">
                <a:latin typeface="Helvetica" panose="020B0604020202020204" pitchFamily="34" charset="0"/>
                <a:ea typeface="Helvetica Neue" charset="0"/>
                <a:cs typeface="Helvetica" panose="020B0604020202020204" pitchFamily="34" charset="0"/>
              </a:rPr>
              <a:t>Interpretation of the two intervals:</a:t>
            </a:r>
          </a:p>
          <a:p>
            <a:pPr marL="411480" indent="-257175">
              <a:buFont typeface="Arial" panose="020B0604020202020204" pitchFamily="34" charset="0"/>
              <a:buChar char="•"/>
            </a:pPr>
            <a:r>
              <a:rPr lang="en-US" sz="1600" dirty="0">
                <a:latin typeface="Helvetica" panose="020B0604020202020204" pitchFamily="34" charset="0"/>
                <a:ea typeface="Helvetica Neue" charset="0"/>
                <a:cs typeface="Helvetica" panose="020B0604020202020204" pitchFamily="34" charset="0"/>
              </a:rPr>
              <a:t>The 95% confidence limits of the </a:t>
            </a:r>
            <a:r>
              <a:rPr lang="en-US" sz="1600" u="sng" dirty="0">
                <a:latin typeface="Helvetica" panose="020B0604020202020204" pitchFamily="34" charset="0"/>
                <a:ea typeface="Helvetica Neue" charset="0"/>
                <a:cs typeface="Helvetica" panose="020B0604020202020204" pitchFamily="34" charset="0"/>
              </a:rPr>
              <a:t>average exchange rate change</a:t>
            </a:r>
            <a:r>
              <a:rPr lang="en-US" sz="1600" dirty="0">
                <a:latin typeface="Helvetica" panose="020B0604020202020204" pitchFamily="34" charset="0"/>
                <a:ea typeface="Helvetica Neue" charset="0"/>
                <a:cs typeface="Helvetica" panose="020B0604020202020204" pitchFamily="34" charset="0"/>
              </a:rPr>
              <a:t> for </a:t>
            </a:r>
            <a:r>
              <a:rPr lang="en-US" sz="1600" u="sng" dirty="0">
                <a:latin typeface="Helvetica" panose="020B0604020202020204" pitchFamily="34" charset="0"/>
                <a:ea typeface="Helvetica Neue" charset="0"/>
                <a:cs typeface="Helvetica" panose="020B0604020202020204" pitchFamily="34" charset="0"/>
              </a:rPr>
              <a:t>all</a:t>
            </a:r>
            <a:r>
              <a:rPr lang="en-US" sz="1600" dirty="0">
                <a:latin typeface="Helvetica" panose="020B0604020202020204" pitchFamily="34" charset="0"/>
                <a:ea typeface="Helvetica Neue" charset="0"/>
                <a:cs typeface="Helvetica" panose="020B0604020202020204" pitchFamily="34" charset="0"/>
              </a:rPr>
              <a:t> countries inflation difference equal to -0.68 are (-2.757,-1.590);</a:t>
            </a:r>
          </a:p>
          <a:p>
            <a:pPr marL="411480" indent="-257175">
              <a:buFont typeface="Arial" panose="020B0604020202020204" pitchFamily="34" charset="0"/>
              <a:buChar char="•"/>
            </a:pPr>
            <a:endParaRPr lang="en-US" sz="1600" dirty="0">
              <a:latin typeface="Helvetica" panose="020B0604020202020204" pitchFamily="34" charset="0"/>
              <a:ea typeface="Helvetica Neue" charset="0"/>
              <a:cs typeface="Helvetica" panose="020B0604020202020204" pitchFamily="34" charset="0"/>
            </a:endParaRPr>
          </a:p>
          <a:p>
            <a:pPr marL="411480" indent="-257175">
              <a:buFont typeface="Arial" panose="020B0604020202020204" pitchFamily="34" charset="0"/>
              <a:buChar char="•"/>
            </a:pPr>
            <a:r>
              <a:rPr lang="en-US" sz="1600" dirty="0">
                <a:latin typeface="Helvetica" panose="020B0604020202020204" pitchFamily="34" charset="0"/>
                <a:ea typeface="Helvetica Neue" charset="0"/>
                <a:cs typeface="Helvetica" panose="020B0604020202020204" pitchFamily="34" charset="0"/>
              </a:rPr>
              <a:t>The 95% confidence limits for the </a:t>
            </a:r>
            <a:r>
              <a:rPr lang="en-US" sz="1600" u="sng" dirty="0">
                <a:latin typeface="Helvetica" panose="020B0604020202020204" pitchFamily="34" charset="0"/>
                <a:ea typeface="Helvetica Neue" charset="0"/>
                <a:cs typeface="Helvetica" panose="020B0604020202020204" pitchFamily="34" charset="0"/>
              </a:rPr>
              <a:t>exchange rate change</a:t>
            </a:r>
            <a:r>
              <a:rPr lang="en-US" sz="1600" dirty="0">
                <a:latin typeface="Helvetica" panose="020B0604020202020204" pitchFamily="34" charset="0"/>
                <a:ea typeface="Helvetica Neue" charset="0"/>
                <a:cs typeface="Helvetica" panose="020B0604020202020204" pitchFamily="34" charset="0"/>
              </a:rPr>
              <a:t> for </a:t>
            </a:r>
            <a:r>
              <a:rPr lang="en-US" sz="1600" u="sng" dirty="0">
                <a:latin typeface="Helvetica" panose="020B0604020202020204" pitchFamily="34" charset="0"/>
                <a:ea typeface="Helvetica Neue" charset="0"/>
                <a:cs typeface="Helvetica" panose="020B0604020202020204" pitchFamily="34" charset="0"/>
              </a:rPr>
              <a:t>one</a:t>
            </a:r>
            <a:r>
              <a:rPr lang="en-US" sz="1600" dirty="0">
                <a:latin typeface="Helvetica" panose="020B0604020202020204" pitchFamily="34" charset="0"/>
                <a:ea typeface="Helvetica Neue" charset="0"/>
                <a:cs typeface="Helvetica" panose="020B0604020202020204" pitchFamily="34" charset="0"/>
              </a:rPr>
              <a:t> country with inflation difference equal to -0.68 are (-5.554,1.207). </a:t>
            </a:r>
          </a:p>
        </p:txBody>
      </p:sp>
    </p:spTree>
    <p:extLst>
      <p:ext uri="{BB962C8B-B14F-4D97-AF65-F5344CB8AC3E}">
        <p14:creationId xmlns:p14="http://schemas.microsoft.com/office/powerpoint/2010/main" val="1203523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9819" y="1029054"/>
            <a:ext cx="8897650" cy="2308324"/>
          </a:xfrm>
          <a:prstGeom prst="rect">
            <a:avLst/>
          </a:prstGeom>
          <a:noFill/>
        </p:spPr>
        <p:txBody>
          <a:bodyPr wrap="square" rtlCol="0">
            <a:spAutoFit/>
          </a:bodyPr>
          <a:lstStyle/>
          <a:p>
            <a:r>
              <a:rPr lang="en-US" sz="1600" i="1" dirty="0">
                <a:latin typeface="Helvetica" panose="020B0604020202020204" pitchFamily="34" charset="0"/>
                <a:ea typeface="Helvetica Neue" charset="0"/>
                <a:cs typeface="Helvetica" panose="020B0604020202020204" pitchFamily="34" charset="0"/>
              </a:rPr>
              <a:t>par(</a:t>
            </a:r>
            <a:r>
              <a:rPr lang="en-US" sz="1600" i="1" dirty="0" err="1">
                <a:latin typeface="Helvetica" panose="020B0604020202020204" pitchFamily="34" charset="0"/>
                <a:ea typeface="Helvetica Neue" charset="0"/>
                <a:cs typeface="Helvetica" panose="020B0604020202020204" pitchFamily="34" charset="0"/>
              </a:rPr>
              <a:t>mfrow</a:t>
            </a:r>
            <a:r>
              <a:rPr lang="en-US" sz="1600" i="1" dirty="0">
                <a:latin typeface="Helvetica" panose="020B0604020202020204" pitchFamily="34" charset="0"/>
                <a:ea typeface="Helvetica Neue" charset="0"/>
                <a:cs typeface="Helvetica" panose="020B0604020202020204" pitchFamily="34" charset="0"/>
              </a:rPr>
              <a:t>=c(2,2))</a:t>
            </a:r>
          </a:p>
          <a:p>
            <a:r>
              <a:rPr lang="en-US" sz="1600" i="1" dirty="0">
                <a:latin typeface="Helvetica" panose="020B0604020202020204" pitchFamily="34" charset="0"/>
                <a:ea typeface="Helvetica Neue" charset="0"/>
                <a:cs typeface="Helvetica" panose="020B0604020202020204" pitchFamily="34" charset="0"/>
              </a:rPr>
              <a:t>plot(</a:t>
            </a:r>
            <a:r>
              <a:rPr lang="en-US" sz="1600" i="1" dirty="0" err="1">
                <a:latin typeface="Helvetica" panose="020B0604020202020204" pitchFamily="34" charset="0"/>
                <a:ea typeface="Helvetica Neue" charset="0"/>
                <a:cs typeface="Helvetica" panose="020B0604020202020204" pitchFamily="34" charset="0"/>
              </a:rPr>
              <a:t>Inflation.difference</a:t>
            </a:r>
            <a:r>
              <a:rPr lang="en-US" sz="1600" i="1" dirty="0">
                <a:latin typeface="Helvetica" panose="020B0604020202020204" pitchFamily="34" charset="0"/>
                <a:ea typeface="Helvetica Neue" charset="0"/>
                <a:cs typeface="Helvetica" panose="020B0604020202020204" pitchFamily="34" charset="0"/>
              </a:rPr>
              <a:t>, residuals(</a:t>
            </a:r>
            <a:r>
              <a:rPr lang="en-US" sz="1600" i="1" dirty="0" err="1">
                <a:latin typeface="Helvetica" panose="020B0604020202020204" pitchFamily="34" charset="0"/>
                <a:ea typeface="Helvetica Neue" charset="0"/>
                <a:cs typeface="Helvetica" panose="020B0604020202020204" pitchFamily="34" charset="0"/>
              </a:rPr>
              <a:t>pppa</a:t>
            </a:r>
            <a:r>
              <a:rPr lang="en-US" sz="1600" i="1" dirty="0">
                <a:latin typeface="Helvetica" panose="020B0604020202020204" pitchFamily="34" charset="0"/>
                <a:ea typeface="Helvetica Neue" charset="0"/>
                <a:cs typeface="Helvetica" panose="020B0604020202020204" pitchFamily="34" charset="0"/>
              </a:rPr>
              <a:t>),</a:t>
            </a:r>
            <a:r>
              <a:rPr lang="en-US" sz="1600" i="1" dirty="0" err="1">
                <a:latin typeface="Helvetica" panose="020B0604020202020204" pitchFamily="34" charset="0"/>
                <a:ea typeface="Helvetica Neue" charset="0"/>
                <a:cs typeface="Helvetica" panose="020B0604020202020204" pitchFamily="34" charset="0"/>
              </a:rPr>
              <a:t>xlab</a:t>
            </a:r>
            <a:r>
              <a:rPr lang="en-US" sz="1600" i="1" dirty="0">
                <a:latin typeface="Helvetica" panose="020B0604020202020204" pitchFamily="34" charset="0"/>
                <a:ea typeface="Helvetica Neue" charset="0"/>
                <a:cs typeface="Helvetica" panose="020B0604020202020204" pitchFamily="34" charset="0"/>
              </a:rPr>
              <a:t>="Inflation Difference",</a:t>
            </a:r>
            <a:r>
              <a:rPr lang="en-US" sz="1600" i="1" dirty="0" err="1">
                <a:latin typeface="Helvetica" panose="020B0604020202020204" pitchFamily="34" charset="0"/>
                <a:ea typeface="Helvetica Neue" charset="0"/>
                <a:cs typeface="Helvetica" panose="020B0604020202020204" pitchFamily="34" charset="0"/>
              </a:rPr>
              <a:t>ylab</a:t>
            </a:r>
            <a:r>
              <a:rPr lang="en-US" sz="1600" i="1" dirty="0">
                <a:latin typeface="Helvetica" panose="020B0604020202020204" pitchFamily="34" charset="0"/>
                <a:ea typeface="Helvetica Neue" charset="0"/>
                <a:cs typeface="Helvetica" panose="020B0604020202020204" pitchFamily="34" charset="0"/>
              </a:rPr>
              <a:t>="</a:t>
            </a:r>
            <a:r>
              <a:rPr lang="en-US" sz="1600" i="1" dirty="0" err="1">
                <a:latin typeface="Helvetica" panose="020B0604020202020204" pitchFamily="34" charset="0"/>
                <a:ea typeface="Helvetica Neue" charset="0"/>
                <a:cs typeface="Helvetica" panose="020B0604020202020204" pitchFamily="34" charset="0"/>
              </a:rPr>
              <a:t>Residuals",main</a:t>
            </a:r>
            <a:r>
              <a:rPr lang="en-US" sz="1600" i="1" dirty="0">
                <a:latin typeface="Helvetica" panose="020B0604020202020204" pitchFamily="34" charset="0"/>
                <a:ea typeface="Helvetica Neue" charset="0"/>
                <a:cs typeface="Helvetica" panose="020B0604020202020204" pitchFamily="34" charset="0"/>
              </a:rPr>
              <a:t>="Versus Predictor")</a:t>
            </a:r>
          </a:p>
          <a:p>
            <a:r>
              <a:rPr lang="en-US" sz="1600" i="1" dirty="0" err="1">
                <a:latin typeface="Helvetica" panose="020B0604020202020204" pitchFamily="34" charset="0"/>
                <a:ea typeface="Helvetica Neue" charset="0"/>
                <a:cs typeface="Helvetica" panose="020B0604020202020204" pitchFamily="34" charset="0"/>
              </a:rPr>
              <a:t>abline</a:t>
            </a:r>
            <a:r>
              <a:rPr lang="en-US" sz="1600" i="1" dirty="0">
                <a:latin typeface="Helvetica" panose="020B0604020202020204" pitchFamily="34" charset="0"/>
                <a:ea typeface="Helvetica Neue" charset="0"/>
                <a:cs typeface="Helvetica" panose="020B0604020202020204" pitchFamily="34" charset="0"/>
              </a:rPr>
              <a:t>(h=0,lty=2)</a:t>
            </a:r>
          </a:p>
          <a:p>
            <a:r>
              <a:rPr lang="en-US" sz="1600" i="1" dirty="0">
                <a:latin typeface="Helvetica" panose="020B0604020202020204" pitchFamily="34" charset="0"/>
                <a:ea typeface="Helvetica Neue" charset="0"/>
                <a:cs typeface="Helvetica" panose="020B0604020202020204" pitchFamily="34" charset="0"/>
              </a:rPr>
              <a:t>plot(fitted(</a:t>
            </a:r>
            <a:r>
              <a:rPr lang="en-US" sz="1600" i="1" dirty="0" err="1">
                <a:latin typeface="Helvetica" panose="020B0604020202020204" pitchFamily="34" charset="0"/>
                <a:ea typeface="Helvetica Neue" charset="0"/>
                <a:cs typeface="Helvetica" panose="020B0604020202020204" pitchFamily="34" charset="0"/>
              </a:rPr>
              <a:t>pppa</a:t>
            </a:r>
            <a:r>
              <a:rPr lang="en-US" sz="1600" i="1" dirty="0">
                <a:latin typeface="Helvetica" panose="020B0604020202020204" pitchFamily="34" charset="0"/>
                <a:ea typeface="Helvetica Neue" charset="0"/>
                <a:cs typeface="Helvetica" panose="020B0604020202020204" pitchFamily="34" charset="0"/>
              </a:rPr>
              <a:t>),residuals(</a:t>
            </a:r>
            <a:r>
              <a:rPr lang="en-US" sz="1600" i="1" dirty="0" err="1">
                <a:latin typeface="Helvetica" panose="020B0604020202020204" pitchFamily="34" charset="0"/>
                <a:ea typeface="Helvetica Neue" charset="0"/>
                <a:cs typeface="Helvetica" panose="020B0604020202020204" pitchFamily="34" charset="0"/>
              </a:rPr>
              <a:t>pppa</a:t>
            </a:r>
            <a:r>
              <a:rPr lang="en-US" sz="1600" i="1" dirty="0">
                <a:latin typeface="Helvetica" panose="020B0604020202020204" pitchFamily="34" charset="0"/>
                <a:ea typeface="Helvetica Neue" charset="0"/>
                <a:cs typeface="Helvetica" panose="020B0604020202020204" pitchFamily="34" charset="0"/>
              </a:rPr>
              <a:t>),</a:t>
            </a:r>
            <a:r>
              <a:rPr lang="en-US" sz="1600" i="1" dirty="0" err="1">
                <a:latin typeface="Helvetica" panose="020B0604020202020204" pitchFamily="34" charset="0"/>
                <a:ea typeface="Helvetica Neue" charset="0"/>
                <a:cs typeface="Helvetica" panose="020B0604020202020204" pitchFamily="34" charset="0"/>
              </a:rPr>
              <a:t>xlab</a:t>
            </a:r>
            <a:r>
              <a:rPr lang="en-US" sz="1600" i="1" dirty="0">
                <a:latin typeface="Helvetica" panose="020B0604020202020204" pitchFamily="34" charset="0"/>
                <a:ea typeface="Helvetica Neue" charset="0"/>
                <a:cs typeface="Helvetica" panose="020B0604020202020204" pitchFamily="34" charset="0"/>
              </a:rPr>
              <a:t>="Fitted values",</a:t>
            </a:r>
            <a:r>
              <a:rPr lang="en-US" sz="1600" i="1" dirty="0" err="1">
                <a:latin typeface="Helvetica" panose="020B0604020202020204" pitchFamily="34" charset="0"/>
                <a:ea typeface="Helvetica Neue" charset="0"/>
                <a:cs typeface="Helvetica" panose="020B0604020202020204" pitchFamily="34" charset="0"/>
              </a:rPr>
              <a:t>ylab</a:t>
            </a:r>
            <a:r>
              <a:rPr lang="en-US" sz="1600" i="1" dirty="0">
                <a:latin typeface="Helvetica" panose="020B0604020202020204" pitchFamily="34" charset="0"/>
                <a:ea typeface="Helvetica Neue" charset="0"/>
                <a:cs typeface="Helvetica" panose="020B0604020202020204" pitchFamily="34" charset="0"/>
              </a:rPr>
              <a:t>="Residuals“, main="Versus Fits")</a:t>
            </a:r>
          </a:p>
          <a:p>
            <a:r>
              <a:rPr lang="en-US" sz="1600" i="1" dirty="0" err="1">
                <a:latin typeface="Helvetica" panose="020B0604020202020204" pitchFamily="34" charset="0"/>
                <a:ea typeface="Helvetica Neue" charset="0"/>
                <a:cs typeface="Helvetica" panose="020B0604020202020204" pitchFamily="34" charset="0"/>
              </a:rPr>
              <a:t>abline</a:t>
            </a:r>
            <a:r>
              <a:rPr lang="en-US" sz="1600" i="1" dirty="0">
                <a:latin typeface="Helvetica" panose="020B0604020202020204" pitchFamily="34" charset="0"/>
                <a:ea typeface="Helvetica Neue" charset="0"/>
                <a:cs typeface="Helvetica" panose="020B0604020202020204" pitchFamily="34" charset="0"/>
              </a:rPr>
              <a:t>(h=0,lty=2)</a:t>
            </a:r>
          </a:p>
          <a:p>
            <a:r>
              <a:rPr lang="en-US" sz="1600" i="1" dirty="0" err="1">
                <a:latin typeface="Helvetica" panose="020B0604020202020204" pitchFamily="34" charset="0"/>
                <a:ea typeface="Helvetica Neue" charset="0"/>
                <a:cs typeface="Helvetica" panose="020B0604020202020204" pitchFamily="34" charset="0"/>
              </a:rPr>
              <a:t>qqnorm</a:t>
            </a:r>
            <a:r>
              <a:rPr lang="en-US" sz="1600" i="1" dirty="0">
                <a:latin typeface="Helvetica" panose="020B0604020202020204" pitchFamily="34" charset="0"/>
                <a:ea typeface="Helvetica Neue" charset="0"/>
                <a:cs typeface="Helvetica" panose="020B0604020202020204" pitchFamily="34" charset="0"/>
              </a:rPr>
              <a:t>(residuals(</a:t>
            </a:r>
            <a:r>
              <a:rPr lang="en-US" sz="1600" i="1" dirty="0" err="1">
                <a:latin typeface="Helvetica" panose="020B0604020202020204" pitchFamily="34" charset="0"/>
                <a:ea typeface="Helvetica Neue" charset="0"/>
                <a:cs typeface="Helvetica" panose="020B0604020202020204" pitchFamily="34" charset="0"/>
              </a:rPr>
              <a:t>pppa</a:t>
            </a:r>
            <a:r>
              <a:rPr lang="en-US" sz="1600" i="1" dirty="0">
                <a:latin typeface="Helvetica" panose="020B0604020202020204" pitchFamily="34" charset="0"/>
                <a:ea typeface="Helvetica Neue" charset="0"/>
                <a:cs typeface="Helvetica" panose="020B0604020202020204" pitchFamily="34" charset="0"/>
              </a:rPr>
              <a:t>))</a:t>
            </a:r>
          </a:p>
          <a:p>
            <a:r>
              <a:rPr lang="en-US" sz="1600" i="1" dirty="0" err="1">
                <a:latin typeface="Helvetica" panose="020B0604020202020204" pitchFamily="34" charset="0"/>
                <a:ea typeface="Helvetica Neue" charset="0"/>
                <a:cs typeface="Helvetica" panose="020B0604020202020204" pitchFamily="34" charset="0"/>
              </a:rPr>
              <a:t>abline</a:t>
            </a:r>
            <a:r>
              <a:rPr lang="en-US" sz="1600" i="1" dirty="0">
                <a:latin typeface="Helvetica" panose="020B0604020202020204" pitchFamily="34" charset="0"/>
                <a:ea typeface="Helvetica Neue" charset="0"/>
                <a:cs typeface="Helvetica" panose="020B0604020202020204" pitchFamily="34" charset="0"/>
              </a:rPr>
              <a:t>(0,1,lty=1,col="red")</a:t>
            </a:r>
          </a:p>
          <a:p>
            <a:r>
              <a:rPr lang="en-US" sz="1600" i="1" dirty="0" err="1">
                <a:latin typeface="Helvetica" panose="020B0604020202020204" pitchFamily="34" charset="0"/>
                <a:ea typeface="Helvetica Neue" charset="0"/>
                <a:cs typeface="Helvetica" panose="020B0604020202020204" pitchFamily="34" charset="0"/>
              </a:rPr>
              <a:t>hist</a:t>
            </a:r>
            <a:r>
              <a:rPr lang="en-US" sz="1600" i="1" dirty="0">
                <a:latin typeface="Helvetica" panose="020B0604020202020204" pitchFamily="34" charset="0"/>
                <a:ea typeface="Helvetica Neue" charset="0"/>
                <a:cs typeface="Helvetica" panose="020B0604020202020204" pitchFamily="34" charset="0"/>
              </a:rPr>
              <a:t>(residuals(</a:t>
            </a:r>
            <a:r>
              <a:rPr lang="en-US" sz="1600" i="1" dirty="0" err="1">
                <a:latin typeface="Helvetica" panose="020B0604020202020204" pitchFamily="34" charset="0"/>
                <a:ea typeface="Helvetica Neue" charset="0"/>
                <a:cs typeface="Helvetica" panose="020B0604020202020204" pitchFamily="34" charset="0"/>
              </a:rPr>
              <a:t>pppa</a:t>
            </a:r>
            <a:r>
              <a:rPr lang="en-US" sz="1600" i="1" dirty="0">
                <a:latin typeface="Helvetica" panose="020B0604020202020204" pitchFamily="34" charset="0"/>
                <a:ea typeface="Helvetica Neue" charset="0"/>
                <a:cs typeface="Helvetica" panose="020B0604020202020204" pitchFamily="34" charset="0"/>
              </a:rPr>
              <a:t>),main="Histogram of residuals",</a:t>
            </a:r>
            <a:r>
              <a:rPr lang="en-US" sz="1600" i="1" dirty="0" err="1">
                <a:latin typeface="Helvetica" panose="020B0604020202020204" pitchFamily="34" charset="0"/>
                <a:ea typeface="Helvetica Neue" charset="0"/>
                <a:cs typeface="Helvetica" panose="020B0604020202020204" pitchFamily="34" charset="0"/>
              </a:rPr>
              <a:t>xlab</a:t>
            </a:r>
            <a:r>
              <a:rPr lang="en-US" sz="1600" i="1" dirty="0">
                <a:latin typeface="Helvetica" panose="020B0604020202020204" pitchFamily="34" charset="0"/>
                <a:ea typeface="Helvetica Neue" charset="0"/>
                <a:cs typeface="Helvetica" panose="020B0604020202020204" pitchFamily="34" charset="0"/>
              </a:rPr>
              <a:t>="Residuals")</a:t>
            </a:r>
          </a:p>
        </p:txBody>
      </p:sp>
      <p:sp>
        <p:nvSpPr>
          <p:cNvPr id="4" name="Title 1"/>
          <p:cNvSpPr txBox="1">
            <a:spLocks/>
          </p:cNvSpPr>
          <p:nvPr/>
        </p:nvSpPr>
        <p:spPr>
          <a:xfrm>
            <a:off x="122925" y="224810"/>
            <a:ext cx="8924544" cy="1024646"/>
          </a:xfrm>
          <a:prstGeom prst="rect">
            <a:avLst/>
          </a:prstGeom>
        </p:spPr>
        <p:txBody>
          <a:bodyP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en-US" sz="3600" dirty="0">
                <a:latin typeface="Vitesse" charset="0"/>
                <a:ea typeface="Vitesse" charset="0"/>
                <a:cs typeface="Vitesse" charset="0"/>
              </a:rPr>
              <a:t>Residual Analysis in R</a:t>
            </a:r>
          </a:p>
        </p:txBody>
      </p:sp>
    </p:spTree>
    <p:extLst>
      <p:ext uri="{BB962C8B-B14F-4D97-AF65-F5344CB8AC3E}">
        <p14:creationId xmlns:p14="http://schemas.microsoft.com/office/powerpoint/2010/main" val="819462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712692" y="1131553"/>
            <a:ext cx="7040020" cy="3290540"/>
          </a:xfrm>
          <a:prstGeom prst="rect">
            <a:avLst/>
          </a:prstGeom>
        </p:spPr>
      </p:pic>
      <p:sp>
        <p:nvSpPr>
          <p:cNvPr id="6" name="Oval 5">
            <a:extLst>
              <a:ext uri="{FF2B5EF4-FFF2-40B4-BE49-F238E27FC236}">
                <a16:creationId xmlns:a16="http://schemas.microsoft.com/office/drawing/2014/main" xmlns="" id="{1029B964-7A83-4F67-871B-5815997A27C4}"/>
              </a:ext>
            </a:extLst>
          </p:cNvPr>
          <p:cNvSpPr/>
          <p:nvPr/>
        </p:nvSpPr>
        <p:spPr>
          <a:xfrm>
            <a:off x="1247466" y="1473752"/>
            <a:ext cx="168295" cy="158176"/>
          </a:xfrm>
          <a:prstGeom prst="ellipse">
            <a:avLst/>
          </a:prstGeom>
          <a:no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7" name="Oval 6">
            <a:extLst>
              <a:ext uri="{FF2B5EF4-FFF2-40B4-BE49-F238E27FC236}">
                <a16:creationId xmlns:a16="http://schemas.microsoft.com/office/drawing/2014/main" xmlns="" id="{641EE2C0-F93B-4D4A-A726-9690A5DF817B}"/>
              </a:ext>
            </a:extLst>
          </p:cNvPr>
          <p:cNvSpPr/>
          <p:nvPr/>
        </p:nvSpPr>
        <p:spPr>
          <a:xfrm>
            <a:off x="4886101" y="1473752"/>
            <a:ext cx="168295" cy="158176"/>
          </a:xfrm>
          <a:prstGeom prst="ellipse">
            <a:avLst/>
          </a:prstGeom>
          <a:no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Title 1"/>
          <p:cNvSpPr txBox="1">
            <a:spLocks/>
          </p:cNvSpPr>
          <p:nvPr/>
        </p:nvSpPr>
        <p:spPr>
          <a:xfrm>
            <a:off x="122925" y="224810"/>
            <a:ext cx="8924544" cy="1024646"/>
          </a:xfrm>
          <a:prstGeom prst="rect">
            <a:avLst/>
          </a:prstGeom>
        </p:spPr>
        <p:txBody>
          <a:bodyP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en-US" sz="3600" dirty="0">
                <a:latin typeface="Vitesse" charset="0"/>
                <a:ea typeface="Vitesse" charset="0"/>
                <a:cs typeface="Vitesse" charset="0"/>
              </a:rPr>
              <a:t>Residual Analysis in R</a:t>
            </a:r>
          </a:p>
        </p:txBody>
      </p:sp>
    </p:spTree>
    <p:extLst>
      <p:ext uri="{BB962C8B-B14F-4D97-AF65-F5344CB8AC3E}">
        <p14:creationId xmlns:p14="http://schemas.microsoft.com/office/powerpoint/2010/main" val="2442446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90568290-E744-4783-B606-CC3C447825B9}"/>
              </a:ext>
            </a:extLst>
          </p:cNvPr>
          <p:cNvSpPr txBox="1"/>
          <p:nvPr/>
        </p:nvSpPr>
        <p:spPr>
          <a:xfrm>
            <a:off x="228600" y="1276350"/>
            <a:ext cx="8189259" cy="1200329"/>
          </a:xfrm>
          <a:prstGeom prst="rect">
            <a:avLst/>
          </a:prstGeom>
          <a:noFill/>
          <a:ln w="19050">
            <a:solidFill>
              <a:schemeClr val="accent1">
                <a:lumMod val="50000"/>
              </a:schemeClr>
            </a:solidFill>
          </a:ln>
        </p:spPr>
        <p:txBody>
          <a:bodyPr wrap="square" rtlCol="0">
            <a:spAutoFit/>
          </a:bodyPr>
          <a:lstStyle/>
          <a:p>
            <a:r>
              <a:rPr lang="en-US" b="1" i="1" dirty="0">
                <a:latin typeface="Helvetica" panose="020B0604020202020204" pitchFamily="34" charset="0"/>
                <a:ea typeface="Helvetica Neue" charset="0"/>
                <a:cs typeface="Helvetica" panose="020B0604020202020204" pitchFamily="34" charset="0"/>
              </a:rPr>
              <a:t>Leverage Points</a:t>
            </a:r>
            <a:r>
              <a:rPr lang="en-US" b="1" dirty="0">
                <a:latin typeface="Helvetica" panose="020B0604020202020204" pitchFamily="34" charset="0"/>
                <a:ea typeface="Helvetica Neue" charset="0"/>
                <a:cs typeface="Helvetica" panose="020B0604020202020204" pitchFamily="34" charset="0"/>
              </a:rPr>
              <a:t>: </a:t>
            </a:r>
            <a:r>
              <a:rPr lang="en-US" dirty="0">
                <a:latin typeface="Helvetica" panose="020B0604020202020204" pitchFamily="34" charset="0"/>
                <a:ea typeface="Helvetica Neue" charset="0"/>
                <a:cs typeface="Helvetica" panose="020B0604020202020204" pitchFamily="34" charset="0"/>
              </a:rPr>
              <a:t>The isolated point in residual plots is Brazil. Why is Brazil a leverage point?</a:t>
            </a:r>
          </a:p>
          <a:p>
            <a:pPr marL="257175" indent="-257175">
              <a:buFont typeface="Arial" panose="020B0604020202020204" pitchFamily="34" charset="0"/>
              <a:buChar char="•"/>
            </a:pPr>
            <a:r>
              <a:rPr lang="en-US" dirty="0">
                <a:latin typeface="Helvetica" panose="020B0604020202020204" pitchFamily="34" charset="0"/>
                <a:ea typeface="Helvetica Neue" charset="0"/>
                <a:cs typeface="Helvetica" panose="020B0604020202020204" pitchFamily="34" charset="0"/>
              </a:rPr>
              <a:t>Brazil had a period of hyperinflation from 1980 to 1994, a time period during which prices went up by a factor of roughly 1 trillion.</a:t>
            </a:r>
          </a:p>
        </p:txBody>
      </p:sp>
      <p:sp>
        <p:nvSpPr>
          <p:cNvPr id="10" name="TextBox 9">
            <a:extLst>
              <a:ext uri="{FF2B5EF4-FFF2-40B4-BE49-F238E27FC236}">
                <a16:creationId xmlns:a16="http://schemas.microsoft.com/office/drawing/2014/main" xmlns="" id="{D91A567C-C6A6-4032-9425-10333933579C}"/>
              </a:ext>
            </a:extLst>
          </p:cNvPr>
          <p:cNvSpPr txBox="1"/>
          <p:nvPr/>
        </p:nvSpPr>
        <p:spPr>
          <a:xfrm>
            <a:off x="228599" y="2708332"/>
            <a:ext cx="8189260" cy="1200329"/>
          </a:xfrm>
          <a:prstGeom prst="rect">
            <a:avLst/>
          </a:prstGeom>
          <a:noFill/>
          <a:ln w="19050">
            <a:solidFill>
              <a:schemeClr val="accent1">
                <a:lumMod val="50000"/>
              </a:schemeClr>
            </a:solidFill>
          </a:ln>
        </p:spPr>
        <p:txBody>
          <a:bodyPr wrap="square" rtlCol="0">
            <a:spAutoFit/>
          </a:bodyPr>
          <a:lstStyle/>
          <a:p>
            <a:r>
              <a:rPr lang="en-US" dirty="0">
                <a:latin typeface="Helvetica" panose="020B0604020202020204" pitchFamily="34" charset="0"/>
                <a:ea typeface="Helvetica Neue" charset="0"/>
                <a:cs typeface="Helvetica" panose="020B0604020202020204" pitchFamily="34" charset="0"/>
              </a:rPr>
              <a:t>Why do we care about leverage points?</a:t>
            </a:r>
          </a:p>
          <a:p>
            <a:pPr marL="257175" indent="-257175">
              <a:buFont typeface="Arial" panose="020B0604020202020204" pitchFamily="34" charset="0"/>
              <a:buChar char="•"/>
            </a:pPr>
            <a:r>
              <a:rPr lang="en-US" dirty="0">
                <a:latin typeface="Helvetica" panose="020B0604020202020204" pitchFamily="34" charset="0"/>
                <a:ea typeface="Helvetica Neue" charset="0"/>
                <a:cs typeface="Helvetica" panose="020B0604020202020204" pitchFamily="34" charset="0"/>
              </a:rPr>
              <a:t>It can have a strong effect on the fitted regression, drawing the line away from the bulk of the points. It also can affect measures of fit like R-squared and t–statistics.</a:t>
            </a:r>
          </a:p>
        </p:txBody>
      </p:sp>
      <p:sp>
        <p:nvSpPr>
          <p:cNvPr id="5" name="Title 1"/>
          <p:cNvSpPr txBox="1">
            <a:spLocks/>
          </p:cNvSpPr>
          <p:nvPr/>
        </p:nvSpPr>
        <p:spPr>
          <a:xfrm>
            <a:off x="122925" y="224810"/>
            <a:ext cx="8924544" cy="1024646"/>
          </a:xfrm>
          <a:prstGeom prst="rect">
            <a:avLst/>
          </a:prstGeom>
        </p:spPr>
        <p:txBody>
          <a:bodyP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en-US" sz="3600" dirty="0">
                <a:latin typeface="Vitesse" charset="0"/>
                <a:ea typeface="Vitesse" charset="0"/>
                <a:cs typeface="Vitesse" charset="0"/>
              </a:rPr>
              <a:t>Residual Analysis in R</a:t>
            </a:r>
          </a:p>
        </p:txBody>
      </p:sp>
    </p:spTree>
    <p:extLst>
      <p:ext uri="{BB962C8B-B14F-4D97-AF65-F5344CB8AC3E}">
        <p14:creationId xmlns:p14="http://schemas.microsoft.com/office/powerpoint/2010/main" val="425063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5249" y="1064781"/>
            <a:ext cx="5072210" cy="2893100"/>
          </a:xfrm>
          <a:prstGeom prst="rect">
            <a:avLst/>
          </a:prstGeom>
          <a:noFill/>
        </p:spPr>
        <p:txBody>
          <a:bodyPr wrap="square" rtlCol="0">
            <a:spAutoFit/>
          </a:bodyPr>
          <a:lstStyle/>
          <a:p>
            <a:r>
              <a:rPr lang="en-US" sz="1400" b="1" dirty="0">
                <a:solidFill>
                  <a:srgbClr val="DFA70B"/>
                </a:solidFill>
                <a:latin typeface="Helvetica" panose="020B0604020202020204" pitchFamily="34" charset="0"/>
                <a:ea typeface="Helvetica Neue" charset="0"/>
                <a:cs typeface="Helvetica" panose="020B0604020202020204" pitchFamily="34" charset="0"/>
              </a:rPr>
              <a:t>##### Repeat Analysis: Omit Brazil #########</a:t>
            </a:r>
          </a:p>
          <a:p>
            <a:r>
              <a:rPr lang="en-US" sz="1400" b="1" dirty="0">
                <a:solidFill>
                  <a:srgbClr val="DFA70B"/>
                </a:solidFill>
                <a:latin typeface="Helvetica" panose="020B0604020202020204" pitchFamily="34" charset="0"/>
                <a:ea typeface="Helvetica Neue" charset="0"/>
                <a:cs typeface="Helvetica" panose="020B0604020202020204" pitchFamily="34" charset="0"/>
              </a:rPr>
              <a:t>## remove the data row corresponding to Brazil</a:t>
            </a:r>
          </a:p>
          <a:p>
            <a:pPr marL="396875"/>
            <a:r>
              <a:rPr lang="en-US" sz="1400" i="1" dirty="0" err="1">
                <a:latin typeface="Helvetica" panose="020B0604020202020204" pitchFamily="34" charset="0"/>
                <a:ea typeface="Helvetica Neue" charset="0"/>
                <a:cs typeface="Helvetica" panose="020B0604020202020204" pitchFamily="34" charset="0"/>
              </a:rPr>
              <a:t>newppp</a:t>
            </a:r>
            <a:r>
              <a:rPr lang="en-US" sz="1400" i="1" dirty="0">
                <a:latin typeface="Helvetica" panose="020B0604020202020204" pitchFamily="34" charset="0"/>
                <a:ea typeface="Helvetica Neue" charset="0"/>
                <a:cs typeface="Helvetica" panose="020B0604020202020204" pitchFamily="34" charset="0"/>
              </a:rPr>
              <a:t> = </a:t>
            </a:r>
            <a:r>
              <a:rPr lang="en-US" sz="1400" i="1" dirty="0" err="1">
                <a:latin typeface="Helvetica" panose="020B0604020202020204" pitchFamily="34" charset="0"/>
                <a:ea typeface="Helvetica Neue" charset="0"/>
                <a:cs typeface="Helvetica" panose="020B0604020202020204" pitchFamily="34" charset="0"/>
              </a:rPr>
              <a:t>ppp</a:t>
            </a:r>
            <a:r>
              <a:rPr lang="en-US" sz="1400" i="1" dirty="0">
                <a:latin typeface="Helvetica" panose="020B0604020202020204" pitchFamily="34" charset="0"/>
                <a:ea typeface="Helvetica Neue" charset="0"/>
                <a:cs typeface="Helvetica" panose="020B0604020202020204" pitchFamily="34" charset="0"/>
              </a:rPr>
              <a:t>[</a:t>
            </a:r>
            <a:r>
              <a:rPr lang="en-US" sz="1400" i="1" dirty="0" err="1">
                <a:latin typeface="Helvetica" panose="020B0604020202020204" pitchFamily="34" charset="0"/>
                <a:ea typeface="Helvetica Neue" charset="0"/>
                <a:cs typeface="Helvetica" panose="020B0604020202020204" pitchFamily="34" charset="0"/>
              </a:rPr>
              <a:t>ppp$Country</a:t>
            </a:r>
            <a:r>
              <a:rPr lang="en-US" sz="1400" i="1" dirty="0">
                <a:latin typeface="Helvetica" panose="020B0604020202020204" pitchFamily="34" charset="0"/>
                <a:ea typeface="Helvetica Neue" charset="0"/>
                <a:cs typeface="Helvetica" panose="020B0604020202020204" pitchFamily="34" charset="0"/>
              </a:rPr>
              <a:t>!="Brazil",]</a:t>
            </a:r>
          </a:p>
          <a:p>
            <a:pPr marL="396875"/>
            <a:r>
              <a:rPr lang="en-US" sz="1400" i="1" dirty="0">
                <a:latin typeface="Helvetica" panose="020B0604020202020204" pitchFamily="34" charset="0"/>
                <a:ea typeface="Helvetica Neue" charset="0"/>
                <a:cs typeface="Helvetica" panose="020B0604020202020204" pitchFamily="34" charset="0"/>
              </a:rPr>
              <a:t>attach(</a:t>
            </a:r>
            <a:r>
              <a:rPr lang="en-US" sz="1400" i="1" dirty="0" err="1">
                <a:latin typeface="Helvetica" panose="020B0604020202020204" pitchFamily="34" charset="0"/>
                <a:ea typeface="Helvetica Neue" charset="0"/>
                <a:cs typeface="Helvetica" panose="020B0604020202020204" pitchFamily="34" charset="0"/>
              </a:rPr>
              <a:t>newppp</a:t>
            </a:r>
            <a:r>
              <a:rPr lang="en-US" sz="1400" i="1" dirty="0">
                <a:latin typeface="Helvetica" panose="020B0604020202020204" pitchFamily="34" charset="0"/>
                <a:ea typeface="Helvetica Neue" charset="0"/>
                <a:cs typeface="Helvetica" panose="020B0604020202020204" pitchFamily="34" charset="0"/>
              </a:rPr>
              <a:t>)</a:t>
            </a:r>
          </a:p>
          <a:p>
            <a:r>
              <a:rPr lang="en-US" sz="1400" b="1" dirty="0">
                <a:solidFill>
                  <a:srgbClr val="DFA70B"/>
                </a:solidFill>
                <a:latin typeface="Helvetica" panose="020B0604020202020204" pitchFamily="34" charset="0"/>
                <a:ea typeface="Helvetica Neue" charset="0"/>
                <a:cs typeface="Helvetica" panose="020B0604020202020204" pitchFamily="34" charset="0"/>
              </a:rPr>
              <a:t>## Fit Linear Regression</a:t>
            </a:r>
            <a:endParaRPr lang="en-US" sz="1400" b="1" i="1" dirty="0">
              <a:solidFill>
                <a:srgbClr val="DFA70B"/>
              </a:solidFill>
              <a:latin typeface="Helvetica" panose="020B0604020202020204" pitchFamily="34" charset="0"/>
              <a:ea typeface="Helvetica Neue" charset="0"/>
              <a:cs typeface="Helvetica" panose="020B0604020202020204" pitchFamily="34" charset="0"/>
            </a:endParaRPr>
          </a:p>
          <a:p>
            <a:pPr marL="396875"/>
            <a:r>
              <a:rPr lang="en-US" sz="1400" i="1" dirty="0" err="1">
                <a:latin typeface="Helvetica" panose="020B0604020202020204" pitchFamily="34" charset="0"/>
                <a:ea typeface="Helvetica Neue" charset="0"/>
                <a:cs typeface="Helvetica" panose="020B0604020202020204" pitchFamily="34" charset="0"/>
              </a:rPr>
              <a:t>pppn</a:t>
            </a:r>
            <a:r>
              <a:rPr lang="en-US" sz="1400" i="1" dirty="0">
                <a:latin typeface="Helvetica" panose="020B0604020202020204" pitchFamily="34" charset="0"/>
                <a:ea typeface="Helvetica Neue" charset="0"/>
                <a:cs typeface="Helvetica" panose="020B0604020202020204" pitchFamily="34" charset="0"/>
              </a:rPr>
              <a:t> = lm(</a:t>
            </a:r>
            <a:r>
              <a:rPr lang="en-US" sz="1400" i="1" dirty="0" err="1">
                <a:latin typeface="Helvetica" panose="020B0604020202020204" pitchFamily="34" charset="0"/>
                <a:ea typeface="Helvetica Neue" charset="0"/>
                <a:cs typeface="Helvetica" panose="020B0604020202020204" pitchFamily="34" charset="0"/>
              </a:rPr>
              <a:t>Exchange.rate.change</a:t>
            </a:r>
            <a:r>
              <a:rPr lang="en-US" sz="1400" i="1" dirty="0">
                <a:latin typeface="Helvetica" panose="020B0604020202020204" pitchFamily="34" charset="0"/>
                <a:ea typeface="Helvetica Neue" charset="0"/>
                <a:cs typeface="Helvetica" panose="020B0604020202020204" pitchFamily="34" charset="0"/>
              </a:rPr>
              <a:t> ~ </a:t>
            </a:r>
            <a:r>
              <a:rPr lang="en-US" sz="1400" i="1" dirty="0" err="1">
                <a:latin typeface="Helvetica" panose="020B0604020202020204" pitchFamily="34" charset="0"/>
                <a:ea typeface="Helvetica Neue" charset="0"/>
                <a:cs typeface="Helvetica" panose="020B0604020202020204" pitchFamily="34" charset="0"/>
              </a:rPr>
              <a:t>Inflation.difference</a:t>
            </a:r>
            <a:r>
              <a:rPr lang="en-US" sz="1400" i="1" dirty="0">
                <a:latin typeface="Helvetica" panose="020B0604020202020204" pitchFamily="34" charset="0"/>
                <a:ea typeface="Helvetica Neue" charset="0"/>
                <a:cs typeface="Helvetica" panose="020B0604020202020204" pitchFamily="34" charset="0"/>
              </a:rPr>
              <a:t>)</a:t>
            </a:r>
          </a:p>
          <a:p>
            <a:pPr marL="396875"/>
            <a:r>
              <a:rPr lang="en-US" sz="1400" i="1" dirty="0">
                <a:latin typeface="Helvetica" panose="020B0604020202020204" pitchFamily="34" charset="0"/>
                <a:ea typeface="Helvetica Neue" charset="0"/>
                <a:cs typeface="Helvetica" panose="020B0604020202020204" pitchFamily="34" charset="0"/>
              </a:rPr>
              <a:t>summary(</a:t>
            </a:r>
            <a:r>
              <a:rPr lang="en-US" sz="1400" i="1" dirty="0" err="1">
                <a:latin typeface="Helvetica" panose="020B0604020202020204" pitchFamily="34" charset="0"/>
                <a:ea typeface="Helvetica Neue" charset="0"/>
                <a:cs typeface="Helvetica" panose="020B0604020202020204" pitchFamily="34" charset="0"/>
              </a:rPr>
              <a:t>pppn</a:t>
            </a:r>
            <a:r>
              <a:rPr lang="en-US" sz="1400" i="1" dirty="0">
                <a:latin typeface="Helvetica" panose="020B0604020202020204" pitchFamily="34" charset="0"/>
                <a:ea typeface="Helvetica Neue" charset="0"/>
                <a:cs typeface="Helvetica" panose="020B0604020202020204" pitchFamily="34" charset="0"/>
              </a:rPr>
              <a:t>)</a:t>
            </a:r>
          </a:p>
          <a:p>
            <a:r>
              <a:rPr lang="en-US" sz="1400" i="1" dirty="0">
                <a:solidFill>
                  <a:schemeClr val="tx2"/>
                </a:solidFill>
                <a:latin typeface="Helvetica" panose="020B0604020202020204" pitchFamily="34" charset="0"/>
                <a:ea typeface="Helvetica Neue" charset="0"/>
                <a:cs typeface="Helvetica" panose="020B0604020202020204" pitchFamily="34" charset="0"/>
              </a:rPr>
              <a:t> </a:t>
            </a:r>
            <a:r>
              <a:rPr lang="en-US" sz="1400" dirty="0">
                <a:latin typeface="Helvetica" panose="020B0604020202020204" pitchFamily="34" charset="0"/>
                <a:ea typeface="Helvetica Neue" charset="0"/>
                <a:cs typeface="Helvetica" panose="020B0604020202020204" pitchFamily="34" charset="0"/>
              </a:rPr>
              <a:t>Coefficients:</a:t>
            </a:r>
          </a:p>
          <a:p>
            <a:r>
              <a:rPr lang="en-US" sz="1400" dirty="0">
                <a:latin typeface="Helvetica" panose="020B0604020202020204" pitchFamily="34" charset="0"/>
                <a:ea typeface="Helvetica Neue" charset="0"/>
                <a:cs typeface="Helvetica" panose="020B0604020202020204" pitchFamily="34" charset="0"/>
              </a:rPr>
              <a:t>                               </a:t>
            </a:r>
            <a:r>
              <a:rPr lang="en-US" sz="1400" dirty="0" smtClean="0">
                <a:latin typeface="Helvetica" panose="020B0604020202020204" pitchFamily="34" charset="0"/>
                <a:ea typeface="Helvetica Neue" charset="0"/>
                <a:cs typeface="Helvetica" panose="020B0604020202020204" pitchFamily="34" charset="0"/>
              </a:rPr>
              <a:t>Estimate   Std</a:t>
            </a:r>
            <a:r>
              <a:rPr lang="en-US" sz="1400" dirty="0">
                <a:latin typeface="Helvetica" panose="020B0604020202020204" pitchFamily="34" charset="0"/>
                <a:ea typeface="Helvetica Neue" charset="0"/>
                <a:cs typeface="Helvetica" panose="020B0604020202020204" pitchFamily="34" charset="0"/>
              </a:rPr>
              <a:t>. Error </a:t>
            </a:r>
            <a:r>
              <a:rPr lang="en-US" sz="1400" dirty="0" smtClean="0">
                <a:latin typeface="Helvetica" panose="020B0604020202020204" pitchFamily="34" charset="0"/>
                <a:ea typeface="Helvetica Neue" charset="0"/>
                <a:cs typeface="Helvetica" panose="020B0604020202020204" pitchFamily="34" charset="0"/>
              </a:rPr>
              <a:t> t </a:t>
            </a:r>
            <a:r>
              <a:rPr lang="en-US" sz="1400" dirty="0">
                <a:latin typeface="Helvetica" panose="020B0604020202020204" pitchFamily="34" charset="0"/>
                <a:ea typeface="Helvetica Neue" charset="0"/>
                <a:cs typeface="Helvetica" panose="020B0604020202020204" pitchFamily="34" charset="0"/>
              </a:rPr>
              <a:t>value </a:t>
            </a:r>
            <a:r>
              <a:rPr lang="en-US" sz="1400" dirty="0" smtClean="0">
                <a:latin typeface="Helvetica" panose="020B0604020202020204" pitchFamily="34" charset="0"/>
                <a:ea typeface="Helvetica Neue" charset="0"/>
                <a:cs typeface="Helvetica" panose="020B0604020202020204" pitchFamily="34" charset="0"/>
              </a:rPr>
              <a:t>  </a:t>
            </a:r>
            <a:r>
              <a:rPr lang="en-US" sz="1400" dirty="0" err="1" smtClean="0">
                <a:latin typeface="Helvetica" panose="020B0604020202020204" pitchFamily="34" charset="0"/>
                <a:ea typeface="Helvetica Neue" charset="0"/>
                <a:cs typeface="Helvetica" panose="020B0604020202020204" pitchFamily="34" charset="0"/>
              </a:rPr>
              <a:t>Pr</a:t>
            </a:r>
            <a:r>
              <a:rPr lang="en-US" sz="1400" dirty="0">
                <a:latin typeface="Helvetica" panose="020B0604020202020204" pitchFamily="34" charset="0"/>
                <a:ea typeface="Helvetica Neue" charset="0"/>
                <a:cs typeface="Helvetica" panose="020B0604020202020204" pitchFamily="34" charset="0"/>
              </a:rPr>
              <a:t>(&gt;|t|)    </a:t>
            </a:r>
          </a:p>
          <a:p>
            <a:r>
              <a:rPr lang="en-US" sz="1400" dirty="0">
                <a:latin typeface="Helvetica" panose="020B0604020202020204" pitchFamily="34" charset="0"/>
                <a:ea typeface="Helvetica Neue" charset="0"/>
                <a:cs typeface="Helvetica" panose="020B0604020202020204" pitchFamily="34" charset="0"/>
              </a:rPr>
              <a:t>(Intercept)               </a:t>
            </a:r>
            <a:r>
              <a:rPr lang="en-US" sz="1400" dirty="0" smtClean="0">
                <a:latin typeface="Helvetica" panose="020B0604020202020204" pitchFamily="34" charset="0"/>
                <a:ea typeface="Helvetica Neue" charset="0"/>
                <a:cs typeface="Helvetica" panose="020B0604020202020204" pitchFamily="34" charset="0"/>
              </a:rPr>
              <a:t>-</a:t>
            </a:r>
            <a:r>
              <a:rPr lang="en-US" sz="1400" dirty="0">
                <a:latin typeface="Helvetica" panose="020B0604020202020204" pitchFamily="34" charset="0"/>
                <a:ea typeface="Helvetica Neue" charset="0"/>
                <a:cs typeface="Helvetica" panose="020B0604020202020204" pitchFamily="34" charset="0"/>
              </a:rPr>
              <a:t>1.37222  </a:t>
            </a:r>
            <a:r>
              <a:rPr lang="en-US" sz="1400" dirty="0" smtClean="0">
                <a:latin typeface="Helvetica" panose="020B0604020202020204" pitchFamily="34" charset="0"/>
                <a:ea typeface="Helvetica Neue" charset="0"/>
                <a:cs typeface="Helvetica" panose="020B0604020202020204" pitchFamily="34" charset="0"/>
              </a:rPr>
              <a:t> </a:t>
            </a:r>
            <a:r>
              <a:rPr lang="en-US" sz="1400" dirty="0">
                <a:latin typeface="Helvetica" panose="020B0604020202020204" pitchFamily="34" charset="0"/>
                <a:ea typeface="Helvetica Neue" charset="0"/>
                <a:cs typeface="Helvetica" panose="020B0604020202020204" pitchFamily="34" charset="0"/>
              </a:rPr>
              <a:t>0.30517  </a:t>
            </a:r>
            <a:r>
              <a:rPr lang="en-US" sz="1400" dirty="0" smtClean="0">
                <a:latin typeface="Helvetica" panose="020B0604020202020204" pitchFamily="34" charset="0"/>
                <a:ea typeface="Helvetica Neue" charset="0"/>
                <a:cs typeface="Helvetica" panose="020B0604020202020204" pitchFamily="34" charset="0"/>
              </a:rPr>
              <a:t>  -</a:t>
            </a:r>
            <a:r>
              <a:rPr lang="en-US" sz="1400" dirty="0">
                <a:latin typeface="Helvetica" panose="020B0604020202020204" pitchFamily="34" charset="0"/>
                <a:ea typeface="Helvetica Neue" charset="0"/>
                <a:cs typeface="Helvetica" panose="020B0604020202020204" pitchFamily="34" charset="0"/>
              </a:rPr>
              <a:t>4.497 </a:t>
            </a:r>
            <a:r>
              <a:rPr lang="en-US" sz="1400" dirty="0" smtClean="0">
                <a:latin typeface="Helvetica" panose="020B0604020202020204" pitchFamily="34" charset="0"/>
                <a:ea typeface="Helvetica Neue" charset="0"/>
                <a:cs typeface="Helvetica" panose="020B0604020202020204" pitchFamily="34" charset="0"/>
              </a:rPr>
              <a:t>  6.31e-05</a:t>
            </a:r>
            <a:endParaRPr lang="en-US" sz="1400" dirty="0">
              <a:latin typeface="Helvetica" panose="020B0604020202020204" pitchFamily="34" charset="0"/>
              <a:ea typeface="Helvetica Neue" charset="0"/>
              <a:cs typeface="Helvetica" panose="020B0604020202020204" pitchFamily="34" charset="0"/>
            </a:endParaRPr>
          </a:p>
          <a:p>
            <a:r>
              <a:rPr lang="en-US" sz="1400" dirty="0" err="1">
                <a:latin typeface="Helvetica" panose="020B0604020202020204" pitchFamily="34" charset="0"/>
                <a:ea typeface="Helvetica Neue" charset="0"/>
                <a:cs typeface="Helvetica" panose="020B0604020202020204" pitchFamily="34" charset="0"/>
              </a:rPr>
              <a:t>Inflation.difference</a:t>
            </a:r>
            <a:r>
              <a:rPr lang="en-US" sz="1400" dirty="0">
                <a:latin typeface="Helvetica" panose="020B0604020202020204" pitchFamily="34" charset="0"/>
                <a:ea typeface="Helvetica Neue" charset="0"/>
                <a:cs typeface="Helvetica" panose="020B0604020202020204" pitchFamily="34" charset="0"/>
              </a:rPr>
              <a:t>  0.99152    0.02626  </a:t>
            </a:r>
            <a:r>
              <a:rPr lang="en-US" sz="1400" dirty="0" smtClean="0">
                <a:latin typeface="Helvetica" panose="020B0604020202020204" pitchFamily="34" charset="0"/>
                <a:ea typeface="Helvetica Neue" charset="0"/>
                <a:cs typeface="Helvetica" panose="020B0604020202020204" pitchFamily="34" charset="0"/>
              </a:rPr>
              <a:t>  37.757  </a:t>
            </a:r>
            <a:r>
              <a:rPr lang="en-US" sz="1400" dirty="0">
                <a:latin typeface="Helvetica" panose="020B0604020202020204" pitchFamily="34" charset="0"/>
                <a:ea typeface="Helvetica Neue" charset="0"/>
                <a:cs typeface="Helvetica" panose="020B0604020202020204" pitchFamily="34" charset="0"/>
              </a:rPr>
              <a:t>&lt; 2e-16 </a:t>
            </a:r>
          </a:p>
          <a:p>
            <a:r>
              <a:rPr lang="en-US" sz="1400" dirty="0">
                <a:latin typeface="Helvetica" panose="020B0604020202020204" pitchFamily="34" charset="0"/>
                <a:ea typeface="Helvetica Neue" charset="0"/>
                <a:cs typeface="Helvetica" panose="020B0604020202020204" pitchFamily="34" charset="0"/>
              </a:rPr>
              <a:t>Residual standard error: 1.62 on 38 degrees of freedom</a:t>
            </a:r>
          </a:p>
          <a:p>
            <a:r>
              <a:rPr lang="en-US" sz="1400" dirty="0">
                <a:latin typeface="Helvetica" panose="020B0604020202020204" pitchFamily="34" charset="0"/>
                <a:ea typeface="Helvetica Neue" charset="0"/>
                <a:cs typeface="Helvetica" panose="020B0604020202020204" pitchFamily="34" charset="0"/>
              </a:rPr>
              <a:t>Multiple R-squared:  0.974,     Adjusted R-squared:  0.9734 </a:t>
            </a:r>
          </a:p>
        </p:txBody>
      </p:sp>
      <p:sp>
        <p:nvSpPr>
          <p:cNvPr id="4" name="TextBox 3"/>
          <p:cNvSpPr txBox="1"/>
          <p:nvPr/>
        </p:nvSpPr>
        <p:spPr>
          <a:xfrm>
            <a:off x="145249" y="3918836"/>
            <a:ext cx="4123745" cy="954107"/>
          </a:xfrm>
          <a:prstGeom prst="rect">
            <a:avLst/>
          </a:prstGeom>
          <a:noFill/>
        </p:spPr>
        <p:txBody>
          <a:bodyPr wrap="square" rtlCol="0">
            <a:spAutoFit/>
          </a:bodyPr>
          <a:lstStyle/>
          <a:p>
            <a:r>
              <a:rPr lang="en-US" sz="1400" b="1" dirty="0">
                <a:solidFill>
                  <a:srgbClr val="DFA70B"/>
                </a:solidFill>
                <a:latin typeface="Helvetica" panose="020B0604020202020204" pitchFamily="34" charset="0"/>
                <a:ea typeface="Helvetica Neue" charset="0"/>
                <a:cs typeface="Helvetica" panose="020B0604020202020204" pitchFamily="34" charset="0"/>
              </a:rPr>
              <a:t>## Test whether the slope is equal to 1 (PPP theory)</a:t>
            </a:r>
          </a:p>
          <a:p>
            <a:pPr marL="396875"/>
            <a:r>
              <a:rPr lang="en-US" sz="1400" i="1" dirty="0" err="1">
                <a:latin typeface="Helvetica" panose="020B0604020202020204" pitchFamily="34" charset="0"/>
                <a:ea typeface="Helvetica Neue" charset="0"/>
                <a:cs typeface="Helvetica" panose="020B0604020202020204" pitchFamily="34" charset="0"/>
              </a:rPr>
              <a:t>tvalue</a:t>
            </a:r>
            <a:r>
              <a:rPr lang="en-US" sz="1400" i="1" dirty="0">
                <a:latin typeface="Helvetica" panose="020B0604020202020204" pitchFamily="34" charset="0"/>
                <a:ea typeface="Helvetica Neue" charset="0"/>
                <a:cs typeface="Helvetica" panose="020B0604020202020204" pitchFamily="34" charset="0"/>
              </a:rPr>
              <a:t> = (0.9915−1)/</a:t>
            </a:r>
            <a:r>
              <a:rPr lang="en-US" sz="1400" dirty="0">
                <a:latin typeface="Helvetica" panose="020B0604020202020204" pitchFamily="34" charset="0"/>
                <a:ea typeface="Helvetica Neue" charset="0"/>
                <a:cs typeface="Helvetica" panose="020B0604020202020204" pitchFamily="34" charset="0"/>
              </a:rPr>
              <a:t> 0.02626</a:t>
            </a:r>
            <a:endParaRPr lang="en-US" sz="1400" i="1" dirty="0">
              <a:latin typeface="Helvetica" panose="020B0604020202020204" pitchFamily="34" charset="0"/>
              <a:ea typeface="Helvetica Neue" charset="0"/>
              <a:cs typeface="Helvetica" panose="020B0604020202020204" pitchFamily="34" charset="0"/>
            </a:endParaRPr>
          </a:p>
          <a:p>
            <a:pPr marL="396875"/>
            <a:r>
              <a:rPr lang="en-US" sz="1400" i="1" dirty="0" err="1">
                <a:latin typeface="Helvetica" panose="020B0604020202020204" pitchFamily="34" charset="0"/>
                <a:ea typeface="Helvetica Neue" charset="0"/>
                <a:cs typeface="Helvetica" panose="020B0604020202020204" pitchFamily="34" charset="0"/>
              </a:rPr>
              <a:t>pvalue</a:t>
            </a:r>
            <a:r>
              <a:rPr lang="en-US" sz="1400" i="1" dirty="0">
                <a:latin typeface="Helvetica" panose="020B0604020202020204" pitchFamily="34" charset="0"/>
                <a:ea typeface="Helvetica Neue" charset="0"/>
                <a:cs typeface="Helvetica" panose="020B0604020202020204" pitchFamily="34" charset="0"/>
              </a:rPr>
              <a:t> = 2*(</a:t>
            </a:r>
            <a:r>
              <a:rPr lang="en-US" sz="1400" i="1" dirty="0" smtClean="0">
                <a:latin typeface="Helvetica" panose="020B0604020202020204" pitchFamily="34" charset="0"/>
                <a:ea typeface="Helvetica Neue" charset="0"/>
                <a:cs typeface="Helvetica" panose="020B0604020202020204" pitchFamily="34" charset="0"/>
              </a:rPr>
              <a:t>1-pt(abs(</a:t>
            </a:r>
            <a:r>
              <a:rPr lang="en-US" sz="1400" i="1" dirty="0" err="1" smtClean="0">
                <a:latin typeface="Helvetica" panose="020B0604020202020204" pitchFamily="34" charset="0"/>
                <a:ea typeface="Helvetica Neue" charset="0"/>
                <a:cs typeface="Helvetica" panose="020B0604020202020204" pitchFamily="34" charset="0"/>
              </a:rPr>
              <a:t>tvalue</a:t>
            </a:r>
            <a:r>
              <a:rPr lang="en-US" sz="1400" i="1" dirty="0" smtClean="0">
                <a:latin typeface="Helvetica" panose="020B0604020202020204" pitchFamily="34" charset="0"/>
                <a:ea typeface="Helvetica Neue" charset="0"/>
                <a:cs typeface="Helvetica" panose="020B0604020202020204" pitchFamily="34" charset="0"/>
              </a:rPr>
              <a:t>),38</a:t>
            </a:r>
            <a:r>
              <a:rPr lang="en-US" sz="1400" i="1" dirty="0">
                <a:latin typeface="Helvetica" panose="020B0604020202020204" pitchFamily="34" charset="0"/>
                <a:ea typeface="Helvetica Neue" charset="0"/>
                <a:cs typeface="Helvetica" panose="020B0604020202020204" pitchFamily="34" charset="0"/>
              </a:rPr>
              <a:t>))</a:t>
            </a:r>
          </a:p>
        </p:txBody>
      </p:sp>
      <p:sp>
        <p:nvSpPr>
          <p:cNvPr id="8" name="Title 1"/>
          <p:cNvSpPr txBox="1">
            <a:spLocks/>
          </p:cNvSpPr>
          <p:nvPr/>
        </p:nvSpPr>
        <p:spPr>
          <a:xfrm>
            <a:off x="94145" y="217836"/>
            <a:ext cx="8390949" cy="627554"/>
          </a:xfrm>
          <a:prstGeom prst="rect">
            <a:avLst/>
          </a:prstGeom>
        </p:spPr>
        <p:txBody>
          <a:bodyP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en-US" sz="3600" dirty="0">
                <a:latin typeface="Vitesse" charset="0"/>
                <a:ea typeface="Vitesse" charset="0"/>
                <a:cs typeface="Vitesse" charset="0"/>
              </a:rPr>
              <a:t>Influential Points in Regression Analysis</a:t>
            </a:r>
          </a:p>
        </p:txBody>
      </p:sp>
      <mc:AlternateContent xmlns:mc="http://schemas.openxmlformats.org/markup-compatibility/2006" xmlns:a14="http://schemas.microsoft.com/office/drawing/2010/main">
        <mc:Choice Requires="a14">
          <p:sp>
            <p:nvSpPr>
              <p:cNvPr id="10" name="TextBox 9"/>
              <p:cNvSpPr txBox="1"/>
              <p:nvPr/>
            </p:nvSpPr>
            <p:spPr>
              <a:xfrm>
                <a:off x="5537135" y="1073226"/>
                <a:ext cx="3136217" cy="750334"/>
              </a:xfrm>
              <a:prstGeom prst="rect">
                <a:avLst/>
              </a:prstGeom>
              <a:noFill/>
              <a:ln w="19050">
                <a:solidFill>
                  <a:schemeClr val="accent1">
                    <a:shade val="50000"/>
                  </a:schemeClr>
                </a:solidFill>
              </a:ln>
            </p:spPr>
            <p:txBody>
              <a:bodyPr wrap="square" rtlCol="0">
                <a:spAutoFit/>
              </a:bodyPr>
              <a:lstStyle/>
              <a:p>
                <a14:m>
                  <m:oMath xmlns:m="http://schemas.openxmlformats.org/officeDocument/2006/math">
                    <m:sSub>
                      <m:sSubPr>
                        <m:ctrlPr>
                          <a:rPr lang="en-US" sz="1400" i="1">
                            <a:latin typeface="Cambria Math" panose="02040503050406030204" pitchFamily="18" charset="0"/>
                            <a:ea typeface="Helvetica" charset="0"/>
                            <a:cs typeface="Helvetica" charset="0"/>
                          </a:rPr>
                        </m:ctrlPr>
                      </m:sSubPr>
                      <m:e>
                        <m:acc>
                          <m:accPr>
                            <m:chr m:val="̂"/>
                            <m:ctrlPr>
                              <a:rPr lang="en-US" sz="1400" i="1">
                                <a:latin typeface="Cambria Math" panose="02040503050406030204" pitchFamily="18" charset="0"/>
                                <a:ea typeface="Helvetica" charset="0"/>
                                <a:cs typeface="Helvetica" charset="0"/>
                              </a:rPr>
                            </m:ctrlPr>
                          </m:accPr>
                          <m:e>
                            <m:r>
                              <a:rPr lang="en-US" sz="1400" i="1">
                                <a:latin typeface="Cambria Math" panose="02040503050406030204" pitchFamily="18" charset="0"/>
                                <a:ea typeface="Helvetica" charset="0"/>
                                <a:cs typeface="Helvetica" charset="0"/>
                              </a:rPr>
                              <m:t>𝛽</m:t>
                            </m:r>
                          </m:e>
                        </m:acc>
                      </m:e>
                      <m:sub>
                        <m:r>
                          <a:rPr lang="en-US" sz="1400" i="1">
                            <a:latin typeface="Cambria Math" panose="02040503050406030204" pitchFamily="18" charset="0"/>
                            <a:ea typeface="Helvetica" charset="0"/>
                            <a:cs typeface="Helvetica" charset="0"/>
                          </a:rPr>
                          <m:t>0</m:t>
                        </m:r>
                      </m:sub>
                    </m:sSub>
                  </m:oMath>
                </a14:m>
                <a:r>
                  <a:rPr lang="en-US" sz="1400" dirty="0">
                    <a:latin typeface="Helvetica" charset="0"/>
                    <a:ea typeface="Helvetica" charset="0"/>
                    <a:cs typeface="Helvetica" charset="0"/>
                  </a:rPr>
                  <a:t> = -1.372, se(</a:t>
                </a:r>
                <a14:m>
                  <m:oMath xmlns:m="http://schemas.openxmlformats.org/officeDocument/2006/math">
                    <m:sSub>
                      <m:sSubPr>
                        <m:ctrlPr>
                          <a:rPr lang="en-US" sz="1400" i="1">
                            <a:latin typeface="Cambria Math" panose="02040503050406030204" pitchFamily="18" charset="0"/>
                            <a:ea typeface="Helvetica" charset="0"/>
                            <a:cs typeface="Helvetica" charset="0"/>
                          </a:rPr>
                        </m:ctrlPr>
                      </m:sSubPr>
                      <m:e>
                        <m:acc>
                          <m:accPr>
                            <m:chr m:val="̂"/>
                            <m:ctrlPr>
                              <a:rPr lang="en-US" sz="1400" i="1">
                                <a:latin typeface="Cambria Math" panose="02040503050406030204" pitchFamily="18" charset="0"/>
                                <a:ea typeface="Helvetica" charset="0"/>
                                <a:cs typeface="Helvetica" charset="0"/>
                              </a:rPr>
                            </m:ctrlPr>
                          </m:accPr>
                          <m:e>
                            <m:r>
                              <a:rPr lang="en-US" sz="1400" i="1">
                                <a:latin typeface="Cambria Math" panose="02040503050406030204" pitchFamily="18" charset="0"/>
                                <a:ea typeface="Helvetica" charset="0"/>
                                <a:cs typeface="Helvetica" charset="0"/>
                              </a:rPr>
                              <m:t>𝛽</m:t>
                            </m:r>
                          </m:e>
                        </m:acc>
                      </m:e>
                      <m:sub>
                        <m:r>
                          <a:rPr lang="en-US" sz="1400" i="1">
                            <a:latin typeface="Cambria Math" panose="02040503050406030204" pitchFamily="18" charset="0"/>
                            <a:ea typeface="Helvetica" charset="0"/>
                            <a:cs typeface="Helvetica" charset="0"/>
                          </a:rPr>
                          <m:t>0</m:t>
                        </m:r>
                      </m:sub>
                    </m:sSub>
                  </m:oMath>
                </a14:m>
                <a:r>
                  <a:rPr lang="en-US" sz="1400" dirty="0">
                    <a:latin typeface="Helvetica" charset="0"/>
                    <a:ea typeface="Helvetica" charset="0"/>
                    <a:cs typeface="Helvetica" charset="0"/>
                  </a:rPr>
                  <a:t>) = 0.305</a:t>
                </a:r>
              </a:p>
              <a:p>
                <a:r>
                  <a:rPr lang="en-US" sz="1400" dirty="0">
                    <a:latin typeface="Helvetica" charset="0"/>
                    <a:ea typeface="Helvetica" charset="0"/>
                    <a:cs typeface="Helvetica" charset="0"/>
                  </a:rPr>
                  <a:t>Statistical significance for </a:t>
                </a:r>
                <a14:m>
                  <m:oMath xmlns:m="http://schemas.openxmlformats.org/officeDocument/2006/math">
                    <m:sSub>
                      <m:sSubPr>
                        <m:ctrlPr>
                          <a:rPr lang="en-US" sz="1400" i="1">
                            <a:latin typeface="Cambria Math" panose="02040503050406030204" pitchFamily="18" charset="0"/>
                            <a:ea typeface="Helvetica" charset="0"/>
                            <a:cs typeface="Helvetica" charset="0"/>
                          </a:rPr>
                        </m:ctrlPr>
                      </m:sSubPr>
                      <m:e>
                        <m:r>
                          <a:rPr lang="en-US" sz="1400" i="1">
                            <a:latin typeface="Cambria Math" panose="02040503050406030204" pitchFamily="18" charset="0"/>
                            <a:ea typeface="Helvetica" charset="0"/>
                            <a:cs typeface="Helvetica" charset="0"/>
                          </a:rPr>
                          <m:t>𝛽</m:t>
                        </m:r>
                      </m:e>
                      <m:sub>
                        <m:r>
                          <a:rPr lang="en-US" sz="1400" i="1">
                            <a:latin typeface="Cambria Math" panose="02040503050406030204" pitchFamily="18" charset="0"/>
                            <a:ea typeface="Helvetica" charset="0"/>
                            <a:cs typeface="Helvetica" charset="0"/>
                          </a:rPr>
                          <m:t>0</m:t>
                        </m:r>
                      </m:sub>
                    </m:sSub>
                    <m:r>
                      <a:rPr lang="en-US" sz="1400" i="1">
                        <a:latin typeface="Cambria Math" panose="02040503050406030204" pitchFamily="18" charset="0"/>
                        <a:ea typeface="Helvetica" charset="0"/>
                        <a:cs typeface="Helvetica" charset="0"/>
                      </a:rPr>
                      <m:t>:</m:t>
                    </m:r>
                  </m:oMath>
                </a14:m>
                <a:endParaRPr lang="en-US" sz="1400" dirty="0">
                  <a:latin typeface="Helvetica" charset="0"/>
                  <a:ea typeface="Helvetica" charset="0"/>
                  <a:cs typeface="Helvetica" charset="0"/>
                </a:endParaRPr>
              </a:p>
              <a:p>
                <a:r>
                  <a:rPr lang="en-US" sz="1400" dirty="0">
                    <a:latin typeface="Helvetica" charset="0"/>
                    <a:ea typeface="Helvetica" charset="0"/>
                    <a:cs typeface="Helvetica" charset="0"/>
                  </a:rPr>
                  <a:t>t-value= -4.497, p-value ≈ 0</a:t>
                </a:r>
              </a:p>
            </p:txBody>
          </p:sp>
        </mc:Choice>
        <mc:Fallback xmlns="">
          <p:sp>
            <p:nvSpPr>
              <p:cNvPr id="10" name="TextBox 9"/>
              <p:cNvSpPr txBox="1">
                <a:spLocks noRot="1" noChangeAspect="1" noMove="1" noResize="1" noEditPoints="1" noAdjustHandles="1" noChangeArrowheads="1" noChangeShapeType="1" noTextEdit="1"/>
              </p:cNvSpPr>
              <p:nvPr/>
            </p:nvSpPr>
            <p:spPr>
              <a:xfrm>
                <a:off x="5537135" y="1073226"/>
                <a:ext cx="3136217" cy="750334"/>
              </a:xfrm>
              <a:prstGeom prst="rect">
                <a:avLst/>
              </a:prstGeom>
              <a:blipFill>
                <a:blip r:embed="rId3"/>
                <a:stretch>
                  <a:fillRect l="-386" b="-6349"/>
                </a:stretch>
              </a:blipFill>
              <a:ln w="19050">
                <a:solidFill>
                  <a:schemeClr val="accent1">
                    <a:shade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5538777" y="1962852"/>
                <a:ext cx="3134575" cy="750334"/>
              </a:xfrm>
              <a:prstGeom prst="rect">
                <a:avLst/>
              </a:prstGeom>
              <a:noFill/>
              <a:ln w="19050">
                <a:solidFill>
                  <a:schemeClr val="accent1">
                    <a:shade val="50000"/>
                  </a:schemeClr>
                </a:solidFill>
              </a:ln>
            </p:spPr>
            <p:txBody>
              <a:bodyPr wrap="square" rtlCol="0">
                <a:spAutoFit/>
              </a:bodyPr>
              <a:lstStyle/>
              <a:p>
                <a14:m>
                  <m:oMath xmlns:m="http://schemas.openxmlformats.org/officeDocument/2006/math">
                    <m:sSub>
                      <m:sSubPr>
                        <m:ctrlPr>
                          <a:rPr lang="en-US" sz="1400" i="1">
                            <a:latin typeface="Cambria Math" panose="02040503050406030204" pitchFamily="18" charset="0"/>
                            <a:ea typeface="Helvetica" charset="0"/>
                            <a:cs typeface="Helvetica" charset="0"/>
                          </a:rPr>
                        </m:ctrlPr>
                      </m:sSubPr>
                      <m:e>
                        <m:acc>
                          <m:accPr>
                            <m:chr m:val="̂"/>
                            <m:ctrlPr>
                              <a:rPr lang="en-US" sz="1400" i="1">
                                <a:latin typeface="Cambria Math" panose="02040503050406030204" pitchFamily="18" charset="0"/>
                                <a:ea typeface="Helvetica" charset="0"/>
                                <a:cs typeface="Helvetica" charset="0"/>
                              </a:rPr>
                            </m:ctrlPr>
                          </m:accPr>
                          <m:e>
                            <m:r>
                              <a:rPr lang="en-US" sz="1400" i="1">
                                <a:latin typeface="Cambria Math" panose="02040503050406030204" pitchFamily="18" charset="0"/>
                                <a:ea typeface="Helvetica" charset="0"/>
                                <a:cs typeface="Helvetica" charset="0"/>
                              </a:rPr>
                              <m:t>𝛽</m:t>
                            </m:r>
                          </m:e>
                        </m:acc>
                      </m:e>
                      <m:sub>
                        <m:r>
                          <a:rPr lang="en-US" sz="1400" i="1">
                            <a:latin typeface="Cambria Math" panose="02040503050406030204" pitchFamily="18" charset="0"/>
                            <a:ea typeface="Helvetica" charset="0"/>
                            <a:cs typeface="Helvetica" charset="0"/>
                          </a:rPr>
                          <m:t>1</m:t>
                        </m:r>
                      </m:sub>
                    </m:sSub>
                  </m:oMath>
                </a14:m>
                <a:r>
                  <a:rPr lang="en-US" sz="1400" dirty="0">
                    <a:latin typeface="Helvetica" charset="0"/>
                    <a:ea typeface="Helvetica" charset="0"/>
                    <a:cs typeface="Helvetica" charset="0"/>
                  </a:rPr>
                  <a:t> = 0.9915, se(</a:t>
                </a:r>
                <a14:m>
                  <m:oMath xmlns:m="http://schemas.openxmlformats.org/officeDocument/2006/math">
                    <m:sSub>
                      <m:sSubPr>
                        <m:ctrlPr>
                          <a:rPr lang="en-US" sz="1400" i="1">
                            <a:latin typeface="Cambria Math" panose="02040503050406030204" pitchFamily="18" charset="0"/>
                            <a:ea typeface="Helvetica" charset="0"/>
                            <a:cs typeface="Helvetica" charset="0"/>
                          </a:rPr>
                        </m:ctrlPr>
                      </m:sSubPr>
                      <m:e>
                        <m:acc>
                          <m:accPr>
                            <m:chr m:val="̂"/>
                            <m:ctrlPr>
                              <a:rPr lang="en-US" sz="1400" i="1">
                                <a:latin typeface="Cambria Math" panose="02040503050406030204" pitchFamily="18" charset="0"/>
                                <a:ea typeface="Helvetica" charset="0"/>
                                <a:cs typeface="Helvetica" charset="0"/>
                              </a:rPr>
                            </m:ctrlPr>
                          </m:accPr>
                          <m:e>
                            <m:r>
                              <a:rPr lang="en-US" sz="1400" i="1">
                                <a:latin typeface="Cambria Math" panose="02040503050406030204" pitchFamily="18" charset="0"/>
                                <a:ea typeface="Helvetica" charset="0"/>
                                <a:cs typeface="Helvetica" charset="0"/>
                              </a:rPr>
                              <m:t>𝛽</m:t>
                            </m:r>
                          </m:e>
                        </m:acc>
                      </m:e>
                      <m:sub>
                        <m:r>
                          <a:rPr lang="en-US" sz="1400" i="1">
                            <a:latin typeface="Cambria Math" panose="02040503050406030204" pitchFamily="18" charset="0"/>
                            <a:ea typeface="Helvetica" charset="0"/>
                            <a:cs typeface="Helvetica" charset="0"/>
                          </a:rPr>
                          <m:t>1</m:t>
                        </m:r>
                      </m:sub>
                    </m:sSub>
                  </m:oMath>
                </a14:m>
                <a:r>
                  <a:rPr lang="en-US" sz="1400" dirty="0">
                    <a:latin typeface="Helvetica" charset="0"/>
                    <a:ea typeface="Helvetica" charset="0"/>
                    <a:cs typeface="Helvetica" charset="0"/>
                  </a:rPr>
                  <a:t>) = 0.02626</a:t>
                </a:r>
              </a:p>
              <a:p>
                <a:r>
                  <a:rPr lang="en-US" sz="1400" dirty="0">
                    <a:latin typeface="Helvetica" charset="0"/>
                    <a:ea typeface="Helvetica" charset="0"/>
                    <a:cs typeface="Helvetica" charset="0"/>
                  </a:rPr>
                  <a:t>Test the null hypothesis </a:t>
                </a:r>
                <a14:m>
                  <m:oMath xmlns:m="http://schemas.openxmlformats.org/officeDocument/2006/math">
                    <m:sSub>
                      <m:sSubPr>
                        <m:ctrlPr>
                          <a:rPr lang="en-US" sz="1400" i="1">
                            <a:latin typeface="Cambria Math" panose="02040503050406030204" pitchFamily="18" charset="0"/>
                            <a:ea typeface="Helvetica" charset="0"/>
                            <a:cs typeface="Helvetica" charset="0"/>
                          </a:rPr>
                        </m:ctrlPr>
                      </m:sSubPr>
                      <m:e>
                        <m:r>
                          <a:rPr lang="en-US" sz="1400" i="1">
                            <a:latin typeface="Cambria Math" panose="02040503050406030204" pitchFamily="18" charset="0"/>
                            <a:ea typeface="Helvetica" charset="0"/>
                            <a:cs typeface="Helvetica" charset="0"/>
                          </a:rPr>
                          <m:t> </m:t>
                        </m:r>
                        <m:r>
                          <a:rPr lang="en-US" sz="1400" i="1">
                            <a:latin typeface="Cambria Math" panose="02040503050406030204" pitchFamily="18" charset="0"/>
                            <a:ea typeface="Helvetica" charset="0"/>
                            <a:cs typeface="Helvetica" charset="0"/>
                          </a:rPr>
                          <m:t>𝛽</m:t>
                        </m:r>
                      </m:e>
                      <m:sub>
                        <m:r>
                          <a:rPr lang="en-US" sz="1400" i="1">
                            <a:latin typeface="Cambria Math" panose="02040503050406030204" pitchFamily="18" charset="0"/>
                            <a:ea typeface="Helvetica" charset="0"/>
                            <a:cs typeface="Helvetica" charset="0"/>
                          </a:rPr>
                          <m:t>1</m:t>
                        </m:r>
                      </m:sub>
                    </m:sSub>
                    <m:r>
                      <a:rPr lang="en-US" sz="1400" i="1">
                        <a:latin typeface="Cambria Math" panose="02040503050406030204" pitchFamily="18" charset="0"/>
                        <a:ea typeface="Helvetica" charset="0"/>
                        <a:cs typeface="Helvetica" charset="0"/>
                      </a:rPr>
                      <m:t>=1</m:t>
                    </m:r>
                  </m:oMath>
                </a14:m>
                <a:r>
                  <a:rPr lang="en-US" sz="1400" dirty="0">
                    <a:latin typeface="Helvetica" charset="0"/>
                    <a:ea typeface="Helvetica" charset="0"/>
                    <a:cs typeface="Helvetica" charset="0"/>
                  </a:rPr>
                  <a:t>: </a:t>
                </a:r>
              </a:p>
              <a:p>
                <a:r>
                  <a:rPr lang="en-US" sz="1400" dirty="0">
                    <a:latin typeface="Helvetica" charset="0"/>
                    <a:ea typeface="Helvetica" charset="0"/>
                    <a:cs typeface="Helvetica" charset="0"/>
                  </a:rPr>
                  <a:t>p-value = 0.748</a:t>
                </a:r>
              </a:p>
            </p:txBody>
          </p:sp>
        </mc:Choice>
        <mc:Fallback xmlns="">
          <p:sp>
            <p:nvSpPr>
              <p:cNvPr id="11" name="TextBox 10"/>
              <p:cNvSpPr txBox="1">
                <a:spLocks noRot="1" noChangeAspect="1" noMove="1" noResize="1" noEditPoints="1" noAdjustHandles="1" noChangeArrowheads="1" noChangeShapeType="1" noTextEdit="1"/>
              </p:cNvSpPr>
              <p:nvPr/>
            </p:nvSpPr>
            <p:spPr>
              <a:xfrm>
                <a:off x="5538777" y="1962852"/>
                <a:ext cx="3134575" cy="750334"/>
              </a:xfrm>
              <a:prstGeom prst="rect">
                <a:avLst/>
              </a:prstGeom>
              <a:blipFill>
                <a:blip r:embed="rId4"/>
                <a:stretch>
                  <a:fillRect l="-387" b="-5556"/>
                </a:stretch>
              </a:blipFill>
              <a:ln w="19050">
                <a:solidFill>
                  <a:schemeClr val="accent1">
                    <a:shade val="50000"/>
                  </a:schemeClr>
                </a:solidFill>
              </a:ln>
            </p:spPr>
            <p:txBody>
              <a:bodyPr/>
              <a:lstStyle/>
              <a:p>
                <a:r>
                  <a:rPr lang="en-US">
                    <a:noFill/>
                  </a:rPr>
                  <a:t> </a:t>
                </a:r>
              </a:p>
            </p:txBody>
          </p:sp>
        </mc:Fallback>
      </mc:AlternateContent>
      <p:sp>
        <p:nvSpPr>
          <p:cNvPr id="7" name="TextBox 6">
            <a:extLst>
              <a:ext uri="{FF2B5EF4-FFF2-40B4-BE49-F238E27FC236}">
                <a16:creationId xmlns:a16="http://schemas.microsoft.com/office/drawing/2014/main" xmlns="" id="{64E590E4-409A-4E29-BE9D-7BEFE461F5E6}"/>
              </a:ext>
            </a:extLst>
          </p:cNvPr>
          <p:cNvSpPr txBox="1"/>
          <p:nvPr/>
        </p:nvSpPr>
        <p:spPr>
          <a:xfrm>
            <a:off x="5524500" y="3503337"/>
            <a:ext cx="3148852" cy="830997"/>
          </a:xfrm>
          <a:prstGeom prst="rect">
            <a:avLst/>
          </a:prstGeom>
          <a:noFill/>
          <a:ln w="19050">
            <a:solidFill>
              <a:schemeClr val="accent1">
                <a:lumMod val="50000"/>
              </a:schemeClr>
            </a:solidFill>
          </a:ln>
        </p:spPr>
        <p:txBody>
          <a:bodyPr wrap="square" rtlCol="0">
            <a:spAutoFit/>
          </a:bodyPr>
          <a:lstStyle/>
          <a:p>
            <a:pPr algn="ctr"/>
            <a:r>
              <a:rPr lang="en-US" sz="1600" b="1" dirty="0">
                <a:solidFill>
                  <a:schemeClr val="accent1">
                    <a:lumMod val="50000"/>
                  </a:schemeClr>
                </a:solidFill>
                <a:latin typeface="Helvetica" panose="020B0604020202020204" pitchFamily="34" charset="0"/>
                <a:ea typeface="Helvetica Neue" charset="0"/>
                <a:cs typeface="Helvetica" panose="020B0604020202020204" pitchFamily="34" charset="0"/>
              </a:rPr>
              <a:t>We are seeing violations of PPP with respect to intercept only.</a:t>
            </a:r>
          </a:p>
        </p:txBody>
      </p:sp>
    </p:spTree>
    <p:extLst>
      <p:ext uri="{BB962C8B-B14F-4D97-AF65-F5344CB8AC3E}">
        <p14:creationId xmlns:p14="http://schemas.microsoft.com/office/powerpoint/2010/main" val="2547827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animBg="1"/>
      <p:bldP spid="11"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4400" y="1034101"/>
            <a:ext cx="8485909" cy="2308324"/>
          </a:xfrm>
          <a:prstGeom prst="rect">
            <a:avLst/>
          </a:prstGeom>
          <a:noFill/>
        </p:spPr>
        <p:txBody>
          <a:bodyPr wrap="square" rtlCol="0">
            <a:spAutoFit/>
          </a:bodyPr>
          <a:lstStyle/>
          <a:p>
            <a:r>
              <a:rPr lang="en-US" sz="1600" i="1" dirty="0">
                <a:latin typeface="Helvetica" panose="020B0604020202020204" pitchFamily="34" charset="0"/>
                <a:ea typeface="Helvetica Neue" charset="0"/>
                <a:cs typeface="Helvetica" panose="020B0604020202020204" pitchFamily="34" charset="0"/>
              </a:rPr>
              <a:t>par(</a:t>
            </a:r>
            <a:r>
              <a:rPr lang="en-US" sz="1600" i="1" dirty="0" err="1">
                <a:latin typeface="Helvetica" panose="020B0604020202020204" pitchFamily="34" charset="0"/>
                <a:ea typeface="Helvetica Neue" charset="0"/>
                <a:cs typeface="Helvetica" panose="020B0604020202020204" pitchFamily="34" charset="0"/>
              </a:rPr>
              <a:t>mfrow</a:t>
            </a:r>
            <a:r>
              <a:rPr lang="en-US" sz="1600" i="1" dirty="0">
                <a:latin typeface="Helvetica" panose="020B0604020202020204" pitchFamily="34" charset="0"/>
                <a:ea typeface="Helvetica Neue" charset="0"/>
                <a:cs typeface="Helvetica" panose="020B0604020202020204" pitchFamily="34" charset="0"/>
              </a:rPr>
              <a:t>=c(2,2))</a:t>
            </a:r>
          </a:p>
          <a:p>
            <a:r>
              <a:rPr lang="en-US" sz="1600" i="1" dirty="0">
                <a:latin typeface="Helvetica" panose="020B0604020202020204" pitchFamily="34" charset="0"/>
                <a:ea typeface="Helvetica Neue" charset="0"/>
                <a:cs typeface="Helvetica" panose="020B0604020202020204" pitchFamily="34" charset="0"/>
              </a:rPr>
              <a:t>plot(</a:t>
            </a:r>
            <a:r>
              <a:rPr lang="en-US" sz="1600" i="1" dirty="0" err="1">
                <a:latin typeface="Helvetica" panose="020B0604020202020204" pitchFamily="34" charset="0"/>
                <a:ea typeface="Helvetica Neue" charset="0"/>
                <a:cs typeface="Helvetica" panose="020B0604020202020204" pitchFamily="34" charset="0"/>
              </a:rPr>
              <a:t>Inflation.difference</a:t>
            </a:r>
            <a:r>
              <a:rPr lang="en-US" sz="1600" i="1" dirty="0">
                <a:latin typeface="Helvetica" panose="020B0604020202020204" pitchFamily="34" charset="0"/>
                <a:ea typeface="Helvetica Neue" charset="0"/>
                <a:cs typeface="Helvetica" panose="020B0604020202020204" pitchFamily="34" charset="0"/>
              </a:rPr>
              <a:t>, residuals(</a:t>
            </a:r>
            <a:r>
              <a:rPr lang="en-US" sz="1600" i="1" dirty="0" err="1">
                <a:latin typeface="Helvetica" panose="020B0604020202020204" pitchFamily="34" charset="0"/>
                <a:ea typeface="Helvetica Neue" charset="0"/>
                <a:cs typeface="Helvetica" panose="020B0604020202020204" pitchFamily="34" charset="0"/>
              </a:rPr>
              <a:t>pppn</a:t>
            </a:r>
            <a:r>
              <a:rPr lang="en-US" sz="1600" i="1" dirty="0">
                <a:latin typeface="Helvetica" panose="020B0604020202020204" pitchFamily="34" charset="0"/>
                <a:ea typeface="Helvetica Neue" charset="0"/>
                <a:cs typeface="Helvetica" panose="020B0604020202020204" pitchFamily="34" charset="0"/>
              </a:rPr>
              <a:t>),</a:t>
            </a:r>
            <a:r>
              <a:rPr lang="en-US" sz="1600" i="1" dirty="0" err="1">
                <a:latin typeface="Helvetica" panose="020B0604020202020204" pitchFamily="34" charset="0"/>
                <a:ea typeface="Helvetica Neue" charset="0"/>
                <a:cs typeface="Helvetica" panose="020B0604020202020204" pitchFamily="34" charset="0"/>
              </a:rPr>
              <a:t>xlab</a:t>
            </a:r>
            <a:r>
              <a:rPr lang="en-US" sz="1600" i="1" dirty="0">
                <a:latin typeface="Helvetica" panose="020B0604020202020204" pitchFamily="34" charset="0"/>
                <a:ea typeface="Helvetica Neue" charset="0"/>
                <a:cs typeface="Helvetica" panose="020B0604020202020204" pitchFamily="34" charset="0"/>
              </a:rPr>
              <a:t>="Inflation Difference",</a:t>
            </a:r>
            <a:r>
              <a:rPr lang="en-US" sz="1600" i="1" dirty="0" err="1">
                <a:latin typeface="Helvetica" panose="020B0604020202020204" pitchFamily="34" charset="0"/>
                <a:ea typeface="Helvetica Neue" charset="0"/>
                <a:cs typeface="Helvetica" panose="020B0604020202020204" pitchFamily="34" charset="0"/>
              </a:rPr>
              <a:t>ylab</a:t>
            </a:r>
            <a:r>
              <a:rPr lang="en-US" sz="1600" i="1" dirty="0">
                <a:latin typeface="Helvetica" panose="020B0604020202020204" pitchFamily="34" charset="0"/>
                <a:ea typeface="Helvetica Neue" charset="0"/>
                <a:cs typeface="Helvetica" panose="020B0604020202020204" pitchFamily="34" charset="0"/>
              </a:rPr>
              <a:t>="Residuals",</a:t>
            </a:r>
          </a:p>
          <a:p>
            <a:r>
              <a:rPr lang="en-US" sz="1600" i="1" dirty="0">
                <a:latin typeface="Helvetica" panose="020B0604020202020204" pitchFamily="34" charset="0"/>
                <a:ea typeface="Helvetica Neue" charset="0"/>
                <a:cs typeface="Helvetica" panose="020B0604020202020204" pitchFamily="34" charset="0"/>
              </a:rPr>
              <a:t>main="Versus Predictor")</a:t>
            </a:r>
          </a:p>
          <a:p>
            <a:r>
              <a:rPr lang="en-US" sz="1600" i="1" dirty="0" err="1">
                <a:latin typeface="Helvetica" panose="020B0604020202020204" pitchFamily="34" charset="0"/>
                <a:ea typeface="Helvetica Neue" charset="0"/>
                <a:cs typeface="Helvetica" panose="020B0604020202020204" pitchFamily="34" charset="0"/>
              </a:rPr>
              <a:t>abline</a:t>
            </a:r>
            <a:r>
              <a:rPr lang="en-US" sz="1600" i="1" dirty="0">
                <a:latin typeface="Helvetica" panose="020B0604020202020204" pitchFamily="34" charset="0"/>
                <a:ea typeface="Helvetica Neue" charset="0"/>
                <a:cs typeface="Helvetica" panose="020B0604020202020204" pitchFamily="34" charset="0"/>
              </a:rPr>
              <a:t>(h=0,lty=2)</a:t>
            </a:r>
          </a:p>
          <a:p>
            <a:r>
              <a:rPr lang="en-US" sz="1600" i="1" dirty="0">
                <a:latin typeface="Helvetica" panose="020B0604020202020204" pitchFamily="34" charset="0"/>
                <a:ea typeface="Helvetica Neue" charset="0"/>
                <a:cs typeface="Helvetica" panose="020B0604020202020204" pitchFamily="34" charset="0"/>
              </a:rPr>
              <a:t>plot(fitted(</a:t>
            </a:r>
            <a:r>
              <a:rPr lang="en-US" sz="1600" i="1" dirty="0" err="1">
                <a:latin typeface="Helvetica" panose="020B0604020202020204" pitchFamily="34" charset="0"/>
                <a:ea typeface="Helvetica Neue" charset="0"/>
                <a:cs typeface="Helvetica" panose="020B0604020202020204" pitchFamily="34" charset="0"/>
              </a:rPr>
              <a:t>pppn</a:t>
            </a:r>
            <a:r>
              <a:rPr lang="en-US" sz="1600" i="1" dirty="0">
                <a:latin typeface="Helvetica" panose="020B0604020202020204" pitchFamily="34" charset="0"/>
                <a:ea typeface="Helvetica Neue" charset="0"/>
                <a:cs typeface="Helvetica" panose="020B0604020202020204" pitchFamily="34" charset="0"/>
              </a:rPr>
              <a:t>),residuals(</a:t>
            </a:r>
            <a:r>
              <a:rPr lang="en-US" sz="1600" i="1" dirty="0" err="1">
                <a:latin typeface="Helvetica" panose="020B0604020202020204" pitchFamily="34" charset="0"/>
                <a:ea typeface="Helvetica Neue" charset="0"/>
                <a:cs typeface="Helvetica" panose="020B0604020202020204" pitchFamily="34" charset="0"/>
              </a:rPr>
              <a:t>pppn</a:t>
            </a:r>
            <a:r>
              <a:rPr lang="en-US" sz="1600" i="1" dirty="0">
                <a:latin typeface="Helvetica" panose="020B0604020202020204" pitchFamily="34" charset="0"/>
                <a:ea typeface="Helvetica Neue" charset="0"/>
                <a:cs typeface="Helvetica" panose="020B0604020202020204" pitchFamily="34" charset="0"/>
              </a:rPr>
              <a:t>),</a:t>
            </a:r>
            <a:r>
              <a:rPr lang="en-US" sz="1600" i="1" dirty="0" err="1">
                <a:latin typeface="Helvetica" panose="020B0604020202020204" pitchFamily="34" charset="0"/>
                <a:ea typeface="Helvetica Neue" charset="0"/>
                <a:cs typeface="Helvetica" panose="020B0604020202020204" pitchFamily="34" charset="0"/>
              </a:rPr>
              <a:t>xlab</a:t>
            </a:r>
            <a:r>
              <a:rPr lang="en-US" sz="1600" i="1" dirty="0">
                <a:latin typeface="Helvetica" panose="020B0604020202020204" pitchFamily="34" charset="0"/>
                <a:ea typeface="Helvetica Neue" charset="0"/>
                <a:cs typeface="Helvetica" panose="020B0604020202020204" pitchFamily="34" charset="0"/>
              </a:rPr>
              <a:t>="Fitted values",</a:t>
            </a:r>
            <a:r>
              <a:rPr lang="en-US" sz="1600" i="1" dirty="0" err="1">
                <a:latin typeface="Helvetica" panose="020B0604020202020204" pitchFamily="34" charset="0"/>
                <a:ea typeface="Helvetica Neue" charset="0"/>
                <a:cs typeface="Helvetica" panose="020B0604020202020204" pitchFamily="34" charset="0"/>
              </a:rPr>
              <a:t>ylab</a:t>
            </a:r>
            <a:r>
              <a:rPr lang="en-US" sz="1600" i="1" dirty="0">
                <a:latin typeface="Helvetica" panose="020B0604020202020204" pitchFamily="34" charset="0"/>
                <a:ea typeface="Helvetica Neue" charset="0"/>
                <a:cs typeface="Helvetica" panose="020B0604020202020204" pitchFamily="34" charset="0"/>
              </a:rPr>
              <a:t>="</a:t>
            </a:r>
            <a:r>
              <a:rPr lang="en-US" sz="1600" i="1" dirty="0" err="1">
                <a:latin typeface="Helvetica" panose="020B0604020202020204" pitchFamily="34" charset="0"/>
                <a:ea typeface="Helvetica Neue" charset="0"/>
                <a:cs typeface="Helvetica" panose="020B0604020202020204" pitchFamily="34" charset="0"/>
              </a:rPr>
              <a:t>Residuals",main</a:t>
            </a:r>
            <a:r>
              <a:rPr lang="en-US" sz="1600" i="1" dirty="0">
                <a:latin typeface="Helvetica" panose="020B0604020202020204" pitchFamily="34" charset="0"/>
                <a:ea typeface="Helvetica Neue" charset="0"/>
                <a:cs typeface="Helvetica" panose="020B0604020202020204" pitchFamily="34" charset="0"/>
              </a:rPr>
              <a:t>="Versus Fits")</a:t>
            </a:r>
          </a:p>
          <a:p>
            <a:r>
              <a:rPr lang="en-US" sz="1600" i="1" dirty="0" err="1">
                <a:latin typeface="Helvetica" panose="020B0604020202020204" pitchFamily="34" charset="0"/>
                <a:ea typeface="Helvetica Neue" charset="0"/>
                <a:cs typeface="Helvetica" panose="020B0604020202020204" pitchFamily="34" charset="0"/>
              </a:rPr>
              <a:t>abline</a:t>
            </a:r>
            <a:r>
              <a:rPr lang="en-US" sz="1600" i="1" dirty="0">
                <a:latin typeface="Helvetica" panose="020B0604020202020204" pitchFamily="34" charset="0"/>
                <a:ea typeface="Helvetica Neue" charset="0"/>
                <a:cs typeface="Helvetica" panose="020B0604020202020204" pitchFamily="34" charset="0"/>
              </a:rPr>
              <a:t>(h=0,lty=2)</a:t>
            </a:r>
          </a:p>
          <a:p>
            <a:r>
              <a:rPr lang="en-US" sz="1600" i="1" dirty="0" err="1">
                <a:latin typeface="Helvetica" panose="020B0604020202020204" pitchFamily="34" charset="0"/>
                <a:ea typeface="Helvetica Neue" charset="0"/>
                <a:cs typeface="Helvetica" panose="020B0604020202020204" pitchFamily="34" charset="0"/>
              </a:rPr>
              <a:t>qqnorm</a:t>
            </a:r>
            <a:r>
              <a:rPr lang="en-US" sz="1600" i="1" dirty="0">
                <a:latin typeface="Helvetica" panose="020B0604020202020204" pitchFamily="34" charset="0"/>
                <a:ea typeface="Helvetica Neue" charset="0"/>
                <a:cs typeface="Helvetica" panose="020B0604020202020204" pitchFamily="34" charset="0"/>
              </a:rPr>
              <a:t>(residuals(</a:t>
            </a:r>
            <a:r>
              <a:rPr lang="en-US" sz="1600" i="1" dirty="0" err="1">
                <a:latin typeface="Helvetica" panose="020B0604020202020204" pitchFamily="34" charset="0"/>
                <a:ea typeface="Helvetica Neue" charset="0"/>
                <a:cs typeface="Helvetica" panose="020B0604020202020204" pitchFamily="34" charset="0"/>
              </a:rPr>
              <a:t>pppn</a:t>
            </a:r>
            <a:r>
              <a:rPr lang="en-US" sz="1600" i="1" dirty="0">
                <a:latin typeface="Helvetica" panose="020B0604020202020204" pitchFamily="34" charset="0"/>
                <a:ea typeface="Helvetica Neue" charset="0"/>
                <a:cs typeface="Helvetica" panose="020B0604020202020204" pitchFamily="34" charset="0"/>
              </a:rPr>
              <a:t>))</a:t>
            </a:r>
          </a:p>
          <a:p>
            <a:r>
              <a:rPr lang="en-US" sz="1600" i="1" dirty="0" err="1">
                <a:latin typeface="Helvetica" panose="020B0604020202020204" pitchFamily="34" charset="0"/>
                <a:ea typeface="Helvetica Neue" charset="0"/>
                <a:cs typeface="Helvetica" panose="020B0604020202020204" pitchFamily="34" charset="0"/>
              </a:rPr>
              <a:t>abline</a:t>
            </a:r>
            <a:r>
              <a:rPr lang="en-US" sz="1600" i="1" dirty="0">
                <a:latin typeface="Helvetica" panose="020B0604020202020204" pitchFamily="34" charset="0"/>
                <a:ea typeface="Helvetica Neue" charset="0"/>
                <a:cs typeface="Helvetica" panose="020B0604020202020204" pitchFamily="34" charset="0"/>
              </a:rPr>
              <a:t>(0,1,lty=1,col="red")</a:t>
            </a:r>
          </a:p>
          <a:p>
            <a:r>
              <a:rPr lang="en-US" sz="1600" i="1" dirty="0" err="1">
                <a:latin typeface="Helvetica" panose="020B0604020202020204" pitchFamily="34" charset="0"/>
                <a:ea typeface="Helvetica Neue" charset="0"/>
                <a:cs typeface="Helvetica" panose="020B0604020202020204" pitchFamily="34" charset="0"/>
              </a:rPr>
              <a:t>hist</a:t>
            </a:r>
            <a:r>
              <a:rPr lang="en-US" sz="1600" i="1" dirty="0">
                <a:latin typeface="Helvetica" panose="020B0604020202020204" pitchFamily="34" charset="0"/>
                <a:ea typeface="Helvetica Neue" charset="0"/>
                <a:cs typeface="Helvetica" panose="020B0604020202020204" pitchFamily="34" charset="0"/>
              </a:rPr>
              <a:t>(residuals(</a:t>
            </a:r>
            <a:r>
              <a:rPr lang="en-US" sz="1600" i="1" dirty="0" err="1">
                <a:latin typeface="Helvetica" panose="020B0604020202020204" pitchFamily="34" charset="0"/>
                <a:ea typeface="Helvetica Neue" charset="0"/>
                <a:cs typeface="Helvetica" panose="020B0604020202020204" pitchFamily="34" charset="0"/>
              </a:rPr>
              <a:t>pppn</a:t>
            </a:r>
            <a:r>
              <a:rPr lang="en-US" sz="1600" i="1" dirty="0">
                <a:latin typeface="Helvetica" panose="020B0604020202020204" pitchFamily="34" charset="0"/>
                <a:ea typeface="Helvetica Neue" charset="0"/>
                <a:cs typeface="Helvetica" panose="020B0604020202020204" pitchFamily="34" charset="0"/>
              </a:rPr>
              <a:t>),main="Histogram of residuals",</a:t>
            </a:r>
            <a:r>
              <a:rPr lang="en-US" sz="1600" i="1" dirty="0" err="1">
                <a:latin typeface="Helvetica" panose="020B0604020202020204" pitchFamily="34" charset="0"/>
                <a:ea typeface="Helvetica Neue" charset="0"/>
                <a:cs typeface="Helvetica" panose="020B0604020202020204" pitchFamily="34" charset="0"/>
              </a:rPr>
              <a:t>xlab</a:t>
            </a:r>
            <a:r>
              <a:rPr lang="en-US" sz="1600" i="1" dirty="0">
                <a:latin typeface="Helvetica" panose="020B0604020202020204" pitchFamily="34" charset="0"/>
                <a:ea typeface="Helvetica Neue" charset="0"/>
                <a:cs typeface="Helvetica" panose="020B0604020202020204" pitchFamily="34" charset="0"/>
              </a:rPr>
              <a:t>="Residuals")</a:t>
            </a:r>
          </a:p>
        </p:txBody>
      </p:sp>
      <p:sp>
        <p:nvSpPr>
          <p:cNvPr id="10" name="Title 1"/>
          <p:cNvSpPr txBox="1">
            <a:spLocks/>
          </p:cNvSpPr>
          <p:nvPr/>
        </p:nvSpPr>
        <p:spPr>
          <a:xfrm>
            <a:off x="114059" y="211363"/>
            <a:ext cx="8586188" cy="677158"/>
          </a:xfrm>
          <a:prstGeom prst="rect">
            <a:avLst/>
          </a:prstGeom>
        </p:spPr>
        <p:txBody>
          <a:bodyP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en-US" sz="3600" dirty="0">
                <a:latin typeface="Vitesse" charset="0"/>
                <a:ea typeface="Vitesse" charset="0"/>
                <a:cs typeface="Vitesse" charset="0"/>
              </a:rPr>
              <a:t>Residual Analysis: Model without Brazil</a:t>
            </a:r>
          </a:p>
        </p:txBody>
      </p:sp>
    </p:spTree>
    <p:extLst>
      <p:ext uri="{BB962C8B-B14F-4D97-AF65-F5344CB8AC3E}">
        <p14:creationId xmlns:p14="http://schemas.microsoft.com/office/powerpoint/2010/main" val="1157889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14059" y="211363"/>
            <a:ext cx="8586188" cy="1024646"/>
          </a:xfrm>
          <a:prstGeom prst="rect">
            <a:avLst/>
          </a:prstGeom>
        </p:spPr>
        <p:txBody>
          <a:bodyP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en-US" sz="3600" dirty="0">
                <a:latin typeface="Vitesse" charset="0"/>
                <a:ea typeface="Vitesse" charset="0"/>
                <a:cs typeface="Vitesse" charset="0"/>
              </a:rPr>
              <a:t>Residual Analysis: Model without Brazil</a:t>
            </a:r>
          </a:p>
        </p:txBody>
      </p:sp>
      <p:sp>
        <p:nvSpPr>
          <p:cNvPr id="6" name="TextBox 5">
            <a:extLst>
              <a:ext uri="{FF2B5EF4-FFF2-40B4-BE49-F238E27FC236}">
                <a16:creationId xmlns:a16="http://schemas.microsoft.com/office/drawing/2014/main" xmlns="" id="{D67B44D9-FC1E-C840-A05C-19101DE6261F}"/>
              </a:ext>
            </a:extLst>
          </p:cNvPr>
          <p:cNvSpPr txBox="1"/>
          <p:nvPr/>
        </p:nvSpPr>
        <p:spPr>
          <a:xfrm>
            <a:off x="5529015" y="1267005"/>
            <a:ext cx="3487498" cy="3046988"/>
          </a:xfrm>
          <a:prstGeom prst="rect">
            <a:avLst/>
          </a:prstGeom>
          <a:noFill/>
          <a:ln w="19050">
            <a:solidFill>
              <a:schemeClr val="accent1">
                <a:lumMod val="50000"/>
              </a:schemeClr>
            </a:solidFill>
          </a:ln>
        </p:spPr>
        <p:txBody>
          <a:bodyPr wrap="square" rtlCol="0">
            <a:spAutoFit/>
          </a:bodyPr>
          <a:lstStyle/>
          <a:p>
            <a:r>
              <a:rPr lang="en-US" sz="1200" b="1" dirty="0">
                <a:latin typeface="Helvetica" panose="020B0604020202020204" pitchFamily="34" charset="0"/>
                <a:ea typeface="Helvetica Neue" charset="0"/>
                <a:cs typeface="Helvetica" panose="020B0604020202020204" pitchFamily="34" charset="0"/>
              </a:rPr>
              <a:t>Assumptions:</a:t>
            </a:r>
          </a:p>
          <a:p>
            <a:r>
              <a:rPr lang="en-US" sz="1200" i="1" dirty="0">
                <a:latin typeface="Helvetica" panose="020B0604020202020204" pitchFamily="34" charset="0"/>
                <a:ea typeface="Helvetica Neue" charset="0"/>
                <a:cs typeface="Helvetica" panose="020B0604020202020204" pitchFamily="34" charset="0"/>
              </a:rPr>
              <a:t>Linearity:</a:t>
            </a:r>
            <a:r>
              <a:rPr lang="en-US" sz="1200" b="1" i="1" dirty="0">
                <a:latin typeface="Helvetica" panose="020B0604020202020204" pitchFamily="34" charset="0"/>
                <a:ea typeface="Helvetica Neue" charset="0"/>
                <a:cs typeface="Helvetica" panose="020B0604020202020204" pitchFamily="34" charset="0"/>
              </a:rPr>
              <a:t> </a:t>
            </a:r>
            <a:r>
              <a:rPr lang="en-US" sz="1200" dirty="0">
                <a:latin typeface="Helvetica" panose="020B0604020202020204" pitchFamily="34" charset="0"/>
                <a:ea typeface="Helvetica Neue" charset="0"/>
                <a:cs typeface="Helvetica" panose="020B0604020202020204" pitchFamily="34" charset="0"/>
              </a:rPr>
              <a:t>No pattern in the residuals with respect to the predicting variable.</a:t>
            </a:r>
          </a:p>
          <a:p>
            <a:r>
              <a:rPr lang="en-US" sz="1200" i="1" dirty="0">
                <a:latin typeface="Helvetica" panose="020B0604020202020204" pitchFamily="34" charset="0"/>
                <a:ea typeface="Helvetica Neue" charset="0"/>
                <a:cs typeface="Helvetica" panose="020B0604020202020204" pitchFamily="34" charset="0"/>
              </a:rPr>
              <a:t>Constant Variance: </a:t>
            </a:r>
            <a:r>
              <a:rPr lang="en-US" sz="1200" dirty="0">
                <a:latin typeface="Helvetica" panose="020B0604020202020204" pitchFamily="34" charset="0"/>
                <a:ea typeface="Helvetica Neue" charset="0"/>
                <a:cs typeface="Helvetica" panose="020B0604020202020204" pitchFamily="34" charset="0"/>
              </a:rPr>
              <a:t>The variance is higher for higher fitted values. Does not hold.</a:t>
            </a:r>
          </a:p>
          <a:p>
            <a:r>
              <a:rPr lang="en-US" sz="1200" i="1" dirty="0">
                <a:latin typeface="Helvetica" panose="020B0604020202020204" pitchFamily="34" charset="0"/>
                <a:ea typeface="Helvetica Neue" charset="0"/>
                <a:cs typeface="Helvetica" panose="020B0604020202020204" pitchFamily="34" charset="0"/>
              </a:rPr>
              <a:t>Uncorrelated Errors: </a:t>
            </a:r>
            <a:r>
              <a:rPr lang="en-US" sz="1200" dirty="0">
                <a:latin typeface="Helvetica" panose="020B0604020202020204" pitchFamily="34" charset="0"/>
                <a:ea typeface="Helvetica Neue" charset="0"/>
                <a:cs typeface="Helvetica" panose="020B0604020202020204" pitchFamily="34" charset="0"/>
              </a:rPr>
              <a:t>No grouping of the residuals</a:t>
            </a:r>
          </a:p>
          <a:p>
            <a:r>
              <a:rPr lang="en-US" sz="1200" i="1" dirty="0">
                <a:latin typeface="Helvetica" panose="020B0604020202020204" pitchFamily="34" charset="0"/>
                <a:ea typeface="Helvetica Neue" charset="0"/>
                <a:cs typeface="Helvetica" panose="020B0604020202020204" pitchFamily="34" charset="0"/>
              </a:rPr>
              <a:t>Normality</a:t>
            </a:r>
            <a:r>
              <a:rPr lang="en-US" sz="1200" dirty="0">
                <a:latin typeface="Helvetica" panose="020B0604020202020204" pitchFamily="34" charset="0"/>
                <a:ea typeface="Helvetica Neue" charset="0"/>
                <a:cs typeface="Helvetica" panose="020B0604020202020204" pitchFamily="34" charset="0"/>
              </a:rPr>
              <a:t>: Except for the presence of an outlier, it is reasonably symmetric.</a:t>
            </a:r>
          </a:p>
          <a:p>
            <a:endParaRPr lang="en-US" sz="1200" dirty="0">
              <a:latin typeface="Helvetica" panose="020B0604020202020204" pitchFamily="34" charset="0"/>
              <a:ea typeface="Helvetica Neue" charset="0"/>
              <a:cs typeface="Helvetica" panose="020B0604020202020204" pitchFamily="34" charset="0"/>
            </a:endParaRPr>
          </a:p>
          <a:p>
            <a:r>
              <a:rPr lang="en-US" sz="1200" b="1" dirty="0">
                <a:latin typeface="Helvetica" panose="020B0604020202020204" pitchFamily="34" charset="0"/>
                <a:ea typeface="Helvetica Neue" charset="0"/>
                <a:cs typeface="Helvetica" panose="020B0604020202020204" pitchFamily="34" charset="0"/>
              </a:rPr>
              <a:t>Outliers </a:t>
            </a:r>
            <a:r>
              <a:rPr lang="en-US" sz="1200" i="1" dirty="0">
                <a:latin typeface="Helvetica" panose="020B0604020202020204" pitchFamily="34" charset="0"/>
                <a:ea typeface="Helvetica Neue" charset="0"/>
                <a:cs typeface="Helvetica" panose="020B0604020202020204" pitchFamily="34" charset="0"/>
              </a:rPr>
              <a:t>(observations for which the residual value is away from the range)</a:t>
            </a:r>
            <a:r>
              <a:rPr lang="en-US" sz="1200" b="1" dirty="0">
                <a:latin typeface="Helvetica" panose="020B0604020202020204" pitchFamily="34" charset="0"/>
                <a:ea typeface="Helvetica Neue" charset="0"/>
                <a:cs typeface="Helvetica" panose="020B0604020202020204" pitchFamily="34" charset="0"/>
              </a:rPr>
              <a:t>:</a:t>
            </a:r>
            <a:endParaRPr lang="en-US" sz="1200" dirty="0">
              <a:latin typeface="Helvetica" panose="020B0604020202020204" pitchFamily="34" charset="0"/>
              <a:ea typeface="Helvetica Neue" charset="0"/>
              <a:cs typeface="Helvetica" panose="020B0604020202020204" pitchFamily="34" charset="0"/>
            </a:endParaRPr>
          </a:p>
          <a:p>
            <a:r>
              <a:rPr lang="en-US" sz="1200" dirty="0">
                <a:latin typeface="Helvetica" panose="020B0604020202020204" pitchFamily="34" charset="0"/>
                <a:ea typeface="Helvetica Neue" charset="0"/>
                <a:cs typeface="Helvetica" panose="020B0604020202020204" pitchFamily="34" charset="0"/>
              </a:rPr>
              <a:t>The isolated point in the residual plots is Indonesia. Would omitting Indonesia change anything? The strength of the relationship would increase, but so the rejection of PPP.   </a:t>
            </a:r>
          </a:p>
        </p:txBody>
      </p:sp>
      <p:pic>
        <p:nvPicPr>
          <p:cNvPr id="7" name="Picture 6"/>
          <p:cNvPicPr>
            <a:picLocks noChangeAspect="1"/>
          </p:cNvPicPr>
          <p:nvPr/>
        </p:nvPicPr>
        <p:blipFill>
          <a:blip r:embed="rId3"/>
          <a:stretch>
            <a:fillRect/>
          </a:stretch>
        </p:blipFill>
        <p:spPr>
          <a:xfrm>
            <a:off x="251847" y="1291708"/>
            <a:ext cx="5218360" cy="3218297"/>
          </a:xfrm>
          <a:prstGeom prst="rect">
            <a:avLst/>
          </a:prstGeom>
        </p:spPr>
      </p:pic>
    </p:spTree>
    <p:extLst>
      <p:ext uri="{BB962C8B-B14F-4D97-AF65-F5344CB8AC3E}">
        <p14:creationId xmlns:p14="http://schemas.microsoft.com/office/powerpoint/2010/main" val="3194395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extBox 1"/>
          <p:cNvSpPr txBox="1">
            <a:spLocks noChangeArrowheads="1"/>
          </p:cNvSpPr>
          <p:nvPr/>
        </p:nvSpPr>
        <p:spPr bwMode="auto">
          <a:xfrm>
            <a:off x="138357" y="1006407"/>
            <a:ext cx="8370212" cy="28623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b="1" dirty="0">
                <a:latin typeface="Helvetica" charset="0"/>
                <a:ea typeface="Helvetica" charset="0"/>
                <a:cs typeface="Helvetica" charset="0"/>
              </a:rPr>
              <a:t>Findings</a:t>
            </a:r>
            <a:r>
              <a:rPr lang="en-US" altLang="en-US" dirty="0">
                <a:latin typeface="Helvetica" charset="0"/>
                <a:ea typeface="Helvetica" charset="0"/>
                <a:cs typeface="Helvetica" charset="0"/>
              </a:rPr>
              <a:t>:</a:t>
            </a:r>
          </a:p>
          <a:p>
            <a:pPr marL="342893" indent="-342893">
              <a:buFont typeface="Arial" panose="020B0604020202020204" pitchFamily="34" charset="0"/>
              <a:buChar char="•"/>
            </a:pPr>
            <a:r>
              <a:rPr lang="en-US" altLang="en-US" dirty="0">
                <a:latin typeface="Helvetica" charset="0"/>
                <a:ea typeface="Helvetica" charset="0"/>
                <a:cs typeface="Helvetica" charset="0"/>
              </a:rPr>
              <a:t>Support is decidedly mixed</a:t>
            </a:r>
          </a:p>
          <a:p>
            <a:pPr marL="342893" indent="-342893">
              <a:buFont typeface="Arial" panose="020B0604020202020204" pitchFamily="34" charset="0"/>
              <a:buChar char="•"/>
            </a:pPr>
            <a:r>
              <a:rPr lang="en-US" altLang="en-US" dirty="0">
                <a:latin typeface="Helvetica" charset="0"/>
                <a:ea typeface="Helvetica" charset="0"/>
                <a:cs typeface="Helvetica" charset="0"/>
              </a:rPr>
              <a:t>Developed countries: </a:t>
            </a:r>
          </a:p>
          <a:p>
            <a:pPr marL="1085828" lvl="1" indent="-342893">
              <a:buFont typeface="Arial" panose="020B0604020202020204" pitchFamily="34" charset="0"/>
              <a:buChar char="•"/>
            </a:pPr>
            <a:r>
              <a:rPr lang="en-US" altLang="en-US" dirty="0">
                <a:latin typeface="Helvetica" charset="0"/>
                <a:ea typeface="Helvetica" charset="0"/>
                <a:cs typeface="Helvetica" charset="0"/>
              </a:rPr>
              <a:t>Changes in inflation difference do seem to be balanced by exchange rate changes</a:t>
            </a:r>
          </a:p>
          <a:p>
            <a:pPr marL="1085828" lvl="1" indent="-342893">
              <a:buFont typeface="Arial" panose="020B0604020202020204" pitchFamily="34" charset="0"/>
              <a:buChar char="•"/>
            </a:pPr>
            <a:r>
              <a:rPr lang="en-US" altLang="en-US" dirty="0">
                <a:latin typeface="Helvetica" charset="0"/>
                <a:ea typeface="Helvetica" charset="0"/>
                <a:cs typeface="Helvetica" charset="0"/>
              </a:rPr>
              <a:t>One outlier: Greece</a:t>
            </a:r>
          </a:p>
          <a:p>
            <a:pPr marL="342893" indent="-342893">
              <a:buFont typeface="Arial" panose="020B0604020202020204" pitchFamily="34" charset="0"/>
              <a:buChar char="•"/>
            </a:pPr>
            <a:r>
              <a:rPr lang="en-US" altLang="en-US" dirty="0">
                <a:latin typeface="Helvetica" charset="0"/>
                <a:ea typeface="Helvetica" charset="0"/>
                <a:cs typeface="Helvetica" charset="0"/>
              </a:rPr>
              <a:t>Developing countries: </a:t>
            </a:r>
          </a:p>
          <a:p>
            <a:pPr marL="1085828" lvl="1" indent="-342893">
              <a:buFont typeface="Arial" panose="020B0604020202020204" pitchFamily="34" charset="0"/>
              <a:buChar char="•"/>
            </a:pPr>
            <a:r>
              <a:rPr lang="en-US" altLang="en-US" dirty="0">
                <a:latin typeface="Helvetica" charset="0"/>
                <a:ea typeface="Helvetica" charset="0"/>
                <a:cs typeface="Helvetica" charset="0"/>
              </a:rPr>
              <a:t>The case for PPP is considerably weaker;</a:t>
            </a:r>
          </a:p>
          <a:p>
            <a:pPr marL="1085828" lvl="1" indent="-342893">
              <a:buFont typeface="Arial" panose="020B0604020202020204" pitchFamily="34" charset="0"/>
              <a:buChar char="•"/>
            </a:pPr>
            <a:r>
              <a:rPr lang="en-US" altLang="en-US" dirty="0">
                <a:latin typeface="Helvetica" charset="0"/>
                <a:ea typeface="Helvetica" charset="0"/>
                <a:cs typeface="Helvetica" charset="0"/>
              </a:rPr>
              <a:t>Brazil and Indonesia</a:t>
            </a:r>
          </a:p>
          <a:p>
            <a:pPr marL="342893" indent="-342893">
              <a:buFont typeface="Arial" panose="020B0604020202020204" pitchFamily="34" charset="0"/>
              <a:buChar char="•"/>
            </a:pPr>
            <a:r>
              <a:rPr lang="en-US" altLang="en-US" dirty="0">
                <a:latin typeface="Helvetica" charset="0"/>
                <a:ea typeface="Helvetica" charset="0"/>
                <a:cs typeface="Helvetica" charset="0"/>
              </a:rPr>
              <a:t>PPP is not robust to unusual economic or political conditions </a:t>
            </a:r>
            <a:endParaRPr lang="en-US" altLang="en-US" i="1" dirty="0">
              <a:latin typeface="Helvetica" charset="0"/>
              <a:ea typeface="Helvetica" charset="0"/>
              <a:cs typeface="Helvetica" charset="0"/>
            </a:endParaRPr>
          </a:p>
        </p:txBody>
      </p:sp>
      <p:sp>
        <p:nvSpPr>
          <p:cNvPr id="6" name="Title 1"/>
          <p:cNvSpPr txBox="1">
            <a:spLocks/>
          </p:cNvSpPr>
          <p:nvPr/>
        </p:nvSpPr>
        <p:spPr>
          <a:xfrm>
            <a:off x="138356" y="270467"/>
            <a:ext cx="8711176" cy="652559"/>
          </a:xfrm>
          <a:prstGeom prst="rect">
            <a:avLst/>
          </a:prstGeom>
        </p:spPr>
        <p:txBody>
          <a:bodyP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en-US" sz="3200" dirty="0">
                <a:latin typeface="Vitesse" charset="0"/>
                <a:ea typeface="Vitesse" charset="0"/>
                <a:cs typeface="Vitesse" charset="0"/>
              </a:rPr>
              <a:t>Testing the Theory of Purchasing Power Parity </a:t>
            </a:r>
          </a:p>
        </p:txBody>
      </p:sp>
    </p:spTree>
    <p:extLst>
      <p:ext uri="{BB962C8B-B14F-4D97-AF65-F5344CB8AC3E}">
        <p14:creationId xmlns:p14="http://schemas.microsoft.com/office/powerpoint/2010/main" val="2671857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130156" y="238732"/>
            <a:ext cx="4727575" cy="1330325"/>
          </a:xfrm>
        </p:spPr>
        <p:txBody>
          <a:bodyPr>
            <a:normAutofit/>
          </a:bodyPr>
          <a:lstStyle/>
          <a:p>
            <a:pPr>
              <a:spcBef>
                <a:spcPct val="0"/>
              </a:spcBef>
            </a:pPr>
            <a:r>
              <a:rPr lang="en-US" sz="3600" dirty="0">
                <a:latin typeface="Vitesse" charset="0"/>
                <a:ea typeface="Vitesse" charset="0"/>
                <a:cs typeface="Vitesse" charset="0"/>
              </a:rPr>
              <a:t>Summary</a:t>
            </a: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7759" t="6607" r="13881" b="7744"/>
          <a:stretch/>
        </p:blipFill>
        <p:spPr>
          <a:xfrm>
            <a:off x="1161904" y="1285661"/>
            <a:ext cx="2201521" cy="2406315"/>
          </a:xfrm>
          <a:prstGeom prst="rect">
            <a:avLst/>
          </a:prstGeom>
        </p:spPr>
      </p:pic>
    </p:spTree>
    <p:extLst>
      <p:ext uri="{BB962C8B-B14F-4D97-AF65-F5344CB8AC3E}">
        <p14:creationId xmlns:p14="http://schemas.microsoft.com/office/powerpoint/2010/main" val="173288935"/>
      </p:ext>
    </p:extLst>
  </p:cSld>
  <p:clrMapOvr>
    <a:masterClrMapping/>
  </p:clrMapOvr>
</p:sld>
</file>

<file path=ppt/theme/theme1.xml><?xml version="1.0" encoding="utf-8"?>
<a:theme xmlns:a="http://schemas.openxmlformats.org/drawingml/2006/main" name="1_Half Page Slas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lnSpc>
            <a:spcPts val="1200"/>
          </a:lnSpc>
          <a:defRPr sz="1200" dirty="0" smtClean="0">
            <a:solidFill>
              <a:srgbClr val="000000"/>
            </a:solidFill>
            <a:latin typeface="Helvetica"/>
            <a:cs typeface="Helvetica"/>
          </a:defRPr>
        </a:defPPr>
      </a:lstStyle>
    </a:txDef>
  </a:objectDefaults>
  <a:extraClrSchemeLst/>
</a:theme>
</file>

<file path=ppt/theme/theme2.xml><?xml version="1.0" encoding="utf-8"?>
<a:theme xmlns:a="http://schemas.openxmlformats.org/drawingml/2006/main" name="Half Page Slas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lnSpc>
            <a:spcPts val="1200"/>
          </a:lnSpc>
          <a:defRPr sz="1200" dirty="0" smtClean="0">
            <a:solidFill>
              <a:srgbClr val="000000"/>
            </a:solidFill>
            <a:latin typeface="Helvetica"/>
            <a:cs typeface="Helvetica"/>
          </a:defRPr>
        </a:defPPr>
      </a:lstStyle>
    </a:txDef>
  </a:objectDefaults>
  <a:extraClrSchemeLst/>
</a:theme>
</file>

<file path=ppt/theme/theme3.xml><?xml version="1.0" encoding="utf-8"?>
<a:theme xmlns:a="http://schemas.openxmlformats.org/drawingml/2006/main" name="Full Page Layou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16D43FDACDF02458C96071D7628C880" ma:contentTypeVersion="4" ma:contentTypeDescription="Create a new document." ma:contentTypeScope="" ma:versionID="93db545676783a71a92c456b471b0a8b">
  <xsd:schema xmlns:xsd="http://www.w3.org/2001/XMLSchema" xmlns:xs="http://www.w3.org/2001/XMLSchema" xmlns:p="http://schemas.microsoft.com/office/2006/metadata/properties" xmlns:ns1="http://schemas.microsoft.com/sharepoint/v3" xmlns:ns2="b057fda7-913b-4ab6-8820-932873bcd66c" targetNamespace="http://schemas.microsoft.com/office/2006/metadata/properties" ma:root="true" ma:fieldsID="1e1586ca1b53aa448b4e9fddfe24baf2" ns1:_="" ns2:_="">
    <xsd:import namespace="http://schemas.microsoft.com/sharepoint/v3"/>
    <xsd:import namespace="b057fda7-913b-4ab6-8820-932873bcd66c"/>
    <xsd:element name="properties">
      <xsd:complexType>
        <xsd:sequence>
          <xsd:element name="documentManagement">
            <xsd:complexType>
              <xsd:all>
                <xsd:element ref="ns1:PublishingStartDate" minOccurs="0"/>
                <xsd:element ref="ns1:PublishingExpirationDate" minOccurs="0"/>
                <xsd:element ref="ns2:SharedWithUsers" minOccurs="0"/>
                <xsd:element ref="ns2:SharingHintHash"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057fda7-913b-4ab6-8820-932873bcd66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11" nillable="true" ma:displayName="Sharing Hint Hash" ma:internalName="SharingHintHash" ma:readOnly="true">
      <xsd:simpleType>
        <xsd:restriction base="dms:Text"/>
      </xsd:simple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8EF043-B0E6-49AE-B312-D395614284AA}">
  <ds:schemaRefs>
    <ds:schemaRef ds:uri="http://schemas.microsoft.com/sharepoint/v3/contenttype/forms"/>
  </ds:schemaRefs>
</ds:datastoreItem>
</file>

<file path=customXml/itemProps2.xml><?xml version="1.0" encoding="utf-8"?>
<ds:datastoreItem xmlns:ds="http://schemas.openxmlformats.org/officeDocument/2006/customXml" ds:itemID="{A0B8D62D-BE99-40AF-BF97-BFAE812B12CE}">
  <ds:schemaRefs>
    <ds:schemaRef ds:uri="http://schemas.microsoft.com/sharepoint/v3"/>
    <ds:schemaRef ds:uri="http://purl.org/dc/terms/"/>
    <ds:schemaRef ds:uri="http://schemas.openxmlformats.org/package/2006/metadata/core-properties"/>
    <ds:schemaRef ds:uri="http://purl.org/dc/dcmitype/"/>
    <ds:schemaRef ds:uri="http://schemas.microsoft.com/office/infopath/2007/PartnerControls"/>
    <ds:schemaRef ds:uri="http://purl.org/dc/elements/1.1/"/>
    <ds:schemaRef ds:uri="http://schemas.microsoft.com/office/2006/documentManagement/types"/>
    <ds:schemaRef ds:uri="http://schemas.microsoft.com/office/2006/metadata/properties"/>
    <ds:schemaRef ds:uri="b057fda7-913b-4ab6-8820-932873bcd66c"/>
    <ds:schemaRef ds:uri="http://www.w3.org/XML/1998/namespace"/>
  </ds:schemaRefs>
</ds:datastoreItem>
</file>

<file path=customXml/itemProps3.xml><?xml version="1.0" encoding="utf-8"?>
<ds:datastoreItem xmlns:ds="http://schemas.openxmlformats.org/officeDocument/2006/customXml" ds:itemID="{E066AAC9-B2D0-46BD-87E7-92BBFA7E10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057fda7-913b-4ab6-8820-932873bcd66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2346</TotalTime>
  <Words>1078</Words>
  <Application>Microsoft Office PowerPoint</Application>
  <PresentationFormat>On-screen Show (16:9)</PresentationFormat>
  <Paragraphs>121</Paragraphs>
  <Slides>12</Slides>
  <Notes>9</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12</vt:i4>
      </vt:variant>
    </vt:vector>
  </HeadingPairs>
  <TitlesOfParts>
    <vt:vector size="24" baseType="lpstr">
      <vt:lpstr>Arial</vt:lpstr>
      <vt:lpstr>Calibri</vt:lpstr>
      <vt:lpstr>Cambria Math</vt:lpstr>
      <vt:lpstr>Helvetica</vt:lpstr>
      <vt:lpstr>Helvetica Neue</vt:lpstr>
      <vt:lpstr>Vitesse</vt:lpstr>
      <vt:lpstr>Vitesse Bold</vt:lpstr>
      <vt:lpstr>Vitesse Book</vt:lpstr>
      <vt:lpstr>Vitesse Medium</vt:lpstr>
      <vt:lpstr>1_Half Page Slash</vt:lpstr>
      <vt:lpstr>Half Page Slash</vt:lpstr>
      <vt:lpstr>Full Page Layout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Richard Levine</dc:creator>
  <cp:lastModifiedBy>Aymee Garcia</cp:lastModifiedBy>
  <cp:revision>215</cp:revision>
  <dcterms:modified xsi:type="dcterms:W3CDTF">2021-01-25T10:18:21Z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0x010100E16D43FDACDF02458C96071D7628C880</vt:lpwstr>
  </property>
</Properties>
</file>