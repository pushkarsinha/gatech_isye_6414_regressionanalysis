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7" r:id="rId4"/>
    <p:sldMasterId id="2147483705" r:id="rId5"/>
    <p:sldMasterId id="2147483699" r:id="rId6"/>
  </p:sldMasterIdLst>
  <p:notesMasterIdLst>
    <p:notesMasterId r:id="rId18"/>
  </p:notesMasterIdLst>
  <p:handoutMasterIdLst>
    <p:handoutMasterId r:id="rId19"/>
  </p:handoutMasterIdLst>
  <p:sldIdLst>
    <p:sldId id="428" r:id="rId7"/>
    <p:sldId id="429" r:id="rId8"/>
    <p:sldId id="258" r:id="rId9"/>
    <p:sldId id="280" r:id="rId10"/>
    <p:sldId id="292" r:id="rId11"/>
    <p:sldId id="261" r:id="rId12"/>
    <p:sldId id="298" r:id="rId13"/>
    <p:sldId id="293" r:id="rId14"/>
    <p:sldId id="297" r:id="rId15"/>
    <p:sldId id="294" r:id="rId16"/>
    <p:sldId id="439" r:id="rId17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C567BE6-4E2E-2A45-BD72-59F9659A3211}">
          <p14:sldIdLst>
            <p14:sldId id="428"/>
            <p14:sldId id="429"/>
            <p14:sldId id="258"/>
            <p14:sldId id="280"/>
            <p14:sldId id="292"/>
            <p14:sldId id="261"/>
            <p14:sldId id="298"/>
            <p14:sldId id="293"/>
            <p14:sldId id="297"/>
            <p14:sldId id="294"/>
            <p14:sldId id="43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 userDrawn="1">
          <p15:clr>
            <a:srgbClr val="A4A3A4"/>
          </p15:clr>
        </p15:guide>
        <p15:guide id="3" pos="144" userDrawn="1">
          <p15:clr>
            <a:srgbClr val="A4A3A4"/>
          </p15:clr>
        </p15:guide>
        <p15:guide id="4" orient="horz" pos="444" userDrawn="1">
          <p15:clr>
            <a:srgbClr val="A4A3A4"/>
          </p15:clr>
        </p15:guide>
        <p15:guide id="5" orient="horz" pos="804" userDrawn="1">
          <p15:clr>
            <a:srgbClr val="A4A3A4"/>
          </p15:clr>
        </p15:guide>
        <p15:guide id="6" pos="3456" userDrawn="1">
          <p15:clr>
            <a:srgbClr val="A4A3A4"/>
          </p15:clr>
        </p15:guide>
        <p15:guide id="7" pos="432" userDrawn="1">
          <p15:clr>
            <a:srgbClr val="A4A3A4"/>
          </p15:clr>
        </p15:guide>
        <p15:guide id="8" pos="2568" userDrawn="1">
          <p15:clr>
            <a:srgbClr val="A4A3A4"/>
          </p15:clr>
        </p15:guide>
        <p15:guide id="9" pos="79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7" name="Rodriguez, Ramon S" initials="RRS" lastIdx="1" clrIdx="6">
    <p:extLst>
      <p:ext uri="{19B8F6BF-5375-455C-9EA6-DF929625EA0E}">
        <p15:presenceInfo xmlns:p15="http://schemas.microsoft.com/office/powerpoint/2012/main" userId="S-1-5-21-1177238915-2111687655-1060284298-1451345" providerId="AD"/>
      </p:ext>
    </p:extLst>
  </p:cmAuthor>
  <p:cmAuthor id="1" name="Figueroa, Shabana" initials="FS" lastIdx="16" clrIdx="0"/>
  <p:cmAuthor id="8" name="Gao, Shuyu" initials="GS" lastIdx="1" clrIdx="7">
    <p:extLst>
      <p:ext uri="{19B8F6BF-5375-455C-9EA6-DF929625EA0E}">
        <p15:presenceInfo xmlns:p15="http://schemas.microsoft.com/office/powerpoint/2012/main" userId="S::sgao303@gatech.edu::745fdf33-32d9-42c7-8a89-b5a22794559e" providerId="AD"/>
      </p:ext>
    </p:extLst>
  </p:cmAuthor>
  <p:cmAuthor id="2" name="Figueroa, Shabana" initials="FS [2]" lastIdx="1" clrIdx="1"/>
  <p:cmAuthor id="3" name="Serban, Nicoleta" initials="SN" lastIdx="12" clrIdx="2"/>
  <p:cmAuthor id="4" name="Hu, Rui" initials="HR" lastIdx="1" clrIdx="3"/>
  <p:cmAuthor id="5" name="Hu, Rui" initials="HR [2]" lastIdx="1" clrIdx="4"/>
  <p:cmAuthor id="6" name="Richard Levine" initials="RL" lastIdx="2" clrIdx="5">
    <p:extLst>
      <p:ext uri="{19B8F6BF-5375-455C-9EA6-DF929625EA0E}">
        <p15:presenceInfo xmlns:p15="http://schemas.microsoft.com/office/powerpoint/2012/main" userId="Richard Levine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FA70B"/>
    <a:srgbClr val="F8FFF1"/>
    <a:srgbClr val="000000"/>
    <a:srgbClr val="EEB211"/>
    <a:srgbClr val="993200"/>
    <a:srgbClr val="F7FFEE"/>
    <a:srgbClr val="F5FCEA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521" autoAdjust="0"/>
    <p:restoredTop sz="92400" autoAdjust="0"/>
  </p:normalViewPr>
  <p:slideViewPr>
    <p:cSldViewPr snapToGrid="0">
      <p:cViewPr varScale="1">
        <p:scale>
          <a:sx n="104" d="100"/>
          <a:sy n="104" d="100"/>
        </p:scale>
        <p:origin x="826" y="82"/>
      </p:cViewPr>
      <p:guideLst>
        <p:guide orient="horz" pos="1620"/>
        <p:guide pos="2880"/>
        <p:guide pos="144"/>
        <p:guide orient="horz" pos="444"/>
        <p:guide orient="horz" pos="804"/>
        <p:guide pos="3456"/>
        <p:guide pos="432"/>
        <p:guide pos="2568"/>
        <p:guide pos="79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theme" Target="theme/theme1.xml"/><Relationship Id="rId10" Type="http://schemas.openxmlformats.org/officeDocument/2006/relationships/slide" Target="slides/slide4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DFD447-ACB1-BC49-B8EF-23729E0A333F}" type="datetimeFigureOut">
              <a:rPr lang="en-US" smtClean="0"/>
              <a:t>8/15/2020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EF598F-7A46-204A-ADDD-A1229C86B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1738FA-185A-CF4F-BD02-7990310E47F3}" type="datetimeFigureOut">
              <a:rPr lang="en-US" smtClean="0"/>
              <a:t>8/15/2020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3F7A93-C87A-E149-BF89-5D793380F1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 sz="800" i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EB0A727-CD93-43DD-ACDD-AAF4F8395EA0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5699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BE3481-38DB-434B-B170-CFE83842A57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2289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EB0A727-CD93-43DD-ACDD-AAF4F8395EA0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8590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BE3481-38DB-434B-B170-CFE83842A57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9538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481920" y="1421266"/>
            <a:ext cx="4727575" cy="133032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63025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5520941" cy="993775"/>
          </a:xfrm>
          <a:prstGeom prst="rect">
            <a:avLst/>
          </a:prstGeom>
        </p:spPr>
        <p:txBody>
          <a:bodyPr/>
          <a:lstStyle>
            <a:lvl1pPr algn="l">
              <a:defRPr lang="en-US" sz="44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>
          <a:xfrm>
            <a:off x="628649" y="1436688"/>
            <a:ext cx="4375430" cy="2994025"/>
          </a:xfrm>
          <a:prstGeom prst="rect">
            <a:avLst/>
          </a:prstGeom>
        </p:spPr>
        <p:txBody>
          <a:bodyPr/>
          <a:lstStyle>
            <a:lvl1pPr>
              <a:defRPr>
                <a:latin typeface="Vitesse Book" charset="0"/>
                <a:ea typeface="Vitesse Book" charset="0"/>
                <a:cs typeface="Vitesse Book" charset="0"/>
              </a:defRPr>
            </a:lvl1pPr>
            <a:lvl2pPr>
              <a:defRPr>
                <a:latin typeface="Vitesse Book" charset="0"/>
                <a:ea typeface="Vitesse Book" charset="0"/>
                <a:cs typeface="Vitesse Book" charset="0"/>
              </a:defRPr>
            </a:lvl2pPr>
            <a:lvl3pPr>
              <a:defRPr>
                <a:latin typeface="Vitesse Book" charset="0"/>
                <a:ea typeface="Vitesse Book" charset="0"/>
                <a:cs typeface="Vitesse Book" charset="0"/>
              </a:defRPr>
            </a:lvl3pPr>
            <a:lvl4pPr>
              <a:defRPr>
                <a:latin typeface="Vitesse Book" charset="0"/>
                <a:ea typeface="Vitesse Book" charset="0"/>
                <a:cs typeface="Vitesse Book" charset="0"/>
              </a:defRPr>
            </a:lvl4pPr>
            <a:lvl5pPr>
              <a:defRPr>
                <a:latin typeface="Vitesse Book" charset="0"/>
                <a:ea typeface="Vitesse Book" charset="0"/>
                <a:cs typeface="Vitesse Book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94431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002E78-3C88-9A40-B579-FA4DB2691E4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607370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18051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4F0668-60AC-E24C-8E50-B74DE0FA4F0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510021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52349" y="274678"/>
            <a:ext cx="8562392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23062657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5"/>
          <p:cNvSpPr>
            <a:spLocks noGrp="1"/>
          </p:cNvSpPr>
          <p:nvPr>
            <p:ph sz="quarter" idx="10"/>
          </p:nvPr>
        </p:nvSpPr>
        <p:spPr>
          <a:xfrm>
            <a:off x="252349" y="1268453"/>
            <a:ext cx="8280166" cy="3519917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Helvetica" charset="0"/>
                <a:ea typeface="Helvetica" charset="0"/>
                <a:cs typeface="Helvetica" charset="0"/>
              </a:defRPr>
            </a:lvl1pPr>
            <a:lvl2pPr>
              <a:defRPr sz="1800">
                <a:latin typeface="Helvetica" charset="0"/>
                <a:ea typeface="Helvetica" charset="0"/>
                <a:cs typeface="Helvetica" charset="0"/>
              </a:defRPr>
            </a:lvl2pPr>
            <a:lvl3pPr>
              <a:defRPr sz="1800">
                <a:latin typeface="Helvetica" charset="0"/>
                <a:ea typeface="Helvetica" charset="0"/>
                <a:cs typeface="Helvetica" charset="0"/>
              </a:defRPr>
            </a:lvl3pPr>
            <a:lvl4pPr>
              <a:defRPr sz="1800">
                <a:latin typeface="Helvetica" charset="0"/>
                <a:ea typeface="Helvetica" charset="0"/>
                <a:cs typeface="Helvetica" charset="0"/>
              </a:defRPr>
            </a:lvl4pPr>
            <a:lvl5pPr>
              <a:defRPr sz="1800">
                <a:latin typeface="Helvetica" charset="0"/>
                <a:ea typeface="Helvetica" charset="0"/>
                <a:cs typeface="Helvetica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52349" y="274678"/>
            <a:ext cx="8280166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41825185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"/>
          <p:cNvSpPr>
            <a:spLocks noGrp="1"/>
          </p:cNvSpPr>
          <p:nvPr>
            <p:ph sz="quarter" idx="10" hasCustomPrompt="1"/>
          </p:nvPr>
        </p:nvSpPr>
        <p:spPr>
          <a:xfrm>
            <a:off x="252347" y="1268453"/>
            <a:ext cx="8449503" cy="3286125"/>
          </a:xfrm>
          <a:prstGeom prst="rect">
            <a:avLst/>
          </a:prstGeom>
        </p:spPr>
        <p:txBody>
          <a:bodyPr/>
          <a:lstStyle>
            <a:lvl1pPr marL="0" indent="0">
              <a:buFont typeface="Arial"/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b="1" dirty="0" err="1">
                <a:latin typeface="Helvetica"/>
                <a:cs typeface="Helvetica"/>
              </a:rPr>
              <a:t>Lorem</a:t>
            </a:r>
            <a:r>
              <a:rPr lang="en-US" b="1" dirty="0">
                <a:latin typeface="Helvetica"/>
                <a:cs typeface="Helvetica"/>
              </a:rPr>
              <a:t> </a:t>
            </a:r>
            <a:r>
              <a:rPr lang="en-US" b="1" dirty="0" err="1">
                <a:latin typeface="Helvetica"/>
                <a:cs typeface="Helvetica"/>
              </a:rPr>
              <a:t>Ipsum</a:t>
            </a:r>
            <a:r>
              <a:rPr lang="en-US" b="1" dirty="0">
                <a:latin typeface="Helvetica"/>
                <a:cs typeface="Helvetica"/>
              </a:rPr>
              <a:t> is simply dummy text </a:t>
            </a:r>
          </a:p>
          <a:p>
            <a:r>
              <a:rPr lang="en-US" sz="1800" dirty="0"/>
              <a:t>of the printing and typesetting industry. </a:t>
            </a:r>
            <a:r>
              <a:rPr lang="en-US" sz="1800" dirty="0" err="1"/>
              <a:t>Lorem</a:t>
            </a:r>
            <a:r>
              <a:rPr lang="en-US" sz="1800" dirty="0"/>
              <a:t> </a:t>
            </a:r>
            <a:r>
              <a:rPr lang="en-US" sz="1800" dirty="0" err="1"/>
              <a:t>Ipsum</a:t>
            </a:r>
            <a:r>
              <a:rPr lang="en-US" sz="1800" dirty="0"/>
              <a:t> has been the industry's standard dummy text ever since the 1500s, when an unknown printer took a galley of type and scrambled it to make a type specimen book. </a:t>
            </a:r>
          </a:p>
          <a:p>
            <a:endParaRPr lang="en-US" sz="1800" dirty="0"/>
          </a:p>
          <a:p>
            <a:r>
              <a:rPr lang="en-US" b="1" dirty="0"/>
              <a:t>It has survived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not only five centuries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but also the leap into electronic typesetting, 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remaining essentially unchanged. 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52348" y="274678"/>
            <a:ext cx="8449503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30929079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Text +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0" hasCustomPrompt="1"/>
          </p:nvPr>
        </p:nvSpPr>
        <p:spPr>
          <a:xfrm>
            <a:off x="233538" y="1110075"/>
            <a:ext cx="3595277" cy="3612444"/>
          </a:xfrm>
          <a:prstGeom prst="rect">
            <a:avLst/>
          </a:prstGeom>
        </p:spPr>
        <p:txBody>
          <a:bodyPr/>
          <a:lstStyle>
            <a:lvl1pPr marL="0" indent="0">
              <a:buFont typeface="Arial"/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b="1" dirty="0" err="1">
                <a:latin typeface="Helvetica"/>
                <a:cs typeface="Helvetica"/>
              </a:rPr>
              <a:t>Lorem</a:t>
            </a:r>
            <a:r>
              <a:rPr lang="en-US" b="1" dirty="0">
                <a:latin typeface="Helvetica"/>
                <a:cs typeface="Helvetica"/>
              </a:rPr>
              <a:t> </a:t>
            </a:r>
            <a:r>
              <a:rPr lang="en-US" b="1" dirty="0" err="1">
                <a:latin typeface="Helvetica"/>
                <a:cs typeface="Helvetica"/>
              </a:rPr>
              <a:t>Ipsum</a:t>
            </a:r>
            <a:r>
              <a:rPr lang="en-US" b="1" dirty="0">
                <a:latin typeface="Helvetica"/>
                <a:cs typeface="Helvetica"/>
              </a:rPr>
              <a:t> is simply dummy text.</a:t>
            </a:r>
          </a:p>
          <a:p>
            <a:endParaRPr lang="en-US" sz="1800" dirty="0"/>
          </a:p>
          <a:p>
            <a:r>
              <a:rPr lang="en-US" b="1" dirty="0"/>
              <a:t>It has survived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not only five centuries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but also the leap into electronic typesetting, 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remaining essentially unchanged. </a:t>
            </a:r>
          </a:p>
        </p:txBody>
      </p:sp>
      <p:sp>
        <p:nvSpPr>
          <p:cNvPr id="6" name="Chart Placeholder 3"/>
          <p:cNvSpPr>
            <a:spLocks noGrp="1"/>
          </p:cNvSpPr>
          <p:nvPr>
            <p:ph type="chart" sz="quarter" idx="11"/>
          </p:nvPr>
        </p:nvSpPr>
        <p:spPr>
          <a:xfrm>
            <a:off x="3828815" y="1110075"/>
            <a:ext cx="4948296" cy="36124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252348" y="274678"/>
            <a:ext cx="8186095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1671983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art Placeholder 3"/>
          <p:cNvSpPr>
            <a:spLocks noGrp="1"/>
          </p:cNvSpPr>
          <p:nvPr>
            <p:ph type="chart" sz="quarter" idx="10"/>
          </p:nvPr>
        </p:nvSpPr>
        <p:spPr>
          <a:xfrm>
            <a:off x="252349" y="1268453"/>
            <a:ext cx="8110832" cy="356431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endParaRPr lang="en-US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52348" y="274678"/>
            <a:ext cx="8186095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29975240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002E78-3C88-9A40-B579-FA4DB2691E4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206883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3"/>
          <p:cNvSpPr>
            <a:spLocks noGrp="1"/>
          </p:cNvSpPr>
          <p:nvPr>
            <p:ph type="tbl" sz="quarter" idx="10"/>
          </p:nvPr>
        </p:nvSpPr>
        <p:spPr>
          <a:xfrm>
            <a:off x="241300" y="492125"/>
            <a:ext cx="4491474" cy="36576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1136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Full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542439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theme" Target="../theme/theme2.xml"/><Relationship Id="rId5" Type="http://schemas.openxmlformats.org/officeDocument/2006/relationships/image" Target="../media/image1.jpg"/><Relationship Id="rId4" Type="http://schemas.openxmlformats.org/officeDocument/2006/relationships/image" Target="../media/image4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image" Target="../media/image4.png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image" Target="../media/image3.png"/><Relationship Id="rId5" Type="http://schemas.openxmlformats.org/officeDocument/2006/relationships/slideLayout" Target="../slideLayouts/slideLayout10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9.xml"/><Relationship Id="rId9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13BCFA4D-1CC5-4243-98FC-591DF878C6E5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1246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0" y="0"/>
            <a:ext cx="9142647" cy="5144187"/>
            <a:chOff x="0" y="0"/>
            <a:chExt cx="9142647" cy="5144187"/>
          </a:xfrm>
        </p:grpSpPr>
        <p:pic>
          <p:nvPicPr>
            <p:cNvPr id="5" name="Picture 4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 flipH="1" flipV="1">
              <a:off x="5423765" y="2211757"/>
              <a:ext cx="3718882" cy="293243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xmlns="" id="{5BC3A035-B0EE-3A43-AADA-02BA46FB093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8111132" y="4644572"/>
              <a:ext cx="945783" cy="401634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0" y="0"/>
              <a:ext cx="3719590" cy="2933934"/>
            </a:xfrm>
            <a:prstGeom prst="rect">
              <a:avLst/>
            </a:prstGeom>
          </p:spPr>
        </p:pic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13BCFA4D-1CC5-4243-98FC-591DF878C6E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7365758"/>
      </p:ext>
    </p:extLst>
  </p:cSld>
  <p:clrMap bg1="lt1" tx1="dk1" bg2="lt2" tx2="dk2" accent1="accent1" accent2="accent2" accent3="accent3" accent4="accent4" accent5="accent5" accent6="accent6" hlink="hlink" folHlink="folHlink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0" y="0"/>
            <a:ext cx="9142647" cy="5144187"/>
            <a:chOff x="0" y="0"/>
            <a:chExt cx="9142647" cy="5144187"/>
          </a:xfrm>
        </p:grpSpPr>
        <p:pic>
          <p:nvPicPr>
            <p:cNvPr id="4" name="Picture 3"/>
            <p:cNvPicPr>
              <a:picLocks noChangeAspect="1"/>
            </p:cNvPicPr>
            <p:nvPr userDrawn="1"/>
          </p:nvPicPr>
          <p:blipFill>
            <a:blip r:embed="rId10"/>
            <a:stretch>
              <a:fillRect/>
            </a:stretch>
          </p:blipFill>
          <p:spPr>
            <a:xfrm flipH="1" flipV="1">
              <a:off x="5423765" y="2211757"/>
              <a:ext cx="3718882" cy="293243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xmlns="" id="{5BC3A035-B0EE-3A43-AADA-02BA46FB093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/>
            <a:stretch>
              <a:fillRect/>
            </a:stretch>
          </p:blipFill>
          <p:spPr>
            <a:xfrm>
              <a:off x="8111132" y="4644572"/>
              <a:ext cx="945783" cy="401634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 userDrawn="1"/>
          </p:nvPicPr>
          <p:blipFill>
            <a:blip r:embed="rId12"/>
            <a:stretch>
              <a:fillRect/>
            </a:stretch>
          </p:blipFill>
          <p:spPr>
            <a:xfrm>
              <a:off x="0" y="0"/>
              <a:ext cx="3719590" cy="293393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43656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6" r:id="rId6"/>
    <p:sldLayoutId id="2147483709" r:id="rId7"/>
    <p:sldLayoutId id="2147483710" r:id="rId8"/>
  </p:sldLayoutIdLst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Font typeface="Arial"/>
        <a:buNone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/>
        </p:nvSpPr>
        <p:spPr>
          <a:xfrm>
            <a:off x="117956" y="228858"/>
            <a:ext cx="5691763" cy="712848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lang="en-US" sz="4000" b="0" i="0" kern="1200" dirty="0">
                <a:solidFill>
                  <a:schemeClr val="tx1"/>
                </a:solidFill>
                <a:latin typeface="Vitesse Bold"/>
                <a:ea typeface="Vitesse" charset="0"/>
                <a:cs typeface="Vitesse Bold"/>
              </a:defRPr>
            </a:lvl1pPr>
          </a:lstStyle>
          <a:p>
            <a:r>
              <a:rPr lang="en-US" sz="3600" dirty="0">
                <a:latin typeface="Vitesse" charset="0"/>
                <a:cs typeface="Vitesse" charset="0"/>
              </a:rPr>
              <a:t>Regression Analysis</a:t>
            </a:r>
          </a:p>
        </p:txBody>
      </p:sp>
      <p:sp>
        <p:nvSpPr>
          <p:cNvPr id="6" name="Text Placeholder 2"/>
          <p:cNvSpPr>
            <a:spLocks noGrp="1"/>
          </p:cNvSpPr>
          <p:nvPr/>
        </p:nvSpPr>
        <p:spPr>
          <a:xfrm>
            <a:off x="117956" y="740369"/>
            <a:ext cx="5511340" cy="542236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lang="en-US" sz="3000" b="0" i="0" kern="1200" dirty="0">
                <a:solidFill>
                  <a:schemeClr val="tx2"/>
                </a:solidFill>
                <a:latin typeface="Vitesse Medium" charset="0"/>
                <a:ea typeface="Vitesse Medium" charset="0"/>
                <a:cs typeface="Vitesse Medium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Simple Linear Regression</a:t>
            </a:r>
          </a:p>
        </p:txBody>
      </p:sp>
      <p:sp>
        <p:nvSpPr>
          <p:cNvPr id="7" name="Text Placeholder 3"/>
          <p:cNvSpPr>
            <a:spLocks noGrp="1"/>
          </p:cNvSpPr>
          <p:nvPr/>
        </p:nvSpPr>
        <p:spPr>
          <a:xfrm>
            <a:off x="117957" y="2018346"/>
            <a:ext cx="4305091" cy="432669"/>
          </a:xfrm>
          <a:prstGeom prst="rect">
            <a:avLst/>
          </a:prstGeom>
        </p:spPr>
        <p:txBody>
          <a:bodyPr anchor="ctr"/>
          <a:lstStyle>
            <a:lvl1pPr marL="0" indent="0" algn="l" defTabSz="457200" rtl="0" eaLnBrk="1" latinLnBrk="0" hangingPunct="1">
              <a:lnSpc>
                <a:spcPts val="1400"/>
              </a:lnSpc>
              <a:spcBef>
                <a:spcPct val="20000"/>
              </a:spcBef>
              <a:buFont typeface="Arial"/>
              <a:buNone/>
              <a:defRPr lang="en-US" sz="2400" b="1" kern="1200" baseline="0" dirty="0">
                <a:solidFill>
                  <a:srgbClr val="EEB21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  <a:p>
            <a:r>
              <a:rPr lang="en-US" dirty="0" err="1"/>
              <a:t>Nicoleta</a:t>
            </a:r>
            <a:r>
              <a:rPr lang="en-US" dirty="0"/>
              <a:t> </a:t>
            </a:r>
            <a:r>
              <a:rPr lang="en-US" dirty="0" err="1"/>
              <a:t>Serban</a:t>
            </a:r>
            <a:r>
              <a:rPr lang="en-US" dirty="0"/>
              <a:t>, Ph.D. </a:t>
            </a:r>
          </a:p>
        </p:txBody>
      </p:sp>
      <p:sp>
        <p:nvSpPr>
          <p:cNvPr id="8" name="Text Placeholder 4"/>
          <p:cNvSpPr>
            <a:spLocks noGrp="1"/>
          </p:cNvSpPr>
          <p:nvPr/>
        </p:nvSpPr>
        <p:spPr>
          <a:xfrm>
            <a:off x="108550" y="2376336"/>
            <a:ext cx="4305091" cy="254281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b="0" i="1" kern="1200" baseline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Professor </a:t>
            </a:r>
          </a:p>
        </p:txBody>
      </p:sp>
      <p:sp>
        <p:nvSpPr>
          <p:cNvPr id="9" name="Text Placeholder 5"/>
          <p:cNvSpPr>
            <a:spLocks noGrp="1"/>
          </p:cNvSpPr>
          <p:nvPr/>
        </p:nvSpPr>
        <p:spPr>
          <a:xfrm>
            <a:off x="126136" y="3885645"/>
            <a:ext cx="4305091" cy="878110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400" b="0" i="0" kern="1200" baseline="0">
                <a:solidFill>
                  <a:schemeClr val="tx2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latin typeface="Helvetica" panose="020B0604020202020204" pitchFamily="34" charset="0"/>
                <a:cs typeface="Helvetica" panose="020B0604020202020204" pitchFamily="34" charset="0"/>
              </a:rPr>
              <a:t>Testing the Theory of Purchasing Power Parity (Part 1)</a:t>
            </a:r>
            <a:endParaRPr lang="en-US" sz="2000" dirty="0">
              <a:latin typeface="Helvetica" panose="020B0604020202020204" pitchFamily="34" charset="0"/>
              <a:ea typeface="Vitesse" charset="0"/>
              <a:cs typeface="Helvetica" panose="020B0604020202020204" pitchFamily="34" charset="0"/>
            </a:endParaRPr>
          </a:p>
        </p:txBody>
      </p:sp>
      <p:sp>
        <p:nvSpPr>
          <p:cNvPr id="10" name="Text Placeholder 6"/>
          <p:cNvSpPr>
            <a:spLocks noGrp="1"/>
          </p:cNvSpPr>
          <p:nvPr/>
        </p:nvSpPr>
        <p:spPr>
          <a:xfrm>
            <a:off x="117956" y="2661666"/>
            <a:ext cx="4305091" cy="322253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200" b="0" i="0" kern="1200" baseline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School of Industrial and Systems Engineering</a:t>
            </a:r>
          </a:p>
        </p:txBody>
      </p:sp>
    </p:spTree>
    <p:extLst>
      <p:ext uri="{BB962C8B-B14F-4D97-AF65-F5344CB8AC3E}">
        <p14:creationId xmlns:p14="http://schemas.microsoft.com/office/powerpoint/2010/main" val="16933392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20" t="7499" r="15454" b="5507"/>
          <a:stretch/>
        </p:blipFill>
        <p:spPr>
          <a:xfrm>
            <a:off x="1237534" y="1285661"/>
            <a:ext cx="2069432" cy="2619446"/>
          </a:xfrm>
          <a:prstGeom prst="rect">
            <a:avLst/>
          </a:prstGeom>
        </p:spPr>
      </p:pic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143478" y="-135358"/>
            <a:ext cx="4727575" cy="1330325"/>
          </a:xfrm>
        </p:spPr>
        <p:txBody>
          <a:bodyPr anchor="ctr">
            <a:normAutofit/>
          </a:bodyPr>
          <a:lstStyle/>
          <a:p>
            <a:pPr>
              <a:spcBef>
                <a:spcPct val="0"/>
              </a:spcBef>
            </a:pPr>
            <a:r>
              <a:rPr lang="en-US" sz="3600" dirty="0">
                <a:latin typeface="Vitesse" charset="0"/>
                <a:ea typeface="Vitesse" charset="0"/>
                <a:cs typeface="Vitesse" charset="0"/>
              </a:rPr>
              <a:t>About This Lesson</a:t>
            </a:r>
          </a:p>
        </p:txBody>
      </p:sp>
    </p:spTree>
    <p:extLst>
      <p:ext uri="{BB962C8B-B14F-4D97-AF65-F5344CB8AC3E}">
        <p14:creationId xmlns:p14="http://schemas.microsoft.com/office/powerpoint/2010/main" val="1499955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134816" y="217601"/>
            <a:ext cx="8412836" cy="974498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en-US" sz="3600" dirty="0">
                <a:latin typeface="Vitesse" charset="0"/>
                <a:ea typeface="Vitesse" charset="0"/>
                <a:cs typeface="Vitesse" charset="0"/>
              </a:rPr>
              <a:t>Testing the Theory of Purchasing Power Parity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9F9F9"/>
              </a:clrFrom>
              <a:clrTo>
                <a:srgbClr val="F9F9F9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802" t="10636" r="9911" b="14302"/>
          <a:stretch/>
        </p:blipFill>
        <p:spPr>
          <a:xfrm>
            <a:off x="887765" y="813592"/>
            <a:ext cx="3445695" cy="397130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0A128A82-BF2A-4112-B1E6-D1FA012C8EC8}"/>
              </a:ext>
            </a:extLst>
          </p:cNvPr>
          <p:cNvSpPr txBox="1"/>
          <p:nvPr/>
        </p:nvSpPr>
        <p:spPr>
          <a:xfrm>
            <a:off x="5422791" y="1429835"/>
            <a:ext cx="299764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u="sng" dirty="0">
                <a:latin typeface="Helvetica" panose="020B0604020202020204" pitchFamily="34" charset="0"/>
                <a:cs typeface="Helvetica" panose="020B0604020202020204" pitchFamily="34" charset="0"/>
              </a:rPr>
              <a:t>Acknowledgment</a:t>
            </a:r>
            <a:r>
              <a:rPr lang="en-US" i="1" dirty="0">
                <a:latin typeface="Helvetica" panose="020B0604020202020204" pitchFamily="34" charset="0"/>
                <a:cs typeface="Helvetica" panose="020B0604020202020204" pitchFamily="34" charset="0"/>
              </a:rPr>
              <a:t>: This example was made available by Dr. Jeffrey </a:t>
            </a:r>
            <a:r>
              <a:rPr lang="en-US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Simonoff</a:t>
            </a:r>
            <a:r>
              <a:rPr lang="en-US" i="1" dirty="0">
                <a:latin typeface="Helvetica" panose="020B0604020202020204" pitchFamily="34" charset="0"/>
                <a:cs typeface="Helvetica" panose="020B0604020202020204" pitchFamily="34" charset="0"/>
              </a:rPr>
              <a:t> from the New York University.</a:t>
            </a:r>
          </a:p>
        </p:txBody>
      </p:sp>
    </p:spTree>
    <p:extLst>
      <p:ext uri="{BB962C8B-B14F-4D97-AF65-F5344CB8AC3E}">
        <p14:creationId xmlns:p14="http://schemas.microsoft.com/office/powerpoint/2010/main" val="94044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1"/>
              <p:cNvSpPr txBox="1">
                <a:spLocks noChangeArrowheads="1"/>
              </p:cNvSpPr>
              <p:nvPr/>
            </p:nvSpPr>
            <p:spPr bwMode="auto">
              <a:xfrm>
                <a:off x="144376" y="1016768"/>
                <a:ext cx="8867163" cy="1011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r>
                  <a:rPr lang="en-US" altLang="en-US" b="1" i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Response Variable: </a:t>
                </a:r>
                <a:r>
                  <a:rPr lang="en-US" altLang="en-US" dirty="0">
                    <a:latin typeface="Helvetica" panose="020B0604020202020204" pitchFamily="34" charset="0"/>
                    <a:ea typeface="KishoreFont Medium" charset="0"/>
                    <a:cs typeface="Helvetica" panose="020B0604020202020204" pitchFamily="34" charset="0"/>
                  </a:rPr>
                  <a:t>Average annual change in the exchange rate</a:t>
                </a:r>
              </a:p>
              <a:p>
                <a:endParaRPr lang="en-US" altLang="en-US" sz="1600" dirty="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en-US" sz="1400" i="1">
                            <a:latin typeface="Cambria Math" panose="02040503050406030204" pitchFamily="18" charset="0"/>
                            <a:ea typeface="KishoreFont Medium" charset="0"/>
                            <a:cs typeface="KishoreFont Medium" charset="0"/>
                          </a:rPr>
                        </m:ctrlPr>
                      </m:fPr>
                      <m:num>
                        <m:func>
                          <m:funcPr>
                            <m:ctrlPr>
                              <a:rPr lang="en-US" altLang="en-US" sz="1400" i="1">
                                <a:latin typeface="Cambria Math" panose="02040503050406030204" pitchFamily="18" charset="0"/>
                                <a:ea typeface="KishoreFont Medium" charset="0"/>
                                <a:cs typeface="KishoreFont Medium" charset="0"/>
                              </a:rPr>
                            </m:ctrlPr>
                          </m:funcPr>
                          <m:fName>
                            <m:r>
                              <m:rPr>
                                <m:nor/>
                              </m:rPr>
                              <a:rPr lang="en-US" altLang="en-US" sz="1400">
                                <a:latin typeface="Helvetica" panose="020B0604020202020204" pitchFamily="34" charset="0"/>
                                <a:ea typeface="KishoreFont Medium" charset="0"/>
                                <a:cs typeface="Helvetica" panose="020B0604020202020204" pitchFamily="34" charset="0"/>
                              </a:rPr>
                              <m:t>ln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altLang="en-US" sz="1400" i="1">
                                    <a:latin typeface="Cambria Math" panose="02040503050406030204" pitchFamily="18" charset="0"/>
                                    <a:ea typeface="KishoreFont Medium" charset="0"/>
                                    <a:cs typeface="KishoreFont Medium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nor/>
                                  </m:rPr>
                                  <a:rPr lang="en-US" altLang="en-US" sz="1400">
                                    <a:latin typeface="Helvetica" panose="020B0604020202020204" pitchFamily="34" charset="0"/>
                                    <a:ea typeface="KishoreFont Medium" charset="0"/>
                                    <a:cs typeface="Helvetica" panose="020B0604020202020204" pitchFamily="34" charset="0"/>
                                  </a:rPr>
                                  <m:t>Exclange</m:t>
                                </m:r>
                                <m:r>
                                  <m:rPr>
                                    <m:nor/>
                                  </m:rPr>
                                  <a:rPr lang="en-US" altLang="en-US" sz="1400">
                                    <a:latin typeface="Helvetica" panose="020B0604020202020204" pitchFamily="34" charset="0"/>
                                    <a:ea typeface="KishoreFont Medium" charset="0"/>
                                    <a:cs typeface="Helvetica" panose="020B0604020202020204" pitchFamily="34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en-US" sz="1400">
                                    <a:latin typeface="Helvetica" panose="020B0604020202020204" pitchFamily="34" charset="0"/>
                                    <a:ea typeface="KishoreFont Medium" charset="0"/>
                                    <a:cs typeface="Helvetica" panose="020B0604020202020204" pitchFamily="34" charset="0"/>
                                  </a:rPr>
                                  <m:t>Rate</m:t>
                                </m:r>
                                <m:r>
                                  <m:rPr>
                                    <m:nor/>
                                  </m:rPr>
                                  <a:rPr lang="en-US" altLang="en-US" sz="1400">
                                    <a:latin typeface="Helvetica" panose="020B0604020202020204" pitchFamily="34" charset="0"/>
                                    <a:ea typeface="KishoreFont Medium" charset="0"/>
                                    <a:cs typeface="Helvetica" panose="020B0604020202020204" pitchFamily="34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en-US" sz="1400">
                                    <a:latin typeface="Helvetica" panose="020B0604020202020204" pitchFamily="34" charset="0"/>
                                    <a:ea typeface="KishoreFont Medium" charset="0"/>
                                    <a:cs typeface="Helvetica" panose="020B0604020202020204" pitchFamily="34" charset="0"/>
                                  </a:rPr>
                                  <m:t>for</m:t>
                                </m:r>
                                <m:r>
                                  <m:rPr>
                                    <m:nor/>
                                  </m:rPr>
                                  <a:rPr lang="en-US" altLang="en-US" sz="1400">
                                    <a:latin typeface="Helvetica" panose="020B0604020202020204" pitchFamily="34" charset="0"/>
                                    <a:ea typeface="KishoreFont Medium" charset="0"/>
                                    <a:cs typeface="Helvetica" panose="020B0604020202020204" pitchFamily="34" charset="0"/>
                                  </a:rPr>
                                  <m:t> 2012</m:t>
                                </m:r>
                              </m:e>
                            </m:d>
                          </m:e>
                        </m:func>
                        <m:r>
                          <m:rPr>
                            <m:nor/>
                          </m:rPr>
                          <a:rPr lang="en-US" altLang="en-US" sz="1400">
                            <a:latin typeface="Helvetica" panose="020B0604020202020204" pitchFamily="34" charset="0"/>
                            <a:ea typeface="KishoreFont Medium" charset="0"/>
                            <a:cs typeface="Helvetica" panose="020B0604020202020204" pitchFamily="34" charset="0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en-US" altLang="en-US" sz="1400">
                            <a:latin typeface="Helvetica" panose="020B0604020202020204" pitchFamily="34" charset="0"/>
                            <a:ea typeface="KishoreFont Medium" charset="0"/>
                            <a:cs typeface="Helvetica" panose="020B0604020202020204" pitchFamily="34" charset="0"/>
                          </a:rPr>
                          <m:t>ln</m:t>
                        </m:r>
                        <m:r>
                          <m:rPr>
                            <m:nor/>
                          </m:rPr>
                          <a:rPr lang="en-US" altLang="en-US" sz="1400">
                            <a:latin typeface="Helvetica" panose="020B0604020202020204" pitchFamily="34" charset="0"/>
                            <a:ea typeface="KishoreFont Medium" charset="0"/>
                            <a:cs typeface="Helvetica" panose="020B0604020202020204" pitchFamily="34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altLang="en-US" sz="1400">
                            <a:latin typeface="Helvetica" panose="020B0604020202020204" pitchFamily="34" charset="0"/>
                            <a:ea typeface="KishoreFont Medium" charset="0"/>
                            <a:cs typeface="Helvetica" panose="020B0604020202020204" pitchFamily="34" charset="0"/>
                          </a:rPr>
                          <m:t>Exchange</m:t>
                        </m:r>
                        <m:r>
                          <m:rPr>
                            <m:nor/>
                          </m:rPr>
                          <a:rPr lang="en-US" altLang="en-US" sz="1400">
                            <a:latin typeface="Helvetica" panose="020B0604020202020204" pitchFamily="34" charset="0"/>
                            <a:ea typeface="KishoreFont Medium" charset="0"/>
                            <a:cs typeface="Helvetica" panose="020B0604020202020204" pitchFamily="34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en-US" sz="1400">
                            <a:latin typeface="Helvetica" panose="020B0604020202020204" pitchFamily="34" charset="0"/>
                            <a:ea typeface="KishoreFont Medium" charset="0"/>
                            <a:cs typeface="Helvetica" panose="020B0604020202020204" pitchFamily="34" charset="0"/>
                          </a:rPr>
                          <m:t>Rate</m:t>
                        </m:r>
                        <m:r>
                          <m:rPr>
                            <m:nor/>
                          </m:rPr>
                          <a:rPr lang="en-US" altLang="en-US" sz="1400">
                            <a:latin typeface="Helvetica" panose="020B0604020202020204" pitchFamily="34" charset="0"/>
                            <a:ea typeface="KishoreFont Medium" charset="0"/>
                            <a:cs typeface="Helvetica" panose="020B0604020202020204" pitchFamily="34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en-US" sz="1400">
                            <a:latin typeface="Helvetica" panose="020B0604020202020204" pitchFamily="34" charset="0"/>
                            <a:ea typeface="KishoreFont Medium" charset="0"/>
                            <a:cs typeface="Helvetica" panose="020B0604020202020204" pitchFamily="34" charset="0"/>
                          </a:rPr>
                          <m:t>for</m:t>
                        </m:r>
                        <m:r>
                          <m:rPr>
                            <m:nor/>
                          </m:rPr>
                          <a:rPr lang="en-US" altLang="en-US" sz="1400">
                            <a:latin typeface="Helvetica" panose="020B0604020202020204" pitchFamily="34" charset="0"/>
                            <a:ea typeface="KishoreFont Medium" charset="0"/>
                            <a:cs typeface="Helvetica" panose="020B0604020202020204" pitchFamily="34" charset="0"/>
                          </a:rPr>
                          <m:t> 1975)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altLang="en-US" sz="1400">
                            <a:latin typeface="Helvetica" panose="020B0604020202020204" pitchFamily="34" charset="0"/>
                            <a:ea typeface="KishoreFont Medium" charset="0"/>
                            <a:cs typeface="Helvetica" panose="020B0604020202020204" pitchFamily="34" charset="0"/>
                          </a:rPr>
                          <m:t>no</m:t>
                        </m:r>
                        <m:r>
                          <m:rPr>
                            <m:nor/>
                          </m:rPr>
                          <a:rPr lang="en-US" altLang="en-US" sz="1400">
                            <a:latin typeface="Helvetica" panose="020B0604020202020204" pitchFamily="34" charset="0"/>
                            <a:ea typeface="KishoreFont Medium" charset="0"/>
                            <a:cs typeface="Helvetica" panose="020B0604020202020204" pitchFamily="34" charset="0"/>
                          </a:rPr>
                          <m:t>.  </m:t>
                        </m:r>
                        <m:r>
                          <m:rPr>
                            <m:nor/>
                          </m:rPr>
                          <a:rPr lang="en-US" altLang="en-US" sz="1400">
                            <a:latin typeface="Helvetica" panose="020B0604020202020204" pitchFamily="34" charset="0"/>
                            <a:ea typeface="KishoreFont Medium" charset="0"/>
                            <a:cs typeface="Helvetica" panose="020B0604020202020204" pitchFamily="34" charset="0"/>
                          </a:rPr>
                          <m:t>years</m:t>
                        </m:r>
                      </m:den>
                    </m:f>
                  </m:oMath>
                </a14:m>
                <a:r>
                  <a:rPr lang="en-US" altLang="en-US" sz="1400" dirty="0">
                    <a:latin typeface="Helvetica" panose="020B0604020202020204" pitchFamily="34" charset="0"/>
                    <a:ea typeface="KishoreFont Medium" charset="0"/>
                    <a:cs typeface="Helvetica" panose="020B0604020202020204" pitchFamily="34" charset="0"/>
                  </a:rPr>
                  <a:t> % = </a:t>
                </a:r>
                <a:r>
                  <a:rPr lang="en-US" altLang="en-US" sz="1400" i="1" dirty="0">
                    <a:latin typeface="Helvetica" panose="020B0604020202020204" pitchFamily="34" charset="0"/>
                    <a:ea typeface="KishoreFont Medium" charset="0"/>
                    <a:cs typeface="Helvetica" panose="020B0604020202020204" pitchFamily="34" charset="0"/>
                  </a:rPr>
                  <a:t>Annualized Percentage Change</a:t>
                </a:r>
              </a:p>
            </p:txBody>
          </p:sp>
        </mc:Choice>
        <mc:Fallback xmlns="">
          <p:sp>
            <p:nvSpPr>
              <p:cNvPr id="3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4376" y="1016768"/>
                <a:ext cx="8867163" cy="1011174"/>
              </a:xfrm>
              <a:prstGeom prst="rect">
                <a:avLst/>
              </a:prstGeom>
              <a:blipFill>
                <a:blip r:embed="rId2"/>
                <a:stretch>
                  <a:fillRect l="-619" t="-3614" b="-602"/>
                </a:stretch>
              </a:blipFill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9503" y="2343142"/>
            <a:ext cx="3795939" cy="1918245"/>
          </a:xfrm>
          <a:prstGeom prst="rect">
            <a:avLst/>
          </a:prstGeom>
        </p:spPr>
      </p:pic>
      <p:sp>
        <p:nvSpPr>
          <p:cNvPr id="6" name="Title 1"/>
          <p:cNvSpPr txBox="1">
            <a:spLocks/>
          </p:cNvSpPr>
          <p:nvPr/>
        </p:nvSpPr>
        <p:spPr>
          <a:xfrm>
            <a:off x="114299" y="220970"/>
            <a:ext cx="7005387" cy="693430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en-US" sz="3600" dirty="0">
                <a:latin typeface="Vitesse" charset="0"/>
                <a:ea typeface="Vitesse" charset="0"/>
                <a:cs typeface="Vitesse" charset="0"/>
              </a:rPr>
              <a:t>Regression Variables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144376" y="2340477"/>
                <a:ext cx="4570747" cy="19209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en-US" b="1" i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Predicting Variable:</a:t>
                </a:r>
                <a:r>
                  <a:rPr lang="en-US" altLang="en-US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 Average of the </a:t>
                </a:r>
                <a:r>
                  <a:rPr lang="en-US" altLang="en-US" i="1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d</a:t>
                </a:r>
                <a:r>
                  <a:rPr lang="en-US" altLang="en-US" i="1" dirty="0">
                    <a:latin typeface="Helvetica" panose="020B0604020202020204" pitchFamily="34" charset="0"/>
                    <a:ea typeface="KishoreFont Medium" charset="0"/>
                    <a:cs typeface="Helvetica" panose="020B0604020202020204" pitchFamily="34" charset="0"/>
                  </a:rPr>
                  <a:t>ifference in annual inflation rates </a:t>
                </a:r>
                <a:r>
                  <a:rPr lang="en-US" altLang="en-US" dirty="0">
                    <a:latin typeface="Helvetica" panose="020B0604020202020204" pitchFamily="34" charset="0"/>
                    <a:ea typeface="KishoreFont Medium" charset="0"/>
                    <a:cs typeface="Helvetica" panose="020B0604020202020204" pitchFamily="34" charset="0"/>
                  </a:rPr>
                  <a:t>for a country vs U.S.</a:t>
                </a:r>
              </a:p>
              <a:p>
                <a:endParaRPr lang="en-US" altLang="en-US" dirty="0">
                  <a:latin typeface="Helvetica" panose="020B0604020202020204" pitchFamily="34" charset="0"/>
                  <a:ea typeface="KishoreFont Medium" charset="0"/>
                  <a:cs typeface="Helvetica" panose="020B06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en-US" sz="1400" i="1">
                              <a:latin typeface="Cambria Math" panose="02040503050406030204" pitchFamily="18" charset="0"/>
                              <a:ea typeface="KishoreFont Medium" charset="0"/>
                              <a:cs typeface="KishoreFont Medium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altLang="en-US" sz="1400">
                              <a:latin typeface="Helvetica" panose="020B0604020202020204" pitchFamily="34" charset="0"/>
                              <a:ea typeface="KishoreFont Medium" charset="0"/>
                              <a:cs typeface="Helvetica" panose="020B0604020202020204" pitchFamily="34" charset="0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US" altLang="en-US" sz="1400">
                              <a:latin typeface="Helvetica" panose="020B0604020202020204" pitchFamily="34" charset="0"/>
                              <a:ea typeface="KishoreFont Medium" charset="0"/>
                              <a:cs typeface="Helvetica" panose="020B0604020202020204" pitchFamily="34" charset="0"/>
                            </a:rPr>
                            <m:t>no</m:t>
                          </m:r>
                          <m:r>
                            <m:rPr>
                              <m:nor/>
                            </m:rPr>
                            <a:rPr lang="en-US" altLang="en-US" sz="1400">
                              <a:latin typeface="Helvetica" panose="020B0604020202020204" pitchFamily="34" charset="0"/>
                              <a:ea typeface="KishoreFont Medium" charset="0"/>
                              <a:cs typeface="Helvetica" panose="020B0604020202020204" pitchFamily="34" charset="0"/>
                            </a:rPr>
                            <m:t>. </m:t>
                          </m:r>
                          <m:r>
                            <m:rPr>
                              <m:nor/>
                            </m:rPr>
                            <a:rPr lang="en-US" altLang="en-US" sz="1400">
                              <a:latin typeface="Helvetica" panose="020B0604020202020204" pitchFamily="34" charset="0"/>
                              <a:ea typeface="KishoreFont Medium" charset="0"/>
                              <a:cs typeface="Helvetica" panose="020B0604020202020204" pitchFamily="34" charset="0"/>
                            </a:rPr>
                            <m:t>years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en-US" sz="1400" i="1">
                              <a:latin typeface="Cambria Math" panose="02040503050406030204" pitchFamily="18" charset="0"/>
                              <a:ea typeface="KishoreFont Medium" charset="0"/>
                              <a:cs typeface="KishoreFont Medium" charset="0"/>
                            </a:rPr>
                          </m:ctrlPr>
                        </m:naryPr>
                        <m:sub>
                          <m:r>
                            <m:rPr>
                              <m:nor/>
                              <m:brk m:alnAt="23"/>
                            </m:rPr>
                            <a:rPr lang="en-US" altLang="en-US" sz="1400">
                              <a:latin typeface="Helvetica" panose="020B0604020202020204" pitchFamily="34" charset="0"/>
                              <a:ea typeface="KishoreFont Medium" charset="0"/>
                              <a:cs typeface="Helvetica" panose="020B0604020202020204" pitchFamily="34" charset="0"/>
                            </a:rPr>
                            <m:t>y</m:t>
                          </m:r>
                          <m:r>
                            <m:rPr>
                              <m:nor/>
                            </m:rPr>
                            <a:rPr lang="en-US" altLang="en-US" sz="1400">
                              <a:latin typeface="Helvetica" panose="020B0604020202020204" pitchFamily="34" charset="0"/>
                              <a:ea typeface="KishoreFont Medium" charset="0"/>
                              <a:cs typeface="Helvetica" panose="020B0604020202020204" pitchFamily="34" charset="0"/>
                            </a:rPr>
                            <m:t>=1975</m:t>
                          </m:r>
                        </m:sub>
                        <m:sup>
                          <m:r>
                            <m:rPr>
                              <m:nor/>
                            </m:rPr>
                            <a:rPr lang="en-US" altLang="en-US" sz="1400">
                              <a:latin typeface="Helvetica" panose="020B0604020202020204" pitchFamily="34" charset="0"/>
                              <a:ea typeface="KishoreFont Medium" charset="0"/>
                              <a:cs typeface="Helvetica" panose="020B0604020202020204" pitchFamily="34" charset="0"/>
                            </a:rPr>
                            <m:t>2012</m:t>
                          </m:r>
                        </m:sup>
                        <m:e>
                          <m:d>
                            <m:dPr>
                              <m:ctrlPr>
                                <a:rPr lang="en-US" altLang="en-US" sz="1400" i="1">
                                  <a:latin typeface="Cambria Math" panose="02040503050406030204" pitchFamily="18" charset="0"/>
                                  <a:ea typeface="KishoreFont Medium" charset="0"/>
                                  <a:cs typeface="KishoreFont Medium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en-US" sz="1400" i="1">
                                      <a:latin typeface="Cambria Math" panose="02040503050406030204" pitchFamily="18" charset="0"/>
                                      <a:ea typeface="KishoreFont Medium" charset="0"/>
                                      <a:cs typeface="KishoreFont Medium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lang="en-US" altLang="en-US" sz="1400">
                                      <a:latin typeface="Helvetica" panose="020B0604020202020204" pitchFamily="34" charset="0"/>
                                      <a:ea typeface="KishoreFont Medium" charset="0"/>
                                      <a:cs typeface="Helvetica" panose="020B0604020202020204" pitchFamily="34" charset="0"/>
                                    </a:rPr>
                                    <m:t>Inflation</m:t>
                                  </m:r>
                                </m:e>
                                <m:sub>
                                  <m:r>
                                    <m:rPr>
                                      <m:nor/>
                                    </m:rPr>
                                    <a:rPr lang="en-US" altLang="en-US" sz="1400">
                                      <a:latin typeface="Helvetica" panose="020B0604020202020204" pitchFamily="34" charset="0"/>
                                      <a:ea typeface="KishoreFont Medium" charset="0"/>
                                      <a:cs typeface="Helvetica" panose="020B0604020202020204" pitchFamily="34" charset="0"/>
                                    </a:rPr>
                                    <m:t>y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en-US" sz="1400" i="1">
                                      <a:latin typeface="Cambria Math" panose="02040503050406030204" pitchFamily="18" charset="0"/>
                                      <a:ea typeface="KishoreFont Medium" charset="0"/>
                                      <a:cs typeface="KishoreFont Medium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nor/>
                                    </m:rPr>
                                    <a:rPr lang="en-US" altLang="en-US" sz="1400">
                                      <a:latin typeface="Helvetica" panose="020B0604020202020204" pitchFamily="34" charset="0"/>
                                      <a:ea typeface="KishoreFont Medium" charset="0"/>
                                      <a:cs typeface="Helvetica" panose="020B0604020202020204" pitchFamily="34" charset="0"/>
                                    </a:rPr>
                                    <m:t>U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en-US" sz="1400">
                                      <a:latin typeface="Helvetica" panose="020B0604020202020204" pitchFamily="34" charset="0"/>
                                      <a:ea typeface="KishoreFont Medium" charset="0"/>
                                      <a:cs typeface="Helvetica" panose="020B0604020202020204" pitchFamily="34" charset="0"/>
                                    </a:rPr>
                                    <m:t>.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en-US" sz="1400">
                                      <a:latin typeface="Helvetica" panose="020B0604020202020204" pitchFamily="34" charset="0"/>
                                      <a:ea typeface="KishoreFont Medium" charset="0"/>
                                      <a:cs typeface="Helvetica" panose="020B0604020202020204" pitchFamily="34" charset="0"/>
                                    </a:rPr>
                                    <m:t>S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en-US" sz="1400">
                                      <a:latin typeface="Helvetica" panose="020B0604020202020204" pitchFamily="34" charset="0"/>
                                      <a:ea typeface="KishoreFont Medium" charset="0"/>
                                      <a:cs typeface="Helvetica" panose="020B0604020202020204" pitchFamily="34" charset="0"/>
                                    </a:rPr>
                                    <m:t>.</m:t>
                                  </m:r>
                                </m:e>
                              </m:d>
                              <m:r>
                                <m:rPr>
                                  <m:nor/>
                                </m:rPr>
                                <a:rPr lang="en-US" altLang="en-US" sz="1400">
                                  <a:latin typeface="Helvetica" panose="020B0604020202020204" pitchFamily="34" charset="0"/>
                                  <a:ea typeface="KishoreFont Medium" charset="0"/>
                                  <a:cs typeface="Helvetica" panose="020B0604020202020204" pitchFamily="34" charset="0"/>
                                </a:rPr>
                                <m:t>− </m:t>
                              </m:r>
                              <m:sSub>
                                <m:sSubPr>
                                  <m:ctrlPr>
                                    <a:rPr lang="en-US" altLang="en-US" sz="1400" i="1">
                                      <a:latin typeface="Cambria Math" panose="02040503050406030204" pitchFamily="18" charset="0"/>
                                      <a:ea typeface="KishoreFont Medium" charset="0"/>
                                      <a:cs typeface="KishoreFont Medium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lang="en-US" altLang="en-US" sz="1400">
                                      <a:latin typeface="Helvetica" panose="020B0604020202020204" pitchFamily="34" charset="0"/>
                                      <a:ea typeface="KishoreFont Medium" charset="0"/>
                                      <a:cs typeface="Helvetica" panose="020B0604020202020204" pitchFamily="34" charset="0"/>
                                    </a:rPr>
                                    <m:t>Inflation</m:t>
                                  </m:r>
                                </m:e>
                                <m:sub>
                                  <m:r>
                                    <m:rPr>
                                      <m:nor/>
                                    </m:rPr>
                                    <a:rPr lang="en-US" altLang="en-US" sz="1400">
                                      <a:latin typeface="Helvetica" panose="020B0604020202020204" pitchFamily="34" charset="0"/>
                                      <a:ea typeface="KishoreFont Medium" charset="0"/>
                                      <a:cs typeface="Helvetica" panose="020B0604020202020204" pitchFamily="34" charset="0"/>
                                    </a:rPr>
                                    <m:t>y</m:t>
                                  </m:r>
                                </m:sub>
                              </m:sSub>
                              <m:r>
                                <m:rPr>
                                  <m:nor/>
                                </m:rPr>
                                <a:rPr lang="en-US" altLang="en-US" sz="1400">
                                  <a:latin typeface="Helvetica" panose="020B0604020202020204" pitchFamily="34" charset="0"/>
                                  <a:ea typeface="KishoreFont Medium" charset="0"/>
                                  <a:cs typeface="Helvetica" panose="020B0604020202020204" pitchFamily="34" charset="0"/>
                                </a:rPr>
                                <m:t>(</m:t>
                              </m:r>
                              <m:r>
                                <m:rPr>
                                  <m:nor/>
                                </m:rPr>
                                <a:rPr lang="en-US" altLang="en-US" sz="1400">
                                  <a:latin typeface="Helvetica" panose="020B0604020202020204" pitchFamily="34" charset="0"/>
                                  <a:ea typeface="KishoreFont Medium" charset="0"/>
                                  <a:cs typeface="Helvetica" panose="020B0604020202020204" pitchFamily="34" charset="0"/>
                                </a:rPr>
                                <m:t>Country</m:t>
                              </m:r>
                              <m:r>
                                <m:rPr>
                                  <m:nor/>
                                </m:rPr>
                                <a:rPr lang="en-US" altLang="en-US" sz="1400">
                                  <a:latin typeface="Helvetica" panose="020B0604020202020204" pitchFamily="34" charset="0"/>
                                  <a:ea typeface="KishoreFont Medium" charset="0"/>
                                  <a:cs typeface="Helvetica" panose="020B0604020202020204" pitchFamily="34" charset="0"/>
                                </a:rPr>
                                <m:t>)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US" dirty="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376" y="2340477"/>
                <a:ext cx="4570747" cy="1920910"/>
              </a:xfrm>
              <a:prstGeom prst="rect">
                <a:avLst/>
              </a:prstGeom>
              <a:blipFill>
                <a:blip r:embed="rId4"/>
                <a:stretch>
                  <a:fillRect l="-1202" t="-19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863637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111643" y="217971"/>
            <a:ext cx="6204229" cy="621089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en-US" sz="3600" dirty="0">
                <a:latin typeface="Vitesse" charset="0"/>
                <a:ea typeface="Vitesse" charset="0"/>
                <a:cs typeface="Vitesse" charset="0"/>
              </a:rPr>
              <a:t>Read the Data in 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9151" y="1048333"/>
            <a:ext cx="8832139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 dirty="0">
                <a:solidFill>
                  <a:srgbClr val="DFA70B"/>
                </a:solidFill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# Use </a:t>
            </a:r>
            <a:r>
              <a:rPr lang="en-US" sz="1500" b="1" dirty="0" err="1">
                <a:solidFill>
                  <a:srgbClr val="DFA70B"/>
                </a:solidFill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read.table</a:t>
            </a:r>
            <a:r>
              <a:rPr lang="en-US" sz="1500" b="1" dirty="0">
                <a:solidFill>
                  <a:srgbClr val="DFA70B"/>
                </a:solidFill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R command: pay attention to the file type to use the correct read file!#</a:t>
            </a:r>
          </a:p>
          <a:p>
            <a:pPr marL="396875"/>
            <a:r>
              <a:rPr lang="en-US" sz="15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ppp</a:t>
            </a:r>
            <a:r>
              <a:rPr lang="en-US" sz="15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= </a:t>
            </a:r>
            <a:r>
              <a:rPr lang="en-US" sz="15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read.table</a:t>
            </a:r>
            <a:r>
              <a:rPr lang="en-US" sz="15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("ppp.</a:t>
            </a:r>
            <a:r>
              <a:rPr lang="en-US" sz="15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dat</a:t>
            </a:r>
            <a:r>
              <a:rPr lang="en-US" sz="15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",</a:t>
            </a:r>
            <a:r>
              <a:rPr lang="en-US" sz="15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sep</a:t>
            </a:r>
            <a:r>
              <a:rPr lang="en-US" sz="15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="\t", header=T, </a:t>
            </a:r>
            <a:r>
              <a:rPr lang="en-US" sz="15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row.names</a:t>
            </a:r>
            <a:r>
              <a:rPr lang="en-US" sz="15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=NULL)</a:t>
            </a:r>
            <a:endParaRPr lang="en-US" sz="1500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r>
              <a:rPr lang="en-US" sz="1500" b="1" dirty="0">
                <a:solidFill>
                  <a:srgbClr val="DFA70B"/>
                </a:solidFill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## How many countries? </a:t>
            </a:r>
          </a:p>
          <a:p>
            <a:pPr marL="396875"/>
            <a:r>
              <a:rPr lang="en-US" sz="15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dim(</a:t>
            </a:r>
            <a:r>
              <a:rPr lang="en-US" sz="15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ppp</a:t>
            </a:r>
            <a:r>
              <a:rPr lang="en-US" sz="15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)</a:t>
            </a:r>
          </a:p>
          <a:p>
            <a:pPr marL="396875"/>
            <a:r>
              <a:rPr lang="en-US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[1] 40  4</a:t>
            </a:r>
            <a:endParaRPr lang="en-US" sz="1500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r>
              <a:rPr lang="en-US" sz="1500" b="1" dirty="0">
                <a:solidFill>
                  <a:srgbClr val="DFA70B"/>
                </a:solidFill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##  Brazil is an outlier and it was not included in the data set initially; I am adding it back as follows</a:t>
            </a:r>
          </a:p>
          <a:p>
            <a:pPr marL="396875"/>
            <a:r>
              <a:rPr lang="en-US" sz="15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Addp</a:t>
            </a:r>
            <a:r>
              <a:rPr lang="en-US" sz="15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= </a:t>
            </a:r>
            <a:r>
              <a:rPr lang="en-US" sz="15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data.frame</a:t>
            </a:r>
            <a:r>
              <a:rPr lang="en-US" sz="15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("Brazil",-76,-73,0)</a:t>
            </a:r>
          </a:p>
          <a:p>
            <a:pPr marL="396875"/>
            <a:r>
              <a:rPr lang="en-US" sz="15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names(</a:t>
            </a:r>
            <a:r>
              <a:rPr lang="en-US" sz="15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addp</a:t>
            </a:r>
            <a:r>
              <a:rPr lang="en-US" sz="15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) = names(</a:t>
            </a:r>
            <a:r>
              <a:rPr lang="en-US" sz="15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ppp</a:t>
            </a:r>
            <a:r>
              <a:rPr lang="en-US" sz="15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)</a:t>
            </a:r>
            <a:endParaRPr lang="en-US" sz="1500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r>
              <a:rPr lang="en-US" sz="1500" b="1" dirty="0">
                <a:solidFill>
                  <a:srgbClr val="DFA70B"/>
                </a:solidFill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## Save the data variables to be recognized by R as separate variables</a:t>
            </a:r>
          </a:p>
          <a:p>
            <a:pPr marL="396875"/>
            <a:r>
              <a:rPr lang="en-US" sz="15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ppp</a:t>
            </a:r>
            <a:r>
              <a:rPr lang="en-US" sz="15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= </a:t>
            </a:r>
            <a:r>
              <a:rPr lang="en-US" sz="15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data.frame</a:t>
            </a:r>
            <a:r>
              <a:rPr lang="en-US" sz="15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(</a:t>
            </a:r>
            <a:r>
              <a:rPr lang="en-US" sz="15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rbind</a:t>
            </a:r>
            <a:r>
              <a:rPr lang="en-US" sz="15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(</a:t>
            </a:r>
            <a:r>
              <a:rPr lang="en-US" sz="15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ppp,addp</a:t>
            </a:r>
            <a:r>
              <a:rPr lang="en-US" sz="15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))</a:t>
            </a:r>
          </a:p>
          <a:p>
            <a:pPr marL="396875"/>
            <a:r>
              <a:rPr lang="en-US" sz="15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attach(</a:t>
            </a:r>
            <a:r>
              <a:rPr lang="en-US" sz="15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ppp</a:t>
            </a:r>
            <a:r>
              <a:rPr lang="en-US" sz="15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)</a:t>
            </a:r>
            <a:endParaRPr lang="en-US" sz="1500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r>
              <a:rPr lang="en-US" sz="1500" b="1" dirty="0">
                <a:solidFill>
                  <a:srgbClr val="DFA70B"/>
                </a:solidFill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## Re-label the ‘Developed’ column to differentiate between Developed and Developing countries</a:t>
            </a:r>
          </a:p>
          <a:p>
            <a:pPr marL="396875"/>
            <a:r>
              <a:rPr lang="en-US" sz="15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Developed[Developed==1] = "Developed"</a:t>
            </a:r>
          </a:p>
          <a:p>
            <a:pPr marL="396875"/>
            <a:r>
              <a:rPr lang="en-US" sz="15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Developed[Developed==0] = "Developing"</a:t>
            </a:r>
          </a:p>
        </p:txBody>
      </p:sp>
    </p:spTree>
    <p:extLst>
      <p:ext uri="{BB962C8B-B14F-4D97-AF65-F5344CB8AC3E}">
        <p14:creationId xmlns:p14="http://schemas.microsoft.com/office/powerpoint/2010/main" val="629020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 idx="4294967295"/>
          </p:nvPr>
        </p:nvSpPr>
        <p:spPr>
          <a:xfrm>
            <a:off x="115812" y="207962"/>
            <a:ext cx="8562392" cy="993775"/>
          </a:xfrm>
          <a:prstGeom prst="rect">
            <a:avLst/>
          </a:prstGeom>
        </p:spPr>
        <p:txBody>
          <a:bodyPr/>
          <a:lstStyle/>
          <a:p>
            <a:r>
              <a:rPr lang="en-US" sz="3600" dirty="0">
                <a:latin typeface="Vitesse" charset="0"/>
                <a:ea typeface="Vitesse" charset="0"/>
                <a:cs typeface="Vitesse" charset="0"/>
              </a:rPr>
              <a:t>Exploratory Data Analysis in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9058" y="1026374"/>
            <a:ext cx="798133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DFA70B"/>
                </a:solidFill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#  Evaluate the Linear Relationship: Perform a scatter plot of the two variables</a:t>
            </a:r>
          </a:p>
          <a:p>
            <a:pPr marL="396875"/>
            <a:r>
              <a:rPr lang="en-US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plot(</a:t>
            </a:r>
            <a:r>
              <a:rPr lang="en-US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Inflation.difference,Exchange.rate.change</a:t>
            </a:r>
            <a:r>
              <a:rPr lang="en-US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,  main="Scatterplot of Exchange rate change vs Inflation difference", </a:t>
            </a:r>
            <a:r>
              <a:rPr lang="en-US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xlab</a:t>
            </a:r>
            <a:r>
              <a:rPr lang="en-US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="Inflation difference",</a:t>
            </a:r>
            <a:r>
              <a:rPr lang="en-US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ylab</a:t>
            </a:r>
            <a:r>
              <a:rPr lang="en-US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="Exchange rate change")</a:t>
            </a:r>
          </a:p>
          <a:p>
            <a:endParaRPr lang="en-US" i="1" dirty="0">
              <a:solidFill>
                <a:schemeClr val="tx2"/>
              </a:solidFill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r>
              <a:rPr lang="en-US" b="1" dirty="0">
                <a:solidFill>
                  <a:srgbClr val="DFA70B"/>
                </a:solidFill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# Evaluate differences between developed and developing countries</a:t>
            </a:r>
          </a:p>
          <a:p>
            <a:pPr marL="396875"/>
            <a:r>
              <a:rPr lang="en-US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boxplot(</a:t>
            </a:r>
            <a:r>
              <a:rPr lang="en-US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Exchange.rate.change~as.factor</a:t>
            </a:r>
            <a:r>
              <a:rPr lang="en-US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(Developed), main="Boxplot of Exchange rate change by Developed vs Developing Countries",</a:t>
            </a:r>
            <a:r>
              <a:rPr lang="en-US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xlab</a:t>
            </a:r>
            <a:r>
              <a:rPr lang="en-US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="Country Class",</a:t>
            </a:r>
            <a:r>
              <a:rPr lang="en-US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ylab</a:t>
            </a:r>
            <a:r>
              <a:rPr lang="en-US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="Exchange rate change")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628651" y="274638"/>
            <a:ext cx="7471248" cy="974498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altLang="en-US" sz="3600" b="1" dirty="0">
              <a:latin typeface="Vitesse" charset="0"/>
              <a:ea typeface="Vitesse" charset="0"/>
              <a:cs typeface="Vitesse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0186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8125" y="1283191"/>
            <a:ext cx="3416066" cy="257284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703" y="1244004"/>
            <a:ext cx="3401560" cy="2570108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628651" y="274638"/>
            <a:ext cx="7471248" cy="974498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altLang="en-US" sz="3600" b="1" dirty="0">
              <a:latin typeface="Vitesse" charset="0"/>
              <a:ea typeface="Vitesse" charset="0"/>
              <a:cs typeface="Vitesse" charset="0"/>
            </a:endParaRPr>
          </a:p>
        </p:txBody>
      </p:sp>
      <p:sp>
        <p:nvSpPr>
          <p:cNvPr id="8" name="Title 2"/>
          <p:cNvSpPr txBox="1">
            <a:spLocks/>
          </p:cNvSpPr>
          <p:nvPr/>
        </p:nvSpPr>
        <p:spPr>
          <a:xfrm>
            <a:off x="115812" y="207962"/>
            <a:ext cx="8562392" cy="993775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>
                <a:latin typeface="Vitesse" charset="0"/>
                <a:ea typeface="Vitesse" charset="0"/>
                <a:cs typeface="Vitesse" charset="0"/>
              </a:rPr>
              <a:t>Exploratory Data Analysis in R</a:t>
            </a:r>
          </a:p>
        </p:txBody>
      </p:sp>
    </p:spTree>
    <p:extLst>
      <p:ext uri="{BB962C8B-B14F-4D97-AF65-F5344CB8AC3E}">
        <p14:creationId xmlns:p14="http://schemas.microsoft.com/office/powerpoint/2010/main" val="498690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44376" y="1044662"/>
            <a:ext cx="7441168" cy="301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>
                <a:latin typeface="Helvetica" panose="020B0604020202020204" pitchFamily="34" charset="0"/>
                <a:cs typeface="Helvetica" panose="020B0604020202020204" pitchFamily="34" charset="0"/>
              </a:rPr>
              <a:t>pppa = lm(</a:t>
            </a:r>
            <a:r>
              <a:rPr lang="en-US" sz="16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Exchange.rate.change</a:t>
            </a:r>
            <a:r>
              <a:rPr lang="en-US" sz="1600" i="1" dirty="0">
                <a:latin typeface="Helvetica" panose="020B0604020202020204" pitchFamily="34" charset="0"/>
                <a:cs typeface="Helvetica" panose="020B0604020202020204" pitchFamily="34" charset="0"/>
              </a:rPr>
              <a:t> ~ </a:t>
            </a:r>
            <a:r>
              <a:rPr lang="en-US" sz="16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Inflation.difference</a:t>
            </a:r>
            <a:r>
              <a:rPr lang="en-US" sz="1600" i="1" dirty="0">
                <a:latin typeface="Helvetica" panose="020B0604020202020204" pitchFamily="34" charset="0"/>
                <a:cs typeface="Helvetica" panose="020B0604020202020204" pitchFamily="34" charset="0"/>
              </a:rPr>
              <a:t>)  ## regression model</a:t>
            </a:r>
          </a:p>
          <a:p>
            <a:r>
              <a:rPr lang="en-US" sz="1600" i="1" dirty="0">
                <a:latin typeface="Helvetica" panose="020B0604020202020204" pitchFamily="34" charset="0"/>
                <a:cs typeface="Helvetica" panose="020B0604020202020204" pitchFamily="34" charset="0"/>
              </a:rPr>
              <a:t>summary(</a:t>
            </a:r>
            <a:r>
              <a:rPr lang="en-US" sz="16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pppa</a:t>
            </a:r>
            <a:r>
              <a:rPr lang="en-US" sz="1600" i="1" dirty="0">
                <a:latin typeface="Helvetica" panose="020B0604020202020204" pitchFamily="34" charset="0"/>
                <a:cs typeface="Helvetica" panose="020B0604020202020204" pitchFamily="34" charset="0"/>
              </a:rPr>
              <a:t>)</a:t>
            </a:r>
          </a:p>
          <a:p>
            <a:endParaRPr lang="en-US" sz="1400" i="1" dirty="0">
              <a:solidFill>
                <a:schemeClr val="accent1">
                  <a:lumMod val="75000"/>
                </a:schemeClr>
              </a:solidFill>
              <a:latin typeface="Helvetica Neue"/>
            </a:endParaRPr>
          </a:p>
          <a:p>
            <a:r>
              <a:rPr lang="en-US" sz="1400" dirty="0">
                <a:latin typeface="Helvetica" panose="020B0604020202020204" pitchFamily="34" charset="0"/>
                <a:cs typeface="Helvetica" panose="020B0604020202020204" pitchFamily="34" charset="0"/>
              </a:rPr>
              <a:t>Coefficients:</a:t>
            </a:r>
          </a:p>
          <a:p>
            <a:r>
              <a:rPr lang="en-US" sz="1400" dirty="0">
                <a:latin typeface="Helvetica" panose="020B0604020202020204" pitchFamily="34" charset="0"/>
                <a:cs typeface="Helvetica" panose="020B0604020202020204" pitchFamily="34" charset="0"/>
              </a:rPr>
              <a:t>                       </a:t>
            </a:r>
            <a:r>
              <a:rPr lang="en-US" sz="140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	     Estimate   </a:t>
            </a:r>
            <a:r>
              <a:rPr lang="en-US" sz="1400" dirty="0">
                <a:latin typeface="Helvetica" panose="020B0604020202020204" pitchFamily="34" charset="0"/>
                <a:cs typeface="Helvetica" panose="020B0604020202020204" pitchFamily="34" charset="0"/>
              </a:rPr>
              <a:t>Std. Error   t value   </a:t>
            </a:r>
            <a:r>
              <a:rPr lang="en-US" sz="140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  </a:t>
            </a:r>
            <a:r>
              <a:rPr lang="en-US" sz="1400" dirty="0" err="1" smtClean="0">
                <a:latin typeface="Helvetica" panose="020B0604020202020204" pitchFamily="34" charset="0"/>
                <a:cs typeface="Helvetica" panose="020B0604020202020204" pitchFamily="34" charset="0"/>
              </a:rPr>
              <a:t>Pr</a:t>
            </a:r>
            <a:r>
              <a:rPr lang="en-US" sz="1400" dirty="0">
                <a:latin typeface="Helvetica" panose="020B0604020202020204" pitchFamily="34" charset="0"/>
                <a:cs typeface="Helvetica" panose="020B0604020202020204" pitchFamily="34" charset="0"/>
              </a:rPr>
              <a:t>(&gt;|t|)    </a:t>
            </a:r>
          </a:p>
          <a:p>
            <a:r>
              <a:rPr lang="en-US" sz="1400" dirty="0">
                <a:latin typeface="Helvetica" panose="020B0604020202020204" pitchFamily="34" charset="0"/>
                <a:cs typeface="Helvetica" panose="020B0604020202020204" pitchFamily="34" charset="0"/>
              </a:rPr>
              <a:t>(Intercept)                -1.51930    0.29415     -5.165 </a:t>
            </a:r>
            <a:r>
              <a:rPr lang="en-US" sz="140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 7.43e-06 </a:t>
            </a:r>
            <a:endParaRPr lang="en-US" sz="14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r>
              <a:rPr lang="en-US" sz="1400" dirty="0" err="1">
                <a:latin typeface="Helvetica" panose="020B0604020202020204" pitchFamily="34" charset="0"/>
                <a:cs typeface="Helvetica" panose="020B0604020202020204" pitchFamily="34" charset="0"/>
              </a:rPr>
              <a:t>Inflation.difference</a:t>
            </a:r>
            <a:r>
              <a:rPr lang="en-US" sz="1400" dirty="0">
                <a:latin typeface="Helvetica" panose="020B0604020202020204" pitchFamily="34" charset="0"/>
                <a:cs typeface="Helvetica" panose="020B0604020202020204" pitchFamily="34" charset="0"/>
              </a:rPr>
              <a:t>  </a:t>
            </a:r>
            <a:r>
              <a:rPr lang="en-US" sz="140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  0.96185    </a:t>
            </a:r>
            <a:r>
              <a:rPr lang="en-US" sz="1400" dirty="0">
                <a:latin typeface="Helvetica" panose="020B0604020202020204" pitchFamily="34" charset="0"/>
                <a:cs typeface="Helvetica" panose="020B0604020202020204" pitchFamily="34" charset="0"/>
              </a:rPr>
              <a:t>0.01781    </a:t>
            </a:r>
            <a:r>
              <a:rPr lang="en-US" sz="140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 53.991   &lt; </a:t>
            </a:r>
            <a:r>
              <a:rPr lang="en-US" sz="1400" dirty="0">
                <a:latin typeface="Helvetica" panose="020B0604020202020204" pitchFamily="34" charset="0"/>
                <a:cs typeface="Helvetica" panose="020B0604020202020204" pitchFamily="34" charset="0"/>
              </a:rPr>
              <a:t>2e-16 </a:t>
            </a:r>
          </a:p>
          <a:p>
            <a:r>
              <a:rPr lang="en-US" sz="1600" dirty="0"/>
              <a:t>---</a:t>
            </a:r>
          </a:p>
          <a:p>
            <a:endParaRPr lang="en-US" sz="1600" dirty="0"/>
          </a:p>
          <a:p>
            <a:endParaRPr lang="en-US" sz="1400" dirty="0" smtClean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r>
              <a:rPr lang="en-US" sz="140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Residual </a:t>
            </a:r>
            <a:r>
              <a:rPr lang="en-US" sz="1400" dirty="0">
                <a:latin typeface="Helvetica" panose="020B0604020202020204" pitchFamily="34" charset="0"/>
                <a:cs typeface="Helvetica" panose="020B0604020202020204" pitchFamily="34" charset="0"/>
              </a:rPr>
              <a:t>standard error: 1.646 on 39 degrees of freedom             </a:t>
            </a:r>
          </a:p>
          <a:p>
            <a:r>
              <a:rPr lang="en-US" sz="1400" dirty="0">
                <a:latin typeface="Helvetica" panose="020B0604020202020204" pitchFamily="34" charset="0"/>
                <a:cs typeface="Helvetica" panose="020B0604020202020204" pitchFamily="34" charset="0"/>
              </a:rPr>
              <a:t>Multiple R-squared:  0.9868,    Adjusted R-squared:  0.9865         </a:t>
            </a:r>
          </a:p>
          <a:p>
            <a:r>
              <a:rPr lang="en-US" sz="1400" dirty="0">
                <a:latin typeface="Helvetica" panose="020B0604020202020204" pitchFamily="34" charset="0"/>
                <a:cs typeface="Helvetica" panose="020B0604020202020204" pitchFamily="34" charset="0"/>
              </a:rPr>
              <a:t>F-statistic:  2915 on 1 and 39 DF,  p-value: &lt; 2.2e-16</a:t>
            </a:r>
          </a:p>
        </p:txBody>
      </p:sp>
      <p:sp>
        <p:nvSpPr>
          <p:cNvPr id="2" name="Rectangle 1"/>
          <p:cNvSpPr/>
          <p:nvPr/>
        </p:nvSpPr>
        <p:spPr>
          <a:xfrm>
            <a:off x="219377" y="1763127"/>
            <a:ext cx="4784651" cy="1224310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sp>
        <p:nvSpPr>
          <p:cNvPr id="4" name="Oval 3"/>
          <p:cNvSpPr/>
          <p:nvPr/>
        </p:nvSpPr>
        <p:spPr>
          <a:xfrm>
            <a:off x="2131559" y="3305439"/>
            <a:ext cx="555070" cy="253772"/>
          </a:xfrm>
          <a:prstGeom prst="ellipse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sp>
        <p:nvSpPr>
          <p:cNvPr id="6" name="Oval 5"/>
          <p:cNvSpPr/>
          <p:nvPr/>
        </p:nvSpPr>
        <p:spPr>
          <a:xfrm>
            <a:off x="1821122" y="3540353"/>
            <a:ext cx="657617" cy="253771"/>
          </a:xfrm>
          <a:prstGeom prst="ellipse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sp>
        <p:nvSpPr>
          <p:cNvPr id="7" name="Oval 6"/>
          <p:cNvSpPr/>
          <p:nvPr/>
        </p:nvSpPr>
        <p:spPr>
          <a:xfrm>
            <a:off x="2880635" y="3313392"/>
            <a:ext cx="289166" cy="253770"/>
          </a:xfrm>
          <a:prstGeom prst="ellipse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5857610" y="1763127"/>
                <a:ext cx="2748677" cy="1224310"/>
              </a:xfrm>
              <a:prstGeom prst="rect">
                <a:avLst/>
              </a:prstGeom>
              <a:noFill/>
              <a:ln w="19050">
                <a:solidFill>
                  <a:schemeClr val="tx2"/>
                </a:solidFill>
              </a:ln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440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440" i="1">
                                <a:latin typeface="Cambria Math" panose="02040503050406030204" pitchFamily="18" charset="0"/>
                                <a:ea typeface="Helvetica" charset="0"/>
                                <a:cs typeface="Helvetica" charset="0"/>
                              </a:rPr>
                            </m:ctrlPr>
                          </m:accPr>
                          <m:e>
                            <m:r>
                              <a:rPr lang="en-US" sz="1440" i="1">
                                <a:latin typeface="Cambria Math" panose="02040503050406030204" pitchFamily="18" charset="0"/>
                                <a:ea typeface="Helvetica" charset="0"/>
                                <a:cs typeface="Helvetica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sz="1440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1440" dirty="0">
                    <a:latin typeface="Helvetica" charset="0"/>
                    <a:ea typeface="Helvetica" charset="0"/>
                    <a:cs typeface="Helvetica" charset="0"/>
                  </a:rPr>
                  <a:t> = -1.5193, se(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40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440" i="1">
                                <a:latin typeface="Cambria Math" panose="02040503050406030204" pitchFamily="18" charset="0"/>
                                <a:ea typeface="Helvetica" charset="0"/>
                                <a:cs typeface="Helvetica" charset="0"/>
                              </a:rPr>
                            </m:ctrlPr>
                          </m:accPr>
                          <m:e>
                            <m:r>
                              <a:rPr lang="en-US" sz="1440" i="1">
                                <a:latin typeface="Cambria Math" panose="02040503050406030204" pitchFamily="18" charset="0"/>
                                <a:ea typeface="Helvetica" charset="0"/>
                                <a:cs typeface="Helvetica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sz="1440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1440" dirty="0">
                    <a:latin typeface="Helvetica" charset="0"/>
                    <a:ea typeface="Helvetica" charset="0"/>
                    <a:cs typeface="Helvetica" charset="0"/>
                  </a:rPr>
                  <a:t>) = 0.2941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440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440" i="1">
                                <a:latin typeface="Cambria Math" panose="02040503050406030204" pitchFamily="18" charset="0"/>
                                <a:ea typeface="Helvetica" charset="0"/>
                                <a:cs typeface="Helvetica" charset="0"/>
                              </a:rPr>
                            </m:ctrlPr>
                          </m:accPr>
                          <m:e>
                            <m:r>
                              <a:rPr lang="en-US" sz="1440" i="1">
                                <a:latin typeface="Cambria Math" panose="02040503050406030204" pitchFamily="18" charset="0"/>
                                <a:ea typeface="Helvetica" charset="0"/>
                                <a:cs typeface="Helvetica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sz="1440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  <m:t>1</m:t>
                        </m:r>
                      </m:sub>
                    </m:sSub>
                    <m:r>
                      <a:rPr lang="en-US" sz="1440" i="1">
                        <a:latin typeface="Cambria Math" panose="02040503050406030204" pitchFamily="18" charset="0"/>
                        <a:ea typeface="Helvetica" charset="0"/>
                        <a:cs typeface="Helvetica" charset="0"/>
                      </a:rPr>
                      <m:t>= 0.9618</m:t>
                    </m:r>
                  </m:oMath>
                </a14:m>
                <a:r>
                  <a:rPr lang="en-US" sz="1440" dirty="0">
                    <a:latin typeface="Helvetica" charset="0"/>
                    <a:ea typeface="Helvetica" charset="0"/>
                    <a:cs typeface="Helvetica" charset="0"/>
                  </a:rPr>
                  <a:t>, se(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40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440" i="1">
                                <a:latin typeface="Cambria Math" panose="02040503050406030204" pitchFamily="18" charset="0"/>
                                <a:ea typeface="Helvetica" charset="0"/>
                                <a:cs typeface="Helvetica" charset="0"/>
                              </a:rPr>
                            </m:ctrlPr>
                          </m:accPr>
                          <m:e>
                            <m:r>
                              <a:rPr lang="en-US" sz="1440" i="1">
                                <a:latin typeface="Cambria Math" panose="02040503050406030204" pitchFamily="18" charset="0"/>
                                <a:ea typeface="Helvetica" charset="0"/>
                                <a:cs typeface="Helvetica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sz="1440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440" dirty="0">
                    <a:latin typeface="Helvetica" charset="0"/>
                    <a:ea typeface="Helvetica" charset="0"/>
                    <a:cs typeface="Helvetica" charset="0"/>
                  </a:rPr>
                  <a:t>) = 0.0178</a:t>
                </a:r>
              </a:p>
              <a:p>
                <a:r>
                  <a:rPr lang="en-US" sz="1440" dirty="0">
                    <a:latin typeface="Helvetica" charset="0"/>
                    <a:ea typeface="Helvetica" charset="0"/>
                    <a:cs typeface="Helvetica" charset="0"/>
                  </a:rPr>
                  <a:t>Test for statistical significance:</a:t>
                </a:r>
              </a:p>
              <a:p>
                <a:r>
                  <a:rPr lang="en-US" sz="1440" i="1" dirty="0">
                    <a:latin typeface="Helvetica" charset="0"/>
                    <a:ea typeface="Helvetica" charset="0"/>
                    <a:cs typeface="Helvetica" charset="0"/>
                  </a:rPr>
                  <a:t>β</a:t>
                </a:r>
                <a:r>
                  <a:rPr lang="en-US" sz="1440" i="1" baseline="-25000" dirty="0">
                    <a:latin typeface="Helvetica" charset="0"/>
                    <a:ea typeface="Helvetica" charset="0"/>
                    <a:cs typeface="Helvetica" charset="0"/>
                  </a:rPr>
                  <a:t>0</a:t>
                </a:r>
                <a:r>
                  <a:rPr lang="en-US" sz="1440" dirty="0">
                    <a:latin typeface="Helvetica" charset="0"/>
                    <a:ea typeface="Helvetica" charset="0"/>
                    <a:cs typeface="Helvetica" charset="0"/>
                  </a:rPr>
                  <a:t>: t-value= -5.165, p-value ≈ 0</a:t>
                </a:r>
              </a:p>
              <a:p>
                <a:r>
                  <a:rPr lang="en-US" sz="1440" i="1" dirty="0">
                    <a:latin typeface="Helvetica" charset="0"/>
                    <a:ea typeface="Helvetica" charset="0"/>
                    <a:cs typeface="Helvetica" charset="0"/>
                  </a:rPr>
                  <a:t>β</a:t>
                </a:r>
                <a:r>
                  <a:rPr lang="en-US" sz="1440" i="1" baseline="-25000" dirty="0">
                    <a:latin typeface="Helvetica" charset="0"/>
                    <a:ea typeface="Helvetica" charset="0"/>
                    <a:cs typeface="Helvetica" charset="0"/>
                  </a:rPr>
                  <a:t>1</a:t>
                </a:r>
                <a:r>
                  <a:rPr lang="en-US" sz="1440" dirty="0">
                    <a:latin typeface="Helvetica" charset="0"/>
                    <a:ea typeface="Helvetica" charset="0"/>
                    <a:cs typeface="Helvetica" charset="0"/>
                  </a:rPr>
                  <a:t>: t-value= 53.991, p-value ≈ 0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7610" y="1763127"/>
                <a:ext cx="2748677" cy="1224310"/>
              </a:xfrm>
              <a:prstGeom prst="rect">
                <a:avLst/>
              </a:prstGeom>
              <a:blipFill>
                <a:blip r:embed="rId3"/>
                <a:stretch>
                  <a:fillRect l="-661" t="-490" b="-3431"/>
                </a:stretch>
              </a:blipFill>
              <a:ln w="19050">
                <a:solidFill>
                  <a:schemeClr val="tx2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ight Arrow 8"/>
          <p:cNvSpPr/>
          <p:nvPr/>
        </p:nvSpPr>
        <p:spPr>
          <a:xfrm>
            <a:off x="5225880" y="2301252"/>
            <a:ext cx="488131" cy="278612"/>
          </a:xfrm>
          <a:prstGeom prst="rightArrow">
            <a:avLst/>
          </a:prstGeom>
          <a:solidFill>
            <a:schemeClr val="tx2"/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sp>
        <p:nvSpPr>
          <p:cNvPr id="10" name="Rectangle 9"/>
          <p:cNvSpPr/>
          <p:nvPr/>
        </p:nvSpPr>
        <p:spPr>
          <a:xfrm>
            <a:off x="5869641" y="3335145"/>
            <a:ext cx="2743986" cy="629437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sp>
        <p:nvSpPr>
          <p:cNvPr id="11" name="Right Arrow 10"/>
          <p:cNvSpPr/>
          <p:nvPr/>
        </p:nvSpPr>
        <p:spPr>
          <a:xfrm>
            <a:off x="5221904" y="3486289"/>
            <a:ext cx="488131" cy="278612"/>
          </a:xfrm>
          <a:prstGeom prst="rightArrow">
            <a:avLst/>
          </a:prstGeom>
          <a:solidFill>
            <a:schemeClr val="tx2"/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5874333" y="3384704"/>
                <a:ext cx="2743987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Helvetica Neue" charset="0"/>
                            <a:cs typeface="Helvetica Neue" charset="0"/>
                          </a:rPr>
                        </m:ctrlPr>
                      </m:accPr>
                      <m:e>
                        <m:r>
                          <a:rPr lang="en-US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Helvetica Neue" charset="0"/>
                            <a:cs typeface="Helvetica Neue" charset="0"/>
                          </a:rPr>
                          <m:t>𝜎</m:t>
                        </m:r>
                      </m:e>
                    </m:acc>
                  </m:oMath>
                </a14:m>
                <a:r>
                  <a:rPr lang="en-US" sz="1400" i="1" dirty="0">
                    <a:solidFill>
                      <a:prstClr val="black"/>
                    </a:solidFill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= </a:t>
                </a:r>
                <a:r>
                  <a:rPr lang="en-US" sz="1400" i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1.646, n-2 = 39</a:t>
                </a:r>
                <a:endParaRPr lang="en-US" sz="1400" i="1" dirty="0">
                  <a:solidFill>
                    <a:prstClr val="black"/>
                  </a:solidFill>
                  <a:latin typeface="Helvetica" panose="020B0604020202020204" pitchFamily="34" charset="0"/>
                  <a:ea typeface="Helvetica Neue" charset="0"/>
                  <a:cs typeface="Helvetica" panose="020B0604020202020204" pitchFamily="34" charset="0"/>
                </a:endParaRPr>
              </a:p>
              <a:p>
                <a:pPr lvl="0"/>
                <a:r>
                  <a:rPr lang="en-US" sz="1400" i="1" dirty="0">
                    <a:solidFill>
                      <a:prstClr val="black"/>
                    </a:solidFill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R</a:t>
                </a:r>
                <a:r>
                  <a:rPr lang="en-US" sz="1400" i="1" baseline="30000" dirty="0">
                    <a:solidFill>
                      <a:prstClr val="black"/>
                    </a:solidFill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2</a:t>
                </a:r>
                <a:r>
                  <a:rPr lang="en-US" sz="1400" i="1" dirty="0">
                    <a:solidFill>
                      <a:prstClr val="black"/>
                    </a:solidFill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= 98.7% variability explained</a:t>
                </a:r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4333" y="3384704"/>
                <a:ext cx="2743987" cy="523220"/>
              </a:xfrm>
              <a:prstGeom prst="rect">
                <a:avLst/>
              </a:prstGeom>
              <a:blipFill>
                <a:blip r:embed="rId4"/>
                <a:stretch>
                  <a:fillRect l="-667" t="-2326" b="-116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Oval 13"/>
          <p:cNvSpPr/>
          <p:nvPr/>
        </p:nvSpPr>
        <p:spPr>
          <a:xfrm>
            <a:off x="1769352" y="2206604"/>
            <a:ext cx="847580" cy="240898"/>
          </a:xfrm>
          <a:prstGeom prst="ellipse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sp>
        <p:nvSpPr>
          <p:cNvPr id="15" name="Oval 14"/>
          <p:cNvSpPr/>
          <p:nvPr/>
        </p:nvSpPr>
        <p:spPr>
          <a:xfrm>
            <a:off x="2669991" y="2192734"/>
            <a:ext cx="771699" cy="274485"/>
          </a:xfrm>
          <a:prstGeom prst="ellipse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sp>
        <p:nvSpPr>
          <p:cNvPr id="16" name="Oval 15"/>
          <p:cNvSpPr/>
          <p:nvPr/>
        </p:nvSpPr>
        <p:spPr>
          <a:xfrm>
            <a:off x="6301619" y="1812990"/>
            <a:ext cx="702946" cy="234556"/>
          </a:xfrm>
          <a:prstGeom prst="ellipse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sp>
        <p:nvSpPr>
          <p:cNvPr id="17" name="Oval 16"/>
          <p:cNvSpPr/>
          <p:nvPr/>
        </p:nvSpPr>
        <p:spPr>
          <a:xfrm>
            <a:off x="7705368" y="1819028"/>
            <a:ext cx="684443" cy="219137"/>
          </a:xfrm>
          <a:prstGeom prst="ellipse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sp>
        <p:nvSpPr>
          <p:cNvPr id="18" name="Oval 17"/>
          <p:cNvSpPr/>
          <p:nvPr/>
        </p:nvSpPr>
        <p:spPr>
          <a:xfrm>
            <a:off x="1813039" y="2433567"/>
            <a:ext cx="771698" cy="221995"/>
          </a:xfrm>
          <a:prstGeom prst="ellipse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sp>
        <p:nvSpPr>
          <p:cNvPr id="19" name="Oval 18"/>
          <p:cNvSpPr/>
          <p:nvPr/>
        </p:nvSpPr>
        <p:spPr>
          <a:xfrm>
            <a:off x="2639724" y="2416821"/>
            <a:ext cx="836247" cy="225149"/>
          </a:xfrm>
          <a:prstGeom prst="ellipse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sp>
        <p:nvSpPr>
          <p:cNvPr id="20" name="Oval 19"/>
          <p:cNvSpPr/>
          <p:nvPr/>
        </p:nvSpPr>
        <p:spPr>
          <a:xfrm>
            <a:off x="6363901" y="2051833"/>
            <a:ext cx="623949" cy="234556"/>
          </a:xfrm>
          <a:prstGeom prst="ellipse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sp>
        <p:nvSpPr>
          <p:cNvPr id="21" name="Oval 20"/>
          <p:cNvSpPr/>
          <p:nvPr/>
        </p:nvSpPr>
        <p:spPr>
          <a:xfrm>
            <a:off x="7693781" y="2051833"/>
            <a:ext cx="684442" cy="219137"/>
          </a:xfrm>
          <a:prstGeom prst="ellipse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sp>
        <p:nvSpPr>
          <p:cNvPr id="22" name="Title 2"/>
          <p:cNvSpPr txBox="1">
            <a:spLocks/>
          </p:cNvSpPr>
          <p:nvPr/>
        </p:nvSpPr>
        <p:spPr>
          <a:xfrm>
            <a:off x="103171" y="214216"/>
            <a:ext cx="8562392" cy="993775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>
                <a:latin typeface="Vitesse Book" charset="0"/>
                <a:ea typeface="Vitesse Book" charset="0"/>
                <a:cs typeface="Vitesse Book" charset="0"/>
              </a:rPr>
              <a:t>Fitting Linear Regression in R</a:t>
            </a:r>
          </a:p>
        </p:txBody>
      </p:sp>
    </p:spTree>
    <p:extLst>
      <p:ext uri="{BB962C8B-B14F-4D97-AF65-F5344CB8AC3E}">
        <p14:creationId xmlns:p14="http://schemas.microsoft.com/office/powerpoint/2010/main" val="217224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3" grpId="0"/>
      <p:bldP spid="14" grpId="0" animBg="1"/>
      <p:bldP spid="14" grpId="1" animBg="1"/>
      <p:bldP spid="15" grpId="0" animBg="1"/>
      <p:bldP spid="15" grpId="1" animBg="1"/>
      <p:bldP spid="16" grpId="0" animBg="1"/>
      <p:bldP spid="16" grpId="1" animBg="1"/>
      <p:bldP spid="17" grpId="0" animBg="1"/>
      <p:bldP spid="17" grpId="1" animBg="1"/>
      <p:bldP spid="18" grpId="0" animBg="1"/>
      <p:bldP spid="18" grpId="1" animBg="1"/>
      <p:bldP spid="19" grpId="0" animBg="1"/>
      <p:bldP spid="19" grpId="1" animBg="1"/>
      <p:bldP spid="20" grpId="0" animBg="1"/>
      <p:bldP spid="20" grpId="1" animBg="1"/>
      <p:bldP spid="21" grpId="0" animBg="1"/>
      <p:bldP spid="21" grpId="1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4339" name="TextBox 1"/>
              <p:cNvSpPr txBox="1">
                <a:spLocks noChangeArrowheads="1"/>
              </p:cNvSpPr>
              <p:nvPr/>
            </p:nvSpPr>
            <p:spPr bwMode="auto">
              <a:xfrm>
                <a:off x="128316" y="1041144"/>
                <a:ext cx="6597338" cy="37947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/>
                <a:r>
                  <a:rPr lang="en-US" altLang="en-US" sz="1600" dirty="0" smtClean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The principle of purchasing power parity (PPP) states:</a:t>
                </a:r>
              </a:p>
              <a:p>
                <a:pPr eaLnBrk="1" hangingPunct="1"/>
                <a:endParaRPr lang="en-US" altLang="en-US" sz="1600" i="1" dirty="0">
                  <a:latin typeface="Helvetica" panose="020B0604020202020204" pitchFamily="34" charset="0"/>
                  <a:ea typeface="Helvetica Neue" charset="0"/>
                  <a:cs typeface="Helvetica" panose="020B0604020202020204" pitchFamily="34" charset="0"/>
                </a:endParaRPr>
              </a:p>
              <a:p>
                <a:endParaRPr lang="en-US" sz="1600" dirty="0">
                  <a:latin typeface="Helvetica" panose="020B0604020202020204" pitchFamily="34" charset="0"/>
                  <a:ea typeface="Helvetica Neue" charset="0"/>
                  <a:cs typeface="Helvetica" panose="020B0604020202020204" pitchFamily="34" charset="0"/>
                </a:endParaRPr>
              </a:p>
              <a:p>
                <a:endParaRPr lang="en-US" sz="1600" dirty="0">
                  <a:latin typeface="Helvetica" panose="020B0604020202020204" pitchFamily="34" charset="0"/>
                  <a:ea typeface="Helvetica Neue" charset="0"/>
                  <a:cs typeface="Helvetica" panose="020B0604020202020204" pitchFamily="34" charset="0"/>
                </a:endParaRPr>
              </a:p>
              <a:p>
                <a:r>
                  <a:rPr lang="en-US" sz="16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The economic theory says </a:t>
                </a:r>
                <a:r>
                  <a:rPr lang="en-US" sz="16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600" i="1">
                        <a:latin typeface="Cambria Math" panose="02040503050406030204" pitchFamily="18" charset="0"/>
                      </a:rPr>
                      <m:t>=0, 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600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16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. </a:t>
                </a:r>
              </a:p>
              <a:p>
                <a:r>
                  <a:rPr lang="en-US" sz="16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The estimates for these coefficients are: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 Neue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Helvetica Neue" charset="0"/>
                              </a:rPr>
                            </m:ctrlPr>
                          </m:acc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Helvetica Neue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 Neue" charset="0"/>
                          </a:rPr>
                          <m:t>0</m:t>
                        </m:r>
                      </m:sub>
                    </m:sSub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" charset="0"/>
                      </a:rPr>
                      <m:t>=−1.519</m:t>
                    </m:r>
                  </m:oMath>
                </a14:m>
                <a:r>
                  <a:rPr lang="en-US" sz="16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 Neue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Helvetica Neue" charset="0"/>
                              </a:rPr>
                            </m:ctrlPr>
                          </m:acc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Helvetica Neue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 Neue" charset="0"/>
                          </a:rPr>
                          <m:t>1</m:t>
                        </m:r>
                      </m:sub>
                    </m:sSub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" charset="0"/>
                      </a:rPr>
                      <m:t>=0.961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" charset="0"/>
                      </a:rPr>
                      <m:t>8</m:t>
                    </m:r>
                  </m:oMath>
                </a14:m>
                <a:r>
                  <a:rPr lang="en-US" sz="16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 </a:t>
                </a:r>
              </a:p>
              <a:p>
                <a:endParaRPr lang="en-US" sz="1600" b="1" dirty="0">
                  <a:latin typeface="Helvetica" panose="020B0604020202020204" pitchFamily="34" charset="0"/>
                  <a:ea typeface="Helvetica Neue" charset="0"/>
                  <a:cs typeface="Helvetica" panose="020B0604020202020204" pitchFamily="34" charset="0"/>
                </a:endParaRPr>
              </a:p>
              <a:p>
                <a:r>
                  <a:rPr lang="en-US" sz="1600" b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Testing the theory: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Helvetica Neue" charset="0"/>
                            <a:cs typeface="Helvetica Neue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Helvetica Neue" charset="0"/>
                            <a:cs typeface="Helvetica Neue" charset="0"/>
                          </a:rPr>
                          <m:t>𝛽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  <a:ea typeface="Helvetica Neue" charset="0"/>
                            <a:cs typeface="Helvetica Neue" charset="0"/>
                          </a:rPr>
                          <m:t>0</m:t>
                        </m:r>
                      </m:sub>
                    </m:sSub>
                    <m:r>
                      <a:rPr lang="en-US" sz="1600" i="1">
                        <a:latin typeface="Cambria Math" panose="02040503050406030204" pitchFamily="18" charset="0"/>
                        <a:ea typeface="Helvetica Neue" charset="0"/>
                        <a:cs typeface="Helvetica Neue" charset="0"/>
                      </a:rPr>
                      <m:t>=0</m:t>
                    </m:r>
                  </m:oMath>
                </a14:m>
                <a:r>
                  <a:rPr lang="en-US" sz="16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: Based on the t-test of statistical significance we find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Helvetica Neue" charset="0"/>
                            <a:cs typeface="Helvetica Neue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Helvetica Neue" charset="0"/>
                            <a:cs typeface="Helvetica Neue" charset="0"/>
                          </a:rPr>
                          <m:t>𝛽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  <a:ea typeface="Helvetica Neue" charset="0"/>
                            <a:cs typeface="Helvetica Neue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16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is statistically different from zero.</a:t>
                </a:r>
              </a:p>
              <a:p>
                <a:endParaRPr lang="en-US" sz="1600" dirty="0">
                  <a:latin typeface="Helvetica" panose="020B0604020202020204" pitchFamily="34" charset="0"/>
                  <a:ea typeface="Helvetica Neue" charset="0"/>
                  <a:cs typeface="Helvetica" panose="020B0604020202020204" pitchFamily="34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 Neue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 Neue" charset="0"/>
                          </a:rPr>
                          <m:t>𝛽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 Neue" charset="0"/>
                          </a:rPr>
                          <m:t>1</m:t>
                        </m:r>
                      </m:sub>
                    </m:sSub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" charset="0"/>
                      </a:rPr>
                      <m:t>=1</m:t>
                    </m:r>
                  </m:oMath>
                </a14:m>
                <a:r>
                  <a:rPr lang="en-US" sz="16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:</a:t>
                </a:r>
                <a:r>
                  <a:rPr lang="en-US" sz="16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We need to perform a t-test with this as the null hypothesis:</a:t>
                </a:r>
              </a:p>
              <a:p>
                <a:r>
                  <a:rPr lang="en-US" sz="1600" dirty="0">
                    <a:latin typeface="Helvetica" panose="020B0604020202020204" pitchFamily="34" charset="0"/>
                    <a:ea typeface="KishoreFont Medium" charset="0"/>
                    <a:cs typeface="Helvetica" panose="020B0604020202020204" pitchFamily="34" charset="0"/>
                  </a:rPr>
                  <a:t>T-value =</a:t>
                </a:r>
                <a:r>
                  <a:rPr lang="en-US" sz="16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Helvetica Neue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Helvetica Neue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Helvetica Neue" charset="0"/>
                                  </a:rPr>
                                  <m:t>𝛽</m:t>
                                </m:r>
                              </m:e>
                            </m:acc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Helvetica Neue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panose="020B0604020202020204" pitchFamily="34" charset="0"/>
                          </a:rPr>
                          <m:t>−1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panose="020B0604020202020204" pitchFamily="34" charset="0"/>
                          </a:rPr>
                          <m:t>se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Helvetica Neue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Helvetica Neue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Helvetica Neue" charset="0"/>
                                  </a:rPr>
                                  <m:t>𝛽</m:t>
                                </m:r>
                              </m:e>
                            </m:acc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Helvetica Neue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en-US" sz="16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KishoreFont Medium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16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panose="020B0604020202020204" pitchFamily="34" charset="0"/>
                          </a:rPr>
                          <m:t>0.9618−1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16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" panose="020B0604020202020204" pitchFamily="34" charset="0"/>
                          </a:rPr>
                          <m:t>0.0178 </m:t>
                        </m:r>
                      </m:den>
                    </m:f>
                    <m:r>
                      <m:rPr>
                        <m:nor/>
                      </m:rPr>
                      <a:rPr lang="en-US" sz="1600"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" panose="020B0604020202020204" pitchFamily="34" charset="0"/>
                      </a:rPr>
                      <m:t>=</m:t>
                    </m:r>
                  </m:oMath>
                </a14:m>
                <a:r>
                  <a:rPr lang="en-US" sz="16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 -2.1448</a:t>
                </a:r>
              </a:p>
              <a:p>
                <a:r>
                  <a:rPr lang="en-US" sz="16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p-value = </a:t>
                </a:r>
                <a:r>
                  <a:rPr lang="en-US" sz="16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2(1-P(T</a:t>
                </a:r>
                <a:r>
                  <a:rPr lang="en-US" sz="1600" baseline="-250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39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" charset="0"/>
                      </a:rPr>
                      <m:t>&lt;</m:t>
                    </m:r>
                  </m:oMath>
                </a14:m>
                <a:r>
                  <a:rPr lang="en-US" sz="16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 </a:t>
                </a:r>
                <a:r>
                  <a:rPr lang="en-US" sz="1600" dirty="0" smtClean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-2.1448</a:t>
                </a:r>
                <a:r>
                  <a:rPr lang="en-US" sz="16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)) = 0.038</a:t>
                </a:r>
              </a:p>
            </p:txBody>
          </p:sp>
        </mc:Choice>
        <mc:Fallback>
          <p:sp>
            <p:nvSpPr>
              <p:cNvPr id="14339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8316" y="1041144"/>
                <a:ext cx="6597338" cy="3794757"/>
              </a:xfrm>
              <a:prstGeom prst="rect">
                <a:avLst/>
              </a:prstGeom>
              <a:blipFill rotWithShape="0">
                <a:blip r:embed="rId3"/>
                <a:stretch>
                  <a:fillRect l="-462" t="-482" b="-965"/>
                </a:stretch>
              </a:blipFill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/>
          <p:cNvSpPr txBox="1">
            <a:spLocks/>
          </p:cNvSpPr>
          <p:nvPr/>
        </p:nvSpPr>
        <p:spPr>
          <a:xfrm>
            <a:off x="116283" y="213356"/>
            <a:ext cx="6928404" cy="627747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en-US" sz="3600" dirty="0">
                <a:latin typeface="Vitesse" charset="0"/>
                <a:ea typeface="Vitesse" charset="0"/>
                <a:cs typeface="Vitesse" charset="0"/>
              </a:rPr>
              <a:t>Does the Theory Hold?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5393" y="1418118"/>
            <a:ext cx="20713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Helvetica" panose="020B0604020202020204" pitchFamily="34" charset="0"/>
                <a:ea typeface="KishoreFont Medium" charset="0"/>
                <a:cs typeface="Helvetica" panose="020B0604020202020204" pitchFamily="34" charset="0"/>
              </a:rPr>
              <a:t>Average annual change</a:t>
            </a:r>
          </a:p>
          <a:p>
            <a:r>
              <a:rPr lang="en-US" sz="1400" dirty="0">
                <a:latin typeface="Helvetica" panose="020B0604020202020204" pitchFamily="34" charset="0"/>
                <a:ea typeface="KishoreFont Medium" charset="0"/>
                <a:cs typeface="Helvetica" panose="020B0604020202020204" pitchFamily="34" charset="0"/>
              </a:rPr>
              <a:t>in the exchange rate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31545" y="1418118"/>
            <a:ext cx="19318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Helvetica" panose="020B0604020202020204" pitchFamily="34" charset="0"/>
                <a:ea typeface="KishoreFont Medium" charset="0"/>
                <a:cs typeface="Helvetica" panose="020B0604020202020204" pitchFamily="34" charset="0"/>
              </a:rPr>
              <a:t>Difference in average </a:t>
            </a:r>
          </a:p>
          <a:p>
            <a:r>
              <a:rPr lang="en-US" sz="1400" dirty="0">
                <a:latin typeface="Helvetica" panose="020B0604020202020204" pitchFamily="34" charset="0"/>
                <a:ea typeface="KishoreFont Medium" charset="0"/>
                <a:cs typeface="Helvetica" panose="020B0604020202020204" pitchFamily="34" charset="0"/>
              </a:rPr>
              <a:t>annual inflation rates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61670" y="1543807"/>
            <a:ext cx="12875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Helvetica" panose="020B0604020202020204" pitchFamily="34" charset="0"/>
                <a:ea typeface="KishoreFont Medium" charset="0"/>
                <a:cs typeface="Helvetica" panose="020B0604020202020204" pitchFamily="34" charset="0"/>
              </a:rPr>
              <a:t>Random error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17953" y="1445816"/>
            <a:ext cx="373820" cy="4801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20" dirty="0">
                <a:latin typeface="Helvetica" panose="020B0604020202020204" pitchFamily="34" charset="0"/>
                <a:ea typeface="KishoreFont Medium" charset="0"/>
                <a:cs typeface="Helvetica" panose="020B0604020202020204" pitchFamily="34" charset="0"/>
              </a:rPr>
              <a:t>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53962" y="1445816"/>
            <a:ext cx="373820" cy="4801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20" dirty="0">
                <a:latin typeface="Helvetica" panose="020B0604020202020204" pitchFamily="34" charset="0"/>
                <a:ea typeface="KishoreFont Medium" charset="0"/>
                <a:cs typeface="Helvetica" panose="020B0604020202020204" pitchFamily="34" charset="0"/>
              </a:rPr>
              <a:t>=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8E962578-218F-4E45-B3BD-32356CEAC46E}"/>
              </a:ext>
            </a:extLst>
          </p:cNvPr>
          <p:cNvSpPr txBox="1"/>
          <p:nvPr/>
        </p:nvSpPr>
        <p:spPr>
          <a:xfrm>
            <a:off x="6725654" y="1087615"/>
            <a:ext cx="2218657" cy="1477328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Violations of PPP theory with respect to both the intercept and the slope.</a:t>
            </a:r>
          </a:p>
        </p:txBody>
      </p:sp>
    </p:spTree>
    <p:extLst>
      <p:ext uri="{BB962C8B-B14F-4D97-AF65-F5344CB8AC3E}">
        <p14:creationId xmlns:p14="http://schemas.microsoft.com/office/powerpoint/2010/main" val="2236624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41903" y="1024291"/>
            <a:ext cx="527036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DFA70B"/>
                </a:solidFill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# Perform the hypothesis test for slope coefficient H0: slope=1</a:t>
            </a:r>
          </a:p>
          <a:p>
            <a:r>
              <a:rPr lang="en-US" sz="1600" b="1" dirty="0">
                <a:solidFill>
                  <a:srgbClr val="DFA70B"/>
                </a:solidFill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# use the library ‘car’ available in R (you need to install this library first then download it)</a:t>
            </a:r>
          </a:p>
          <a:p>
            <a:pPr marL="461963"/>
            <a:r>
              <a:rPr lang="en-US" sz="16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install.packages</a:t>
            </a:r>
            <a:r>
              <a:rPr lang="en-US" sz="16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("car")</a:t>
            </a:r>
          </a:p>
          <a:p>
            <a:pPr marL="461963"/>
            <a:r>
              <a:rPr lang="en-US" sz="16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library(car)</a:t>
            </a:r>
          </a:p>
          <a:p>
            <a:pPr marL="461963"/>
            <a:r>
              <a:rPr lang="en-US" sz="16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linearHypothesis</a:t>
            </a:r>
            <a:r>
              <a:rPr lang="en-US" sz="16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(</a:t>
            </a:r>
            <a:r>
              <a:rPr lang="en-US" sz="16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pppa,c</a:t>
            </a:r>
            <a:r>
              <a:rPr lang="en-US" sz="16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(0,1),</a:t>
            </a:r>
            <a:r>
              <a:rPr lang="en-US" sz="16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rhs</a:t>
            </a:r>
            <a:r>
              <a:rPr lang="en-US" sz="16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=1)</a:t>
            </a:r>
          </a:p>
          <a:p>
            <a:r>
              <a:rPr lang="en-US" sz="1600" b="1" dirty="0">
                <a:solidFill>
                  <a:srgbClr val="DFA70B"/>
                </a:solidFill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## Alternatively, you can compute the t-value and p-value as follows:</a:t>
            </a:r>
          </a:p>
          <a:p>
            <a:pPr marL="461963"/>
            <a:r>
              <a:rPr lang="en-US" sz="16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tvalue</a:t>
            </a:r>
            <a:r>
              <a:rPr lang="en-US" sz="16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= (0.9618−1)/0.01781</a:t>
            </a:r>
          </a:p>
          <a:p>
            <a:pPr marL="461963"/>
            <a:r>
              <a:rPr lang="en-US" sz="16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pvalue</a:t>
            </a:r>
            <a:r>
              <a:rPr lang="en-US" sz="16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= 2</a:t>
            </a:r>
            <a:r>
              <a:rPr lang="en-US" sz="1600" i="1" dirty="0" smtClean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*(1-pt(abs(</a:t>
            </a:r>
            <a:r>
              <a:rPr lang="en-US" sz="1600" i="1" dirty="0" err="1" smtClean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tvalue</a:t>
            </a:r>
            <a:r>
              <a:rPr lang="en-US" sz="1600" i="1" dirty="0" smtClean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),39</a:t>
            </a:r>
            <a:r>
              <a:rPr lang="en-US" sz="16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))</a:t>
            </a:r>
          </a:p>
          <a:p>
            <a:r>
              <a:rPr lang="en-US" sz="1600" b="1" dirty="0">
                <a:solidFill>
                  <a:srgbClr val="DFA70B"/>
                </a:solidFill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## Use the help menu to learn more about the functions used above:</a:t>
            </a:r>
          </a:p>
          <a:p>
            <a:pPr marL="461963"/>
            <a:r>
              <a:rPr lang="en-US" sz="16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help(</a:t>
            </a:r>
            <a:r>
              <a:rPr lang="en-US" sz="16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pt</a:t>
            </a:r>
            <a:r>
              <a:rPr lang="en-US" sz="16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)</a:t>
            </a:r>
          </a:p>
          <a:p>
            <a:pPr marL="461963"/>
            <a:r>
              <a:rPr lang="en-US" sz="16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help(</a:t>
            </a:r>
            <a:r>
              <a:rPr lang="en-US" sz="16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linearHypothesis</a:t>
            </a:r>
            <a:r>
              <a:rPr lang="en-US" sz="16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02019" y="2826554"/>
            <a:ext cx="2818623" cy="1138773"/>
          </a:xfrm>
          <a:prstGeom prst="rect">
            <a:avLst/>
          </a:prstGeom>
          <a:noFill/>
          <a:ln w="19050"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kern="100" dirty="0">
                <a:latin typeface="Helvetica" panose="020B0604020202020204" pitchFamily="34" charset="0"/>
                <a:ea typeface="KishoreFont Medium" charset="0"/>
                <a:cs typeface="Helvetica" panose="020B0604020202020204" pitchFamily="34" charset="0"/>
              </a:rPr>
              <a:t>P-value = 2P(T</a:t>
            </a:r>
            <a:r>
              <a:rPr lang="en-US" sz="1600" kern="100" baseline="-25000" dirty="0">
                <a:latin typeface="Helvetica" panose="020B0604020202020204" pitchFamily="34" charset="0"/>
                <a:ea typeface="KishoreFont Medium" charset="0"/>
                <a:cs typeface="Helvetica" panose="020B0604020202020204" pitchFamily="34" charset="0"/>
              </a:rPr>
              <a:t>n-2</a:t>
            </a:r>
            <a:r>
              <a:rPr lang="en-US" sz="1600" kern="100" dirty="0">
                <a:latin typeface="Helvetica" panose="020B0604020202020204" pitchFamily="34" charset="0"/>
                <a:ea typeface="KishoreFont Medium" charset="0"/>
                <a:cs typeface="Helvetica" panose="020B0604020202020204" pitchFamily="34" charset="0"/>
              </a:rPr>
              <a:t> &gt; |t-value|) where </a:t>
            </a:r>
          </a:p>
          <a:p>
            <a:endParaRPr lang="en-US" sz="1200" kern="100" dirty="0">
              <a:latin typeface="KishoreFont Medium" charset="0"/>
              <a:ea typeface="KishoreFont Medium" charset="0"/>
              <a:cs typeface="KishoreFont Medium" charset="0"/>
            </a:endParaRPr>
          </a:p>
          <a:p>
            <a:endParaRPr lang="en-US" sz="1200" dirty="0"/>
          </a:p>
          <a:p>
            <a:endParaRPr lang="en-US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Object 1024"/>
              <p:cNvSpPr txBox="1"/>
              <p:nvPr/>
            </p:nvSpPr>
            <p:spPr bwMode="auto">
              <a:xfrm>
                <a:off x="5653911" y="3233807"/>
                <a:ext cx="2322179" cy="73152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62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m:rPr>
                          <m:nor/>
                        </m:rPr>
                        <a:rPr lang="en-US" sz="162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sz="162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value</m:t>
                      </m:r>
                      <m:r>
                        <a:rPr lang="en-US" sz="162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2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62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sz="162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62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162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62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162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US" sz="162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sz="162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62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</m:acc>
                                </m:e>
                                <m:sup>
                                  <m:r>
                                    <a:rPr lang="en-US" sz="162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162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sSub>
                                <m:sSubPr>
                                  <m:ctrlPr>
                                    <a:rPr lang="en-US" sz="162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62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e>
                                <m:sub>
                                  <m:r>
                                    <a:rPr lang="en-US" sz="162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𝑋𝑋</m:t>
                                  </m:r>
                                </m:sub>
                              </m:sSub>
                            </m:e>
                          </m:rad>
                        </m:den>
                      </m:f>
                    </m:oMath>
                  </m:oMathPara>
                </a14:m>
                <a:endParaRPr lang="en-US" sz="1620" dirty="0"/>
              </a:p>
            </p:txBody>
          </p:sp>
        </mc:Choice>
        <mc:Fallback xmlns="">
          <p:sp>
            <p:nvSpPr>
              <p:cNvPr id="9" name="Object 10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653911" y="3233807"/>
                <a:ext cx="2322179" cy="7315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/>
          <p:cNvSpPr txBox="1">
            <a:spLocks/>
          </p:cNvSpPr>
          <p:nvPr/>
        </p:nvSpPr>
        <p:spPr>
          <a:xfrm>
            <a:off x="109172" y="224616"/>
            <a:ext cx="6928404" cy="627747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en-US" sz="3600" dirty="0">
                <a:latin typeface="Vitesse" charset="0"/>
                <a:ea typeface="Vitesse" charset="0"/>
                <a:cs typeface="Vitesse" charset="0"/>
              </a:rPr>
              <a:t>Hypothesis Testing in R</a:t>
            </a:r>
          </a:p>
        </p:txBody>
      </p:sp>
    </p:spTree>
    <p:extLst>
      <p:ext uri="{BB962C8B-B14F-4D97-AF65-F5344CB8AC3E}">
        <p14:creationId xmlns:p14="http://schemas.microsoft.com/office/powerpoint/2010/main" val="4199189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130156" y="238732"/>
            <a:ext cx="4727575" cy="1330325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en-US" sz="3600" dirty="0">
                <a:latin typeface="Vitesse" charset="0"/>
                <a:ea typeface="Vitesse" charset="0"/>
                <a:cs typeface="Vitesse" charset="0"/>
              </a:rPr>
              <a:t>Summary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59" t="6607" r="13881" b="7744"/>
          <a:stretch/>
        </p:blipFill>
        <p:spPr>
          <a:xfrm>
            <a:off x="1161904" y="1285661"/>
            <a:ext cx="2201521" cy="2406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288935"/>
      </p:ext>
    </p:extLst>
  </p:cSld>
  <p:clrMapOvr>
    <a:masterClrMapping/>
  </p:clrMapOvr>
</p:sld>
</file>

<file path=ppt/theme/theme1.xml><?xml version="1.0" encoding="utf-8"?>
<a:theme xmlns:a="http://schemas.openxmlformats.org/drawingml/2006/main" name="1_Half Page Slash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>
        <a:normAutofit/>
      </a:bodyPr>
      <a:lstStyle>
        <a:defPPr algn="l">
          <a:lnSpc>
            <a:spcPts val="1200"/>
          </a:lnSpc>
          <a:defRPr sz="1200" dirty="0" smtClean="0">
            <a:solidFill>
              <a:srgbClr val="000000"/>
            </a:solidFill>
            <a:latin typeface="Helvetica"/>
            <a:cs typeface="Helvetica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Half Page Slash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>
        <a:normAutofit/>
      </a:bodyPr>
      <a:lstStyle>
        <a:defPPr algn="l">
          <a:lnSpc>
            <a:spcPts val="1200"/>
          </a:lnSpc>
          <a:defRPr sz="1200" dirty="0" smtClean="0">
            <a:solidFill>
              <a:srgbClr val="000000"/>
            </a:solidFill>
            <a:latin typeface="Helvetica"/>
            <a:cs typeface="Helvetica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Full Page Layou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16D43FDACDF02458C96071D7628C880" ma:contentTypeVersion="4" ma:contentTypeDescription="Create a new document." ma:contentTypeScope="" ma:versionID="93db545676783a71a92c456b471b0a8b">
  <xsd:schema xmlns:xsd="http://www.w3.org/2001/XMLSchema" xmlns:xs="http://www.w3.org/2001/XMLSchema" xmlns:p="http://schemas.microsoft.com/office/2006/metadata/properties" xmlns:ns1="http://schemas.microsoft.com/sharepoint/v3" xmlns:ns2="b057fda7-913b-4ab6-8820-932873bcd66c" targetNamespace="http://schemas.microsoft.com/office/2006/metadata/properties" ma:root="true" ma:fieldsID="1e1586ca1b53aa448b4e9fddfe24baf2" ns1:_="" ns2:_="">
    <xsd:import namespace="http://schemas.microsoft.com/sharepoint/v3"/>
    <xsd:import namespace="b057fda7-913b-4ab6-8820-932873bcd66c"/>
    <xsd:element name="properties">
      <xsd:complexType>
        <xsd:sequence>
          <xsd:element name="documentManagement">
            <xsd:complexType>
              <xsd:all>
                <xsd:element ref="ns1:PublishingStartDate" minOccurs="0"/>
                <xsd:element ref="ns1:PublishingExpirationDate" minOccurs="0"/>
                <xsd:element ref="ns2:SharedWithUsers" minOccurs="0"/>
                <xsd:element ref="ns2:SharingHintHash" minOccurs="0"/>
                <xsd:element ref="ns2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8" nillable="true" ma:displayName="Scheduling Start Date" ma:description="Scheduling Start Date is a site column created by the Publishing feature. It is used to specify the date and time on which this page will first appear to site visitors." ma:internalName="PublishingStartDate">
      <xsd:simpleType>
        <xsd:restriction base="dms:Unknown"/>
      </xsd:simpleType>
    </xsd:element>
    <xsd:element name="PublishingExpirationDate" ma:index="9" nillable="true" ma:displayName="Scheduling End Date" ma:description="Scheduling End Date is a site column created by the Publishing feature. It is used to specify the date and time on which this page will no longer appear to site visitors." ma:internalName="PublishingExpirationDat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057fda7-913b-4ab6-8820-932873bcd66c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ingHintHash" ma:index="11" nillable="true" ma:displayName="Sharing Hint Hash" ma:internalName="SharingHintHash" ma:readOnly="true">
      <xsd:simpleType>
        <xsd:restriction base="dms:Text"/>
      </xsd:simple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ublishingExpirationDate xmlns="http://schemas.microsoft.com/sharepoint/v3" xsi:nil="true"/>
    <PublishingStartDate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F28EF043-B0E6-49AE-B312-D395614284A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066AAC9-B2D0-46BD-87E7-92BBFA7E106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b057fda7-913b-4ab6-8820-932873bcd66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0B8D62D-BE99-40AF-BF97-BFAE812B12CE}">
  <ds:schemaRefs>
    <ds:schemaRef ds:uri="http://purl.org/dc/elements/1.1/"/>
    <ds:schemaRef ds:uri="http://schemas.microsoft.com/office/2006/metadata/properties"/>
    <ds:schemaRef ds:uri="http://schemas.microsoft.com/sharepoint/v3"/>
    <ds:schemaRef ds:uri="http://schemas.microsoft.com/office/2006/documentManagement/types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b057fda7-913b-4ab6-8820-932873bcd66c"/>
    <ds:schemaRef ds:uri="http://www.w3.org/XML/1998/namespace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1431</TotalTime>
  <Words>487</Words>
  <Application>Microsoft Office PowerPoint</Application>
  <PresentationFormat>On-screen Show (16:9)</PresentationFormat>
  <Paragraphs>102</Paragraphs>
  <Slides>11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11</vt:i4>
      </vt:variant>
    </vt:vector>
  </HeadingPairs>
  <TitlesOfParts>
    <vt:vector size="24" baseType="lpstr">
      <vt:lpstr>Arial</vt:lpstr>
      <vt:lpstr>Calibri</vt:lpstr>
      <vt:lpstr>Cambria Math</vt:lpstr>
      <vt:lpstr>Helvetica</vt:lpstr>
      <vt:lpstr>Helvetica Neue</vt:lpstr>
      <vt:lpstr>KishoreFont Medium</vt:lpstr>
      <vt:lpstr>Vitesse</vt:lpstr>
      <vt:lpstr>Vitesse Bold</vt:lpstr>
      <vt:lpstr>Vitesse Book</vt:lpstr>
      <vt:lpstr>Vitesse Medium</vt:lpstr>
      <vt:lpstr>1_Half Page Slash</vt:lpstr>
      <vt:lpstr>Half Page Slash</vt:lpstr>
      <vt:lpstr>Full Page Layout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Exploratory Data Analysis in R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Richard Levine</dc:creator>
  <cp:lastModifiedBy>Aymee Garcia</cp:lastModifiedBy>
  <cp:revision>214</cp:revision>
  <dcterms:modified xsi:type="dcterms:W3CDTF">2020-08-15T20:22:36Z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0x010100E16D43FDACDF02458C96071D7628C880</vt:lpwstr>
  </property>
</Properties>
</file>