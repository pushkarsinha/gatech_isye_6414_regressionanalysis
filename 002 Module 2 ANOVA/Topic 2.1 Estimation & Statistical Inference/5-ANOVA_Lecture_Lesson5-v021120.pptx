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7"/>
  </p:notesMasterIdLst>
  <p:handoutMasterIdLst>
    <p:handoutMasterId r:id="rId18"/>
  </p:handoutMasterIdLst>
  <p:sldIdLst>
    <p:sldId id="428" r:id="rId7"/>
    <p:sldId id="429" r:id="rId8"/>
    <p:sldId id="403" r:id="rId9"/>
    <p:sldId id="305" r:id="rId10"/>
    <p:sldId id="276" r:id="rId11"/>
    <p:sldId id="406" r:id="rId12"/>
    <p:sldId id="409" r:id="rId13"/>
    <p:sldId id="263" r:id="rId14"/>
    <p:sldId id="357" r:id="rId15"/>
    <p:sldId id="439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403"/>
            <p14:sldId id="305"/>
            <p14:sldId id="276"/>
            <p14:sldId id="406"/>
            <p14:sldId id="409"/>
            <p14:sldId id="263"/>
            <p14:sldId id="357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EEB211"/>
    <a:srgbClr val="F8FFF1"/>
    <a:srgbClr val="993200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901" autoAdjust="0"/>
    <p:restoredTop sz="86004"/>
  </p:normalViewPr>
  <p:slideViewPr>
    <p:cSldViewPr snapToGrid="0">
      <p:cViewPr varScale="1">
        <p:scale>
          <a:sx n="72" d="100"/>
          <a:sy n="72" d="100"/>
        </p:scale>
        <p:origin x="1440" y="52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7B35D1-8DDA-F541-B8E0-A1CAB9C36A20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1750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71F2C-8725-6B4B-8917-88567F47CBB5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6950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611A5ECF-4B72-3745-BBAA-01B739CE9466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5602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611A5ECF-4B72-3745-BBAA-01B739CE9466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541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charset="-128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64D47265-900A-A04B-8E6F-730D62CA6C33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265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 dirty="0"/>
              <a:t>Analysis of Variance</a:t>
            </a:r>
            <a:endParaRPr kumimoji="1" lang="zh-CN" altLang="en-US" sz="2400" dirty="0"/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065247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Helvetica" panose="020B0604020202020204" pitchFamily="34" charset="0"/>
                <a:cs typeface="Helvetica" panose="020B0604020202020204" pitchFamily="34" charset="0"/>
              </a:rPr>
              <a:t>Mean Pairwise Comparison</a:t>
            </a:r>
            <a:endParaRPr kumimoji="1" lang="zh-CN" alt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215822"/>
            <a:ext cx="4727575" cy="718454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693860" y="2269882"/>
            <a:ext cx="3692610" cy="930034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99687" y="2286671"/>
                <a:ext cx="3792800" cy="818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mr-IN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</m:rPr>
                                <a:rPr kumimoji="1" lang="en-US" altLang="zh-CN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kumimoji="1"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kumimoji="1"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μ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</m:rPr>
                                <a:rPr kumimoji="1" lang="en-US" altLang="zh-CN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kumimoji="1" lang="zh-CN" altLang="en-US">
                          <a:latin typeface="Cambria Math" panose="02040503050406030204" pitchFamily="18" charset="0"/>
                          <a:ea typeface="KishoreFont Medium" charset="0"/>
                          <a:cs typeface="KishoreFont Medium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mr-IN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±</m:t>
                      </m:r>
                      <m:r>
                        <m:rPr>
                          <m:nor/>
                        </m:rPr>
                        <a:rPr kumimoji="1" lang="zh-CN" altLang="en-US">
                          <a:latin typeface="Cambria Math" panose="02040503050406030204" pitchFamily="18" charset="0"/>
                          <a:ea typeface="KishoreFont Medium" charset="0"/>
                          <a:cs typeface="KishoreFont Medium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α</m:t>
                          </m:r>
                          <m:r>
                            <m:rPr>
                              <m:nor/>
                            </m:rPr>
                            <a:rPr kumimoji="1"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kumimoji="1"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kumimoji="1"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kumimoji="1"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kumimoji="1"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kumimoji="1"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k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mr-I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kumimoji="1" lang="en-US" altLang="zh-CN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MSE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kumimoji="1" lang="en-US" altLang="zh-CN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kumimoji="1" lang="mr-IN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mr-IN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kumimoji="1" lang="en-US" altLang="zh-CN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1"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kumimoji="1" lang="mr-IN" altLang="zh-CN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mr-IN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kumimoji="1" lang="en-US" altLang="zh-CN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1"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rad>
                    </m:oMath>
                  </m:oMathPara>
                </a14:m>
                <a:endParaRPr kumimoji="1" lang="zh-CN" altLang="en-US" dirty="0">
                  <a:latin typeface="Cambria Math" panose="02040503050406030204" pitchFamily="18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87" y="2286671"/>
                <a:ext cx="3792800" cy="818366"/>
              </a:xfrm>
              <a:prstGeom prst="rect">
                <a:avLst/>
              </a:prstGeom>
              <a:blipFill>
                <a:blip r:embed="rId2"/>
                <a:stretch>
                  <a:fillRect b="-14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7"/>
              <p:cNvSpPr txBox="1">
                <a:spLocks noChangeArrowheads="1"/>
              </p:cNvSpPr>
              <p:nvPr/>
            </p:nvSpPr>
            <p:spPr bwMode="auto">
              <a:xfrm>
                <a:off x="1780581" y="3961422"/>
                <a:ext cx="1218591" cy="830997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alt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altLang="en-US" sz="1200" dirty="0">
                    <a:latin typeface="Helvetica" charset="0"/>
                    <a:ea typeface="Helvetica" charset="0"/>
                    <a:cs typeface="Helvetica" charset="0"/>
                  </a:rPr>
                  <a:t> percentile of “studentized range” distribution</a:t>
                </a:r>
              </a:p>
            </p:txBody>
          </p:sp>
        </mc:Choice>
        <mc:Fallback xmlns="">
          <p:sp>
            <p:nvSpPr>
              <p:cNvPr id="13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0581" y="3961422"/>
                <a:ext cx="1218591" cy="830997"/>
              </a:xfrm>
              <a:prstGeom prst="rect">
                <a:avLst/>
              </a:prstGeom>
              <a:blipFill>
                <a:blip r:embed="rId3"/>
                <a:stretch>
                  <a:fillRect t="-719" b="-2878"/>
                </a:stretch>
              </a:blipFill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Up Arrow 14"/>
          <p:cNvSpPr/>
          <p:nvPr/>
        </p:nvSpPr>
        <p:spPr>
          <a:xfrm>
            <a:off x="700897" y="3312144"/>
            <a:ext cx="273844" cy="547854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defTabSz="685793"/>
            <a:endParaRPr lang="en-US" sz="162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91730" y="3961422"/>
            <a:ext cx="968029" cy="646331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200" dirty="0">
                <a:latin typeface="Helvetica" charset="0"/>
                <a:ea typeface="Helvetica" charset="0"/>
                <a:cs typeface="Helvetica" charset="0"/>
              </a:rPr>
              <a:t>Estimate of difference in means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3133251" y="3972225"/>
            <a:ext cx="1305642" cy="646331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200" dirty="0">
                <a:latin typeface="Helvetica" charset="0"/>
                <a:ea typeface="Helvetica" charset="0"/>
                <a:cs typeface="Helvetica" charset="0"/>
              </a:rPr>
              <a:t>Standard deviation/error of estimator </a:t>
            </a:r>
          </a:p>
        </p:txBody>
      </p:sp>
      <p:sp>
        <p:nvSpPr>
          <p:cNvPr id="17" name="Up Arrow 14">
            <a:extLst>
              <a:ext uri="{FF2B5EF4-FFF2-40B4-BE49-F238E27FC236}">
                <a16:creationId xmlns:a16="http://schemas.microsoft.com/office/drawing/2014/main" id="{D856D7CE-466A-467C-8604-8ACFDA46833F}"/>
              </a:ext>
            </a:extLst>
          </p:cNvPr>
          <p:cNvSpPr/>
          <p:nvPr/>
        </p:nvSpPr>
        <p:spPr>
          <a:xfrm>
            <a:off x="1795761" y="3312851"/>
            <a:ext cx="273844" cy="547854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defTabSz="685793"/>
            <a:endParaRPr lang="en-US" sz="162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Up Arrow 14">
            <a:extLst>
              <a:ext uri="{FF2B5EF4-FFF2-40B4-BE49-F238E27FC236}">
                <a16:creationId xmlns:a16="http://schemas.microsoft.com/office/drawing/2014/main" id="{8EBFA7B9-7C52-495A-B93F-7F0557245C7C}"/>
              </a:ext>
            </a:extLst>
          </p:cNvPr>
          <p:cNvSpPr/>
          <p:nvPr/>
        </p:nvSpPr>
        <p:spPr>
          <a:xfrm>
            <a:off x="3151121" y="3312143"/>
            <a:ext cx="273844" cy="547854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defTabSz="685793"/>
            <a:endParaRPr lang="en-US" sz="162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标题 4"/>
          <p:cNvSpPr txBox="1">
            <a:spLocks/>
          </p:cNvSpPr>
          <p:nvPr/>
        </p:nvSpPr>
        <p:spPr>
          <a:xfrm>
            <a:off x="119627" y="214589"/>
            <a:ext cx="8639051" cy="68749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Pairwise Comparison of Means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3"/>
              <p:cNvSpPr txBox="1">
                <a:spLocks noChangeArrowheads="1"/>
              </p:cNvSpPr>
              <p:nvPr/>
            </p:nvSpPr>
            <p:spPr bwMode="auto">
              <a:xfrm>
                <a:off x="139504" y="1007682"/>
                <a:ext cx="8540669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dirty="0">
                    <a:latin typeface="Helvetica" charset="0"/>
                    <a:ea typeface="Helvetica" charset="0"/>
                    <a:cs typeface="Helvetica" charset="0"/>
                  </a:rPr>
                  <a:t>One primary goal of ANOVA might be to determine which treatment means are bigger or smaller. One way to do this is to compare all </a:t>
                </a:r>
                <a:r>
                  <a:rPr lang="en-US" altLang="en-US" i="1" dirty="0">
                    <a:latin typeface="Helvetica" charset="0"/>
                    <a:ea typeface="Helvetica" charset="0"/>
                    <a:cs typeface="Helvetica" charset="0"/>
                  </a:rPr>
                  <a:t>k(k-1)/2</a:t>
                </a:r>
                <a:r>
                  <a:rPr lang="en-US" altLang="en-US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altLang="en-US" u="sng" dirty="0">
                    <a:latin typeface="Helvetica" charset="0"/>
                    <a:ea typeface="Helvetica" charset="0"/>
                    <a:cs typeface="Helvetica" charset="0"/>
                  </a:rPr>
                  <a:t>pairs</a:t>
                </a:r>
                <a:r>
                  <a:rPr lang="en-US" altLang="en-US" dirty="0">
                    <a:latin typeface="Helvetica" charset="0"/>
                    <a:ea typeface="Helvetica" charset="0"/>
                    <a:cs typeface="Helvetica" charset="0"/>
                  </a:rPr>
                  <a:t> of treatments. For a (1 -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altLang="en-US" dirty="0">
                    <a:latin typeface="Symbol" panose="05050102010706020507" pitchFamily="18" charset="2"/>
                    <a:ea typeface="Helvetica" charset="0"/>
                    <a:cs typeface="Helvetica" charset="0"/>
                  </a:rPr>
                  <a:t>)</a:t>
                </a:r>
                <a:r>
                  <a:rPr lang="en-US" altLang="en-US" dirty="0">
                    <a:latin typeface="Helvetica" charset="0"/>
                    <a:ea typeface="Helvetica" charset="0"/>
                    <a:cs typeface="Helvetica" charset="0"/>
                  </a:rPr>
                  <a:t> confidence interval for the mean difference </a:t>
                </a:r>
                <a:r>
                  <a:rPr lang="en-US" altLang="en-US" dirty="0">
                    <a:latin typeface="Symbol" panose="05050102010706020507" pitchFamily="18" charset="2"/>
                    <a:ea typeface="Helvetica" charset="0"/>
                    <a:cs typeface="Helvetica" charset="0"/>
                  </a:rPr>
                  <a:t>m</a:t>
                </a:r>
                <a:r>
                  <a:rPr lang="en-US" altLang="en-US" baseline="-25000" dirty="0">
                    <a:latin typeface="Helvetica" charset="0"/>
                    <a:ea typeface="Helvetica" charset="0"/>
                    <a:cs typeface="Helvetica" charset="0"/>
                  </a:rPr>
                  <a:t>i </a:t>
                </a:r>
                <a:r>
                  <a:rPr lang="en-US" altLang="en-US" dirty="0">
                    <a:latin typeface="Helvetica" charset="0"/>
                    <a:ea typeface="Helvetica" charset="0"/>
                    <a:cs typeface="Helvetica" charset="0"/>
                  </a:rPr>
                  <a:t>– </a:t>
                </a:r>
                <a:r>
                  <a:rPr lang="en-US" altLang="en-US" dirty="0" err="1">
                    <a:latin typeface="Symbol" panose="05050102010706020507" pitchFamily="18" charset="2"/>
                    <a:ea typeface="Helvetica" charset="0"/>
                    <a:cs typeface="Helvetica" charset="0"/>
                  </a:rPr>
                  <a:t>m</a:t>
                </a:r>
                <a:r>
                  <a:rPr lang="en-US" altLang="en-US" baseline="-25000" dirty="0" err="1">
                    <a:latin typeface="Helvetica" charset="0"/>
                    <a:ea typeface="Helvetica" charset="0"/>
                    <a:cs typeface="Helvetica" charset="0"/>
                  </a:rPr>
                  <a:t>j</a:t>
                </a:r>
                <a:r>
                  <a:rPr lang="en-US" altLang="en-US" dirty="0">
                    <a:latin typeface="Helvetica" charset="0"/>
                    <a:ea typeface="Helvetica" charset="0"/>
                    <a:cs typeface="Helvetica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6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504" y="1007682"/>
                <a:ext cx="8540669" cy="923330"/>
              </a:xfrm>
              <a:prstGeom prst="rect">
                <a:avLst/>
              </a:prstGeom>
              <a:blipFill>
                <a:blip r:embed="rId4"/>
                <a:stretch>
                  <a:fillRect l="-642" t="-3289" r="-571" b="-98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653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 animBg="1"/>
      <p:bldP spid="4" grpId="0"/>
      <p:bldP spid="13" grpId="0" animBg="1"/>
      <p:bldP spid="15" grpId="0" animBg="1"/>
      <p:bldP spid="8" grpId="0" animBg="1"/>
      <p:bldP spid="9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4035" name="Text Box 3"/>
              <p:cNvSpPr txBox="1">
                <a:spLocks noChangeArrowheads="1"/>
              </p:cNvSpPr>
              <p:nvPr/>
            </p:nvSpPr>
            <p:spPr bwMode="auto">
              <a:xfrm>
                <a:off x="136897" y="1010855"/>
                <a:ext cx="8410755" cy="1477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b="1" dirty="0">
                    <a:latin typeface="Helvetica" pitchFamily="2" charset="0"/>
                    <a:ea typeface="Helvetica" charset="0"/>
                    <a:cs typeface="Helvetica" charset="0"/>
                  </a:rPr>
                  <a:t>Correct for simultaneous inference</a:t>
                </a:r>
                <a:r>
                  <a:rPr lang="en-US" altLang="en-US" dirty="0">
                    <a:latin typeface="Helvetica" pitchFamily="2" charset="0"/>
                    <a:ea typeface="Helvetica" charset="0"/>
                    <a:cs typeface="Helvetica" charset="0"/>
                  </a:rPr>
                  <a:t>: 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i="1" dirty="0">
                    <a:latin typeface="Helvetica" pitchFamily="2" charset="0"/>
                    <a:ea typeface="Helvetica" charset="0"/>
                    <a:cs typeface="Helvetica" charset="0"/>
                  </a:rPr>
                  <a:t>q</a:t>
                </a:r>
                <a:r>
                  <a:rPr lang="en-US" altLang="en-US" dirty="0">
                    <a:latin typeface="Helvetica" pitchFamily="2" charset="0"/>
                    <a:ea typeface="Helvetica" charset="0"/>
                    <a:cs typeface="Helvetica" charset="0"/>
                  </a:rPr>
                  <a:t> &gt; </a:t>
                </a:r>
                <a:r>
                  <a:rPr lang="en-US" altLang="en-US" i="1" dirty="0">
                    <a:latin typeface="Helvetica" pitchFamily="2" charset="0"/>
                    <a:ea typeface="Helvetica" charset="0"/>
                    <a:cs typeface="Helvetica" charset="0"/>
                  </a:rPr>
                  <a:t>t</a:t>
                </a:r>
                <a:r>
                  <a:rPr lang="en-US" altLang="en-US" dirty="0">
                    <a:latin typeface="Helvetica" pitchFamily="2" charset="0"/>
                    <a:ea typeface="Helvetica" charset="0"/>
                    <a:cs typeface="Helvetica" charset="0"/>
                  </a:rPr>
                  <a:t> (at any fixed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altLang="en-US" dirty="0">
                    <a:latin typeface="Helvetica" pitchFamily="2" charset="0"/>
                    <a:ea typeface="Helvetica" charset="0"/>
                    <a:cs typeface="Helvetica" charset="0"/>
                  </a:rPr>
                  <a:t> and </a:t>
                </a:r>
                <a:r>
                  <a:rPr lang="en-US" altLang="en-US" dirty="0" err="1">
                    <a:latin typeface="Helvetica" pitchFamily="2" charset="0"/>
                    <a:ea typeface="Helvetica" charset="0"/>
                    <a:cs typeface="Helvetica" charset="0"/>
                  </a:rPr>
                  <a:t>df</a:t>
                </a:r>
                <a:r>
                  <a:rPr lang="en-US" altLang="en-US" dirty="0">
                    <a:latin typeface="Helvetica" pitchFamily="2" charset="0"/>
                    <a:ea typeface="Helvetica" charset="0"/>
                    <a:cs typeface="Helvetica" charset="0"/>
                  </a:rPr>
                  <a:t>)</a:t>
                </a:r>
              </a:p>
              <a:p>
                <a:pPr marL="457200" indent="-457200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dirty="0">
                    <a:latin typeface="Helvetica" pitchFamily="2" charset="0"/>
                    <a:ea typeface="Helvetica" charset="0"/>
                    <a:cs typeface="Helvetica" charset="0"/>
                  </a:rPr>
                  <a:t>Intervals are wider to compensate for the fact that we are making simultaneous comparisons (multiplicity correction)</a:t>
                </a:r>
              </a:p>
            </p:txBody>
          </p:sp>
        </mc:Choice>
        <mc:Fallback xmlns="">
          <p:sp>
            <p:nvSpPr>
              <p:cNvPr id="44035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897" y="1010855"/>
                <a:ext cx="8410755" cy="1477328"/>
              </a:xfrm>
              <a:prstGeom prst="rect">
                <a:avLst/>
              </a:prstGeom>
              <a:blipFill>
                <a:blip r:embed="rId3"/>
                <a:stretch>
                  <a:fillRect l="-580" t="-2479" b="-57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48138" y="2574023"/>
            <a:ext cx="8399514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" pitchFamily="2" charset="0"/>
                <a:ea typeface="Helvetica" charset="0"/>
                <a:cs typeface="Helvetica" charset="0"/>
              </a:rPr>
              <a:t>Why?</a:t>
            </a:r>
          </a:p>
          <a:p>
            <a:pPr marL="457200" eaLnBrk="1" hangingPunct="1">
              <a:spcBef>
                <a:spcPct val="50000"/>
              </a:spcBef>
            </a:pPr>
            <a:r>
              <a:rPr lang="en-US" altLang="en-US" b="1" dirty="0">
                <a:latin typeface="Helvetica" pitchFamily="2" charset="0"/>
                <a:ea typeface="Helvetica" charset="0"/>
                <a:cs typeface="Helvetica" charset="0"/>
              </a:rPr>
              <a:t>95% 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</a:rPr>
              <a:t>CIs for two populations  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  <a:sym typeface="Symbol" panose="05050102010706020507" pitchFamily="18" charset="2"/>
              </a:rPr>
              <a:t>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</a:rPr>
              <a:t> </a:t>
            </a:r>
            <a:r>
              <a:rPr lang="is-IS" altLang="en-US" dirty="0">
                <a:latin typeface="Helvetica" pitchFamily="2" charset="0"/>
                <a:ea typeface="Helvetica" charset="0"/>
                <a:cs typeface="Helvetica" charset="0"/>
                <a:sym typeface="Wingdings"/>
              </a:rPr>
              <a:t>(.95)(.95) ≈ .90 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  <a:sym typeface="Symbol" panose="05050102010706020507" pitchFamily="18" charset="2"/>
              </a:rPr>
              <a:t> 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  <a:sym typeface="Wingdings"/>
              </a:rPr>
              <a:t>The simultaneous or joint confidence level for the two parameters is roughly </a:t>
            </a:r>
            <a:r>
              <a:rPr lang="en-US" altLang="en-US" b="1" dirty="0">
                <a:latin typeface="Helvetica" pitchFamily="2" charset="0"/>
                <a:ea typeface="Helvetica" charset="0"/>
                <a:cs typeface="Helvetica" charset="0"/>
                <a:sym typeface="Wingdings"/>
              </a:rPr>
              <a:t>90%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  <a:sym typeface="Wingdings"/>
              </a:rPr>
              <a:t>. </a:t>
            </a:r>
            <a:endParaRPr lang="is-IS" altLang="en-US" dirty="0">
              <a:latin typeface="Helvetica" pitchFamily="2" charset="0"/>
              <a:ea typeface="Helvetica" charset="0"/>
              <a:cs typeface="Helvetica" charset="0"/>
              <a:sym typeface="Wingdings"/>
            </a:endParaRPr>
          </a:p>
          <a:p>
            <a:pPr marL="457200" eaLnBrk="1" hangingPunct="1">
              <a:spcBef>
                <a:spcPct val="50000"/>
              </a:spcBef>
            </a:pPr>
            <a:r>
              <a:rPr lang="en-US" altLang="en-US" b="1" dirty="0">
                <a:latin typeface="Helvetica" pitchFamily="2" charset="0"/>
                <a:ea typeface="Helvetica" charset="0"/>
                <a:cs typeface="Helvetica" charset="0"/>
              </a:rPr>
              <a:t>95% 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</a:rPr>
              <a:t>CIs for three populations 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  <a:sym typeface="Symbol" panose="05050102010706020507" pitchFamily="18" charset="2"/>
              </a:rPr>
              <a:t>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  <a:sym typeface="Wingdings"/>
              </a:rPr>
              <a:t> </a:t>
            </a:r>
            <a:r>
              <a:rPr lang="is-IS" altLang="en-US" dirty="0">
                <a:latin typeface="Helvetica" pitchFamily="2" charset="0"/>
                <a:ea typeface="Helvetica" charset="0"/>
                <a:cs typeface="Helvetica" charset="0"/>
                <a:sym typeface="Wingdings"/>
              </a:rPr>
              <a:t>(.95)(.95)(.95) ≈ .86 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  <a:sym typeface="Symbol" panose="05050102010706020507" pitchFamily="18" charset="2"/>
              </a:rPr>
              <a:t> 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  <a:sym typeface="Wingdings"/>
              </a:rPr>
              <a:t>The simultaneous or joint confidence level for the three parameters is roughly </a:t>
            </a:r>
            <a:r>
              <a:rPr lang="en-US" altLang="en-US" b="1" dirty="0">
                <a:latin typeface="Helvetica" pitchFamily="2" charset="0"/>
                <a:ea typeface="Helvetica" charset="0"/>
                <a:cs typeface="Helvetica" charset="0"/>
                <a:sym typeface="Wingdings"/>
              </a:rPr>
              <a:t>86%</a:t>
            </a:r>
            <a:r>
              <a:rPr lang="en-US" altLang="en-US" dirty="0">
                <a:latin typeface="Helvetica" pitchFamily="2" charset="0"/>
                <a:ea typeface="Helvetica" charset="0"/>
                <a:cs typeface="Helvetica" charset="0"/>
                <a:sym typeface="Wingdings"/>
              </a:rPr>
              <a:t>. </a:t>
            </a:r>
            <a:endParaRPr lang="is-IS" altLang="en-US" dirty="0">
              <a:latin typeface="Helvetica" pitchFamily="2" charset="0"/>
              <a:ea typeface="Helvetica" charset="0"/>
              <a:cs typeface="Helvetica" charset="0"/>
              <a:sym typeface="Wingding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156775" y="198479"/>
                <a:ext cx="7706153" cy="702536"/>
              </a:xfrm>
            </p:spPr>
            <p:txBody>
              <a:bodyPr/>
              <a:lstStyle/>
              <a:p>
                <a:r>
                  <a:rPr kumimoji="1" lang="en-US" altLang="zh-CN" sz="3600" dirty="0">
                    <a:latin typeface="Vitesse"/>
                  </a:rPr>
                  <a:t>Difference Between t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3600" baseline="-25000" dirty="0" smtClean="0">
                        <a:latin typeface="Vitesse"/>
                        <a:ea typeface="Vitesse Book" charset="0"/>
                        <a:cs typeface="Vitesse Book" charset="0"/>
                      </a:rPr>
                      <m:t>α</m:t>
                    </m:r>
                    <m:r>
                      <m:rPr>
                        <m:nor/>
                      </m:rPr>
                      <a:rPr kumimoji="1" lang="en-US" altLang="zh-CN" sz="3600" b="0" i="0" baseline="-25000" dirty="0" smtClean="0">
                        <a:latin typeface="Vitesse"/>
                        <a:ea typeface="Vitesse Book" charset="0"/>
                        <a:cs typeface="Vitesse Book" charset="0"/>
                      </a:rPr>
                      <m:t> </m:t>
                    </m:r>
                  </m:oMath>
                </a14:m>
                <a:r>
                  <a:rPr kumimoji="1" lang="en-US" altLang="zh-CN" sz="3600" dirty="0">
                    <a:latin typeface="Vitesse"/>
                  </a:rPr>
                  <a:t>and q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3600" baseline="-25000" dirty="0">
                        <a:latin typeface="Vitesse"/>
                        <a:ea typeface="Vitesse Book" charset="0"/>
                        <a:cs typeface="Vitesse Book" charset="0"/>
                      </a:rPr>
                      <m:t>α</m:t>
                    </m:r>
                  </m:oMath>
                </a14:m>
                <a:endParaRPr kumimoji="1" lang="zh-CN" altLang="en-US" sz="3600" baseline="-25000" dirty="0">
                  <a:latin typeface="Vitesse"/>
                  <a:ea typeface="Vitesse Book" charset="0"/>
                  <a:cs typeface="Vitesse Book" charset="0"/>
                </a:endParaRPr>
              </a:p>
            </p:txBody>
          </p:sp>
        </mc:Choice>
        <mc:Fallback xmlns="">
          <p:sp>
            <p:nvSpPr>
              <p:cNvPr id="6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6775" y="198479"/>
                <a:ext cx="7706153" cy="702536"/>
              </a:xfrm>
              <a:blipFill>
                <a:blip r:embed="rId4"/>
                <a:stretch>
                  <a:fillRect l="-2453" t="-13913" b="-2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2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4"/>
          <p:cNvSpPr txBox="1">
            <a:spLocks noChangeArrowheads="1"/>
          </p:cNvSpPr>
          <p:nvPr/>
        </p:nvSpPr>
        <p:spPr bwMode="auto">
          <a:xfrm>
            <a:off x="697610" y="1276577"/>
            <a:ext cx="3176701" cy="64633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1">
                    <a:lumMod val="50000"/>
                  </a:schemeClr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algn="l"/>
            <a:r>
              <a:rPr lang="en-US" altLang="en-US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Which country regions have different suicide rates?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257" y="207962"/>
            <a:ext cx="8562392" cy="633551"/>
          </a:xfrm>
          <a:prstGeom prst="rect">
            <a:avLst/>
          </a:prstGeom>
        </p:spPr>
        <p:txBody>
          <a:bodyPr/>
          <a:lstStyle/>
          <a:p>
            <a:pPr algn="l"/>
            <a:r>
              <a:rPr kumimoji="1" lang="en-US" altLang="zh-CN" sz="3600" dirty="0">
                <a:latin typeface="Vitesse" charset="0"/>
                <a:ea typeface="Vitesse" charset="0"/>
                <a:cs typeface="Vitesse" charset="0"/>
              </a:rPr>
              <a:t>Example1: Global Suicide by Region</a:t>
            </a:r>
            <a:endParaRPr kumimoji="1" lang="zh-CN" altLang="en-US" sz="3600" dirty="0">
              <a:latin typeface="Vitesse" charset="0"/>
              <a:ea typeface="Vitesse" charset="0"/>
              <a:cs typeface="Vitesse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93" r="75823" b="1"/>
          <a:stretch/>
        </p:blipFill>
        <p:spPr>
          <a:xfrm>
            <a:off x="5254861" y="1248388"/>
            <a:ext cx="2680594" cy="241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6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0164104-AB94-4B9F-B7D9-4CAD1D8077B4}"/>
              </a:ext>
            </a:extLst>
          </p:cNvPr>
          <p:cNvSpPr txBox="1"/>
          <p:nvPr/>
        </p:nvSpPr>
        <p:spPr>
          <a:xfrm flipH="1">
            <a:off x="135836" y="4537990"/>
            <a:ext cx="198196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20" dirty="0">
                <a:latin typeface="Helvetica" panose="020B0604020202020204" pitchFamily="34" charset="0"/>
                <a:cs typeface="Helvetica" panose="020B0604020202020204" pitchFamily="34" charset="0"/>
              </a:rPr>
              <a:t>……..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92F6F07-A0E3-476E-895D-96ABA0B20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25648"/>
            <a:ext cx="8032066" cy="29238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TukeyHSD</a:t>
            </a:r>
            <a:r>
              <a:rPr lang="en-US" alt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alt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lang="en-US" alt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(suicidesper100k ~ region, data=</a:t>
            </a:r>
            <a:r>
              <a:rPr lang="en-US" alt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suicide_data</a:t>
            </a:r>
            <a:r>
              <a:rPr lang="en-US" alt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))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altLang="en-US" sz="1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Tukey multiple comparisons of means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95% family-wise confidence level </a:t>
            </a:r>
          </a:p>
          <a:p>
            <a:pPr lvl="0"/>
            <a:r>
              <a:rPr lang="en-US" altLang="en-US" sz="1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$region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   					diff         	</a:t>
            </a:r>
            <a:r>
              <a:rPr lang="en-US" altLang="en-US" sz="10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lwr</a:t>
            </a:r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		</a:t>
            </a:r>
            <a:r>
              <a:rPr lang="en-US" altLang="en-US" sz="10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upr</a:t>
            </a:r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		p adj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EASTERN EUROPE-ASIA			7.1256986  	-0.8654681 	15.1168654 	0.1218931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GLOBAL WEST-ASIA				1.3948384  	-6.3253621  	9.1150390 	0.9998655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LATIN AMER. &amp; CARIB-ASIA			-2.4242761  	-9.7079484  	4.8593961 	0.9848625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MIDDLE EAST-ASIA                 			-7.8183246 	-17.4646356  	1.8279865 	0.2171605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NORTHERN AMERICA-ASIA   			1.8826591 	-18.6470201 	22.4123382 	0.9999996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OCEANIA-ASIA                       			-0.6423728 	-13.5277421 	12.2429965 	1.0000000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SUB-SAHARAN AFRICA-ASIA 			-4.2457218 	-17.1310911  	8.6396474 	0.9858800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WESTERN ASIA-ASIA               			-9.6996143 	-30.2292935 	10.8300649 	0.8717761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WESTERN EUROPE-ASIA   			2.4643324 	-10.4210369 	15.3497016 	0.9997844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GLOBAL WEST-EASTERN EUROPE         	-5.7308602 	-12.5740866  	1.1123662 	0.1809537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LATIN AMER. &amp; CARIB-EASTERN EUROPE 	-9.5499748 	-15.8966379 	-3.2033117 	0.0002123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MIDDLE EAST-EASTERN EUROPE         	-14.9440232 	-23.9039098 	-5.9841367 	0.000026</a:t>
            </a:r>
          </a:p>
          <a:p>
            <a:pPr lvl="0"/>
            <a:endParaRPr lang="en-US" altLang="en-US" sz="1200" dirty="0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117533" y="207962"/>
            <a:ext cx="8562392" cy="9937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Pairwise Comparison</a:t>
            </a:r>
          </a:p>
        </p:txBody>
      </p:sp>
    </p:spTree>
    <p:extLst>
      <p:ext uri="{BB962C8B-B14F-4D97-AF65-F5344CB8AC3E}">
        <p14:creationId xmlns:p14="http://schemas.microsoft.com/office/powerpoint/2010/main" val="97721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4">
            <a:extLst>
              <a:ext uri="{FF2B5EF4-FFF2-40B4-BE49-F238E27FC236}">
                <a16:creationId xmlns:a16="http://schemas.microsoft.com/office/drawing/2014/main" id="{38335A86-35AE-4A60-A078-30CFB5C1C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077" y="1059388"/>
            <a:ext cx="2325757" cy="299013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>
            <a:defPPr>
              <a:defRPr lang="zh-CN"/>
            </a:defPPr>
            <a:lvl1pPr marL="0" algn="ctr" defTabSz="685800" eaLnBrk="1" latinLnBrk="0" hangingPunct="1">
              <a:defRPr sz="1800">
                <a:solidFill>
                  <a:schemeClr val="lt1"/>
                </a:solidFill>
                <a:latin typeface="+mn-lt"/>
                <a:ea typeface="+mn-ea"/>
              </a:defRPr>
            </a:lvl1pPr>
            <a:lvl2pPr marL="3429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2pPr>
            <a:lvl3pPr marL="6858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3pPr>
            <a:lvl4pPr marL="10287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4pPr>
            <a:lvl5pPr marL="13716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5pPr>
            <a:lvl6pPr marL="17145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6pPr>
            <a:lvl7pPr marL="20574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7pPr>
            <a:lvl8pPr marL="24003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8pPr>
            <a:lvl9pPr marL="27432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231775" indent="-231775" algn="l">
              <a:spcAft>
                <a:spcPts val="54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10 different categories, total of 45 different pairwise comparisons</a:t>
            </a:r>
          </a:p>
          <a:p>
            <a:pPr marL="231775" indent="-231775" algn="l">
              <a:spcAft>
                <a:spcPts val="54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 Two groups with only one observation and three groups with three observations –     not sufficient data for comparison</a:t>
            </a:r>
          </a:p>
          <a:p>
            <a:pPr marL="231775" indent="-231775" algn="l">
              <a:spcAft>
                <a:spcPts val="54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Only three pairs have an adjusted p-value smaller than 0.05: Latin America vs Eastern Europe, Middle East vs Eastern Europe and Middle East vs Global West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17533" y="207962"/>
            <a:ext cx="8562392" cy="9937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Pairwise Comparison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92F6F07-A0E3-476E-895D-96ABA0B20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25648"/>
            <a:ext cx="8032066" cy="292387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TukeyHSD</a:t>
            </a:r>
            <a:r>
              <a:rPr lang="en-US" alt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alt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lang="en-US" alt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(suicidesper100k ~ region, data=</a:t>
            </a:r>
            <a:r>
              <a:rPr lang="en-US" alt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suicide_data</a:t>
            </a:r>
            <a:r>
              <a:rPr lang="en-US" alt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))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altLang="en-US" sz="1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Tukey multiple comparisons of means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95% family-wise confidence level </a:t>
            </a:r>
          </a:p>
          <a:p>
            <a:pPr lvl="0"/>
            <a:r>
              <a:rPr lang="en-US" altLang="en-US" sz="1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$region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   					diff         	</a:t>
            </a:r>
            <a:r>
              <a:rPr lang="en-US" altLang="en-US" sz="10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lwr</a:t>
            </a:r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		</a:t>
            </a:r>
            <a:r>
              <a:rPr lang="en-US" altLang="en-US" sz="10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upr</a:t>
            </a:r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		p adj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EASTERN EUROPE-ASIA			7.1256986  	-0.8654681 	15.1168654 	0.1218931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GLOBAL WEST-ASIA				1.3948384  	-6.3253621  	9.1150390 	0.9998655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LATIN AMER. &amp; CARIB-ASIA			-2.4242761  	-9.7079484  	4.8593961 	0.9848625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MIDDLE EAST-ASIA                 			-7.8183246 	-17.4646356  	1.8279865 	0.2171605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NORTHERN AMERICA-ASIA   			1.8826591 	-18.6470201 	22.4123382 	0.9999996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OCEANIA-ASIA                       			-0.6423728 	-13.5277421 	12.2429965 	1.0000000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SUB-SAHARAN AFRICA-ASIA 			-4.2457218 	-17.1310911  	8.6396474 	0.9858800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WESTERN ASIA-ASIA               			-9.6996143 	-30.2292935 	10.8300649 	0.8717761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WESTERN EUROPE-ASIA   			2.4643324 	-10.4210369 	15.3497016 	0.9997844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GLOBAL WEST-EASTERN EUROPE         	-5.7308602 	-12.5740866  	1.1123662 	0.1809537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LATIN AMER. &amp; CARIB-EASTERN EUROPE 	-9.5499748 	-15.8966379 	-3.2033117 	0.0002123</a:t>
            </a:r>
          </a:p>
          <a:p>
            <a:pPr lvl="0"/>
            <a:r>
              <a:rPr lang="en-US" altLang="en-US" sz="10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MIDDLE EAST-EASTERN EUROPE         	-14.9440232 	-23.9039098 	-5.9841367 	0.000026</a:t>
            </a:r>
          </a:p>
          <a:p>
            <a:pPr lvl="0"/>
            <a:endParaRPr lang="en-US" altLang="en-US" sz="1200" dirty="0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164104-AB94-4B9F-B7D9-4CAD1D8077B4}"/>
              </a:ext>
            </a:extLst>
          </p:cNvPr>
          <p:cNvSpPr txBox="1"/>
          <p:nvPr/>
        </p:nvSpPr>
        <p:spPr>
          <a:xfrm flipH="1">
            <a:off x="135836" y="4537990"/>
            <a:ext cx="1981962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20" dirty="0">
                <a:latin typeface="Helvetica" panose="020B0604020202020204" pitchFamily="34" charset="0"/>
                <a:cs typeface="Helvetica" panose="020B0604020202020204" pitchFamily="34" charset="0"/>
              </a:rPr>
              <a:t>……..</a:t>
            </a:r>
          </a:p>
        </p:txBody>
      </p:sp>
    </p:spTree>
    <p:extLst>
      <p:ext uri="{BB962C8B-B14F-4D97-AF65-F5344CB8AC3E}">
        <p14:creationId xmlns:p14="http://schemas.microsoft.com/office/powerpoint/2010/main" val="145456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53338" y="1009758"/>
            <a:ext cx="38290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Helvetica" charset="0"/>
                <a:ea typeface="Helvetica" charset="0"/>
                <a:cs typeface="Helvetica" charset="0"/>
              </a:rPr>
              <a:t>Three different keyboard layouts are being compared in terms of typing speed. </a:t>
            </a:r>
          </a:p>
        </p:txBody>
      </p:sp>
      <p:sp>
        <p:nvSpPr>
          <p:cNvPr id="10246" name="AutoShape 6" descr="Typewriter"/>
          <p:cNvSpPr>
            <a:spLocks noChangeAspect="1" noChangeArrowheads="1"/>
          </p:cNvSpPr>
          <p:nvPr/>
        </p:nvSpPr>
        <p:spPr bwMode="auto">
          <a:xfrm>
            <a:off x="4186238" y="2185988"/>
            <a:ext cx="7715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endParaRPr lang="en-US" altLang="en-US" sz="1800">
              <a:latin typeface="Times New Roman" charset="0"/>
            </a:endParaRPr>
          </a:p>
        </p:txBody>
      </p:sp>
      <p:sp>
        <p:nvSpPr>
          <p:cNvPr id="10247" name="AutoShape 7" descr="Typewriter"/>
          <p:cNvSpPr>
            <a:spLocks noChangeAspect="1" noChangeArrowheads="1"/>
          </p:cNvSpPr>
          <p:nvPr/>
        </p:nvSpPr>
        <p:spPr bwMode="auto">
          <a:xfrm>
            <a:off x="4186238" y="2185988"/>
            <a:ext cx="7715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endParaRPr lang="en-US" altLang="en-US" sz="1800">
              <a:latin typeface="Times New Roman" charset="0"/>
            </a:endParaRPr>
          </a:p>
        </p:txBody>
      </p:sp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0995" y="3016572"/>
            <a:ext cx="2111718" cy="2130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413ABE08-8BB6-744B-8AB3-9A23B92FA23C}"/>
              </a:ext>
            </a:extLst>
          </p:cNvPr>
          <p:cNvSpPr txBox="1">
            <a:spLocks/>
          </p:cNvSpPr>
          <p:nvPr/>
        </p:nvSpPr>
        <p:spPr>
          <a:xfrm>
            <a:off x="153338" y="207962"/>
            <a:ext cx="8562392" cy="731359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ANOVA Example 2: Keyboard Layout</a:t>
            </a:r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1397CADE-F609-2C49-A96E-5CB5AFAF2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34" y="2102800"/>
            <a:ext cx="408372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defTabSz="685800" eaLnBrk="1" latinLnBrk="0" hangingPunct="1">
              <a:defRPr sz="1800" i="1">
                <a:latin typeface="Helvetica" charset="0"/>
                <a:ea typeface="Helvetica" charset="0"/>
                <a:cs typeface="Helvetica" charset="0"/>
              </a:defRPr>
            </a:lvl1pPr>
            <a:lvl2pPr marL="3429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2pPr>
            <a:lvl3pPr marL="6858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3pPr>
            <a:lvl4pPr marL="10287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4pPr>
            <a:lvl5pPr marL="13716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5pPr>
            <a:lvl6pPr marL="17145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6pPr>
            <a:lvl7pPr marL="20574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7pPr>
            <a:lvl8pPr marL="24003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8pPr>
            <a:lvl9pPr marL="27432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en-US" i="0" dirty="0">
                <a:solidFill>
                  <a:schemeClr val="tx1"/>
                </a:solidFill>
              </a:rPr>
              <a:t>Which mean typing times for the three keyboard layouts are different?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524500" y="1081016"/>
            <a:ext cx="2817743" cy="3610254"/>
            <a:chOff x="5524500" y="491298"/>
            <a:chExt cx="2864674" cy="3614663"/>
          </a:xfrm>
        </p:grpSpPr>
        <p:sp>
          <p:nvSpPr>
            <p:cNvPr id="13" name="Rectangle 2"/>
            <p:cNvSpPr>
              <a:spLocks noChangeArrowheads="1"/>
            </p:cNvSpPr>
            <p:nvPr/>
          </p:nvSpPr>
          <p:spPr bwMode="auto">
            <a:xfrm>
              <a:off x="5524500" y="491298"/>
              <a:ext cx="2631781" cy="3614663"/>
            </a:xfrm>
            <a:prstGeom prst="rect">
              <a:avLst/>
            </a:prstGeom>
            <a:solidFill>
              <a:srgbClr val="EEB21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1800"/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5542504" y="494893"/>
              <a:ext cx="2846670" cy="3600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Layout 1	Layout 2	Layout 3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23.8		30.2		27.0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25.6		29.9		25.4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24.0		29.1		25.6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25.1		28.8		24.2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25.5		29.1		24.8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26.1		28.6		24.0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23.8		28.3		25.5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25.7		28.7		23.9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24.3		27.9		22.6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26.0		30.5		26.0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24.6		*   		23.4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27.0		*   		*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0131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4"/>
          <p:cNvSpPr txBox="1">
            <a:spLocks noChangeArrowheads="1"/>
          </p:cNvSpPr>
          <p:nvPr/>
        </p:nvSpPr>
        <p:spPr bwMode="auto">
          <a:xfrm>
            <a:off x="5531125" y="1045302"/>
            <a:ext cx="3277759" cy="20490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>
            <a:defPPr>
              <a:defRPr lang="en-US"/>
            </a:defPPr>
            <a:lvl1pPr marL="0" defTabSz="685800" eaLnBrk="1" latinLnBrk="0" hangingPunct="1">
              <a:defRPr sz="1800" i="1">
                <a:latin typeface="Helvetica" charset="0"/>
                <a:ea typeface="Helvetica" charset="0"/>
                <a:cs typeface="Helvetica" charset="0"/>
              </a:defRPr>
            </a:lvl1pPr>
            <a:lvl2pPr marL="3429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2pPr>
            <a:lvl3pPr marL="6858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3pPr>
            <a:lvl4pPr marL="10287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4pPr>
            <a:lvl5pPr marL="1371600" defTabSz="685800" eaLnBrk="1" latinLnBrk="0" hangingPunct="1">
              <a:defRPr sz="1350">
                <a:solidFill>
                  <a:schemeClr val="lt1"/>
                </a:solidFill>
                <a:latin typeface="+mn-lt"/>
                <a:ea typeface="+mn-ea"/>
              </a:defRPr>
            </a:lvl5pPr>
            <a:lvl6pPr marL="17145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6pPr>
            <a:lvl7pPr marL="20574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7pPr>
            <a:lvl8pPr marL="24003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8pPr>
            <a:lvl9pPr marL="2743200" defTabSz="685800">
              <a:defRPr sz="1350"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231775" indent="-231775">
              <a:spcAft>
                <a:spcPts val="1080"/>
              </a:spcAft>
              <a:buFont typeface="Arial" panose="020B0604020202020204" pitchFamily="34" charset="0"/>
              <a:buChar char="•"/>
            </a:pPr>
            <a:r>
              <a:rPr lang="en-US" altLang="en-US" sz="1600" i="0" dirty="0">
                <a:solidFill>
                  <a:schemeClr val="tx1"/>
                </a:solidFill>
              </a:rPr>
              <a:t>Keyboard layout 2 has a statistically significantly higher typing time than keyboard layouts 1 and 3, on average. </a:t>
            </a:r>
          </a:p>
          <a:p>
            <a:pPr marL="231775" indent="-231775">
              <a:buFont typeface="Arial" panose="020B0604020202020204" pitchFamily="34" charset="0"/>
              <a:buChar char="•"/>
            </a:pPr>
            <a:r>
              <a:rPr lang="en-US" altLang="en-US" sz="1600" i="0" dirty="0">
                <a:solidFill>
                  <a:schemeClr val="tx1"/>
                </a:solidFill>
              </a:rPr>
              <a:t>It is plausible that keyboard layouts 1 and 3 have similar typing time, on average.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9B55FE-6D17-4167-9FB8-AA49979C6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67" y="1108125"/>
            <a:ext cx="4732020" cy="21328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6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TukeyHSD</a:t>
            </a:r>
            <a:r>
              <a:rPr lang="en-US" altLang="en-US" sz="126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altLang="en-US" sz="126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lang="en-US" altLang="en-US" sz="1260" i="1" dirty="0">
                <a:latin typeface="Helvetica" panose="020B0604020202020204" pitchFamily="34" charset="0"/>
                <a:cs typeface="Helvetica" panose="020B0604020202020204" pitchFamily="34" charset="0"/>
              </a:rPr>
              <a:t>(speed ~ layout))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  Tukey multiple comparisons of means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   95% family-wise confidence level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6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Fit: </a:t>
            </a:r>
            <a:r>
              <a:rPr lang="en-US" altLang="en-US" sz="1260" dirty="0" err="1"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(formula = speed ~ layout) 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6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$layout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      	diff       	</a:t>
            </a:r>
            <a:r>
              <a:rPr lang="en-US" altLang="en-US" sz="1260" dirty="0" err="1">
                <a:latin typeface="Helvetica" panose="020B0604020202020204" pitchFamily="34" charset="0"/>
                <a:cs typeface="Helvetica" panose="020B0604020202020204" pitchFamily="34" charset="0"/>
              </a:rPr>
              <a:t>lwr</a:t>
            </a: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        	</a:t>
            </a:r>
            <a:r>
              <a:rPr lang="en-US" altLang="en-US" sz="1260" dirty="0" err="1">
                <a:latin typeface="Helvetica" panose="020B0604020202020204" pitchFamily="34" charset="0"/>
                <a:cs typeface="Helvetica" panose="020B0604020202020204" pitchFamily="34" charset="0"/>
              </a:rPr>
              <a:t>upr</a:t>
            </a: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     	 p adj 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2-1  3.9850000  2.854395   5.1156053     0.0000000 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3-1 -0.3613636 -1.463581   0.7408538    0.7008915 </a:t>
            </a:r>
          </a:p>
          <a:p>
            <a:pPr defTabSz="82296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60" dirty="0">
                <a:latin typeface="Helvetica" panose="020B0604020202020204" pitchFamily="34" charset="0"/>
                <a:cs typeface="Helvetica" panose="020B0604020202020204" pitchFamily="34" charset="0"/>
              </a:rPr>
              <a:t>3-2 -4.3463636 -5.500092  -3.1926352    0.0000000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17533" y="207962"/>
            <a:ext cx="8562392" cy="9937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Pairwise Comparison</a:t>
            </a:r>
          </a:p>
        </p:txBody>
      </p:sp>
    </p:spTree>
    <p:extLst>
      <p:ext uri="{BB962C8B-B14F-4D97-AF65-F5344CB8AC3E}">
        <p14:creationId xmlns:p14="http://schemas.microsoft.com/office/powerpoint/2010/main" val="149390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6782" y="212228"/>
            <a:ext cx="4727575" cy="755181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B8D62D-BE99-40AF-BF97-BFAE812B12CE}">
  <ds:schemaRefs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2006/documentManagement/types"/>
    <ds:schemaRef ds:uri="http://purl.org/dc/elements/1.1/"/>
    <ds:schemaRef ds:uri="b057fda7-913b-4ab6-8820-932873bcd66c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453</Words>
  <Application>Microsoft Office PowerPoint</Application>
  <PresentationFormat>On-screen Show (16:9)</PresentationFormat>
  <Paragraphs>100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</vt:lpstr>
      <vt:lpstr>Calibri</vt:lpstr>
      <vt:lpstr>Cambria Math</vt:lpstr>
      <vt:lpstr>Helvetica</vt:lpstr>
      <vt:lpstr>Symbol</vt:lpstr>
      <vt:lpstr>Times New Roman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PowerPoint Presentation</vt:lpstr>
      <vt:lpstr>Difference Between t"α "and q"α"</vt:lpstr>
      <vt:lpstr>Example1: Global Suicide by Region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Rodriguez, Ramon S</cp:lastModifiedBy>
  <cp:revision>206</cp:revision>
  <dcterms:modified xsi:type="dcterms:W3CDTF">2020-04-16T13:57:41Z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