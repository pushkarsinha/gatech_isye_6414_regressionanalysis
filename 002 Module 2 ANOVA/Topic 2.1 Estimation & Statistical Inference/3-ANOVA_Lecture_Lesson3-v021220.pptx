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  <p:sldMasterId id="2147483705" r:id="rId5"/>
    <p:sldMasterId id="2147483699" r:id="rId6"/>
  </p:sldMasterIdLst>
  <p:notesMasterIdLst>
    <p:notesMasterId r:id="rId14"/>
  </p:notesMasterIdLst>
  <p:handoutMasterIdLst>
    <p:handoutMasterId r:id="rId15"/>
  </p:handoutMasterIdLst>
  <p:sldIdLst>
    <p:sldId id="428" r:id="rId7"/>
    <p:sldId id="429" r:id="rId8"/>
    <p:sldId id="276" r:id="rId9"/>
    <p:sldId id="277" r:id="rId10"/>
    <p:sldId id="263" r:id="rId11"/>
    <p:sldId id="279" r:id="rId12"/>
    <p:sldId id="439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567BE6-4E2E-2A45-BD72-59F9659A3211}">
          <p14:sldIdLst>
            <p14:sldId id="428"/>
            <p14:sldId id="429"/>
            <p14:sldId id="276"/>
            <p14:sldId id="277"/>
            <p14:sldId id="263"/>
            <p14:sldId id="279"/>
            <p14:sldId id="4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pos="144" userDrawn="1">
          <p15:clr>
            <a:srgbClr val="A4A3A4"/>
          </p15:clr>
        </p15:guide>
        <p15:guide id="4" orient="horz" pos="444" userDrawn="1">
          <p15:clr>
            <a:srgbClr val="A4A3A4"/>
          </p15:clr>
        </p15:guide>
        <p15:guide id="5" orient="horz" pos="804" userDrawn="1">
          <p15:clr>
            <a:srgbClr val="A4A3A4"/>
          </p15:clr>
        </p15:guide>
        <p15:guide id="6" pos="3480" userDrawn="1">
          <p15:clr>
            <a:srgbClr val="A4A3A4"/>
          </p15:clr>
        </p15:guide>
        <p15:guide id="7" pos="432" userDrawn="1">
          <p15:clr>
            <a:srgbClr val="A4A3A4"/>
          </p15:clr>
        </p15:guide>
        <p15:guide id="8" pos="25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Rodriguez, Ramon S" initials="RRS" lastIdx="1" clrIdx="6">
    <p:extLst>
      <p:ext uri="{19B8F6BF-5375-455C-9EA6-DF929625EA0E}">
        <p15:presenceInfo xmlns:p15="http://schemas.microsoft.com/office/powerpoint/2012/main" userId="S-1-5-21-1177238915-2111687655-1060284298-1451345" providerId="AD"/>
      </p:ext>
    </p:extLst>
  </p:cmAuthor>
  <p:cmAuthor id="1" name="Figueroa, Shabana" initials="FS" lastIdx="16" clrIdx="0"/>
  <p:cmAuthor id="2" name="Figueroa, Shabana" initials="FS [2]" lastIdx="1" clrIdx="1"/>
  <p:cmAuthor id="3" name="Serban, Nicoleta" initials="SN" lastIdx="11" clrIdx="2"/>
  <p:cmAuthor id="4" name="Hu, Rui" initials="HR" lastIdx="1" clrIdx="3"/>
  <p:cmAuthor id="5" name="Hu, Rui" initials="HR [2]" lastIdx="1" clrIdx="4"/>
  <p:cmAuthor id="6" name="Richard Levine" initials="RL" lastIdx="2" clrIdx="5">
    <p:extLst>
      <p:ext uri="{19B8F6BF-5375-455C-9EA6-DF929625EA0E}">
        <p15:presenceInfo xmlns:p15="http://schemas.microsoft.com/office/powerpoint/2012/main" userId="Richard Levin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A70B"/>
    <a:srgbClr val="EEB211"/>
    <a:srgbClr val="F8FFF1"/>
    <a:srgbClr val="993200"/>
    <a:srgbClr val="000000"/>
    <a:srgbClr val="F7FFEE"/>
    <a:srgbClr val="F5FCE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10" autoAdjust="0"/>
    <p:restoredTop sz="86019"/>
  </p:normalViewPr>
  <p:slideViewPr>
    <p:cSldViewPr snapToGrid="0">
      <p:cViewPr varScale="1">
        <p:scale>
          <a:sx n="144" d="100"/>
          <a:sy n="144" d="100"/>
        </p:scale>
        <p:origin x="936" y="120"/>
      </p:cViewPr>
      <p:guideLst>
        <p:guide orient="horz" pos="1620"/>
        <p:guide pos="2880"/>
        <p:guide pos="144"/>
        <p:guide orient="horz" pos="444"/>
        <p:guide orient="horz" pos="804"/>
        <p:guide pos="3480"/>
        <p:guide pos="432"/>
        <p:guide pos="25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FD447-ACB1-BC49-B8EF-23729E0A333F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598F-7A46-204A-ADDD-A1229C86B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738FA-185A-CF4F-BD02-7990310E47F3}" type="datetimeFigureOut">
              <a:rPr lang="en-US" smtClean="0"/>
              <a:t>2/12/2020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3F7A93-C87A-E149-BF89-5D793380F1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071F2C-8725-6B4B-8917-88567F47CBB5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62798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>
              <a:ea typeface="MS PGothic" charset="-128"/>
            </a:endParaRPr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54B69E09-4C2A-7242-806E-C5A40D9C06AC}" type="slidenum">
              <a:rPr lang="en-US" altLang="en-US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7017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777875" y="1200150"/>
            <a:ext cx="5759450" cy="3240088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>
              <a:ea typeface="MS PGothic" charset="-128"/>
            </a:endParaRP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fld id="{657201DF-6463-034D-A612-1E7361112C13}" type="slidenum">
              <a:rPr lang="en-US" altLang="en-US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3191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81920" y="1421266"/>
            <a:ext cx="4727575" cy="13303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3025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5520941" cy="993775"/>
          </a:xfrm>
          <a:prstGeom prst="rect">
            <a:avLst/>
          </a:prstGeom>
        </p:spPr>
        <p:txBody>
          <a:bodyPr/>
          <a:lstStyle>
            <a:lvl1pPr algn="l">
              <a:defRPr lang="en-US" sz="44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628649" y="1436688"/>
            <a:ext cx="4375430" cy="2994025"/>
          </a:xfrm>
          <a:prstGeom prst="rect">
            <a:avLst/>
          </a:prstGeom>
        </p:spPr>
        <p:txBody>
          <a:bodyPr/>
          <a:lstStyle>
            <a:lvl1pPr>
              <a:defRPr>
                <a:latin typeface="Vitesse Book" charset="0"/>
                <a:ea typeface="Vitesse Book" charset="0"/>
                <a:cs typeface="Vitesse Book" charset="0"/>
              </a:defRPr>
            </a:lvl1pPr>
            <a:lvl2pPr>
              <a:defRPr>
                <a:latin typeface="Vitesse Book" charset="0"/>
                <a:ea typeface="Vitesse Book" charset="0"/>
                <a:cs typeface="Vitesse Book" charset="0"/>
              </a:defRPr>
            </a:lvl2pPr>
            <a:lvl3pPr>
              <a:defRPr>
                <a:latin typeface="Vitesse Book" charset="0"/>
                <a:ea typeface="Vitesse Book" charset="0"/>
                <a:cs typeface="Vitesse Book" charset="0"/>
              </a:defRPr>
            </a:lvl3pPr>
            <a:lvl4pPr>
              <a:defRPr>
                <a:latin typeface="Vitesse Book" charset="0"/>
                <a:ea typeface="Vitesse Book" charset="0"/>
                <a:cs typeface="Vitesse Book" charset="0"/>
              </a:defRPr>
            </a:lvl4pPr>
            <a:lvl5pPr>
              <a:defRPr>
                <a:latin typeface="Vitesse Book" charset="0"/>
                <a:ea typeface="Vitesse Book" charset="0"/>
                <a:cs typeface="Vitesse Book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4431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02E78-3C88-9A40-B579-FA4DB2691E4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073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805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4F0668-60AC-E24C-8E50-B74DE0FA4F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100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562392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306265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5"/>
          <p:cNvSpPr>
            <a:spLocks noGrp="1"/>
          </p:cNvSpPr>
          <p:nvPr>
            <p:ph sz="quarter" idx="10"/>
          </p:nvPr>
        </p:nvSpPr>
        <p:spPr>
          <a:xfrm>
            <a:off x="252349" y="1268453"/>
            <a:ext cx="8280166" cy="3519917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Helvetica" charset="0"/>
                <a:ea typeface="Helvetica" charset="0"/>
                <a:cs typeface="Helvetica" charset="0"/>
              </a:defRPr>
            </a:lvl1pPr>
            <a:lvl2pPr>
              <a:defRPr sz="1800">
                <a:latin typeface="Helvetica" charset="0"/>
                <a:ea typeface="Helvetica" charset="0"/>
                <a:cs typeface="Helvetica" charset="0"/>
              </a:defRPr>
            </a:lvl2pPr>
            <a:lvl3pPr>
              <a:defRPr sz="1800">
                <a:latin typeface="Helvetica" charset="0"/>
                <a:ea typeface="Helvetica" charset="0"/>
                <a:cs typeface="Helvetica" charset="0"/>
              </a:defRPr>
            </a:lvl3pPr>
            <a:lvl4pPr>
              <a:defRPr sz="1800">
                <a:latin typeface="Helvetica" charset="0"/>
                <a:ea typeface="Helvetica" charset="0"/>
                <a:cs typeface="Helvetica" charset="0"/>
              </a:defRPr>
            </a:lvl4pPr>
            <a:lvl5pPr>
              <a:defRPr sz="1800"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2349" y="274678"/>
            <a:ext cx="8280166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82518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52347" y="1268453"/>
            <a:ext cx="8449503" cy="3286125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 </a:t>
            </a:r>
          </a:p>
          <a:p>
            <a:r>
              <a:rPr lang="en-US" sz="1800" dirty="0"/>
              <a:t>of the printing and typesetting industry. </a:t>
            </a:r>
            <a:r>
              <a:rPr lang="en-US" sz="1800" dirty="0" err="1"/>
              <a:t>Lorem</a:t>
            </a:r>
            <a:r>
              <a:rPr lang="en-US" sz="1800" dirty="0"/>
              <a:t> </a:t>
            </a:r>
            <a:r>
              <a:rPr lang="en-US" sz="1800" dirty="0" err="1"/>
              <a:t>Ipsum</a:t>
            </a:r>
            <a:r>
              <a:rPr lang="en-US" sz="1800" dirty="0"/>
              <a:t> has been the industry's standard dummy text ever since the 1500s, when an unknown printer took a galley of type and scrambled it to make a type specimen book. 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449503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092907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Text +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 hasCustomPrompt="1"/>
          </p:nvPr>
        </p:nvSpPr>
        <p:spPr>
          <a:xfrm>
            <a:off x="233538" y="1110075"/>
            <a:ext cx="3595277" cy="3612444"/>
          </a:xfrm>
          <a:prstGeom prst="rect">
            <a:avLst/>
          </a:prstGeom>
        </p:spPr>
        <p:txBody>
          <a:bodyPr/>
          <a:lstStyle>
            <a:lvl1pPr marL="0" indent="0">
              <a:buFont typeface="Arial"/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b="1" dirty="0" err="1">
                <a:latin typeface="Helvetica"/>
                <a:cs typeface="Helvetica"/>
              </a:rPr>
              <a:t>Lorem</a:t>
            </a:r>
            <a:r>
              <a:rPr lang="en-US" b="1" dirty="0">
                <a:latin typeface="Helvetica"/>
                <a:cs typeface="Helvetica"/>
              </a:rPr>
              <a:t> </a:t>
            </a:r>
            <a:r>
              <a:rPr lang="en-US" b="1" dirty="0" err="1">
                <a:latin typeface="Helvetica"/>
                <a:cs typeface="Helvetica"/>
              </a:rPr>
              <a:t>Ipsum</a:t>
            </a:r>
            <a:r>
              <a:rPr lang="en-US" b="1" dirty="0">
                <a:latin typeface="Helvetica"/>
                <a:cs typeface="Helvetica"/>
              </a:rPr>
              <a:t> is simply dummy text.</a:t>
            </a:r>
          </a:p>
          <a:p>
            <a:endParaRPr lang="en-US" sz="1800" dirty="0"/>
          </a:p>
          <a:p>
            <a:r>
              <a:rPr lang="en-US" b="1" dirty="0"/>
              <a:t>It has survived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not only five centuries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but also the leap into electronic typesetting, </a:t>
            </a:r>
          </a:p>
          <a:p>
            <a:pPr marL="285750" indent="-285750">
              <a:buFont typeface="Arial"/>
              <a:buChar char="•"/>
            </a:pPr>
            <a:r>
              <a:rPr lang="en-US" sz="1800" dirty="0"/>
              <a:t>remaining essentially unchanged. </a:t>
            </a:r>
          </a:p>
        </p:txBody>
      </p:sp>
      <p:sp>
        <p:nvSpPr>
          <p:cNvPr id="6" name="Chart Placeholder 3"/>
          <p:cNvSpPr>
            <a:spLocks noGrp="1"/>
          </p:cNvSpPr>
          <p:nvPr>
            <p:ph type="chart" sz="quarter" idx="11"/>
          </p:nvPr>
        </p:nvSpPr>
        <p:spPr>
          <a:xfrm>
            <a:off x="3828815" y="1110075"/>
            <a:ext cx="4948296" cy="36124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67198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w/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>
            <p:ph type="chart" sz="quarter" idx="10"/>
          </p:nvPr>
        </p:nvSpPr>
        <p:spPr>
          <a:xfrm>
            <a:off x="252349" y="1268453"/>
            <a:ext cx="8110832" cy="35643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endParaRPr lang="en-US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52348" y="274678"/>
            <a:ext cx="8186095" cy="993775"/>
          </a:xfrm>
          <a:prstGeom prst="rect">
            <a:avLst/>
          </a:prstGeom>
        </p:spPr>
        <p:txBody>
          <a:bodyPr/>
          <a:lstStyle>
            <a:lvl1pPr algn="l"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97524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theme" Target="../theme/theme2.xml"/><Relationship Id="rId5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246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5" name="Picture 4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BCFA4D-1CC5-4243-98FC-591DF878C6E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36575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 userDrawn="1"/>
        </p:nvGrpSpPr>
        <p:grpSpPr>
          <a:xfrm>
            <a:off x="0" y="0"/>
            <a:ext cx="9142647" cy="5144187"/>
            <a:chOff x="0" y="0"/>
            <a:chExt cx="9142647" cy="5144187"/>
          </a:xfrm>
        </p:grpSpPr>
        <p:pic>
          <p:nvPicPr>
            <p:cNvPr id="4" name="Picture 3"/>
            <p:cNvPicPr>
              <a:picLocks noChangeAspect="1"/>
            </p:cNvPicPr>
            <p:nvPr userDrawn="1"/>
          </p:nvPicPr>
          <p:blipFill>
            <a:blip r:embed="rId7"/>
            <a:stretch>
              <a:fillRect/>
            </a:stretch>
          </p:blipFill>
          <p:spPr>
            <a:xfrm flipH="1" flipV="1">
              <a:off x="5423765" y="2211757"/>
              <a:ext cx="3718882" cy="293243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BC3A035-B0EE-3A43-AADA-02BA46FB0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/>
            <a:stretch>
              <a:fillRect/>
            </a:stretch>
          </p:blipFill>
          <p:spPr>
            <a:xfrm>
              <a:off x="8111132" y="4644572"/>
              <a:ext cx="945783" cy="401634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0" y="0"/>
              <a:ext cx="3719590" cy="29339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365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Font typeface="Arial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/>
        </p:nvSpPr>
        <p:spPr>
          <a:xfrm>
            <a:off x="117956" y="228858"/>
            <a:ext cx="5691763" cy="712848"/>
          </a:xfrm>
          <a:prstGeom prst="rect">
            <a:avLst/>
          </a:prstGeom>
        </p:spPr>
        <p:txBody>
          <a:bodyPr/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4000" b="0" i="0" kern="1200" dirty="0">
                <a:solidFill>
                  <a:schemeClr val="tx1"/>
                </a:solidFill>
                <a:latin typeface="Vitesse Bold"/>
                <a:ea typeface="Vitesse" charset="0"/>
                <a:cs typeface="Vitesse Bold"/>
              </a:defRPr>
            </a:lvl1pPr>
          </a:lstStyle>
          <a:p>
            <a:r>
              <a:rPr lang="en-US" sz="3600" dirty="0">
                <a:latin typeface="Vitesse" charset="0"/>
                <a:cs typeface="Vitesse" charset="0"/>
              </a:rPr>
              <a:t>Regression Analysis</a:t>
            </a:r>
          </a:p>
        </p:txBody>
      </p:sp>
      <p:sp>
        <p:nvSpPr>
          <p:cNvPr id="6" name="Text Placeholder 2"/>
          <p:cNvSpPr>
            <a:spLocks noGrp="1"/>
          </p:cNvSpPr>
          <p:nvPr/>
        </p:nvSpPr>
        <p:spPr>
          <a:xfrm>
            <a:off x="117956" y="740369"/>
            <a:ext cx="5511340" cy="542236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lang="en-US" sz="3000" b="0" i="0" kern="1200" dirty="0">
                <a:solidFill>
                  <a:schemeClr val="tx2"/>
                </a:solidFill>
                <a:latin typeface="Vitesse Medium" charset="0"/>
                <a:ea typeface="Vitesse Medium" charset="0"/>
                <a:cs typeface="Vitesse Medium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sz="2400" dirty="0"/>
              <a:t>Analysis of Variance</a:t>
            </a:r>
            <a:endParaRPr kumimoji="1" lang="zh-CN" altLang="en-US" sz="2400" dirty="0"/>
          </a:p>
        </p:txBody>
      </p:sp>
      <p:sp>
        <p:nvSpPr>
          <p:cNvPr id="7" name="Text Placeholder 3"/>
          <p:cNvSpPr>
            <a:spLocks noGrp="1"/>
          </p:cNvSpPr>
          <p:nvPr/>
        </p:nvSpPr>
        <p:spPr>
          <a:xfrm>
            <a:off x="117957" y="2018346"/>
            <a:ext cx="4305091" cy="432669"/>
          </a:xfrm>
          <a:prstGeom prst="rect">
            <a:avLst/>
          </a:prstGeom>
        </p:spPr>
        <p:txBody>
          <a:bodyPr anchor="ctr"/>
          <a:lstStyle>
            <a:lvl1pPr marL="0" indent="0" algn="l" defTabSz="457200" rtl="0" eaLnBrk="1" latinLnBrk="0" hangingPunct="1">
              <a:lnSpc>
                <a:spcPts val="1400"/>
              </a:lnSpc>
              <a:spcBef>
                <a:spcPct val="20000"/>
              </a:spcBef>
              <a:buFont typeface="Arial"/>
              <a:buNone/>
              <a:defRPr lang="en-US" sz="2400" b="1" kern="1200" baseline="0" dirty="0">
                <a:solidFill>
                  <a:srgbClr val="EEB21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 err="1"/>
              <a:t>Nicoleta</a:t>
            </a:r>
            <a:r>
              <a:rPr lang="en-US" dirty="0"/>
              <a:t> </a:t>
            </a:r>
            <a:r>
              <a:rPr lang="en-US" dirty="0" err="1"/>
              <a:t>Serban</a:t>
            </a:r>
            <a:r>
              <a:rPr lang="en-US" dirty="0"/>
              <a:t>, Ph.D. </a:t>
            </a:r>
          </a:p>
        </p:txBody>
      </p:sp>
      <p:sp>
        <p:nvSpPr>
          <p:cNvPr id="8" name="Text Placeholder 4"/>
          <p:cNvSpPr>
            <a:spLocks noGrp="1"/>
          </p:cNvSpPr>
          <p:nvPr/>
        </p:nvSpPr>
        <p:spPr>
          <a:xfrm>
            <a:off x="108550" y="2376336"/>
            <a:ext cx="4305091" cy="254281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600" b="0" i="1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Professor </a:t>
            </a:r>
          </a:p>
        </p:txBody>
      </p:sp>
      <p:sp>
        <p:nvSpPr>
          <p:cNvPr id="9" name="Text Placeholder 5"/>
          <p:cNvSpPr>
            <a:spLocks noGrp="1"/>
          </p:cNvSpPr>
          <p:nvPr/>
        </p:nvSpPr>
        <p:spPr>
          <a:xfrm>
            <a:off x="117956" y="4065247"/>
            <a:ext cx="4305091" cy="878110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b="0" i="0" kern="1200" baseline="0">
                <a:solidFill>
                  <a:schemeClr val="tx2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Helvetica" panose="020B0604020202020204" pitchFamily="34" charset="0"/>
                <a:ea typeface="Vitesse" charset="0"/>
                <a:cs typeface="Helvetica" panose="020B0604020202020204" pitchFamily="34" charset="0"/>
              </a:rPr>
              <a:t>Parameter Estimation </a:t>
            </a:r>
          </a:p>
          <a:p>
            <a:r>
              <a:rPr lang="en-US" sz="2000" dirty="0">
                <a:latin typeface="Helvetica" panose="020B0604020202020204" pitchFamily="34" charset="0"/>
                <a:ea typeface="Vitesse" charset="0"/>
                <a:cs typeface="Helvetica" panose="020B0604020202020204" pitchFamily="34" charset="0"/>
              </a:rPr>
              <a:t>Examples</a:t>
            </a:r>
            <a:endParaRPr kumimoji="1" lang="en-US" altLang="zh-CN" sz="20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US" sz="2000" dirty="0">
              <a:latin typeface="Helvetica" panose="020B0604020202020204" pitchFamily="34" charset="0"/>
              <a:ea typeface="Vitesse" charset="0"/>
              <a:cs typeface="Helvetica" panose="020B0604020202020204" pitchFamily="34" charset="0"/>
            </a:endParaRPr>
          </a:p>
        </p:txBody>
      </p:sp>
      <p:sp>
        <p:nvSpPr>
          <p:cNvPr id="10" name="Text Placeholder 6"/>
          <p:cNvSpPr>
            <a:spLocks noGrp="1"/>
          </p:cNvSpPr>
          <p:nvPr/>
        </p:nvSpPr>
        <p:spPr>
          <a:xfrm>
            <a:off x="117956" y="2661666"/>
            <a:ext cx="4305091" cy="322253"/>
          </a:xfrm>
          <a:prstGeom prst="rect">
            <a:avLst/>
          </a:prstGeom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200" b="0" i="0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School of Industrial and Systems Engineering</a:t>
            </a:r>
          </a:p>
        </p:txBody>
      </p:sp>
    </p:spTree>
    <p:extLst>
      <p:ext uri="{BB962C8B-B14F-4D97-AF65-F5344CB8AC3E}">
        <p14:creationId xmlns:p14="http://schemas.microsoft.com/office/powerpoint/2010/main" val="1693339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20" t="7499" r="15454" b="5507"/>
          <a:stretch/>
        </p:blipFill>
        <p:spPr>
          <a:xfrm>
            <a:off x="1237534" y="1285661"/>
            <a:ext cx="2069432" cy="2619446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43478" y="-135358"/>
            <a:ext cx="4727575" cy="1330325"/>
          </a:xfrm>
        </p:spPr>
        <p:txBody>
          <a:bodyPr anchor="ctr"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About This Lesson</a:t>
            </a:r>
          </a:p>
        </p:txBody>
      </p:sp>
    </p:spTree>
    <p:extLst>
      <p:ext uri="{BB962C8B-B14F-4D97-AF65-F5344CB8AC3E}">
        <p14:creationId xmlns:p14="http://schemas.microsoft.com/office/powerpoint/2010/main" val="1499955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9175" y="209591"/>
            <a:ext cx="8562392" cy="724687"/>
          </a:xfrm>
          <a:prstGeom prst="rect">
            <a:avLst/>
          </a:prstGeom>
        </p:spPr>
        <p:txBody>
          <a:bodyPr/>
          <a:lstStyle/>
          <a:p>
            <a:pPr algn="l"/>
            <a:r>
              <a:rPr kumimoji="1" lang="en-US" altLang="zh-CN" sz="3600" dirty="0">
                <a:latin typeface="Vitesse"/>
                <a:ea typeface="Vitesse" charset="0"/>
                <a:cs typeface="Vitesse" charset="0"/>
              </a:rPr>
              <a:t>Example 1: Global Suicide by Region</a:t>
            </a:r>
            <a:endParaRPr kumimoji="1" lang="zh-CN" altLang="en-US" sz="3600" dirty="0">
              <a:latin typeface="Vitesse"/>
              <a:ea typeface="Vitesse" charset="0"/>
              <a:cs typeface="Vitesse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93" r="75823" b="1"/>
          <a:stretch/>
        </p:blipFill>
        <p:spPr>
          <a:xfrm>
            <a:off x="5254861" y="1241762"/>
            <a:ext cx="2680594" cy="2417735"/>
          </a:xfrm>
          <a:prstGeom prst="rect">
            <a:avLst/>
          </a:prstGeom>
        </p:spPr>
      </p:pic>
      <p:sp>
        <p:nvSpPr>
          <p:cNvPr id="7" name="TextBox 24"/>
          <p:cNvSpPr txBox="1">
            <a:spLocks noChangeArrowheads="1"/>
          </p:cNvSpPr>
          <p:nvPr/>
        </p:nvSpPr>
        <p:spPr bwMode="auto">
          <a:xfrm>
            <a:off x="685800" y="1276350"/>
            <a:ext cx="3157067" cy="92333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b="1">
                <a:solidFill>
                  <a:schemeClr val="accent1">
                    <a:lumMod val="50000"/>
                  </a:schemeClr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pPr algn="l"/>
            <a:r>
              <a:rPr lang="en-US" altLang="en-US" sz="1800" b="0" dirty="0">
                <a:solidFill>
                  <a:schemeClr val="tx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What are the estimates for the mean suicide rates for the different regions?</a:t>
            </a:r>
          </a:p>
        </p:txBody>
      </p:sp>
    </p:spTree>
    <p:extLst>
      <p:ext uri="{BB962C8B-B14F-4D97-AF65-F5344CB8AC3E}">
        <p14:creationId xmlns:p14="http://schemas.microsoft.com/office/powerpoint/2010/main" val="1668348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BE226A1-5B98-4C68-A056-E210A72339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18" y="1048054"/>
            <a:ext cx="5961321" cy="110799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model =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aov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(suicidesper100k ~ </a:t>
            </a:r>
            <a:r>
              <a:rPr lang="en-US" altLang="en-US" sz="1800" i="1" dirty="0">
                <a:latin typeface="Helvetica" panose="020B0604020202020204" pitchFamily="34" charset="0"/>
                <a:cs typeface="Helvetica" panose="020B0604020202020204" pitchFamily="34" charset="0"/>
              </a:rPr>
              <a:t>region, data=</a:t>
            </a:r>
            <a:r>
              <a:rPr lang="en-US" altLang="en-US" sz="1800" i="1" dirty="0" err="1">
                <a:latin typeface="Helvetica" panose="020B0604020202020204" pitchFamily="34" charset="0"/>
                <a:cs typeface="Helvetica" panose="020B0604020202020204" pitchFamily="34" charset="0"/>
              </a:rPr>
              <a:t>reg_data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model.tables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(model, type = "means")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693397" y="1762541"/>
            <a:ext cx="3556926" cy="3101008"/>
            <a:chOff x="726527" y="1670329"/>
            <a:chExt cx="3556926" cy="2731711"/>
          </a:xfrm>
          <a:noFill/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015441E-9864-41A9-A91B-8F0E8DFEF8B5}"/>
                    </a:ext>
                  </a:extLst>
                </p:cNvPr>
                <p:cNvSpPr txBox="1"/>
                <p:nvPr/>
              </p:nvSpPr>
              <p:spPr>
                <a:xfrm>
                  <a:off x="726527" y="1670329"/>
                  <a:ext cx="3390900" cy="2731711"/>
                </a:xfrm>
                <a:prstGeom prst="rect">
                  <a:avLst/>
                </a:prstGeom>
                <a:grpFill/>
                <a:ln w="19050">
                  <a:solidFill>
                    <a:schemeClr val="accent1">
                      <a:shade val="50000"/>
                    </a:schemeClr>
                  </a:solidFill>
                </a:ln>
              </p:spPr>
              <p:txBody>
                <a:bodyPr wrap="square" lIns="182880" tIns="182880" rIns="182880" bIns="182880" rtlCol="0">
                  <a:spAutoFit/>
                </a:bodyPr>
                <a:lstStyle>
                  <a:defPPr>
                    <a:defRPr lang="en-US"/>
                  </a:defPPr>
                  <a:lvl1pPr>
                    <a:defRPr sz="1800" kern="100">
                      <a:latin typeface="Helvetica Neue"/>
                      <a:ea typeface="KishoreFont Medium" charset="0"/>
                      <a:cs typeface="KishoreFont Medium" charset="0"/>
                    </a:defRPr>
                  </a:lvl1pPr>
                </a:lstStyle>
                <a:p>
                  <a:r>
                    <a:rPr lang="en-US" altLang="en-US" dirty="0">
                      <a:latin typeface="Helvetica" charset="0"/>
                      <a:ea typeface="Helvetica" charset="0"/>
                      <a:cs typeface="Helvetica" charset="0"/>
                    </a:rPr>
                    <a:t>Overall Mean: 10.276</a:t>
                  </a:r>
                </a:p>
                <a:p>
                  <a:endParaRPr lang="en-US" altLang="en-US" dirty="0">
                    <a:latin typeface="Helvetica" charset="0"/>
                    <a:ea typeface="Helvetica" charset="0"/>
                    <a:cs typeface="Helvetica" charset="0"/>
                  </a:endParaRPr>
                </a:p>
                <a:p>
                  <a:pPr>
                    <a:tabLst>
                      <a:tab pos="2055813" algn="r"/>
                    </a:tabLst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en-US" i="1" dirty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accPr>
                        <m:e>
                          <m:r>
                            <a:rPr lang="en-US" altLang="en-US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𝜇</m:t>
                          </m:r>
                        </m:e>
                      </m:acc>
                    </m:oMath>
                  </a14:m>
                  <a:r>
                    <a:rPr lang="en-US" altLang="en-US" baseline="-25000" dirty="0">
                      <a:latin typeface="Helvetica" charset="0"/>
                      <a:ea typeface="Helvetica" charset="0"/>
                      <a:cs typeface="Helvetica" charset="0"/>
                    </a:rPr>
                    <a:t>easia</a:t>
                  </a:r>
                  <a:r>
                    <a:rPr lang="en-US" altLang="en-US" dirty="0">
                      <a:latin typeface="Helvetica" charset="0"/>
                      <a:ea typeface="Helvetica" charset="0"/>
                      <a:cs typeface="Helvetica" charset="0"/>
                    </a:rPr>
                    <a:t> = 10.29     </a:t>
                  </a:r>
                  <a:endParaRPr lang="en-US" altLang="en-US" i="1" dirty="0">
                    <a:latin typeface="Cambria Math" panose="02040503050406030204" pitchFamily="18" charset="0"/>
                    <a:ea typeface="Helvetica" charset="0"/>
                    <a:cs typeface="Helvetica" charset="0"/>
                  </a:endParaRPr>
                </a:p>
                <a:p>
                  <a:pPr>
                    <a:tabLst>
                      <a:tab pos="2055813" algn="r"/>
                    </a:tabLst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en-US" i="1" dirty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accPr>
                        <m:e>
                          <m:r>
                            <a:rPr lang="en-US" altLang="en-US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𝜇</m:t>
                          </m:r>
                        </m:e>
                      </m:acc>
                    </m:oMath>
                  </a14:m>
                  <a:r>
                    <a:rPr lang="en-US" altLang="en-US" baseline="-25000" dirty="0">
                      <a:latin typeface="Helvetica" charset="0"/>
                      <a:ea typeface="Helvetica" charset="0"/>
                      <a:cs typeface="Helvetica" charset="0"/>
                    </a:rPr>
                    <a:t>wasia</a:t>
                  </a:r>
                  <a:r>
                    <a:rPr lang="en-US" altLang="en-US" dirty="0">
                      <a:latin typeface="Helvetica" charset="0"/>
                      <a:ea typeface="Helvetica" charset="0"/>
                      <a:cs typeface="Helvetica" charset="0"/>
                    </a:rPr>
                    <a:t> = 0.58       </a:t>
                  </a:r>
                  <a:endParaRPr lang="en-US" altLang="en-US" i="1" dirty="0">
                    <a:latin typeface="Cambria Math" panose="02040503050406030204" pitchFamily="18" charset="0"/>
                    <a:ea typeface="Helvetica" charset="0"/>
                    <a:cs typeface="Helvetica" charset="0"/>
                  </a:endParaRPr>
                </a:p>
                <a:p>
                  <a:pPr>
                    <a:tabLst>
                      <a:tab pos="2055813" algn="r"/>
                    </a:tabLst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en-US" i="1" dirty="0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accPr>
                        <m:e>
                          <m:r>
                            <a:rPr lang="en-US" altLang="en-US" i="1" dirty="0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𝜇</m:t>
                          </m:r>
                        </m:e>
                      </m:acc>
                    </m:oMath>
                  </a14:m>
                  <a:r>
                    <a:rPr lang="en-US" altLang="en-US" baseline="-25000" dirty="0">
                      <a:latin typeface="Helvetica" charset="0"/>
                      <a:ea typeface="Helvetica" charset="0"/>
                      <a:cs typeface="Helvetica" charset="0"/>
                    </a:rPr>
                    <a:t>eeurope</a:t>
                  </a:r>
                  <a:r>
                    <a:rPr lang="en-US" altLang="en-US" dirty="0">
                      <a:latin typeface="Helvetica" charset="0"/>
                      <a:ea typeface="Helvetica" charset="0"/>
                      <a:cs typeface="Helvetica" charset="0"/>
                    </a:rPr>
                    <a:t> = 17.41  </a:t>
                  </a:r>
                  <a:endParaRPr lang="en-US" altLang="en-US" i="1" dirty="0">
                    <a:latin typeface="Cambria Math" panose="02040503050406030204" pitchFamily="18" charset="0"/>
                    <a:ea typeface="Helvetica" charset="0"/>
                    <a:cs typeface="Helvetica" charset="0"/>
                  </a:endParaRPr>
                </a:p>
                <a:p>
                  <a:pPr>
                    <a:tabLst>
                      <a:tab pos="2055813" algn="r"/>
                    </a:tabLst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en-US" i="1" dirty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accPr>
                        <m:e>
                          <m:r>
                            <a:rPr lang="en-US" altLang="en-US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𝜇</m:t>
                          </m:r>
                        </m:e>
                      </m:acc>
                    </m:oMath>
                  </a14:m>
                  <a:r>
                    <a:rPr lang="en-US" altLang="en-US" baseline="-25000" dirty="0" err="1">
                      <a:latin typeface="Helvetica" charset="0"/>
                      <a:ea typeface="Helvetica" charset="0"/>
                      <a:cs typeface="Helvetica" charset="0"/>
                    </a:rPr>
                    <a:t>weurope</a:t>
                  </a:r>
                  <a:r>
                    <a:rPr lang="en-US" altLang="en-US" dirty="0">
                      <a:latin typeface="Helvetica" charset="0"/>
                      <a:ea typeface="Helvetica" charset="0"/>
                      <a:cs typeface="Helvetica" charset="0"/>
                    </a:rPr>
                    <a:t> = 12.75  </a:t>
                  </a:r>
                </a:p>
                <a:p>
                  <a:pPr>
                    <a:tabLst>
                      <a:tab pos="2055813" algn="r"/>
                    </a:tabLst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en-US" i="1" dirty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accPr>
                        <m:e>
                          <m:r>
                            <a:rPr lang="en-US" altLang="en-US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𝜇</m:t>
                          </m:r>
                        </m:e>
                      </m:acc>
                    </m:oMath>
                  </a14:m>
                  <a:r>
                    <a:rPr lang="en-US" altLang="en-US" baseline="-25000" dirty="0">
                      <a:latin typeface="Helvetica" charset="0"/>
                      <a:ea typeface="Helvetica" charset="0"/>
                      <a:cs typeface="Helvetica" charset="0"/>
                    </a:rPr>
                    <a:t>west </a:t>
                  </a:r>
                  <a:r>
                    <a:rPr lang="en-US" altLang="en-US" dirty="0">
                      <a:latin typeface="Helvetica" charset="0"/>
                      <a:ea typeface="Helvetica" charset="0"/>
                      <a:cs typeface="Helvetica" charset="0"/>
                    </a:rPr>
                    <a:t>= 11.68      </a:t>
                  </a:r>
                </a:p>
                <a:p>
                  <a:pPr>
                    <a:tabLst>
                      <a:tab pos="2055813" algn="r"/>
                    </a:tabLst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en-US" i="1" dirty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accPr>
                        <m:e>
                          <m:r>
                            <a:rPr lang="en-US" altLang="en-US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𝜇</m:t>
                          </m:r>
                        </m:e>
                      </m:acc>
                    </m:oMath>
                  </a14:m>
                  <a:r>
                    <a:rPr lang="en-US" altLang="en-US" baseline="-25000" dirty="0">
                      <a:latin typeface="Helvetica" charset="0"/>
                      <a:ea typeface="Helvetica" charset="0"/>
                      <a:cs typeface="Helvetica" charset="0"/>
                    </a:rPr>
                    <a:t>lamerica</a:t>
                  </a:r>
                  <a:r>
                    <a:rPr lang="en-US" altLang="en-US" dirty="0">
                      <a:latin typeface="Helvetica" charset="0"/>
                      <a:ea typeface="Helvetica" charset="0"/>
                      <a:cs typeface="Helvetica" charset="0"/>
                    </a:rPr>
                    <a:t> = 7.86   </a:t>
                  </a:r>
                </a:p>
                <a:p>
                  <a:pPr>
                    <a:tabLst>
                      <a:tab pos="2055813" algn="r"/>
                    </a:tabLst>
                  </a:pP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en-US" i="1" dirty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accPr>
                        <m:e>
                          <m:r>
                            <a:rPr lang="en-US" altLang="en-US" i="1" dirty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𝜇</m:t>
                          </m:r>
                        </m:e>
                      </m:acc>
                    </m:oMath>
                  </a14:m>
                  <a:r>
                    <a:rPr lang="en-US" altLang="en-US" baseline="-25000" dirty="0">
                      <a:latin typeface="Helvetica" charset="0"/>
                      <a:ea typeface="Helvetica" charset="0"/>
                      <a:cs typeface="Helvetica" charset="0"/>
                    </a:rPr>
                    <a:t>mideast</a:t>
                  </a:r>
                  <a:r>
                    <a:rPr lang="en-US" altLang="en-US" dirty="0">
                      <a:latin typeface="Helvetica" charset="0"/>
                      <a:ea typeface="Helvetica" charset="0"/>
                      <a:cs typeface="Helvetica" charset="0"/>
                    </a:rPr>
                    <a:t> = 2.46    </a:t>
                  </a:r>
                </a:p>
                <a:p>
                  <a:pPr>
                    <a:tabLst>
                      <a:tab pos="2055813" algn="r"/>
                    </a:tabLst>
                  </a:pPr>
                  <a:endParaRPr lang="en-US" altLang="en-US" baseline="-25000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015441E-9864-41A9-A91B-8F0E8DFEF8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6527" y="1670329"/>
                  <a:ext cx="3390900" cy="273171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chemeClr val="accent1">
                      <a:shade val="5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" name="Rectangle 1"/>
            <p:cNvSpPr/>
            <p:nvPr/>
          </p:nvSpPr>
          <p:spPr>
            <a:xfrm>
              <a:off x="2752827" y="2246453"/>
              <a:ext cx="1530626" cy="1821141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>
                <a:tabLst>
                  <a:tab pos="2055813" algn="r"/>
                </a:tabLst>
              </a:pPr>
              <a:r>
                <a:rPr lang="en-US" altLang="en-US" dirty="0" err="1">
                  <a:latin typeface="Helvetica" charset="0"/>
                  <a:ea typeface="Helvetica" charset="0"/>
                  <a:cs typeface="Helvetica" charset="0"/>
                </a:rPr>
                <a:t>n</a:t>
              </a:r>
              <a:r>
                <a:rPr lang="en-US" altLang="en-US" baseline="-25000" dirty="0" err="1">
                  <a:latin typeface="Helvetica" charset="0"/>
                  <a:ea typeface="Helvetica" charset="0"/>
                  <a:cs typeface="Helvetica" charset="0"/>
                </a:rPr>
                <a:t>easia</a:t>
              </a:r>
              <a:r>
                <a:rPr lang="en-US" altLang="en-US" dirty="0">
                  <a:latin typeface="Helvetica" charset="0"/>
                  <a:ea typeface="Helvetica" charset="0"/>
                  <a:cs typeface="Helvetica" charset="0"/>
                </a:rPr>
                <a:t> =10</a:t>
              </a:r>
            </a:p>
            <a:p>
              <a:pPr>
                <a:tabLst>
                  <a:tab pos="2055813" algn="r"/>
                </a:tabLst>
              </a:pPr>
              <a:r>
                <a:rPr lang="en-US" altLang="en-US" dirty="0" err="1">
                  <a:latin typeface="Helvetica" charset="0"/>
                  <a:ea typeface="Helvetica" charset="0"/>
                  <a:cs typeface="Helvetica" charset="0"/>
                </a:rPr>
                <a:t>n</a:t>
              </a:r>
              <a:r>
                <a:rPr lang="en-US" altLang="en-US" baseline="-25000" dirty="0" err="1">
                  <a:latin typeface="Helvetica" charset="0"/>
                  <a:ea typeface="Helvetica" charset="0"/>
                  <a:cs typeface="Helvetica" charset="0"/>
                </a:rPr>
                <a:t>wasia</a:t>
              </a:r>
              <a:r>
                <a:rPr lang="en-US" altLang="en-US" dirty="0">
                  <a:latin typeface="Helvetica" charset="0"/>
                  <a:ea typeface="Helvetica" charset="0"/>
                  <a:cs typeface="Helvetica" charset="0"/>
                </a:rPr>
                <a:t> =1</a:t>
              </a:r>
            </a:p>
            <a:p>
              <a:pPr>
                <a:tabLst>
                  <a:tab pos="2055813" algn="r"/>
                </a:tabLst>
              </a:pPr>
              <a:r>
                <a:rPr lang="en-US" altLang="en-US" dirty="0" err="1">
                  <a:latin typeface="Helvetica" charset="0"/>
                  <a:ea typeface="Helvetica" charset="0"/>
                  <a:cs typeface="Helvetica" charset="0"/>
                </a:rPr>
                <a:t>n</a:t>
              </a:r>
              <a:r>
                <a:rPr lang="en-US" altLang="en-US" baseline="-25000" dirty="0" err="1">
                  <a:latin typeface="Helvetica" charset="0"/>
                  <a:ea typeface="Helvetica" charset="0"/>
                  <a:cs typeface="Helvetica" charset="0"/>
                </a:rPr>
                <a:t>eeurope</a:t>
              </a:r>
              <a:r>
                <a:rPr lang="en-US" altLang="en-US" dirty="0">
                  <a:latin typeface="Helvetica" charset="0"/>
                  <a:ea typeface="Helvetica" charset="0"/>
                  <a:cs typeface="Helvetica" charset="0"/>
                </a:rPr>
                <a:t> =15</a:t>
              </a:r>
            </a:p>
            <a:p>
              <a:pPr>
                <a:tabLst>
                  <a:tab pos="2055813" algn="r"/>
                </a:tabLst>
              </a:pPr>
              <a:r>
                <a:rPr lang="en-US" altLang="en-US" dirty="0" err="1">
                  <a:latin typeface="Helvetica" charset="0"/>
                  <a:ea typeface="Helvetica" charset="0"/>
                  <a:cs typeface="Helvetica" charset="0"/>
                </a:rPr>
                <a:t>n</a:t>
              </a:r>
              <a:r>
                <a:rPr lang="en-US" altLang="en-US" baseline="-25000" dirty="0" err="1">
                  <a:latin typeface="Helvetica" charset="0"/>
                  <a:ea typeface="Helvetica" charset="0"/>
                  <a:cs typeface="Helvetica" charset="0"/>
                </a:rPr>
                <a:t>weurope</a:t>
              </a:r>
              <a:r>
                <a:rPr lang="en-US" altLang="en-US" dirty="0">
                  <a:latin typeface="Helvetica" charset="0"/>
                  <a:ea typeface="Helvetica" charset="0"/>
                  <a:cs typeface="Helvetica" charset="0"/>
                </a:rPr>
                <a:t> =3</a:t>
              </a:r>
            </a:p>
            <a:p>
              <a:pPr>
                <a:tabLst>
                  <a:tab pos="2055813" algn="r"/>
                </a:tabLst>
              </a:pPr>
              <a:r>
                <a:rPr lang="en-US" altLang="en-US" dirty="0" err="1">
                  <a:latin typeface="Helvetica" charset="0"/>
                  <a:ea typeface="Helvetica" charset="0"/>
                  <a:cs typeface="Helvetica" charset="0"/>
                </a:rPr>
                <a:t>n</a:t>
              </a:r>
              <a:r>
                <a:rPr lang="en-US" altLang="en-US" baseline="-25000" dirty="0" err="1">
                  <a:latin typeface="Helvetica" charset="0"/>
                  <a:ea typeface="Helvetica" charset="0"/>
                  <a:cs typeface="Helvetica" charset="0"/>
                </a:rPr>
                <a:t>west</a:t>
              </a:r>
              <a:r>
                <a:rPr lang="en-US" altLang="en-US" baseline="-25000" dirty="0">
                  <a:latin typeface="Helvetica" charset="0"/>
                  <a:ea typeface="Helvetica" charset="0"/>
                  <a:cs typeface="Helvetica" charset="0"/>
                </a:rPr>
                <a:t> </a:t>
              </a:r>
              <a:r>
                <a:rPr lang="en-US" altLang="en-US" dirty="0">
                  <a:latin typeface="Helvetica" charset="0"/>
                  <a:ea typeface="Helvetica" charset="0"/>
                  <a:cs typeface="Helvetica" charset="0"/>
                </a:rPr>
                <a:t>= 18</a:t>
              </a:r>
            </a:p>
            <a:p>
              <a:pPr>
                <a:tabLst>
                  <a:tab pos="2055813" algn="r"/>
                </a:tabLst>
              </a:pPr>
              <a:r>
                <a:rPr lang="en-US" altLang="en-US" dirty="0" err="1">
                  <a:latin typeface="Helvetica" charset="0"/>
                  <a:ea typeface="Helvetica" charset="0"/>
                  <a:cs typeface="Helvetica" charset="0"/>
                </a:rPr>
                <a:t>n</a:t>
              </a:r>
              <a:r>
                <a:rPr lang="en-US" altLang="en-US" baseline="-25000" dirty="0" err="1">
                  <a:latin typeface="Helvetica" charset="0"/>
                  <a:ea typeface="Helvetica" charset="0"/>
                  <a:cs typeface="Helvetica" charset="0"/>
                </a:rPr>
                <a:t>lamerica</a:t>
              </a:r>
              <a:r>
                <a:rPr lang="en-US" altLang="en-US" dirty="0">
                  <a:latin typeface="Helvetica" charset="0"/>
                  <a:ea typeface="Helvetica" charset="0"/>
                  <a:cs typeface="Helvetica" charset="0"/>
                </a:rPr>
                <a:t> =26</a:t>
              </a:r>
            </a:p>
            <a:p>
              <a:pPr>
                <a:tabLst>
                  <a:tab pos="2055813" algn="r"/>
                </a:tabLst>
              </a:pPr>
              <a:r>
                <a:rPr lang="en-US" altLang="en-US" dirty="0" err="1">
                  <a:latin typeface="Helvetica" charset="0"/>
                  <a:ea typeface="Helvetica" charset="0"/>
                  <a:cs typeface="Helvetica" charset="0"/>
                </a:rPr>
                <a:t>n</a:t>
              </a:r>
              <a:r>
                <a:rPr lang="en-US" altLang="en-US" baseline="-25000" dirty="0" err="1">
                  <a:latin typeface="Helvetica" charset="0"/>
                  <a:ea typeface="Helvetica" charset="0"/>
                  <a:cs typeface="Helvetica" charset="0"/>
                </a:rPr>
                <a:t>mideast</a:t>
              </a:r>
              <a:r>
                <a:rPr lang="en-US" altLang="en-US" dirty="0">
                  <a:latin typeface="Helvetica" charset="0"/>
                  <a:ea typeface="Helvetica" charset="0"/>
                  <a:cs typeface="Helvetica" charset="0"/>
                </a:rPr>
                <a:t> =7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99D5629-3B99-491A-A20C-0BB9F4660D58}"/>
              </a:ext>
            </a:extLst>
          </p:cNvPr>
          <p:cNvSpPr txBox="1"/>
          <p:nvPr/>
        </p:nvSpPr>
        <p:spPr>
          <a:xfrm>
            <a:off x="772386" y="4375059"/>
            <a:ext cx="2791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Helvetica" panose="020B0604020202020204" pitchFamily="34" charset="0"/>
              </a:rPr>
              <a:t>…………..</a:t>
            </a:r>
          </a:p>
        </p:txBody>
      </p:sp>
      <p:sp>
        <p:nvSpPr>
          <p:cNvPr id="9" name="标题 2"/>
          <p:cNvSpPr>
            <a:spLocks noGrp="1"/>
          </p:cNvSpPr>
          <p:nvPr>
            <p:ph type="title"/>
          </p:nvPr>
        </p:nvSpPr>
        <p:spPr>
          <a:xfrm>
            <a:off x="119285" y="214589"/>
            <a:ext cx="8562392" cy="666682"/>
          </a:xfrm>
        </p:spPr>
        <p:txBody>
          <a:bodyPr/>
          <a:lstStyle/>
          <a:p>
            <a:r>
              <a:rPr kumimoji="1" lang="en-US" altLang="zh-CN" sz="3600" dirty="0" smtClean="0">
                <a:latin typeface="Vitesse"/>
              </a:rPr>
              <a:t>Parameter Estimation</a:t>
            </a:r>
            <a:endParaRPr kumimoji="1" lang="zh-CN" alt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889248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46712" y="1009758"/>
            <a:ext cx="382905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>
                <a:latin typeface="Helvetica" charset="0"/>
                <a:ea typeface="Helvetica" charset="0"/>
                <a:cs typeface="Helvetica" charset="0"/>
              </a:rPr>
              <a:t>Three different keyboard layouts are being compared in terms of typing speed. </a:t>
            </a:r>
          </a:p>
        </p:txBody>
      </p:sp>
      <p:sp>
        <p:nvSpPr>
          <p:cNvPr id="10246" name="AutoShape 6" descr="Typewriter"/>
          <p:cNvSpPr>
            <a:spLocks noChangeAspect="1" noChangeArrowheads="1"/>
          </p:cNvSpPr>
          <p:nvPr/>
        </p:nvSpPr>
        <p:spPr bwMode="auto">
          <a:xfrm>
            <a:off x="4186238" y="2185988"/>
            <a:ext cx="7715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/>
            <a:endParaRPr lang="en-US" altLang="en-US" sz="1800">
              <a:latin typeface="Times New Roman" charset="0"/>
            </a:endParaRPr>
          </a:p>
        </p:txBody>
      </p:sp>
      <p:sp>
        <p:nvSpPr>
          <p:cNvPr id="10247" name="AutoShape 7" descr="Typewriter"/>
          <p:cNvSpPr>
            <a:spLocks noChangeAspect="1" noChangeArrowheads="1"/>
          </p:cNvSpPr>
          <p:nvPr/>
        </p:nvSpPr>
        <p:spPr bwMode="auto">
          <a:xfrm>
            <a:off x="4186238" y="2185988"/>
            <a:ext cx="7715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MS PGothic" charset="-128"/>
              </a:defRPr>
            </a:lvl9pPr>
          </a:lstStyle>
          <a:p>
            <a:pPr eaLnBrk="1" hangingPunct="1"/>
            <a:endParaRPr lang="en-US" altLang="en-US" sz="1800">
              <a:latin typeface="Times New Roman" charset="0"/>
            </a:endParaRPr>
          </a:p>
        </p:txBody>
      </p:sp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5800" y="3230903"/>
            <a:ext cx="1891748" cy="190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413ABE08-8BB6-744B-8AB3-9A23B92FA23C}"/>
              </a:ext>
            </a:extLst>
          </p:cNvPr>
          <p:cNvSpPr txBox="1">
            <a:spLocks/>
          </p:cNvSpPr>
          <p:nvPr/>
        </p:nvSpPr>
        <p:spPr>
          <a:xfrm>
            <a:off x="120208" y="221215"/>
            <a:ext cx="8562392" cy="617692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200" kern="1200" dirty="0">
                <a:solidFill>
                  <a:schemeClr val="tx1"/>
                </a:solidFill>
                <a:latin typeface="Vitesse Bold"/>
                <a:ea typeface="+mj-ea"/>
                <a:cs typeface="Vitesse Bold"/>
              </a:defRPr>
            </a:lvl1pPr>
          </a:lstStyle>
          <a:p>
            <a:r>
              <a:rPr kumimoji="1" lang="en-US" altLang="zh-CN" sz="3600" dirty="0">
                <a:latin typeface="Vitesse"/>
              </a:rPr>
              <a:t>Example 2: Keyboard Layout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5524500" y="1058303"/>
            <a:ext cx="2864674" cy="3627296"/>
            <a:chOff x="5524500" y="858969"/>
            <a:chExt cx="2864674" cy="3627296"/>
          </a:xfrm>
        </p:grpSpPr>
        <p:sp>
          <p:nvSpPr>
            <p:cNvPr id="12" name="Rectangle 2"/>
            <p:cNvSpPr>
              <a:spLocks noChangeArrowheads="1"/>
            </p:cNvSpPr>
            <p:nvPr/>
          </p:nvSpPr>
          <p:spPr bwMode="auto">
            <a:xfrm>
              <a:off x="5524500" y="858969"/>
              <a:ext cx="2631781" cy="3614663"/>
            </a:xfrm>
            <a:prstGeom prst="rect">
              <a:avLst/>
            </a:prstGeom>
            <a:solidFill>
              <a:srgbClr val="EEB21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defRPr/>
              </a:pPr>
              <a:endParaRPr lang="en-US" altLang="en-US" sz="1800"/>
            </a:p>
          </p:txBody>
        </p:sp>
        <p:sp>
          <p:nvSpPr>
            <p:cNvPr id="13" name="Rectangle 5"/>
            <p:cNvSpPr>
              <a:spLocks noChangeArrowheads="1"/>
            </p:cNvSpPr>
            <p:nvPr/>
          </p:nvSpPr>
          <p:spPr bwMode="auto">
            <a:xfrm>
              <a:off x="5542504" y="885279"/>
              <a:ext cx="2846670" cy="36009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MS PGothic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Layout 1	Layout 2	Layout 3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23.8		30.2		27.0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25.6		29.9		25.4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24.0		29.1		25.6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25.1		28.8		24.2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25.5		29.1		24.8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26.1		28.6		24.0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23.8		28.3		25.5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25.7		28.7		23.9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24.3		27.9		22.6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26.0		30.5		26.0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24.6		*   		23.4</a:t>
              </a:r>
            </a:p>
            <a:p>
              <a:pPr eaLnBrk="1" hangingPunct="1">
                <a:spcBef>
                  <a:spcPct val="50000"/>
                </a:spcBef>
              </a:pPr>
              <a:r>
                <a:rPr lang="en-US" altLang="en-US" sz="1200" dirty="0">
                  <a:latin typeface="Helvetica" charset="0"/>
                  <a:ea typeface="Helvetica" charset="0"/>
                  <a:cs typeface="Helvetica" charset="0"/>
                </a:rPr>
                <a:t>27.0		*   		*   </a:t>
              </a:r>
            </a:p>
          </p:txBody>
        </p:sp>
      </p:grpSp>
      <p:sp>
        <p:nvSpPr>
          <p:cNvPr id="14" name="TextBox 24">
            <a:extLst>
              <a:ext uri="{FF2B5EF4-FFF2-40B4-BE49-F238E27FC236}">
                <a16:creationId xmlns:a16="http://schemas.microsoft.com/office/drawing/2014/main" id="{28B89B8F-3584-1E4F-8A56-1478FEC924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14214"/>
            <a:ext cx="4729163" cy="646331"/>
          </a:xfrm>
          <a:prstGeom prst="rect">
            <a:avLst/>
          </a:prstGeom>
          <a:noFill/>
          <a:ln w="19050"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800" kern="100">
                <a:latin typeface="Helvetica Neue"/>
                <a:ea typeface="KishoreFont Medium" charset="0"/>
                <a:cs typeface="KishoreFont Medium" charset="0"/>
              </a:defRPr>
            </a:lvl1pPr>
          </a:lstStyle>
          <a:p>
            <a:r>
              <a:rPr lang="en-US" altLang="en-US" dirty="0">
                <a:latin typeface="Helvetica" panose="020B0604020202020204" pitchFamily="34" charset="0"/>
                <a:cs typeface="Helvetica" panose="020B0604020202020204" pitchFamily="34" charset="0"/>
              </a:rPr>
              <a:t>What are the estimates for the mean typing times for the different groups of keyboards?</a:t>
            </a:r>
          </a:p>
        </p:txBody>
      </p:sp>
    </p:spTree>
    <p:extLst>
      <p:ext uri="{BB962C8B-B14F-4D97-AF65-F5344CB8AC3E}">
        <p14:creationId xmlns:p14="http://schemas.microsoft.com/office/powerpoint/2010/main" val="2673558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3C0AE04-B839-456E-8359-7BCA89ECE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844" y="1040823"/>
            <a:ext cx="7049599" cy="193899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model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aov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(speed ~ layout)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model.tables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(model, type = "means")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Tables of means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Grand mean</a:t>
            </a:r>
            <a:endParaRPr lang="en-US" alt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Helvetica" panose="020B0604020202020204" pitchFamily="34" charset="0"/>
                <a:cs typeface="Helvetica" panose="020B0604020202020204" pitchFamily="34" charset="0"/>
              </a:rPr>
              <a:t>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26.21212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Layout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Helvetica" panose="020B0604020202020204" pitchFamily="34" charset="0"/>
                <a:cs typeface="Helvetica" panose="020B0604020202020204" pitchFamily="34" charset="0"/>
              </a:rPr>
              <a:t>   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524500" y="1896852"/>
                <a:ext cx="2884967" cy="1754326"/>
              </a:xfrm>
              <a:prstGeom prst="rect">
                <a:avLst/>
              </a:prstGeom>
              <a:noFill/>
              <a:ln w="19050">
                <a:solidFill>
                  <a:schemeClr val="tx2"/>
                </a:solidFill>
              </a:ln>
            </p:spPr>
            <p:txBody>
              <a:bodyPr wrap="square" lIns="182880" tIns="182880" rIns="182880" bIns="182880" rtlCol="0">
                <a:spAutoFit/>
              </a:bodyPr>
              <a:lstStyle>
                <a:defPPr>
                  <a:defRPr lang="en-US"/>
                </a:defPPr>
                <a:lvl1pPr>
                  <a:defRPr sz="1800" kern="100">
                    <a:latin typeface="Helvetica" charset="0"/>
                    <a:ea typeface="Helvetica" charset="0"/>
                    <a:cs typeface="Helvetica" charset="0"/>
                  </a:defRPr>
                </a:lvl1pPr>
              </a:lstStyle>
              <a:p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Overall Mean: 26.21212</a:t>
                </a:r>
              </a:p>
              <a:p>
                <a:endParaRPr lang="en-US" altLang="en-US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  <a:p>
                <a:pPr>
                  <a:tabLst>
                    <a:tab pos="1941513" algn="r"/>
                  </a:tabLst>
                </a:pP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𝜇</m:t>
                        </m:r>
                      </m:e>
                    </m:acc>
                  </m:oMath>
                </a14:m>
                <a:r>
                  <a:rPr lang="en-US" altLang="en-US" baseline="-25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layout1</a:t>
                </a: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= 25.12</a:t>
                </a:r>
              </a:p>
              <a:p>
                <a:pPr>
                  <a:tabLst>
                    <a:tab pos="1941513" algn="r"/>
                  </a:tabLst>
                </a:pP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𝜇</m:t>
                        </m:r>
                      </m:e>
                    </m:acc>
                  </m:oMath>
                </a14:m>
                <a:r>
                  <a:rPr lang="en-US" altLang="en-US" baseline="-25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layout2</a:t>
                </a: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= 29.11</a:t>
                </a:r>
              </a:p>
              <a:p>
                <a:pPr>
                  <a:tabLst>
                    <a:tab pos="1941513" algn="r"/>
                  </a:tabLst>
                </a:pP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i="1" dirty="0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𝜇</m:t>
                        </m:r>
                      </m:e>
                    </m:acc>
                  </m:oMath>
                </a14:m>
                <a:r>
                  <a:rPr lang="en-US" altLang="en-US" baseline="-250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layout3</a:t>
                </a:r>
                <a:r>
                  <a:rPr lang="en-US" altLang="en-US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 = 24.76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4500" y="1896852"/>
                <a:ext cx="2884967" cy="17543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668952"/>
              </p:ext>
            </p:extLst>
          </p:nvPr>
        </p:nvGraphicFramePr>
        <p:xfrm>
          <a:off x="596154" y="2659386"/>
          <a:ext cx="304800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743">
                  <a:extLst>
                    <a:ext uri="{9D8B030D-6E8A-4147-A177-3AD203B41FA5}">
                      <a16:colId xmlns:a16="http://schemas.microsoft.com/office/drawing/2014/main" val="4282168265"/>
                    </a:ext>
                  </a:extLst>
                </a:gridCol>
                <a:gridCol w="806824">
                  <a:extLst>
                    <a:ext uri="{9D8B030D-6E8A-4147-A177-3AD203B41FA5}">
                      <a16:colId xmlns:a16="http://schemas.microsoft.com/office/drawing/2014/main" val="1378647932"/>
                    </a:ext>
                  </a:extLst>
                </a:gridCol>
                <a:gridCol w="779929">
                  <a:extLst>
                    <a:ext uri="{9D8B030D-6E8A-4147-A177-3AD203B41FA5}">
                      <a16:colId xmlns:a16="http://schemas.microsoft.com/office/drawing/2014/main" val="2517610325"/>
                    </a:ext>
                  </a:extLst>
                </a:gridCol>
                <a:gridCol w="887506">
                  <a:extLst>
                    <a:ext uri="{9D8B030D-6E8A-4147-A177-3AD203B41FA5}">
                      <a16:colId xmlns:a16="http://schemas.microsoft.com/office/drawing/2014/main" val="8500669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2</a:t>
                      </a:r>
                      <a:endParaRPr lang="en-US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Helvetica" panose="020B0604020202020204" pitchFamily="34" charset="0"/>
                          <a:ea typeface="+mn-ea"/>
                          <a:cs typeface="Helvetica" panose="020B0604020202020204" pitchFamily="34" charset="0"/>
                        </a:rPr>
                        <a:t>3</a:t>
                      </a:r>
                      <a:endParaRPr lang="en-US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892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25.12</a:t>
                      </a:r>
                      <a:endParaRPr lang="en-US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29.11</a:t>
                      </a:r>
                      <a:endParaRPr lang="en-US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24.76</a:t>
                      </a:r>
                      <a:endParaRPr lang="en-US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660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rep</a:t>
                      </a:r>
                      <a:endParaRPr lang="en-US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12.00</a:t>
                      </a:r>
                      <a:endParaRPr lang="en-US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10.00</a:t>
                      </a:r>
                      <a:endParaRPr lang="en-US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11.00</a:t>
                      </a:r>
                      <a:endParaRPr lang="en-US" dirty="0"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3448356"/>
                  </a:ext>
                </a:extLst>
              </a:tr>
            </a:tbl>
          </a:graphicData>
        </a:graphic>
      </p:graphicFrame>
      <p:sp>
        <p:nvSpPr>
          <p:cNvPr id="7" name="标题 2"/>
          <p:cNvSpPr>
            <a:spLocks noGrp="1"/>
          </p:cNvSpPr>
          <p:nvPr>
            <p:ph type="title"/>
          </p:nvPr>
        </p:nvSpPr>
        <p:spPr>
          <a:xfrm>
            <a:off x="119285" y="214589"/>
            <a:ext cx="8562392" cy="666682"/>
          </a:xfrm>
        </p:spPr>
        <p:txBody>
          <a:bodyPr/>
          <a:lstStyle/>
          <a:p>
            <a:r>
              <a:rPr kumimoji="1" lang="en-US" altLang="zh-CN" sz="3600" dirty="0" smtClean="0">
                <a:latin typeface="Vitesse"/>
              </a:rPr>
              <a:t>Parameter Estimation</a:t>
            </a:r>
            <a:endParaRPr kumimoji="1" lang="zh-CN" altLang="en-US" sz="3600" dirty="0">
              <a:latin typeface="Vitesse"/>
            </a:endParaRPr>
          </a:p>
        </p:txBody>
      </p:sp>
    </p:spTree>
    <p:extLst>
      <p:ext uri="{BB962C8B-B14F-4D97-AF65-F5344CB8AC3E}">
        <p14:creationId xmlns:p14="http://schemas.microsoft.com/office/powerpoint/2010/main" val="2997848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30156" y="212229"/>
            <a:ext cx="4727575" cy="72205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3600" dirty="0">
                <a:latin typeface="Vitesse" charset="0"/>
                <a:ea typeface="Vitesse" charset="0"/>
                <a:cs typeface="Vitesse" charset="0"/>
              </a:rPr>
              <a:t>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9" t="6607" r="13881" b="7744"/>
          <a:stretch/>
        </p:blipFill>
        <p:spPr>
          <a:xfrm>
            <a:off x="1161904" y="1285661"/>
            <a:ext cx="2201521" cy="240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8935"/>
      </p:ext>
    </p:extLst>
  </p:cSld>
  <p:clrMapOvr>
    <a:masterClrMapping/>
  </p:clrMapOvr>
</p:sld>
</file>

<file path=ppt/theme/theme1.xml><?xml version="1.0" encoding="utf-8"?>
<a:theme xmlns:a="http://schemas.openxmlformats.org/drawingml/2006/main" name="1_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Half Page Slash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>
        <a:normAutofit/>
      </a:bodyPr>
      <a:lstStyle>
        <a:defPPr algn="l">
          <a:lnSpc>
            <a:spcPts val="1200"/>
          </a:lnSpc>
          <a:defRPr sz="1200" dirty="0" smtClean="0">
            <a:solidFill>
              <a:srgbClr val="000000"/>
            </a:solidFill>
            <a:latin typeface="Helvetica"/>
            <a:cs typeface="Helvetic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Full Page Layou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6D43FDACDF02458C96071D7628C880" ma:contentTypeVersion="4" ma:contentTypeDescription="Create a new document." ma:contentTypeScope="" ma:versionID="93db545676783a71a92c456b471b0a8b">
  <xsd:schema xmlns:xsd="http://www.w3.org/2001/XMLSchema" xmlns:xs="http://www.w3.org/2001/XMLSchema" xmlns:p="http://schemas.microsoft.com/office/2006/metadata/properties" xmlns:ns1="http://schemas.microsoft.com/sharepoint/v3" xmlns:ns2="b057fda7-913b-4ab6-8820-932873bcd66c" targetNamespace="http://schemas.microsoft.com/office/2006/metadata/properties" ma:root="true" ma:fieldsID="1e1586ca1b53aa448b4e9fddfe24baf2" ns1:_="" ns2:_="">
    <xsd:import namespace="http://schemas.microsoft.com/sharepoint/v3"/>
    <xsd:import namespace="b057fda7-913b-4ab6-8820-932873bcd66c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SharedWithUsers" minOccurs="0"/>
                <xsd:element ref="ns2:SharingHintHash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7fda7-913b-4ab6-8820-932873bcd66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Sharing Hint Hash" ma:internalName="SharingHintHash" ma:readOnly="true">
      <xsd:simpleType>
        <xsd:restriction base="dms:Text"/>
      </xsd:simple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F28EF043-B0E6-49AE-B312-D395614284A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066AAC9-B2D0-46BD-87E7-92BBFA7E10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b057fda7-913b-4ab6-8820-932873bcd6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B8D62D-BE99-40AF-BF97-BFAE812B12CE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terms/"/>
    <ds:schemaRef ds:uri="http://www.w3.org/XML/1998/namespace"/>
    <ds:schemaRef ds:uri="http://schemas.microsoft.com/office/2006/metadata/properties"/>
    <ds:schemaRef ds:uri="http://purl.org/dc/dcmitype/"/>
    <ds:schemaRef ds:uri="http://schemas.microsoft.com/office/infopath/2007/PartnerControls"/>
    <ds:schemaRef ds:uri="b057fda7-913b-4ab6-8820-932873bcd66c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1189</TotalTime>
  <Words>166</Words>
  <Application>Microsoft Office PowerPoint</Application>
  <PresentationFormat>On-screen Show (16:9)</PresentationFormat>
  <Paragraphs>74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24" baseType="lpstr">
      <vt:lpstr>MS PGothic</vt:lpstr>
      <vt:lpstr>宋体</vt:lpstr>
      <vt:lpstr>Arial</vt:lpstr>
      <vt:lpstr>Calibri</vt:lpstr>
      <vt:lpstr>Cambria Math</vt:lpstr>
      <vt:lpstr>DengXian</vt:lpstr>
      <vt:lpstr>Helvetica</vt:lpstr>
      <vt:lpstr>Helvetica Neue</vt:lpstr>
      <vt:lpstr>KishoreFont Medium</vt:lpstr>
      <vt:lpstr>Times New Roman</vt:lpstr>
      <vt:lpstr>Vitesse</vt:lpstr>
      <vt:lpstr>Vitesse Bold</vt:lpstr>
      <vt:lpstr>Vitesse Book</vt:lpstr>
      <vt:lpstr>Vitesse Medium</vt:lpstr>
      <vt:lpstr>1_Half Page Slash</vt:lpstr>
      <vt:lpstr>Half Page Slash</vt:lpstr>
      <vt:lpstr>Full Page Layout</vt:lpstr>
      <vt:lpstr>PowerPoint Presentation</vt:lpstr>
      <vt:lpstr>PowerPoint Presentation</vt:lpstr>
      <vt:lpstr>Example 1: Global Suicide by Region</vt:lpstr>
      <vt:lpstr>Parameter Estimation</vt:lpstr>
      <vt:lpstr>PowerPoint Presentation</vt:lpstr>
      <vt:lpstr>Parameter Estimation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Levine</dc:creator>
  <cp:lastModifiedBy>Rodriguez, Ramon S</cp:lastModifiedBy>
  <cp:revision>200</cp:revision>
  <dcterms:modified xsi:type="dcterms:W3CDTF">2020-02-12T20:55:45Z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0x010100E16D43FDACDF02458C96071D7628C880</vt:lpwstr>
  </property>
</Properties>
</file>