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9"/>
  </p:notesMasterIdLst>
  <p:handoutMasterIdLst>
    <p:handoutMasterId r:id="rId20"/>
  </p:handoutMasterIdLst>
  <p:sldIdLst>
    <p:sldId id="428" r:id="rId7"/>
    <p:sldId id="429" r:id="rId8"/>
    <p:sldId id="341" r:id="rId9"/>
    <p:sldId id="262" r:id="rId10"/>
    <p:sldId id="440" r:id="rId11"/>
    <p:sldId id="266" r:id="rId12"/>
    <p:sldId id="442" r:id="rId13"/>
    <p:sldId id="441" r:id="rId14"/>
    <p:sldId id="352" r:id="rId15"/>
    <p:sldId id="263" r:id="rId16"/>
    <p:sldId id="353" r:id="rId17"/>
    <p:sldId id="439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341"/>
            <p14:sldId id="262"/>
            <p14:sldId id="440"/>
            <p14:sldId id="266"/>
            <p14:sldId id="442"/>
            <p14:sldId id="441"/>
            <p14:sldId id="352"/>
            <p14:sldId id="263"/>
            <p14:sldId id="353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EEB211"/>
    <a:srgbClr val="F8FFF1"/>
    <a:srgbClr val="993200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15" autoAdjust="0"/>
    <p:restoredTop sz="85998"/>
  </p:normalViewPr>
  <p:slideViewPr>
    <p:cSldViewPr snapToGrid="0">
      <p:cViewPr varScale="1">
        <p:scale>
          <a:sx n="96" d="100"/>
          <a:sy n="96" d="100"/>
        </p:scale>
        <p:origin x="1397" y="77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71F2C-8725-6B4B-8917-88567F47CBB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847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D2BB9214-FE2A-9040-88E4-28081D5286BB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51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3BED772A-4565-6846-90CA-9A286FE9D0FD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218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8856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 dirty="0"/>
              <a:t>Analysis of Variance</a:t>
            </a:r>
            <a:endParaRPr kumimoji="1" lang="zh-CN" altLang="en-US" sz="2400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31208" y="4065247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000" dirty="0">
                <a:latin typeface="Helvetica" panose="020B0604020202020204" pitchFamily="34" charset="0"/>
                <a:cs typeface="Helvetica" panose="020B0604020202020204" pitchFamily="34" charset="0"/>
              </a:rPr>
              <a:t>Hypothesis Test for Equal Means</a:t>
            </a:r>
            <a:endParaRPr kumimoji="1" lang="zh-CN" altLang="en-U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2000" dirty="0">
              <a:latin typeface="Helvetica" panose="020B0604020202020204" pitchFamily="34" charset="0"/>
              <a:ea typeface="Vitesse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159030"/>
            <a:ext cx="4727575" cy="751019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2522" y="210439"/>
            <a:ext cx="8205851" cy="849272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latin typeface="Vitesse"/>
                <a:ea typeface="MS PGothic" charset="-128"/>
              </a:rPr>
              <a:t>Hypothesis Test for Equal Means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86549" y="1284053"/>
            <a:ext cx="3390899" cy="798314"/>
            <a:chOff x="685801" y="1885951"/>
            <a:chExt cx="3390899" cy="798314"/>
          </a:xfrm>
        </p:grpSpPr>
        <p:sp>
          <p:nvSpPr>
            <p:cNvPr id="18440" name="Rectangle 4"/>
            <p:cNvSpPr>
              <a:spLocks noChangeArrowheads="1"/>
            </p:cNvSpPr>
            <p:nvPr/>
          </p:nvSpPr>
          <p:spPr bwMode="auto">
            <a:xfrm>
              <a:off x="685801" y="1885951"/>
              <a:ext cx="3390899" cy="79831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05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703059" y="1899434"/>
                  <a:ext cx="3331618" cy="7848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charset="0"/>
                      <a:ea typeface="MS PGothic" charset="-128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en-US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H</a:t>
                  </a:r>
                  <a:r>
                    <a:rPr lang="en-US" altLang="en-US" baseline="-25000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0</a:t>
                  </a:r>
                  <a:r>
                    <a:rPr lang="en-US" altLang="en-US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 : </a:t>
                  </a:r>
                  <a14:m>
                    <m:oMath xmlns:m="http://schemas.openxmlformats.org/officeDocument/2006/math">
                      <m:r>
                        <a:rPr lang="en-US" altLang="en-US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𝜇</m:t>
                      </m:r>
                    </m:oMath>
                  </a14:m>
                  <a:r>
                    <a:rPr lang="en-US" altLang="en-US" baseline="-25000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1</a:t>
                  </a:r>
                  <a:r>
                    <a:rPr lang="en-US" altLang="en-US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 = </a:t>
                  </a:r>
                  <a14:m>
                    <m:oMath xmlns:m="http://schemas.openxmlformats.org/officeDocument/2006/math">
                      <m:r>
                        <a:rPr lang="en-US" altLang="en-US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𝜇</m:t>
                      </m:r>
                      <m:r>
                        <a:rPr lang="en-US" altLang="en-US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</m:oMath>
                  </a14:m>
                  <a:r>
                    <a:rPr lang="en-US" altLang="en-US" baseline="-25000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2</a:t>
                  </a:r>
                  <a:r>
                    <a:rPr lang="en-US" altLang="en-US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 = … = </a:t>
                  </a:r>
                  <a14:m>
                    <m:oMath xmlns:m="http://schemas.openxmlformats.org/officeDocument/2006/math">
                      <m:r>
                        <a:rPr lang="en-US" altLang="en-US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𝜇</m:t>
                      </m:r>
                      <m:r>
                        <a:rPr lang="en-US" altLang="en-US" i="1" dirty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</m:oMath>
                  </a14:m>
                  <a:r>
                    <a:rPr lang="en-US" altLang="en-US" baseline="-25000" dirty="0" err="1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k</a:t>
                  </a:r>
                  <a:endParaRPr lang="en-US" altLang="en-US" baseline="-250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endParaRP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en-US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H</a:t>
                  </a:r>
                  <a:r>
                    <a:rPr lang="en-US" altLang="en-US" baseline="-25000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A</a:t>
                  </a:r>
                  <a:r>
                    <a:rPr lang="en-US" altLang="en-US" dirty="0">
                      <a:latin typeface="Helvetica" panose="020B0604020202020204" pitchFamily="34" charset="0"/>
                      <a:ea typeface="KishoreFont Medium" charset="0"/>
                      <a:cs typeface="Helvetica" panose="020B0604020202020204" pitchFamily="34" charset="0"/>
                    </a:rPr>
                    <a:t> : some means are different</a:t>
                  </a:r>
                </a:p>
              </p:txBody>
            </p:sp>
          </mc:Choice>
          <mc:Fallback xmlns="">
            <p:sp>
              <p:nvSpPr>
                <p:cNvPr id="29705" name="Text 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03059" y="1899434"/>
                  <a:ext cx="3331618" cy="784830"/>
                </a:xfrm>
                <a:prstGeom prst="rect">
                  <a:avLst/>
                </a:prstGeom>
                <a:blipFill>
                  <a:blip r:embed="rId2"/>
                  <a:stretch>
                    <a:fillRect l="-1648" t="-4651" b="-1162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9420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728" name="Text Box 3"/>
              <p:cNvSpPr txBox="1">
                <a:spLocks noChangeArrowheads="1"/>
              </p:cNvSpPr>
              <p:nvPr/>
            </p:nvSpPr>
            <p:spPr bwMode="auto">
              <a:xfrm>
                <a:off x="145540" y="1006192"/>
                <a:ext cx="7696200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marL="171450" indent="-17145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Under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the null hypothesis, combine k samples to estimate the overall mean with the overall sample mean (grand mean)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0728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540" y="1006192"/>
                <a:ext cx="7696200" cy="646331"/>
              </a:xfrm>
              <a:prstGeom prst="rect">
                <a:avLst/>
              </a:prstGeom>
              <a:blipFill>
                <a:blip r:embed="rId2"/>
                <a:stretch>
                  <a:fillRect l="-555" t="-4717" b="-1415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Rectangle 7"/>
              <p:cNvSpPr>
                <a:spLocks noChangeArrowheads="1"/>
              </p:cNvSpPr>
              <p:nvPr/>
            </p:nvSpPr>
            <p:spPr bwMode="auto">
              <a:xfrm>
                <a:off x="138914" y="3261103"/>
                <a:ext cx="8411277" cy="909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marL="171450" indent="-17145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SST 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= </a:t>
                </a:r>
                <a:r>
                  <a:rPr lang="en-US" altLang="en-US" b="1" u="sng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um of </a:t>
                </a:r>
                <a:r>
                  <a:rPr lang="en-US" altLang="en-US" b="1" u="sng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quares </a:t>
                </a:r>
                <a:r>
                  <a:rPr lang="en-US" altLang="en-US" b="1" u="sng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otal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is-I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𝑗</m:t>
                            </m:r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kumimoji="1" lang="is-I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mr-IN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kumimoji="1" lang="en-US" altLang="zh-CN">
                                        <a:solidFill>
                                          <a:srgbClr val="000000"/>
                                        </a:solidFill>
                                        <a:latin typeface="Helvetica" panose="020B0604020202020204" pitchFamily="34" charset="0"/>
                                        <a:ea typeface="Cambria Math" panose="02040503050406030204" pitchFamily="18" charset="0"/>
                                        <a:cs typeface="Helvetica" panose="020B0604020202020204" pitchFamily="34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altLang="en-US" dirty="0">
                  <a:latin typeface="Helvetica" panose="020B0604020202020204" pitchFamily="34" charset="0"/>
                  <a:ea typeface="Helvetica" charset="0"/>
                  <a:cs typeface="Helvetica" panose="020B0604020202020204" pitchFamily="34" charset="0"/>
                </a:endParaRPr>
              </a:p>
              <a:p>
                <a:pPr marL="171450" indent="-17145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Because we only estimate one mean, we lose only 1 df (unlike pooled variance)</a:t>
                </a:r>
              </a:p>
            </p:txBody>
          </p:sp>
        </mc:Choice>
        <mc:Fallback xmlns="">
          <p:sp>
            <p:nvSpPr>
              <p:cNvPr id="922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914" y="3261103"/>
                <a:ext cx="8411277" cy="909673"/>
              </a:xfrm>
              <a:prstGeom prst="rect">
                <a:avLst/>
              </a:prstGeom>
              <a:blipFill>
                <a:blip r:embed="rId3"/>
                <a:stretch>
                  <a:fillRect l="-507" t="-40268" r="-652" b="-248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25985" y="1570495"/>
                <a:ext cx="1624460" cy="931902"/>
              </a:xfrm>
              <a:prstGeom prst="rect">
                <a:avLst/>
              </a:prstGeom>
            </p:spPr>
            <p:txBody>
              <a:bodyPr vert="horz" wrap="none" lIns="91440" tIns="45720" rIns="91440" bIns="45720" rtlCol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is-IS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𝑖</m:t>
                          </m:r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kumimoji="1" lang="is-IS" altLang="zh-CN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𝑗</m:t>
                              </m:r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kumimoji="1" lang="en-US" altLang="zh-CN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kumimoji="1" lang="zh-CN" altLang="en-US" sz="1600" dirty="0">
                  <a:solidFill>
                    <a:srgbClr val="000000"/>
                  </a:solidFill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85" y="1570495"/>
                <a:ext cx="1624460" cy="9319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27" name="Rectangle 8"/>
              <p:cNvSpPr>
                <a:spLocks noChangeArrowheads="1"/>
              </p:cNvSpPr>
              <p:nvPr/>
            </p:nvSpPr>
            <p:spPr bwMode="auto">
              <a:xfrm>
                <a:off x="145540" y="2341290"/>
                <a:ext cx="8011360" cy="3747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marL="171450" indent="-171450" eaLnBrk="1" hangingPunct="1">
                  <a:spcBef>
                    <a:spcPct val="50000"/>
                  </a:spcBef>
                  <a:buFontTx/>
                  <a:buChar char="•"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Base the null hypothesis variance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kumimoji="1" lang="en-US" altLang="zh-CN">
                            <a:solidFill>
                              <a:srgbClr val="000000"/>
                            </a:solidFill>
                            <a:latin typeface="Helvetica" panose="020B0604020202020204" pitchFamily="34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S</m:t>
                        </m:r>
                      </m:e>
                      <m:sub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2</m:t>
                        </m:r>
                      </m:sup>
                    </m:sSubSup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 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on this overall sample mean:</a:t>
                </a:r>
              </a:p>
            </p:txBody>
          </p:sp>
        </mc:Choice>
        <mc:Fallback xmlns="">
          <p:sp>
            <p:nvSpPr>
              <p:cNvPr id="30727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540" y="2341290"/>
                <a:ext cx="8011360" cy="374783"/>
              </a:xfrm>
              <a:prstGeom prst="rect">
                <a:avLst/>
              </a:prstGeom>
              <a:blipFill>
                <a:blip r:embed="rId5"/>
                <a:stretch>
                  <a:fillRect l="-533" t="-6452" r="-228" b="-241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472977" y="2663662"/>
                <a:ext cx="3200400" cy="723335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kumimoji="1" lang="is-IS" altLang="zh-CN" sz="16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𝑖</m:t>
                              </m:r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CN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KishoreFont Medium" charset="0"/>
                                </a:rPr>
                                <m:t>𝑘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kumimoji="1" lang="is-IS" altLang="zh-CN" sz="16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𝑗</m:t>
                                  </m:r>
                                  <m:r>
                                    <a:rPr kumimoji="1" lang="en-US" altLang="zh-CN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KishoreFont Medium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kumimoji="1" lang="en-US" altLang="zh-CN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kumimoji="1" lang="en-US" altLang="zh-CN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  <m:e>
                                  <m:sSup>
                                    <m:sSupPr>
                                      <m:ctrlPr>
                                        <a:rPr kumimoji="1" lang="is-IS" altLang="zh-CN" sz="160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mr-IN" altLang="zh-CN" sz="160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zh-CN" sz="160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CN" sz="16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zh-CN" sz="16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KishoreFont Medium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kumimoji="1" lang="en-US" altLang="zh-CN" sz="1600" i="0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KishoreFont Medium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kumimoji="1" lang="en-US" altLang="zh-CN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kumimoji="1" lang="en-US" altLang="zh-CN" sz="16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zh-CN" sz="1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KishoreFont Medium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−1</m:t>
                          </m:r>
                        </m:den>
                      </m:f>
                      <m:r>
                        <a:rPr kumimoji="1"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KishoreFont Medium" charset="0"/>
                        </a:rPr>
                        <m:t>=</m:t>
                      </m:r>
                      <m:f>
                        <m:fPr>
                          <m:ctrlPr>
                            <a:rPr kumimoji="1" lang="mr-IN" altLang="zh-CN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SST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kumimoji="1" lang="en-US" altLang="zh-CN" sz="16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KishoreFont Medium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kumimoji="1" lang="zh-CN" altLang="en-US" sz="1600" dirty="0">
                  <a:solidFill>
                    <a:srgbClr val="000000"/>
                  </a:solidFill>
                  <a:latin typeface="Cambria Math" panose="02040503050406030204" pitchFamily="18" charset="0"/>
                  <a:ea typeface="KishoreFont Medium" charset="0"/>
                  <a:cs typeface="KishoreFont Medium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77" y="2663662"/>
                <a:ext cx="3200400" cy="7233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13"/>
              <p:cNvSpPr txBox="1"/>
              <p:nvPr/>
            </p:nvSpPr>
            <p:spPr>
              <a:xfrm>
                <a:off x="545863" y="4114615"/>
                <a:ext cx="2362200" cy="6868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eaLnBrk="1" fontAlgn="auto" hangingPunct="1">
                  <a:spcBef>
                    <a:spcPts val="0"/>
                  </a:spcBef>
                  <a:spcAft>
                    <a:spcPts val="0"/>
                  </a:spcAft>
                  <a:defRPr sz="1800">
                    <a:latin typeface="Times New Roman" panose="02020603050405020304" pitchFamily="18" charset="0"/>
                    <a:ea typeface="+mn-ea"/>
                  </a:defRPr>
                </a:lvl1pPr>
                <a:lvl2pPr marL="742950" indent="-285750">
                  <a:defRPr sz="2400"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latin typeface="Times New Roman" panose="02020603050405020304" pitchFamily="18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altLang="zh-CN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mr-IN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Sup>
                            <m:sSub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altLang="zh-C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mr-IN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mr-IN" altLang="zh-C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mr-IN" altLang="zh-CN" sz="16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mr-IN" altLang="zh-CN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SST</m:t>
                          </m:r>
                        </m:num>
                        <m:den>
                          <m:sSup>
                            <m:sSupPr>
                              <m:ctrlPr>
                                <a:rPr lang="mr-IN" altLang="zh-CN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mr-IN" altLang="zh-CN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altLang="zh-CN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16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altLang="zh-CN" sz="16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altLang="zh-CN" sz="16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63" y="4114615"/>
                <a:ext cx="2362200" cy="6868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38914" y="203039"/>
            <a:ext cx="6182318" cy="722890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Null Hypothesis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40233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63EB9D53-4AC0-463E-8587-D9A615167C33}"/>
                  </a:ext>
                </a:extLst>
              </p:cNvPr>
              <p:cNvSpPr/>
              <p:nvPr/>
            </p:nvSpPr>
            <p:spPr>
              <a:xfrm>
                <a:off x="148580" y="1663192"/>
                <a:ext cx="7386681" cy="10840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where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SST</a:t>
                </a:r>
                <a:r>
                  <a:rPr lang="en-US" altLang="en-US" b="1" baseline="-25000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R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</m:oMath>
                </a14:m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um of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quares of </a:t>
                </a:r>
                <a:r>
                  <a:rPr lang="en-US" altLang="en-US" b="1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Tr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eatments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KishoreFont Medium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is-I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mr-IN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zh-CN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kumimoji="1" lang="en-US" altLang="zh-CN">
                                    <a:latin typeface="Helvetica" panose="020B0604020202020204" pitchFamily="34" charset="0"/>
                                    <a:ea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1" lang="en-US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and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is the </a:t>
                </a:r>
                <a:r>
                  <a:rPr lang="en-US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i</a:t>
                </a:r>
                <a:r>
                  <a:rPr lang="en-US" baseline="300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th</a:t>
                </a:r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sample mean.</a:t>
                </a:r>
              </a:p>
              <a:p>
                <a:endParaRPr lang="en-US" sz="9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Recall: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EB9D53-4AC0-463E-8587-D9A615167C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0" y="1663192"/>
                <a:ext cx="7386681" cy="1084079"/>
              </a:xfrm>
              <a:prstGeom prst="rect">
                <a:avLst/>
              </a:prstGeom>
              <a:blipFill rotWithShape="0">
                <a:blip r:embed="rId2"/>
                <a:stretch>
                  <a:fillRect l="-660" t="-38764" b="-8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E773FF3-2435-4CA8-BD27-3411007E8214}"/>
              </a:ext>
            </a:extLst>
          </p:cNvPr>
          <p:cNvSpPr/>
          <p:nvPr/>
        </p:nvSpPr>
        <p:spPr>
          <a:xfrm>
            <a:off x="613440" y="1373350"/>
            <a:ext cx="22098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dirty="0">
                <a:latin typeface="Helvetica" charset="0"/>
                <a:ea typeface="Helvetica" charset="0"/>
                <a:cs typeface="Helvetica" charset="0"/>
              </a:rPr>
              <a:t>SST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 = </a:t>
            </a:r>
            <a:r>
              <a:rPr lang="en-US" altLang="en-US" b="1" dirty="0">
                <a:latin typeface="Helvetica" charset="0"/>
                <a:ea typeface="Helvetica" charset="0"/>
                <a:cs typeface="Helvetica" charset="0"/>
              </a:rPr>
              <a:t>SSE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 + </a:t>
            </a:r>
            <a:r>
              <a:rPr lang="en-US" altLang="en-US" b="1" dirty="0">
                <a:latin typeface="Helvetica" charset="0"/>
                <a:ea typeface="Helvetica" charset="0"/>
                <a:cs typeface="Helvetica" charset="0"/>
              </a:rPr>
              <a:t>SST</a:t>
            </a:r>
            <a:r>
              <a:rPr lang="en-US" altLang="en-US" b="1" baseline="-25000" dirty="0">
                <a:latin typeface="Helvetica" charset="0"/>
                <a:ea typeface="Helvetica" charset="0"/>
                <a:cs typeface="Helvetica" charset="0"/>
              </a:rPr>
              <a:t>R</a:t>
            </a:r>
            <a:endParaRPr lang="en-US" alt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43861" y="1013913"/>
            <a:ext cx="4889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We can </a:t>
            </a:r>
            <a:r>
              <a:rPr lang="en-US" altLang="en-US" i="1" dirty="0">
                <a:latin typeface="Helvetica" charset="0"/>
                <a:ea typeface="Helvetica" charset="0"/>
                <a:cs typeface="Helvetica" charset="0"/>
              </a:rPr>
              <a:t>partition</a:t>
            </a:r>
            <a:r>
              <a:rPr lang="en-US" altLang="en-US" dirty="0">
                <a:latin typeface="Helvetica" charset="0"/>
                <a:ea typeface="Helvetica" charset="0"/>
                <a:cs typeface="Helvetica" charset="0"/>
              </a:rPr>
              <a:t> SST into two separate parts: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861" y="204805"/>
            <a:ext cx="6182318" cy="674952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SST Decomposition</a:t>
            </a:r>
            <a:endParaRPr kumimoji="1" lang="zh-CN" altLang="en-US" sz="3600" dirty="0">
              <a:latin typeface="Vitess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5486" y="3564587"/>
            <a:ext cx="58674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 defTabSz="685800" eaLnBrk="1" latinLnBrk="0" hangingPunct="1">
              <a:buFontTx/>
              <a:buAutoNum type="arabicPeriod"/>
              <a:defRPr sz="1800"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defTabSz="685800" eaLnBrk="1" latinLnBrk="0" hangingPunct="1">
              <a:defRPr sz="1350"/>
            </a:lvl2pPr>
            <a:lvl3pPr marL="1143000" indent="-228600" defTabSz="685800" eaLnBrk="1" latinLnBrk="0" hangingPunct="1">
              <a:defRPr sz="1350"/>
            </a:lvl3pPr>
            <a:lvl4pPr marL="1600200" indent="-228600" defTabSz="685800" eaLnBrk="1" latinLnBrk="0" hangingPunct="1">
              <a:defRPr sz="1350"/>
            </a:lvl4pPr>
            <a:lvl5pPr marL="2057400" indent="-228600" defTabSz="685800" eaLnBrk="1" latinLnBrk="0" hangingPunct="1">
              <a:defRPr sz="1350"/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50"/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50"/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50"/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50"/>
            </a:lvl9pPr>
          </a:lstStyle>
          <a:p>
            <a:pPr marL="282575" indent="-282575"/>
            <a:r>
              <a:rPr lang="en-US" dirty="0"/>
              <a:t>MSE = SSE/(N-k) = </a:t>
            </a:r>
            <a:r>
              <a:rPr lang="en-US" i="1" dirty="0"/>
              <a:t>within-group variability</a:t>
            </a:r>
          </a:p>
          <a:p>
            <a:pPr marL="282575" indent="-282575"/>
            <a:r>
              <a:rPr lang="en-US" altLang="en-US" dirty="0"/>
              <a:t>MSST</a:t>
            </a:r>
            <a:r>
              <a:rPr lang="en-US" altLang="en-US" baseline="-25000" dirty="0"/>
              <a:t>R</a:t>
            </a:r>
            <a:r>
              <a:rPr lang="en-US" altLang="en-US" dirty="0"/>
              <a:t> = </a:t>
            </a:r>
            <a:r>
              <a:rPr lang="en-US" altLang="en-US"/>
              <a:t>SST</a:t>
            </a:r>
            <a:r>
              <a:rPr lang="en-US" altLang="en-US" b="1" baseline="-25000"/>
              <a:t>R </a:t>
            </a:r>
            <a:r>
              <a:rPr lang="en-US"/>
              <a:t>/(k-1) </a:t>
            </a:r>
            <a:r>
              <a:rPr lang="en-US" dirty="0"/>
              <a:t>= </a:t>
            </a:r>
            <a:r>
              <a:rPr lang="en-US" i="1" dirty="0"/>
              <a:t>between-group variability</a:t>
            </a:r>
          </a:p>
          <a:p>
            <a:pPr marL="282575" indent="-282575"/>
            <a:r>
              <a:rPr lang="en-US" dirty="0"/>
              <a:t>ANOVA: comparing </a:t>
            </a:r>
            <a:r>
              <a:rPr lang="en-US" i="1" dirty="0"/>
              <a:t>between</a:t>
            </a:r>
            <a:r>
              <a:rPr lang="en-US" dirty="0"/>
              <a:t> to </a:t>
            </a:r>
            <a:r>
              <a:rPr lang="en-US" i="1" dirty="0"/>
              <a:t>within</a:t>
            </a:r>
            <a:r>
              <a:rPr lang="en-US" dirty="0"/>
              <a:t> variability</a:t>
            </a:r>
          </a:p>
          <a:p>
            <a:pPr marL="282575" indent="-282575"/>
            <a:r>
              <a:rPr lang="en-US" dirty="0"/>
              <a:t>F = between-group variability</a:t>
            </a:r>
            <a:r>
              <a:rPr lang="en-US" altLang="en-US" b="1" baseline="-25000" dirty="0"/>
              <a:t> </a:t>
            </a:r>
            <a:r>
              <a:rPr lang="en-US" dirty="0"/>
              <a:t>/</a:t>
            </a:r>
            <a:r>
              <a:rPr lang="en-US" altLang="en-US" b="1" baseline="-25000" dirty="0"/>
              <a:t> </a:t>
            </a:r>
            <a:r>
              <a:rPr lang="en-US" dirty="0"/>
              <a:t>within-group variability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E8EAED99-2A96-43BF-8D02-226953741A22}"/>
                  </a:ext>
                </a:extLst>
              </p:cNvPr>
              <p:cNvSpPr/>
              <p:nvPr/>
            </p:nvSpPr>
            <p:spPr>
              <a:xfrm>
                <a:off x="598281" y="2614755"/>
                <a:ext cx="2878501" cy="494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b="1" dirty="0">
                    <a:latin typeface="Helvetica" charset="0"/>
                    <a:ea typeface="Helvetica" charset="0"/>
                    <a:cs typeface="Helvetica" charset="0"/>
                  </a:rPr>
                  <a:t>SST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charset="0"/>
                  </a:rPr>
                  <a:t>=</a:t>
                </a:r>
                <a:r>
                  <a:rPr lang="en-US" altLang="en-US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is-I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𝑖</m:t>
                        </m:r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is-I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𝑗</m:t>
                            </m:r>
                            <m:r>
                              <a:rPr kumimoji="1"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kumimoji="1" lang="is-I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mr-IN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kumimoji="1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kumimoji="1" lang="en-US" altLang="zh-CN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8EAED99-2A96-43BF-8D02-226953741A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81" y="2614755"/>
                <a:ext cx="2878501" cy="494174"/>
              </a:xfrm>
              <a:prstGeom prst="rect">
                <a:avLst/>
              </a:prstGeom>
              <a:blipFill>
                <a:blip r:embed="rId3"/>
                <a:stretch>
                  <a:fillRect l="-1695" t="-74074" b="-1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9A8CA51E-5FFF-4AB2-94FD-2213CD6077A9}"/>
                  </a:ext>
                </a:extLst>
              </p:cNvPr>
              <p:cNvSpPr/>
              <p:nvPr/>
            </p:nvSpPr>
            <p:spPr>
              <a:xfrm>
                <a:off x="598282" y="2989264"/>
                <a:ext cx="2819401" cy="4941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b="1" dirty="0">
                    <a:latin typeface="Helvetica" charset="0"/>
                    <a:ea typeface="Helvetica" charset="0"/>
                    <a:cs typeface="Helvetica" charset="0"/>
                  </a:rPr>
                  <a:t>SSE </a:t>
                </a:r>
                <a:r>
                  <a:rPr lang="en-US" alt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1" lang="mr-IN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1" lang="is-I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kumimoji="1"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𝑗</m:t>
                            </m:r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kumimoji="1" lang="is-I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kumimoji="1" lang="mr-IN" altLang="zh-CN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kumimoji="1"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m:rPr>
                                        <m:nor/>
                                      </m:rPr>
                                      <a:rPr kumimoji="1" lang="en-US" altLang="zh-CN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KishoreFont Medium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zh-CN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1" lang="en-US" altLang="zh-CN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KishoreFont Medium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1" lang="en-US" altLang="zh-CN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KishoreFont Medium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kumimoji="1" lang="en-US" altLang="zh-CN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KishoreFont Medium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KishoreFont Medium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A8CA51E-5FFF-4AB2-94FD-2213CD6077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82" y="2989264"/>
                <a:ext cx="2819401" cy="494174"/>
              </a:xfrm>
              <a:prstGeom prst="rect">
                <a:avLst/>
              </a:prstGeom>
              <a:blipFill>
                <a:blip r:embed="rId4"/>
                <a:stretch>
                  <a:fillRect l="-1728" t="-74074" b="-12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872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155" y="211567"/>
            <a:ext cx="8361114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l" defTabSz="457189"/>
            <a:r>
              <a:rPr kumimoji="1" lang="en-US" altLang="en-US" sz="3600" dirty="0">
                <a:latin typeface="Vitesse"/>
                <a:ea typeface="Vitesse" charset="0"/>
                <a:cs typeface="Vitesse" charset="0"/>
              </a:rPr>
              <a:t>Testing Equal Variances with F-Test</a:t>
            </a:r>
          </a:p>
        </p:txBody>
      </p:sp>
      <p:sp>
        <p:nvSpPr>
          <p:cNvPr id="32772" name="Text Box 11"/>
          <p:cNvSpPr txBox="1">
            <a:spLocks noChangeArrowheads="1"/>
          </p:cNvSpPr>
          <p:nvPr/>
        </p:nvSpPr>
        <p:spPr bwMode="auto">
          <a:xfrm>
            <a:off x="5426562" y="1368948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if H</a:t>
            </a:r>
            <a:r>
              <a:rPr lang="en-US" altLang="en-US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o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is true</a:t>
            </a:r>
          </a:p>
        </p:txBody>
      </p:sp>
      <p:sp>
        <p:nvSpPr>
          <p:cNvPr id="32773" name="Text Box 3"/>
          <p:cNvSpPr txBox="1">
            <a:spLocks noChangeArrowheads="1"/>
          </p:cNvSpPr>
          <p:nvPr/>
        </p:nvSpPr>
        <p:spPr bwMode="auto">
          <a:xfrm>
            <a:off x="132506" y="2087552"/>
            <a:ext cx="84350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Reject H</a:t>
            </a:r>
            <a:r>
              <a:rPr lang="en-US" altLang="en-US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o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if </a:t>
            </a:r>
            <a:r>
              <a:rPr lang="en-US" altLang="en-US" b="1" dirty="0">
                <a:latin typeface="Helvetica" pitchFamily="2" charset="0"/>
                <a:ea typeface="KishoreFont Medium" charset="0"/>
                <a:cs typeface="KishoreFont Medium" charset="0"/>
              </a:rPr>
              <a:t>F</a:t>
            </a:r>
            <a:r>
              <a:rPr lang="en-US" altLang="en-US" b="1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0 </a:t>
            </a:r>
            <a:r>
              <a:rPr lang="en-US" altLang="en-US" b="1" dirty="0">
                <a:latin typeface="Helvetica" pitchFamily="2" charset="0"/>
                <a:ea typeface="KishoreFont Medium" charset="0"/>
                <a:cs typeface="KishoreFont Medium" charset="0"/>
              </a:rPr>
              <a:t> &gt; F</a:t>
            </a:r>
            <a:r>
              <a:rPr lang="en-US" altLang="en-US" b="1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a</a:t>
            </a:r>
            <a:r>
              <a:rPr lang="en-US" altLang="en-US" b="1" dirty="0">
                <a:latin typeface="Helvetica" pitchFamily="2" charset="0"/>
                <a:ea typeface="KishoreFont Medium" charset="0"/>
                <a:cs typeface="KishoreFont Medium" charset="0"/>
              </a:rPr>
              <a:t>(k-1,N-k),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which is the upper α</a:t>
            </a:r>
            <a:r>
              <a:rPr lang="en-US" altLang="en-US" baseline="30000" dirty="0" err="1">
                <a:latin typeface="Helvetica" pitchFamily="2" charset="0"/>
                <a:ea typeface="KishoreFont Medium" charset="0"/>
                <a:cs typeface="KishoreFont Medium" charset="0"/>
              </a:rPr>
              <a:t>th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quantile of the F distribution.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99751" y="2576775"/>
            <a:ext cx="5535393" cy="424843"/>
            <a:chOff x="235929" y="3477922"/>
            <a:chExt cx="5535393" cy="424843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238125" y="3477922"/>
              <a:ext cx="5533197" cy="424843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2776" name="Text Box 4"/>
            <p:cNvSpPr txBox="1">
              <a:spLocks noChangeArrowheads="1"/>
            </p:cNvSpPr>
            <p:nvPr/>
          </p:nvSpPr>
          <p:spPr bwMode="auto">
            <a:xfrm>
              <a:off x="235929" y="3483233"/>
              <a:ext cx="5535393" cy="24871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P-value for the F-test = P( F &gt; F</a:t>
              </a:r>
              <a:r>
                <a:rPr lang="en-US" altLang="en-US" baseline="-250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0</a:t>
              </a:r>
              <a:r>
                <a:rPr lang="en-US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), where F ~ F</a:t>
              </a:r>
              <a:r>
                <a:rPr lang="en-US" altLang="en-US" baseline="-250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(k-1,N-k)</a:t>
              </a:r>
              <a:endParaRPr lang="en-US" alt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99046" y="1047755"/>
            <a:ext cx="3848100" cy="611015"/>
            <a:chOff x="228600" y="1657350"/>
            <a:chExt cx="3848100" cy="611015"/>
          </a:xfrm>
        </p:grpSpPr>
        <p:sp>
          <p:nvSpPr>
            <p:cNvPr id="27660" name="Rectangle 12"/>
            <p:cNvSpPr>
              <a:spLocks noChangeArrowheads="1"/>
            </p:cNvSpPr>
            <p:nvPr/>
          </p:nvSpPr>
          <p:spPr bwMode="auto">
            <a:xfrm>
              <a:off x="228600" y="1657350"/>
              <a:ext cx="3848100" cy="611015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245973" y="1672883"/>
                  <a:ext cx="3830727" cy="5841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mr-IN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lin"/>
                                <m:ctrlPr>
                                  <a:rPr kumimoji="1" lang="mr-IN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SST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b="0" i="0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kumimoji="1" lang="mr-IN" altLang="zh-C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SSE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den>
                            </m:f>
                          </m:den>
                        </m:f>
                        <m:r>
                          <m:rPr>
                            <m:nor/>
                          </m:rPr>
                          <a:rPr kumimoji="1" lang="mr-IN" altLang="zh-CN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≡</m:t>
                        </m:r>
                        <m:f>
                          <m:fPr>
                            <m:ctrlPr>
                              <a:rPr kumimoji="1" lang="mr-IN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MST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b="0" i="0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R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MSE</m:t>
                            </m:r>
                          </m:den>
                        </m:f>
                        <m:r>
                          <m:rPr>
                            <m:nor/>
                          </m:rPr>
                          <a:rPr kumimoji="1" lang="mr-IN" altLang="zh-CN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F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~</m:t>
                        </m:r>
                        <m:r>
                          <m:rPr>
                            <m:nor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F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𝑘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−1, 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N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latin typeface="Cambria Math" panose="02040503050406030204" pitchFamily="18" charset="0"/>
                    <a:ea typeface="KishoreFont Medium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973" y="1672883"/>
                  <a:ext cx="3830727" cy="584199"/>
                </a:xfrm>
                <a:prstGeom prst="rect">
                  <a:avLst/>
                </a:prstGeom>
                <a:blipFill>
                  <a:blip r:embed="rId2"/>
                  <a:stretch>
                    <a:fillRect l="-1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343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B9E619A-D8CC-B645-9975-5D8D19D0E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41" y="3203985"/>
            <a:ext cx="2832322" cy="1639685"/>
          </a:xfrm>
          <a:prstGeom prst="rect">
            <a:avLst/>
          </a:prstGeom>
        </p:spPr>
      </p:pic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40155" y="211567"/>
            <a:ext cx="8361114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pPr defTabSz="457189"/>
            <a:r>
              <a:rPr kumimoji="1" lang="en-US" altLang="en-US" sz="3600" dirty="0">
                <a:latin typeface="Vitesse"/>
                <a:ea typeface="Vitesse" charset="0"/>
                <a:cs typeface="Vitesse" charset="0"/>
              </a:rPr>
              <a:t>Testing Equal Variances with F-Test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99046" y="1047755"/>
            <a:ext cx="3848100" cy="611015"/>
            <a:chOff x="228600" y="1657350"/>
            <a:chExt cx="3848100" cy="611015"/>
          </a:xfrm>
        </p:grpSpPr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28600" y="1657350"/>
              <a:ext cx="3848100" cy="611015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"/>
                <p:cNvSpPr txBox="1"/>
                <p:nvPr/>
              </p:nvSpPr>
              <p:spPr>
                <a:xfrm>
                  <a:off x="245973" y="1672883"/>
                  <a:ext cx="3830727" cy="5841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mr-IN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lin"/>
                                <m:ctrlPr>
                                  <a:rPr kumimoji="1" lang="mr-IN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SST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CN" b="0" i="0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kumimoji="1" lang="mr-IN" altLang="zh-CN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kumimoji="1"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SSE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den>
                            </m:f>
                          </m:den>
                        </m:f>
                        <m:r>
                          <m:rPr>
                            <m:nor/>
                          </m:rPr>
                          <a:rPr kumimoji="1" lang="mr-IN" altLang="zh-CN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≡</m:t>
                        </m:r>
                        <m:f>
                          <m:fPr>
                            <m:ctrlPr>
                              <a:rPr kumimoji="1" lang="mr-IN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MST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b="0" i="0" baseline="-250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R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MSE</m:t>
                            </m:r>
                          </m:den>
                        </m:f>
                        <m:r>
                          <m:rPr>
                            <m:nor/>
                          </m:rPr>
                          <a:rPr kumimoji="1" lang="mr-IN" altLang="zh-CN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=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F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~</m:t>
                        </m:r>
                        <m:r>
                          <m:rPr>
                            <m:nor/>
                          </m:rPr>
                          <a:rPr kumimoji="1" lang="en-US" altLang="zh-CN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F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𝑘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−1, 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N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−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KishoreFont Medium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>
                    <a:latin typeface="Cambria Math" panose="02040503050406030204" pitchFamily="18" charset="0"/>
                    <a:ea typeface="KishoreFont Medium" charset="0"/>
                    <a:cs typeface="KishoreFont Medium" charset="0"/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973" y="1672883"/>
                  <a:ext cx="3830727" cy="584199"/>
                </a:xfrm>
                <a:prstGeom prst="rect">
                  <a:avLst/>
                </a:prstGeom>
                <a:blipFill>
                  <a:blip r:embed="rId3"/>
                  <a:stretch>
                    <a:fillRect l="-1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5426562" y="1368948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if H</a:t>
            </a:r>
            <a:r>
              <a:rPr lang="en-US" altLang="en-US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o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is true</a:t>
            </a:r>
          </a:p>
        </p:txBody>
      </p:sp>
      <p:sp>
        <p:nvSpPr>
          <p:cNvPr id="25" name="Text Box 3"/>
          <p:cNvSpPr txBox="1">
            <a:spLocks noChangeArrowheads="1"/>
          </p:cNvSpPr>
          <p:nvPr/>
        </p:nvSpPr>
        <p:spPr bwMode="auto">
          <a:xfrm>
            <a:off x="132506" y="2087552"/>
            <a:ext cx="84350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Reject H</a:t>
            </a:r>
            <a:r>
              <a:rPr lang="en-US" altLang="en-US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o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if </a:t>
            </a:r>
            <a:r>
              <a:rPr lang="en-US" altLang="en-US" b="1" dirty="0">
                <a:latin typeface="Helvetica" pitchFamily="2" charset="0"/>
                <a:ea typeface="KishoreFont Medium" charset="0"/>
                <a:cs typeface="KishoreFont Medium" charset="0"/>
              </a:rPr>
              <a:t>F</a:t>
            </a:r>
            <a:r>
              <a:rPr lang="en-US" altLang="en-US" b="1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0 </a:t>
            </a:r>
            <a:r>
              <a:rPr lang="en-US" altLang="en-US" b="1" dirty="0">
                <a:latin typeface="Helvetica" pitchFamily="2" charset="0"/>
                <a:ea typeface="KishoreFont Medium" charset="0"/>
                <a:cs typeface="KishoreFont Medium" charset="0"/>
              </a:rPr>
              <a:t> &gt; F</a:t>
            </a:r>
            <a:r>
              <a:rPr lang="en-US" altLang="en-US" b="1" baseline="-25000" dirty="0">
                <a:latin typeface="Helvetica" pitchFamily="2" charset="0"/>
                <a:ea typeface="KishoreFont Medium" charset="0"/>
                <a:cs typeface="KishoreFont Medium" charset="0"/>
              </a:rPr>
              <a:t>a</a:t>
            </a:r>
            <a:r>
              <a:rPr lang="en-US" altLang="en-US" b="1" dirty="0">
                <a:latin typeface="Helvetica" pitchFamily="2" charset="0"/>
                <a:ea typeface="KishoreFont Medium" charset="0"/>
                <a:cs typeface="KishoreFont Medium" charset="0"/>
              </a:rPr>
              <a:t>(k-1,N-k),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which is the upper α</a:t>
            </a:r>
            <a:r>
              <a:rPr lang="en-US" altLang="en-US" baseline="30000" dirty="0" err="1">
                <a:latin typeface="Helvetica" pitchFamily="2" charset="0"/>
                <a:ea typeface="KishoreFont Medium" charset="0"/>
                <a:cs typeface="KishoreFont Medium" charset="0"/>
              </a:rPr>
              <a:t>th</a:t>
            </a:r>
            <a:r>
              <a:rPr lang="en-US" altLang="en-US" dirty="0">
                <a:latin typeface="Helvetica" pitchFamily="2" charset="0"/>
                <a:ea typeface="KishoreFont Medium" charset="0"/>
                <a:cs typeface="KishoreFont Medium" charset="0"/>
              </a:rPr>
              <a:t> quantile of the F distribution.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99751" y="2576775"/>
            <a:ext cx="5535393" cy="424843"/>
            <a:chOff x="235929" y="3477922"/>
            <a:chExt cx="5535393" cy="424843"/>
          </a:xfrm>
        </p:grpSpPr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>
              <a:off x="238125" y="3477922"/>
              <a:ext cx="5533197" cy="424843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en-US" sz="180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8" name="Text Box 4"/>
            <p:cNvSpPr txBox="1">
              <a:spLocks noChangeArrowheads="1"/>
            </p:cNvSpPr>
            <p:nvPr/>
          </p:nvSpPr>
          <p:spPr bwMode="auto">
            <a:xfrm>
              <a:off x="235929" y="3483233"/>
              <a:ext cx="5535393" cy="24871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P-value for the F-test = P( F &gt; F</a:t>
              </a:r>
              <a:r>
                <a:rPr lang="en-US" altLang="en-US" baseline="-250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0</a:t>
              </a:r>
              <a:r>
                <a:rPr lang="en-US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), where F ~ F</a:t>
              </a:r>
              <a:r>
                <a:rPr lang="en-US" altLang="en-US" baseline="-25000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rPr>
                <a:t>(k-1,N-k)</a:t>
              </a:r>
              <a:endParaRPr lang="en-US" altLang="en-US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27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4"/>
          <p:cNvSpPr txBox="1">
            <a:spLocks noChangeArrowheads="1"/>
          </p:cNvSpPr>
          <p:nvPr/>
        </p:nvSpPr>
        <p:spPr bwMode="auto">
          <a:xfrm>
            <a:off x="685800" y="1276350"/>
            <a:ext cx="310929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algn="l"/>
            <a:r>
              <a:rPr lang="en-US" altLang="en-US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 the mean suicide rates equal across the different country regions?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528" y="207963"/>
            <a:ext cx="8562392" cy="693186"/>
          </a:xfrm>
          <a:prstGeom prst="rect">
            <a:avLst/>
          </a:prstGeom>
        </p:spPr>
        <p:txBody>
          <a:bodyPr/>
          <a:lstStyle/>
          <a:p>
            <a:pPr algn="l"/>
            <a:r>
              <a:rPr kumimoji="1" lang="en-US" altLang="zh-CN" sz="3600" dirty="0">
                <a:latin typeface="Vitesse" charset="0"/>
                <a:ea typeface="Vitesse" charset="0"/>
                <a:cs typeface="Vitesse" charset="0"/>
              </a:rPr>
              <a:t>Example 1: Global Suicide by Region</a:t>
            </a:r>
            <a:endParaRPr kumimoji="1" lang="zh-CN" altLang="en-US" sz="3600" dirty="0">
              <a:latin typeface="Vitesse" charset="0"/>
              <a:ea typeface="Vitesse" charset="0"/>
              <a:cs typeface="Vitesse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93" r="75823" b="1"/>
          <a:stretch/>
        </p:blipFill>
        <p:spPr>
          <a:xfrm>
            <a:off x="5254861" y="1241762"/>
            <a:ext cx="2680594" cy="241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22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9108" y="2886882"/>
            <a:ext cx="2362200" cy="175432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defTabSz="685800" eaLnBrk="1" latinLnBrk="0" hangingPunct="1">
              <a:defRPr sz="1800" kern="100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latin typeface="+mn-lt"/>
                <a:ea typeface="+mn-ea"/>
              </a:defRPr>
            </a:lvl5pPr>
            <a:lvl6pPr marL="1714500" defTabSz="685800">
              <a:defRPr sz="1350">
                <a:latin typeface="+mn-lt"/>
                <a:ea typeface="+mn-ea"/>
              </a:defRPr>
            </a:lvl6pPr>
            <a:lvl7pPr marL="2057400" defTabSz="685800">
              <a:defRPr sz="1350">
                <a:latin typeface="+mn-lt"/>
                <a:ea typeface="+mn-ea"/>
              </a:defRPr>
            </a:lvl7pPr>
            <a:lvl8pPr marL="2400300" defTabSz="685800">
              <a:defRPr sz="1350">
                <a:latin typeface="+mn-lt"/>
                <a:ea typeface="+mn-ea"/>
              </a:defRPr>
            </a:lvl8pPr>
            <a:lvl9pPr marL="2743200" defTabSz="685800">
              <a:defRPr sz="1350">
                <a:latin typeface="+mn-lt"/>
                <a:ea typeface="+mn-ea"/>
              </a:defRPr>
            </a:lvl9pPr>
          </a:lstStyle>
          <a:p>
            <a:r>
              <a:rPr lang="en-US" altLang="en-US" dirty="0"/>
              <a:t>SST</a:t>
            </a:r>
            <a:r>
              <a:rPr lang="en-US" altLang="en-US" baseline="-25000" dirty="0"/>
              <a:t>R</a:t>
            </a:r>
            <a:r>
              <a:rPr lang="en-US" dirty="0"/>
              <a:t> = 1548</a:t>
            </a:r>
          </a:p>
          <a:p>
            <a:r>
              <a:rPr lang="en-US" dirty="0"/>
              <a:t>k-1 = 9</a:t>
            </a:r>
          </a:p>
          <a:p>
            <a:r>
              <a:rPr lang="en-US" dirty="0"/>
              <a:t>SSE = 2779</a:t>
            </a:r>
            <a:endParaRPr lang="de-DE" altLang="en-US" dirty="0"/>
          </a:p>
          <a:p>
            <a:r>
              <a:rPr lang="en-US" dirty="0"/>
              <a:t>N-k =  77</a:t>
            </a:r>
          </a:p>
          <a:p>
            <a:r>
              <a:rPr lang="en-US" dirty="0"/>
              <a:t>F-value = 4.767</a:t>
            </a:r>
          </a:p>
          <a:p>
            <a:r>
              <a:rPr lang="en-US" dirty="0"/>
              <a:t>P-value = 4.71e-05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9908" y="2886882"/>
            <a:ext cx="5105400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defTabSz="685800" eaLnBrk="1" latinLnBrk="0" hangingPunct="1">
              <a:defRPr sz="1800" kern="100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latin typeface="+mn-lt"/>
                <a:ea typeface="+mn-ea"/>
              </a:defRPr>
            </a:lvl5pPr>
            <a:lvl6pPr marL="1714500" defTabSz="685800">
              <a:defRPr sz="1350">
                <a:latin typeface="+mn-lt"/>
                <a:ea typeface="+mn-ea"/>
              </a:defRPr>
            </a:lvl6pPr>
            <a:lvl7pPr marL="2057400" defTabSz="685800">
              <a:defRPr sz="1350">
                <a:latin typeface="+mn-lt"/>
                <a:ea typeface="+mn-ea"/>
              </a:defRPr>
            </a:lvl7pPr>
            <a:lvl8pPr marL="2400300" defTabSz="685800">
              <a:defRPr sz="1350">
                <a:latin typeface="+mn-lt"/>
                <a:ea typeface="+mn-ea"/>
              </a:defRPr>
            </a:lvl8pPr>
            <a:lvl9pPr marL="2743200" defTabSz="685800">
              <a:defRPr sz="1350">
                <a:latin typeface="+mn-lt"/>
                <a:ea typeface="+mn-ea"/>
              </a:defRPr>
            </a:lvl9pPr>
          </a:lstStyle>
          <a:p>
            <a:r>
              <a:rPr lang="en-US" b="1" dirty="0"/>
              <a:t>P-value ≈ 0:</a:t>
            </a:r>
          </a:p>
          <a:p>
            <a:r>
              <a:rPr lang="en-US" dirty="0"/>
              <a:t>Reject the null hypothesis of equal mean heights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0FC49EF6-D3CE-43CB-A4A5-F9AFA386C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46" y="1008386"/>
            <a:ext cx="5595222" cy="1692771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summary(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(suicidesper100k ~ region, data=</a:t>
            </a:r>
            <a:r>
              <a:rPr lang="en-US" alt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suicide_data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pPr lvl="0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    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	Sum 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Sq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	Mean 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Sq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	F value	</a:t>
            </a:r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(&gt;F) </a:t>
            </a:r>
          </a:p>
          <a:p>
            <a:pPr lvl="0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region       	9   	1548  	172.06   	4.767 	4.71e-05 *** </a:t>
            </a:r>
          </a:p>
          <a:p>
            <a:pPr lvl="0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Residuals   77   	2779   	36.09 </a:t>
            </a:r>
          </a:p>
          <a:p>
            <a:pPr lvl="0"/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--- </a:t>
            </a:r>
          </a:p>
          <a:p>
            <a:pPr lvl="0"/>
            <a:r>
              <a:rPr lang="en-US" altLang="en-US" sz="1400" dirty="0" err="1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Signif</a:t>
            </a:r>
            <a:r>
              <a:rPr lang="en-US" altLang="en-US" sz="14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 codes:  0 ‘***’ 0.001 ‘**’ 0.01 ‘*’ 0.05 ‘.’ 0.1 ‘ ’ 1           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151022" y="207963"/>
            <a:ext cx="7824851" cy="673308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Testing for Equal Means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3623116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3338" y="1009758"/>
            <a:ext cx="38290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Three different keyboard layouts are being compared in terms of typing speed. </a:t>
            </a:r>
          </a:p>
        </p:txBody>
      </p:sp>
      <p:sp>
        <p:nvSpPr>
          <p:cNvPr id="10246" name="AutoShape 6" descr="Typewriter"/>
          <p:cNvSpPr>
            <a:spLocks noChangeAspect="1" noChangeArrowheads="1"/>
          </p:cNvSpPr>
          <p:nvPr/>
        </p:nvSpPr>
        <p:spPr bwMode="auto">
          <a:xfrm>
            <a:off x="4186238" y="2185988"/>
            <a:ext cx="77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 sz="1800">
              <a:latin typeface="Times New Roman" charset="0"/>
            </a:endParaRPr>
          </a:p>
        </p:txBody>
      </p:sp>
      <p:sp>
        <p:nvSpPr>
          <p:cNvPr id="10247" name="AutoShape 7" descr="Typewriter"/>
          <p:cNvSpPr>
            <a:spLocks noChangeAspect="1" noChangeArrowheads="1"/>
          </p:cNvSpPr>
          <p:nvPr/>
        </p:nvSpPr>
        <p:spPr bwMode="auto">
          <a:xfrm>
            <a:off x="4186238" y="2185988"/>
            <a:ext cx="77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 sz="1800">
              <a:latin typeface="Times New Roman" charset="0"/>
            </a:endParaRPr>
          </a:p>
        </p:txBody>
      </p:sp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8825" y="2964191"/>
            <a:ext cx="2160392" cy="217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xmlns="" id="{413ABE08-8BB6-744B-8AB3-9A23B92FA23C}"/>
              </a:ext>
            </a:extLst>
          </p:cNvPr>
          <p:cNvSpPr txBox="1">
            <a:spLocks/>
          </p:cNvSpPr>
          <p:nvPr/>
        </p:nvSpPr>
        <p:spPr>
          <a:xfrm>
            <a:off x="120208" y="214588"/>
            <a:ext cx="8562392" cy="993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Example 2: Keyboard Layout</a:t>
            </a: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xmlns="" id="{358AF4C9-58B9-FB44-B71C-81D281710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327" y="2071605"/>
            <a:ext cx="4343400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defTabSz="685800" eaLnBrk="1" latinLnBrk="0" hangingPunct="1">
              <a:defRPr sz="1800" kern="100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latin typeface="+mn-lt"/>
                <a:ea typeface="+mn-ea"/>
              </a:defRPr>
            </a:lvl5pPr>
            <a:lvl6pPr marL="1714500" defTabSz="685800">
              <a:defRPr sz="1350">
                <a:latin typeface="+mn-lt"/>
                <a:ea typeface="+mn-ea"/>
              </a:defRPr>
            </a:lvl6pPr>
            <a:lvl7pPr marL="2057400" defTabSz="685800">
              <a:defRPr sz="1350">
                <a:latin typeface="+mn-lt"/>
                <a:ea typeface="+mn-ea"/>
              </a:defRPr>
            </a:lvl7pPr>
            <a:lvl8pPr marL="2400300" defTabSz="685800">
              <a:defRPr sz="1350">
                <a:latin typeface="+mn-lt"/>
                <a:ea typeface="+mn-ea"/>
              </a:defRPr>
            </a:lvl8pPr>
            <a:lvl9pPr marL="2743200" defTabSz="685800">
              <a:defRPr sz="1350">
                <a:latin typeface="+mn-lt"/>
                <a:ea typeface="+mn-ea"/>
              </a:defRPr>
            </a:lvl9pPr>
          </a:lstStyle>
          <a:p>
            <a:r>
              <a:rPr lang="en-US" altLang="en-US" dirty="0"/>
              <a:t>Are the mean typing times for the three keyboard layouts statistically different?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5524500" y="1081016"/>
            <a:ext cx="2817743" cy="3610254"/>
            <a:chOff x="5524500" y="491298"/>
            <a:chExt cx="2864674" cy="3614663"/>
          </a:xfrm>
        </p:grpSpPr>
        <p:sp>
          <p:nvSpPr>
            <p:cNvPr id="8194" name="Rectangle 2"/>
            <p:cNvSpPr>
              <a:spLocks noChangeArrowheads="1"/>
            </p:cNvSpPr>
            <p:nvPr/>
          </p:nvSpPr>
          <p:spPr bwMode="auto">
            <a:xfrm>
              <a:off x="5524500" y="491298"/>
              <a:ext cx="2631781" cy="3614663"/>
            </a:xfrm>
            <a:prstGeom prst="rect">
              <a:avLst/>
            </a:prstGeom>
            <a:solidFill>
              <a:srgbClr val="EEB21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5542504" y="494893"/>
              <a:ext cx="2846670" cy="3600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Layout 1	Layout 2	Layout 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23.8		30.2		27.0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25.6		29.9		25.4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24.0		29.1		25.6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25.1		28.8		24.2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25.5		29.1		24.8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26.1		28.6		24.0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23.8		28.3		25.5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25.7		28.7		23.9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24.3		27.9		22.6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26.0		30.5		26.0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24.6		*   		23.4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27.0		*   		*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579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9050" y="2721175"/>
            <a:ext cx="2133600" cy="1754326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defTabSz="685800" eaLnBrk="1" latinLnBrk="0" hangingPunct="1">
              <a:defRPr sz="1800" kern="100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latin typeface="+mn-lt"/>
                <a:ea typeface="+mn-ea"/>
              </a:defRPr>
            </a:lvl5pPr>
            <a:lvl6pPr marL="1714500" defTabSz="685800">
              <a:defRPr sz="1350">
                <a:latin typeface="+mn-lt"/>
                <a:ea typeface="+mn-ea"/>
              </a:defRPr>
            </a:lvl6pPr>
            <a:lvl7pPr marL="2057400" defTabSz="685800">
              <a:defRPr sz="1350">
                <a:latin typeface="+mn-lt"/>
                <a:ea typeface="+mn-ea"/>
              </a:defRPr>
            </a:lvl7pPr>
            <a:lvl8pPr marL="2400300" defTabSz="685800">
              <a:defRPr sz="1350">
                <a:latin typeface="+mn-lt"/>
                <a:ea typeface="+mn-ea"/>
              </a:defRPr>
            </a:lvl8pPr>
            <a:lvl9pPr marL="2743200" defTabSz="685800">
              <a:defRPr sz="1350">
                <a:latin typeface="+mn-lt"/>
                <a:ea typeface="+mn-ea"/>
              </a:defRPr>
            </a:lvl9pPr>
          </a:lstStyle>
          <a:p>
            <a:r>
              <a:rPr lang="en-US" altLang="en-US" dirty="0"/>
              <a:t>SSTR</a:t>
            </a:r>
            <a:r>
              <a:rPr lang="en-US" dirty="0"/>
              <a:t> = </a:t>
            </a:r>
            <a:r>
              <a:rPr lang="de-DE" altLang="en-US" dirty="0"/>
              <a:t>121.24</a:t>
            </a:r>
          </a:p>
          <a:p>
            <a:r>
              <a:rPr lang="en-US" dirty="0"/>
              <a:t>k-1 = 2</a:t>
            </a:r>
          </a:p>
          <a:p>
            <a:r>
              <a:rPr lang="en-US" dirty="0"/>
              <a:t>SSE = </a:t>
            </a:r>
            <a:r>
              <a:rPr lang="de-DE" altLang="en-US" dirty="0"/>
              <a:t>34.42</a:t>
            </a:r>
          </a:p>
          <a:p>
            <a:r>
              <a:rPr lang="en-US" dirty="0"/>
              <a:t>N-k = 30 </a:t>
            </a:r>
          </a:p>
          <a:p>
            <a:r>
              <a:rPr lang="en-US" dirty="0"/>
              <a:t>F-value = </a:t>
            </a:r>
            <a:r>
              <a:rPr lang="de-DE" altLang="en-US" dirty="0"/>
              <a:t>52.84</a:t>
            </a:r>
            <a:endParaRPr lang="en-US" dirty="0"/>
          </a:p>
          <a:p>
            <a:r>
              <a:rPr lang="en-US" dirty="0"/>
              <a:t>P-value = 1.48e-10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4100" y="2726848"/>
            <a:ext cx="5619750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defTabSz="685800" eaLnBrk="1" latinLnBrk="0" hangingPunct="1">
              <a:defRPr sz="1800" kern="100">
                <a:latin typeface="Helvetica" charset="0"/>
                <a:ea typeface="Helvetica" charset="0"/>
                <a:cs typeface="Helvetica" charset="0"/>
              </a:defRPr>
            </a:lvl1pPr>
            <a:lvl2pPr marL="342900" defTabSz="685800" eaLnBrk="1" latinLnBrk="0" hangingPunct="1">
              <a:defRPr sz="1350">
                <a:latin typeface="+mn-lt"/>
                <a:ea typeface="+mn-ea"/>
              </a:defRPr>
            </a:lvl2pPr>
            <a:lvl3pPr marL="685800" defTabSz="685800" eaLnBrk="1" latinLnBrk="0" hangingPunct="1">
              <a:defRPr sz="1350">
                <a:latin typeface="+mn-lt"/>
                <a:ea typeface="+mn-ea"/>
              </a:defRPr>
            </a:lvl3pPr>
            <a:lvl4pPr marL="1028700" defTabSz="685800" eaLnBrk="1" latinLnBrk="0" hangingPunct="1">
              <a:defRPr sz="1350">
                <a:latin typeface="+mn-lt"/>
                <a:ea typeface="+mn-ea"/>
              </a:defRPr>
            </a:lvl4pPr>
            <a:lvl5pPr marL="1371600" defTabSz="685800" eaLnBrk="1" latinLnBrk="0" hangingPunct="1">
              <a:defRPr sz="1350">
                <a:latin typeface="+mn-lt"/>
                <a:ea typeface="+mn-ea"/>
              </a:defRPr>
            </a:lvl5pPr>
            <a:lvl6pPr marL="1714500" defTabSz="685800">
              <a:defRPr sz="1350">
                <a:latin typeface="+mn-lt"/>
                <a:ea typeface="+mn-ea"/>
              </a:defRPr>
            </a:lvl6pPr>
            <a:lvl7pPr marL="2057400" defTabSz="685800">
              <a:defRPr sz="1350">
                <a:latin typeface="+mn-lt"/>
                <a:ea typeface="+mn-ea"/>
              </a:defRPr>
            </a:lvl7pPr>
            <a:lvl8pPr marL="2400300" defTabSz="685800">
              <a:defRPr sz="1350">
                <a:latin typeface="+mn-lt"/>
                <a:ea typeface="+mn-ea"/>
              </a:defRPr>
            </a:lvl8pPr>
            <a:lvl9pPr marL="2743200" defTabSz="685800">
              <a:defRPr sz="1350">
                <a:latin typeface="+mn-lt"/>
                <a:ea typeface="+mn-ea"/>
              </a:defRPr>
            </a:lvl9pPr>
          </a:lstStyle>
          <a:p>
            <a:r>
              <a:rPr lang="en-US" b="1" dirty="0"/>
              <a:t>P-value ≈ 0:</a:t>
            </a:r>
          </a:p>
          <a:p>
            <a:r>
              <a:rPr lang="en-US" dirty="0"/>
              <a:t>Reject the null hypothesis of equal mean typing times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AC11F734-8C52-4E87-B6E6-7291DA03E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6" y="1008284"/>
            <a:ext cx="5619750" cy="147732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vert="horz" wrap="square" lIns="91440" tIns="91440" rIns="91440" bIns="9144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summary(</a:t>
            </a:r>
            <a:r>
              <a:rPr lang="en-US" altLang="en-US" sz="14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lang="en-US" altLang="en-US" sz="1400" i="1" dirty="0">
                <a:latin typeface="Helvetica" panose="020B0604020202020204" pitchFamily="34" charset="0"/>
                <a:cs typeface="Helvetica" panose="020B0604020202020204" pitchFamily="34" charset="0"/>
              </a:rPr>
              <a:t>(speed ~ layout)) </a:t>
            </a:r>
          </a:p>
          <a:p>
            <a:pPr lvl="0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           	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Df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	Sum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Sq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	Mean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Sq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	F value   	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Pr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(&gt;F) </a:t>
            </a:r>
          </a:p>
          <a:p>
            <a:pPr lvl="0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layout       	2 	121.24   	60.62   	52.84 	1.48e-10 *** </a:t>
            </a:r>
          </a:p>
          <a:p>
            <a:pPr lvl="0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Residuals  	30  	34.42    	1.15 </a:t>
            </a:r>
          </a:p>
          <a:p>
            <a:pPr lvl="0"/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--- </a:t>
            </a:r>
          </a:p>
          <a:p>
            <a:pPr lvl="0"/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Signif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. codes:  0 ‘***’ 0.001 ‘**’ 0.01 ‘*’ 0.05 ‘.’ 0.1 ‘ ’ 1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51022" y="207963"/>
            <a:ext cx="7824851" cy="673308"/>
          </a:xfrm>
        </p:spPr>
        <p:txBody>
          <a:bodyPr/>
          <a:lstStyle/>
          <a:p>
            <a:r>
              <a:rPr kumimoji="1" lang="en-US" altLang="zh-CN" sz="3600" dirty="0">
                <a:latin typeface="Vitesse"/>
              </a:rPr>
              <a:t>Testing for Equal Means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198667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2229"/>
            <a:ext cx="4727575" cy="68892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schemas.microsoft.com/office/2006/metadata/properties"/>
    <ds:schemaRef ds:uri="b057fda7-913b-4ab6-8820-932873bcd66c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370</Words>
  <Application>Microsoft Office PowerPoint</Application>
  <PresentationFormat>On-screen Show (16:9)</PresentationFormat>
  <Paragraphs>95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30" baseType="lpstr">
      <vt:lpstr>MS PGothic</vt:lpstr>
      <vt:lpstr>宋体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Mangal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Hypothesis Test for Equal Means</vt:lpstr>
      <vt:lpstr>Null Hypothesis</vt:lpstr>
      <vt:lpstr>SST Decomposition</vt:lpstr>
      <vt:lpstr>Testing Equal Variances with F-Test</vt:lpstr>
      <vt:lpstr>PowerPoint Presentation</vt:lpstr>
      <vt:lpstr>Example 1: Global Suicide by Region</vt:lpstr>
      <vt:lpstr>Testing for Equal Means</vt:lpstr>
      <vt:lpstr>PowerPoint Presentation</vt:lpstr>
      <vt:lpstr>Testing for Equal Means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Aymee Garcia</cp:lastModifiedBy>
  <cp:revision>203</cp:revision>
  <dcterms:modified xsi:type="dcterms:W3CDTF">2020-05-18T09:20:06Z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