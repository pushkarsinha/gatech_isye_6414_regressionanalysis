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6"/>
  </p:notesMasterIdLst>
  <p:handoutMasterIdLst>
    <p:handoutMasterId r:id="rId17"/>
  </p:handoutMasterIdLst>
  <p:sldIdLst>
    <p:sldId id="428" r:id="rId7"/>
    <p:sldId id="429" r:id="rId8"/>
    <p:sldId id="359" r:id="rId9"/>
    <p:sldId id="287" r:id="rId10"/>
    <p:sldId id="288" r:id="rId11"/>
    <p:sldId id="273" r:id="rId12"/>
    <p:sldId id="285" r:id="rId13"/>
    <p:sldId id="275" r:id="rId14"/>
    <p:sldId id="43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59"/>
            <p14:sldId id="287"/>
            <p14:sldId id="288"/>
            <p14:sldId id="273"/>
            <p14:sldId id="285"/>
            <p14:sldId id="275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96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EEB211"/>
    <a:srgbClr val="F8FFF1"/>
    <a:srgbClr val="993200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7" autoAdjust="0"/>
    <p:restoredTop sz="93800" autoAdjust="0"/>
  </p:normalViewPr>
  <p:slideViewPr>
    <p:cSldViewPr snapToGrid="0">
      <p:cViewPr>
        <p:scale>
          <a:sx n="80" d="100"/>
          <a:sy n="80" d="100"/>
        </p:scale>
        <p:origin x="546" y="210"/>
      </p:cViewPr>
      <p:guideLst>
        <p:guide orient="horz" pos="1596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3B747F03-8508-DF4D-9B1B-25FA7D2D0783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739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 dirty="0"/>
              <a:t>Analysis of Variance</a:t>
            </a:r>
            <a:endParaRPr kumimoji="1" lang="zh-CN" altLang="en-US" sz="2400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57333" y="4124607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 Parameter Estimation</a:t>
            </a:r>
            <a:endParaRPr kumimoji="1" lang="en-US" altLang="zh-CN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185535"/>
            <a:ext cx="4727575" cy="6913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201" name="Rectangle 9"/>
              <p:cNvSpPr>
                <a:spLocks noChangeArrowheads="1"/>
              </p:cNvSpPr>
              <p:nvPr/>
            </p:nvSpPr>
            <p:spPr bwMode="auto">
              <a:xfrm>
                <a:off x="164415" y="2074433"/>
                <a:ext cx="8205141" cy="1716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  </a:t>
                </a:r>
              </a:p>
              <a:p>
                <a:pPr marL="228600" indent="-22860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Variance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Assumption: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2</a:t>
                </a:r>
              </a:p>
              <a:p>
                <a:pPr marL="228600" indent="-22860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Assumption: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m:t>,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⋯</m:t>
                    </m:r>
                  </m:oMath>
                </a14:m>
                <a:r>
                  <a:rPr kumimoji="1" lang="en-US" altLang="zh-CN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}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228600" indent="-22860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Normality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Assumption: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~ </a:t>
                </a:r>
                <a:r>
                  <a:rPr lang="en-US" altLang="en-US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Normal (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0,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820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415" y="2074433"/>
                <a:ext cx="8205141" cy="1716239"/>
              </a:xfrm>
              <a:prstGeom prst="rect">
                <a:avLst/>
              </a:prstGeom>
              <a:blipFill>
                <a:blip r:embed="rId3"/>
                <a:stretch>
                  <a:fillRect l="-669" t="-1773" b="-31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46188" y="220890"/>
            <a:ext cx="8562392" cy="706957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ANOVA: Model &amp; Assumptions</a:t>
            </a:r>
            <a:endParaRPr kumimoji="1" lang="zh-CN" altLang="en-US" sz="3600" dirty="0">
              <a:latin typeface="Vitess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38955" y="1016374"/>
                <a:ext cx="5754646" cy="690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Data</a:t>
                </a:r>
                <a:r>
                  <a:rPr kumimoji="1" lang="en-US" altLang="zh-CN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</a:t>
                </a:r>
                <a:r>
                  <a:rPr kumimoji="1" lang="zh-CN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𝑗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=1,⋯,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;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𝑖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=1,⋯,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𝑘</m:t>
                    </m:r>
                  </m:oMath>
                </a14:m>
                <a:endParaRPr kumimoji="1" lang="en-US" altLang="zh-CN" b="1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endParaRPr>
              </a:p>
              <a:p>
                <a:r>
                  <a:rPr kumimoji="1" lang="en-US" altLang="zh-CN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Model</a:t>
                </a:r>
                <a:r>
                  <a:rPr kumimoji="1" lang="en-US" altLang="zh-CN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</a:t>
                </a:r>
                <a:r>
                  <a:rPr kumimoji="1" lang="zh-CN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𝑖𝑗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error term</a:t>
                </a:r>
                <a:endParaRPr kumimoji="1" lang="zh-CN" altLang="en-US" dirty="0">
                  <a:latin typeface="Cambria Math" panose="02040503050406030204" pitchFamily="18" charset="0"/>
                  <a:ea typeface="KishoreFont Medium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5" y="1016374"/>
                <a:ext cx="5754646" cy="690958"/>
              </a:xfrm>
              <a:prstGeom prst="rect">
                <a:avLst/>
              </a:prstGeom>
              <a:blipFill>
                <a:blip r:embed="rId4"/>
                <a:stretch>
                  <a:fillRect l="-953" t="-6195" b="-9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2"/>
              <p:cNvSpPr txBox="1"/>
              <p:nvPr/>
            </p:nvSpPr>
            <p:spPr>
              <a:xfrm>
                <a:off x="139031" y="1009931"/>
                <a:ext cx="7160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Comparing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means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from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multiple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populations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assuming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the variances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are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the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same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and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equal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to</a:t>
                </a:r>
                <a:r>
                  <a:rPr kumimoji="1" lang="zh-CN" alt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8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kumimoji="1" lang="en-US" altLang="zh-CN" sz="18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sz="18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</a:t>
                </a:r>
                <a:endParaRPr kumimoji="1" lang="zh-CN" altLang="en-US" sz="1800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31" y="1009931"/>
                <a:ext cx="7160533" cy="646331"/>
              </a:xfrm>
              <a:prstGeom prst="rect">
                <a:avLst/>
              </a:prstGeom>
              <a:blipFill>
                <a:blip r:embed="rId3"/>
                <a:stretch>
                  <a:fillRect l="-767" t="-5660" r="-256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82976" y="2139949"/>
            <a:ext cx="2966986" cy="369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 dirty="0">
                <a:latin typeface="Helvetica" charset="0"/>
                <a:ea typeface="Helvetica" charset="0"/>
                <a:cs typeface="Helvetica" charset="0"/>
              </a:rPr>
              <a:t>Pooled Variance Estimator:</a:t>
            </a:r>
          </a:p>
        </p:txBody>
      </p:sp>
      <p:sp>
        <p:nvSpPr>
          <p:cNvPr id="2" name="Rectangle 1"/>
          <p:cNvSpPr/>
          <p:nvPr/>
        </p:nvSpPr>
        <p:spPr>
          <a:xfrm>
            <a:off x="3152436" y="2600520"/>
            <a:ext cx="2077108" cy="118363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487638" y="2600520"/>
            <a:ext cx="1452252" cy="118363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89958" y="2726310"/>
                <a:ext cx="5029397" cy="8801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kumimoji="1" lang="en-US" altLang="zh-CN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pool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zh-CN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is-IS" altLang="zh-CN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7"/>
                                </m:r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𝑖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ctrlPr>
                                    <a:rPr kumimoji="1" lang="mr-IN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1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kumimoji="1" lang="en-US" altLang="zh-C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kumimoji="1" lang="en-US" altLang="zh-CN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is-I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𝑖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ctrlPr>
                                    <a:rPr kumimoji="1" lang="mr-IN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kumimoji="1"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kumimoji="1" lang="en-US" altLang="zh-CN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mr-IN" altLang="zh-CN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kumimoji="1" lang="is-I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kumimoji="1" lang="en-US" altLang="zh-CN" sz="1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1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kumimoji="1" lang="en-US" altLang="zh-CN" sz="1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kumimoji="1" lang="is-IS" altLang="zh-CN" sz="1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mr-IN" altLang="zh-CN" sz="18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zh-CN" sz="18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CN" sz="1800" b="0" i="1" dirty="0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US" altLang="zh-CN" sz="18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zh-CN" sz="18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zh-CN" sz="18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kumimoji="1" lang="en-US" altLang="zh-CN" sz="1800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US" altLang="zh-CN" sz="18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kumimoji="1" lang="en-US" altLang="zh-CN" sz="18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KishoreFont Medium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kumimoji="1" lang="en-US" altLang="zh-CN" sz="1800" b="0" i="1" dirty="0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KishoreFont Medium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kumimoji="1" lang="en-US" altLang="zh-CN" sz="18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 sz="18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1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a:rPr kumimoji="1"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</m:t>
                          </m:r>
                          <m:r>
                            <a:rPr kumimoji="1"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kumimoji="1" lang="zh-CN" altLang="en-US" sz="1800" dirty="0">
                  <a:latin typeface="Cambria Math" panose="02040503050406030204" pitchFamily="18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8" y="2726310"/>
                <a:ext cx="5029397" cy="880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5310794" y="2949336"/>
            <a:ext cx="2821105" cy="646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Where N = total number of samples = (n</a:t>
            </a:r>
            <a:r>
              <a:rPr lang="en-US" altLang="en-US" sz="1800" baseline="-25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1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+…+ </a:t>
            </a:r>
            <a:r>
              <a:rPr lang="en-US" altLang="en-US" sz="18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</a:t>
            </a:r>
            <a:r>
              <a:rPr lang="en-US" altLang="en-US" sz="1800" baseline="-250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k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606" y="236013"/>
            <a:ext cx="60921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600" dirty="0" smtClean="0">
                <a:latin typeface="Vitesse"/>
              </a:rPr>
              <a:t>ANOVA: Variance </a:t>
            </a:r>
            <a:r>
              <a:rPr kumimoji="1" lang="en-US" altLang="zh-CN" sz="3600" dirty="0">
                <a:latin typeface="Vitesse"/>
              </a:rPr>
              <a:t>Estimation</a:t>
            </a:r>
            <a:endParaRPr lang="en-US" sz="3600" dirty="0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3536674" y="1649894"/>
            <a:ext cx="0" cy="470452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800">
              <a:latin typeface="Helvetica" charset="0"/>
              <a:ea typeface="Helvetica" charset="0"/>
              <a:cs typeface="Helvetica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"/>
              <p:cNvSpPr txBox="1"/>
              <p:nvPr/>
            </p:nvSpPr>
            <p:spPr>
              <a:xfrm>
                <a:off x="239092" y="4043793"/>
                <a:ext cx="6267727" cy="67710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The</a:t>
                </a:r>
                <a:r>
                  <a:rPr lang="zh-CN" altLang="en-US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degrees</a:t>
                </a:r>
                <a:r>
                  <a:rPr lang="zh-CN" altLang="en-US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of</a:t>
                </a:r>
                <a:r>
                  <a:rPr lang="zh-CN" altLang="en-US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freedom</a:t>
                </a:r>
                <a:r>
                  <a:rPr lang="zh-CN" altLang="en-US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is</a:t>
                </a:r>
                <a:r>
                  <a:rPr lang="zh-CN" altLang="en-US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N-k</a:t>
                </a:r>
                <a:r>
                  <a:rPr lang="zh-CN" altLang="en-US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because</a:t>
                </a:r>
                <a:r>
                  <a:rPr lang="zh-CN" altLang="en-US" kern="100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we</a:t>
                </a:r>
                <a:r>
                  <a:rPr lang="zh-CN" altLang="en-US" kern="100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replace</a:t>
                </a:r>
                <a:r>
                  <a:rPr lang="zh-CN" altLang="en-US" kern="100" dirty="0" smtClean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i</m:t>
                        </m:r>
                      </m:sub>
                    </m:sSub>
                    <m:r>
                      <a:rPr lang="en-US" altLang="zh-CN" sz="18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←</m:t>
                    </m:r>
                    <m:sSub>
                      <m:sSubPr>
                        <m:ctrlPr>
                          <a:rPr lang="en-US" altLang="zh-CN" sz="18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altLang="zh-CN" sz="1800" b="0" i="0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for</a:t>
                </a:r>
                <a:r>
                  <a:rPr lang="zh-CN" altLang="en-US" b="1" dirty="0">
                    <a:solidFill>
                      <a:schemeClr val="tx1"/>
                    </a:solidFill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 err="1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</a:t>
                </a:r>
                <a:r>
                  <a:rPr lang="en-US" altLang="zh-CN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= 1,…,k</a:t>
                </a:r>
                <a:r>
                  <a:rPr lang="en-US" altLang="zh-CN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,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thus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losing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k</a:t>
                </a:r>
                <a:r>
                  <a:rPr lang="zh-CN" altLang="en-US" dirty="0">
                    <a:solidFill>
                      <a:schemeClr val="tx1"/>
                    </a:solidFill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degrees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of</a:t>
                </a:r>
                <a:r>
                  <a:rPr lang="zh-CN" alt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freedom</a:t>
                </a:r>
                <a:endParaRPr lang="en-US" kern="1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13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92" y="4043793"/>
                <a:ext cx="6267727" cy="677108"/>
              </a:xfrm>
              <a:prstGeom prst="rect">
                <a:avLst/>
              </a:prstGeom>
              <a:blipFill>
                <a:blip r:embed="rId5"/>
                <a:stretch>
                  <a:fillRect l="-679" r="-2231" b="-11404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64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85800" y="1954857"/>
            <a:ext cx="6042036" cy="854608"/>
            <a:chOff x="1182336" y="2239775"/>
            <a:chExt cx="6035826" cy="854608"/>
          </a:xfrm>
        </p:grpSpPr>
        <p:sp>
          <p:nvSpPr>
            <p:cNvPr id="13318" name="Rectangle 7"/>
            <p:cNvSpPr>
              <a:spLocks noChangeArrowheads="1"/>
            </p:cNvSpPr>
            <p:nvPr/>
          </p:nvSpPr>
          <p:spPr bwMode="auto">
            <a:xfrm>
              <a:off x="1182336" y="2239775"/>
              <a:ext cx="5476882" cy="854608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ea typeface="+mn-ea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D29B06F-6169-46D1-8A32-8F0570870A4C}"/>
                </a:ext>
              </a:extLst>
            </p:cNvPr>
            <p:cNvGrpSpPr/>
            <p:nvPr/>
          </p:nvGrpSpPr>
          <p:grpSpPr>
            <a:xfrm>
              <a:off x="1274968" y="2284418"/>
              <a:ext cx="5943194" cy="725199"/>
              <a:chOff x="1484431" y="2879405"/>
              <a:chExt cx="5943194" cy="7251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18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64491" y="3055474"/>
                    <a:ext cx="436313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14:m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</m:t>
                        </m:r>
                      </m:oMath>
                    </a14:m>
                    <a:r>
                      <a:rPr lang="en-US" altLang="en-US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  </a:t>
                    </a:r>
                    <a:r>
                      <a:rPr lang="en-US" altLang="en-US" b="1" u="sng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S</a:t>
                    </a:r>
                    <a:r>
                      <a:rPr lang="en-US" altLang="en-US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um of </a:t>
                    </a:r>
                    <a:r>
                      <a:rPr lang="en-US" altLang="en-US" b="1" u="sng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S</a:t>
                    </a:r>
                    <a:r>
                      <a:rPr lang="en-US" altLang="en-US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quares of </a:t>
                    </a:r>
                    <a:r>
                      <a:rPr lang="en-US" altLang="en-US" b="1" u="sng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E</a:t>
                    </a:r>
                    <a:r>
                      <a:rPr lang="en-US" altLang="en-US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rror </a:t>
                    </a:r>
                    <a14:m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</m:t>
                        </m:r>
                      </m:oMath>
                    </a14:m>
                    <a:r>
                      <a:rPr lang="en-US" altLang="en-US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 </a:t>
                    </a:r>
                    <a:r>
                      <a:rPr lang="en-US" altLang="en-US" b="1" u="sng" dirty="0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a:t>SSE</a:t>
                    </a:r>
                  </a:p>
                </p:txBody>
              </p:sp>
            </mc:Choice>
            <mc:Fallback xmlns="">
              <p:sp>
                <p:nvSpPr>
                  <p:cNvPr id="17418" name="Text 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64491" y="3055474"/>
                    <a:ext cx="436313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0000" b="-26667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/>
                  <p:cNvSpPr txBox="1"/>
                  <p:nvPr/>
                </p:nvSpPr>
                <p:spPr>
                  <a:xfrm>
                    <a:off x="1484431" y="2879405"/>
                    <a:ext cx="1598392" cy="7251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kumimoji="1" lang="mr-IN" altLang="zh-CN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kumimoji="1" lang="is-IS" altLang="zh-CN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kumimoji="1" lang="en-US" altLang="zh-CN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kumimoji="1" lang="en-US" altLang="zh-CN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kumimoji="1" lang="is-IS" altLang="zh-CN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mr-IN" altLang="zh-CN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zh-CN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CN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US" altLang="zh-CN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zh-CN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zh-CN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kumimoji="1" lang="en-US" altLang="zh-CN" sz="1600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US" altLang="zh-CN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kumimoji="1" lang="en-US" altLang="zh-CN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KishoreFont Medium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kumimoji="1" lang="en-US" altLang="zh-CN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KishoreFont Medium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kumimoji="1" lang="en-US" altLang="zh-CN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 sz="16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oMath>
                      </m:oMathPara>
                    </a14:m>
                    <a:endParaRPr kumimoji="1" lang="zh-CN" altLang="en-US" sz="1600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文本框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4431" y="2879405"/>
                    <a:ext cx="1598392" cy="7251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" name="Group 6"/>
          <p:cNvGrpSpPr/>
          <p:nvPr/>
        </p:nvGrpSpPr>
        <p:grpSpPr>
          <a:xfrm>
            <a:off x="178539" y="899484"/>
            <a:ext cx="5365403" cy="762709"/>
            <a:chOff x="178539" y="786842"/>
            <a:chExt cx="5365403" cy="762709"/>
          </a:xfrm>
        </p:grpSpPr>
        <p:sp>
          <p:nvSpPr>
            <p:cNvPr id="17415" name="Rectangle 3"/>
            <p:cNvSpPr>
              <a:spLocks noChangeArrowheads="1"/>
            </p:cNvSpPr>
            <p:nvPr/>
          </p:nvSpPr>
          <p:spPr bwMode="auto">
            <a:xfrm>
              <a:off x="4773136" y="1086793"/>
              <a:ext cx="7708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b="1" u="sng" dirty="0">
                  <a:solidFill>
                    <a:srgbClr val="00000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MSE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178539" y="786842"/>
                  <a:ext cx="5091545" cy="7627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zh-CN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CN" sz="16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σ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nor/>
                              </m:rPr>
                              <a:rPr kumimoji="1" lang="en-US" altLang="zh-CN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1" lang="en-US" altLang="zh-CN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mr-IN" altLang="zh-CN" sz="16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kumimoji="1" lang="en-US" altLang="zh-CN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mr-IN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kumimoji="1" lang="is-I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7"/>
                                  </m:rP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𝑖</m:t>
                                </m:r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𝑘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kumimoji="1" lang="mr-IN" altLang="zh-CN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zh-CN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kumimoji="1" lang="en-US" altLang="zh-CN" sz="16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kumimoji="1" lang="en-US" altLang="zh-CN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1" lang="en-US" altLang="zh-CN" sz="16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kumimoji="1" lang="en-US" altLang="zh-CN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zh-CN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kumimoji="1" lang="is-I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𝑖</m:t>
                                </m:r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𝑘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kumimoji="1" lang="mr-IN" altLang="zh-CN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zh-CN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kumimoji="1" lang="en-US" altLang="zh-CN" sz="16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nary>
                          </m:den>
                        </m:f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a:rPr kumimoji="1"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</m:t>
                        </m:r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mr-IN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kumimoji="1" lang="mr-IN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kumimoji="1" lang="is-IS" altLang="zh-CN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𝑗</m:t>
                                    </m:r>
                                    <m:r>
                                      <a:rPr kumimoji="1" lang="en-US" altLang="zh-CN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kumimoji="1" lang="en-US" altLang="zh-CN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kumimoji="1" lang="is-IS" altLang="zh-CN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mr-IN" altLang="zh-CN" sz="1600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KishoreFont Medium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US" altLang="zh-CN" sz="1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KishoreFont Medium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sz="1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KishoreFont Medium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kumimoji="1" lang="en-US" altLang="zh-CN" sz="1600" i="1" dirty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zh-CN" sz="1600" i="1" dirty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zh-CN" sz="1600" i="1" dirty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  <m:r>
                                              <m:rPr>
                                                <m:nor/>
                                              </m:rPr>
                                              <a:rPr kumimoji="1" lang="en-US" altLang="zh-CN" sz="1600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KishoreFont Medium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sz="1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KishoreFont Medium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kumimoji="1" lang="en-US" altLang="zh-CN" sz="1600" i="1" dirty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KishoreFont Medium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kumimoji="1" lang="en-US" altLang="zh-CN" sz="1600" i="1" dirty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KishoreFont Medium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kumimoji="1" lang="en-US" altLang="zh-CN" sz="1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KishoreFont Medium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CN" sz="1600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16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N</m:t>
                            </m:r>
                            <m:r>
                              <a:rPr kumimoji="1"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−</m:t>
                            </m:r>
                            <m:r>
                              <a:rPr kumimoji="1"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𝑘</m:t>
                            </m:r>
                          </m:den>
                        </m:f>
                        <m:r>
                          <a:rPr kumimoji="1"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a:rPr kumimoji="1" lang="en-US" altLang="zh-CN" sz="1600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</m:t>
                        </m:r>
                      </m:oMath>
                    </m:oMathPara>
                  </a14:m>
                  <a:endParaRPr kumimoji="1" lang="zh-CN" altLang="en-US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39" y="786842"/>
                  <a:ext cx="5091545" cy="7627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1FB01A5-7385-4A5C-A780-EDC945A4C423}"/>
              </a:ext>
            </a:extLst>
          </p:cNvPr>
          <p:cNvSpPr txBox="1"/>
          <p:nvPr/>
        </p:nvSpPr>
        <p:spPr>
          <a:xfrm>
            <a:off x="235229" y="3438257"/>
            <a:ext cx="6801675" cy="769308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000000"/>
                </a:solidFill>
                <a:latin typeface="Helvetica"/>
                <a:cs typeface="Helvetica"/>
              </a:rPr>
              <a:t>We will use interchangeably Sum of Squared Errors and Sum of Squared Residuals.</a:t>
            </a:r>
          </a:p>
          <a:p>
            <a:pPr algn="l">
              <a:lnSpc>
                <a:spcPts val="1200"/>
              </a:lnSpc>
            </a:pPr>
            <a:endParaRPr lang="en-US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257" y="213728"/>
            <a:ext cx="85104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dirty="0" smtClean="0">
                <a:latin typeface="Vitesse"/>
              </a:rPr>
              <a:t>ANOVA: Variance </a:t>
            </a:r>
            <a:r>
              <a:rPr kumimoji="1" lang="en-US" altLang="zh-CN" sz="3600" dirty="0">
                <a:latin typeface="Vitesse"/>
              </a:rPr>
              <a:t>Estimation (cont’d)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196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4"/>
          <p:cNvSpPr txBox="1">
            <a:spLocks noChangeArrowheads="1"/>
          </p:cNvSpPr>
          <p:nvPr/>
        </p:nvSpPr>
        <p:spPr bwMode="auto">
          <a:xfrm>
            <a:off x="238881" y="3143358"/>
            <a:ext cx="672513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1">
                    <a:lumMod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algn="l"/>
            <a:r>
              <a:rPr lang="en-US" altLang="en-US" sz="1800" b="0" kern="100" dirty="0">
                <a:solidFill>
                  <a:schemeClr val="tx1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The sampling distribution of the pooled variance is a chi-square distribution with N-k degrees of freedom.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66906" y="1015177"/>
            <a:ext cx="5923520" cy="763158"/>
            <a:chOff x="2114550" y="1505502"/>
            <a:chExt cx="5923520" cy="763158"/>
          </a:xfrm>
        </p:grpSpPr>
        <p:sp>
          <p:nvSpPr>
            <p:cNvPr id="15366" name="Rectangle 1032"/>
            <p:cNvSpPr>
              <a:spLocks noChangeArrowheads="1"/>
            </p:cNvSpPr>
            <p:nvPr/>
          </p:nvSpPr>
          <p:spPr bwMode="auto">
            <a:xfrm>
              <a:off x="2114550" y="2222941"/>
              <a:ext cx="5923520" cy="45719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ea typeface="+mn-ea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149253" y="1505502"/>
              <a:ext cx="4984640" cy="646331"/>
              <a:chOff x="1996855" y="1253714"/>
              <a:chExt cx="4984640" cy="646331"/>
            </a:xfrm>
          </p:grpSpPr>
          <p:sp>
            <p:nvSpPr>
              <p:cNvPr id="18435" name="Text Box 1028"/>
              <p:cNvSpPr txBox="1">
                <a:spLocks noChangeArrowheads="1"/>
              </p:cNvSpPr>
              <p:nvPr/>
            </p:nvSpPr>
            <p:spPr bwMode="auto">
              <a:xfrm>
                <a:off x="3190155" y="1253714"/>
                <a:ext cx="37913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sum of independent chi-square random variables is also chi-square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文本框 1"/>
                  <p:cNvSpPr txBox="1"/>
                  <p:nvPr/>
                </p:nvSpPr>
                <p:spPr>
                  <a:xfrm>
                    <a:off x="1996855" y="1345927"/>
                    <a:ext cx="1332892" cy="31995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kumimoji="1" lang="en-US" altLang="zh-CN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charset="0"/>
                      </a:rPr>
                      <a:t>,…,</a:t>
                    </a:r>
                    <a14:m>
                      <m:oMath xmlns:m="http://schemas.openxmlformats.org/officeDocument/2006/math">
                        <m:r>
                          <a:rPr kumimoji="1" lang="en-US" altLang="zh-CN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 </m:t>
                        </m:r>
                        <m:sSubSup>
                          <m:sSub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𝑘</m:t>
                            </m:r>
                          </m:sub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endParaRPr kumimoji="1" lang="zh-CN" altLang="en-US" sz="2000" dirty="0">
                      <a:latin typeface="Cambria Math" panose="02040503050406030204" pitchFamily="18" charset="0"/>
                      <a:ea typeface="KishoreFont Medium" charset="0"/>
                      <a:cs typeface="KishoreFont Medium" charset="0"/>
                    </a:endParaRPr>
                  </a:p>
                </p:txBody>
              </p:sp>
            </mc:Choice>
            <mc:Fallback xmlns="">
              <p:sp>
                <p:nvSpPr>
                  <p:cNvPr id="2" name="文本框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6855" y="1345927"/>
                    <a:ext cx="1332892" cy="31995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6393"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1" name="标题 3"/>
          <p:cNvSpPr txBox="1">
            <a:spLocks/>
          </p:cNvSpPr>
          <p:nvPr/>
        </p:nvSpPr>
        <p:spPr>
          <a:xfrm>
            <a:off x="140984" y="203502"/>
            <a:ext cx="7074368" cy="72731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smtClean="0">
                <a:latin typeface="Vitesse"/>
              </a:rPr>
              <a:t>Mean Squared Error (MSE)</a:t>
            </a:r>
            <a:endParaRPr kumimoji="1" lang="en-US" altLang="zh-CN" sz="3600">
              <a:latin typeface="Vitess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6F39B7-CF69-4C13-9507-ADB870022EFF}"/>
                  </a:ext>
                </a:extLst>
              </p:cNvPr>
              <p:cNvSpPr txBox="1"/>
              <p:nvPr/>
            </p:nvSpPr>
            <p:spPr>
              <a:xfrm>
                <a:off x="683084" y="1889660"/>
                <a:ext cx="5883278" cy="6255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SSE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/>
                            <m:t>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1)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000"/>
                                <m:t>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2000"/>
                        <m:t>–</m:t>
                      </m:r>
                      <m:r>
                        <m:rPr>
                          <m:nor/>
                        </m:rP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6F39B7-CF69-4C13-9507-ADB87002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84" y="1889660"/>
                <a:ext cx="5883278" cy="625556"/>
              </a:xfrm>
              <a:prstGeom prst="rect">
                <a:avLst/>
              </a:prstGeom>
              <a:blipFill>
                <a:blip r:embed="rId3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1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6040" y="2482779"/>
            <a:ext cx="2741223" cy="640397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srgbClr val="000000"/>
              </a:solidFill>
              <a:latin typeface="KishoreFont Medium" charset="0"/>
              <a:ea typeface="KishoreFont Medium" charset="0"/>
              <a:cs typeface="KishoreFont Medium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83430A-FA96-41AD-A4AA-91664A82881B}"/>
              </a:ext>
            </a:extLst>
          </p:cNvPr>
          <p:cNvGrpSpPr/>
          <p:nvPr/>
        </p:nvGrpSpPr>
        <p:grpSpPr>
          <a:xfrm>
            <a:off x="138214" y="2804420"/>
            <a:ext cx="6693282" cy="646331"/>
            <a:chOff x="254484" y="2725592"/>
            <a:chExt cx="6240201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1" name="TextBox 4"/>
                <p:cNvSpPr txBox="1">
                  <a:spLocks noChangeArrowheads="1"/>
                </p:cNvSpPr>
                <p:nvPr/>
              </p:nvSpPr>
              <p:spPr bwMode="auto">
                <a:xfrm>
                  <a:off x="254484" y="2725592"/>
                  <a:ext cx="5515523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9pPr>
                </a:lstStyle>
                <a:p>
                  <a:r>
                    <a:rPr lang="en-US" alt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But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KishoreFont Medium" charset="0"/>
                          <a:cs typeface="Helvetica" panose="020B0604020202020204" pitchFamily="34" charset="0"/>
                        </a:rPr>
                        <m:t>σ</m:t>
                      </m:r>
                      <m:r>
                        <m:rPr>
                          <m:nor/>
                        </m:rPr>
                        <a:rPr kumimoji="1" lang="en-US" altLang="zh-CN" baseline="30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KishoreFont Medium" charset="0"/>
                          <a:cs typeface="Helvetica" panose="020B0604020202020204" pitchFamily="34" charset="0"/>
                        </a:rPr>
                        <m:t>2</m:t>
                      </m:r>
                    </m:oMath>
                  </a14:m>
                  <a:r>
                    <a:rPr lang="en-US" alt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 is unknown. </a:t>
                  </a:r>
                </a:p>
                <a:p>
                  <a:r>
                    <a:rPr lang="en-US" alt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So replace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KishoreFont Medium" charset="0"/>
                          <a:cs typeface="Helvetica" panose="020B0604020202020204" pitchFamily="34" charset="0"/>
                        </a:rPr>
                        <m:t>σ</m:t>
                      </m:r>
                      <m:r>
                        <m:rPr>
                          <m:nor/>
                        </m:rPr>
                        <a:rPr kumimoji="1" lang="en-US" altLang="zh-CN" baseline="30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KishoreFont Medium" charset="0"/>
                          <a:cs typeface="Helvetica" panose="020B0604020202020204" pitchFamily="34" charset="0"/>
                        </a:rPr>
                        <m:t>2</m:t>
                      </m:r>
                    </m:oMath>
                  </a14:m>
                  <a:r>
                    <a:rPr lang="en-US" alt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 with the pooled variance estimation: </a:t>
                  </a:r>
                </a:p>
              </p:txBody>
            </p:sp>
          </mc:Choice>
          <mc:Fallback xmlns="">
            <p:sp>
              <p:nvSpPr>
                <p:cNvPr id="19461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4484" y="2725592"/>
                  <a:ext cx="5515523" cy="646331"/>
                </a:xfrm>
                <a:prstGeom prst="rect">
                  <a:avLst/>
                </a:prstGeom>
                <a:blipFill>
                  <a:blip r:embed="rId2"/>
                  <a:stretch>
                    <a:fillRect l="-928" t="-4717" b="-1415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093B7A4-AD57-48D7-9D25-6E2E3C4B0A1D}"/>
                </a:ext>
              </a:extLst>
            </p:cNvPr>
            <p:cNvGrpSpPr/>
            <p:nvPr/>
          </p:nvGrpSpPr>
          <p:grpSpPr>
            <a:xfrm>
              <a:off x="5285622" y="2978439"/>
              <a:ext cx="1209063" cy="369332"/>
              <a:chOff x="5180847" y="2978439"/>
              <a:chExt cx="1209063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D6A03CC-533F-49D1-B99A-33A171967CB2}"/>
                      </a:ext>
                    </a:extLst>
                  </p:cNvPr>
                  <p:cNvSpPr/>
                  <p:nvPr/>
                </p:nvSpPr>
                <p:spPr>
                  <a:xfrm>
                    <a:off x="5180847" y="2978439"/>
                    <a:ext cx="1209063" cy="369332"/>
                  </a:xfrm>
                  <a:prstGeom prst="rect">
                    <a:avLst/>
                  </a:prstGeom>
                  <a:ln w="19050">
                    <a:solidFill>
                      <a:schemeClr val="tx2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en-US" altLang="zh-CN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σ</m:t>
                        </m:r>
                        <m:r>
                          <m:rPr>
                            <m:nor/>
                          </m:rPr>
                          <a:rPr kumimoji="1" lang="en-US" altLang="zh-CN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2</m:t>
                        </m:r>
                      </m:oMath>
                    </a14:m>
                    <a:r>
                      <a:rPr lang="en-US" alt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a:t>        MSE </a:t>
                    </a:r>
                    <a:endParaRPr lang="en-US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D6A03CC-533F-49D1-B99A-33A171967C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0847" y="2978439"/>
                    <a:ext cx="120906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9524" r="-1852" b="-20635"/>
                    </a:stretch>
                  </a:blipFill>
                  <a:ln w="19050">
                    <a:solidFill>
                      <a:schemeClr val="tx2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Right Arrow 6"/>
              <p:cNvSpPr/>
              <p:nvPr/>
            </p:nvSpPr>
            <p:spPr>
              <a:xfrm flipH="1">
                <a:off x="5535696" y="3105581"/>
                <a:ext cx="243728" cy="108756"/>
              </a:xfrm>
              <a:prstGeom prst="rightArrow">
                <a:avLst/>
              </a:prstGeom>
              <a:solidFill>
                <a:schemeClr val="tx2"/>
              </a:solidFill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5442725" y="3677943"/>
            <a:ext cx="14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Why 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 </a:t>
            </a:r>
            <a:r>
              <a:rPr lang="en-US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–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 </a:t>
            </a:r>
            <a:r>
              <a:rPr lang="en-US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3"/>
              <p:cNvSpPr txBox="1"/>
              <p:nvPr/>
            </p:nvSpPr>
            <p:spPr>
              <a:xfrm>
                <a:off x="696064" y="1073833"/>
                <a:ext cx="1987497" cy="894116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accPr>
                            <m:e>
                              <m:r>
                                <a:rPr kumimoji="1"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zh-CN" alt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mr-IN" altLang="zh-CN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zh-CN" alt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f>
                        <m:fPr>
                          <m:ctrlPr>
                            <a:rPr kumimoji="1" lang="bg-BG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CN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𝑗</m:t>
                          </m:r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kumimoji="1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kumimoji="1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dirty="0">
                  <a:solidFill>
                    <a:srgbClr val="000000"/>
                  </a:solidFill>
                  <a:latin typeface="Cambria Math" panose="02040503050406030204" pitchFamily="18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1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64" y="1073833"/>
                <a:ext cx="1987497" cy="8941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3123441" y="1305925"/>
            <a:ext cx="4012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What is the sampling distribution?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2627640" y="2426042"/>
            <a:ext cx="324719" cy="151505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6D4E3-0CD8-49D6-8544-E6B31194E651}"/>
                  </a:ext>
                </a:extLst>
              </p:cNvPr>
              <p:cNvSpPr/>
              <p:nvPr/>
            </p:nvSpPr>
            <p:spPr>
              <a:xfrm>
                <a:off x="3235513" y="2219984"/>
                <a:ext cx="3907409" cy="553613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zh-CN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zh-CN" alt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kumimoji="1"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  <m:f>
                      <m:fPr>
                        <m:ctrlPr>
                          <a:rPr kumimoji="1" lang="bg-BG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bg-BG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en-US" altLang="zh-CN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+…+</m:t>
                        </m:r>
                        <m:sSub>
                          <m:sSubPr>
                            <m:ctrlP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kumimoji="1"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kumimoji="1" lang="en-US" altLang="zh-CN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~ </m:t>
                    </m:r>
                    <m:r>
                      <m:rPr>
                        <m:nor/>
                      </m:rPr>
                      <a:rPr kumimoji="1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N</m:t>
                    </m:r>
                    <m:r>
                      <m:rPr>
                        <m:nor/>
                      </m:rPr>
                      <a:rPr kumimoji="1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(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,</m:t>
                    </m:r>
                    <m:f>
                      <m:fPr>
                        <m:type m:val="lin"/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kumimoji="1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6D4E3-0CD8-49D6-8544-E6B31194E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513" y="2219984"/>
                <a:ext cx="3907409" cy="553613"/>
              </a:xfrm>
              <a:prstGeom prst="rect">
                <a:avLst/>
              </a:prstGeom>
              <a:blipFill>
                <a:blip r:embed="rId5"/>
                <a:stretch>
                  <a:fillRect t="-58511" r="-5280" b="-95745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CD4449-6A2D-40F5-8625-52DAC0A0E863}"/>
                  </a:ext>
                </a:extLst>
              </p:cNvPr>
              <p:cNvSpPr/>
              <p:nvPr/>
            </p:nvSpPr>
            <p:spPr>
              <a:xfrm>
                <a:off x="124962" y="2219108"/>
                <a:ext cx="3088375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If</a:t>
                </a:r>
                <a:r>
                  <a:rPr kumimoji="1" lang="en-US" altLang="zh-CN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~ </m:t>
                    </m:r>
                    <m:r>
                      <m:rPr>
                        <m:nor/>
                      </m:rPr>
                      <a:rPr kumimoji="1"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N</m:t>
                    </m:r>
                    <m:r>
                      <m:rPr>
                        <m:nor/>
                      </m:rPr>
                      <a:rPr kumimoji="1"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,</m:t>
                    </m:r>
                    <m:sSup>
                      <m:sSupPr>
                        <m:ctrlPr>
                          <a:rPr kumimoji="1"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kumimoji="1"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CD4449-6A2D-40F5-8625-52DAC0A0E8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2" y="2219108"/>
                <a:ext cx="3088375" cy="507831"/>
              </a:xfrm>
              <a:prstGeom prst="rect">
                <a:avLst/>
              </a:prstGeom>
              <a:blipFill>
                <a:blip r:embed="rId6"/>
                <a:stretch>
                  <a:fillRect l="-1578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BE0927-62BE-45D3-B8C4-500A09620DFB}"/>
                  </a:ext>
                </a:extLst>
              </p:cNvPr>
              <p:cNvSpPr txBox="1"/>
              <p:nvPr/>
            </p:nvSpPr>
            <p:spPr>
              <a:xfrm>
                <a:off x="702407" y="3613319"/>
                <a:ext cx="2087172" cy="82824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MSE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BE0927-62BE-45D3-B8C4-500A09620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07" y="3613319"/>
                <a:ext cx="2087172" cy="8282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ECE571A-8C8A-48CB-93DF-BED775949E4A}"/>
                  </a:ext>
                </a:extLst>
              </p:cNvPr>
              <p:cNvSpPr/>
              <p:nvPr/>
            </p:nvSpPr>
            <p:spPr>
              <a:xfrm>
                <a:off x="5521824" y="4036536"/>
                <a:ext cx="1889684" cy="380297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MSE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ECE571A-8C8A-48CB-93DF-BED775949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824" y="4036536"/>
                <a:ext cx="1889684" cy="380297"/>
              </a:xfrm>
              <a:prstGeom prst="rect">
                <a:avLst/>
              </a:prstGeom>
              <a:blipFill>
                <a:blip r:embed="rId8"/>
                <a:stretch>
                  <a:fillRect t="-1515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标题 4"/>
          <p:cNvSpPr>
            <a:spLocks noGrp="1"/>
          </p:cNvSpPr>
          <p:nvPr>
            <p:ph type="title"/>
          </p:nvPr>
        </p:nvSpPr>
        <p:spPr>
          <a:xfrm>
            <a:off x="112091" y="215072"/>
            <a:ext cx="8891651" cy="752699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Estimating Parameters in ANOVA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96264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 animBg="1"/>
      <p:bldP spid="6" grpId="0" animBg="1"/>
      <p:bldP spid="13" grpId="0"/>
      <p:bldP spid="19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D0759-5390-4872-A16F-3439D46677D7}"/>
                  </a:ext>
                </a:extLst>
              </p:cNvPr>
              <p:cNvSpPr txBox="1"/>
              <p:nvPr/>
            </p:nvSpPr>
            <p:spPr>
              <a:xfrm>
                <a:off x="150303" y="1012580"/>
                <a:ext cx="7925115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We can use the estimated sample means</a:t>
                </a: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and the estimated variance</a:t>
                </a: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to calculate (1 -</a:t>
                </a:r>
                <a:r>
                  <a:rPr lang="en-US" altLang="en-US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charset="0"/>
                        <a:ea typeface="Cambria Math" charset="0"/>
                        <a:cs typeface="Cambria Math" charset="0"/>
                      </a:rPr>
                      <m:t>α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 confidence intervals for the treatment means: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D0759-5390-4872-A16F-3439D4667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03" y="1012580"/>
                <a:ext cx="7925115" cy="2031325"/>
              </a:xfrm>
              <a:prstGeom prst="rect">
                <a:avLst/>
              </a:prstGeom>
              <a:blipFill>
                <a:blip r:embed="rId2"/>
                <a:stretch>
                  <a:fillRect l="-692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10447" y="1352823"/>
                <a:ext cx="4086225" cy="639073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  <m:r>
                      <a:rPr kumimoji="1" lang="zh-CN" alt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 </m:t>
                    </m:r>
                    <m:f>
                      <m:fPr>
                        <m:ctrlPr>
                          <a:rPr kumimoji="1" lang="bg-BG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kumimoji="1" lang="is-I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𝑗</m:t>
                        </m:r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=1</m:t>
                        </m:r>
                      </m:sub>
                      <m:sup>
                        <m:sSup>
                          <m:sSupPr>
                            <m:ctrlP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p>
                      <m:e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𝑌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KishoreFont Medium" charset="0"/>
                    <a:cs typeface="KishoreFont Medium" charset="0"/>
                  </a:rPr>
                  <a:t>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KishoreFont Medium" charset="0"/>
                    <a:cs typeface="KishoreFont Medium" charset="0"/>
                  </a:rPr>
                  <a:t>for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𝑖</m:t>
                    </m:r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=1,⋯,</m:t>
                    </m:r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𝑘</m:t>
                    </m:r>
                  </m:oMath>
                </a14:m>
                <a:endParaRPr kumimoji="1" lang="zh-CN" altLang="en-US" dirty="0">
                  <a:solidFill>
                    <a:srgbClr val="000000"/>
                  </a:solidFill>
                  <a:latin typeface="Cambria Math" panose="02040503050406030204" pitchFamily="18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47" y="1352823"/>
                <a:ext cx="4086225" cy="639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4"/>
          <p:cNvSpPr>
            <a:spLocks noGrp="1"/>
          </p:cNvSpPr>
          <p:nvPr>
            <p:ph type="title"/>
          </p:nvPr>
        </p:nvSpPr>
        <p:spPr>
          <a:xfrm>
            <a:off x="128140" y="202802"/>
            <a:ext cx="8669019" cy="71809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Confidence Intervals for the Means</a:t>
            </a:r>
            <a:endParaRPr kumimoji="1" lang="zh-CN" alt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51824" y="2296697"/>
                <a:ext cx="105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zh-CN" alt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MSE</m:t>
                      </m:r>
                    </m:oMath>
                  </m:oMathPara>
                </a14:m>
                <a:endParaRPr kumimoji="1" lang="zh-CN" altLang="en-US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24" y="2296697"/>
                <a:ext cx="1055417" cy="276999"/>
              </a:xfrm>
              <a:prstGeom prst="rect">
                <a:avLst/>
              </a:prstGeom>
              <a:blipFill>
                <a:blip r:embed="rId4"/>
                <a:stretch>
                  <a:fillRect l="-2312" t="-24444" r="-462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697644" y="3288836"/>
            <a:ext cx="5186326" cy="633807"/>
            <a:chOff x="1095205" y="2805132"/>
            <a:chExt cx="5186326" cy="633807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095205" y="2805132"/>
              <a:ext cx="5186326" cy="633807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80C16AA-2315-4FBB-9B9E-E2640DC07B70}"/>
                    </a:ext>
                  </a:extLst>
                </p:cNvPr>
                <p:cNvSpPr txBox="1"/>
                <p:nvPr/>
              </p:nvSpPr>
              <p:spPr>
                <a:xfrm>
                  <a:off x="1243043" y="2936030"/>
                  <a:ext cx="4908203" cy="4145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KishoreFont Medium" charset="0"/>
                                        <a:cs typeface="KishoreFont Medium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f>
                                  <m:fPr>
                                    <m:type m:val="lin"/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lin"/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MSE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KishoreFont Medium" charset="0"/>
                                        <a:cs typeface="KishoreFont Medium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f>
                                  <m:fPr>
                                    <m:type m:val="lin"/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lin"/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MSE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80C16AA-2315-4FBB-9B9E-E2640DC07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043" y="2936030"/>
                  <a:ext cx="4908203" cy="414537"/>
                </a:xfrm>
                <a:prstGeom prst="rect">
                  <a:avLst/>
                </a:prstGeom>
                <a:blipFill>
                  <a:blip r:embed="rId5"/>
                  <a:stretch>
                    <a:fillRect t="-98529" r="-7453" b="-15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5721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2229"/>
            <a:ext cx="4727575" cy="822488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purl.org/dc/dcmitype/"/>
    <ds:schemaRef ds:uri="http://purl.org/dc/elements/1.1/"/>
    <ds:schemaRef ds:uri="http://purl.org/dc/terms/"/>
    <ds:schemaRef ds:uri="http://www.w3.org/XML/1998/namespace"/>
    <ds:schemaRef ds:uri="b057fda7-913b-4ab6-8820-932873bcd66c"/>
    <ds:schemaRef ds:uri="http://schemas.microsoft.com/office/infopath/2007/PartnerControl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213</Words>
  <Application>Microsoft Office PowerPoint</Application>
  <PresentationFormat>On-screen Show (16:9)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6" baseType="lpstr">
      <vt:lpstr>MS PGothic</vt:lpstr>
      <vt:lpstr>宋体</vt:lpstr>
      <vt:lpstr>Arial</vt:lpstr>
      <vt:lpstr>Calibri</vt:lpstr>
      <vt:lpstr>Cambria Math</vt:lpstr>
      <vt:lpstr>Helvetica</vt:lpstr>
      <vt:lpstr>Helvetica Neue</vt:lpstr>
      <vt:lpstr>KishoreFont Medium</vt:lpstr>
      <vt:lpstr>Mangal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ANOVA: Model &amp; Assumptions</vt:lpstr>
      <vt:lpstr>PowerPoint Presentation</vt:lpstr>
      <vt:lpstr>PowerPoint Presentation</vt:lpstr>
      <vt:lpstr>PowerPoint Presentation</vt:lpstr>
      <vt:lpstr>Estimating Parameters in ANOVA</vt:lpstr>
      <vt:lpstr>Confidence Intervals for the Means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196</cp:revision>
  <dcterms:modified xsi:type="dcterms:W3CDTF">2020-02-10T20:32:25Z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