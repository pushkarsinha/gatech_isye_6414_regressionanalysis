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7" r:id="rId4"/>
    <p:sldMasterId id="2147483705" r:id="rId5"/>
    <p:sldMasterId id="2147483699" r:id="rId6"/>
  </p:sldMasterIdLst>
  <p:notesMasterIdLst>
    <p:notesMasterId r:id="rId18"/>
  </p:notesMasterIdLst>
  <p:handoutMasterIdLst>
    <p:handoutMasterId r:id="rId19"/>
  </p:handoutMasterIdLst>
  <p:sldIdLst>
    <p:sldId id="428" r:id="rId7"/>
    <p:sldId id="429" r:id="rId8"/>
    <p:sldId id="359" r:id="rId9"/>
    <p:sldId id="315" r:id="rId10"/>
    <p:sldId id="316" r:id="rId11"/>
    <p:sldId id="318" r:id="rId12"/>
    <p:sldId id="320" r:id="rId13"/>
    <p:sldId id="440" r:id="rId14"/>
    <p:sldId id="441" r:id="rId15"/>
    <p:sldId id="360" r:id="rId16"/>
    <p:sldId id="439" r:id="rId17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3C567BE6-4E2E-2A45-BD72-59F9659A3211}">
          <p14:sldIdLst>
            <p14:sldId id="428"/>
            <p14:sldId id="429"/>
            <p14:sldId id="359"/>
            <p14:sldId id="315"/>
            <p14:sldId id="316"/>
            <p14:sldId id="318"/>
            <p14:sldId id="320"/>
            <p14:sldId id="440"/>
            <p14:sldId id="441"/>
            <p14:sldId id="360"/>
            <p14:sldId id="43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  <p15:guide id="3" pos="144" userDrawn="1">
          <p15:clr>
            <a:srgbClr val="A4A3A4"/>
          </p15:clr>
        </p15:guide>
        <p15:guide id="4" orient="horz" pos="444" userDrawn="1">
          <p15:clr>
            <a:srgbClr val="A4A3A4"/>
          </p15:clr>
        </p15:guide>
        <p15:guide id="5" orient="horz" pos="804" userDrawn="1">
          <p15:clr>
            <a:srgbClr val="A4A3A4"/>
          </p15:clr>
        </p15:guide>
        <p15:guide id="6" pos="3480" userDrawn="1">
          <p15:clr>
            <a:srgbClr val="A4A3A4"/>
          </p15:clr>
        </p15:guide>
        <p15:guide id="7" pos="432" userDrawn="1">
          <p15:clr>
            <a:srgbClr val="A4A3A4"/>
          </p15:clr>
        </p15:guide>
        <p15:guide id="8" pos="256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7" name="Rodriguez, Ramon S" initials="RRS" lastIdx="1" clrIdx="6">
    <p:extLst>
      <p:ext uri="{19B8F6BF-5375-455C-9EA6-DF929625EA0E}">
        <p15:presenceInfo xmlns:p15="http://schemas.microsoft.com/office/powerpoint/2012/main" userId="S-1-5-21-1177238915-2111687655-1060284298-1451345" providerId="AD"/>
      </p:ext>
    </p:extLst>
  </p:cmAuthor>
  <p:cmAuthor id="1" name="Figueroa, Shabana" initials="FS" lastIdx="16" clrIdx="0"/>
  <p:cmAuthor id="2" name="Figueroa, Shabana" initials="FS [2]" lastIdx="1" clrIdx="1"/>
  <p:cmAuthor id="3" name="Serban, Nicoleta" initials="SN" lastIdx="11" clrIdx="2"/>
  <p:cmAuthor id="4" name="Hu, Rui" initials="HR" lastIdx="1" clrIdx="3"/>
  <p:cmAuthor id="5" name="Hu, Rui" initials="HR [2]" lastIdx="1" clrIdx="4"/>
  <p:cmAuthor id="6" name="Richard Levine" initials="RL" lastIdx="2" clrIdx="5">
    <p:extLst>
      <p:ext uri="{19B8F6BF-5375-455C-9EA6-DF929625EA0E}">
        <p15:presenceInfo xmlns:p15="http://schemas.microsoft.com/office/powerpoint/2012/main" userId="Richard Levine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FA70B"/>
    <a:srgbClr val="EEB211"/>
    <a:srgbClr val="F8FFF1"/>
    <a:srgbClr val="993200"/>
    <a:srgbClr val="000000"/>
    <a:srgbClr val="F7FFEE"/>
    <a:srgbClr val="F5FCEA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849" autoAdjust="0"/>
    <p:restoredTop sz="86040"/>
  </p:normalViewPr>
  <p:slideViewPr>
    <p:cSldViewPr snapToGrid="0">
      <p:cViewPr varScale="1">
        <p:scale>
          <a:sx n="144" d="100"/>
          <a:sy n="144" d="100"/>
        </p:scale>
        <p:origin x="966" y="132"/>
      </p:cViewPr>
      <p:guideLst>
        <p:guide orient="horz" pos="1620"/>
        <p:guide pos="2880"/>
        <p:guide pos="144"/>
        <p:guide orient="horz" pos="444"/>
        <p:guide orient="horz" pos="804"/>
        <p:guide pos="3480"/>
        <p:guide pos="432"/>
        <p:guide pos="2568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commentAuthors" Target="commentAuthor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24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23" Type="http://schemas.openxmlformats.org/officeDocument/2006/relationships/theme" Target="theme/theme1.xml"/><Relationship Id="rId10" Type="http://schemas.openxmlformats.org/officeDocument/2006/relationships/slide" Target="slides/slide4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DFD447-ACB1-BC49-B8EF-23729E0A333F}" type="datetimeFigureOut">
              <a:rPr lang="en-US" smtClean="0"/>
              <a:t>2/11/2020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EF598F-7A46-204A-ADDD-A1229C86B2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1738FA-185A-CF4F-BD02-7990310E47F3}" type="datetimeFigureOut">
              <a:rPr lang="en-US" smtClean="0"/>
              <a:t>2/11/2020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3F7A93-C87A-E149-BF89-5D793380F1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777875" y="1200150"/>
            <a:ext cx="5759450" cy="3240088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5325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>
              <a:ea typeface="MS PGothic" charset="-128"/>
            </a:endParaRPr>
          </a:p>
        </p:txBody>
      </p:sp>
      <p:sp>
        <p:nvSpPr>
          <p:cNvPr id="5325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9pPr>
          </a:lstStyle>
          <a:p>
            <a:fld id="{3B747F03-8508-DF4D-9B1B-25FA7D2D0783}" type="slidenum">
              <a:rPr lang="en-US" altLang="en-US"/>
              <a:pPr/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936200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071F2C-8725-6B4B-8917-88567F47CBB5}" type="slidenum">
              <a:rPr kumimoji="1" lang="zh-CN" altLang="en-US" smtClean="0"/>
              <a:t>8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222068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777875" y="1200150"/>
            <a:ext cx="5759450" cy="3240088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6144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>
              <a:ea typeface="MS PGothic" charset="-128"/>
            </a:endParaRPr>
          </a:p>
        </p:txBody>
      </p:sp>
      <p:sp>
        <p:nvSpPr>
          <p:cNvPr id="6144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9pPr>
          </a:lstStyle>
          <a:p>
            <a:fld id="{63E4DB04-6EA2-3D4A-B5B6-B9D31CE1040C}" type="slidenum">
              <a:rPr lang="en-US" altLang="en-US"/>
              <a:pPr/>
              <a:t>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788870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777875" y="1200150"/>
            <a:ext cx="5759450" cy="3240088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6144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>
              <a:ea typeface="MS PGothic" charset="-128"/>
            </a:endParaRPr>
          </a:p>
        </p:txBody>
      </p:sp>
      <p:sp>
        <p:nvSpPr>
          <p:cNvPr id="6144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9pPr>
          </a:lstStyle>
          <a:p>
            <a:fld id="{63E4DB04-6EA2-3D4A-B5B6-B9D31CE1040C}" type="slidenum">
              <a:rPr lang="en-US" altLang="en-US"/>
              <a:pPr/>
              <a:t>10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12337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481920" y="1421266"/>
            <a:ext cx="4727575" cy="133032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630256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4638"/>
            <a:ext cx="5520941" cy="993775"/>
          </a:xfrm>
          <a:prstGeom prst="rect">
            <a:avLst/>
          </a:prstGeom>
        </p:spPr>
        <p:txBody>
          <a:bodyPr/>
          <a:lstStyle>
            <a:lvl1pPr algn="l">
              <a:defRPr lang="en-US" sz="44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0"/>
          </p:nvPr>
        </p:nvSpPr>
        <p:spPr>
          <a:xfrm>
            <a:off x="628649" y="1436688"/>
            <a:ext cx="4375430" cy="2994025"/>
          </a:xfrm>
          <a:prstGeom prst="rect">
            <a:avLst/>
          </a:prstGeom>
        </p:spPr>
        <p:txBody>
          <a:bodyPr/>
          <a:lstStyle>
            <a:lvl1pPr>
              <a:defRPr>
                <a:latin typeface="Vitesse Book" charset="0"/>
                <a:ea typeface="Vitesse Book" charset="0"/>
                <a:cs typeface="Vitesse Book" charset="0"/>
              </a:defRPr>
            </a:lvl1pPr>
            <a:lvl2pPr>
              <a:defRPr>
                <a:latin typeface="Vitesse Book" charset="0"/>
                <a:ea typeface="Vitesse Book" charset="0"/>
                <a:cs typeface="Vitesse Book" charset="0"/>
              </a:defRPr>
            </a:lvl2pPr>
            <a:lvl3pPr>
              <a:defRPr>
                <a:latin typeface="Vitesse Book" charset="0"/>
                <a:ea typeface="Vitesse Book" charset="0"/>
                <a:cs typeface="Vitesse Book" charset="0"/>
              </a:defRPr>
            </a:lvl3pPr>
            <a:lvl4pPr>
              <a:defRPr>
                <a:latin typeface="Vitesse Book" charset="0"/>
                <a:ea typeface="Vitesse Book" charset="0"/>
                <a:cs typeface="Vitesse Book" charset="0"/>
              </a:defRPr>
            </a:lvl4pPr>
            <a:lvl5pPr>
              <a:defRPr>
                <a:latin typeface="Vitesse Book" charset="0"/>
                <a:ea typeface="Vitesse Book" charset="0"/>
                <a:cs typeface="Vitesse Book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944312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2002E78-3C88-9A40-B579-FA4DB2691E4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607370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918051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4F0668-60AC-E24C-8E50-B74DE0FA4F0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510021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252349" y="274678"/>
            <a:ext cx="8562392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23062657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w/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5"/>
          <p:cNvSpPr>
            <a:spLocks noGrp="1"/>
          </p:cNvSpPr>
          <p:nvPr>
            <p:ph sz="quarter" idx="10"/>
          </p:nvPr>
        </p:nvSpPr>
        <p:spPr>
          <a:xfrm>
            <a:off x="252349" y="1268453"/>
            <a:ext cx="8280166" cy="3519917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Helvetica" charset="0"/>
                <a:ea typeface="Helvetica" charset="0"/>
                <a:cs typeface="Helvetica" charset="0"/>
              </a:defRPr>
            </a:lvl1pPr>
            <a:lvl2pPr>
              <a:defRPr sz="1800">
                <a:latin typeface="Helvetica" charset="0"/>
                <a:ea typeface="Helvetica" charset="0"/>
                <a:cs typeface="Helvetica" charset="0"/>
              </a:defRPr>
            </a:lvl2pPr>
            <a:lvl3pPr>
              <a:defRPr sz="1800">
                <a:latin typeface="Helvetica" charset="0"/>
                <a:ea typeface="Helvetica" charset="0"/>
                <a:cs typeface="Helvetica" charset="0"/>
              </a:defRPr>
            </a:lvl3pPr>
            <a:lvl4pPr>
              <a:defRPr sz="1800">
                <a:latin typeface="Helvetica" charset="0"/>
                <a:ea typeface="Helvetica" charset="0"/>
                <a:cs typeface="Helvetica" charset="0"/>
              </a:defRPr>
            </a:lvl4pPr>
            <a:lvl5pPr>
              <a:defRPr sz="1800">
                <a:latin typeface="Helvetica" charset="0"/>
                <a:ea typeface="Helvetica" charset="0"/>
                <a:cs typeface="Helvetica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252349" y="274678"/>
            <a:ext cx="8280166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41825185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w/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4"/>
          <p:cNvSpPr>
            <a:spLocks noGrp="1"/>
          </p:cNvSpPr>
          <p:nvPr>
            <p:ph sz="quarter" idx="10" hasCustomPrompt="1"/>
          </p:nvPr>
        </p:nvSpPr>
        <p:spPr>
          <a:xfrm>
            <a:off x="252347" y="1268453"/>
            <a:ext cx="8449503" cy="3286125"/>
          </a:xfrm>
          <a:prstGeom prst="rect">
            <a:avLst/>
          </a:prstGeom>
        </p:spPr>
        <p:txBody>
          <a:bodyPr/>
          <a:lstStyle>
            <a:lvl1pPr marL="0" indent="0">
              <a:buFont typeface="Arial"/>
              <a:buNone/>
              <a:defRPr sz="2000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r>
              <a:rPr lang="en-US" b="1" dirty="0" err="1">
                <a:latin typeface="Helvetica"/>
                <a:cs typeface="Helvetica"/>
              </a:rPr>
              <a:t>Lorem</a:t>
            </a:r>
            <a:r>
              <a:rPr lang="en-US" b="1" dirty="0">
                <a:latin typeface="Helvetica"/>
                <a:cs typeface="Helvetica"/>
              </a:rPr>
              <a:t> </a:t>
            </a:r>
            <a:r>
              <a:rPr lang="en-US" b="1" dirty="0" err="1">
                <a:latin typeface="Helvetica"/>
                <a:cs typeface="Helvetica"/>
              </a:rPr>
              <a:t>Ipsum</a:t>
            </a:r>
            <a:r>
              <a:rPr lang="en-US" b="1" dirty="0">
                <a:latin typeface="Helvetica"/>
                <a:cs typeface="Helvetica"/>
              </a:rPr>
              <a:t> is simply dummy text </a:t>
            </a:r>
          </a:p>
          <a:p>
            <a:r>
              <a:rPr lang="en-US" sz="1800" dirty="0"/>
              <a:t>of the printing and typesetting industry. </a:t>
            </a:r>
            <a:r>
              <a:rPr lang="en-US" sz="1800" dirty="0" err="1"/>
              <a:t>Lorem</a:t>
            </a:r>
            <a:r>
              <a:rPr lang="en-US" sz="1800" dirty="0"/>
              <a:t> </a:t>
            </a:r>
            <a:r>
              <a:rPr lang="en-US" sz="1800" dirty="0" err="1"/>
              <a:t>Ipsum</a:t>
            </a:r>
            <a:r>
              <a:rPr lang="en-US" sz="1800" dirty="0"/>
              <a:t> has been the industry's standard dummy text ever since the 1500s, when an unknown printer took a galley of type and scrambled it to make a type specimen book. </a:t>
            </a:r>
          </a:p>
          <a:p>
            <a:endParaRPr lang="en-US" sz="1800" dirty="0"/>
          </a:p>
          <a:p>
            <a:r>
              <a:rPr lang="en-US" b="1" dirty="0"/>
              <a:t>It has survived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not only five centuries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but also the leap into electronic typesetting, 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remaining essentially unchanged. 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52348" y="274678"/>
            <a:ext cx="8449503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30929079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w/ Text +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0" hasCustomPrompt="1"/>
          </p:nvPr>
        </p:nvSpPr>
        <p:spPr>
          <a:xfrm>
            <a:off x="233538" y="1110075"/>
            <a:ext cx="3595277" cy="3612444"/>
          </a:xfrm>
          <a:prstGeom prst="rect">
            <a:avLst/>
          </a:prstGeom>
        </p:spPr>
        <p:txBody>
          <a:bodyPr/>
          <a:lstStyle>
            <a:lvl1pPr marL="0" indent="0">
              <a:buFont typeface="Arial"/>
              <a:buNone/>
              <a:defRPr sz="2000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r>
              <a:rPr lang="en-US" b="1" dirty="0" err="1">
                <a:latin typeface="Helvetica"/>
                <a:cs typeface="Helvetica"/>
              </a:rPr>
              <a:t>Lorem</a:t>
            </a:r>
            <a:r>
              <a:rPr lang="en-US" b="1" dirty="0">
                <a:latin typeface="Helvetica"/>
                <a:cs typeface="Helvetica"/>
              </a:rPr>
              <a:t> </a:t>
            </a:r>
            <a:r>
              <a:rPr lang="en-US" b="1" dirty="0" err="1">
                <a:latin typeface="Helvetica"/>
                <a:cs typeface="Helvetica"/>
              </a:rPr>
              <a:t>Ipsum</a:t>
            </a:r>
            <a:r>
              <a:rPr lang="en-US" b="1" dirty="0">
                <a:latin typeface="Helvetica"/>
                <a:cs typeface="Helvetica"/>
              </a:rPr>
              <a:t> is simply dummy text.</a:t>
            </a:r>
          </a:p>
          <a:p>
            <a:endParaRPr lang="en-US" sz="1800" dirty="0"/>
          </a:p>
          <a:p>
            <a:r>
              <a:rPr lang="en-US" b="1" dirty="0"/>
              <a:t>It has survived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not only five centuries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but also the leap into electronic typesetting, 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remaining essentially unchanged. </a:t>
            </a:r>
          </a:p>
        </p:txBody>
      </p:sp>
      <p:sp>
        <p:nvSpPr>
          <p:cNvPr id="6" name="Chart Placeholder 3"/>
          <p:cNvSpPr>
            <a:spLocks noGrp="1"/>
          </p:cNvSpPr>
          <p:nvPr>
            <p:ph type="chart" sz="quarter" idx="11"/>
          </p:nvPr>
        </p:nvSpPr>
        <p:spPr>
          <a:xfrm>
            <a:off x="3828815" y="1110075"/>
            <a:ext cx="4948296" cy="361244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252348" y="274678"/>
            <a:ext cx="8186095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16719838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w/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art Placeholder 3"/>
          <p:cNvSpPr>
            <a:spLocks noGrp="1"/>
          </p:cNvSpPr>
          <p:nvPr>
            <p:ph type="chart" sz="quarter" idx="10"/>
          </p:nvPr>
        </p:nvSpPr>
        <p:spPr>
          <a:xfrm>
            <a:off x="252349" y="1268453"/>
            <a:ext cx="8110832" cy="356431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endParaRPr lang="en-US"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52348" y="274678"/>
            <a:ext cx="8186095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29975240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Half Pag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2349" y="274678"/>
            <a:ext cx="6182318" cy="993775"/>
          </a:xfrm>
          <a:prstGeom prst="rect">
            <a:avLst/>
          </a:prstGeom>
        </p:spPr>
        <p:txBody>
          <a:bodyPr/>
          <a:lstStyle>
            <a:lvl1pPr algn="l">
              <a:defRPr lang="en-US" sz="40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1161900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theme" Target="../theme/theme2.xml"/><Relationship Id="rId5" Type="http://schemas.openxmlformats.org/officeDocument/2006/relationships/image" Target="../media/image1.jpg"/><Relationship Id="rId4" Type="http://schemas.openxmlformats.org/officeDocument/2006/relationships/image" Target="../media/image4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8.xml"/><Relationship Id="rId7" Type="http://schemas.openxmlformats.org/officeDocument/2006/relationships/theme" Target="../theme/theme3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5" Type="http://schemas.openxmlformats.org/officeDocument/2006/relationships/slideLayout" Target="../slideLayouts/slideLayout10.xml"/><Relationship Id="rId10" Type="http://schemas.openxmlformats.org/officeDocument/2006/relationships/image" Target="../media/image4.png"/><Relationship Id="rId4" Type="http://schemas.openxmlformats.org/officeDocument/2006/relationships/slideLayout" Target="../slideLayouts/slideLayout9.xml"/><Relationship Id="rId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13BCFA4D-1CC5-4243-98FC-591DF878C6E5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12462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 userDrawn="1"/>
        </p:nvGrpSpPr>
        <p:grpSpPr>
          <a:xfrm>
            <a:off x="0" y="0"/>
            <a:ext cx="9142647" cy="5144187"/>
            <a:chOff x="0" y="0"/>
            <a:chExt cx="9142647" cy="5144187"/>
          </a:xfrm>
        </p:grpSpPr>
        <p:pic>
          <p:nvPicPr>
            <p:cNvPr id="5" name="Picture 4"/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 flipH="1" flipV="1">
              <a:off x="5423765" y="2211757"/>
              <a:ext cx="3718882" cy="2932430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5BC3A035-B0EE-3A43-AADA-02BA46FB093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8111132" y="4644572"/>
              <a:ext cx="945783" cy="401634"/>
            </a:xfrm>
            <a:prstGeom prst="rect">
              <a:avLst/>
            </a:prstGeom>
          </p:spPr>
        </p:pic>
        <p:pic>
          <p:nvPicPr>
            <p:cNvPr id="7" name="Picture 6"/>
            <p:cNvPicPr>
              <a:picLocks noChangeAspect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0" y="0"/>
              <a:ext cx="3719590" cy="2933934"/>
            </a:xfrm>
            <a:prstGeom prst="rect">
              <a:avLst/>
            </a:prstGeom>
          </p:spPr>
        </p:pic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13BCFA4D-1CC5-4243-98FC-591DF878C6E5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7365758"/>
      </p:ext>
    </p:extLst>
  </p:cSld>
  <p:clrMap bg1="lt1" tx1="dk1" bg2="lt2" tx2="dk2" accent1="accent1" accent2="accent2" accent3="accent3" accent4="accent4" accent5="accent5" accent6="accent6" hlink="hlink" folHlink="folHlink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 userDrawn="1"/>
        </p:nvGrpSpPr>
        <p:grpSpPr>
          <a:xfrm>
            <a:off x="0" y="0"/>
            <a:ext cx="9142647" cy="5144187"/>
            <a:chOff x="0" y="0"/>
            <a:chExt cx="9142647" cy="5144187"/>
          </a:xfrm>
        </p:grpSpPr>
        <p:pic>
          <p:nvPicPr>
            <p:cNvPr id="4" name="Picture 3"/>
            <p:cNvPicPr>
              <a:picLocks noChangeAspect="1"/>
            </p:cNvPicPr>
            <p:nvPr userDrawn="1"/>
          </p:nvPicPr>
          <p:blipFill>
            <a:blip r:embed="rId8"/>
            <a:stretch>
              <a:fillRect/>
            </a:stretch>
          </p:blipFill>
          <p:spPr>
            <a:xfrm flipH="1" flipV="1">
              <a:off x="5423765" y="2211757"/>
              <a:ext cx="3718882" cy="2932430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5BC3A035-B0EE-3A43-AADA-02BA46FB093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9"/>
            <a:stretch>
              <a:fillRect/>
            </a:stretch>
          </p:blipFill>
          <p:spPr>
            <a:xfrm>
              <a:off x="8111132" y="4644572"/>
              <a:ext cx="945783" cy="401634"/>
            </a:xfrm>
            <a:prstGeom prst="rect">
              <a:avLst/>
            </a:prstGeom>
          </p:spPr>
        </p:pic>
        <p:pic>
          <p:nvPicPr>
            <p:cNvPr id="7" name="Picture 6"/>
            <p:cNvPicPr>
              <a:picLocks noChangeAspect="1"/>
            </p:cNvPicPr>
            <p:nvPr userDrawn="1"/>
          </p:nvPicPr>
          <p:blipFill>
            <a:blip r:embed="rId10"/>
            <a:stretch>
              <a:fillRect/>
            </a:stretch>
          </p:blipFill>
          <p:spPr>
            <a:xfrm>
              <a:off x="0" y="0"/>
              <a:ext cx="3719590" cy="293393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043656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701" r:id="rId2"/>
    <p:sldLayoutId id="2147483702" r:id="rId3"/>
    <p:sldLayoutId id="2147483703" r:id="rId4"/>
    <p:sldLayoutId id="2147483704" r:id="rId5"/>
    <p:sldLayoutId id="2147483706" r:id="rId6"/>
  </p:sldLayoutIdLst>
  <p:txStyles>
    <p:titleStyle>
      <a:lvl1pPr algn="l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457200" rtl="0" eaLnBrk="1" latinLnBrk="0" hangingPunct="1">
        <a:spcBef>
          <a:spcPct val="20000"/>
        </a:spcBef>
        <a:buFont typeface="Arial"/>
        <a:buNone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2.wmf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/>
        </p:nvSpPr>
        <p:spPr>
          <a:xfrm>
            <a:off x="117956" y="228858"/>
            <a:ext cx="5691763" cy="712848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lang="en-US" sz="4000" b="0" i="0" kern="1200" dirty="0">
                <a:solidFill>
                  <a:schemeClr val="tx1"/>
                </a:solidFill>
                <a:latin typeface="Vitesse Bold"/>
                <a:ea typeface="Vitesse" charset="0"/>
                <a:cs typeface="Vitesse Bold"/>
              </a:defRPr>
            </a:lvl1pPr>
          </a:lstStyle>
          <a:p>
            <a:r>
              <a:rPr lang="en-US" sz="3600" dirty="0">
                <a:latin typeface="Vitesse" charset="0"/>
                <a:cs typeface="Vitesse" charset="0"/>
              </a:rPr>
              <a:t>Regression Analysis</a:t>
            </a:r>
          </a:p>
        </p:txBody>
      </p:sp>
      <p:sp>
        <p:nvSpPr>
          <p:cNvPr id="6" name="Text Placeholder 2"/>
          <p:cNvSpPr>
            <a:spLocks noGrp="1"/>
          </p:cNvSpPr>
          <p:nvPr/>
        </p:nvSpPr>
        <p:spPr>
          <a:xfrm>
            <a:off x="117956" y="740369"/>
            <a:ext cx="5511340" cy="542236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lang="en-US" sz="3000" b="0" i="0" kern="1200" dirty="0">
                <a:solidFill>
                  <a:schemeClr val="tx2"/>
                </a:solidFill>
                <a:latin typeface="Vitesse Medium" charset="0"/>
                <a:ea typeface="Vitesse Medium" charset="0"/>
                <a:cs typeface="Vitesse Medium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sz="2400" dirty="0"/>
              <a:t>Analysis of Variance</a:t>
            </a:r>
            <a:endParaRPr kumimoji="1" lang="zh-CN" altLang="en-US" sz="2400" dirty="0"/>
          </a:p>
        </p:txBody>
      </p:sp>
      <p:sp>
        <p:nvSpPr>
          <p:cNvPr id="7" name="Text Placeholder 3"/>
          <p:cNvSpPr>
            <a:spLocks noGrp="1"/>
          </p:cNvSpPr>
          <p:nvPr/>
        </p:nvSpPr>
        <p:spPr>
          <a:xfrm>
            <a:off x="117957" y="2018346"/>
            <a:ext cx="4305091" cy="432669"/>
          </a:xfrm>
          <a:prstGeom prst="rect">
            <a:avLst/>
          </a:prstGeom>
        </p:spPr>
        <p:txBody>
          <a:bodyPr anchor="ctr"/>
          <a:lstStyle>
            <a:lvl1pPr marL="0" indent="0" algn="l" defTabSz="457200" rtl="0" eaLnBrk="1" latinLnBrk="0" hangingPunct="1">
              <a:lnSpc>
                <a:spcPts val="1400"/>
              </a:lnSpc>
              <a:spcBef>
                <a:spcPct val="20000"/>
              </a:spcBef>
              <a:buFont typeface="Arial"/>
              <a:buNone/>
              <a:defRPr lang="en-US" sz="2400" b="1" kern="1200" baseline="0" dirty="0">
                <a:solidFill>
                  <a:srgbClr val="EEB211"/>
                </a:solidFill>
                <a:latin typeface="Helvetica" charset="0"/>
                <a:ea typeface="Helvetica" charset="0"/>
                <a:cs typeface="Helvetica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  <a:p>
            <a:r>
              <a:rPr lang="en-US" dirty="0" err="1"/>
              <a:t>Nicoleta</a:t>
            </a:r>
            <a:r>
              <a:rPr lang="en-US" dirty="0"/>
              <a:t> </a:t>
            </a:r>
            <a:r>
              <a:rPr lang="en-US" dirty="0" err="1"/>
              <a:t>Serban</a:t>
            </a:r>
            <a:r>
              <a:rPr lang="en-US" dirty="0"/>
              <a:t>, Ph.D. </a:t>
            </a:r>
          </a:p>
        </p:txBody>
      </p:sp>
      <p:sp>
        <p:nvSpPr>
          <p:cNvPr id="8" name="Text Placeholder 4"/>
          <p:cNvSpPr>
            <a:spLocks noGrp="1"/>
          </p:cNvSpPr>
          <p:nvPr/>
        </p:nvSpPr>
        <p:spPr>
          <a:xfrm>
            <a:off x="108550" y="2376336"/>
            <a:ext cx="4305091" cy="254281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600" b="0" i="1" kern="1200" baseline="0">
                <a:solidFill>
                  <a:schemeClr val="tx1"/>
                </a:solidFill>
                <a:latin typeface="Helvetica" charset="0"/>
                <a:ea typeface="Helvetica" charset="0"/>
                <a:cs typeface="Helvetica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Professor </a:t>
            </a:r>
          </a:p>
        </p:txBody>
      </p:sp>
      <p:sp>
        <p:nvSpPr>
          <p:cNvPr id="9" name="Text Placeholder 5"/>
          <p:cNvSpPr>
            <a:spLocks noGrp="1"/>
          </p:cNvSpPr>
          <p:nvPr/>
        </p:nvSpPr>
        <p:spPr>
          <a:xfrm>
            <a:off x="131208" y="4065247"/>
            <a:ext cx="4305091" cy="878110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400" b="0" i="0" kern="1200" baseline="0">
                <a:solidFill>
                  <a:schemeClr val="tx2"/>
                </a:solidFill>
                <a:latin typeface="Helvetica" charset="0"/>
                <a:ea typeface="Helvetica" charset="0"/>
                <a:cs typeface="Helvetica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sz="2000" dirty="0">
                <a:latin typeface="Helvetica" panose="020B0604020202020204" pitchFamily="34" charset="0"/>
                <a:cs typeface="Helvetica" panose="020B0604020202020204" pitchFamily="34" charset="0"/>
              </a:rPr>
              <a:t>Model Fit Assessment</a:t>
            </a:r>
            <a:endParaRPr kumimoji="1" lang="zh-CN" altLang="en-U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endParaRPr lang="en-US" sz="2000" dirty="0">
              <a:latin typeface="Helvetica" panose="020B0604020202020204" pitchFamily="34" charset="0"/>
              <a:ea typeface="Vitesse" charset="0"/>
              <a:cs typeface="Helvetica" panose="020B0604020202020204" pitchFamily="34" charset="0"/>
            </a:endParaRPr>
          </a:p>
        </p:txBody>
      </p:sp>
      <p:sp>
        <p:nvSpPr>
          <p:cNvPr id="10" name="Text Placeholder 6"/>
          <p:cNvSpPr>
            <a:spLocks noGrp="1"/>
          </p:cNvSpPr>
          <p:nvPr/>
        </p:nvSpPr>
        <p:spPr>
          <a:xfrm>
            <a:off x="117956" y="2661666"/>
            <a:ext cx="4305091" cy="322253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200" b="0" i="0" kern="1200" baseline="0">
                <a:solidFill>
                  <a:schemeClr val="tx1"/>
                </a:solidFill>
                <a:latin typeface="Helvetica" charset="0"/>
                <a:ea typeface="Helvetica" charset="0"/>
                <a:cs typeface="Helvetica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School of Industrial and Systems Engineering</a:t>
            </a:r>
          </a:p>
        </p:txBody>
      </p:sp>
    </p:spTree>
    <p:extLst>
      <p:ext uri="{BB962C8B-B14F-4D97-AF65-F5344CB8AC3E}">
        <p14:creationId xmlns:p14="http://schemas.microsoft.com/office/powerpoint/2010/main" val="16933392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820" t="7499" r="15454" b="5507"/>
          <a:stretch/>
        </p:blipFill>
        <p:spPr>
          <a:xfrm>
            <a:off x="1237534" y="1285661"/>
            <a:ext cx="2069432" cy="2619446"/>
          </a:xfrm>
          <a:prstGeom prst="rect">
            <a:avLst/>
          </a:prstGeom>
        </p:spPr>
      </p:pic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143478" y="215823"/>
            <a:ext cx="4727575" cy="685325"/>
          </a:xfrm>
        </p:spPr>
        <p:txBody>
          <a:bodyPr anchor="t">
            <a:normAutofit/>
          </a:bodyPr>
          <a:lstStyle/>
          <a:p>
            <a:pPr>
              <a:spcBef>
                <a:spcPct val="0"/>
              </a:spcBef>
            </a:pPr>
            <a:r>
              <a:rPr lang="en-US" sz="3600" dirty="0">
                <a:latin typeface="Vitesse" charset="0"/>
                <a:ea typeface="Vitesse" charset="0"/>
                <a:cs typeface="Vitesse" charset="0"/>
              </a:rPr>
              <a:t>About This Lesson</a:t>
            </a:r>
          </a:p>
        </p:txBody>
      </p:sp>
    </p:spTree>
    <p:extLst>
      <p:ext uri="{BB962C8B-B14F-4D97-AF65-F5344CB8AC3E}">
        <p14:creationId xmlns:p14="http://schemas.microsoft.com/office/powerpoint/2010/main" val="14999553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201" name="Rectangle 9"/>
              <p:cNvSpPr>
                <a:spLocks noChangeArrowheads="1"/>
              </p:cNvSpPr>
              <p:nvPr/>
            </p:nvSpPr>
            <p:spPr bwMode="auto">
              <a:xfrm>
                <a:off x="143081" y="2300519"/>
                <a:ext cx="8205141" cy="19932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en-US" b="1" dirty="0">
                    <a:latin typeface="Helvetica" panose="020B0604020202020204" pitchFamily="34" charset="0"/>
                    <a:ea typeface="Helvetica" charset="0"/>
                    <a:cs typeface="Helvetica" panose="020B0604020202020204" pitchFamily="34" charset="0"/>
                  </a:rPr>
                  <a:t>Assumptions</a:t>
                </a:r>
                <a:r>
                  <a:rPr lang="en-US" altLang="en-US" dirty="0">
                    <a:latin typeface="Helvetica" panose="020B0604020202020204" pitchFamily="34" charset="0"/>
                    <a:ea typeface="Helvetica" charset="0"/>
                    <a:cs typeface="Helvetica" panose="020B0604020202020204" pitchFamily="34" charset="0"/>
                  </a:rPr>
                  <a:t>:  </a:t>
                </a:r>
              </a:p>
              <a:p>
                <a:pPr marL="457200" indent="-228600" eaLnBrk="1" hangingPunct="1">
                  <a:spcBef>
                    <a:spcPct val="50000"/>
                  </a:spcBef>
                  <a:buFontTx/>
                  <a:buChar char="•"/>
                </a:pPr>
                <a:r>
                  <a:rPr lang="en-US" altLang="en-US" b="1" i="1" dirty="0">
                    <a:latin typeface="Helvetica" panose="020B0604020202020204" pitchFamily="34" charset="0"/>
                    <a:ea typeface="KishoreFont Medium" charset="0"/>
                    <a:cs typeface="Helvetica" panose="020B0604020202020204" pitchFamily="34" charset="0"/>
                  </a:rPr>
                  <a:t>Constant</a:t>
                </a:r>
                <a:r>
                  <a:rPr lang="en-US" altLang="en-US" b="1" dirty="0">
                    <a:latin typeface="Helvetica" panose="020B0604020202020204" pitchFamily="34" charset="0"/>
                    <a:ea typeface="KishoreFont Medium" charset="0"/>
                    <a:cs typeface="Helvetica" panose="020B0604020202020204" pitchFamily="34" charset="0"/>
                  </a:rPr>
                  <a:t> </a:t>
                </a:r>
                <a:r>
                  <a:rPr lang="en-US" altLang="en-US" b="1" i="1" dirty="0">
                    <a:latin typeface="Helvetica" panose="020B0604020202020204" pitchFamily="34" charset="0"/>
                    <a:ea typeface="KishoreFont Medium" charset="0"/>
                    <a:cs typeface="Helvetica" panose="020B0604020202020204" pitchFamily="34" charset="0"/>
                  </a:rPr>
                  <a:t>Variance</a:t>
                </a:r>
                <a:r>
                  <a:rPr lang="en-US" altLang="en-US" b="1" dirty="0">
                    <a:latin typeface="Helvetica" panose="020B0604020202020204" pitchFamily="34" charset="0"/>
                    <a:ea typeface="KishoreFont Medium" charset="0"/>
                    <a:cs typeface="Helvetica" panose="020B0604020202020204" pitchFamily="34" charset="0"/>
                  </a:rPr>
                  <a:t> </a:t>
                </a:r>
                <a:r>
                  <a:rPr lang="en-US" altLang="en-US" b="1" i="1" dirty="0">
                    <a:latin typeface="Helvetica" panose="020B0604020202020204" pitchFamily="34" charset="0"/>
                    <a:ea typeface="KishoreFont Medium" charset="0"/>
                    <a:cs typeface="Helvetica" panose="020B0604020202020204" pitchFamily="34" charset="0"/>
                  </a:rPr>
                  <a:t>Assumption:</a:t>
                </a:r>
                <a:r>
                  <a:rPr lang="en-US" altLang="en-US" b="1" dirty="0">
                    <a:latin typeface="Helvetica" panose="020B0604020202020204" pitchFamily="34" charset="0"/>
                    <a:ea typeface="KishoreFont Medium" charset="0"/>
                    <a:cs typeface="Helvetica" panose="020B0604020202020204" pitchFamily="34" charset="0"/>
                  </a:rPr>
                  <a:t> </a:t>
                </a:r>
                <a:r>
                  <a:rPr lang="en-US" altLang="en-US" dirty="0">
                    <a:latin typeface="Helvetica" panose="020B0604020202020204" pitchFamily="34" charset="0"/>
                    <a:ea typeface="KishoreFont Medium" charset="0"/>
                    <a:cs typeface="Helvetica" panose="020B0604020202020204" pitchFamily="34" charset="0"/>
                  </a:rPr>
                  <a:t>Var(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zh-CN" alt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kumimoji="1"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US" altLang="en-US" dirty="0">
                    <a:latin typeface="Helvetica" panose="020B0604020202020204" pitchFamily="34" charset="0"/>
                    <a:ea typeface="KishoreFont Medium" charset="0"/>
                    <a:cs typeface="Helvetica" panose="020B0604020202020204" pitchFamily="34" charset="0"/>
                  </a:rPr>
                  <a:t>) = </a:t>
                </a:r>
                <a14:m>
                  <m:oMath xmlns:m="http://schemas.openxmlformats.org/officeDocument/2006/math">
                    <m:r>
                      <a:rPr lang="en-US" alt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charset="0"/>
                      </a:rPr>
                      <m:t>𝜎</m:t>
                    </m:r>
                  </m:oMath>
                </a14:m>
                <a:r>
                  <a:rPr lang="en-US" altLang="en-US" baseline="30000" dirty="0">
                    <a:latin typeface="Helvetica" panose="020B0604020202020204" pitchFamily="34" charset="0"/>
                    <a:ea typeface="KishoreFont Medium" charset="0"/>
                    <a:cs typeface="Helvetica" panose="020B0604020202020204" pitchFamily="34" charset="0"/>
                  </a:rPr>
                  <a:t>2</a:t>
                </a:r>
              </a:p>
              <a:p>
                <a:pPr marL="457200" indent="-228600" eaLnBrk="1" hangingPunct="1">
                  <a:spcBef>
                    <a:spcPct val="50000"/>
                  </a:spcBef>
                  <a:buFontTx/>
                  <a:buChar char="•"/>
                </a:pPr>
                <a:r>
                  <a:rPr lang="en-US" altLang="en-US" b="1" i="1" dirty="0">
                    <a:latin typeface="Helvetica" panose="020B0604020202020204" pitchFamily="34" charset="0"/>
                    <a:ea typeface="KishoreFont Medium" charset="0"/>
                    <a:cs typeface="Helvetica" panose="020B0604020202020204" pitchFamily="34" charset="0"/>
                  </a:rPr>
                  <a:t>Independence</a:t>
                </a:r>
                <a:r>
                  <a:rPr lang="en-US" altLang="en-US" b="1" dirty="0">
                    <a:latin typeface="Helvetica" panose="020B0604020202020204" pitchFamily="34" charset="0"/>
                    <a:ea typeface="KishoreFont Medium" charset="0"/>
                    <a:cs typeface="Helvetica" panose="020B0604020202020204" pitchFamily="34" charset="0"/>
                  </a:rPr>
                  <a:t> </a:t>
                </a:r>
                <a:r>
                  <a:rPr lang="en-US" altLang="en-US" b="1" i="1" dirty="0">
                    <a:latin typeface="Helvetica" panose="020B0604020202020204" pitchFamily="34" charset="0"/>
                    <a:ea typeface="KishoreFont Medium" charset="0"/>
                    <a:cs typeface="Helvetica" panose="020B0604020202020204" pitchFamily="34" charset="0"/>
                  </a:rPr>
                  <a:t>Assumption:</a:t>
                </a:r>
                <a:r>
                  <a:rPr lang="en-US" altLang="en-US" dirty="0">
                    <a:latin typeface="Helvetica" panose="020B0604020202020204" pitchFamily="34" charset="0"/>
                    <a:ea typeface="KishoreFont Medium" charset="0"/>
                    <a:cs typeface="Helvetica" panose="020B0604020202020204" pitchFamily="34" charset="0"/>
                  </a:rPr>
                  <a:t> {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zh-CN" alt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  <m:r>
                          <a:rPr kumimoji="1"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m:rPr>
                        <m:nor/>
                      </m:rPr>
                      <a:rPr kumimoji="1" lang="en-US" altLang="zh-CN">
                        <a:latin typeface="Helvetica" panose="020B0604020202020204" pitchFamily="34" charset="0"/>
                        <a:ea typeface="KishoreFont Medium" charset="0"/>
                        <a:cs typeface="Helvetica" panose="020B0604020202020204" pitchFamily="34" charset="0"/>
                      </a:rPr>
                      <m:t>,</m:t>
                    </m:r>
                    <m:r>
                      <a:rPr kumimoji="1"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" panose="020B0604020202020204" pitchFamily="34" charset="0"/>
                      </a:rPr>
                      <m:t>⋯</m:t>
                    </m:r>
                  </m:oMath>
                </a14:m>
                <a:r>
                  <a:rPr kumimoji="1" lang="en-US" altLang="zh-CN" dirty="0">
                    <a:latin typeface="Helvetica" panose="020B0604020202020204" pitchFamily="34" charset="0"/>
                    <a:ea typeface="KishoreFont Medium" charset="0"/>
                    <a:cs typeface="Helvetica" panose="020B0604020202020204" pitchFamily="34" charset="0"/>
                  </a:rPr>
                  <a:t>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zh-CN" alt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  <m:r>
                          <a:rPr kumimoji="1"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altLang="en-US" dirty="0">
                    <a:latin typeface="Helvetica" panose="020B0604020202020204" pitchFamily="34" charset="0"/>
                    <a:ea typeface="KishoreFont Medium" charset="0"/>
                    <a:cs typeface="Helvetica" panose="020B0604020202020204" pitchFamily="34" charset="0"/>
                  </a:rPr>
                  <a:t>}</a:t>
                </a:r>
                <a:r>
                  <a:rPr lang="en-US" altLang="en-US" b="1" dirty="0">
                    <a:latin typeface="Helvetica" panose="020B0604020202020204" pitchFamily="34" charset="0"/>
                    <a:ea typeface="KishoreFont Medium" charset="0"/>
                    <a:cs typeface="Helvetica" panose="020B0604020202020204" pitchFamily="34" charset="0"/>
                  </a:rPr>
                  <a:t> </a:t>
                </a:r>
                <a:r>
                  <a:rPr lang="en-US" altLang="en-US" dirty="0">
                    <a:latin typeface="Helvetica" panose="020B0604020202020204" pitchFamily="34" charset="0"/>
                    <a:ea typeface="KishoreFont Medium" charset="0"/>
                    <a:cs typeface="Helvetica" panose="020B0604020202020204" pitchFamily="34" charset="0"/>
                  </a:rPr>
                  <a:t>are independent random variables</a:t>
                </a:r>
              </a:p>
              <a:p>
                <a:pPr marL="457200" indent="-228600" eaLnBrk="1" hangingPunct="1">
                  <a:spcBef>
                    <a:spcPct val="50000"/>
                  </a:spcBef>
                  <a:buFontTx/>
                  <a:buChar char="•"/>
                </a:pPr>
                <a:r>
                  <a:rPr lang="en-US" altLang="en-US" b="1" i="1" dirty="0">
                    <a:latin typeface="Helvetica" panose="020B0604020202020204" pitchFamily="34" charset="0"/>
                    <a:ea typeface="KishoreFont Medium" charset="0"/>
                    <a:cs typeface="Helvetica" panose="020B0604020202020204" pitchFamily="34" charset="0"/>
                  </a:rPr>
                  <a:t>Normality</a:t>
                </a:r>
                <a:r>
                  <a:rPr lang="en-US" altLang="en-US" b="1" dirty="0">
                    <a:latin typeface="Helvetica" panose="020B0604020202020204" pitchFamily="34" charset="0"/>
                    <a:ea typeface="KishoreFont Medium" charset="0"/>
                    <a:cs typeface="Helvetica" panose="020B0604020202020204" pitchFamily="34" charset="0"/>
                  </a:rPr>
                  <a:t> </a:t>
                </a:r>
                <a:r>
                  <a:rPr lang="en-US" altLang="en-US" b="1" i="1" dirty="0">
                    <a:latin typeface="Helvetica" panose="020B0604020202020204" pitchFamily="34" charset="0"/>
                    <a:ea typeface="KishoreFont Medium" charset="0"/>
                    <a:cs typeface="Helvetica" panose="020B0604020202020204" pitchFamily="34" charset="0"/>
                  </a:rPr>
                  <a:t>Assumption: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zh-CN" alt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kumimoji="1"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US" altLang="en-US" dirty="0">
                    <a:latin typeface="Helvetica" panose="020B0604020202020204" pitchFamily="34" charset="0"/>
                    <a:ea typeface="KishoreFont Medium" charset="0"/>
                    <a:cs typeface="Helvetica" panose="020B0604020202020204" pitchFamily="34" charset="0"/>
                  </a:rPr>
                  <a:t> ~ Normal(0, </a:t>
                </a:r>
                <a14:m>
                  <m:oMath xmlns:m="http://schemas.openxmlformats.org/officeDocument/2006/math">
                    <m:r>
                      <a:rPr lang="en-US" alt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charset="0"/>
                      </a:rPr>
                      <m:t>𝜎</m:t>
                    </m:r>
                  </m:oMath>
                </a14:m>
                <a:r>
                  <a:rPr lang="en-US" altLang="en-US" baseline="30000" dirty="0">
                    <a:latin typeface="Helvetica" panose="020B0604020202020204" pitchFamily="34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2</a:t>
                </a:r>
                <a:r>
                  <a:rPr lang="en-US" altLang="en-US" dirty="0">
                    <a:latin typeface="Helvetica" panose="020B0604020202020204" pitchFamily="34" charset="0"/>
                    <a:ea typeface="KishoreFont Medium" charset="0"/>
                    <a:cs typeface="Helvetica" panose="020B0604020202020204" pitchFamily="34" charset="0"/>
                  </a:rPr>
                  <a:t>)</a:t>
                </a:r>
              </a:p>
            </p:txBody>
          </p:sp>
        </mc:Choice>
        <mc:Fallback xmlns="">
          <p:sp>
            <p:nvSpPr>
              <p:cNvPr id="8201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43081" y="2300519"/>
                <a:ext cx="8205141" cy="1993238"/>
              </a:xfrm>
              <a:prstGeom prst="rect">
                <a:avLst/>
              </a:prstGeom>
              <a:blipFill>
                <a:blip r:embed="rId3"/>
                <a:stretch>
                  <a:fillRect l="-594" t="-1529" b="-2752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/>
              <p:cNvSpPr txBox="1"/>
              <p:nvPr/>
            </p:nvSpPr>
            <p:spPr>
              <a:xfrm>
                <a:off x="143082" y="1021683"/>
                <a:ext cx="5754646" cy="9679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b="1" dirty="0">
                    <a:latin typeface="Helvetica" panose="020B0604020202020204" pitchFamily="34" charset="0"/>
                    <a:ea typeface="Helvetica" charset="0"/>
                    <a:cs typeface="Helvetica" panose="020B0604020202020204" pitchFamily="34" charset="0"/>
                  </a:rPr>
                  <a:t>Data</a:t>
                </a:r>
                <a:r>
                  <a:rPr kumimoji="1" lang="en-US" altLang="zh-CN" dirty="0">
                    <a:latin typeface="Helvetica" panose="020B0604020202020204" pitchFamily="34" charset="0"/>
                    <a:ea typeface="Helvetica" charset="0"/>
                    <a:cs typeface="Helvetica" panose="020B0604020202020204" pitchFamily="34" charset="0"/>
                  </a:rPr>
                  <a:t>:</a:t>
                </a:r>
                <a:r>
                  <a:rPr kumimoji="1" lang="zh-CN" altLang="en-US" dirty="0">
                    <a:latin typeface="Helvetica" panose="020B0604020202020204" pitchFamily="34" charset="0"/>
                    <a:ea typeface="Helvetica" charset="0"/>
                    <a:cs typeface="Helvetica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KishoreFont Medium" charset="0"/>
                          </a:rPr>
                        </m:ctrlPr>
                      </m:sSubPr>
                      <m:e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KishoreFont Medium" charset="0"/>
                          </a:rPr>
                          <m:t>𝑌</m:t>
                        </m:r>
                      </m:e>
                      <m:sub>
                        <m:r>
                          <a:rPr kumimoji="1"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KishoreFont Medium" charset="0"/>
                          </a:rPr>
                          <m:t>𝑖</m:t>
                        </m:r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KishoreFont Medium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kumimoji="1" lang="en-US" altLang="zh-CN" dirty="0">
                    <a:latin typeface="Helvetica" panose="020B0604020202020204" pitchFamily="34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 for </a:t>
                </a:r>
                <a14:m>
                  <m:oMath xmlns:m="http://schemas.openxmlformats.org/officeDocument/2006/math">
                    <m:r>
                      <a:rPr kumimoji="1"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" panose="020B0604020202020204" pitchFamily="34" charset="0"/>
                      </a:rPr>
                      <m:t>𝑗</m:t>
                    </m:r>
                    <m:r>
                      <a:rPr kumimoji="1"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" panose="020B0604020202020204" pitchFamily="34" charset="0"/>
                      </a:rPr>
                      <m:t>=1,⋯,</m:t>
                    </m:r>
                    <m:sSub>
                      <m:sSubPr>
                        <m:ctrlPr>
                          <a:rPr kumimoji="1"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" panose="020B0604020202020204" pitchFamily="34" charset="0"/>
                          </a:rPr>
                        </m:ctrlPr>
                      </m:sSubPr>
                      <m:e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" panose="020B0604020202020204" pitchFamily="34" charset="0"/>
                          </a:rPr>
                          <m:t>𝑛</m:t>
                        </m:r>
                      </m:e>
                      <m:sub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" panose="020B0604020202020204" pitchFamily="34" charset="0"/>
                          </a:rPr>
                          <m:t>𝑖</m:t>
                        </m:r>
                      </m:sub>
                    </m:sSub>
                    <m:r>
                      <a:rPr kumimoji="1"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" panose="020B0604020202020204" pitchFamily="34" charset="0"/>
                      </a:rPr>
                      <m:t>;</m:t>
                    </m:r>
                    <m:r>
                      <a:rPr kumimoji="1"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" panose="020B0604020202020204" pitchFamily="34" charset="0"/>
                      </a:rPr>
                      <m:t>𝑖</m:t>
                    </m:r>
                    <m:r>
                      <a:rPr kumimoji="1"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" panose="020B0604020202020204" pitchFamily="34" charset="0"/>
                      </a:rPr>
                      <m:t>=1,⋯,</m:t>
                    </m:r>
                    <m:r>
                      <a:rPr kumimoji="1"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" panose="020B0604020202020204" pitchFamily="34" charset="0"/>
                      </a:rPr>
                      <m:t>𝑘</m:t>
                    </m:r>
                  </m:oMath>
                </a14:m>
                <a:endParaRPr kumimoji="1" lang="en-US" altLang="zh-CN" dirty="0">
                  <a:latin typeface="Helvetica" panose="020B0604020202020204" pitchFamily="34" charset="0"/>
                  <a:ea typeface="Cambria Math" panose="02040503050406030204" pitchFamily="18" charset="0"/>
                  <a:cs typeface="Helvetica" panose="020B0604020202020204" pitchFamily="34" charset="0"/>
                </a:endParaRPr>
              </a:p>
              <a:p>
                <a:endParaRPr kumimoji="1" lang="en-US" altLang="zh-CN" b="1" dirty="0">
                  <a:latin typeface="Helvetica" panose="020B0604020202020204" pitchFamily="34" charset="0"/>
                  <a:ea typeface="Helvetica" charset="0"/>
                  <a:cs typeface="Helvetica" panose="020B0604020202020204" pitchFamily="34" charset="0"/>
                </a:endParaRPr>
              </a:p>
              <a:p>
                <a:r>
                  <a:rPr kumimoji="1" lang="en-US" altLang="zh-CN" b="1" dirty="0">
                    <a:latin typeface="Helvetica" panose="020B0604020202020204" pitchFamily="34" charset="0"/>
                    <a:ea typeface="Helvetica" charset="0"/>
                    <a:cs typeface="Helvetica" panose="020B0604020202020204" pitchFamily="34" charset="0"/>
                  </a:rPr>
                  <a:t>Model</a:t>
                </a:r>
                <a:r>
                  <a:rPr kumimoji="1" lang="en-US" altLang="zh-CN" dirty="0">
                    <a:latin typeface="Helvetica" panose="020B0604020202020204" pitchFamily="34" charset="0"/>
                    <a:ea typeface="Helvetica" charset="0"/>
                    <a:cs typeface="Helvetica" panose="020B0604020202020204" pitchFamily="34" charset="0"/>
                  </a:rPr>
                  <a:t>:</a:t>
                </a:r>
                <a:r>
                  <a:rPr kumimoji="1" lang="zh-CN" altLang="en-US" dirty="0">
                    <a:latin typeface="Helvetica" panose="020B0604020202020204" pitchFamily="34" charset="0"/>
                    <a:ea typeface="Helvetica" charset="0"/>
                    <a:cs typeface="Helvetica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KishoreFont Medium" charset="0"/>
                          </a:rPr>
                        </m:ctrlPr>
                      </m:sSubPr>
                      <m:e>
                        <m:r>
                          <a:rPr kumimoji="1"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KishoreFont Medium" charset="0"/>
                          </a:rPr>
                          <m:t>𝑌</m:t>
                        </m:r>
                      </m:e>
                      <m:sub>
                        <m:r>
                          <a:rPr kumimoji="1"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KishoreFont Medium" charset="0"/>
                          </a:rPr>
                          <m:t>𝑖𝑗</m:t>
                        </m:r>
                      </m:sub>
                    </m:sSub>
                    <m:r>
                      <a:rPr kumimoji="1"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KishoreFont Medium" charset="0"/>
                      </a:rPr>
                      <m:t>=</m:t>
                    </m:r>
                    <m:sSub>
                      <m:sSubPr>
                        <m:ctrlPr>
                          <a:rPr kumimoji="1"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zh-CN" alt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kumimoji="1"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kumimoji="1"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zh-CN" alt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kumimoji="1" lang="en-US" altLang="zh-CN" dirty="0">
                    <a:latin typeface="Helvetica" panose="020B0604020202020204" pitchFamily="34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zh-CN" alt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kumimoji="1"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kumimoji="1" lang="en-US" altLang="zh-CN" dirty="0">
                    <a:latin typeface="Helvetica" panose="020B0604020202020204" pitchFamily="34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 = error term</a:t>
                </a:r>
                <a:endParaRPr kumimoji="1" lang="zh-CN" altLang="en-US" dirty="0">
                  <a:latin typeface="Helvetica" panose="020B0604020202020204" pitchFamily="34" charset="0"/>
                  <a:ea typeface="KishoreFont Medium" charset="0"/>
                  <a:cs typeface="Helvetica" panose="020B0604020202020204" pitchFamily="34" charset="0"/>
                </a:endParaRPr>
              </a:p>
            </p:txBody>
          </p:sp>
        </mc:Choice>
        <mc:Fallback xmlns=""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082" y="1021683"/>
                <a:ext cx="5754646" cy="967957"/>
              </a:xfrm>
              <a:prstGeom prst="rect">
                <a:avLst/>
              </a:prstGeom>
              <a:blipFill>
                <a:blip r:embed="rId4"/>
                <a:stretch>
                  <a:fillRect l="-847" t="-3797" b="-69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标题 2"/>
          <p:cNvSpPr>
            <a:spLocks noGrp="1"/>
          </p:cNvSpPr>
          <p:nvPr>
            <p:ph type="title"/>
          </p:nvPr>
        </p:nvSpPr>
        <p:spPr>
          <a:xfrm>
            <a:off x="143081" y="214588"/>
            <a:ext cx="8562392" cy="660055"/>
          </a:xfrm>
        </p:spPr>
        <p:txBody>
          <a:bodyPr/>
          <a:lstStyle/>
          <a:p>
            <a:r>
              <a:rPr kumimoji="1" lang="en-US" altLang="zh-CN" sz="3600" dirty="0" smtClean="0">
                <a:latin typeface="Vitesse"/>
              </a:rPr>
              <a:t>ANOVA: Model &amp; Assumptions</a:t>
            </a:r>
            <a:endParaRPr kumimoji="1" lang="zh-CN" altLang="en-US" sz="3600" dirty="0">
              <a:latin typeface="Vitesse"/>
            </a:endParaRPr>
          </a:p>
        </p:txBody>
      </p:sp>
    </p:spTree>
    <p:extLst>
      <p:ext uri="{BB962C8B-B14F-4D97-AF65-F5344CB8AC3E}">
        <p14:creationId xmlns:p14="http://schemas.microsoft.com/office/powerpoint/2010/main" val="30326965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43" name="Text Box 7"/>
          <p:cNvSpPr txBox="1">
            <a:spLocks noChangeArrowheads="1"/>
          </p:cNvSpPr>
          <p:nvPr/>
        </p:nvSpPr>
        <p:spPr bwMode="auto">
          <a:xfrm>
            <a:off x="576470" y="3488845"/>
            <a:ext cx="7779026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9pPr>
          </a:lstStyle>
          <a:p>
            <a:pPr marL="285750" indent="-285750" eaLnBrk="1" hangingPunct="1"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en-US" altLang="en-US" dirty="0">
                <a:latin typeface="Helvetica" charset="0"/>
                <a:ea typeface="Helvetica" charset="0"/>
                <a:cs typeface="Helvetica" charset="0"/>
              </a:rPr>
              <a:t>If the model fit is a good fit, then the residuals should be scattered around zero (randomly).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/>
              <p:cNvSpPr txBox="1"/>
              <p:nvPr/>
            </p:nvSpPr>
            <p:spPr>
              <a:xfrm>
                <a:off x="247077" y="985836"/>
                <a:ext cx="1763945" cy="512171"/>
              </a:xfrm>
              <a:prstGeom prst="rect">
                <a:avLst/>
              </a:prstGeom>
            </p:spPr>
            <p:txBody>
              <a:bodyPr vert="horz" wrap="none" lIns="0" tIns="0" rIns="0" bIns="0" rtlCol="0">
                <a:noAutofit/>
              </a:bodyPr>
              <a:lstStyle/>
              <a:p>
                <a:pPr algn="l"/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4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KishoreFont Medium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kumimoji="1" lang="en-US" altLang="zh-CN" sz="2400" b="0" i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KishoreFont Medium" charset="0"/>
                          </a:rPr>
                          <m:t>Y</m:t>
                        </m:r>
                      </m:e>
                      <m:sub>
                        <m:r>
                          <a:rPr kumimoji="1"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KishoreFont Medium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kumimoji="1" lang="zh-CN" altLang="en-US" sz="24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KishoreFont Medium" charset="0"/>
                    <a:cs typeface="KishoreFont Medium" charset="0"/>
                  </a:rPr>
                  <a:t> </a:t>
                </a:r>
                <a:r>
                  <a:rPr kumimoji="1" lang="en-US" altLang="zh-CN" sz="24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KishoreFont Medium" charset="0"/>
                  </a:rPr>
                  <a:t>=</a:t>
                </a:r>
                <a:r>
                  <a:rPr kumimoji="1" lang="zh-CN" altLang="en-US" sz="24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KishoreFont Medium" charset="0"/>
                    <a:cs typeface="KishoreFont Medium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4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KishoreFont Medium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kumimoji="1" lang="en-US" altLang="zh-CN" sz="2400" i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KishoreFont Medium" charset="0"/>
                          </a:rPr>
                          <m:t>μ</m:t>
                        </m:r>
                      </m:e>
                      <m:sub>
                        <m:r>
                          <a:rPr kumimoji="1"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KishoreFont Medium" charset="0"/>
                          </a:rPr>
                          <m:t>𝑖</m:t>
                        </m:r>
                      </m:sub>
                    </m:sSub>
                    <m:r>
                      <a:rPr kumimoji="1" lang="mr-IN" altLang="zh-CN" sz="240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KishoreFont Medium" charset="0"/>
                      </a:rPr>
                      <m:t>+</m:t>
                    </m:r>
                    <m:sSub>
                      <m:sSubPr>
                        <m:ctrlPr>
                          <a:rPr kumimoji="1" lang="en-US" altLang="zh-CN" sz="240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KishoreFont Medium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kumimoji="1" lang="en-US" altLang="zh-CN" sz="2400" i="0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KishoreFont Medium" charset="0"/>
                          </a:rPr>
                          <m:t>ε</m:t>
                        </m:r>
                      </m:e>
                      <m:sub>
                        <m:r>
                          <a:rPr kumimoji="1" lang="en-US" altLang="zh-CN" sz="24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KishoreFont Medium" charset="0"/>
                          </a:rPr>
                          <m:t>𝑖𝑗</m:t>
                        </m:r>
                      </m:sub>
                    </m:sSub>
                  </m:oMath>
                </a14:m>
                <a:endParaRPr kumimoji="1" lang="zh-CN" altLang="en-US" sz="2400" dirty="0">
                  <a:solidFill>
                    <a:srgbClr val="000000"/>
                  </a:solidFill>
                  <a:latin typeface="Cambria Math" panose="02040503050406030204" pitchFamily="18" charset="0"/>
                  <a:ea typeface="KishoreFont Medium" charset="0"/>
                  <a:cs typeface="KishoreFont Medium" charset="0"/>
                </a:endParaRPr>
              </a:p>
            </p:txBody>
          </p:sp>
        </mc:Choice>
        <mc:Fallback xmlns=""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077" y="985836"/>
                <a:ext cx="1763945" cy="512171"/>
              </a:xfrm>
              <a:prstGeom prst="rect">
                <a:avLst/>
              </a:prstGeom>
              <a:blipFill>
                <a:blip r:embed="rId2"/>
                <a:stretch>
                  <a:fillRect l="-6228" t="-20238" b="-59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Group 4"/>
          <p:cNvGrpSpPr/>
          <p:nvPr/>
        </p:nvGrpSpPr>
        <p:grpSpPr>
          <a:xfrm>
            <a:off x="576470" y="1607883"/>
            <a:ext cx="7779026" cy="1618278"/>
            <a:chOff x="59635" y="1468736"/>
            <a:chExt cx="7779026" cy="1618278"/>
          </a:xfrm>
        </p:grpSpPr>
        <p:grpSp>
          <p:nvGrpSpPr>
            <p:cNvPr id="4" name="Group 3"/>
            <p:cNvGrpSpPr/>
            <p:nvPr/>
          </p:nvGrpSpPr>
          <p:grpSpPr>
            <a:xfrm>
              <a:off x="59635" y="1468736"/>
              <a:ext cx="7779026" cy="1539508"/>
              <a:chOff x="59635" y="1468736"/>
              <a:chExt cx="7779026" cy="1539508"/>
            </a:xfrm>
          </p:grpSpPr>
          <p:sp>
            <p:nvSpPr>
              <p:cNvPr id="45058" name="Rectangle 2"/>
              <p:cNvSpPr>
                <a:spLocks noChangeArrowheads="1"/>
              </p:cNvSpPr>
              <p:nvPr/>
            </p:nvSpPr>
            <p:spPr bwMode="auto">
              <a:xfrm>
                <a:off x="452478" y="2523452"/>
                <a:ext cx="1906407" cy="484792"/>
              </a:xfrm>
              <a:prstGeom prst="rect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altLang="en-US" sz="1800">
                  <a:ea typeface="+mn-ea"/>
                </a:endParaRPr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49157" name="Text Box 5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59635" y="1468736"/>
                    <a:ext cx="7779026" cy="70179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square">
                    <a:spAutoFit/>
                  </a:bodyPr>
                  <a:lstStyle>
                    <a:lvl1pPr>
                      <a:defRPr>
                        <a:solidFill>
                          <a:schemeClr val="tx1"/>
                        </a:solidFill>
                        <a:latin typeface="Calibri" charset="0"/>
                        <a:ea typeface="MS PGothic" charset="-128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Calibri" charset="0"/>
                        <a:ea typeface="MS PGothic" charset="-128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Calibri" charset="0"/>
                        <a:ea typeface="MS PGothic" charset="-128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Calibri" charset="0"/>
                        <a:ea typeface="MS PGothic" charset="-128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Calibri" charset="0"/>
                        <a:ea typeface="MS PGothic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alibri" charset="0"/>
                        <a:ea typeface="MS PGothic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alibri" charset="0"/>
                        <a:ea typeface="MS PGothic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alibri" charset="0"/>
                        <a:ea typeface="MS PGothic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alibri" charset="0"/>
                        <a:ea typeface="MS PGothic" charset="-128"/>
                      </a:defRPr>
                    </a:lvl9pPr>
                  </a:lstStyle>
                  <a:p>
                    <a:pPr marL="285750" indent="-285750" eaLnBrk="1" hangingPunct="1">
                      <a:spcBef>
                        <a:spcPct val="50000"/>
                      </a:spcBef>
                      <a:buFont typeface="Arial" panose="020B0604020202020204" pitchFamily="34" charset="0"/>
                      <a:buChar char="•"/>
                    </a:pPr>
                    <a:r>
                      <a:rPr lang="en-US" altLang="en-US" dirty="0">
                        <a:latin typeface="Helvetica" charset="0"/>
                        <a:ea typeface="Helvetica" charset="0"/>
                        <a:cs typeface="Helvetica" charset="0"/>
                      </a:rPr>
                      <a:t>In the model,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00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KishoreFont Medium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kumimoji="1" lang="en-US" altLang="zh-CN" sz="2000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KishoreFont Medium" charset="0"/>
                              </a:rPr>
                              <m:t>ε</m:t>
                            </m:r>
                          </m:e>
                          <m:sub>
                            <m:r>
                              <a:rPr kumimoji="1" lang="en-US" altLang="zh-CN" sz="200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KishoreFont Medium" charset="0"/>
                              </a:rPr>
                              <m:t>𝑖𝑗</m:t>
                            </m:r>
                          </m:sub>
                        </m:sSub>
                      </m:oMath>
                    </a14:m>
                    <a:r>
                      <a:rPr lang="en-US" altLang="en-US" dirty="0">
                        <a:latin typeface="Helvetica" charset="0"/>
                        <a:ea typeface="Helvetica" charset="0"/>
                        <a:cs typeface="Helvetica" charset="0"/>
                      </a:rPr>
                      <a:t>is the </a:t>
                    </a:r>
                    <a:r>
                      <a:rPr lang="en-US" altLang="en-US" i="1" dirty="0">
                        <a:latin typeface="Helvetica" charset="0"/>
                        <a:ea typeface="Helvetica" charset="0"/>
                        <a:cs typeface="Helvetica" charset="0"/>
                      </a:rPr>
                      <a:t>error term</a:t>
                    </a:r>
                    <a:r>
                      <a:rPr lang="en-US" altLang="en-US" dirty="0">
                        <a:latin typeface="Helvetica" charset="0"/>
                        <a:ea typeface="Helvetica" charset="0"/>
                        <a:cs typeface="Helvetica" charset="0"/>
                      </a:rPr>
                      <a:t>. We want 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00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KishoreFont Medium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kumimoji="1" lang="en-US" altLang="zh-CN" sz="2000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KishoreFont Medium" charset="0"/>
                              </a:rPr>
                              <m:t>ε</m:t>
                            </m:r>
                          </m:e>
                          <m:sub>
                            <m:r>
                              <a:rPr kumimoji="1" lang="en-US" altLang="zh-CN" sz="200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KishoreFont Medium" charset="0"/>
                              </a:rPr>
                              <m:t>𝑖𝑗</m:t>
                            </m:r>
                          </m:sub>
                        </m:sSub>
                      </m:oMath>
                    </a14:m>
                    <a:r>
                      <a:rPr lang="en-US" altLang="en-US" b="1" dirty="0" smtClean="0">
                        <a:latin typeface="Helvetica" charset="0"/>
                        <a:ea typeface="Helvetica" charset="0"/>
                        <a:cs typeface="Helvetica" charset="0"/>
                      </a:rPr>
                      <a:t>~ N(0, </a:t>
                    </a:r>
                    <a14:m>
                      <m:oMath xmlns:m="http://schemas.openxmlformats.org/officeDocument/2006/math">
                        <m:r>
                          <a:rPr lang="en-US" alt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charset="0"/>
                          </a:rPr>
                          <m:t>𝜎</m:t>
                        </m:r>
                      </m:oMath>
                    </a14:m>
                    <a:r>
                      <a:rPr lang="en-US" altLang="en-US" sz="2000" b="1" baseline="30000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KishoreFont Medium" charset="0"/>
                      </a:rPr>
                      <a:t>2</a:t>
                    </a:r>
                    <a:r>
                      <a:rPr lang="en-US" altLang="en-US" b="1" dirty="0">
                        <a:latin typeface="Helvetica" charset="0"/>
                        <a:ea typeface="Helvetica" charset="0"/>
                        <a:cs typeface="Helvetica" charset="0"/>
                      </a:rPr>
                      <a:t>).</a:t>
                    </a:r>
                    <a:r>
                      <a:rPr lang="en-US" altLang="en-US" dirty="0">
                        <a:latin typeface="Helvetica" charset="0"/>
                        <a:ea typeface="Helvetica" charset="0"/>
                        <a:cs typeface="Helvetica" charset="0"/>
                      </a:rPr>
                      <a:t> To check to see if this is true, we examine the residual errors:</a:t>
                    </a:r>
                  </a:p>
                </p:txBody>
              </p:sp>
            </mc:Choice>
            <mc:Fallback>
              <p:sp>
                <p:nvSpPr>
                  <p:cNvPr id="49157" name="Text Box 5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59635" y="1468736"/>
                    <a:ext cx="7779026" cy="701795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l="-549" t="-2609" r="-1332" b="-13043"/>
                    </a:stretch>
                  </a:blipFill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文本框 11"/>
                <p:cNvSpPr txBox="1"/>
                <p:nvPr/>
              </p:nvSpPr>
              <p:spPr>
                <a:xfrm>
                  <a:off x="525368" y="2533449"/>
                  <a:ext cx="1866652" cy="553565"/>
                </a:xfrm>
                <a:prstGeom prst="rect">
                  <a:avLst/>
                </a:prstGeom>
              </p:spPr>
              <p:txBody>
                <a:bodyPr vert="horz" wrap="none" lIns="0" tIns="0" rIns="0" bIns="0" rtlCol="0">
                  <a:no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40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KishoreFont Medium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kumimoji="1"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KishoreFont Medium" charset="0"/>
                                  </a:rPr>
                                </m:ctrlPr>
                              </m:accPr>
                              <m:e>
                                <m:r>
                                  <m:rPr>
                                    <m:nor/>
                                  </m:rPr>
                                  <a:rPr kumimoji="1" lang="en-US" altLang="zh-CN" sz="2400" i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KishoreFont Medium" charset="0"/>
                                  </a:rPr>
                                  <m:t>ε</m:t>
                                </m:r>
                              </m:e>
                            </m:acc>
                          </m:e>
                          <m:sub>
                            <m:r>
                              <a:rPr kumimoji="1" lang="en-US" altLang="zh-CN" sz="2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KishoreFont Medium" charset="0"/>
                              </a:rPr>
                              <m:t>𝑖𝑗</m:t>
                            </m:r>
                          </m:sub>
                        </m:sSub>
                        <m:r>
                          <a:rPr kumimoji="1" lang="zh-CN" altLang="en-US" sz="240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Helvetica"/>
                          </a:rPr>
                          <m:t>=</m:t>
                        </m:r>
                        <m:sSub>
                          <m:sSubPr>
                            <m:ctrlPr>
                              <a:rPr kumimoji="1" lang="en-US" altLang="zh-CN" sz="240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KishoreFont Medium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400" b="0" i="1" dirty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KishoreFont Medium" charset="0"/>
                              </a:rPr>
                              <m:t>𝑌</m:t>
                            </m:r>
                          </m:e>
                          <m:sub>
                            <m:r>
                              <a:rPr kumimoji="1" lang="en-US" altLang="zh-CN" sz="2400" b="0" i="1" dirty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KishoreFont Medium" charset="0"/>
                              </a:rPr>
                              <m:t>𝑖𝑗</m:t>
                            </m:r>
                          </m:sub>
                        </m:sSub>
                        <m:r>
                          <a:rPr kumimoji="1" lang="zh-CN" altLang="en-US" sz="240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Helvetica"/>
                          </a:rPr>
                          <m:t>−</m:t>
                        </m:r>
                        <m:sSub>
                          <m:sSubPr>
                            <m:ctrlPr>
                              <a:rPr kumimoji="1" lang="en-US" altLang="zh-CN" sz="240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KishoreFont Medium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kumimoji="1" lang="en-US" altLang="zh-CN" sz="2400" i="1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KishoreFont Medium" charset="0"/>
                                  </a:rPr>
                                </m:ctrlPr>
                              </m:accPr>
                              <m:e>
                                <m:r>
                                  <m:rPr>
                                    <m:nor/>
                                  </m:rPr>
                                  <a:rPr kumimoji="1" lang="en-US" altLang="zh-CN" sz="2400" i="0" dirty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KishoreFont Medium" charset="0"/>
                                  </a:rPr>
                                  <m:t>μ</m:t>
                                </m:r>
                              </m:e>
                            </m:acc>
                          </m:e>
                          <m:sub>
                            <m:r>
                              <a:rPr kumimoji="1" lang="en-US" altLang="zh-CN" sz="2400" b="0" i="1" dirty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KishoreFont Medium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2400" i="1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KishoreFont Medium" charset="0"/>
                    <a:cs typeface="KishoreFont Medium" charset="0"/>
                  </a:endParaRPr>
                </a:p>
              </p:txBody>
            </p:sp>
          </mc:Choice>
          <mc:Fallback xmlns="">
            <p:sp>
              <p:nvSpPr>
                <p:cNvPr id="12" name="文本框 1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5368" y="2533449"/>
                  <a:ext cx="1866652" cy="553565"/>
                </a:xfrm>
                <a:prstGeom prst="rect">
                  <a:avLst/>
                </a:prstGeom>
                <a:blipFill>
                  <a:blip r:embed="rId4"/>
                  <a:stretch>
                    <a:fillRect l="-5882" t="-9890" r="-1111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1" name="标题 1"/>
          <p:cNvSpPr>
            <a:spLocks noGrp="1"/>
          </p:cNvSpPr>
          <p:nvPr>
            <p:ph type="title"/>
          </p:nvPr>
        </p:nvSpPr>
        <p:spPr>
          <a:xfrm>
            <a:off x="122328" y="208487"/>
            <a:ext cx="6182318" cy="659595"/>
          </a:xfrm>
        </p:spPr>
        <p:txBody>
          <a:bodyPr/>
          <a:lstStyle/>
          <a:p>
            <a:r>
              <a:rPr kumimoji="1" lang="en-US" altLang="zh-CN" sz="3600" dirty="0" smtClean="0">
                <a:latin typeface="Vitesse"/>
              </a:rPr>
              <a:t>Residual Analysis</a:t>
            </a:r>
            <a:endParaRPr kumimoji="1" lang="zh-CN" altLang="en-US" sz="3600" dirty="0">
              <a:latin typeface="Vitesse"/>
            </a:endParaRPr>
          </a:p>
        </p:txBody>
      </p:sp>
    </p:spTree>
    <p:extLst>
      <p:ext uri="{BB962C8B-B14F-4D97-AF65-F5344CB8AC3E}">
        <p14:creationId xmlns:p14="http://schemas.microsoft.com/office/powerpoint/2010/main" val="21026445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6083" name="Text Box 3"/>
              <p:cNvSpPr txBox="1">
                <a:spLocks noChangeArrowheads="1"/>
              </p:cNvSpPr>
              <p:nvPr/>
            </p:nvSpPr>
            <p:spPr bwMode="auto">
              <a:xfrm>
                <a:off x="136456" y="1008681"/>
                <a:ext cx="8431074" cy="368870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en-US" b="1" dirty="0">
                    <a:latin typeface="Helvetica" panose="020B0604020202020204" pitchFamily="34" charset="0"/>
                    <a:ea typeface="Helvetica" charset="0"/>
                    <a:cs typeface="Helvetica" panose="020B0604020202020204" pitchFamily="34" charset="0"/>
                  </a:rPr>
                  <a:t>Residual plots:</a:t>
                </a:r>
              </a:p>
              <a:p>
                <a:pPr lvl="1" eaLnBrk="1" hangingPunct="1">
                  <a:spcBef>
                    <a:spcPct val="50000"/>
                  </a:spcBef>
                  <a:buFont typeface="Arial" charset="0"/>
                  <a:buChar char="•"/>
                </a:pPr>
                <a:r>
                  <a:rPr lang="en-US" altLang="en-US" dirty="0">
                    <a:latin typeface="Helvetica" panose="020B0604020202020204" pitchFamily="34" charset="0"/>
                    <a:ea typeface="Helvetica" charset="0"/>
                    <a:cs typeface="Helvetica" panose="020B0604020202020204" pitchFamily="34" charset="0"/>
                  </a:rPr>
                  <a:t> plot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KishoreFont Medium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kumimoji="1" lang="en-US" altLang="zh-CN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KishoreFont Medium" charset="0"/>
                              </a:rPr>
                            </m:ctrlPr>
                          </m:accPr>
                          <m:e>
                            <m:r>
                              <m:rPr>
                                <m:nor/>
                              </m:rPr>
                              <a:rPr kumimoji="1" lang="en-US" altLang="zh-CN">
                                <a:solidFill>
                                  <a:srgbClr val="000000"/>
                                </a:solidFill>
                                <a:latin typeface="Helvetica" panose="020B0604020202020204" pitchFamily="34" charset="0"/>
                                <a:ea typeface="Cambria Math" panose="02040503050406030204" pitchFamily="18" charset="0"/>
                                <a:cs typeface="Helvetica" panose="020B0604020202020204" pitchFamily="34" charset="0"/>
                              </a:rPr>
                              <m:t>ε</m:t>
                            </m:r>
                          </m:e>
                        </m:acc>
                      </m:e>
                      <m:sub>
                        <m:r>
                          <a:rPr kumimoji="1" lang="en-US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KishoreFont Medium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US" altLang="en-US" dirty="0">
                    <a:latin typeface="Helvetica" panose="020B0604020202020204" pitchFamily="34" charset="0"/>
                    <a:ea typeface="Helvetica" charset="0"/>
                    <a:cs typeface="Helvetica" panose="020B0604020202020204" pitchFamily="34" charset="0"/>
                  </a:rPr>
                  <a:t> for each treatment group</a:t>
                </a:r>
              </a:p>
              <a:p>
                <a:pPr lvl="1" eaLnBrk="1" hangingPunct="1">
                  <a:spcBef>
                    <a:spcPct val="50000"/>
                  </a:spcBef>
                  <a:buFont typeface="Arial" charset="0"/>
                  <a:buChar char="•"/>
                </a:pPr>
                <a:r>
                  <a:rPr lang="en-US" altLang="en-US" dirty="0">
                    <a:latin typeface="Helvetica" panose="020B0604020202020204" pitchFamily="34" charset="0"/>
                    <a:ea typeface="Helvetica" charset="0"/>
                    <a:cs typeface="Helvetica" panose="020B0604020202020204" pitchFamily="34" charset="0"/>
                  </a:rPr>
                  <a:t> plot the quantile-quantile normal plot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KishoreFont Medium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kumimoji="1" lang="en-US" altLang="zh-CN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KishoreFont Medium" charset="0"/>
                              </a:rPr>
                            </m:ctrlPr>
                          </m:accPr>
                          <m:e>
                            <m:r>
                              <m:rPr>
                                <m:nor/>
                              </m:rPr>
                              <a:rPr kumimoji="1" lang="en-US" altLang="zh-CN">
                                <a:solidFill>
                                  <a:srgbClr val="000000"/>
                                </a:solidFill>
                                <a:latin typeface="Helvetica" panose="020B0604020202020204" pitchFamily="34" charset="0"/>
                                <a:ea typeface="Cambria Math" panose="02040503050406030204" pitchFamily="18" charset="0"/>
                                <a:cs typeface="Helvetica" panose="020B0604020202020204" pitchFamily="34" charset="0"/>
                              </a:rPr>
                              <m:t>ε</m:t>
                            </m:r>
                          </m:e>
                        </m:acc>
                      </m:e>
                      <m:sub>
                        <m:r>
                          <a:rPr kumimoji="1" lang="en-US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KishoreFont Medium" charset="0"/>
                          </a:rPr>
                          <m:t>𝑖𝑗</m:t>
                        </m:r>
                      </m:sub>
                    </m:sSub>
                  </m:oMath>
                </a14:m>
                <a:endParaRPr lang="en-US" altLang="en-US" dirty="0">
                  <a:latin typeface="Helvetica" panose="020B0604020202020204" pitchFamily="34" charset="0"/>
                  <a:ea typeface="Helvetica" charset="0"/>
                  <a:cs typeface="Helvetica" panose="020B0604020202020204" pitchFamily="34" charset="0"/>
                </a:endParaRPr>
              </a:p>
              <a:p>
                <a:pPr lvl="1" eaLnBrk="1" hangingPunct="1">
                  <a:spcBef>
                    <a:spcPct val="50000"/>
                  </a:spcBef>
                  <a:buFont typeface="Arial" charset="0"/>
                  <a:buChar char="•"/>
                </a:pPr>
                <a:r>
                  <a:rPr lang="en-US" altLang="en-US" dirty="0">
                    <a:latin typeface="Helvetica" panose="020B0604020202020204" pitchFamily="34" charset="0"/>
                    <a:ea typeface="Helvetica" charset="0"/>
                    <a:cs typeface="Helvetica" panose="020B0604020202020204" pitchFamily="34" charset="0"/>
                  </a:rPr>
                  <a:t> plot the histogram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KishoreFont Medium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kumimoji="1" lang="en-US" altLang="zh-CN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KishoreFont Medium" charset="0"/>
                              </a:rPr>
                            </m:ctrlPr>
                          </m:accPr>
                          <m:e>
                            <m:r>
                              <m:rPr>
                                <m:nor/>
                              </m:rPr>
                              <a:rPr kumimoji="1" lang="en-US" altLang="zh-CN">
                                <a:solidFill>
                                  <a:srgbClr val="000000"/>
                                </a:solidFill>
                                <a:latin typeface="Helvetica" panose="020B0604020202020204" pitchFamily="34" charset="0"/>
                                <a:ea typeface="Cambria Math" panose="02040503050406030204" pitchFamily="18" charset="0"/>
                                <a:cs typeface="Helvetica" panose="020B0604020202020204" pitchFamily="34" charset="0"/>
                              </a:rPr>
                              <m:t>ε</m:t>
                            </m:r>
                          </m:e>
                        </m:acc>
                      </m:e>
                      <m:sub>
                        <m:r>
                          <a:rPr kumimoji="1" lang="en-US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KishoreFont Medium" charset="0"/>
                          </a:rPr>
                          <m:t>𝑖𝑗</m:t>
                        </m:r>
                      </m:sub>
                    </m:sSub>
                  </m:oMath>
                </a14:m>
                <a:endParaRPr lang="en-US" altLang="en-US" baseline="-25000" dirty="0">
                  <a:latin typeface="Helvetica" panose="020B0604020202020204" pitchFamily="34" charset="0"/>
                  <a:ea typeface="Helvetica" charset="0"/>
                  <a:cs typeface="Helvetica" panose="020B0604020202020204" pitchFamily="34" charset="0"/>
                </a:endParaRPr>
              </a:p>
              <a:p>
                <a:pPr eaLnBrk="1" hangingPunct="1">
                  <a:spcBef>
                    <a:spcPct val="50000"/>
                  </a:spcBef>
                </a:pPr>
                <a:r>
                  <a:rPr lang="en-US" altLang="en-US" b="1" dirty="0">
                    <a:latin typeface="Helvetica" panose="020B0604020202020204" pitchFamily="34" charset="0"/>
                    <a:ea typeface="Helvetica" charset="0"/>
                    <a:cs typeface="Helvetica" panose="020B0604020202020204" pitchFamily="34" charset="0"/>
                  </a:rPr>
                  <a:t>If the scatter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KishoreFont Medium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kumimoji="1" lang="en-US" altLang="zh-CN" b="1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KishoreFont Medium" charset="0"/>
                              </a:rPr>
                            </m:ctrlPr>
                          </m:accPr>
                          <m:e>
                            <m:r>
                              <m:rPr>
                                <m:nor/>
                              </m:rPr>
                              <a:rPr kumimoji="1" lang="en-US" altLang="zh-CN" b="1">
                                <a:solidFill>
                                  <a:srgbClr val="000000"/>
                                </a:solidFill>
                                <a:latin typeface="Helvetica" panose="020B0604020202020204" pitchFamily="34" charset="0"/>
                                <a:ea typeface="Cambria Math" panose="02040503050406030204" pitchFamily="18" charset="0"/>
                                <a:cs typeface="Helvetica" panose="020B0604020202020204" pitchFamily="34" charset="0"/>
                              </a:rPr>
                              <m:t>ε</m:t>
                            </m:r>
                          </m:e>
                        </m:acc>
                      </m:e>
                      <m:sub>
                        <m:r>
                          <a:rPr kumimoji="1" lang="en-US" altLang="zh-CN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KishoreFont Medium" charset="0"/>
                          </a:rPr>
                          <m:t>𝒊𝒋</m:t>
                        </m:r>
                      </m:sub>
                    </m:sSub>
                  </m:oMath>
                </a14:m>
                <a:r>
                  <a:rPr lang="en-US" altLang="en-US" b="1" dirty="0">
                    <a:latin typeface="Helvetica" panose="020B0604020202020204" pitchFamily="34" charset="0"/>
                    <a:ea typeface="Helvetica" charset="0"/>
                    <a:cs typeface="Helvetica" panose="020B0604020202020204" pitchFamily="34" charset="0"/>
                  </a:rPr>
                  <a:t> is </a:t>
                </a:r>
                <a:r>
                  <a:rPr lang="en-US" altLang="en-US" b="1" u="sng" dirty="0">
                    <a:latin typeface="Helvetica" panose="020B0604020202020204" pitchFamily="34" charset="0"/>
                    <a:ea typeface="Helvetica" charset="0"/>
                    <a:cs typeface="Helvetica" panose="020B0604020202020204" pitchFamily="34" charset="0"/>
                  </a:rPr>
                  <a:t>not random</a:t>
                </a:r>
                <a:r>
                  <a:rPr lang="en-US" altLang="en-US" b="1" dirty="0">
                    <a:latin typeface="Helvetica" panose="020B0604020202020204" pitchFamily="34" charset="0"/>
                    <a:ea typeface="Helvetica" charset="0"/>
                    <a:cs typeface="Helvetica" panose="020B0604020202020204" pitchFamily="34" charset="0"/>
                  </a:rPr>
                  <a:t>, it could be that:</a:t>
                </a:r>
              </a:p>
              <a:p>
                <a:pPr lvl="1" eaLnBrk="1" hangingPunct="1">
                  <a:spcBef>
                    <a:spcPct val="50000"/>
                  </a:spcBef>
                  <a:buFont typeface="Arial" charset="0"/>
                  <a:buChar char="•"/>
                </a:pPr>
                <a:r>
                  <a:rPr lang="en-US" altLang="en-US" dirty="0">
                    <a:latin typeface="Helvetica" panose="020B0604020202020204" pitchFamily="34" charset="0"/>
                    <a:ea typeface="Helvetica" charset="0"/>
                    <a:cs typeface="Helvetica" panose="020B0604020202020204" pitchFamily="34" charset="0"/>
                  </a:rPr>
                  <a:t> sample responses are not independent</a:t>
                </a:r>
              </a:p>
              <a:p>
                <a:pPr lvl="1" eaLnBrk="1" hangingPunct="1">
                  <a:spcBef>
                    <a:spcPct val="50000"/>
                  </a:spcBef>
                  <a:buFont typeface="Arial" charset="0"/>
                  <a:buChar char="•"/>
                </a:pPr>
                <a:r>
                  <a:rPr lang="en-US" altLang="en-US" dirty="0">
                    <a:latin typeface="Helvetica" panose="020B0604020202020204" pitchFamily="34" charset="0"/>
                    <a:ea typeface="Helvetica" charset="0"/>
                    <a:cs typeface="Helvetica" panose="020B0604020202020204" pitchFamily="34" charset="0"/>
                  </a:rPr>
                  <a:t> variances of responses are not equal</a:t>
                </a:r>
              </a:p>
              <a:p>
                <a:pPr eaLnBrk="1" hangingPunct="1">
                  <a:spcBef>
                    <a:spcPct val="50000"/>
                  </a:spcBef>
                </a:pPr>
                <a:r>
                  <a:rPr lang="en-US" altLang="en-US" b="1" dirty="0">
                    <a:latin typeface="Helvetica" panose="020B0604020202020204" pitchFamily="34" charset="0"/>
                    <a:ea typeface="Helvetica" charset="0"/>
                    <a:cs typeface="Helvetica" panose="020B0604020202020204" pitchFamily="34" charset="0"/>
                  </a:rPr>
                  <a:t>If the </a:t>
                </a:r>
                <a:r>
                  <a:rPr lang="en-US" altLang="en-US" b="1" dirty="0" err="1">
                    <a:latin typeface="Helvetica" panose="020B0604020202020204" pitchFamily="34" charset="0"/>
                    <a:ea typeface="Helvetica" charset="0"/>
                    <a:cs typeface="Helvetica" panose="020B0604020202020204" pitchFamily="34" charset="0"/>
                  </a:rPr>
                  <a:t>quantile-quantile</a:t>
                </a:r>
                <a:r>
                  <a:rPr lang="en-US" altLang="en-US" b="1" dirty="0">
                    <a:latin typeface="Helvetica" panose="020B0604020202020204" pitchFamily="34" charset="0"/>
                    <a:ea typeface="Helvetica" charset="0"/>
                    <a:cs typeface="Helvetica" panose="020B0604020202020204" pitchFamily="34" charset="0"/>
                  </a:rPr>
                  <a:t> normal plot and the histogram show departure from normality, you may consider a transformation. </a:t>
                </a:r>
              </a:p>
            </p:txBody>
          </p:sp>
        </mc:Choice>
        <mc:Fallback>
          <p:sp>
            <p:nvSpPr>
              <p:cNvPr id="46083" name="Text 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36456" y="1008681"/>
                <a:ext cx="8431074" cy="3688702"/>
              </a:xfrm>
              <a:prstGeom prst="rect">
                <a:avLst/>
              </a:prstGeom>
              <a:blipFill>
                <a:blip r:embed="rId2"/>
                <a:stretch>
                  <a:fillRect l="-578" t="-825" b="-1815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标题 1"/>
          <p:cNvSpPr>
            <a:spLocks noGrp="1"/>
          </p:cNvSpPr>
          <p:nvPr>
            <p:ph type="title"/>
          </p:nvPr>
        </p:nvSpPr>
        <p:spPr>
          <a:xfrm>
            <a:off x="122328" y="208487"/>
            <a:ext cx="6182318" cy="659595"/>
          </a:xfrm>
        </p:spPr>
        <p:txBody>
          <a:bodyPr/>
          <a:lstStyle/>
          <a:p>
            <a:r>
              <a:rPr kumimoji="1" lang="en-US" altLang="zh-CN" sz="3600" dirty="0" smtClean="0">
                <a:latin typeface="Vitesse"/>
              </a:rPr>
              <a:t>Residual Analysis</a:t>
            </a:r>
            <a:endParaRPr kumimoji="1" lang="zh-CN" altLang="en-US" sz="3600" dirty="0">
              <a:latin typeface="Vitesse"/>
            </a:endParaRPr>
          </a:p>
        </p:txBody>
      </p:sp>
    </p:spTree>
    <p:extLst>
      <p:ext uri="{BB962C8B-B14F-4D97-AF65-F5344CB8AC3E}">
        <p14:creationId xmlns:p14="http://schemas.microsoft.com/office/powerpoint/2010/main" val="32826842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230570" y="833744"/>
            <a:ext cx="6276474" cy="3442602"/>
            <a:chOff x="223946" y="668094"/>
            <a:chExt cx="6276474" cy="3442602"/>
          </a:xfrm>
        </p:grpSpPr>
        <p:grpSp>
          <p:nvGrpSpPr>
            <p:cNvPr id="5" name="Group 4"/>
            <p:cNvGrpSpPr/>
            <p:nvPr/>
          </p:nvGrpSpPr>
          <p:grpSpPr>
            <a:xfrm>
              <a:off x="223946" y="668094"/>
              <a:ext cx="5017294" cy="3442602"/>
              <a:chOff x="223946" y="668094"/>
              <a:chExt cx="5017294" cy="3442602"/>
            </a:xfrm>
          </p:grpSpPr>
          <p:graphicFrame>
            <p:nvGraphicFramePr>
              <p:cNvPr id="56322" name="Object 2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583984342"/>
                  </p:ext>
                </p:extLst>
              </p:nvPr>
            </p:nvGraphicFramePr>
            <p:xfrm>
              <a:off x="223946" y="668094"/>
              <a:ext cx="5017294" cy="344260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037" name="Mtb Graph" r:id="rId3" imgW="5086662" imgH="3382780" progId="MinitabGraph.Document">
                      <p:embed/>
                    </p:oleObj>
                  </mc:Choice>
                  <mc:Fallback>
                    <p:oleObj name="Mtb Graph" r:id="rId3" imgW="5086662" imgH="3382780" progId="MinitabGraph.Document">
                      <p:embed/>
                      <p:pic>
                        <p:nvPicPr>
                          <p:cNvPr id="56322" name="Object 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23946" y="668094"/>
                            <a:ext cx="5017294" cy="344260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blurRad="63500" dist="38099" dir="2700000" algn="ctr" rotWithShape="0">
                                    <a:schemeClr val="bg2">
                                      <a:alpha val="74997"/>
                                    </a:schemeClr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94212" name="AutoShape 4"/>
              <p:cNvSpPr>
                <a:spLocks noChangeArrowheads="1"/>
              </p:cNvSpPr>
              <p:nvPr/>
            </p:nvSpPr>
            <p:spPr bwMode="auto">
              <a:xfrm rot="5400000">
                <a:off x="1755198" y="896153"/>
                <a:ext cx="1889630" cy="2867025"/>
              </a:xfrm>
              <a:custGeom>
                <a:avLst/>
                <a:gdLst>
                  <a:gd name="T0" fmla="*/ 2147483646 w 21600"/>
                  <a:gd name="T1" fmla="*/ 2147483646 h 21600"/>
                  <a:gd name="T2" fmla="*/ 2147483646 w 21600"/>
                  <a:gd name="T3" fmla="*/ 2147483646 h 21600"/>
                  <a:gd name="T4" fmla="*/ 2147483646 w 21600"/>
                  <a:gd name="T5" fmla="*/ 2147483646 h 21600"/>
                  <a:gd name="T6" fmla="*/ 2147483646 w 21600"/>
                  <a:gd name="T7" fmla="*/ 0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4849 w 21600"/>
                  <a:gd name="T13" fmla="*/ 4849 h 21600"/>
                  <a:gd name="T14" fmla="*/ 16751 w 21600"/>
                  <a:gd name="T15" fmla="*/ 16751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0" y="0"/>
                    </a:moveTo>
                    <a:lnTo>
                      <a:pt x="6098" y="21600"/>
                    </a:lnTo>
                    <a:lnTo>
                      <a:pt x="15502" y="2160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>
                  <a:alpha val="50195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56325" name="Line 5"/>
            <p:cNvSpPr>
              <a:spLocks noChangeShapeType="1"/>
            </p:cNvSpPr>
            <p:nvPr/>
          </p:nvSpPr>
          <p:spPr bwMode="auto">
            <a:xfrm flipV="1">
              <a:off x="3869640" y="1213400"/>
              <a:ext cx="1028700" cy="3429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6326" name="Text Box 6"/>
            <p:cNvSpPr txBox="1">
              <a:spLocks noChangeArrowheads="1"/>
            </p:cNvSpPr>
            <p:nvPr/>
          </p:nvSpPr>
          <p:spPr bwMode="auto">
            <a:xfrm>
              <a:off x="4943584" y="1015757"/>
              <a:ext cx="1556836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charset="0"/>
                  <a:ea typeface="MS PGothic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charset="0"/>
                  <a:ea typeface="MS PGothic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charset="0"/>
                  <a:ea typeface="MS PGothic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charset="0"/>
                  <a:ea typeface="MS PGothic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charset="0"/>
                  <a:ea typeface="MS PGothic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charset="0"/>
                  <a:ea typeface="MS PGothic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charset="0"/>
                  <a:ea typeface="MS PGothic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charset="0"/>
                  <a:ea typeface="MS PGothic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charset="0"/>
                  <a:ea typeface="MS PGothic" charset="-128"/>
                </a:defRPr>
              </a:lvl9pPr>
            </a:lstStyle>
            <a:p>
              <a:pPr eaLnBrk="1" hangingPunct="1"/>
              <a:r>
                <a:rPr lang="en-US" altLang="en-US" dirty="0">
                  <a:latin typeface="Helvetica" charset="0"/>
                  <a:ea typeface="Helvetica" charset="0"/>
                  <a:cs typeface="Helvetica" charset="0"/>
                </a:rPr>
                <a:t>Non-constant</a:t>
              </a:r>
            </a:p>
            <a:p>
              <a:pPr eaLnBrk="1" hangingPunct="1"/>
              <a:r>
                <a:rPr lang="en-US" altLang="en-US" dirty="0">
                  <a:latin typeface="Helvetica" charset="0"/>
                  <a:ea typeface="Helvetica" charset="0"/>
                  <a:cs typeface="Helvetica" charset="0"/>
                </a:rPr>
                <a:t>variance</a:t>
              </a:r>
            </a:p>
          </p:txBody>
        </p:sp>
      </p:grpSp>
      <p:sp>
        <p:nvSpPr>
          <p:cNvPr id="10" name="标题 1"/>
          <p:cNvSpPr>
            <a:spLocks noGrp="1"/>
          </p:cNvSpPr>
          <p:nvPr>
            <p:ph type="title"/>
          </p:nvPr>
        </p:nvSpPr>
        <p:spPr>
          <a:xfrm>
            <a:off x="116577" y="210337"/>
            <a:ext cx="8562392" cy="677559"/>
          </a:xfrm>
        </p:spPr>
        <p:txBody>
          <a:bodyPr/>
          <a:lstStyle/>
          <a:p>
            <a:r>
              <a:rPr kumimoji="1" lang="en-US" altLang="zh-CN" sz="3600" dirty="0" smtClean="0">
                <a:latin typeface="Vitesse"/>
              </a:rPr>
              <a:t>Residual Plot Example 1</a:t>
            </a:r>
            <a:endParaRPr kumimoji="1" lang="zh-CN" altLang="en-US" sz="3600" dirty="0">
              <a:latin typeface="Vitesse"/>
            </a:endParaRPr>
          </a:p>
        </p:txBody>
      </p:sp>
    </p:spTree>
    <p:extLst>
      <p:ext uri="{BB962C8B-B14F-4D97-AF65-F5344CB8AC3E}">
        <p14:creationId xmlns:p14="http://schemas.microsoft.com/office/powerpoint/2010/main" val="27439974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689115" y="1182824"/>
            <a:ext cx="6392140" cy="2922864"/>
            <a:chOff x="2133600" y="1706286"/>
            <a:chExt cx="6392140" cy="2922864"/>
          </a:xfrm>
        </p:grpSpPr>
        <p:grpSp>
          <p:nvGrpSpPr>
            <p:cNvPr id="3" name="组 2"/>
            <p:cNvGrpSpPr/>
            <p:nvPr/>
          </p:nvGrpSpPr>
          <p:grpSpPr>
            <a:xfrm>
              <a:off x="2133600" y="1957048"/>
              <a:ext cx="4074956" cy="2672102"/>
              <a:chOff x="457200" y="1485900"/>
              <a:chExt cx="3486150" cy="2286000"/>
            </a:xfrm>
          </p:grpSpPr>
          <p:sp>
            <p:nvSpPr>
              <p:cNvPr id="58371" name="Rectangle 3"/>
              <p:cNvSpPr>
                <a:spLocks noChangeArrowheads="1"/>
              </p:cNvSpPr>
              <p:nvPr/>
            </p:nvSpPr>
            <p:spPr bwMode="auto">
              <a:xfrm>
                <a:off x="457200" y="1657350"/>
                <a:ext cx="3257550" cy="211455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9pPr>
              </a:lstStyle>
              <a:p>
                <a:pPr eaLnBrk="1" hangingPunct="1"/>
                <a:endParaRPr lang="en-US" altLang="en-US">
                  <a:latin typeface="Times New Roman" charset="0"/>
                </a:endParaRPr>
              </a:p>
            </p:txBody>
          </p:sp>
          <p:sp>
            <p:nvSpPr>
              <p:cNvPr id="58372" name="Oval 4"/>
              <p:cNvSpPr>
                <a:spLocks noChangeArrowheads="1"/>
              </p:cNvSpPr>
              <p:nvPr/>
            </p:nvSpPr>
            <p:spPr bwMode="auto">
              <a:xfrm>
                <a:off x="1143000" y="2686050"/>
                <a:ext cx="57150" cy="5715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9pPr>
              </a:lstStyle>
              <a:p>
                <a:pPr eaLnBrk="1" hangingPunct="1"/>
                <a:endParaRPr lang="en-US" altLang="en-US">
                  <a:latin typeface="Times New Roman" charset="0"/>
                </a:endParaRPr>
              </a:p>
            </p:txBody>
          </p:sp>
          <p:sp>
            <p:nvSpPr>
              <p:cNvPr id="58373" name="Oval 5"/>
              <p:cNvSpPr>
                <a:spLocks noChangeArrowheads="1"/>
              </p:cNvSpPr>
              <p:nvPr/>
            </p:nvSpPr>
            <p:spPr bwMode="auto">
              <a:xfrm>
                <a:off x="1143000" y="2800350"/>
                <a:ext cx="57150" cy="5715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9pPr>
              </a:lstStyle>
              <a:p>
                <a:pPr eaLnBrk="1" hangingPunct="1"/>
                <a:endParaRPr lang="en-US" altLang="en-US">
                  <a:latin typeface="Times New Roman" charset="0"/>
                </a:endParaRPr>
              </a:p>
            </p:txBody>
          </p:sp>
          <p:sp>
            <p:nvSpPr>
              <p:cNvPr id="58374" name="Oval 6"/>
              <p:cNvSpPr>
                <a:spLocks noChangeArrowheads="1"/>
              </p:cNvSpPr>
              <p:nvPr/>
            </p:nvSpPr>
            <p:spPr bwMode="auto">
              <a:xfrm>
                <a:off x="1143000" y="2914650"/>
                <a:ext cx="57150" cy="5715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9pPr>
              </a:lstStyle>
              <a:p>
                <a:pPr eaLnBrk="1" hangingPunct="1"/>
                <a:endParaRPr lang="en-US" altLang="en-US">
                  <a:latin typeface="Times New Roman" charset="0"/>
                </a:endParaRPr>
              </a:p>
            </p:txBody>
          </p:sp>
          <p:sp>
            <p:nvSpPr>
              <p:cNvPr id="58375" name="Oval 7"/>
              <p:cNvSpPr>
                <a:spLocks noChangeArrowheads="1"/>
              </p:cNvSpPr>
              <p:nvPr/>
            </p:nvSpPr>
            <p:spPr bwMode="auto">
              <a:xfrm>
                <a:off x="1143000" y="3028950"/>
                <a:ext cx="57150" cy="5715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9pPr>
              </a:lstStyle>
              <a:p>
                <a:pPr eaLnBrk="1" hangingPunct="1"/>
                <a:endParaRPr lang="en-US" altLang="en-US">
                  <a:latin typeface="Times New Roman" charset="0"/>
                </a:endParaRPr>
              </a:p>
            </p:txBody>
          </p:sp>
          <p:sp>
            <p:nvSpPr>
              <p:cNvPr id="58376" name="Oval 8"/>
              <p:cNvSpPr>
                <a:spLocks noChangeArrowheads="1"/>
              </p:cNvSpPr>
              <p:nvPr/>
            </p:nvSpPr>
            <p:spPr bwMode="auto">
              <a:xfrm>
                <a:off x="3028950" y="1828800"/>
                <a:ext cx="57150" cy="5715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9pPr>
              </a:lstStyle>
              <a:p>
                <a:pPr eaLnBrk="1" hangingPunct="1"/>
                <a:endParaRPr lang="en-US" altLang="en-US">
                  <a:latin typeface="Times New Roman" charset="0"/>
                </a:endParaRPr>
              </a:p>
            </p:txBody>
          </p:sp>
          <p:sp>
            <p:nvSpPr>
              <p:cNvPr id="58377" name="Oval 9"/>
              <p:cNvSpPr>
                <a:spLocks noChangeArrowheads="1"/>
              </p:cNvSpPr>
              <p:nvPr/>
            </p:nvSpPr>
            <p:spPr bwMode="auto">
              <a:xfrm>
                <a:off x="3028950" y="1943100"/>
                <a:ext cx="57150" cy="5715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9pPr>
              </a:lstStyle>
              <a:p>
                <a:pPr eaLnBrk="1" hangingPunct="1"/>
                <a:endParaRPr lang="en-US" altLang="en-US">
                  <a:latin typeface="Times New Roman" charset="0"/>
                </a:endParaRPr>
              </a:p>
            </p:txBody>
          </p:sp>
          <p:sp>
            <p:nvSpPr>
              <p:cNvPr id="58378" name="Oval 10"/>
              <p:cNvSpPr>
                <a:spLocks noChangeArrowheads="1"/>
              </p:cNvSpPr>
              <p:nvPr/>
            </p:nvSpPr>
            <p:spPr bwMode="auto">
              <a:xfrm>
                <a:off x="3028950" y="2057400"/>
                <a:ext cx="57150" cy="5715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9pPr>
              </a:lstStyle>
              <a:p>
                <a:pPr eaLnBrk="1" hangingPunct="1"/>
                <a:endParaRPr lang="en-US" altLang="en-US">
                  <a:latin typeface="Times New Roman" charset="0"/>
                </a:endParaRPr>
              </a:p>
            </p:txBody>
          </p:sp>
          <p:sp>
            <p:nvSpPr>
              <p:cNvPr id="58379" name="Oval 11"/>
              <p:cNvSpPr>
                <a:spLocks noChangeArrowheads="1"/>
              </p:cNvSpPr>
              <p:nvPr/>
            </p:nvSpPr>
            <p:spPr bwMode="auto">
              <a:xfrm>
                <a:off x="3028950" y="2171700"/>
                <a:ext cx="57150" cy="5715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9pPr>
              </a:lstStyle>
              <a:p>
                <a:pPr eaLnBrk="1" hangingPunct="1"/>
                <a:endParaRPr lang="en-US" altLang="en-US">
                  <a:latin typeface="Times New Roman" charset="0"/>
                </a:endParaRPr>
              </a:p>
            </p:txBody>
          </p:sp>
          <p:sp>
            <p:nvSpPr>
              <p:cNvPr id="58380" name="Oval 12"/>
              <p:cNvSpPr>
                <a:spLocks noChangeArrowheads="1"/>
              </p:cNvSpPr>
              <p:nvPr/>
            </p:nvSpPr>
            <p:spPr bwMode="auto">
              <a:xfrm>
                <a:off x="3028950" y="2286000"/>
                <a:ext cx="57150" cy="5715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9pPr>
              </a:lstStyle>
              <a:p>
                <a:pPr eaLnBrk="1" hangingPunct="1"/>
                <a:endParaRPr lang="en-US" altLang="en-US">
                  <a:latin typeface="Times New Roman" charset="0"/>
                </a:endParaRPr>
              </a:p>
            </p:txBody>
          </p:sp>
          <p:sp>
            <p:nvSpPr>
              <p:cNvPr id="58381" name="Oval 13"/>
              <p:cNvSpPr>
                <a:spLocks noChangeArrowheads="1"/>
              </p:cNvSpPr>
              <p:nvPr/>
            </p:nvSpPr>
            <p:spPr bwMode="auto">
              <a:xfrm>
                <a:off x="3028950" y="1714500"/>
                <a:ext cx="57150" cy="5715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9pPr>
              </a:lstStyle>
              <a:p>
                <a:pPr eaLnBrk="1" hangingPunct="1"/>
                <a:endParaRPr lang="en-US" altLang="en-US">
                  <a:latin typeface="Times New Roman" charset="0"/>
                </a:endParaRPr>
              </a:p>
            </p:txBody>
          </p:sp>
          <p:sp>
            <p:nvSpPr>
              <p:cNvPr id="58382" name="Oval 14"/>
              <p:cNvSpPr>
                <a:spLocks noChangeArrowheads="1"/>
              </p:cNvSpPr>
              <p:nvPr/>
            </p:nvSpPr>
            <p:spPr bwMode="auto">
              <a:xfrm>
                <a:off x="1885950" y="1828800"/>
                <a:ext cx="57150" cy="5715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9pPr>
              </a:lstStyle>
              <a:p>
                <a:pPr eaLnBrk="1" hangingPunct="1"/>
                <a:endParaRPr lang="en-US" altLang="en-US">
                  <a:latin typeface="Times New Roman" charset="0"/>
                </a:endParaRPr>
              </a:p>
            </p:txBody>
          </p:sp>
          <p:sp>
            <p:nvSpPr>
              <p:cNvPr id="58383" name="Oval 15"/>
              <p:cNvSpPr>
                <a:spLocks noChangeArrowheads="1"/>
              </p:cNvSpPr>
              <p:nvPr/>
            </p:nvSpPr>
            <p:spPr bwMode="auto">
              <a:xfrm>
                <a:off x="1885950" y="2171700"/>
                <a:ext cx="57150" cy="5715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9pPr>
              </a:lstStyle>
              <a:p>
                <a:pPr eaLnBrk="1" hangingPunct="1"/>
                <a:endParaRPr lang="en-US" altLang="en-US">
                  <a:latin typeface="Times New Roman" charset="0"/>
                </a:endParaRPr>
              </a:p>
            </p:txBody>
          </p:sp>
          <p:sp>
            <p:nvSpPr>
              <p:cNvPr id="58384" name="Oval 16"/>
              <p:cNvSpPr>
                <a:spLocks noChangeArrowheads="1"/>
              </p:cNvSpPr>
              <p:nvPr/>
            </p:nvSpPr>
            <p:spPr bwMode="auto">
              <a:xfrm>
                <a:off x="1885950" y="2743200"/>
                <a:ext cx="57150" cy="5715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9pPr>
              </a:lstStyle>
              <a:p>
                <a:pPr eaLnBrk="1" hangingPunct="1"/>
                <a:endParaRPr lang="en-US" altLang="en-US">
                  <a:latin typeface="Times New Roman" charset="0"/>
                </a:endParaRPr>
              </a:p>
            </p:txBody>
          </p:sp>
          <p:sp>
            <p:nvSpPr>
              <p:cNvPr id="58385" name="Oval 17"/>
              <p:cNvSpPr>
                <a:spLocks noChangeArrowheads="1"/>
              </p:cNvSpPr>
              <p:nvPr/>
            </p:nvSpPr>
            <p:spPr bwMode="auto">
              <a:xfrm>
                <a:off x="1885950" y="3086100"/>
                <a:ext cx="57150" cy="5715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9pPr>
              </a:lstStyle>
              <a:p>
                <a:pPr eaLnBrk="1" hangingPunct="1"/>
                <a:endParaRPr lang="en-US" altLang="en-US">
                  <a:latin typeface="Times New Roman" charset="0"/>
                </a:endParaRPr>
              </a:p>
            </p:txBody>
          </p:sp>
          <p:sp>
            <p:nvSpPr>
              <p:cNvPr id="58386" name="Oval 18"/>
              <p:cNvSpPr>
                <a:spLocks noChangeArrowheads="1"/>
              </p:cNvSpPr>
              <p:nvPr/>
            </p:nvSpPr>
            <p:spPr bwMode="auto">
              <a:xfrm>
                <a:off x="1885950" y="3371850"/>
                <a:ext cx="57150" cy="5715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9pPr>
              </a:lstStyle>
              <a:p>
                <a:pPr eaLnBrk="1" hangingPunct="1"/>
                <a:endParaRPr lang="en-US" altLang="en-US">
                  <a:latin typeface="Times New Roman" charset="0"/>
                </a:endParaRPr>
              </a:p>
            </p:txBody>
          </p:sp>
          <p:sp>
            <p:nvSpPr>
              <p:cNvPr id="53267" name="Line 19"/>
              <p:cNvSpPr>
                <a:spLocks noChangeShapeType="1"/>
              </p:cNvSpPr>
              <p:nvPr/>
            </p:nvSpPr>
            <p:spPr bwMode="auto">
              <a:xfrm flipV="1">
                <a:off x="1257300" y="1485900"/>
                <a:ext cx="2686050" cy="16002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53268" name="Line 20"/>
              <p:cNvSpPr>
                <a:spLocks noChangeShapeType="1"/>
              </p:cNvSpPr>
              <p:nvPr/>
            </p:nvSpPr>
            <p:spPr bwMode="auto">
              <a:xfrm flipV="1">
                <a:off x="3200400" y="1600200"/>
                <a:ext cx="685800" cy="62865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sp>
          <p:nvSpPr>
            <p:cNvPr id="53269" name="Text Box 21"/>
            <p:cNvSpPr txBox="1">
              <a:spLocks noChangeArrowheads="1"/>
            </p:cNvSpPr>
            <p:nvPr/>
          </p:nvSpPr>
          <p:spPr bwMode="auto">
            <a:xfrm>
              <a:off x="6186638" y="1706286"/>
              <a:ext cx="2339102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charset="0"/>
                  <a:ea typeface="MS PGothic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charset="0"/>
                  <a:ea typeface="MS PGothic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charset="0"/>
                  <a:ea typeface="MS PGothic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charset="0"/>
                  <a:ea typeface="MS PGothic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charset="0"/>
                  <a:ea typeface="MS PGothic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charset="0"/>
                  <a:ea typeface="MS PGothic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charset="0"/>
                  <a:ea typeface="MS PGothic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charset="0"/>
                  <a:ea typeface="MS PGothic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charset="0"/>
                  <a:ea typeface="MS PGothic" charset="-128"/>
                </a:defRPr>
              </a:lvl9pPr>
            </a:lstStyle>
            <a:p>
              <a:pPr eaLnBrk="1" hangingPunct="1"/>
              <a:r>
                <a:rPr lang="en-US" altLang="en-US" dirty="0">
                  <a:latin typeface="Helvetica" charset="0"/>
                  <a:ea typeface="Helvetica" charset="0"/>
                  <a:cs typeface="Helvetica" charset="0"/>
                </a:rPr>
                <a:t>Clusters of residuals:</a:t>
              </a:r>
            </a:p>
            <a:p>
              <a:pPr eaLnBrk="1" hangingPunct="1"/>
              <a:r>
                <a:rPr lang="en-US" altLang="en-US" dirty="0">
                  <a:latin typeface="Helvetica" charset="0"/>
                  <a:ea typeface="Helvetica" charset="0"/>
                  <a:cs typeface="Helvetica" charset="0"/>
                </a:rPr>
                <a:t>Correlated errors</a:t>
              </a:r>
            </a:p>
          </p:txBody>
        </p:sp>
      </p:grpSp>
      <p:sp>
        <p:nvSpPr>
          <p:cNvPr id="25" name="标题 1"/>
          <p:cNvSpPr>
            <a:spLocks noGrp="1"/>
          </p:cNvSpPr>
          <p:nvPr>
            <p:ph type="title"/>
          </p:nvPr>
        </p:nvSpPr>
        <p:spPr>
          <a:xfrm>
            <a:off x="142336" y="208380"/>
            <a:ext cx="8562392" cy="696275"/>
          </a:xfrm>
        </p:spPr>
        <p:txBody>
          <a:bodyPr/>
          <a:lstStyle/>
          <a:p>
            <a:r>
              <a:rPr kumimoji="1" lang="en-US" altLang="zh-CN" sz="3600" dirty="0" smtClean="0">
                <a:latin typeface="Vitesse"/>
              </a:rPr>
              <a:t>Residual Plot Example 2</a:t>
            </a:r>
            <a:endParaRPr kumimoji="1" lang="zh-CN" altLang="en-US" sz="3600" dirty="0">
              <a:latin typeface="Vitesse"/>
            </a:endParaRPr>
          </a:p>
        </p:txBody>
      </p:sp>
    </p:spTree>
    <p:extLst>
      <p:ext uri="{BB962C8B-B14F-4D97-AF65-F5344CB8AC3E}">
        <p14:creationId xmlns:p14="http://schemas.microsoft.com/office/powerpoint/2010/main" val="31836382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24"/>
          <p:cNvSpPr txBox="1">
            <a:spLocks noChangeArrowheads="1"/>
          </p:cNvSpPr>
          <p:nvPr/>
        </p:nvSpPr>
        <p:spPr bwMode="auto">
          <a:xfrm>
            <a:off x="698244" y="1280714"/>
            <a:ext cx="2937013" cy="646331"/>
          </a:xfrm>
          <a:prstGeom prst="rect">
            <a:avLst/>
          </a:prstGeom>
          <a:noFill/>
          <a:ln w="19050">
            <a:solidFill>
              <a:schemeClr val="tx2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2000" b="1">
                <a:solidFill>
                  <a:schemeClr val="accent1">
                    <a:lumMod val="50000"/>
                  </a:schemeClr>
                </a:solidFill>
                <a:latin typeface="Helvetica Neue" charset="0"/>
                <a:ea typeface="Helvetica Neue" charset="0"/>
                <a:cs typeface="Helvetica Neue" charset="0"/>
              </a:defRPr>
            </a:lvl1pPr>
          </a:lstStyle>
          <a:p>
            <a:pPr algn="l"/>
            <a:r>
              <a:rPr lang="en-US" altLang="en-US" sz="1800" b="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Is the ANOVA model a good fit?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43080" y="217168"/>
            <a:ext cx="8562392" cy="993775"/>
          </a:xfrm>
          <a:prstGeom prst="rect">
            <a:avLst/>
          </a:prstGeom>
        </p:spPr>
        <p:txBody>
          <a:bodyPr/>
          <a:lstStyle/>
          <a:p>
            <a:pPr algn="l"/>
            <a:r>
              <a:rPr kumimoji="1" lang="en-US" altLang="zh-CN" sz="3600" dirty="0">
                <a:latin typeface="Vitesse" charset="0"/>
                <a:ea typeface="Vitesse" charset="0"/>
                <a:cs typeface="Vitesse" charset="0"/>
              </a:rPr>
              <a:t>Example1: Global Suicide by Region</a:t>
            </a:r>
            <a:endParaRPr kumimoji="1" lang="zh-CN" altLang="en-US" sz="3600" dirty="0">
              <a:latin typeface="Vitesse" charset="0"/>
              <a:ea typeface="Vitesse" charset="0"/>
              <a:cs typeface="Vitesse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193" r="75823" b="1"/>
          <a:stretch/>
        </p:blipFill>
        <p:spPr>
          <a:xfrm>
            <a:off x="5254861" y="1241762"/>
            <a:ext cx="2680594" cy="2417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01443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">
            <a:extLst>
              <a:ext uri="{FF2B5EF4-FFF2-40B4-BE49-F238E27FC236}">
                <a16:creationId xmlns:a16="http://schemas.microsoft.com/office/drawing/2014/main" id="{DB318587-FFEB-4A76-95CA-3B154E234F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5230" y="1065159"/>
            <a:ext cx="8443738" cy="246221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altLang="en-US" sz="1600" dirty="0">
                <a:latin typeface="Helvetica" panose="020B0604020202020204" pitchFamily="34" charset="0"/>
                <a:cs typeface="Helvetica" panose="020B0604020202020204" pitchFamily="34" charset="0"/>
              </a:rPr>
              <a:t>## Discard groups with 1 observation</a:t>
            </a:r>
          </a:p>
          <a:p>
            <a:pPr lvl="0"/>
            <a:r>
              <a:rPr lang="en-US" altLang="en-US" sz="1600" i="1" dirty="0">
                <a:latin typeface="Helvetica" panose="020B0604020202020204" pitchFamily="34" charset="0"/>
                <a:cs typeface="Helvetica" panose="020B0604020202020204" pitchFamily="34" charset="0"/>
              </a:rPr>
              <a:t>region = </a:t>
            </a:r>
            <a:r>
              <a:rPr lang="en-US" altLang="en-US" sz="1600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suicide_data$region</a:t>
            </a:r>
            <a:endParaRPr lang="en-US" altLang="en-US" sz="1600" i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lvl="0"/>
            <a:r>
              <a:rPr lang="en-US" altLang="en-US" sz="1600" i="1" dirty="0">
                <a:latin typeface="Helvetica" panose="020B0604020202020204" pitchFamily="34" charset="0"/>
                <a:cs typeface="Helvetica" panose="020B0604020202020204" pitchFamily="34" charset="0"/>
              </a:rPr>
              <a:t>groups.1 = c(which(region=="NORTHERN AMERICA"),which(region=="WESTERN ASIA"))</a:t>
            </a:r>
          </a:p>
          <a:p>
            <a:pPr lvl="0"/>
            <a:r>
              <a:rPr lang="en-US" altLang="en-US" sz="1600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suicide_data</a:t>
            </a:r>
            <a:r>
              <a:rPr lang="en-US" altLang="en-US" sz="1600" i="1" dirty="0">
                <a:latin typeface="Helvetica" panose="020B0604020202020204" pitchFamily="34" charset="0"/>
                <a:cs typeface="Helvetica" panose="020B0604020202020204" pitchFamily="34" charset="0"/>
              </a:rPr>
              <a:t> = </a:t>
            </a:r>
            <a:r>
              <a:rPr lang="en-US" altLang="en-US" sz="1600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suicide_data</a:t>
            </a:r>
            <a:r>
              <a:rPr lang="en-US" altLang="en-US" sz="1600" i="1" dirty="0">
                <a:latin typeface="Helvetica" panose="020B0604020202020204" pitchFamily="34" charset="0"/>
                <a:cs typeface="Helvetica" panose="020B0604020202020204" pitchFamily="34" charset="0"/>
              </a:rPr>
              <a:t>[-groups.1,]</a:t>
            </a:r>
          </a:p>
          <a:p>
            <a:pPr lvl="0"/>
            <a:r>
              <a:rPr lang="en-US" altLang="en-US" sz="1600" i="1" dirty="0">
                <a:latin typeface="Helvetica" panose="020B0604020202020204" pitchFamily="34" charset="0"/>
                <a:cs typeface="Helvetica" panose="020B0604020202020204" pitchFamily="34" charset="0"/>
              </a:rPr>
              <a:t>model.1 = </a:t>
            </a:r>
            <a:r>
              <a:rPr lang="en-US" altLang="en-US" sz="1600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aov</a:t>
            </a:r>
            <a:r>
              <a:rPr lang="en-US" altLang="en-US" sz="1600" i="1" dirty="0">
                <a:latin typeface="Helvetica" panose="020B0604020202020204" pitchFamily="34" charset="0"/>
                <a:cs typeface="Helvetica" panose="020B0604020202020204" pitchFamily="34" charset="0"/>
              </a:rPr>
              <a:t>(suicidesper100k ~ region, data=</a:t>
            </a:r>
            <a:r>
              <a:rPr lang="en-US" altLang="en-US" sz="1600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suicide_data</a:t>
            </a:r>
            <a:r>
              <a:rPr lang="en-US" altLang="en-US" sz="1600" i="1" dirty="0">
                <a:latin typeface="Helvetica" panose="020B0604020202020204" pitchFamily="34" charset="0"/>
                <a:cs typeface="Helvetica" panose="020B0604020202020204" pitchFamily="34" charset="0"/>
              </a:rPr>
              <a:t>)</a:t>
            </a:r>
          </a:p>
          <a:p>
            <a:pPr lvl="0"/>
            <a:endParaRPr lang="en-US" altLang="en-US" sz="16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lvl="0"/>
            <a:r>
              <a:rPr lang="en-US" altLang="en-US" sz="1600" dirty="0">
                <a:latin typeface="Helvetica" panose="020B0604020202020204" pitchFamily="34" charset="0"/>
                <a:cs typeface="Helvetica" panose="020B0604020202020204" pitchFamily="34" charset="0"/>
              </a:rPr>
              <a:t>## Diagnostic plots</a:t>
            </a:r>
          </a:p>
          <a:p>
            <a:pPr lvl="0"/>
            <a:r>
              <a:rPr lang="en-US" altLang="en-US" sz="1600" i="1" dirty="0">
                <a:latin typeface="Helvetica" panose="020B0604020202020204" pitchFamily="34" charset="0"/>
                <a:cs typeface="Helvetica" panose="020B0604020202020204" pitchFamily="34" charset="0"/>
              </a:rPr>
              <a:t>plot(model.1)</a:t>
            </a:r>
          </a:p>
          <a:p>
            <a:pPr lvl="0"/>
            <a:r>
              <a:rPr lang="en-US" altLang="en-US" sz="1600" i="1" dirty="0">
                <a:latin typeface="Helvetica" panose="020B0604020202020204" pitchFamily="34" charset="0"/>
                <a:cs typeface="Helvetica" panose="020B0604020202020204" pitchFamily="34" charset="0"/>
              </a:rPr>
              <a:t>resid.model.1=residuals(model.1)</a:t>
            </a:r>
            <a:endParaRPr kumimoji="0" lang="en-US" altLang="en-US" sz="1600" b="0" i="1" u="none" strike="noStrike" cap="none" normalizeH="0" baseline="0" dirty="0">
              <a:ln>
                <a:noFill/>
              </a:ln>
              <a:effectLst/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effectLst/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6" name="标题 1"/>
          <p:cNvSpPr>
            <a:spLocks noGrp="1"/>
          </p:cNvSpPr>
          <p:nvPr>
            <p:ph type="title"/>
          </p:nvPr>
        </p:nvSpPr>
        <p:spPr>
          <a:xfrm>
            <a:off x="122328" y="208487"/>
            <a:ext cx="6182318" cy="659595"/>
          </a:xfrm>
        </p:spPr>
        <p:txBody>
          <a:bodyPr/>
          <a:lstStyle/>
          <a:p>
            <a:r>
              <a:rPr kumimoji="1" lang="en-US" altLang="zh-CN" sz="3600" dirty="0" smtClean="0">
                <a:latin typeface="Vitesse"/>
              </a:rPr>
              <a:t>Residual Analysis</a:t>
            </a:r>
            <a:endParaRPr kumimoji="1" lang="zh-CN" altLang="en-US" sz="3600" dirty="0">
              <a:latin typeface="Vitesse"/>
            </a:endParaRPr>
          </a:p>
        </p:txBody>
      </p:sp>
    </p:spTree>
    <p:extLst>
      <p:ext uri="{BB962C8B-B14F-4D97-AF65-F5344CB8AC3E}">
        <p14:creationId xmlns:p14="http://schemas.microsoft.com/office/powerpoint/2010/main" val="19221837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9D3D1B5-7EFC-41D7-8B9A-BE7C94F5915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4049" r="1880"/>
          <a:stretch/>
        </p:blipFill>
        <p:spPr>
          <a:xfrm>
            <a:off x="639410" y="1066805"/>
            <a:ext cx="2640503" cy="311002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9BBDED2-FF6E-4A4F-A6B6-84DAC708012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4135" r="2720"/>
          <a:stretch/>
        </p:blipFill>
        <p:spPr>
          <a:xfrm>
            <a:off x="3561200" y="1080056"/>
            <a:ext cx="2594436" cy="307909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B3F22DA-0198-48B2-97B9-AA51DB693F27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21489" r="12437" b="4599"/>
          <a:stretch/>
        </p:blipFill>
        <p:spPr>
          <a:xfrm>
            <a:off x="6155636" y="1198308"/>
            <a:ext cx="2523332" cy="2863849"/>
          </a:xfrm>
          <a:prstGeom prst="rect">
            <a:avLst/>
          </a:prstGeom>
        </p:spPr>
      </p:pic>
      <p:sp>
        <p:nvSpPr>
          <p:cNvPr id="7" name="标题 4"/>
          <p:cNvSpPr txBox="1">
            <a:spLocks/>
          </p:cNvSpPr>
          <p:nvPr/>
        </p:nvSpPr>
        <p:spPr>
          <a:xfrm>
            <a:off x="116576" y="211418"/>
            <a:ext cx="8562392" cy="649974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kumimoji="1" lang="en-US" altLang="zh-CN" sz="3600" dirty="0">
                <a:latin typeface="Vitesse"/>
              </a:rPr>
              <a:t>Residual Analysis</a:t>
            </a:r>
          </a:p>
        </p:txBody>
      </p:sp>
    </p:spTree>
    <p:extLst>
      <p:ext uri="{BB962C8B-B14F-4D97-AF65-F5344CB8AC3E}">
        <p14:creationId xmlns:p14="http://schemas.microsoft.com/office/powerpoint/2010/main" val="24917672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130156" y="212228"/>
            <a:ext cx="4727575" cy="748555"/>
          </a:xfrm>
        </p:spPr>
        <p:txBody>
          <a:bodyPr>
            <a:normAutofit/>
          </a:bodyPr>
          <a:lstStyle/>
          <a:p>
            <a:pPr>
              <a:spcBef>
                <a:spcPct val="0"/>
              </a:spcBef>
            </a:pPr>
            <a:r>
              <a:rPr lang="en-US" sz="3600" dirty="0">
                <a:latin typeface="Vitesse" charset="0"/>
                <a:ea typeface="Vitesse" charset="0"/>
                <a:cs typeface="Vitesse" charset="0"/>
              </a:rPr>
              <a:t>Summary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59" t="6607" r="13881" b="7744"/>
          <a:stretch/>
        </p:blipFill>
        <p:spPr>
          <a:xfrm>
            <a:off x="1161904" y="1285661"/>
            <a:ext cx="2201521" cy="2406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288935"/>
      </p:ext>
    </p:extLst>
  </p:cSld>
  <p:clrMapOvr>
    <a:masterClrMapping/>
  </p:clrMapOvr>
</p:sld>
</file>

<file path=ppt/theme/theme1.xml><?xml version="1.0" encoding="utf-8"?>
<a:theme xmlns:a="http://schemas.openxmlformats.org/drawingml/2006/main" name="1_Half Page Slash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lIns="91440" tIns="45720" rIns="91440" bIns="45720" rtlCol="0">
        <a:normAutofit/>
      </a:bodyPr>
      <a:lstStyle>
        <a:defPPr algn="l">
          <a:lnSpc>
            <a:spcPts val="1200"/>
          </a:lnSpc>
          <a:defRPr sz="1200" dirty="0" smtClean="0">
            <a:solidFill>
              <a:srgbClr val="000000"/>
            </a:solidFill>
            <a:latin typeface="Helvetica"/>
            <a:cs typeface="Helvetica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Half Page Slash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lIns="91440" tIns="45720" rIns="91440" bIns="45720" rtlCol="0">
        <a:normAutofit/>
      </a:bodyPr>
      <a:lstStyle>
        <a:defPPr algn="l">
          <a:lnSpc>
            <a:spcPts val="1200"/>
          </a:lnSpc>
          <a:defRPr sz="1200" dirty="0" smtClean="0">
            <a:solidFill>
              <a:srgbClr val="000000"/>
            </a:solidFill>
            <a:latin typeface="Helvetica"/>
            <a:cs typeface="Helvetica"/>
          </a:defRPr>
        </a:defPPr>
      </a:lstStyle>
    </a:txDef>
  </a:objectDefaults>
  <a:extraClrSchemeLst/>
</a:theme>
</file>

<file path=ppt/theme/theme3.xml><?xml version="1.0" encoding="utf-8"?>
<a:theme xmlns:a="http://schemas.openxmlformats.org/drawingml/2006/main" name="Full Page Layout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PublishingExpirationDate xmlns="http://schemas.microsoft.com/sharepoint/v3" xsi:nil="true"/>
    <PublishingStartDate xmlns="http://schemas.microsoft.com/sharepoint/v3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16D43FDACDF02458C96071D7628C880" ma:contentTypeVersion="4" ma:contentTypeDescription="Create a new document." ma:contentTypeScope="" ma:versionID="93db545676783a71a92c456b471b0a8b">
  <xsd:schema xmlns:xsd="http://www.w3.org/2001/XMLSchema" xmlns:xs="http://www.w3.org/2001/XMLSchema" xmlns:p="http://schemas.microsoft.com/office/2006/metadata/properties" xmlns:ns1="http://schemas.microsoft.com/sharepoint/v3" xmlns:ns2="b057fda7-913b-4ab6-8820-932873bcd66c" targetNamespace="http://schemas.microsoft.com/office/2006/metadata/properties" ma:root="true" ma:fieldsID="1e1586ca1b53aa448b4e9fddfe24baf2" ns1:_="" ns2:_="">
    <xsd:import namespace="http://schemas.microsoft.com/sharepoint/v3"/>
    <xsd:import namespace="b057fda7-913b-4ab6-8820-932873bcd66c"/>
    <xsd:element name="properties">
      <xsd:complexType>
        <xsd:sequence>
          <xsd:element name="documentManagement">
            <xsd:complexType>
              <xsd:all>
                <xsd:element ref="ns1:PublishingStartDate" minOccurs="0"/>
                <xsd:element ref="ns1:PublishingExpirationDate" minOccurs="0"/>
                <xsd:element ref="ns2:SharedWithUsers" minOccurs="0"/>
                <xsd:element ref="ns2:SharingHintHash" minOccurs="0"/>
                <xsd:element ref="ns2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PublishingStartDate" ma:index="8" nillable="true" ma:displayName="Scheduling Start Date" ma:description="Scheduling Start Date is a site column created by the Publishing feature. It is used to specify the date and time on which this page will first appear to site visitors." ma:internalName="PublishingStartDate">
      <xsd:simpleType>
        <xsd:restriction base="dms:Unknown"/>
      </xsd:simpleType>
    </xsd:element>
    <xsd:element name="PublishingExpirationDate" ma:index="9" nillable="true" ma:displayName="Scheduling End Date" ma:description="Scheduling End Date is a site column created by the Publishing feature. It is used to specify the date and time on which this page will no longer appear to site visitors." ma:internalName="PublishingExpirationDat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057fda7-913b-4ab6-8820-932873bcd66c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ingHintHash" ma:index="11" nillable="true" ma:displayName="Sharing Hint Hash" ma:internalName="SharingHintHash" ma:readOnly="true">
      <xsd:simpleType>
        <xsd:restriction base="dms:Text"/>
      </xsd:simple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0B8D62D-BE99-40AF-BF97-BFAE812B12CE}">
  <ds:schemaRefs>
    <ds:schemaRef ds:uri="http://purl.org/dc/elements/1.1/"/>
    <ds:schemaRef ds:uri="http://purl.org/dc/dcmitype/"/>
    <ds:schemaRef ds:uri="http://schemas.microsoft.com/office/infopath/2007/PartnerControls"/>
    <ds:schemaRef ds:uri="http://schemas.microsoft.com/office/2006/documentManagement/types"/>
    <ds:schemaRef ds:uri="http://schemas.microsoft.com/office/2006/metadata/properties"/>
    <ds:schemaRef ds:uri="b057fda7-913b-4ab6-8820-932873bcd66c"/>
    <ds:schemaRef ds:uri="http://schemas.openxmlformats.org/package/2006/metadata/core-properties"/>
    <ds:schemaRef ds:uri="http://schemas.microsoft.com/sharepoint/v3"/>
    <ds:schemaRef ds:uri="http://www.w3.org/XML/1998/namespace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F28EF043-B0E6-49AE-B312-D395614284A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066AAC9-B2D0-46BD-87E7-92BBFA7E106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b057fda7-913b-4ab6-8820-932873bcd66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1204</TotalTime>
  <Words>158</Words>
  <Application>Microsoft Office PowerPoint</Application>
  <PresentationFormat>On-screen Show (16:9)</PresentationFormat>
  <Paragraphs>54</Paragraphs>
  <Slides>11</Slides>
  <Notes>4</Notes>
  <HiddenSlides>0</HiddenSlides>
  <MMClips>0</MMClips>
  <ScaleCrop>false</ScaleCrop>
  <HeadingPairs>
    <vt:vector size="8" baseType="variant">
      <vt:variant>
        <vt:lpstr>Fonts Used</vt:lpstr>
      </vt:variant>
      <vt:variant>
        <vt:i4>14</vt:i4>
      </vt:variant>
      <vt:variant>
        <vt:lpstr>Theme</vt:lpstr>
      </vt:variant>
      <vt:variant>
        <vt:i4>3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9" baseType="lpstr">
      <vt:lpstr>MS PGothic</vt:lpstr>
      <vt:lpstr>宋体</vt:lpstr>
      <vt:lpstr>Arial</vt:lpstr>
      <vt:lpstr>Calibri</vt:lpstr>
      <vt:lpstr>Cambria Math</vt:lpstr>
      <vt:lpstr>DengXian</vt:lpstr>
      <vt:lpstr>Helvetica</vt:lpstr>
      <vt:lpstr>Helvetica Neue</vt:lpstr>
      <vt:lpstr>KishoreFont Medium</vt:lpstr>
      <vt:lpstr>Times New Roman</vt:lpstr>
      <vt:lpstr>Vitesse</vt:lpstr>
      <vt:lpstr>Vitesse Bold</vt:lpstr>
      <vt:lpstr>Vitesse Book</vt:lpstr>
      <vt:lpstr>Vitesse Medium</vt:lpstr>
      <vt:lpstr>1_Half Page Slash</vt:lpstr>
      <vt:lpstr>Half Page Slash</vt:lpstr>
      <vt:lpstr>Full Page Layout</vt:lpstr>
      <vt:lpstr>Mtb Graph</vt:lpstr>
      <vt:lpstr>PowerPoint Presentation</vt:lpstr>
      <vt:lpstr>PowerPoint Presentation</vt:lpstr>
      <vt:lpstr>ANOVA: Model &amp; Assumptions</vt:lpstr>
      <vt:lpstr>Residual Analysis</vt:lpstr>
      <vt:lpstr>Residual Analysis</vt:lpstr>
      <vt:lpstr>Residual Plot Example 1</vt:lpstr>
      <vt:lpstr>Residual Plot Example 2</vt:lpstr>
      <vt:lpstr>Example1: Global Suicide by Region</vt:lpstr>
      <vt:lpstr>Residual Analysis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Richard Levine</dc:creator>
  <cp:lastModifiedBy>Rodriguez, Ramon S</cp:lastModifiedBy>
  <cp:revision>201</cp:revision>
  <dcterms:modified xsi:type="dcterms:W3CDTF">2020-02-11T20:45:58Z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0x010100E16D43FDACDF02458C96071D7628C880</vt:lpwstr>
  </property>
</Properties>
</file>