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7" r:id="rId2"/>
    <p:sldMasterId id="2147483668" r:id="rId3"/>
  </p:sldMasterIdLst>
  <p:notesMasterIdLst>
    <p:notesMasterId r:id="rId15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 showGuides="1">
      <p:cViewPr varScale="1">
        <p:scale>
          <a:sx n="40" d="100"/>
          <a:sy n="40" d="100"/>
        </p:scale>
        <p:origin x="792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CB88D-7C79-4879-8D62-658DDF219176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51333-B545-488A-98EC-1D0DFAD5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2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EECBB-1D44-1F42-BFAD-28C72C6003D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62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FEECBB-1D44-1F42-BFAD-28C72C6003D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9493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FEECBB-1D44-1F42-BFAD-28C72C6003D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0971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FEECBB-1D44-1F42-BFAD-28C72C6003D7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080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42561" y="1895022"/>
            <a:ext cx="6303433" cy="177376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428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6185"/>
            <a:ext cx="7361255" cy="1325033"/>
          </a:xfrm>
          <a:prstGeom prst="rect">
            <a:avLst/>
          </a:prstGeom>
        </p:spPr>
        <p:txBody>
          <a:bodyPr/>
          <a:lstStyle>
            <a:lvl1pPr algn="l">
              <a:defRPr lang="en-US" sz="5867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838199" y="1915585"/>
            <a:ext cx="5833907" cy="3992033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466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202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80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72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42561" y="1895022"/>
            <a:ext cx="6303433" cy="1773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147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6465" y="366238"/>
            <a:ext cx="11416523" cy="1325033"/>
          </a:xfrm>
          <a:prstGeom prst="rect">
            <a:avLst/>
          </a:prstGeom>
        </p:spPr>
        <p:txBody>
          <a:bodyPr/>
          <a:lstStyle>
            <a:lvl1pPr algn="l">
              <a:defRPr lang="en-US" sz="4267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0477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336466" y="1691271"/>
            <a:ext cx="11040221" cy="4693223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24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24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2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24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6466" y="366238"/>
            <a:ext cx="11040221" cy="1325033"/>
          </a:xfrm>
          <a:prstGeom prst="rect">
            <a:avLst/>
          </a:prstGeom>
        </p:spPr>
        <p:txBody>
          <a:bodyPr/>
          <a:lstStyle>
            <a:lvl1pPr algn="l">
              <a:defRPr lang="en-US" sz="4267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153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336463" y="1691271"/>
            <a:ext cx="11266004" cy="4381500"/>
          </a:xfrm>
          <a:prstGeom prst="rect">
            <a:avLst/>
          </a:prstGeom>
        </p:spPr>
        <p:txBody>
          <a:bodyPr/>
          <a:lstStyle>
            <a:lvl1pPr marL="380990" indent="-380990">
              <a:buFont typeface="Arial"/>
              <a:buChar char="•"/>
              <a:defRPr sz="2667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2400" dirty="0"/>
              <a:t>of the printing and typesetting industry. </a:t>
            </a:r>
            <a:r>
              <a:rPr lang="en-US" sz="2400" dirty="0" err="1"/>
              <a:t>Lorem</a:t>
            </a:r>
            <a:r>
              <a:rPr lang="en-US" sz="2400" dirty="0"/>
              <a:t> </a:t>
            </a:r>
            <a:r>
              <a:rPr lang="en-US" sz="2400" dirty="0" err="1"/>
              <a:t>Ipsum</a:t>
            </a:r>
            <a:r>
              <a:rPr lang="en-US" sz="24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24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6465" y="366238"/>
            <a:ext cx="11266004" cy="1325033"/>
          </a:xfrm>
          <a:prstGeom prst="rect">
            <a:avLst/>
          </a:prstGeom>
        </p:spPr>
        <p:txBody>
          <a:bodyPr/>
          <a:lstStyle>
            <a:lvl1pPr algn="l">
              <a:defRPr lang="en-US" sz="4267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21056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311385" y="1480100"/>
            <a:ext cx="4793703" cy="4816592"/>
          </a:xfrm>
          <a:prstGeom prst="rect">
            <a:avLst/>
          </a:prstGeom>
        </p:spPr>
        <p:txBody>
          <a:bodyPr/>
          <a:lstStyle>
            <a:lvl1pPr marL="380990" indent="-380990">
              <a:buFont typeface="Arial"/>
              <a:buChar char="•"/>
              <a:defRPr sz="2667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24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5105087" y="1480100"/>
            <a:ext cx="6597728" cy="48165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36465" y="366238"/>
            <a:ext cx="10914793" cy="1325033"/>
          </a:xfrm>
          <a:prstGeom prst="rect">
            <a:avLst/>
          </a:prstGeom>
        </p:spPr>
        <p:txBody>
          <a:bodyPr/>
          <a:lstStyle>
            <a:lvl1pPr algn="l">
              <a:defRPr lang="en-US" sz="4267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3714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336465" y="1691271"/>
            <a:ext cx="10814443" cy="47524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6465" y="366238"/>
            <a:ext cx="10914793" cy="1325033"/>
          </a:xfrm>
          <a:prstGeom prst="rect">
            <a:avLst/>
          </a:prstGeom>
        </p:spPr>
        <p:txBody>
          <a:bodyPr/>
          <a:lstStyle>
            <a:lvl1pPr algn="l">
              <a:defRPr lang="en-US" sz="4267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9268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465" y="366240"/>
            <a:ext cx="8243091" cy="1325033"/>
          </a:xfrm>
          <a:prstGeom prst="rect">
            <a:avLst/>
          </a:prstGeom>
        </p:spPr>
        <p:txBody>
          <a:bodyPr/>
          <a:lstStyle>
            <a:lvl1pPr algn="l">
              <a:defRPr lang="en-US" sz="5333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4837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0" r:id="rId6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" y="1"/>
            <a:ext cx="12190196" cy="6858916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0973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" y="1"/>
            <a:ext cx="12190196" cy="6858916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979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</p:sldLayoutIdLst>
  <p:txStyles>
    <p:titleStyle>
      <a:lvl1pPr algn="l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Font typeface="Arial"/>
        <a:buNone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57276" y="305144"/>
            <a:ext cx="7589017" cy="95046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48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57275" y="987159"/>
            <a:ext cx="7348453" cy="7229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3200" dirty="0"/>
              <a:t>Analysis of Variance</a:t>
            </a:r>
            <a:endParaRPr kumimoji="1" lang="zh-CN" altLang="en-US" sz="3200" dirty="0"/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57277" y="2691129"/>
            <a:ext cx="5740121" cy="576892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/>
          </a:p>
          <a:p>
            <a:r>
              <a:rPr lang="en-US" sz="3200" dirty="0" err="1"/>
              <a:t>Nicoleta</a:t>
            </a:r>
            <a:r>
              <a:rPr lang="en-US" sz="3200" dirty="0"/>
              <a:t> </a:t>
            </a:r>
            <a:r>
              <a:rPr lang="en-US" sz="3200" dirty="0" err="1"/>
              <a:t>Serban</a:t>
            </a:r>
            <a:r>
              <a:rPr lang="en-US" sz="3200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4734" y="3168449"/>
            <a:ext cx="5740121" cy="33904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33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74945" y="5420330"/>
            <a:ext cx="5740121" cy="117081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667" dirty="0"/>
              <a:t>ANOVA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R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Example</a:t>
            </a:r>
            <a:endParaRPr kumimoji="1" lang="zh-CN" altLang="en-US" sz="2667" dirty="0"/>
          </a:p>
          <a:p>
            <a:endParaRPr lang="en-US" sz="2667" dirty="0">
              <a:latin typeface="Helvetica" panose="020B0604020202020204" pitchFamily="34" charset="0"/>
              <a:ea typeface="Vitesse" charset="0"/>
              <a:cs typeface="Helvetica" panose="020B0604020202020204" pitchFamily="34" charset="0"/>
            </a:endParaRP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57276" y="3548889"/>
            <a:ext cx="5740121" cy="42967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5908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650045" y="1714215"/>
            <a:ext cx="2759243" cy="3492595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140" y="287761"/>
            <a:ext cx="6303433" cy="975608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408004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7245239" y="2751891"/>
            <a:ext cx="3930763" cy="152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09585"/>
            <a:r>
              <a:rPr lang="en-US" altLang="en-US" sz="1333" b="1" dirty="0">
                <a:solidFill>
                  <a:prstClr val="black"/>
                </a:solidFill>
                <a:latin typeface="Helvetica" charset="0"/>
                <a:ea typeface="Helvetica" charset="0"/>
                <a:cs typeface="Helvetica" charset="0"/>
              </a:rPr>
              <a:t>Reference:</a:t>
            </a:r>
          </a:p>
          <a:p>
            <a:pPr defTabSz="609585"/>
            <a:r>
              <a:rPr lang="en-US" sz="1333" dirty="0">
                <a:solidFill>
                  <a:prstClr val="black"/>
                </a:solidFill>
                <a:latin typeface="Helvetica" charset="0"/>
                <a:ea typeface="Helvetica" charset="0"/>
                <a:cs typeface="Helvetica" charset="0"/>
              </a:rPr>
              <a:t>Cameron, E. and Pauling, L. (1978) Supplemental ascorbate in the supportive treatment of cancer: re-evaluation of prolongation of survival times in terminal human cancer. Proceedings of the National Academy of Science USA, 75, 4538-4542.</a:t>
            </a:r>
            <a:endParaRPr lang="en-US" altLang="en-US" sz="1333" dirty="0">
              <a:solidFill>
                <a:prstClr val="black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4497">
            <a:off x="1033672" y="1844418"/>
            <a:ext cx="5136507" cy="34243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182980" y="277284"/>
            <a:ext cx="10914793" cy="1325033"/>
          </a:xfrm>
          <a:prstGeom prst="rect">
            <a:avLst/>
          </a:prstGeom>
        </p:spPr>
        <p:txBody>
          <a:bodyPr/>
          <a:lstStyle>
            <a:lvl1pPr algn="l" defTabSz="457189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defTabSz="609570"/>
            <a:r>
              <a:rPr lang="en-US" altLang="zh-CN" sz="4800" dirty="0">
                <a:solidFill>
                  <a:prstClr val="black"/>
                </a:solidFill>
                <a:latin typeface="Vitesse"/>
                <a:ea typeface="宋体" panose="02010600030101010101" pitchFamily="2" charset="-122"/>
              </a:rPr>
              <a:t>Cancer Survival</a:t>
            </a:r>
            <a:endParaRPr lang="en-US" sz="4800" dirty="0">
              <a:solidFill>
                <a:prstClr val="black"/>
              </a:solidFill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3803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220675" y="1343156"/>
            <a:ext cx="58753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Response Variable:</a:t>
            </a:r>
          </a:p>
          <a:p>
            <a:r>
              <a:rPr lang="en-US" altLang="en-US" sz="2400" dirty="0" err="1">
                <a:latin typeface="Helvetica" charset="0"/>
                <a:ea typeface="Helvetica" charset="0"/>
                <a:cs typeface="Helvetica" charset="0"/>
              </a:rPr>
              <a:t>Y</a:t>
            </a:r>
            <a:r>
              <a:rPr lang="en-US" altLang="en-US" sz="2400" baseline="-25000" dirty="0" err="1">
                <a:latin typeface="Helvetica" charset="0"/>
                <a:ea typeface="Helvetica" charset="0"/>
                <a:cs typeface="Helvetica" charset="0"/>
              </a:rPr>
              <a:t>ij</a:t>
            </a:r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= The number of survival days for the </a:t>
            </a:r>
            <a:r>
              <a:rPr lang="en-US" altLang="en-US" sz="2400" dirty="0" err="1">
                <a:latin typeface="Helvetica" charset="0"/>
                <a:ea typeface="Helvetica" charset="0"/>
                <a:cs typeface="Helvetica" charset="0"/>
              </a:rPr>
              <a:t>j</a:t>
            </a:r>
            <a:r>
              <a:rPr lang="en-US" altLang="en-US" sz="2400" baseline="30000" dirty="0" err="1">
                <a:latin typeface="Helvetica" charset="0"/>
                <a:ea typeface="Helvetica" charset="0"/>
                <a:cs typeface="Helvetica" charset="0"/>
              </a:rPr>
              <a:t>th</a:t>
            </a:r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 patient with </a:t>
            </a:r>
            <a:r>
              <a:rPr lang="en-US" altLang="en-US" sz="2400" dirty="0" err="1">
                <a:latin typeface="Helvetica" charset="0"/>
                <a:ea typeface="Helvetica" charset="0"/>
                <a:cs typeface="Helvetica" charset="0"/>
              </a:rPr>
              <a:t>i</a:t>
            </a:r>
            <a:r>
              <a:rPr lang="en-US" altLang="en-US" sz="2400" baseline="30000" dirty="0" err="1">
                <a:latin typeface="Helvetica" charset="0"/>
                <a:ea typeface="Helvetica" charset="0"/>
                <a:cs typeface="Helvetica" charset="0"/>
              </a:rPr>
              <a:t>th</a:t>
            </a:r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 type of cancer </a:t>
            </a:r>
          </a:p>
          <a:p>
            <a:endParaRPr lang="en-US" altLang="en-US" sz="2400" dirty="0"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Categories: </a:t>
            </a:r>
          </a:p>
          <a:p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Cancer type </a:t>
            </a:r>
            <a:r>
              <a:rPr lang="en-US" altLang="en-US" sz="2400" dirty="0" err="1">
                <a:latin typeface="Helvetica" charset="0"/>
                <a:ea typeface="Helvetica" charset="0"/>
                <a:cs typeface="Helvetica" charset="0"/>
              </a:rPr>
              <a:t>i</a:t>
            </a:r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 for </a:t>
            </a:r>
            <a:r>
              <a:rPr lang="en-US" altLang="en-US" sz="2400" dirty="0" err="1">
                <a:latin typeface="Helvetica" charset="0"/>
                <a:ea typeface="Helvetica" charset="0"/>
                <a:cs typeface="Helvetica" charset="0"/>
              </a:rPr>
              <a:t>i</a:t>
            </a:r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 = 1,2,3,4,5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723" y="1438222"/>
            <a:ext cx="4342979" cy="4308564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20675" y="277284"/>
            <a:ext cx="11416523" cy="915413"/>
          </a:xfrm>
        </p:spPr>
        <p:txBody>
          <a:bodyPr/>
          <a:lstStyle/>
          <a:p>
            <a:r>
              <a:rPr kumimoji="1" lang="en-US" altLang="zh-CN" sz="4800" dirty="0">
                <a:latin typeface="Vitesse"/>
              </a:rPr>
              <a:t>ANOVA Example Data</a:t>
            </a:r>
            <a:endParaRPr kumimoji="1" lang="zh-CN" altLang="en-US" sz="48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72989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62379" y="274933"/>
            <a:ext cx="114165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4800" dirty="0">
                <a:latin typeface="Vitesse" charset="0"/>
                <a:ea typeface="Vitesse" charset="0"/>
                <a:cs typeface="Vitesse" charset="0"/>
              </a:rPr>
              <a:t>Exploratory Data Analysis in 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3955246"/>
            <a:ext cx="3242503" cy="25789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31" y="3937529"/>
            <a:ext cx="3506973" cy="2639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5DE5E-C825-4124-AB37-A3724BE75BD1}"/>
              </a:ext>
            </a:extLst>
          </p:cNvPr>
          <p:cNvSpPr txBox="1"/>
          <p:nvPr/>
        </p:nvSpPr>
        <p:spPr>
          <a:xfrm>
            <a:off x="200998" y="1460906"/>
            <a:ext cx="101035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Read data with '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read.table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' R command for reading ASCII files</a:t>
            </a:r>
          </a:p>
          <a:p>
            <a:pPr fontAlgn="t"/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cancer_data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read.table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("CancerStudy.txt", header=T) 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Response Variable </a:t>
            </a:r>
          </a:p>
          <a:p>
            <a:pPr fontAlgn="t"/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survival =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cancer_data$Survival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fontAlgn="t"/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Explore the shape of the distribution of the response variable </a:t>
            </a:r>
          </a:p>
          <a:p>
            <a:pPr fontAlgn="t"/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hist(survival,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="",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="Number of Survival Days", main="",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nclass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=15) </a:t>
            </a:r>
          </a:p>
          <a:p>
            <a:pPr defTabSz="609570" fontAlgn="t"/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defTabSz="609570"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Transform due to skewness of the distribution</a:t>
            </a:r>
          </a:p>
          <a:p>
            <a:pPr defTabSz="609570" fontAlgn="t"/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hist(log(survival),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="",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="Number of Survival Days", main="",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nclass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=15)</a:t>
            </a:r>
          </a:p>
        </p:txBody>
      </p:sp>
    </p:spTree>
    <p:extLst>
      <p:ext uri="{BB962C8B-B14F-4D97-AF65-F5344CB8AC3E}">
        <p14:creationId xmlns:p14="http://schemas.microsoft.com/office/powerpoint/2010/main" val="411205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216" y="284099"/>
            <a:ext cx="4881297" cy="948124"/>
          </a:xfrm>
        </p:spPr>
        <p:txBody>
          <a:bodyPr/>
          <a:lstStyle/>
          <a:p>
            <a:r>
              <a:rPr kumimoji="1" lang="en-US" altLang="zh-CN" sz="4800" dirty="0">
                <a:latin typeface="Vitesse" charset="0"/>
                <a:ea typeface="Vitesse" charset="0"/>
                <a:cs typeface="Vitesse" charset="0"/>
              </a:rPr>
              <a:t>ANOVA</a:t>
            </a:r>
            <a:r>
              <a:rPr kumimoji="1" lang="zh-CN" altLang="en-US" sz="4800" dirty="0">
                <a:latin typeface="Vitesse" charset="0"/>
                <a:ea typeface="Vitesse" charset="0"/>
                <a:cs typeface="Vitesse" charset="0"/>
              </a:rPr>
              <a:t> </a:t>
            </a:r>
            <a:r>
              <a:rPr kumimoji="1" lang="en-US" altLang="zh-CN" sz="4800" dirty="0">
                <a:latin typeface="Vitesse" charset="0"/>
                <a:ea typeface="Vitesse" charset="0"/>
                <a:cs typeface="Vitesse" charset="0"/>
              </a:rPr>
              <a:t>in</a:t>
            </a:r>
            <a:r>
              <a:rPr kumimoji="1" lang="zh-CN" altLang="en-US" sz="4800" dirty="0">
                <a:latin typeface="Vitesse" charset="0"/>
                <a:ea typeface="Vitesse" charset="0"/>
                <a:cs typeface="Vitesse" charset="0"/>
              </a:rPr>
              <a:t> </a:t>
            </a:r>
            <a:r>
              <a:rPr kumimoji="1" lang="en-US" altLang="zh-CN" sz="4800" dirty="0">
                <a:latin typeface="Vitesse" charset="0"/>
                <a:ea typeface="Vitesse" charset="0"/>
                <a:cs typeface="Vitesse" charset="0"/>
              </a:rPr>
              <a:t>R</a:t>
            </a:r>
            <a:endParaRPr kumimoji="1" lang="zh-CN" altLang="en-US" sz="4800" dirty="0">
              <a:latin typeface="Vitesse" charset="0"/>
              <a:ea typeface="Vitesse" charset="0"/>
              <a:cs typeface="Vitesse" charset="0"/>
            </a:endParaRPr>
          </a:p>
        </p:txBody>
      </p:sp>
      <p:pic>
        <p:nvPicPr>
          <p:cNvPr id="4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41" y="3366053"/>
            <a:ext cx="4171520" cy="3118543"/>
          </a:xfrm>
          <a:prstGeom prst="rect">
            <a:avLst/>
          </a:prstGeom>
        </p:spPr>
      </p:pic>
      <p:sp>
        <p:nvSpPr>
          <p:cNvPr id="5" name="TextBox 12"/>
          <p:cNvSpPr txBox="1"/>
          <p:nvPr/>
        </p:nvSpPr>
        <p:spPr>
          <a:xfrm>
            <a:off x="7366001" y="3430801"/>
            <a:ext cx="4287079" cy="239091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800" kern="100">
                <a:latin typeface="Helvetica Neue"/>
                <a:ea typeface="KishoreFont Medium" charset="0"/>
                <a:cs typeface="KishoreFont Medium" charset="0"/>
              </a:defRPr>
            </a:lvl1pPr>
          </a:lstStyle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 b="1" dirty="0">
                <a:latin typeface="Helvetica" panose="020B0604020202020204" pitchFamily="34" charset="0"/>
                <a:cs typeface="Helvetica" panose="020B0604020202020204" pitchFamily="34" charset="0"/>
              </a:rPr>
              <a:t>Within-variability</a:t>
            </a:r>
            <a:r>
              <a:rPr lang="en-US" sz="1867" dirty="0">
                <a:latin typeface="Helvetica" panose="020B0604020202020204" pitchFamily="34" charset="0"/>
                <a:cs typeface="Helvetica" panose="020B0604020202020204" pitchFamily="34" charset="0"/>
              </a:rPr>
              <a:t> – some groups have higher variability than others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 b="1" dirty="0">
                <a:latin typeface="Helvetica" panose="020B0604020202020204" pitchFamily="34" charset="0"/>
                <a:cs typeface="Helvetica" panose="020B0604020202020204" pitchFamily="34" charset="0"/>
              </a:rPr>
              <a:t>Between-variability</a:t>
            </a:r>
            <a:r>
              <a:rPr lang="en-US" sz="1867" dirty="0">
                <a:latin typeface="Helvetica" panose="020B0604020202020204" pitchFamily="34" charset="0"/>
                <a:cs typeface="Helvetica" panose="020B0604020202020204" pitchFamily="34" charset="0"/>
              </a:rPr>
              <a:t> – there is some variability between the means of the five groups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 i="1" dirty="0">
                <a:latin typeface="Helvetica" panose="020B0604020202020204" pitchFamily="34" charset="0"/>
                <a:cs typeface="Helvetica" panose="020B0604020202020204" pitchFamily="34" charset="0"/>
              </a:rPr>
              <a:t>Is the between-variability significantly larger than the within-variability?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162062E-5273-454D-9B1F-A7D4F194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1" y="1506673"/>
            <a:ext cx="11422041" cy="147732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Need to specify Response &amp; Categorical Variables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survival = log(survival)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cancertype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cancer_data$Organ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Convert into categorical variable in R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cancertype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as.factor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cancertype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boxplot(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survival~cancertype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= "Cancer Type", 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= "Log(Number of Survival Days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)")….</a:t>
            </a:r>
            <a:endParaRPr lang="en-US" altLang="en-US" sz="16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71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89A6E6-0901-4ABA-BCB2-72DC6A88A311}"/>
              </a:ext>
            </a:extLst>
          </p:cNvPr>
          <p:cNvSpPr/>
          <p:nvPr/>
        </p:nvSpPr>
        <p:spPr>
          <a:xfrm>
            <a:off x="200241" y="1469005"/>
            <a:ext cx="1094113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ANOVA in R: Is the between-variability significantly larger than within-variability </a:t>
            </a:r>
          </a:p>
          <a:p>
            <a:pPr fontAlgn="t"/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model =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(survival ~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cancertype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summary(model)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	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Df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	Sum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Sq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	Mean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Sq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	F value  	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Pr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(&gt;F) </a:t>
            </a:r>
          </a:p>
          <a:p>
            <a:pPr fontAlgn="t"/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cancertype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	4  	24.49   	6.122   	4.286 		0.00412 ** 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Residuals   	59  	84.27   	1.428 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--- </a:t>
            </a:r>
          </a:p>
          <a:p>
            <a:pPr fontAlgn="t"/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. codes:  0 ‘***’ 0.001 ‘**’ 0.01 ‘*’ 0.05 ‘.’ 0.1 ‘ ’ 1 </a:t>
            </a:r>
          </a:p>
          <a:p>
            <a:pPr fontAlgn="t"/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Obtain estimated means </a:t>
            </a:r>
          </a:p>
          <a:p>
            <a:pPr fontAlgn="t"/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model.tables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(model, type="means") 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Tables of means 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Grand mean </a:t>
            </a:r>
          </a:p>
          <a:p>
            <a:pPr fontAlgn="t"/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5.555785 </a:t>
            </a:r>
          </a:p>
          <a:p>
            <a:pPr fontAlgn="t"/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fontAlgn="t"/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cancertype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	Breast 	Bronchus  	Colon 		Ovary 		Stomach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 	6.559    	4.953  	5.749 		6.151   	4.968 </a:t>
            </a:r>
          </a:p>
          <a:p>
            <a:pPr fontAlgn="t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rep 	11.000   	17.000 	17.000 	6.000  	13.000 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91407" y="286119"/>
            <a:ext cx="11416523" cy="933083"/>
          </a:xfrm>
        </p:spPr>
        <p:txBody>
          <a:bodyPr/>
          <a:lstStyle/>
          <a:p>
            <a:r>
              <a:rPr kumimoji="1" lang="en-US" altLang="zh-CN" sz="4800" dirty="0">
                <a:latin typeface="Vitesse"/>
              </a:rPr>
              <a:t>ANOVA in R (cont’d</a:t>
            </a:r>
            <a:r>
              <a:rPr kumimoji="1" lang="en-US" altLang="zh-CN" sz="4800" dirty="0">
                <a:latin typeface="Vitesse"/>
              </a:rPr>
              <a:t>)</a:t>
            </a:r>
            <a:endParaRPr kumimoji="1" lang="zh-CN" altLang="en-US" sz="48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88782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84F6AB-2194-4F16-B1DB-596580D54AA7}"/>
              </a:ext>
            </a:extLst>
          </p:cNvPr>
          <p:cNvSpPr/>
          <p:nvPr/>
        </p:nvSpPr>
        <p:spPr>
          <a:xfrm>
            <a:off x="179817" y="1436876"/>
            <a:ext cx="1055410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Which means are statistically significantly different? Pairwise Comparison </a:t>
            </a:r>
          </a:p>
          <a:p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TukeyHSD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Tukey multiple comparisons of means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95% family-wise confidence level </a:t>
            </a:r>
          </a:p>
          <a:p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Fit: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(formula = survival ~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cancertype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</a:p>
          <a:p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$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cancertype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	diff       	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    	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 		p adj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Bronchus-Breast  	-1.60543320 	-2.906741 	-0.3041254 	0.0083352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Colon-Breast     	-0.80948110 	-2.110789  	0.4918267 	0.4119156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Ovary-Breast     	-0.40798703 	-2.114754  	1.2987803 	0.9615409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Stomach-Breast   	-1.59068365 	-2.968399 	-0.2129685 	0.0158132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Colon-Bronchus   	0.79595210 	-0.357534  	1.9494382 	0.3072938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Ovary-Bronchus    	1.19744617 	-0.399483  	2.7943753 	0.2296079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Stomach-Bronchus  0.01474955 	-1.224293  	1.2537924 	0.9999997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Ovary-Colon       	0.40149407 	-1.195435  	1.9984232 	0.9540004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Stomach-Colon    	-0.78120255 	-2.020245  	0.4578403 	0.3981146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Stomach-Ovary    	-1.18269662 	-2.842480  	0.4770864 	0.2763506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9"/>
              <p:cNvSpPr txBox="1"/>
              <p:nvPr/>
            </p:nvSpPr>
            <p:spPr>
              <a:xfrm>
                <a:off x="7214316" y="3297400"/>
                <a:ext cx="3305813" cy="9543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800" kern="100">
                    <a:latin typeface="Helvetica Neue"/>
                    <a:ea typeface="KishoreFont Medium" charset="0"/>
                    <a:cs typeface="KishoreFont Medium" charset="0"/>
                  </a:defRPr>
                </a:lvl1pPr>
              </a:lstStyle>
              <a:p>
                <a:r>
                  <a:rPr lang="en-US" sz="1867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Statistically significant: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867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67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1867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67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867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67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67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𝐵𝑟𝑜𝑛𝑐h𝑢𝑠</m:t>
                              </m:r>
                            </m:sub>
                          </m:sSub>
                          <m:r>
                            <a:rPr lang="en-US" sz="1867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867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m:rPr>
                              <m:sty m:val="p"/>
                            </m:rPr>
                            <a:rPr lang="en-US" sz="1867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18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67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1867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67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1867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𝐵𝑟𝑒𝑎𝑠𝑡</m:t>
                          </m:r>
                        </m:sub>
                      </m:sSub>
                      <m:r>
                        <a:rPr lang="en-US" sz="1867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867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en-US" sz="1867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6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867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67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sz="1867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67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1867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67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sz="1867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𝑆𝑡𝑜𝑚𝑎𝑐h</m:t>
                            </m:r>
                          </m:sub>
                        </m:sSub>
                        <m:r>
                          <a:rPr lang="en-US" sz="1867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1867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sz="1867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sz="186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867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sz="1867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67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867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𝐵𝑟𝑒𝑎𝑠𝑡</m:t>
                        </m:r>
                      </m:sub>
                    </m:sSub>
                    <m:r>
                      <a:rPr lang="en-US" sz="1867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67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      </a:t>
                </a:r>
              </a:p>
            </p:txBody>
          </p:sp>
        </mc:Choice>
        <mc:Fallback>
          <p:sp>
            <p:nvSpPr>
              <p:cNvPr id="4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316" y="3297400"/>
                <a:ext cx="3305813" cy="954300"/>
              </a:xfrm>
              <a:prstGeom prst="rect">
                <a:avLst/>
              </a:prstGeom>
              <a:blipFill>
                <a:blip r:embed="rId3"/>
                <a:stretch>
                  <a:fillRect l="-1465" t="-2516" r="-16117" b="-5031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ECC1D8-00A7-4C75-9C03-733C361DC87C}"/>
              </a:ext>
            </a:extLst>
          </p:cNvPr>
          <p:cNvCxnSpPr>
            <a:cxnSpLocks/>
          </p:cNvCxnSpPr>
          <p:nvPr/>
        </p:nvCxnSpPr>
        <p:spPr>
          <a:xfrm flipV="1">
            <a:off x="6812364" y="3808890"/>
            <a:ext cx="536579" cy="77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97F3A8-3B24-4579-BF98-D301432EE440}"/>
              </a:ext>
            </a:extLst>
          </p:cNvPr>
          <p:cNvCxnSpPr>
            <a:cxnSpLocks/>
          </p:cNvCxnSpPr>
          <p:nvPr/>
        </p:nvCxnSpPr>
        <p:spPr>
          <a:xfrm flipV="1">
            <a:off x="6812365" y="4138773"/>
            <a:ext cx="523879" cy="39687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79816" y="270889"/>
            <a:ext cx="11416523" cy="800767"/>
          </a:xfrm>
        </p:spPr>
        <p:txBody>
          <a:bodyPr/>
          <a:lstStyle/>
          <a:p>
            <a:r>
              <a:rPr kumimoji="1" lang="en-US" altLang="zh-CN" sz="4800" dirty="0">
                <a:latin typeface="Vitesse"/>
              </a:rPr>
              <a:t>Pairwise Comparison in R</a:t>
            </a:r>
            <a:endParaRPr kumimoji="1" lang="zh-CN" altLang="en-US" sz="48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56292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/>
          <p:nvPr/>
        </p:nvSpPr>
        <p:spPr>
          <a:xfrm>
            <a:off x="304800" y="4146427"/>
            <a:ext cx="5130800" cy="22163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243840" bIns="243840" rtlCol="0">
            <a:spAutoFit/>
          </a:bodyPr>
          <a:lstStyle>
            <a:defPPr>
              <a:defRPr lang="zh-CN"/>
            </a:defPPr>
            <a:lvl1pPr>
              <a:defRPr sz="1800" kern="100">
                <a:latin typeface="Helvetica Neue"/>
                <a:ea typeface="KishoreFont Medium" charset="0"/>
                <a:cs typeface="KishoreFont Medium" charset="0"/>
              </a:defRPr>
            </a:lvl1pPr>
          </a:lstStyle>
          <a:p>
            <a:pPr marL="380990" indent="-380990">
              <a:buFont typeface="Arial" charset="0"/>
              <a:buChar char="•"/>
            </a:pPr>
            <a:r>
              <a:rPr lang="en-US" sz="1867" dirty="0">
                <a:latin typeface="Helvetica" panose="020B0604020202020204" pitchFamily="34" charset="0"/>
                <a:cs typeface="Helvetica" panose="020B0604020202020204" pitchFamily="34" charset="0"/>
              </a:rPr>
              <a:t>The quantiles align on the line and the histogram is approx. symmetric thus normality assumption holds</a:t>
            </a:r>
          </a:p>
          <a:p>
            <a:pPr marL="380990" indent="-380990">
              <a:buFont typeface="Arial" charset="0"/>
              <a:buChar char="•"/>
            </a:pPr>
            <a:r>
              <a:rPr lang="en-US" sz="1867" dirty="0">
                <a:latin typeface="Helvetica" panose="020B0604020202020204" pitchFamily="34" charset="0"/>
                <a:cs typeface="Helvetica" panose="020B0604020202020204" pitchFamily="34" charset="0"/>
              </a:rPr>
              <a:t>Residuals are scattered around zero line with no pattern thus both the constant variance and uncorrelated errors hold</a:t>
            </a: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701" y="1539068"/>
            <a:ext cx="4621191" cy="38589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12EE33-3CD2-46B3-8EA2-884B798AAB77}"/>
              </a:ext>
            </a:extLst>
          </p:cNvPr>
          <p:cNvSpPr/>
          <p:nvPr/>
        </p:nvSpPr>
        <p:spPr>
          <a:xfrm>
            <a:off x="189950" y="1451671"/>
            <a:ext cx="66311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par(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mfrow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=c(2,2))</a:t>
            </a:r>
          </a:p>
          <a:p>
            <a:pPr fontAlgn="t"/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qqnorm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(residuals(model))</a:t>
            </a:r>
          </a:p>
          <a:p>
            <a:pPr fontAlgn="t"/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qqline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(residuals(model))</a:t>
            </a:r>
          </a:p>
          <a:p>
            <a:pPr fontAlgn="t"/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hist(residuals(model), main="Histogram of residuals",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="Residuals")</a:t>
            </a:r>
          </a:p>
          <a:p>
            <a:pPr fontAlgn="t"/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plot(residuals(model),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="Order",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="Residuals")</a:t>
            </a:r>
          </a:p>
          <a:p>
            <a:pPr fontAlgn="t"/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abline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(0, 0,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lty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=1, col="red")</a:t>
            </a:r>
          </a:p>
          <a:p>
            <a:pPr fontAlgn="t"/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plot(fitted(model), residuals(model),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="Fitted values",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="Residuals")</a:t>
            </a:r>
          </a:p>
          <a:p>
            <a:pPr fontAlgn="t"/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abline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(0, 0,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lty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=1, col="red") 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60119" y="285835"/>
            <a:ext cx="11416523" cy="879579"/>
          </a:xfrm>
        </p:spPr>
        <p:txBody>
          <a:bodyPr/>
          <a:lstStyle/>
          <a:p>
            <a:r>
              <a:rPr kumimoji="1" lang="en-US" altLang="zh-CN" sz="4800" dirty="0">
                <a:latin typeface="Vitesse"/>
              </a:rPr>
              <a:t>Residual Analysis in R</a:t>
            </a:r>
            <a:endParaRPr kumimoji="1" lang="zh-CN" altLang="en-US" sz="48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18366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172997" y="1343892"/>
            <a:ext cx="964573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There is strong evidence for the difference in the survival time across the five different types of cancer;</a:t>
            </a:r>
          </a:p>
          <a:p>
            <a:endParaRPr lang="en-US" alt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Helvetica" charset="0"/>
                <a:ea typeface="Helvetica" charset="0"/>
                <a:cs typeface="Helvetica" charset="0"/>
              </a:rPr>
              <a:t>Survival time: Breast cancer vs. 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Bronchus or Stomach cancer. 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0233" y="277283"/>
            <a:ext cx="8243091" cy="923988"/>
          </a:xfrm>
        </p:spPr>
        <p:txBody>
          <a:bodyPr/>
          <a:lstStyle/>
          <a:p>
            <a:r>
              <a:rPr kumimoji="1" lang="en-US" altLang="zh-CN" sz="4800" dirty="0">
                <a:latin typeface="Vitesse"/>
              </a:rPr>
              <a:t>Cancer Survival: Findings</a:t>
            </a:r>
            <a:endParaRPr kumimoji="1" lang="zh-CN" altLang="en-US" sz="48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972333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73542" y="282971"/>
            <a:ext cx="6303433" cy="1059916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549206" y="1714215"/>
            <a:ext cx="2935361" cy="32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67838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468</Words>
  <Application>Microsoft Office PowerPoint</Application>
  <PresentationFormat>Widescreen</PresentationFormat>
  <Paragraphs>102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宋体</vt:lpstr>
      <vt:lpstr>Arial</vt:lpstr>
      <vt:lpstr>Calibri</vt:lpstr>
      <vt:lpstr>Cambria Math</vt:lpstr>
      <vt:lpstr>等线</vt:lpstr>
      <vt:lpstr>Helvetica</vt:lpstr>
      <vt:lpstr>KishoreFont Medium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PowerPoint Presentation</vt:lpstr>
      <vt:lpstr>ANOVA Example Data</vt:lpstr>
      <vt:lpstr>Exploratory Data Analysis in R</vt:lpstr>
      <vt:lpstr>ANOVA in R</vt:lpstr>
      <vt:lpstr>ANOVA in R (cont’d)</vt:lpstr>
      <vt:lpstr>Pairwise Comparison in R</vt:lpstr>
      <vt:lpstr>Residual Analysis in R</vt:lpstr>
      <vt:lpstr>Cancer Survival: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Rodriguez, Ramon S</dc:creator>
  <cp:lastModifiedBy>Rodriguez, Ramon S</cp:lastModifiedBy>
  <cp:revision>9</cp:revision>
  <dcterms:created xsi:type="dcterms:W3CDTF">2020-04-16T16:09:05Z</dcterms:created>
  <dcterms:modified xsi:type="dcterms:W3CDTF">2020-04-16T16:18:03Z</dcterms:modified>
</cp:coreProperties>
</file>