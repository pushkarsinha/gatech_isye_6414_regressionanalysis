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tags/tag11.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2.xml" ContentType="application/vnd.openxmlformats-officedocument.presentationml.notesSlide+xml"/>
  <Override PartName="/ppt/tags/tag31.xml" ContentType="application/vnd.openxmlformats-officedocument.presentationml.tags+xml"/>
  <Override PartName="/ppt/notesSlides/notesSlide3.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4.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5.xml" ContentType="application/vnd.openxmlformats-officedocument.presentationml.notesSlide+xml"/>
  <Override PartName="/ppt/tags/tag37.xml" ContentType="application/vnd.openxmlformats-officedocument.presentationml.tags+xml"/>
  <Override PartName="/ppt/notesSlides/notesSlide6.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9" r:id="rId4"/>
    <p:sldMasterId id="2147483728" r:id="rId5"/>
    <p:sldMasterId id="2147483729" r:id="rId6"/>
  </p:sldMasterIdLst>
  <p:notesMasterIdLst>
    <p:notesMasterId r:id="rId28"/>
  </p:notesMasterIdLst>
  <p:handoutMasterIdLst>
    <p:handoutMasterId r:id="rId29"/>
  </p:handoutMasterIdLst>
  <p:sldIdLst>
    <p:sldId id="489" r:id="rId7"/>
    <p:sldId id="498" r:id="rId8"/>
    <p:sldId id="568" r:id="rId9"/>
    <p:sldId id="521" r:id="rId10"/>
    <p:sldId id="569" r:id="rId11"/>
    <p:sldId id="550" r:id="rId12"/>
    <p:sldId id="567" r:id="rId13"/>
    <p:sldId id="558" r:id="rId14"/>
    <p:sldId id="570" r:id="rId15"/>
    <p:sldId id="529" r:id="rId16"/>
    <p:sldId id="557" r:id="rId17"/>
    <p:sldId id="530" r:id="rId18"/>
    <p:sldId id="562" r:id="rId19"/>
    <p:sldId id="571" r:id="rId20"/>
    <p:sldId id="563" r:id="rId21"/>
    <p:sldId id="532" r:id="rId22"/>
    <p:sldId id="565" r:id="rId23"/>
    <p:sldId id="533" r:id="rId24"/>
    <p:sldId id="566" r:id="rId25"/>
    <p:sldId id="534" r:id="rId26"/>
    <p:sldId id="344" r:id="rId27"/>
  </p:sldIdLst>
  <p:sldSz cx="9144000" cy="5143500" type="screen16x9"/>
  <p:notesSz cx="6858000" cy="9144000"/>
  <p:custDataLst>
    <p:tags r:id="rId3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567BE6-4E2E-2A45-BD72-59F9659A3211}">
          <p14:sldIdLst>
            <p14:sldId id="489"/>
            <p14:sldId id="498"/>
            <p14:sldId id="568"/>
            <p14:sldId id="521"/>
            <p14:sldId id="569"/>
            <p14:sldId id="550"/>
            <p14:sldId id="567"/>
            <p14:sldId id="558"/>
            <p14:sldId id="570"/>
            <p14:sldId id="529"/>
            <p14:sldId id="557"/>
            <p14:sldId id="530"/>
            <p14:sldId id="562"/>
            <p14:sldId id="571"/>
            <p14:sldId id="563"/>
            <p14:sldId id="532"/>
            <p14:sldId id="565"/>
            <p14:sldId id="533"/>
            <p14:sldId id="566"/>
            <p14:sldId id="534"/>
            <p14:sldId id="344"/>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guide id="3" pos="120" userDrawn="1">
          <p15:clr>
            <a:srgbClr val="A4A3A4"/>
          </p15:clr>
        </p15:guide>
        <p15:guide id="4" pos="336" userDrawn="1">
          <p15:clr>
            <a:srgbClr val="A4A3A4"/>
          </p15:clr>
        </p15:guide>
        <p15:guide id="5" pos="3456" userDrawn="1">
          <p15:clr>
            <a:srgbClr val="A4A3A4"/>
          </p15:clr>
        </p15:guide>
        <p15:guide id="6" pos="5664" userDrawn="1">
          <p15:clr>
            <a:srgbClr val="A4A3A4"/>
          </p15:clr>
        </p15:guide>
        <p15:guide id="7" orient="horz" pos="396" userDrawn="1">
          <p15:clr>
            <a:srgbClr val="A4A3A4"/>
          </p15:clr>
        </p15:guide>
        <p15:guide id="8" orient="horz" pos="732" userDrawn="1">
          <p15:clr>
            <a:srgbClr val="A4A3A4"/>
          </p15:clr>
        </p15:guide>
        <p15:guide id="9" orient="horz" pos="313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6B6AFC-8BFD-806F-D3AF-75EF9FEA13C7}" name="Richard Levine" initials="RL" userId="Richard Levin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Figueroa, Shabana" initials="FS" lastIdx="16" clrIdx="0"/>
  <p:cmAuthor id="2" name="Figueroa, Shabana" initials="FS [2]" lastIdx="1" clrIdx="1"/>
  <p:cmAuthor id="3" name="Serban, Nicoleta" initials="SN" lastIdx="11" clrIdx="2"/>
  <p:cmAuthor id="4" name="Hu, Rui" initials="HR" lastIdx="1" clrIdx="3"/>
  <p:cmAuthor id="5" name="Hu, Rui" initials="HR [2]" lastIdx="1"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B211"/>
    <a:srgbClr val="3F6CAF"/>
    <a:srgbClr val="8E4221"/>
    <a:srgbClr val="1F497D"/>
    <a:srgbClr val="984807"/>
    <a:srgbClr val="993200"/>
    <a:srgbClr val="F8FFF1"/>
    <a:srgbClr val="000000"/>
    <a:srgbClr val="F7FFEE"/>
    <a:srgbClr val="F5FCE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3" autoAdjust="0"/>
    <p:restoredTop sz="90614" autoAdjust="0"/>
  </p:normalViewPr>
  <p:slideViewPr>
    <p:cSldViewPr snapToGrid="0">
      <p:cViewPr varScale="1">
        <p:scale>
          <a:sx n="65" d="100"/>
          <a:sy n="65" d="100"/>
        </p:scale>
        <p:origin x="699" y="42"/>
      </p:cViewPr>
      <p:guideLst>
        <p:guide orient="horz" pos="1620"/>
        <p:guide pos="2880"/>
        <p:guide pos="120"/>
        <p:guide pos="336"/>
        <p:guide pos="3456"/>
        <p:guide pos="5664"/>
        <p:guide orient="horz" pos="396"/>
        <p:guide orient="horz" pos="732"/>
        <p:guide orient="horz" pos="3132"/>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heme" Target="theme/theme1.xml"/><Relationship Id="rId42"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tags" Target="tags/tag1.xml"/><Relationship Id="rId35" Type="http://schemas.openxmlformats.org/officeDocument/2006/relationships/tableStyles" Target="tableStyles.xml"/></Relationships>
</file>

<file path=ppt/comments/modernComment_211_FCC17839.xml><?xml version="1.0" encoding="utf-8"?>
<p188:cmLst xmlns:a="http://schemas.openxmlformats.org/drawingml/2006/main" xmlns:r="http://schemas.openxmlformats.org/officeDocument/2006/relationships" xmlns:p188="http://schemas.microsoft.com/office/powerpoint/2018/8/main">
  <p188:cm id="{DEB3754C-4440-43A8-BB85-2BC148132FB8}" authorId="{0E6B6AFC-8BFD-806F-D3AF-75EF9FEA13C7}" created="2020-04-27T04:51:33.472">
    <pc:sldMkLst xmlns:pc="http://schemas.microsoft.com/office/powerpoint/2013/main/command">
      <pc:docMk/>
      <pc:sldMk cId="4240537657" sldId="529"/>
    </pc:sldMkLst>
    <p188:txBody>
      <a:bodyPr/>
      <a:lstStyle/>
      <a:p>
        <a:r>
          <a:rPr lang="en-US"/>
          <a:t>I split this slide into two, with the plot on the next slide. I moved the box noting the selected predictors from the plot slide to this one and added arrows showing the selected predictors.</a:t>
        </a:r>
      </a:p>
    </p188:txBody>
  </p188:cm>
  <p188:cm id="{310D510D-5420-40BE-8D66-9F020448178B}" authorId="{0E6B6AFC-8BFD-806F-D3AF-75EF9FEA13C7}" created="2020-04-27T06:22:12.339">
    <pc:sldMkLst xmlns:pc="http://schemas.microsoft.com/office/powerpoint/2013/main/command">
      <pc:docMk/>
      <pc:sldMk cId="4240537657" sldId="529"/>
    </pc:sldMkLst>
    <p188:txBody>
      <a:bodyPr/>
      <a:lstStyle/>
      <a:p>
        <a:r>
          <a:rPr lang="en-US"/>
          <a:t>I added a note that using CV involves random assignments that will give slightly different coefficients each time it is run. Interestingly, lm.ridge from the MASS library gives idendical results each time it is run. I could not find how to force it to split the data for CV any differently.</a:t>
        </a:r>
      </a:p>
    </p188:txBody>
  </p188:cm>
</p188:cmLst>
</file>

<file path=ppt/comments/modernComment_212_22528C50.xml><?xml version="1.0" encoding="utf-8"?>
<p188:cmLst xmlns:a="http://schemas.openxmlformats.org/drawingml/2006/main" xmlns:r="http://schemas.openxmlformats.org/officeDocument/2006/relationships" xmlns:p188="http://schemas.microsoft.com/office/powerpoint/2018/8/main">
  <p188:cm id="{40DCF23E-3F1A-4D97-9D7D-9D2ED74E5180}" authorId="{0E6B6AFC-8BFD-806F-D3AF-75EF9FEA13C7}" created="2020-04-27T06:06:37.494">
    <pc:sldMkLst xmlns:pc="http://schemas.microsoft.com/office/powerpoint/2013/main/command">
      <pc:docMk/>
      <pc:sldMk cId="575835216" sldId="530"/>
    </pc:sldMkLst>
    <p188:txBody>
      <a:bodyPr/>
      <a:lstStyle/>
      <a:p>
        <a:r>
          <a:rPr lang="en-US"/>
          <a:t>Again, I split this into two slides with the code for the plot on the same slide as the plot.</a:t>
        </a:r>
      </a:p>
    </p188:txBody>
  </p188:cm>
  <p188:cm id="{5C7C7728-5A33-4BCD-ADD1-4A99A2451838}" authorId="{0E6B6AFC-8BFD-806F-D3AF-75EF9FEA13C7}" created="2020-04-27T06:16:08.153">
    <pc:sldMkLst xmlns:pc="http://schemas.microsoft.com/office/powerpoint/2013/main/command">
      <pc:docMk/>
      <pc:sldMk cId="575835216" sldId="530"/>
    </pc:sldMkLst>
    <p188:txBody>
      <a:bodyPr/>
      <a:lstStyle/>
      <a:p>
        <a:r>
          <a:rPr lang="en-US"/>
          <a:t>Running the code on this slide, I got different coefficients than shown on the original slide. I have used the coefficients I got rather than the original ones.</a:t>
        </a:r>
      </a:p>
    </p188:txBody>
  </p188:cm>
</p188:cmLst>
</file>

<file path=ppt/comments/modernComment_214_104C955E.xml><?xml version="1.0" encoding="utf-8"?>
<p188:cmLst xmlns:a="http://schemas.openxmlformats.org/drawingml/2006/main" xmlns:r="http://schemas.openxmlformats.org/officeDocument/2006/relationships" xmlns:p188="http://schemas.microsoft.com/office/powerpoint/2018/8/main">
  <p188:cm id="{A23252AE-1325-4F86-9FFF-70D596CF8870}" authorId="{0E6B6AFC-8BFD-806F-D3AF-75EF9FEA13C7}" created="2020-04-27T08:01:34.959">
    <ac:deMkLst xmlns:ac="http://schemas.microsoft.com/office/drawing/2013/main/command">
      <pc:docMk xmlns:pc="http://schemas.microsoft.com/office/powerpoint/2013/main/command"/>
      <pc:sldMk xmlns:pc="http://schemas.microsoft.com/office/powerpoint/2013/main/command" cId="273454430" sldId="532"/>
      <ac:spMk id="71683" creationId="{00000000-0000-0000-0000-000000000000}"/>
    </ac:deMkLst>
    <p188:txBody>
      <a:bodyPr/>
      <a:lstStyle/>
      <a:p>
        <a:r>
          <a:rPr lang="en-US"/>
          <a:t>Sometimes when I ran this, different variables were selected. You may want to make note of that.</a:t>
        </a:r>
      </a:p>
    </p188:txBody>
  </p188:cm>
</p188:cmLst>
</file>

<file path=ppt/comments/modernComment_215_FCE08F48.xml><?xml version="1.0" encoding="utf-8"?>
<p188:cmLst xmlns:a="http://schemas.openxmlformats.org/drawingml/2006/main" xmlns:r="http://schemas.openxmlformats.org/officeDocument/2006/relationships" xmlns:p188="http://schemas.microsoft.com/office/powerpoint/2018/8/main">
  <p188:cm id="{030728C4-AE06-49A4-98A7-3A0F7CDA8FF9}" authorId="{0E6B6AFC-8BFD-806F-D3AF-75EF9FEA13C7}" created="2020-04-27T08:02:24.604">
    <ac:deMkLst xmlns:ac="http://schemas.microsoft.com/office/drawing/2013/main/command">
      <pc:docMk xmlns:pc="http://schemas.microsoft.com/office/powerpoint/2013/main/command"/>
      <pc:sldMk xmlns:pc="http://schemas.microsoft.com/office/powerpoint/2013/main/command" cId="4242575176" sldId="533"/>
      <ac:spMk id="71683" creationId="{00000000-0000-0000-0000-000000000000}"/>
    </ac:deMkLst>
    <p188:txBody>
      <a:bodyPr/>
      <a:lstStyle/>
      <a:p>
        <a:r>
          <a:rPr lang="en-US"/>
          <a:t>Sometimes when I ran this, different variables were selected. You may want to make note of that.</a:t>
        </a:r>
      </a:p>
    </p188:txBody>
  </p188:cm>
</p188:cmLst>
</file>

<file path=ppt/comments/modernComment_219_2F3D2F3A.xml><?xml version="1.0" encoding="utf-8"?>
<p188:cmLst xmlns:a="http://schemas.openxmlformats.org/drawingml/2006/main" xmlns:r="http://schemas.openxmlformats.org/officeDocument/2006/relationships" xmlns:p188="http://schemas.microsoft.com/office/powerpoint/2018/8/main">
  <p188:cm id="{47E38E22-6F48-41E9-8426-3C37E2947F0A}" authorId="{0E6B6AFC-8BFD-806F-D3AF-75EF9FEA13C7}" created="2020-04-27T02:40:34.223">
    <pc:sldMkLst xmlns:pc="http://schemas.microsoft.com/office/powerpoint/2013/main/command">
      <pc:docMk/>
      <pc:sldMk cId="792538938" sldId="537"/>
    </pc:sldMkLst>
    <p188:txBody>
      <a:bodyPr/>
      <a:lstStyle/>
      <a:p>
        <a:r>
          <a:rPr lang="en-US"/>
          <a:t>The plotting code was missing. I added it from the code file, but I changed the formatting and order of the statements.</a:t>
        </a:r>
      </a:p>
    </p188:txBody>
  </p188:cm>
</p188:cmLst>
</file>

<file path=ppt/comments/modernComment_225_BD165E1E.xml><?xml version="1.0" encoding="utf-8"?>
<p188:cmLst xmlns:a="http://schemas.openxmlformats.org/drawingml/2006/main" xmlns:r="http://schemas.openxmlformats.org/officeDocument/2006/relationships" xmlns:p188="http://schemas.microsoft.com/office/powerpoint/2018/8/main">
  <p188:cm id="{DD899DD0-8F4B-4769-9657-0A3E2651D9D1}" authorId="{0E6B6AFC-8BFD-806F-D3AF-75EF9FEA13C7}" created="2020-04-27T04:29:09.075">
    <pc:sldMkLst xmlns:pc="http://schemas.microsoft.com/office/powerpoint/2013/main/command">
      <pc:docMk/>
      <pc:sldMk cId="3172359710" sldId="549"/>
    </pc:sldMkLst>
    <p188:txBody>
      <a:bodyPr/>
      <a:lstStyle/>
      <a:p>
        <a:r>
          <a:rPr lang="en-US"/>
          <a:t>The original slide said that Income was not selected by any approach. I changed that to match the table.</a:t>
        </a:r>
      </a:p>
    </p188:txBody>
  </p188:cm>
</p188:cmLst>
</file>

<file path=ppt/comments/modernComment_226_8F7FD177.xml><?xml version="1.0" encoding="utf-8"?>
<p188:cmLst xmlns:a="http://schemas.openxmlformats.org/drawingml/2006/main" xmlns:r="http://schemas.openxmlformats.org/officeDocument/2006/relationships" xmlns:p188="http://schemas.microsoft.com/office/powerpoint/2018/8/main">
  <p188:cm id="{2AB1A7F8-13F1-4ACE-A312-84559B573876}" authorId="{0E6B6AFC-8BFD-806F-D3AF-75EF9FEA13C7}" created="2020-04-27T04:16:22.116">
    <pc:sldMkLst xmlns:pc="http://schemas.microsoft.com/office/powerpoint/2013/main/command">
      <pc:docMk/>
      <pc:sldMk cId="2407518583" sldId="550"/>
    </pc:sldMkLst>
    <p188:txBody>
      <a:bodyPr/>
      <a:lstStyle/>
      <a:p>
        <a:r>
          <a:rPr lang="en-US"/>
          <a:t>I've split this slide into two. The second slide shows both plots. In the video you concluded after the plots, so I've made duplicate slides for that ordering or for mentioning OLS before going to the plots. Some slides should be deleted.</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DFD447-ACB1-BC49-B8EF-23729E0A333F}" type="datetimeFigureOut">
              <a:rPr lang="en-US" smtClean="0"/>
              <a:t>5/15/2020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EF598F-7A46-204A-ADDD-A1229C86B248}"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1738FA-185A-CF4F-BD02-7990310E47F3}" type="datetimeFigureOut">
              <a:rPr lang="en-US" smtClean="0"/>
              <a:t>5/15/2020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F7A93-C87A-E149-BF89-5D793380F19A}"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EB0A727-CD93-43DD-ACDD-AAF4F8395EA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0239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F7A93-C87A-E149-BF89-5D793380F19A}" type="slidenum">
              <a:rPr lang="en-US" smtClean="0"/>
              <a:t>12</a:t>
            </a:fld>
            <a:endParaRPr lang="en-US"/>
          </a:p>
        </p:txBody>
      </p:sp>
    </p:spTree>
    <p:extLst>
      <p:ext uri="{BB962C8B-B14F-4D97-AF65-F5344CB8AC3E}">
        <p14:creationId xmlns:p14="http://schemas.microsoft.com/office/powerpoint/2010/main" val="909593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F7A93-C87A-E149-BF89-5D793380F19A}" type="slidenum">
              <a:rPr lang="en-US" smtClean="0"/>
              <a:t>13</a:t>
            </a:fld>
            <a:endParaRPr lang="en-US"/>
          </a:p>
        </p:txBody>
      </p:sp>
    </p:spTree>
    <p:extLst>
      <p:ext uri="{BB962C8B-B14F-4D97-AF65-F5344CB8AC3E}">
        <p14:creationId xmlns:p14="http://schemas.microsoft.com/office/powerpoint/2010/main" val="1498317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4" name="Slide Number Placeholder 3"/>
          <p:cNvSpPr>
            <a:spLocks noGrp="1"/>
          </p:cNvSpPr>
          <p:nvPr>
            <p:ph type="sldNum" sz="quarter" idx="5"/>
          </p:nvPr>
        </p:nvSpPr>
        <p:spPr/>
        <p:txBody>
          <a:bodyPr/>
          <a:lstStyle/>
          <a:p>
            <a:pPr>
              <a:defRPr/>
            </a:pPr>
            <a:fld id="{EEB0A727-CD93-43DD-ACDD-AAF4F8395EA0}" type="slidenum">
              <a:rPr lang="en-US" smtClean="0"/>
              <a:pPr>
                <a:defRPr/>
              </a:pPr>
              <a:t>15</a:t>
            </a:fld>
            <a:endParaRPr lang="en-US"/>
          </a:p>
        </p:txBody>
      </p:sp>
    </p:spTree>
    <p:extLst>
      <p:ext uri="{BB962C8B-B14F-4D97-AF65-F5344CB8AC3E}">
        <p14:creationId xmlns:p14="http://schemas.microsoft.com/office/powerpoint/2010/main" val="239561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3F7A93-C87A-E149-BF89-5D793380F19A}" type="slidenum">
              <a:rPr lang="en-US" smtClean="0"/>
              <a:t>18</a:t>
            </a:fld>
            <a:endParaRPr lang="en-US"/>
          </a:p>
        </p:txBody>
      </p:sp>
    </p:spTree>
    <p:extLst>
      <p:ext uri="{BB962C8B-B14F-4D97-AF65-F5344CB8AC3E}">
        <p14:creationId xmlns:p14="http://schemas.microsoft.com/office/powerpoint/2010/main" val="4076932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3F7A93-C87A-E149-BF89-5D793380F19A}" type="slidenum">
              <a:rPr lang="en-US" smtClean="0"/>
              <a:t>19</a:t>
            </a:fld>
            <a:endParaRPr lang="en-US"/>
          </a:p>
        </p:txBody>
      </p:sp>
    </p:spTree>
    <p:extLst>
      <p:ext uri="{BB962C8B-B14F-4D97-AF65-F5344CB8AC3E}">
        <p14:creationId xmlns:p14="http://schemas.microsoft.com/office/powerpoint/2010/main" val="17856761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3.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4.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5.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6.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7.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1920" y="1421266"/>
            <a:ext cx="4727575" cy="1330325"/>
          </a:xfrm>
        </p:spPr>
        <p:txBody>
          <a:bodyPr/>
          <a:lstStyle>
            <a:lvl1pPr marL="0" indent="0">
              <a:buNone/>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2917238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5520941" cy="993775"/>
          </a:xfrm>
          <a:prstGeom prst="rect">
            <a:avLst/>
          </a:prstGeom>
        </p:spPr>
        <p:txBody>
          <a:bodyPr/>
          <a:lstStyle>
            <a:lvl1pPr algn="l">
              <a:defRPr lang="en-US" sz="4400" kern="1200" dirty="0">
                <a:solidFill>
                  <a:schemeClr val="tx1"/>
                </a:solidFill>
                <a:latin typeface="Vitesse Bold"/>
                <a:ea typeface="+mj-ea"/>
                <a:cs typeface="Vitesse Bold"/>
              </a:defRPr>
            </a:lvl1pPr>
          </a:lstStyle>
          <a:p>
            <a:r>
              <a:rPr lang="en-US"/>
              <a:t>Click to edit Master title style</a:t>
            </a:r>
          </a:p>
        </p:txBody>
      </p:sp>
      <p:sp>
        <p:nvSpPr>
          <p:cNvPr id="6" name="Content Placeholder 5"/>
          <p:cNvSpPr>
            <a:spLocks noGrp="1"/>
          </p:cNvSpPr>
          <p:nvPr>
            <p:ph sz="quarter" idx="10"/>
          </p:nvPr>
        </p:nvSpPr>
        <p:spPr>
          <a:xfrm>
            <a:off x="628649" y="1436688"/>
            <a:ext cx="4375430" cy="2994025"/>
          </a:xfrm>
          <a:prstGeom prst="rect">
            <a:avLst/>
          </a:prstGeom>
        </p:spPr>
        <p:txBody>
          <a:bodyPr/>
          <a:lstStyle>
            <a:lvl1pPr>
              <a:defRPr>
                <a:latin typeface="Vitesse Book" charset="0"/>
                <a:ea typeface="Vitesse Book" charset="0"/>
                <a:cs typeface="Vitesse Book" charset="0"/>
              </a:defRPr>
            </a:lvl1pPr>
            <a:lvl2pPr>
              <a:defRPr>
                <a:latin typeface="Vitesse Book" charset="0"/>
                <a:ea typeface="Vitesse Book" charset="0"/>
                <a:cs typeface="Vitesse Book" charset="0"/>
              </a:defRPr>
            </a:lvl2pPr>
            <a:lvl3pPr>
              <a:defRPr>
                <a:latin typeface="Vitesse Book" charset="0"/>
                <a:ea typeface="Vitesse Book" charset="0"/>
                <a:cs typeface="Vitesse Book" charset="0"/>
              </a:defRPr>
            </a:lvl3pPr>
            <a:lvl4pPr>
              <a:defRPr>
                <a:latin typeface="Vitesse Book" charset="0"/>
                <a:ea typeface="Vitesse Book" charset="0"/>
                <a:cs typeface="Vitesse Book" charset="0"/>
              </a:defRPr>
            </a:lvl4pPr>
            <a:lvl5pPr>
              <a:defRPr>
                <a:latin typeface="Vitesse Book" charset="0"/>
                <a:ea typeface="Vitesse Book" charset="0"/>
                <a:cs typeface="Vitesse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1573213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286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3"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4"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fld id="{A2002E78-3C88-9A40-B579-FA4DB2691E4F}" type="slidenum">
              <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rPr>
              <a:pPr marL="0" marR="0" lvl="0" indent="0" algn="l" defTabSz="4572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Tree>
    <p:custDataLst>
      <p:tags r:id="rId1"/>
    </p:custDataLst>
    <p:extLst>
      <p:ext uri="{BB962C8B-B14F-4D97-AF65-F5344CB8AC3E}">
        <p14:creationId xmlns:p14="http://schemas.microsoft.com/office/powerpoint/2010/main" val="3047913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540328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fld id="{134F0668-60AC-E24C-8E50-B74DE0FA4F02}" type="slidenum">
              <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rPr>
              <a:pPr marL="0" marR="0" lvl="0" indent="0" algn="l" defTabSz="4572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Tree>
    <p:custDataLst>
      <p:tags r:id="rId1"/>
    </p:custDataLst>
    <p:extLst>
      <p:ext uri="{BB962C8B-B14F-4D97-AF65-F5344CB8AC3E}">
        <p14:creationId xmlns:p14="http://schemas.microsoft.com/office/powerpoint/2010/main" val="1440287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30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3693506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1051145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a:t>Click to edit Master title style</a:t>
            </a:r>
            <a:endParaRPr lang="en-US" dirty="0"/>
          </a:p>
        </p:txBody>
      </p:sp>
    </p:spTree>
    <p:custDataLst>
      <p:tags r:id="rId1"/>
    </p:custDataLst>
    <p:extLst>
      <p:ext uri="{BB962C8B-B14F-4D97-AF65-F5344CB8AC3E}">
        <p14:creationId xmlns:p14="http://schemas.microsoft.com/office/powerpoint/2010/main" val="1344539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574781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800">
                <a:latin typeface="Helvetica" charset="0"/>
                <a:ea typeface="Helvetica" charset="0"/>
                <a:cs typeface="Helvetica" charset="0"/>
              </a:defRPr>
            </a:lvl3pPr>
            <a:lvl4pPr>
              <a:defRPr sz="1800">
                <a:latin typeface="Helvetica" charset="0"/>
                <a:ea typeface="Helvetica" charset="0"/>
                <a:cs typeface="Helvetica" charset="0"/>
              </a:defRPr>
            </a:lvl4pPr>
            <a:lvl5pPr>
              <a:defRPr sz="1800">
                <a:latin typeface="Helvetica" charset="0"/>
                <a:ea typeface="Helvetica" charset="0"/>
                <a:cs typeface="Helvetica"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252349" y="274678"/>
            <a:ext cx="8280166"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1076997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363189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6" name="Chart Placeholder 3"/>
          <p:cNvSpPr>
            <a:spLocks noGrp="1"/>
          </p:cNvSpPr>
          <p:nvPr>
            <p:ph type="chart" sz="quarter" idx="11"/>
          </p:nvPr>
        </p:nvSpPr>
        <p:spPr>
          <a:xfrm>
            <a:off x="3828815" y="1110075"/>
            <a:ext cx="4948296" cy="3612444"/>
          </a:xfrm>
          <a:prstGeom prst="rect">
            <a:avLst/>
          </a:prstGeom>
        </p:spPr>
        <p:txBody>
          <a:bodyPr/>
          <a:lstStyle>
            <a:lvl1pPr marL="0" indent="0">
              <a:buNone/>
              <a:defRPr/>
            </a:lvl1pPr>
          </a:lstStyle>
          <a:p>
            <a:endParaRPr lang="en-US" dirty="0"/>
          </a:p>
        </p:txBody>
      </p:sp>
      <p:sp>
        <p:nvSpPr>
          <p:cNvPr id="10"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38291446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268453"/>
            <a:ext cx="8110832" cy="3564316"/>
          </a:xfrm>
          <a:prstGeom prst="rect">
            <a:avLst/>
          </a:prstGeom>
        </p:spPr>
        <p:txBody>
          <a:bodyPr/>
          <a:lstStyle>
            <a:lvl1pPr marL="0" indent="0">
              <a:buNone/>
              <a:defRPr sz="2000">
                <a:latin typeface="Helvetica" charset="0"/>
                <a:ea typeface="Helvetica" charset="0"/>
                <a:cs typeface="Helvetica" charset="0"/>
              </a:defRPr>
            </a:lvl1pPr>
          </a:lstStyle>
          <a:p>
            <a:endParaRPr lang="en-US" dirty="0"/>
          </a:p>
        </p:txBody>
      </p:sp>
      <p:sp>
        <p:nvSpPr>
          <p:cNvPr id="5"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2947456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2478128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heme" Target="../theme/theme2.xml"/><Relationship Id="rId6" Type="http://schemas.openxmlformats.org/officeDocument/2006/relationships/image" Target="../media/image1.jpg"/><Relationship Id="rId5" Type="http://schemas.openxmlformats.org/officeDocument/2006/relationships/image" Target="../media/image4.png"/><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12.xml"/><Relationship Id="rId3" Type="http://schemas.openxmlformats.org/officeDocument/2006/relationships/slideLayout" Target="../slideLayouts/slideLayout11.xml"/><Relationship Id="rId7"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4.png"/><Relationship Id="rId5" Type="http://schemas.openxmlformats.org/officeDocument/2006/relationships/slideLayout" Target="../slideLayouts/slideLayout13.xml"/><Relationship Id="rId10" Type="http://schemas.openxmlformats.org/officeDocument/2006/relationships/image" Target="../media/image3.png"/><Relationship Id="rId4" Type="http://schemas.openxmlformats.org/officeDocument/2006/relationships/slideLayout" Target="../slideLayouts/slideLayout12.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3BCFA4D-1CC5-4243-98FC-591DF878C6E5}"/>
              </a:ext>
            </a:extLst>
          </p:cNvPr>
          <p:cNvPicPr>
            <a:picLocks noChangeAspect="1"/>
          </p:cNvPicPr>
          <p:nvPr userDrawn="1"/>
        </p:nvPicPr>
        <p:blipFill>
          <a:blip r:embed="rId11"/>
          <a:stretch>
            <a:fillRect/>
          </a:stretch>
        </p:blipFill>
        <p:spPr>
          <a:xfrm>
            <a:off x="0" y="0"/>
            <a:ext cx="9144000" cy="5143500"/>
          </a:xfrm>
          <a:prstGeom prst="rect">
            <a:avLst/>
          </a:prstGeom>
        </p:spPr>
      </p:pic>
    </p:spTree>
    <p:custDataLst>
      <p:tags r:id="rId10"/>
    </p:custDataLst>
    <p:extLst>
      <p:ext uri="{BB962C8B-B14F-4D97-AF65-F5344CB8AC3E}">
        <p14:creationId xmlns:p14="http://schemas.microsoft.com/office/powerpoint/2010/main" val="1931543269"/>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5" name="Picture 4"/>
            <p:cNvPicPr>
              <a:picLocks noChangeAspect="1"/>
            </p:cNvPicPr>
            <p:nvPr userDrawn="1"/>
          </p:nvPicPr>
          <p:blipFill>
            <a:blip r:embed="rId3"/>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id="{5BC3A035-B0EE-3A43-AADA-02BA46FB0931}"/>
                </a:ext>
              </a:extLst>
            </p:cNvPr>
            <p:cNvPicPr>
              <a:picLocks noChangeAspect="1"/>
            </p:cNvPicPr>
            <p:nvPr userDrawn="1"/>
          </p:nvPicPr>
          <p:blipFill>
            <a:blip r:embed="rId4"/>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5"/>
            <a:stretch>
              <a:fillRect/>
            </a:stretch>
          </p:blipFill>
          <p:spPr>
            <a:xfrm>
              <a:off x="0" y="0"/>
              <a:ext cx="3719590" cy="2933934"/>
            </a:xfrm>
            <a:prstGeom prst="rect">
              <a:avLst/>
            </a:prstGeom>
          </p:spPr>
        </p:pic>
      </p:grpSp>
      <p:pic>
        <p:nvPicPr>
          <p:cNvPr id="8" name="Picture 7">
            <a:extLst>
              <a:ext uri="{FF2B5EF4-FFF2-40B4-BE49-F238E27FC236}">
                <a16:creationId xmlns:a16="http://schemas.microsoft.com/office/drawing/2014/main" id="{13BCFA4D-1CC5-4243-98FC-591DF878C6E5}"/>
              </a:ext>
            </a:extLst>
          </p:cNvPr>
          <p:cNvPicPr>
            <a:picLocks noChangeAspect="1"/>
          </p:cNvPicPr>
          <p:nvPr userDrawn="1"/>
        </p:nvPicPr>
        <p:blipFill>
          <a:blip r:embed="rId6"/>
          <a:stretch>
            <a:fillRect/>
          </a:stretch>
        </p:blipFill>
        <p:spPr>
          <a:xfrm>
            <a:off x="0" y="0"/>
            <a:ext cx="9144000" cy="5143500"/>
          </a:xfrm>
          <a:prstGeom prst="rect">
            <a:avLst/>
          </a:prstGeom>
        </p:spPr>
      </p:pic>
    </p:spTree>
    <p:custDataLst>
      <p:tags r:id="rId2"/>
    </p:custDataLst>
    <p:extLst>
      <p:ext uri="{BB962C8B-B14F-4D97-AF65-F5344CB8AC3E}">
        <p14:creationId xmlns:p14="http://schemas.microsoft.com/office/powerpoint/2010/main" val="2124523751"/>
      </p:ext>
    </p:extLst>
  </p:cSld>
  <p:clrMap bg1="lt1" tx1="dk1" bg2="lt2" tx2="dk2" accent1="accent1" accent2="accent2" accent3="accent3" accent4="accent4" accent5="accent5" accent6="accent6" hlink="hlink" folHlink="folHlink"/>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4" name="Picture 3"/>
            <p:cNvPicPr>
              <a:picLocks noChangeAspect="1"/>
            </p:cNvPicPr>
            <p:nvPr userDrawn="1"/>
          </p:nvPicPr>
          <p:blipFill>
            <a:blip r:embed="rId9"/>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id="{5BC3A035-B0EE-3A43-AADA-02BA46FB0931}"/>
                </a:ext>
              </a:extLst>
            </p:cNvPr>
            <p:cNvPicPr>
              <a:picLocks noChangeAspect="1"/>
            </p:cNvPicPr>
            <p:nvPr userDrawn="1"/>
          </p:nvPicPr>
          <p:blipFill>
            <a:blip r:embed="rId10"/>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11"/>
            <a:stretch>
              <a:fillRect/>
            </a:stretch>
          </p:blipFill>
          <p:spPr>
            <a:xfrm>
              <a:off x="0" y="0"/>
              <a:ext cx="3719590" cy="2933934"/>
            </a:xfrm>
            <a:prstGeom prst="rect">
              <a:avLst/>
            </a:prstGeom>
          </p:spPr>
        </p:pic>
      </p:grpSp>
    </p:spTree>
    <p:custDataLst>
      <p:tags r:id="rId8"/>
    </p:custDataLst>
    <p:extLst>
      <p:ext uri="{BB962C8B-B14F-4D97-AF65-F5344CB8AC3E}">
        <p14:creationId xmlns:p14="http://schemas.microsoft.com/office/powerpoint/2010/main" val="3987268568"/>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19.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9.xml"/><Relationship Id="rId1" Type="http://schemas.openxmlformats.org/officeDocument/2006/relationships/tags" Target="../tags/tag20.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xml"/><Relationship Id="rId1" Type="http://schemas.openxmlformats.org/officeDocument/2006/relationships/tags" Target="../tags/tag2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9.xml"/><Relationship Id="rId1" Type="http://schemas.openxmlformats.org/officeDocument/2006/relationships/tags" Target="../tags/tag23.xml"/><Relationship Id="rId4" Type="http://schemas.microsoft.com/office/2018/10/relationships/comments" Target="../comments/modernComment_219_2F3D2F3A.xml"/></Relationships>
</file>

<file path=ppt/slides/_rels/slide6.xml.rels><?xml version="1.0" encoding="UTF-8" standalone="yes"?>
<Relationships xmlns="http://schemas.openxmlformats.org/package/2006/relationships"><Relationship Id="rId3" Type="http://schemas.microsoft.com/office/2018/10/relationships/comments" Target="../comments/modernComment_226_8F7FD177.xml"/><Relationship Id="rId2" Type="http://schemas.openxmlformats.org/officeDocument/2006/relationships/slideLayout" Target="../slideLayouts/slideLayout9.xml"/><Relationship Id="rId1" Type="http://schemas.openxmlformats.org/officeDocument/2006/relationships/tags" Target="../tags/tag24.xml"/></Relationships>
</file>

<file path=ppt/slides/_rels/slide7.xml.rels><?xml version="1.0" encoding="UTF-8" standalone="yes"?>
<Relationships xmlns="http://schemas.openxmlformats.org/package/2006/relationships"><Relationship Id="rId3" Type="http://schemas.microsoft.com/office/2018/10/relationships/comments" Target="../comments/modernComment_226_8F7FD177.xml"/><Relationship Id="rId2" Type="http://schemas.openxmlformats.org/officeDocument/2006/relationships/slideLayout" Target="../slideLayouts/slideLayout9.xml"/><Relationship Id="rId1" Type="http://schemas.openxmlformats.org/officeDocument/2006/relationships/tags" Target="../tags/tag2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9.xml"/><Relationship Id="rId1" Type="http://schemas.openxmlformats.org/officeDocument/2006/relationships/tags" Target="../tags/tag26.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9.xml"/><Relationship Id="rId1" Type="http://schemas.openxmlformats.org/officeDocument/2006/relationships/tags" Target="../tags/tag2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211_FCC17839.xml"/><Relationship Id="rId2" Type="http://schemas.openxmlformats.org/officeDocument/2006/relationships/slideLayout" Target="../slideLayouts/slideLayout9.xml"/><Relationship Id="rId1" Type="http://schemas.openxmlformats.org/officeDocument/2006/relationships/tags" Target="../tags/tag2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9.xml"/><Relationship Id="rId1" Type="http://schemas.openxmlformats.org/officeDocument/2006/relationships/tags" Target="../tags/tag2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tags" Target="../tags/tag30.xml"/><Relationship Id="rId4" Type="http://schemas.microsoft.com/office/2018/10/relationships/comments" Target="../comments/modernComment_212_22528C5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3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225_BD165E1E.xml"/><Relationship Id="rId2" Type="http://schemas.openxmlformats.org/officeDocument/2006/relationships/slideLayout" Target="../slideLayouts/slideLayout9.xml"/><Relationship Id="rId1" Type="http://schemas.openxmlformats.org/officeDocument/2006/relationships/tags" Target="../tags/tag3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9.xml"/><Relationship Id="rId1" Type="http://schemas.openxmlformats.org/officeDocument/2006/relationships/tags" Target="../tags/tag33.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214_104C955E.xml"/><Relationship Id="rId2" Type="http://schemas.openxmlformats.org/officeDocument/2006/relationships/slideLayout" Target="../slideLayouts/slideLayout9.xml"/><Relationship Id="rId1" Type="http://schemas.openxmlformats.org/officeDocument/2006/relationships/tags" Target="../tags/tag3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9.xml"/><Relationship Id="rId1" Type="http://schemas.openxmlformats.org/officeDocument/2006/relationships/tags" Target="../tags/tag3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tags" Target="../tags/tag36.xml"/><Relationship Id="rId4" Type="http://schemas.microsoft.com/office/2018/10/relationships/comments" Target="../comments/modernComment_215_FCE08F4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tags" Target="../tags/tag37.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38.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9.xml"/><Relationship Id="rId1" Type="http://schemas.openxmlformats.org/officeDocument/2006/relationships/tags" Target="../tags/tag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nvSpPr>
        <p:spPr>
          <a:xfrm>
            <a:off x="73091" y="163290"/>
            <a:ext cx="6173436" cy="534636"/>
          </a:xfrm>
          <a:prstGeom prst="rect">
            <a:avLst/>
          </a:prstGeom>
        </p:spPr>
        <p:txBody>
          <a:bodyPr/>
          <a:lstStyle>
            <a:lvl1pPr algn="l" defTabSz="457200" rtl="0" eaLnBrk="1" latinLnBrk="0" hangingPunct="1">
              <a:spcBef>
                <a:spcPct val="0"/>
              </a:spcBef>
              <a:buNone/>
              <a:defRPr lang="en-US" sz="4000" b="0" i="0" kern="1200" dirty="0">
                <a:solidFill>
                  <a:schemeClr val="tx1"/>
                </a:solidFill>
                <a:latin typeface="Vitesse Bold"/>
                <a:ea typeface="Vitesse" charset="0"/>
                <a:cs typeface="Vitesse Bold"/>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Vitesse" charset="0"/>
                <a:cs typeface="Vitesse" charset="0"/>
              </a:rPr>
              <a:t>Regression Analysis</a:t>
            </a:r>
          </a:p>
        </p:txBody>
      </p:sp>
      <p:sp>
        <p:nvSpPr>
          <p:cNvPr id="17" name="Text Placeholder 3"/>
          <p:cNvSpPr>
            <a:spLocks noGrp="1"/>
          </p:cNvSpPr>
          <p:nvPr/>
        </p:nvSpPr>
        <p:spPr>
          <a:xfrm>
            <a:off x="85589" y="2018346"/>
            <a:ext cx="4305091" cy="432669"/>
          </a:xfrm>
          <a:prstGeom prst="rect">
            <a:avLst/>
          </a:prstGeom>
        </p:spPr>
        <p:txBody>
          <a:bodyPr anchor="ctr"/>
          <a:lstStyle>
            <a:lvl1pPr marL="0" indent="0" algn="l" defTabSz="457200" rtl="0" eaLnBrk="1" latinLnBrk="0" hangingPunct="1">
              <a:lnSpc>
                <a:spcPts val="1400"/>
              </a:lnSpc>
              <a:spcBef>
                <a:spcPct val="20000"/>
              </a:spcBef>
              <a:buFont typeface="Arial"/>
              <a:buNone/>
              <a:defRPr lang="en-US" sz="2400" b="1" kern="1200" baseline="0" dirty="0">
                <a:solidFill>
                  <a:srgbClr val="EEB21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ts val="1400"/>
              </a:lnSpc>
              <a:spcBef>
                <a:spcPct val="20000"/>
              </a:spcBef>
              <a:spcAft>
                <a:spcPts val="0"/>
              </a:spcAft>
              <a:buClrTx/>
              <a:buSzTx/>
              <a:buFont typeface="Arial"/>
              <a:buNone/>
              <a:tabLst/>
              <a:defRPr/>
            </a:pPr>
            <a:endParaRPr kumimoji="0" lang="en-US" sz="2400" b="1" i="0" u="none" strike="noStrike" kern="1200" cap="none" spc="0" normalizeH="0" baseline="0" noProof="0" dirty="0">
              <a:ln>
                <a:noFill/>
              </a:ln>
              <a:solidFill>
                <a:srgbClr val="EAAA00"/>
              </a:solidFill>
              <a:effectLst/>
              <a:uLnTx/>
              <a:uFillTx/>
              <a:latin typeface="Helvetica" charset="0"/>
              <a:cs typeface="Helvetica" charset="0"/>
            </a:endParaRPr>
          </a:p>
          <a:p>
            <a:pPr marL="0" marR="0" lvl="0" indent="0" algn="l" defTabSz="457200" rtl="0" eaLnBrk="1" fontAlgn="auto" latinLnBrk="0" hangingPunct="1">
              <a:lnSpc>
                <a:spcPts val="1400"/>
              </a:lnSpc>
              <a:spcBef>
                <a:spcPct val="20000"/>
              </a:spcBef>
              <a:spcAft>
                <a:spcPts val="0"/>
              </a:spcAft>
              <a:buClrTx/>
              <a:buSzTx/>
              <a:buFont typeface="Arial"/>
              <a:buNone/>
              <a:tabLst/>
              <a:defRPr/>
            </a:pPr>
            <a:r>
              <a:rPr kumimoji="0" lang="en-US" sz="2400" b="1" i="0" u="none" strike="noStrike" kern="1200" cap="none" spc="0" normalizeH="0" baseline="0" noProof="0" dirty="0">
                <a:ln>
                  <a:noFill/>
                </a:ln>
                <a:solidFill>
                  <a:srgbClr val="EAAA00"/>
                </a:solidFill>
                <a:effectLst/>
                <a:uLnTx/>
                <a:uFillTx/>
                <a:latin typeface="Helvetica" charset="0"/>
                <a:cs typeface="Helvetica" charset="0"/>
              </a:rPr>
              <a:t>Nicoleta Serban, Ph.D. </a:t>
            </a:r>
          </a:p>
        </p:txBody>
      </p:sp>
      <p:sp>
        <p:nvSpPr>
          <p:cNvPr id="18" name="Text Placeholder 4"/>
          <p:cNvSpPr>
            <a:spLocks noGrp="1"/>
          </p:cNvSpPr>
          <p:nvPr/>
        </p:nvSpPr>
        <p:spPr>
          <a:xfrm>
            <a:off x="92366" y="2376336"/>
            <a:ext cx="4305091" cy="254281"/>
          </a:xfrm>
          <a:prstGeom prst="rect">
            <a:avLst/>
          </a:prstGeom>
        </p:spPr>
        <p:txBody>
          <a:bodyPr/>
          <a:lstStyle>
            <a:lvl1pPr marL="0" indent="0" algn="l" defTabSz="457200" rtl="0" eaLnBrk="1" latinLnBrk="0" hangingPunct="1">
              <a:spcBef>
                <a:spcPct val="20000"/>
              </a:spcBef>
              <a:buFont typeface="Arial"/>
              <a:buNone/>
              <a:defRPr sz="1600" b="0" i="1"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1600" b="0" i="1" u="none" strike="noStrike" kern="1200" cap="none" spc="0" normalizeH="0" baseline="0" noProof="0" dirty="0">
                <a:ln>
                  <a:noFill/>
                </a:ln>
                <a:solidFill>
                  <a:prstClr val="black"/>
                </a:solidFill>
                <a:effectLst/>
                <a:uLnTx/>
                <a:uFillTx/>
                <a:latin typeface="Helvetica" charset="0"/>
                <a:cs typeface="Helvetica" charset="0"/>
              </a:rPr>
              <a:t>Professor </a:t>
            </a:r>
          </a:p>
        </p:txBody>
      </p:sp>
      <p:sp>
        <p:nvSpPr>
          <p:cNvPr id="10" name="Text Placeholder 2">
            <a:extLst>
              <a:ext uri="{FF2B5EF4-FFF2-40B4-BE49-F238E27FC236}">
                <a16:creationId xmlns:a16="http://schemas.microsoft.com/office/drawing/2014/main" id="{1FFC2AE0-8557-485C-BAF4-734CEE29C594}"/>
              </a:ext>
            </a:extLst>
          </p:cNvPr>
          <p:cNvSpPr>
            <a:spLocks noGrp="1"/>
          </p:cNvSpPr>
          <p:nvPr/>
        </p:nvSpPr>
        <p:spPr>
          <a:xfrm>
            <a:off x="84400" y="636404"/>
            <a:ext cx="5511340" cy="542236"/>
          </a:xfrm>
          <a:prstGeom prst="rect">
            <a:avLst/>
          </a:prstGeom>
        </p:spPr>
        <p:txBody>
          <a:bodyPr/>
          <a:lstStyle>
            <a:lvl1pPr marL="0" indent="0" algn="l" defTabSz="457200" rtl="0" eaLnBrk="1" latinLnBrk="0" hangingPunct="1">
              <a:spcBef>
                <a:spcPct val="20000"/>
              </a:spcBef>
              <a:buFont typeface="Arial"/>
              <a:buNone/>
              <a:defRPr lang="en-US" sz="3000" b="0" i="0" kern="1200" dirty="0">
                <a:solidFill>
                  <a:schemeClr val="tx2"/>
                </a:solidFill>
                <a:latin typeface="Vitesse Medium" charset="0"/>
                <a:ea typeface="Vitesse Medium" charset="0"/>
                <a:cs typeface="Vitesse Medium"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400" b="0" i="0" u="none" strike="noStrike" kern="1200" cap="none" spc="0" normalizeH="0" baseline="0" noProof="0" dirty="0">
                <a:ln>
                  <a:noFill/>
                </a:ln>
                <a:solidFill>
                  <a:srgbClr val="1F497D"/>
                </a:solidFill>
                <a:effectLst/>
                <a:uLnTx/>
                <a:uFillTx/>
                <a:latin typeface="Vitesse Medium" charset="0"/>
              </a:rPr>
              <a:t>Model Selection</a:t>
            </a:r>
          </a:p>
        </p:txBody>
      </p:sp>
      <p:sp>
        <p:nvSpPr>
          <p:cNvPr id="11" name="Text Placeholder 6">
            <a:extLst>
              <a:ext uri="{FF2B5EF4-FFF2-40B4-BE49-F238E27FC236}">
                <a16:creationId xmlns:a16="http://schemas.microsoft.com/office/drawing/2014/main" id="{96194DD8-166E-44C1-B715-8F6DC720E8C3}"/>
              </a:ext>
            </a:extLst>
          </p:cNvPr>
          <p:cNvSpPr>
            <a:spLocks noGrp="1"/>
          </p:cNvSpPr>
          <p:nvPr/>
        </p:nvSpPr>
        <p:spPr>
          <a:xfrm>
            <a:off x="109567" y="2661666"/>
            <a:ext cx="4305091" cy="322253"/>
          </a:xfrm>
          <a:prstGeom prst="rect">
            <a:avLst/>
          </a:prstGeom>
        </p:spPr>
        <p:txBody>
          <a:bodyPr/>
          <a:lstStyle>
            <a:lvl1pPr marL="0" indent="0" algn="l" defTabSz="457200" rtl="0" eaLnBrk="1" latinLnBrk="0" hangingPunct="1">
              <a:spcBef>
                <a:spcPct val="20000"/>
              </a:spcBef>
              <a:buFont typeface="Arial"/>
              <a:buNone/>
              <a:defRPr sz="1200" b="0" i="0"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1200" b="0" i="0" u="none" strike="noStrike" kern="1200" cap="none" spc="0" normalizeH="0" baseline="0" noProof="0" dirty="0">
                <a:ln>
                  <a:noFill/>
                </a:ln>
                <a:solidFill>
                  <a:prstClr val="black"/>
                </a:solidFill>
                <a:effectLst/>
                <a:uLnTx/>
                <a:uFillTx/>
                <a:latin typeface="Helvetica" charset="0"/>
                <a:cs typeface="Helvetica" charset="0"/>
              </a:rPr>
              <a:t>Stewart School of Industrial and Systems Engineering</a:t>
            </a:r>
          </a:p>
        </p:txBody>
      </p:sp>
      <p:sp>
        <p:nvSpPr>
          <p:cNvPr id="8" name="Text Placeholder 5">
            <a:extLst>
              <a:ext uri="{FF2B5EF4-FFF2-40B4-BE49-F238E27FC236}">
                <a16:creationId xmlns:a16="http://schemas.microsoft.com/office/drawing/2014/main" id="{8F177B68-4DAF-4CF6-AE9E-060561452E9A}"/>
              </a:ext>
            </a:extLst>
          </p:cNvPr>
          <p:cNvSpPr>
            <a:spLocks noGrp="1"/>
          </p:cNvSpPr>
          <p:nvPr/>
        </p:nvSpPr>
        <p:spPr>
          <a:xfrm>
            <a:off x="92789" y="4102100"/>
            <a:ext cx="4305091" cy="878110"/>
          </a:xfrm>
          <a:prstGeom prst="rect">
            <a:avLst/>
          </a:prstGeom>
        </p:spPr>
        <p:txBody>
          <a:bodyPr/>
          <a:lstStyle>
            <a:lvl1pPr marL="0" indent="0" algn="l" defTabSz="457200" rtl="0" eaLnBrk="1" latinLnBrk="0" hangingPunct="1">
              <a:spcBef>
                <a:spcPct val="20000"/>
              </a:spcBef>
              <a:buFont typeface="Arial"/>
              <a:buNone/>
              <a:defRPr sz="1400" b="0" i="0" kern="1200" baseline="0">
                <a:solidFill>
                  <a:schemeClr val="tx2"/>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t>Regularized Regression: </a:t>
            </a:r>
            <a:br>
              <a:rPr lang="en-US" sz="2000" dirty="0"/>
            </a:br>
            <a:r>
              <a:rPr lang="en-US" sz="2000" dirty="0"/>
              <a:t>Data Examples</a:t>
            </a:r>
          </a:p>
        </p:txBody>
      </p:sp>
    </p:spTree>
    <p:custDataLst>
      <p:tags r:id="rId1"/>
    </p:custDataLst>
    <p:extLst>
      <p:ext uri="{BB962C8B-B14F-4D97-AF65-F5344CB8AC3E}">
        <p14:creationId xmlns:p14="http://schemas.microsoft.com/office/powerpoint/2010/main" val="432141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15820" t="7499" r="15454" b="5507"/>
          <a:stretch/>
        </p:blipFill>
        <p:spPr>
          <a:xfrm>
            <a:off x="3422383" y="1074049"/>
            <a:ext cx="2392685" cy="3028613"/>
          </a:xfrm>
          <a:prstGeom prst="rect">
            <a:avLst/>
          </a:prstGeom>
        </p:spPr>
      </p:pic>
      <p:sp>
        <p:nvSpPr>
          <p:cNvPr id="2" name="Text Placeholder 1"/>
          <p:cNvSpPr>
            <a:spLocks noGrp="1"/>
          </p:cNvSpPr>
          <p:nvPr>
            <p:ph type="body" sz="quarter" idx="4294967295"/>
          </p:nvPr>
        </p:nvSpPr>
        <p:spPr>
          <a:xfrm>
            <a:off x="121380" y="154185"/>
            <a:ext cx="4727575" cy="731837"/>
          </a:xfrm>
        </p:spPr>
        <p:txBody>
          <a:bodyPr anchor="t">
            <a:normAutofit/>
          </a:bodyPr>
          <a:lstStyle/>
          <a:p>
            <a:pPr>
              <a:spcBef>
                <a:spcPct val="0"/>
              </a:spcBef>
            </a:pPr>
            <a:r>
              <a:rPr lang="en-US" sz="3600" dirty="0">
                <a:latin typeface="Vitesse" charset="0"/>
                <a:ea typeface="Vitesse" charset="0"/>
                <a:cs typeface="Vitesse" charset="0"/>
              </a:rPr>
              <a:t>About This Lesson</a:t>
            </a:r>
          </a:p>
        </p:txBody>
      </p:sp>
    </p:spTree>
    <p:custDataLst>
      <p:tags r:id="rId1"/>
    </p:custDataLst>
    <p:extLst>
      <p:ext uri="{BB962C8B-B14F-4D97-AF65-F5344CB8AC3E}">
        <p14:creationId xmlns:p14="http://schemas.microsoft.com/office/powerpoint/2010/main" val="2357991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Box 1"/>
          <p:cNvSpPr txBox="1">
            <a:spLocks noChangeArrowheads="1"/>
          </p:cNvSpPr>
          <p:nvPr/>
        </p:nvSpPr>
        <p:spPr bwMode="auto">
          <a:xfrm>
            <a:off x="5394121" y="1062180"/>
            <a:ext cx="3598877" cy="23083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1" u="none" strike="noStrike" kern="1200" cap="none" spc="0" normalizeH="0" baseline="0" noProof="0" dirty="0">
                <a:ln>
                  <a:noFill/>
                </a:ln>
                <a:solidFill>
                  <a:srgbClr val="EEB211"/>
                </a:solidFill>
                <a:effectLst/>
                <a:uLnTx/>
                <a:uFillTx/>
                <a:latin typeface="Helvetica" charset="0"/>
                <a:ea typeface="Helvetica" charset="0"/>
                <a:cs typeface="Helvetica" charset="0"/>
              </a:rPr>
              <a:t>Which variables are associated with state average SAT scores?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1" i="1" u="none" strike="noStrike" kern="1200" cap="none" spc="0" normalizeH="0" baseline="0" noProof="0" dirty="0">
              <a:ln>
                <a:noFill/>
              </a:ln>
              <a:solidFill>
                <a:srgbClr val="EEB211"/>
              </a:solidFill>
              <a:effectLst/>
              <a:uLnTx/>
              <a:uFillTx/>
              <a:latin typeface="Helvetica" charset="0"/>
              <a:ea typeface="Helvetica" charset="0"/>
              <a:cs typeface="Helvetica"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1" u="none" strike="noStrike" kern="1200" cap="none" spc="0" normalizeH="0" baseline="0" noProof="0" dirty="0">
                <a:ln>
                  <a:noFill/>
                </a:ln>
                <a:solidFill>
                  <a:srgbClr val="EEB211"/>
                </a:solidFill>
                <a:effectLst/>
                <a:uLnTx/>
                <a:uFillTx/>
                <a:latin typeface="Helvetica" charset="0"/>
                <a:ea typeface="Helvetica" charset="0"/>
                <a:cs typeface="Helvetica" charset="0"/>
              </a:rPr>
              <a:t>After accounting for selection biases, how do the states rank?</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1" i="1" u="none" strike="noStrike" kern="1200" cap="none" spc="0" normalizeH="0" baseline="0" noProof="0" dirty="0">
              <a:ln>
                <a:noFill/>
              </a:ln>
              <a:solidFill>
                <a:srgbClr val="EEB211"/>
              </a:solidFill>
              <a:effectLst/>
              <a:uLnTx/>
              <a:uFillTx/>
              <a:latin typeface="Helvetica" charset="0"/>
              <a:ea typeface="Helvetica" charset="0"/>
              <a:cs typeface="Helvetica"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1" u="none" strike="noStrike" kern="1200" cap="none" spc="0" normalizeH="0" baseline="0" noProof="0" dirty="0">
                <a:ln>
                  <a:noFill/>
                </a:ln>
                <a:solidFill>
                  <a:srgbClr val="EEB211"/>
                </a:solidFill>
                <a:effectLst/>
                <a:uLnTx/>
                <a:uFillTx/>
                <a:latin typeface="Helvetica" charset="0"/>
                <a:ea typeface="Helvetica" charset="0"/>
                <a:cs typeface="Helvetica" charset="0"/>
              </a:rPr>
              <a:t>Which states perform best for the amount of money they spend?</a:t>
            </a:r>
          </a:p>
        </p:txBody>
      </p:sp>
      <p:sp>
        <p:nvSpPr>
          <p:cNvPr id="2" name="标题 1"/>
          <p:cNvSpPr>
            <a:spLocks noGrp="1"/>
          </p:cNvSpPr>
          <p:nvPr>
            <p:ph type="title"/>
          </p:nvPr>
        </p:nvSpPr>
        <p:spPr>
          <a:xfrm>
            <a:off x="76180" y="157232"/>
            <a:ext cx="8562392" cy="631333"/>
          </a:xfrm>
        </p:spPr>
        <p:txBody>
          <a:bodyPr/>
          <a:lstStyle/>
          <a:p>
            <a:r>
              <a:rPr lang="en-US" altLang="zh-CN" sz="3600" dirty="0">
                <a:latin typeface="Vitesse"/>
              </a:rPr>
              <a:t>Ranking</a:t>
            </a:r>
            <a:r>
              <a:rPr lang="zh-CN" altLang="en-US" sz="3600" dirty="0">
                <a:latin typeface="Vitesse"/>
              </a:rPr>
              <a:t> </a:t>
            </a:r>
            <a:r>
              <a:rPr lang="en-US" altLang="zh-CN" sz="3600" dirty="0">
                <a:latin typeface="Vitesse"/>
              </a:rPr>
              <a:t>States</a:t>
            </a:r>
            <a:r>
              <a:rPr lang="zh-CN" altLang="en-US" sz="3600" dirty="0">
                <a:latin typeface="Vitesse"/>
              </a:rPr>
              <a:t> </a:t>
            </a:r>
            <a:r>
              <a:rPr lang="en-US" altLang="zh-CN" sz="3600" dirty="0">
                <a:latin typeface="Vitesse"/>
              </a:rPr>
              <a:t>by</a:t>
            </a:r>
            <a:r>
              <a:rPr lang="zh-CN" altLang="en-US" sz="3600" dirty="0">
                <a:latin typeface="Vitesse"/>
              </a:rPr>
              <a:t> </a:t>
            </a:r>
            <a:r>
              <a:rPr lang="en-US" altLang="zh-CN" sz="3600" dirty="0">
                <a:latin typeface="Vitesse"/>
              </a:rPr>
              <a:t>SAT</a:t>
            </a:r>
            <a:r>
              <a:rPr lang="zh-CN" altLang="en-US" sz="3600" dirty="0">
                <a:latin typeface="Vitesse"/>
              </a:rPr>
              <a:t> </a:t>
            </a:r>
            <a:r>
              <a:rPr lang="en-US" altLang="zh-CN" sz="3600" dirty="0">
                <a:latin typeface="Vitesse"/>
              </a:rPr>
              <a:t>Performance</a:t>
            </a:r>
            <a:endParaRPr lang="zh-CN" altLang="en-US" sz="3600" dirty="0">
              <a:latin typeface="Vitesse"/>
            </a:endParaRP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577" y="1175256"/>
            <a:ext cx="4392305" cy="2994072"/>
          </a:xfrm>
          <a:prstGeom prst="rect">
            <a:avLst/>
          </a:prstGeom>
        </p:spPr>
      </p:pic>
      <p:sp>
        <p:nvSpPr>
          <p:cNvPr id="6" name="Rectangle 5"/>
          <p:cNvSpPr/>
          <p:nvPr/>
        </p:nvSpPr>
        <p:spPr>
          <a:xfrm>
            <a:off x="199577" y="4272771"/>
            <a:ext cx="4372423" cy="523220"/>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Helvetica" panose="020B0604020202020204" pitchFamily="34" charset="0"/>
                <a:ea typeface="Helvetica Neue" charset="0"/>
                <a:cs typeface="Helvetica" panose="020B0604020202020204" pitchFamily="34" charset="0"/>
              </a:rPr>
              <a:t>SAT Mean Score by State – Year 1982</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Helvetica" panose="020B0604020202020204" pitchFamily="34" charset="0"/>
                <a:ea typeface="Helvetica Neue" charset="0"/>
                <a:cs typeface="Helvetica" panose="020B0604020202020204" pitchFamily="34" charset="0"/>
              </a:rPr>
              <a:t>790 (South Carolina) – 1088 (Iowa)</a:t>
            </a:r>
            <a:endParaRPr kumimoji="0" lang="en-US" sz="1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p:txBody>
      </p:sp>
    </p:spTree>
    <p:custDataLst>
      <p:tags r:id="rId1"/>
    </p:custDataLst>
    <p:extLst>
      <p:ext uri="{BB962C8B-B14F-4D97-AF65-F5344CB8AC3E}">
        <p14:creationId xmlns:p14="http://schemas.microsoft.com/office/powerpoint/2010/main" val="168852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14472" y="970333"/>
            <a:ext cx="8394937" cy="3785652"/>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i="1" dirty="0">
                <a:latin typeface="Helvetica" panose="020B0604020202020204" pitchFamily="34" charset="0"/>
                <a:ea typeface="Helvetica Neue" charset="0"/>
                <a:cs typeface="Helvetica" panose="020B0604020202020204" pitchFamily="34" charset="0"/>
              </a:rPr>
              <a:t>library(MASS)</a:t>
            </a:r>
          </a:p>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Scale the predicting variables and the response variable</a:t>
            </a:r>
          </a:p>
          <a:p>
            <a:pPr>
              <a:defRPr/>
            </a:pPr>
            <a:r>
              <a:rPr lang="en-US" sz="1200" i="1" dirty="0" err="1">
                <a:latin typeface="Helvetica" panose="020B0604020202020204" pitchFamily="34" charset="0"/>
                <a:ea typeface="Helvetica Neue" charset="0"/>
                <a:cs typeface="Helvetica" panose="020B0604020202020204" pitchFamily="34" charset="0"/>
              </a:rPr>
              <a:t>ltakers</a:t>
            </a:r>
            <a:r>
              <a:rPr lang="en-US" sz="1200" i="1" dirty="0">
                <a:latin typeface="Helvetica" panose="020B0604020202020204" pitchFamily="34" charset="0"/>
                <a:ea typeface="Helvetica Neue" charset="0"/>
                <a:cs typeface="Helvetica" panose="020B0604020202020204" pitchFamily="34" charset="0"/>
              </a:rPr>
              <a:t> = log(takers)</a:t>
            </a:r>
          </a:p>
          <a:p>
            <a:pPr>
              <a:defRPr/>
            </a:pPr>
            <a:r>
              <a:rPr lang="en-US" sz="1200" i="1" dirty="0">
                <a:latin typeface="Helvetica" panose="020B0604020202020204" pitchFamily="34" charset="0"/>
                <a:ea typeface="Helvetica Neue" charset="0"/>
                <a:cs typeface="Helvetica" panose="020B0604020202020204" pitchFamily="34" charset="0"/>
              </a:rPr>
              <a:t>predictors = </a:t>
            </a:r>
            <a:r>
              <a:rPr lang="en-US" sz="1200" i="1" dirty="0" err="1">
                <a:latin typeface="Helvetica" panose="020B0604020202020204" pitchFamily="34" charset="0"/>
                <a:ea typeface="Helvetica Neue" charset="0"/>
                <a:cs typeface="Helvetica" panose="020B0604020202020204" pitchFamily="34" charset="0"/>
              </a:rPr>
              <a:t>cbind</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ltakers</a:t>
            </a:r>
            <a:r>
              <a:rPr lang="en-US" sz="1200" i="1" dirty="0">
                <a:latin typeface="Helvetica" panose="020B0604020202020204" pitchFamily="34" charset="0"/>
                <a:ea typeface="Helvetica Neue" charset="0"/>
                <a:cs typeface="Helvetica" panose="020B0604020202020204" pitchFamily="34" charset="0"/>
              </a:rPr>
              <a:t>, rank, income, years, public, expend)</a:t>
            </a:r>
          </a:p>
          <a:p>
            <a:pPr>
              <a:defRPr/>
            </a:pPr>
            <a:r>
              <a:rPr lang="en-US" sz="1200" i="1" dirty="0">
                <a:latin typeface="Helvetica" panose="020B0604020202020204" pitchFamily="34" charset="0"/>
                <a:ea typeface="Helvetica Neue" charset="0"/>
                <a:cs typeface="Helvetica" panose="020B0604020202020204" pitchFamily="34" charset="0"/>
              </a:rPr>
              <a:t>predictors = scale(predictors)</a:t>
            </a:r>
          </a:p>
          <a:p>
            <a:pPr>
              <a:defRPr/>
            </a:pPr>
            <a:r>
              <a:rPr lang="en-US" sz="1200" i="1" dirty="0" err="1">
                <a:latin typeface="Helvetica" panose="020B0604020202020204" pitchFamily="34" charset="0"/>
                <a:ea typeface="Helvetica Neue" charset="0"/>
                <a:cs typeface="Helvetica" panose="020B0604020202020204" pitchFamily="34" charset="0"/>
              </a:rPr>
              <a:t>sat.scaled</a:t>
            </a:r>
            <a:r>
              <a:rPr lang="en-US" sz="1200" i="1" dirty="0">
                <a:latin typeface="Helvetica" panose="020B0604020202020204" pitchFamily="34" charset="0"/>
                <a:ea typeface="Helvetica Neue" charset="0"/>
                <a:cs typeface="Helvetica" panose="020B0604020202020204" pitchFamily="34" charset="0"/>
              </a:rPr>
              <a:t> = scale(sat)</a:t>
            </a:r>
          </a:p>
          <a:p>
            <a:pPr>
              <a:defRPr/>
            </a:pPr>
            <a:endParaRPr lang="en-US" sz="1200" dirty="0">
              <a:solidFill>
                <a:srgbClr val="8E4221"/>
              </a:solidFill>
              <a:latin typeface="Helvetica" panose="020B0604020202020204" pitchFamily="34" charset="0"/>
              <a:ea typeface="Helvetica Neue" charset="0"/>
              <a:cs typeface="Helvetica" panose="020B0604020202020204" pitchFamily="34" charset="0"/>
            </a:endParaRPr>
          </a:p>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Apply ridge regression for a range of penalty constants</a:t>
            </a:r>
          </a:p>
          <a:p>
            <a:pPr>
              <a:defRPr/>
            </a:pPr>
            <a:r>
              <a:rPr lang="en-US" sz="1200" i="1" dirty="0">
                <a:latin typeface="Helvetica" panose="020B0604020202020204" pitchFamily="34" charset="0"/>
                <a:ea typeface="Helvetica Neue" charset="0"/>
                <a:cs typeface="Helvetica" panose="020B0604020202020204" pitchFamily="34" charset="0"/>
              </a:rPr>
              <a:t>lambda = seq(0, 10, by=0.25)</a:t>
            </a:r>
          </a:p>
          <a:p>
            <a:pPr>
              <a:defRPr/>
            </a:pPr>
            <a:r>
              <a:rPr lang="en-US" sz="1200" i="1" dirty="0">
                <a:latin typeface="Helvetica" panose="020B0604020202020204" pitchFamily="34" charset="0"/>
                <a:ea typeface="Helvetica Neue" charset="0"/>
                <a:cs typeface="Helvetica" panose="020B0604020202020204" pitchFamily="34" charset="0"/>
              </a:rPr>
              <a:t>out = </a:t>
            </a:r>
            <a:r>
              <a:rPr lang="en-US" sz="1200" i="1" dirty="0" err="1">
                <a:latin typeface="Helvetica" panose="020B0604020202020204" pitchFamily="34" charset="0"/>
                <a:ea typeface="Helvetica Neue" charset="0"/>
                <a:cs typeface="Helvetica" panose="020B0604020202020204" pitchFamily="34" charset="0"/>
              </a:rPr>
              <a:t>lm.ridge</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sat.scaled~predictors</a:t>
            </a:r>
            <a:r>
              <a:rPr lang="en-US" sz="1200" i="1" dirty="0">
                <a:latin typeface="Helvetica" panose="020B0604020202020204" pitchFamily="34" charset="0"/>
                <a:ea typeface="Helvetica Neue" charset="0"/>
                <a:cs typeface="Helvetica" panose="020B0604020202020204" pitchFamily="34" charset="0"/>
              </a:rPr>
              <a:t>, lambda=lambda)</a:t>
            </a:r>
            <a:r>
              <a:rPr lang="de-DE" sz="1200" i="1" dirty="0">
                <a:latin typeface="Helvetica" panose="020B0604020202020204" pitchFamily="34" charset="0"/>
                <a:ea typeface="Helvetica Neue" charset="0"/>
                <a:cs typeface="Helvetica" panose="020B0604020202020204" pitchFamily="34" charset="0"/>
              </a:rPr>
              <a:t>   </a:t>
            </a:r>
          </a:p>
          <a:p>
            <a:pPr>
              <a:defRPr/>
            </a:pPr>
            <a:r>
              <a:rPr lang="de-DE" sz="1200" i="1" dirty="0">
                <a:latin typeface="Helvetica" panose="020B0604020202020204" pitchFamily="34" charset="0"/>
                <a:ea typeface="Helvetica Neue" charset="0"/>
                <a:cs typeface="Helvetica" panose="020B0604020202020204" pitchFamily="34" charset="0"/>
              </a:rPr>
              <a:t>round(out$GCV, 5)</a:t>
            </a:r>
          </a:p>
          <a:p>
            <a:pPr>
              <a:defRPr/>
            </a:pPr>
            <a:endParaRPr lang="de-DE" sz="1200" dirty="0">
              <a:solidFill>
                <a:schemeClr val="accent1">
                  <a:lumMod val="75000"/>
                </a:schemeClr>
              </a:solidFill>
              <a:latin typeface="Helvetica" panose="020B0604020202020204" pitchFamily="34" charset="0"/>
              <a:ea typeface="Helvetica Neue" charset="0"/>
              <a:cs typeface="Helvetica" panose="020B0604020202020204" pitchFamily="34" charset="0"/>
            </a:endParaRPr>
          </a:p>
          <a:p>
            <a:pPr>
              <a:defRPr/>
            </a:pPr>
            <a:r>
              <a:rPr lang="de-DE" sz="1200" i="1" dirty="0">
                <a:latin typeface="Helvetica" panose="020B0604020202020204" pitchFamily="34" charset="0"/>
                <a:ea typeface="Helvetica Neue" charset="0"/>
                <a:cs typeface="Helvetica" panose="020B0604020202020204" pitchFamily="34" charset="0"/>
              </a:rPr>
              <a:t>which(out$GCV == min(out$GCV))</a:t>
            </a:r>
          </a:p>
          <a:p>
            <a:pPr>
              <a:defRPr/>
            </a:pPr>
            <a:r>
              <a:rPr lang="de-DE" sz="1200" dirty="0">
                <a:latin typeface="Helvetica" panose="020B0604020202020204" pitchFamily="34" charset="0"/>
                <a:ea typeface="Helvetica Neue" charset="0"/>
                <a:cs typeface="Helvetica" panose="020B0604020202020204" pitchFamily="34" charset="0"/>
              </a:rPr>
              <a:t> 2.25 </a:t>
            </a:r>
          </a:p>
          <a:p>
            <a:pPr>
              <a:defRPr/>
            </a:pPr>
            <a:r>
              <a:rPr lang="de-DE" sz="1200" dirty="0">
                <a:latin typeface="Helvetica" panose="020B0604020202020204" pitchFamily="34" charset="0"/>
                <a:ea typeface="Helvetica Neue" charset="0"/>
                <a:cs typeface="Helvetica" panose="020B0604020202020204" pitchFamily="34" charset="0"/>
              </a:rPr>
              <a:t>    10 </a:t>
            </a:r>
          </a:p>
          <a:p>
            <a:pPr>
              <a:defRPr/>
            </a:pPr>
            <a:r>
              <a:rPr lang="de-DE" sz="1200" i="1" dirty="0">
                <a:latin typeface="Helvetica" panose="020B0604020202020204" pitchFamily="34" charset="0"/>
                <a:ea typeface="Helvetica Neue" charset="0"/>
                <a:cs typeface="Helvetica" panose="020B0604020202020204" pitchFamily="34" charset="0"/>
              </a:rPr>
              <a:t>round(out$coef[,10], 4)</a:t>
            </a:r>
          </a:p>
          <a:p>
            <a:pPr>
              <a:defRPr/>
            </a:pPr>
            <a:r>
              <a:rPr lang="en-US" sz="1200" dirty="0" err="1">
                <a:latin typeface="Helvetica" panose="020B0604020202020204" pitchFamily="34" charset="0"/>
                <a:ea typeface="Helvetica Neue" charset="0"/>
                <a:cs typeface="Helvetica" panose="020B0604020202020204" pitchFamily="34" charset="0"/>
              </a:rPr>
              <a:t>predictorsltakers</a:t>
            </a:r>
            <a:r>
              <a:rPr lang="en-US" sz="1200" dirty="0">
                <a:latin typeface="Helvetica" panose="020B0604020202020204" pitchFamily="34" charset="0"/>
                <a:ea typeface="Helvetica Neue" charset="0"/>
                <a:cs typeface="Helvetica" panose="020B0604020202020204" pitchFamily="34" charset="0"/>
              </a:rPr>
              <a:t>    </a:t>
            </a:r>
            <a:r>
              <a:rPr lang="en-US" sz="1200" dirty="0" err="1">
                <a:latin typeface="Helvetica" panose="020B0604020202020204" pitchFamily="34" charset="0"/>
                <a:ea typeface="Helvetica Neue" charset="0"/>
                <a:cs typeface="Helvetica" panose="020B0604020202020204" pitchFamily="34" charset="0"/>
              </a:rPr>
              <a:t>predictorsrank</a:t>
            </a:r>
            <a:r>
              <a:rPr lang="en-US" sz="1200" dirty="0">
                <a:latin typeface="Helvetica" panose="020B0604020202020204" pitchFamily="34" charset="0"/>
                <a:ea typeface="Helvetica Neue" charset="0"/>
                <a:cs typeface="Helvetica" panose="020B0604020202020204" pitchFamily="34" charset="0"/>
              </a:rPr>
              <a:t>  </a:t>
            </a:r>
            <a:r>
              <a:rPr lang="en-US" sz="1200" dirty="0" err="1">
                <a:latin typeface="Helvetica" panose="020B0604020202020204" pitchFamily="34" charset="0"/>
                <a:ea typeface="Helvetica Neue" charset="0"/>
                <a:cs typeface="Helvetica" panose="020B0604020202020204" pitchFamily="34" charset="0"/>
              </a:rPr>
              <a:t>predictorsincome</a:t>
            </a:r>
            <a:r>
              <a:rPr lang="en-US" sz="1200" dirty="0">
                <a:latin typeface="Helvetica" panose="020B0604020202020204" pitchFamily="34" charset="0"/>
                <a:ea typeface="Helvetica Neue" charset="0"/>
                <a:cs typeface="Helvetica" panose="020B0604020202020204" pitchFamily="34" charset="0"/>
              </a:rPr>
              <a:t>   </a:t>
            </a:r>
            <a:r>
              <a:rPr lang="en-US" sz="1200" dirty="0" err="1">
                <a:latin typeface="Helvetica" panose="020B0604020202020204" pitchFamily="34" charset="0"/>
                <a:ea typeface="Helvetica Neue" charset="0"/>
                <a:cs typeface="Helvetica" panose="020B0604020202020204" pitchFamily="34" charset="0"/>
              </a:rPr>
              <a:t>predictorsyears</a:t>
            </a:r>
            <a:r>
              <a:rPr lang="en-US" sz="1200" dirty="0">
                <a:latin typeface="Helvetica" panose="020B0604020202020204" pitchFamily="34" charset="0"/>
                <a:ea typeface="Helvetica Neue" charset="0"/>
                <a:cs typeface="Helvetica" panose="020B0604020202020204" pitchFamily="34" charset="0"/>
              </a:rPr>
              <a:t>  </a:t>
            </a:r>
            <a:r>
              <a:rPr lang="en-US" sz="1200" dirty="0" err="1">
                <a:latin typeface="Helvetica" panose="020B0604020202020204" pitchFamily="34" charset="0"/>
                <a:ea typeface="Helvetica Neue" charset="0"/>
                <a:cs typeface="Helvetica" panose="020B0604020202020204" pitchFamily="34" charset="0"/>
              </a:rPr>
              <a:t>predictorspublic</a:t>
            </a:r>
            <a:r>
              <a:rPr lang="en-US" sz="1200" dirty="0">
                <a:latin typeface="Helvetica" panose="020B0604020202020204" pitchFamily="34" charset="0"/>
                <a:ea typeface="Helvetica Neue" charset="0"/>
                <a:cs typeface="Helvetica" panose="020B0604020202020204" pitchFamily="34" charset="0"/>
              </a:rPr>
              <a:t> </a:t>
            </a:r>
          </a:p>
          <a:p>
            <a:pPr>
              <a:defRPr/>
            </a:pPr>
            <a:r>
              <a:rPr lang="en-US" sz="1200" dirty="0">
                <a:latin typeface="Helvetica" panose="020B0604020202020204" pitchFamily="34" charset="0"/>
                <a:ea typeface="Helvetica Neue" charset="0"/>
                <a:cs typeface="Helvetica" panose="020B0604020202020204" pitchFamily="34" charset="0"/>
              </a:rPr>
              <a:t>              -0.4771                0.4195                  0.0223                0.1796               -0.0028 </a:t>
            </a:r>
          </a:p>
          <a:p>
            <a:pPr>
              <a:defRPr/>
            </a:pPr>
            <a:r>
              <a:rPr lang="en-US" sz="1200" dirty="0">
                <a:latin typeface="Helvetica" panose="020B0604020202020204" pitchFamily="34" charset="0"/>
                <a:ea typeface="Helvetica Neue" charset="0"/>
                <a:cs typeface="Helvetica" panose="020B0604020202020204" pitchFamily="34" charset="0"/>
              </a:rPr>
              <a:t> </a:t>
            </a:r>
            <a:r>
              <a:rPr lang="en-US" sz="1200" dirty="0" err="1">
                <a:latin typeface="Helvetica" panose="020B0604020202020204" pitchFamily="34" charset="0"/>
                <a:ea typeface="Helvetica Neue" charset="0"/>
                <a:cs typeface="Helvetica" panose="020B0604020202020204" pitchFamily="34" charset="0"/>
              </a:rPr>
              <a:t>predictorsexpend</a:t>
            </a:r>
            <a:r>
              <a:rPr lang="en-US" sz="1200" dirty="0">
                <a:latin typeface="Helvetica" panose="020B0604020202020204" pitchFamily="34" charset="0"/>
                <a:ea typeface="Helvetica Neue" charset="0"/>
                <a:cs typeface="Helvetica" panose="020B0604020202020204" pitchFamily="34" charset="0"/>
              </a:rPr>
              <a:t> </a:t>
            </a:r>
          </a:p>
          <a:p>
            <a:pPr>
              <a:defRPr/>
            </a:pPr>
            <a:r>
              <a:rPr lang="en-US" sz="1200" dirty="0">
                <a:latin typeface="Helvetica" panose="020B0604020202020204" pitchFamily="34" charset="0"/>
                <a:ea typeface="Helvetica Neue" charset="0"/>
                <a:cs typeface="Helvetica" panose="020B0604020202020204" pitchFamily="34" charset="0"/>
              </a:rPr>
              <a:t>                 0.1808 </a:t>
            </a:r>
          </a:p>
        </p:txBody>
      </p:sp>
      <p:sp>
        <p:nvSpPr>
          <p:cNvPr id="12" name="Title 1"/>
          <p:cNvSpPr txBox="1">
            <a:spLocks/>
          </p:cNvSpPr>
          <p:nvPr/>
        </p:nvSpPr>
        <p:spPr>
          <a:xfrm>
            <a:off x="74202" y="259020"/>
            <a:ext cx="8382000" cy="552594"/>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Ridge Regression</a:t>
            </a:r>
          </a:p>
        </p:txBody>
      </p:sp>
      <p:sp>
        <p:nvSpPr>
          <p:cNvPr id="13" name="TextBox 12"/>
          <p:cNvSpPr txBox="1"/>
          <p:nvPr/>
        </p:nvSpPr>
        <p:spPr>
          <a:xfrm>
            <a:off x="5486398" y="2406610"/>
            <a:ext cx="3505202" cy="738664"/>
          </a:xfrm>
          <a:prstGeom prst="rect">
            <a:avLst/>
          </a:prstGeom>
          <a:solidFill>
            <a:schemeClr val="bg1"/>
          </a:solidFill>
          <a:ln w="19050">
            <a:solidFill>
              <a:schemeClr val="tx2"/>
            </a:solidFill>
          </a:ln>
        </p:spPr>
        <p:txBody>
          <a:bodyPr wrap="square" rtlCol="0">
            <a:spAutoFit/>
          </a:bodyPr>
          <a:lstStyle/>
          <a:p>
            <a:r>
              <a:rPr lang="en-US" sz="1400" dirty="0">
                <a:latin typeface="Helvetica" charset="0"/>
                <a:ea typeface="Helvetica" charset="0"/>
                <a:cs typeface="Helvetica" charset="0"/>
              </a:rPr>
              <a:t>The ridge regression outputs estimates for each lambda in the considered range </a:t>
            </a:r>
            <a:r>
              <a:rPr lang="en-US" sz="1400" i="1" dirty="0">
                <a:latin typeface="Helvetica" charset="0"/>
                <a:ea typeface="Helvetica" charset="0"/>
                <a:cs typeface="Helvetica" charset="0"/>
              </a:rPr>
              <a:t>(not shown)</a:t>
            </a:r>
          </a:p>
        </p:txBody>
      </p:sp>
      <p:sp>
        <p:nvSpPr>
          <p:cNvPr id="6" name="TextBox 5">
            <a:extLst>
              <a:ext uri="{FF2B5EF4-FFF2-40B4-BE49-F238E27FC236}">
                <a16:creationId xmlns:a16="http://schemas.microsoft.com/office/drawing/2014/main" id="{75738E01-54EC-41AE-9DC9-F26B597192B5}"/>
              </a:ext>
            </a:extLst>
          </p:cNvPr>
          <p:cNvSpPr txBox="1"/>
          <p:nvPr/>
        </p:nvSpPr>
        <p:spPr>
          <a:xfrm>
            <a:off x="5492902" y="3299338"/>
            <a:ext cx="3498698" cy="523220"/>
          </a:xfrm>
          <a:prstGeom prst="rect">
            <a:avLst/>
          </a:prstGeom>
          <a:solidFill>
            <a:schemeClr val="bg1"/>
          </a:solidFill>
          <a:ln w="19050">
            <a:solidFill>
              <a:schemeClr val="tx2"/>
            </a:solidFill>
          </a:ln>
        </p:spPr>
        <p:txBody>
          <a:bodyPr wrap="square" rtlCol="0">
            <a:spAutoFit/>
          </a:bodyPr>
          <a:lstStyle/>
          <a:p>
            <a:r>
              <a:rPr lang="en-US" sz="1400">
                <a:latin typeface="Helvetica" charset="0"/>
                <a:ea typeface="Helvetica" charset="0"/>
                <a:cs typeface="Helvetica" charset="0"/>
              </a:rPr>
              <a:t>The lambda is selected to minimize the (generalized) CV score</a:t>
            </a:r>
          </a:p>
        </p:txBody>
      </p:sp>
      <p:sp>
        <p:nvSpPr>
          <p:cNvPr id="2" name="Right Brace 1">
            <a:extLst>
              <a:ext uri="{FF2B5EF4-FFF2-40B4-BE49-F238E27FC236}">
                <a16:creationId xmlns:a16="http://schemas.microsoft.com/office/drawing/2014/main" id="{F0163B4F-E862-426A-99A5-2EA39E00F8D6}"/>
              </a:ext>
            </a:extLst>
          </p:cNvPr>
          <p:cNvSpPr/>
          <p:nvPr/>
        </p:nvSpPr>
        <p:spPr>
          <a:xfrm>
            <a:off x="4399553" y="2499645"/>
            <a:ext cx="388282" cy="552594"/>
          </a:xfrm>
          <a:prstGeom prst="rightBrace">
            <a:avLst>
              <a:gd name="adj1" fmla="val 8333"/>
              <a:gd name="adj2" fmla="val 49656"/>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 name="Right Brace 2">
            <a:extLst>
              <a:ext uri="{FF2B5EF4-FFF2-40B4-BE49-F238E27FC236}">
                <a16:creationId xmlns:a16="http://schemas.microsoft.com/office/drawing/2014/main" id="{D021FA3A-F34C-4B29-9A8E-0F9C078ED3FA}"/>
              </a:ext>
            </a:extLst>
          </p:cNvPr>
          <p:cNvSpPr/>
          <p:nvPr/>
        </p:nvSpPr>
        <p:spPr>
          <a:xfrm>
            <a:off x="4401093" y="3208047"/>
            <a:ext cx="388282" cy="705802"/>
          </a:xfrm>
          <a:prstGeom prst="rightBrace">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686414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68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68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683">
                                            <p:txEl>
                                              <p:pRg st="10" end="1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1683">
                                            <p:txEl>
                                              <p:pRg st="14" end="1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168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1683">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1683">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1683">
                                            <p:txEl>
                                              <p:pRg st="19" end="1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1683">
                                            <p:txEl>
                                              <p:pRg st="16" end="1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1683">
                                            <p:txEl>
                                              <p:pRg st="17" end="1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1683">
                                            <p:txEl>
                                              <p:pRg st="18" end="1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6" grpId="0" animBg="1"/>
      <p:bldP spid="2" grpId="0" animBg="1"/>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20105" y="968426"/>
            <a:ext cx="4451895" cy="1938992"/>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i="1" dirty="0">
                <a:latin typeface="Helvetica" panose="020B0604020202020204" pitchFamily="34" charset="0"/>
                <a:ea typeface="Helvetica Neue" charset="0"/>
                <a:cs typeface="Helvetica" panose="020B0604020202020204" pitchFamily="34" charset="0"/>
              </a:rPr>
              <a:t>plot(lambda, </a:t>
            </a:r>
            <a:r>
              <a:rPr lang="en-US" sz="1200" i="1" dirty="0" err="1">
                <a:latin typeface="Helvetica" panose="020B0604020202020204" pitchFamily="34" charset="0"/>
                <a:ea typeface="Helvetica Neue" charset="0"/>
                <a:cs typeface="Helvetica" panose="020B0604020202020204" pitchFamily="34" charset="0"/>
              </a:rPr>
              <a:t>out$coef</a:t>
            </a:r>
            <a:r>
              <a:rPr lang="en-US" sz="1200" i="1" dirty="0">
                <a:latin typeface="Helvetica" panose="020B0604020202020204" pitchFamily="34" charset="0"/>
                <a:ea typeface="Helvetica Neue" charset="0"/>
                <a:cs typeface="Helvetica" panose="020B0604020202020204" pitchFamily="34" charset="0"/>
              </a:rPr>
              <a:t>[1,], type = "l", col=1, </a:t>
            </a:r>
            <a:r>
              <a:rPr lang="en-US" sz="1200" i="1" dirty="0" err="1">
                <a:latin typeface="Helvetica" panose="020B0604020202020204" pitchFamily="34" charset="0"/>
                <a:ea typeface="Helvetica Neue" charset="0"/>
                <a:cs typeface="Helvetica" panose="020B0604020202020204" pitchFamily="34" charset="0"/>
              </a:rPr>
              <a:t>lwd</a:t>
            </a:r>
            <a:r>
              <a:rPr lang="en-US" sz="1200" i="1" dirty="0">
                <a:latin typeface="Helvetica" panose="020B0604020202020204" pitchFamily="34" charset="0"/>
                <a:ea typeface="Helvetica Neue" charset="0"/>
                <a:cs typeface="Helvetica" panose="020B0604020202020204" pitchFamily="34" charset="0"/>
              </a:rPr>
              <a:t>=3, </a:t>
            </a:r>
            <a:br>
              <a:rPr lang="en-US" sz="1200" i="1" dirty="0">
                <a:latin typeface="Helvetica" panose="020B0604020202020204" pitchFamily="34" charset="0"/>
                <a:ea typeface="Helvetica Neue" charset="0"/>
                <a:cs typeface="Helvetica" panose="020B0604020202020204" pitchFamily="34" charset="0"/>
              </a:rPr>
            </a:br>
            <a:r>
              <a:rPr lang="en-US" sz="1200" i="1" dirty="0">
                <a:latin typeface="Helvetica" panose="020B0604020202020204" pitchFamily="34" charset="0"/>
                <a:ea typeface="Helvetica Neue" charset="0"/>
                <a:cs typeface="Helvetica" panose="020B0604020202020204" pitchFamily="34" charset="0"/>
              </a:rPr>
              <a:t>	</a:t>
            </a:r>
            <a:r>
              <a:rPr lang="en-US" sz="1200" i="1" dirty="0" err="1">
                <a:latin typeface="Helvetica" panose="020B0604020202020204" pitchFamily="34" charset="0"/>
                <a:ea typeface="Helvetica Neue" charset="0"/>
                <a:cs typeface="Helvetica" panose="020B0604020202020204" pitchFamily="34" charset="0"/>
              </a:rPr>
              <a:t>xlab</a:t>
            </a:r>
            <a:r>
              <a:rPr lang="en-US" sz="1200" i="1" dirty="0">
                <a:latin typeface="Helvetica" panose="020B0604020202020204" pitchFamily="34" charset="0"/>
                <a:ea typeface="Helvetica Neue" charset="0"/>
                <a:cs typeface="Helvetica" panose="020B0604020202020204" pitchFamily="34" charset="0"/>
              </a:rPr>
              <a:t> = "Lambda", </a:t>
            </a:r>
            <a:r>
              <a:rPr lang="en-US" sz="1200" i="1" dirty="0" err="1">
                <a:latin typeface="Helvetica" panose="020B0604020202020204" pitchFamily="34" charset="0"/>
                <a:ea typeface="Helvetica Neue" charset="0"/>
                <a:cs typeface="Helvetica" panose="020B0604020202020204" pitchFamily="34" charset="0"/>
              </a:rPr>
              <a:t>ylab</a:t>
            </a:r>
            <a:r>
              <a:rPr lang="en-US" sz="1200" i="1" dirty="0">
                <a:latin typeface="Helvetica" panose="020B0604020202020204" pitchFamily="34" charset="0"/>
                <a:ea typeface="Helvetica Neue" charset="0"/>
                <a:cs typeface="Helvetica" panose="020B0604020202020204" pitchFamily="34" charset="0"/>
              </a:rPr>
              <a:t> = "Coefficients",</a:t>
            </a:r>
            <a:br>
              <a:rPr lang="en-US" sz="1200" i="1" dirty="0">
                <a:latin typeface="Helvetica" panose="020B0604020202020204" pitchFamily="34" charset="0"/>
                <a:ea typeface="Helvetica Neue" charset="0"/>
                <a:cs typeface="Helvetica" panose="020B0604020202020204" pitchFamily="34" charset="0"/>
              </a:rPr>
            </a:br>
            <a:r>
              <a:rPr lang="en-US" sz="1200" i="1" dirty="0">
                <a:latin typeface="Helvetica" panose="020B0604020202020204" pitchFamily="34" charset="0"/>
                <a:ea typeface="Helvetica Neue" charset="0"/>
                <a:cs typeface="Helvetica" panose="020B0604020202020204" pitchFamily="34" charset="0"/>
              </a:rPr>
              <a:t>	main = "Plot of Regression Coefficients vs. Lambda Penalty Ridge Regression", </a:t>
            </a:r>
            <a:br>
              <a:rPr lang="en-US" sz="1200" i="1" dirty="0">
                <a:latin typeface="Helvetica" panose="020B0604020202020204" pitchFamily="34" charset="0"/>
                <a:ea typeface="Helvetica Neue" charset="0"/>
                <a:cs typeface="Helvetica" panose="020B0604020202020204" pitchFamily="34" charset="0"/>
              </a:rPr>
            </a:br>
            <a:r>
              <a:rPr lang="en-US" sz="1200" i="1" dirty="0">
                <a:latin typeface="Helvetica" panose="020B0604020202020204" pitchFamily="34" charset="0"/>
                <a:ea typeface="Helvetica Neue" charset="0"/>
                <a:cs typeface="Helvetica" panose="020B0604020202020204" pitchFamily="34" charset="0"/>
              </a:rPr>
              <a:t>	</a:t>
            </a:r>
            <a:r>
              <a:rPr lang="en-US" sz="1200" i="1" dirty="0" err="1">
                <a:latin typeface="Helvetica" panose="020B0604020202020204" pitchFamily="34" charset="0"/>
                <a:ea typeface="Helvetica Neue" charset="0"/>
                <a:cs typeface="Helvetica" panose="020B0604020202020204" pitchFamily="34" charset="0"/>
              </a:rPr>
              <a:t>ylim</a:t>
            </a:r>
            <a:r>
              <a:rPr lang="en-US" sz="1200" i="1" dirty="0">
                <a:latin typeface="Helvetica" panose="020B0604020202020204" pitchFamily="34" charset="0"/>
                <a:ea typeface="Helvetica Neue" charset="0"/>
                <a:cs typeface="Helvetica" panose="020B0604020202020204" pitchFamily="34" charset="0"/>
              </a:rPr>
              <a:t> = c(min(</a:t>
            </a:r>
            <a:r>
              <a:rPr lang="en-US" sz="1200" i="1" dirty="0" err="1">
                <a:latin typeface="Helvetica" panose="020B0604020202020204" pitchFamily="34" charset="0"/>
                <a:ea typeface="Helvetica Neue" charset="0"/>
                <a:cs typeface="Helvetica" panose="020B0604020202020204" pitchFamily="34" charset="0"/>
              </a:rPr>
              <a:t>out$coef</a:t>
            </a:r>
            <a:r>
              <a:rPr lang="en-US" sz="1200" i="1" dirty="0">
                <a:latin typeface="Helvetica" panose="020B0604020202020204" pitchFamily="34" charset="0"/>
                <a:ea typeface="Helvetica Neue" charset="0"/>
                <a:cs typeface="Helvetica" panose="020B0604020202020204" pitchFamily="34" charset="0"/>
              </a:rPr>
              <a:t>), max(</a:t>
            </a:r>
            <a:r>
              <a:rPr lang="en-US" sz="1200" i="1" dirty="0" err="1">
                <a:latin typeface="Helvetica" panose="020B0604020202020204" pitchFamily="34" charset="0"/>
                <a:ea typeface="Helvetica Neue" charset="0"/>
                <a:cs typeface="Helvetica" panose="020B0604020202020204" pitchFamily="34" charset="0"/>
              </a:rPr>
              <a:t>out$coef</a:t>
            </a:r>
            <a:r>
              <a:rPr lang="en-US" sz="1200" i="1" dirty="0">
                <a:latin typeface="Helvetica" panose="020B0604020202020204" pitchFamily="34" charset="0"/>
                <a:ea typeface="Helvetica Neue" charset="0"/>
                <a:cs typeface="Helvetica" panose="020B0604020202020204" pitchFamily="34" charset="0"/>
              </a:rPr>
              <a:t>)))</a:t>
            </a:r>
          </a:p>
          <a:p>
            <a:pPr>
              <a:defRPr/>
            </a:pPr>
            <a:r>
              <a:rPr lang="en-US" sz="1200" i="1" dirty="0">
                <a:latin typeface="Helvetica" panose="020B0604020202020204" pitchFamily="34" charset="0"/>
                <a:ea typeface="Helvetica Neue" charset="0"/>
                <a:cs typeface="Helvetica" panose="020B0604020202020204" pitchFamily="34" charset="0"/>
              </a:rPr>
              <a:t>for(</a:t>
            </a:r>
            <a:r>
              <a:rPr lang="en-US" sz="1200" i="1" dirty="0" err="1">
                <a:latin typeface="Helvetica" panose="020B0604020202020204" pitchFamily="34" charset="0"/>
                <a:ea typeface="Helvetica Neue" charset="0"/>
                <a:cs typeface="Helvetica" panose="020B0604020202020204" pitchFamily="34" charset="0"/>
              </a:rPr>
              <a:t>i</a:t>
            </a:r>
            <a:r>
              <a:rPr lang="en-US" sz="1200" i="1" dirty="0">
                <a:latin typeface="Helvetica" panose="020B0604020202020204" pitchFamily="34" charset="0"/>
                <a:ea typeface="Helvetica Neue" charset="0"/>
                <a:cs typeface="Helvetica" panose="020B0604020202020204" pitchFamily="34" charset="0"/>
              </a:rPr>
              <a:t> in 2:6)</a:t>
            </a:r>
          </a:p>
          <a:p>
            <a:pPr>
              <a:defRPr/>
            </a:pPr>
            <a:r>
              <a:rPr lang="en-US" sz="1200" i="1" dirty="0">
                <a:latin typeface="Helvetica" panose="020B0604020202020204" pitchFamily="34" charset="0"/>
                <a:ea typeface="Helvetica Neue" charset="0"/>
                <a:cs typeface="Helvetica" panose="020B0604020202020204" pitchFamily="34" charset="0"/>
              </a:rPr>
              <a:t>    points(lambda, </a:t>
            </a:r>
            <a:r>
              <a:rPr lang="en-US" sz="1200" i="1" dirty="0" err="1">
                <a:latin typeface="Helvetica" panose="020B0604020202020204" pitchFamily="34" charset="0"/>
                <a:ea typeface="Helvetica Neue" charset="0"/>
                <a:cs typeface="Helvetica" panose="020B0604020202020204" pitchFamily="34" charset="0"/>
              </a:rPr>
              <a:t>out$coef</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i</a:t>
            </a:r>
            <a:r>
              <a:rPr lang="en-US" sz="1200" i="1" dirty="0">
                <a:latin typeface="Helvetica" panose="020B0604020202020204" pitchFamily="34" charset="0"/>
                <a:ea typeface="Helvetica Neue" charset="0"/>
                <a:cs typeface="Helvetica" panose="020B0604020202020204" pitchFamily="34" charset="0"/>
              </a:rPr>
              <a:t>,], type = "l", col=</a:t>
            </a:r>
            <a:r>
              <a:rPr lang="en-US" sz="1200" i="1" dirty="0" err="1">
                <a:latin typeface="Helvetica" panose="020B0604020202020204" pitchFamily="34" charset="0"/>
                <a:ea typeface="Helvetica Neue" charset="0"/>
                <a:cs typeface="Helvetica" panose="020B0604020202020204" pitchFamily="34" charset="0"/>
              </a:rPr>
              <a:t>i</a:t>
            </a:r>
            <a:r>
              <a:rPr lang="en-US" sz="1200" i="1" dirty="0">
                <a:latin typeface="Helvetica" panose="020B0604020202020204" pitchFamily="34" charset="0"/>
                <a:ea typeface="Helvetica Neue" charset="0"/>
                <a:cs typeface="Helvetica" panose="020B0604020202020204" pitchFamily="34" charset="0"/>
              </a:rPr>
              <a:t>, </a:t>
            </a:r>
            <a:r>
              <a:rPr lang="en-US" sz="1200" i="1" dirty="0" err="1">
                <a:latin typeface="Helvetica" panose="020B0604020202020204" pitchFamily="34" charset="0"/>
                <a:ea typeface="Helvetica Neue" charset="0"/>
                <a:cs typeface="Helvetica" panose="020B0604020202020204" pitchFamily="34" charset="0"/>
              </a:rPr>
              <a:t>lwd</a:t>
            </a:r>
            <a:r>
              <a:rPr lang="en-US" sz="1200" i="1" dirty="0">
                <a:latin typeface="Helvetica" panose="020B0604020202020204" pitchFamily="34" charset="0"/>
                <a:ea typeface="Helvetica Neue" charset="0"/>
                <a:cs typeface="Helvetica" panose="020B0604020202020204" pitchFamily="34" charset="0"/>
              </a:rPr>
              <a:t>=3)</a:t>
            </a:r>
          </a:p>
          <a:p>
            <a:pPr>
              <a:defRPr/>
            </a:pPr>
            <a:r>
              <a:rPr lang="en-US" sz="1200" i="1" dirty="0" err="1">
                <a:latin typeface="Helvetica" panose="020B0604020202020204" pitchFamily="34" charset="0"/>
                <a:ea typeface="Helvetica Neue" charset="0"/>
                <a:cs typeface="Helvetica" panose="020B0604020202020204" pitchFamily="34" charset="0"/>
              </a:rPr>
              <a:t>abline</a:t>
            </a:r>
            <a:r>
              <a:rPr lang="en-US" sz="1200" i="1" dirty="0">
                <a:latin typeface="Helvetica" panose="020B0604020202020204" pitchFamily="34" charset="0"/>
                <a:ea typeface="Helvetica Neue" charset="0"/>
                <a:cs typeface="Helvetica" panose="020B0604020202020204" pitchFamily="34" charset="0"/>
              </a:rPr>
              <a:t>(h = 0, </a:t>
            </a:r>
            <a:r>
              <a:rPr lang="en-US" sz="1200" i="1" dirty="0" err="1">
                <a:latin typeface="Helvetica" panose="020B0604020202020204" pitchFamily="34" charset="0"/>
                <a:ea typeface="Helvetica Neue" charset="0"/>
                <a:cs typeface="Helvetica" panose="020B0604020202020204" pitchFamily="34" charset="0"/>
              </a:rPr>
              <a:t>lty</a:t>
            </a:r>
            <a:r>
              <a:rPr lang="en-US" sz="1200" i="1" dirty="0">
                <a:latin typeface="Helvetica" panose="020B0604020202020204" pitchFamily="34" charset="0"/>
                <a:ea typeface="Helvetica Neue" charset="0"/>
                <a:cs typeface="Helvetica" panose="020B0604020202020204" pitchFamily="34" charset="0"/>
              </a:rPr>
              <a:t> = 2, </a:t>
            </a:r>
            <a:r>
              <a:rPr lang="en-US" sz="1200" i="1" dirty="0" err="1">
                <a:latin typeface="Helvetica" panose="020B0604020202020204" pitchFamily="34" charset="0"/>
                <a:ea typeface="Helvetica Neue" charset="0"/>
                <a:cs typeface="Helvetica" panose="020B0604020202020204" pitchFamily="34" charset="0"/>
              </a:rPr>
              <a:t>lwd</a:t>
            </a:r>
            <a:r>
              <a:rPr lang="en-US" sz="1200" i="1" dirty="0">
                <a:latin typeface="Helvetica" panose="020B0604020202020204" pitchFamily="34" charset="0"/>
                <a:ea typeface="Helvetica Neue" charset="0"/>
                <a:cs typeface="Helvetica" panose="020B0604020202020204" pitchFamily="34" charset="0"/>
              </a:rPr>
              <a:t> = 3)</a:t>
            </a:r>
          </a:p>
          <a:p>
            <a:pPr>
              <a:defRPr/>
            </a:pPr>
            <a:r>
              <a:rPr lang="en-US" sz="1200" i="1" dirty="0" err="1">
                <a:latin typeface="Helvetica" panose="020B0604020202020204" pitchFamily="34" charset="0"/>
                <a:ea typeface="Helvetica Neue" charset="0"/>
                <a:cs typeface="Helvetica" panose="020B0604020202020204" pitchFamily="34" charset="0"/>
              </a:rPr>
              <a:t>abline</a:t>
            </a:r>
            <a:r>
              <a:rPr lang="en-US" sz="1200" i="1" dirty="0">
                <a:latin typeface="Helvetica" panose="020B0604020202020204" pitchFamily="34" charset="0"/>
                <a:ea typeface="Helvetica Neue" charset="0"/>
                <a:cs typeface="Helvetica" panose="020B0604020202020204" pitchFamily="34" charset="0"/>
              </a:rPr>
              <a:t>(v = 2.25, </a:t>
            </a:r>
            <a:r>
              <a:rPr lang="en-US" sz="1200" i="1" dirty="0" err="1">
                <a:latin typeface="Helvetica" panose="020B0604020202020204" pitchFamily="34" charset="0"/>
                <a:ea typeface="Helvetica Neue" charset="0"/>
                <a:cs typeface="Helvetica" panose="020B0604020202020204" pitchFamily="34" charset="0"/>
              </a:rPr>
              <a:t>lty</a:t>
            </a:r>
            <a:r>
              <a:rPr lang="en-US" sz="1200" i="1" dirty="0">
                <a:latin typeface="Helvetica" panose="020B0604020202020204" pitchFamily="34" charset="0"/>
                <a:ea typeface="Helvetica Neue" charset="0"/>
                <a:cs typeface="Helvetica" panose="020B0604020202020204" pitchFamily="34" charset="0"/>
              </a:rPr>
              <a:t> = 2, </a:t>
            </a:r>
            <a:r>
              <a:rPr lang="en-US" sz="1200" i="1" dirty="0" err="1">
                <a:latin typeface="Helvetica" panose="020B0604020202020204" pitchFamily="34" charset="0"/>
                <a:ea typeface="Helvetica Neue" charset="0"/>
                <a:cs typeface="Helvetica" panose="020B0604020202020204" pitchFamily="34" charset="0"/>
              </a:rPr>
              <a:t>lwd</a:t>
            </a:r>
            <a:r>
              <a:rPr lang="en-US" sz="1200" i="1" dirty="0">
                <a:latin typeface="Helvetica" panose="020B0604020202020204" pitchFamily="34" charset="0"/>
                <a:ea typeface="Helvetica Neue" charset="0"/>
                <a:cs typeface="Helvetica" panose="020B0604020202020204" pitchFamily="34" charset="0"/>
              </a:rPr>
              <a:t>=3)</a:t>
            </a:r>
          </a:p>
          <a:p>
            <a:pPr>
              <a:defRPr/>
            </a:pPr>
            <a:endParaRPr lang="en-US" sz="1200" dirty="0">
              <a:solidFill>
                <a:schemeClr val="accent1">
                  <a:lumMod val="75000"/>
                </a:schemeClr>
              </a:solidFill>
              <a:latin typeface="Helvetica" panose="020B0604020202020204" pitchFamily="34" charset="0"/>
              <a:ea typeface="Helvetica Neue" charset="0"/>
              <a:cs typeface="Helvetica" panose="020B0604020202020204" pitchFamily="34" charset="0"/>
            </a:endParaRPr>
          </a:p>
        </p:txBody>
      </p:sp>
      <p:sp>
        <p:nvSpPr>
          <p:cNvPr id="12" name="Title 1"/>
          <p:cNvSpPr txBox="1">
            <a:spLocks/>
          </p:cNvSpPr>
          <p:nvPr/>
        </p:nvSpPr>
        <p:spPr>
          <a:xfrm>
            <a:off x="74202" y="259020"/>
            <a:ext cx="8382000" cy="512767"/>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ea typeface="Vitesse" charset="0"/>
                <a:cs typeface="Vitesse" charset="0"/>
              </a:rPr>
              <a:t>Ridge Regression</a:t>
            </a:r>
          </a:p>
        </p:txBody>
      </p:sp>
      <p:pic>
        <p:nvPicPr>
          <p:cNvPr id="6" name="Picture 5">
            <a:extLst>
              <a:ext uri="{FF2B5EF4-FFF2-40B4-BE49-F238E27FC236}">
                <a16:creationId xmlns:a16="http://schemas.microsoft.com/office/drawing/2014/main" id="{D075ED80-E572-4E98-BF98-DFA0A2D68E6D}"/>
              </a:ext>
            </a:extLst>
          </p:cNvPr>
          <p:cNvPicPr>
            <a:picLocks noChangeAspect="1"/>
          </p:cNvPicPr>
          <p:nvPr/>
        </p:nvPicPr>
        <p:blipFill>
          <a:blip r:embed="rId3"/>
          <a:stretch>
            <a:fillRect/>
          </a:stretch>
        </p:blipFill>
        <p:spPr>
          <a:xfrm>
            <a:off x="4958461" y="968426"/>
            <a:ext cx="4110038" cy="2276203"/>
          </a:xfrm>
          <a:prstGeom prst="rect">
            <a:avLst/>
          </a:prstGeom>
        </p:spPr>
      </p:pic>
    </p:spTree>
    <p:custDataLst>
      <p:tags r:id="rId1"/>
    </p:custDataLst>
    <p:extLst>
      <p:ext uri="{BB962C8B-B14F-4D97-AF65-F5344CB8AC3E}">
        <p14:creationId xmlns:p14="http://schemas.microsoft.com/office/powerpoint/2010/main" val="1759208358"/>
      </p:ext>
    </p:extLst>
  </p:cSld>
  <p:clrMapOvr>
    <a:masterClrMapping/>
  </p:clrMapOvr>
  <p:extLst mod="1">
    <p:ext uri="{6950BFC3-D8DA-4A85-94F7-54DA5524770B}">
      <p188:commentRel xmlns="" xmlns:p188="http://schemas.microsoft.com/office/powerpoint/2018/8/main" r:id="rId4"/>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11218" y="959996"/>
            <a:ext cx="4460782" cy="2492990"/>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i="1" dirty="0">
                <a:latin typeface="Helvetica" panose="020B0604020202020204" pitchFamily="34" charset="0"/>
                <a:ea typeface="Helvetica Neue" charset="0"/>
                <a:cs typeface="Helvetica" panose="020B0604020202020204" pitchFamily="34" charset="0"/>
              </a:rPr>
              <a:t>library(lars)</a:t>
            </a:r>
          </a:p>
          <a:p>
            <a:pPr>
              <a:defRPr/>
            </a:pPr>
            <a:r>
              <a:rPr lang="en-US" sz="1200" i="1" dirty="0">
                <a:latin typeface="Helvetica" panose="020B0604020202020204" pitchFamily="34" charset="0"/>
                <a:ea typeface="Helvetica Neue" charset="0"/>
                <a:cs typeface="Helvetica" panose="020B0604020202020204" pitchFamily="34" charset="0"/>
              </a:rPr>
              <a:t>object = lars(x=predictors, y=</a:t>
            </a:r>
            <a:r>
              <a:rPr lang="en-US" sz="1200" i="1" dirty="0" err="1">
                <a:latin typeface="Helvetica" panose="020B0604020202020204" pitchFamily="34" charset="0"/>
                <a:ea typeface="Helvetica Neue" charset="0"/>
                <a:cs typeface="Helvetica" panose="020B0604020202020204" pitchFamily="34" charset="0"/>
              </a:rPr>
              <a:t>sat.scaled</a:t>
            </a:r>
            <a:r>
              <a:rPr lang="en-US" sz="1200" i="1" dirty="0">
                <a:latin typeface="Helvetica" panose="020B0604020202020204" pitchFamily="34" charset="0"/>
                <a:ea typeface="Helvetica Neue" charset="0"/>
                <a:cs typeface="Helvetica" panose="020B0604020202020204" pitchFamily="34" charset="0"/>
              </a:rPr>
              <a:t>)</a:t>
            </a:r>
          </a:p>
          <a:p>
            <a:pPr>
              <a:defRPr/>
            </a:pPr>
            <a:r>
              <a:rPr lang="en-US" sz="1200" i="1" dirty="0">
                <a:latin typeface="Helvetica" panose="020B0604020202020204" pitchFamily="34" charset="0"/>
                <a:ea typeface="Helvetica Neue" charset="0"/>
                <a:cs typeface="Helvetica" panose="020B0604020202020204" pitchFamily="34" charset="0"/>
              </a:rPr>
              <a:t>Object</a:t>
            </a:r>
          </a:p>
          <a:p>
            <a:pPr>
              <a:defRPr/>
            </a:pPr>
            <a:endParaRPr lang="en-US" sz="1200" dirty="0">
              <a:solidFill>
                <a:srgbClr val="3F6CAF"/>
              </a:solidFill>
              <a:latin typeface="Helvetica" panose="020B0604020202020204" pitchFamily="34" charset="0"/>
              <a:ea typeface="Helvetica Neue" charset="0"/>
              <a:cs typeface="Helvetica" panose="020B0604020202020204" pitchFamily="34" charset="0"/>
            </a:endParaRPr>
          </a:p>
          <a:p>
            <a:pPr>
              <a:defRPr/>
            </a:pPr>
            <a:r>
              <a:rPr lang="en-US" sz="1200" dirty="0">
                <a:latin typeface="Helvetica" panose="020B0604020202020204" pitchFamily="34" charset="0"/>
                <a:ea typeface="Helvetica Neue" charset="0"/>
                <a:cs typeface="Helvetica" panose="020B0604020202020204" pitchFamily="34" charset="0"/>
              </a:rPr>
              <a:t>Sequence of LASSO moves:</a:t>
            </a:r>
          </a:p>
          <a:p>
            <a:pPr>
              <a:defRPr/>
            </a:pPr>
            <a:r>
              <a:rPr lang="en-US" sz="1200" dirty="0">
                <a:latin typeface="Helvetica" panose="020B0604020202020204" pitchFamily="34" charset="0"/>
                <a:ea typeface="Helvetica Neue" charset="0"/>
                <a:cs typeface="Helvetica" panose="020B0604020202020204" pitchFamily="34" charset="0"/>
              </a:rPr>
              <a:t>         </a:t>
            </a:r>
            <a:r>
              <a:rPr lang="en-US" sz="1200" dirty="0" err="1">
                <a:latin typeface="Helvetica" panose="020B0604020202020204" pitchFamily="34" charset="0"/>
                <a:ea typeface="Helvetica Neue" charset="0"/>
                <a:cs typeface="Helvetica" panose="020B0604020202020204" pitchFamily="34" charset="0"/>
              </a:rPr>
              <a:t>ltakers</a:t>
            </a:r>
            <a:r>
              <a:rPr lang="en-US" sz="1200" dirty="0">
                <a:latin typeface="Helvetica" panose="020B0604020202020204" pitchFamily="34" charset="0"/>
                <a:ea typeface="Helvetica Neue" charset="0"/>
                <a:cs typeface="Helvetica" panose="020B0604020202020204" pitchFamily="34" charset="0"/>
              </a:rPr>
              <a:t> rank years expend income public</a:t>
            </a:r>
          </a:p>
          <a:p>
            <a:pPr>
              <a:defRPr/>
            </a:pPr>
            <a:r>
              <a:rPr lang="en-US" sz="1200" dirty="0" err="1">
                <a:latin typeface="Helvetica" panose="020B0604020202020204" pitchFamily="34" charset="0"/>
                <a:ea typeface="Helvetica Neue" charset="0"/>
                <a:cs typeface="Helvetica" panose="020B0604020202020204" pitchFamily="34" charset="0"/>
              </a:rPr>
              <a:t>Var</a:t>
            </a:r>
            <a:r>
              <a:rPr lang="en-US" sz="1200" dirty="0">
                <a:latin typeface="Helvetica" panose="020B0604020202020204" pitchFamily="34" charset="0"/>
                <a:ea typeface="Helvetica Neue" charset="0"/>
                <a:cs typeface="Helvetica" panose="020B0604020202020204" pitchFamily="34" charset="0"/>
              </a:rPr>
              <a:t>            1      2        4          6           3        5</a:t>
            </a:r>
          </a:p>
          <a:p>
            <a:pPr>
              <a:defRPr/>
            </a:pPr>
            <a:r>
              <a:rPr lang="en-US" sz="1200" dirty="0">
                <a:latin typeface="Helvetica" panose="020B0604020202020204" pitchFamily="34" charset="0"/>
                <a:ea typeface="Helvetica Neue" charset="0"/>
                <a:cs typeface="Helvetica" panose="020B0604020202020204" pitchFamily="34" charset="0"/>
              </a:rPr>
              <a:t>Step          1      2        3          4           5        6</a:t>
            </a:r>
          </a:p>
          <a:p>
            <a:pPr>
              <a:defRPr/>
            </a:pPr>
            <a:endParaRPr lang="en-US" sz="1200" dirty="0">
              <a:solidFill>
                <a:schemeClr val="accent1">
                  <a:lumMod val="75000"/>
                </a:schemeClr>
              </a:solidFill>
              <a:latin typeface="Helvetica" panose="020B0604020202020204" pitchFamily="34" charset="0"/>
              <a:ea typeface="Helvetica Neue" charset="0"/>
              <a:cs typeface="Helvetica" panose="020B0604020202020204" pitchFamily="34" charset="0"/>
            </a:endParaRPr>
          </a:p>
          <a:p>
            <a:pPr>
              <a:defRPr/>
            </a:pPr>
            <a:r>
              <a:rPr lang="en-US" sz="1200" i="1" dirty="0">
                <a:latin typeface="Helvetica" panose="020B0604020202020204" pitchFamily="34" charset="0"/>
                <a:ea typeface="Helvetica Neue" charset="0"/>
                <a:cs typeface="Helvetica" panose="020B0604020202020204" pitchFamily="34" charset="0"/>
              </a:rPr>
              <a:t>round(object$Cp,2)</a:t>
            </a:r>
          </a:p>
          <a:p>
            <a:pPr>
              <a:defRPr/>
            </a:pPr>
            <a:r>
              <a:rPr lang="en-US" sz="1200" dirty="0">
                <a:latin typeface="Helvetica" panose="020B0604020202020204" pitchFamily="34" charset="0"/>
                <a:ea typeface="Helvetica Neue" charset="0"/>
                <a:cs typeface="Helvetica" panose="020B0604020202020204" pitchFamily="34" charset="0"/>
              </a:rPr>
              <a:t>         0          1        2         3        4        5        6 </a:t>
            </a:r>
          </a:p>
          <a:p>
            <a:pPr>
              <a:defRPr/>
            </a:pPr>
            <a:r>
              <a:rPr lang="en-US" sz="1200" dirty="0">
                <a:latin typeface="Helvetica" panose="020B0604020202020204" pitchFamily="34" charset="0"/>
                <a:ea typeface="Helvetica Neue" charset="0"/>
                <a:cs typeface="Helvetica" panose="020B0604020202020204" pitchFamily="34" charset="0"/>
              </a:rPr>
              <a:t>349.91 103.40  46.89  35.64   3.10   5.09   7.00 </a:t>
            </a:r>
          </a:p>
          <a:p>
            <a:pPr>
              <a:defRPr/>
            </a:pPr>
            <a:endParaRPr lang="en-US" sz="1200" dirty="0">
              <a:solidFill>
                <a:srgbClr val="3F6CAF"/>
              </a:solidFill>
              <a:latin typeface="Helvetica" panose="020B0604020202020204" pitchFamily="34" charset="0"/>
              <a:ea typeface="Helvetica Neue" charset="0"/>
              <a:cs typeface="Helvetica" panose="020B0604020202020204" pitchFamily="34" charset="0"/>
            </a:endParaRPr>
          </a:p>
        </p:txBody>
      </p:sp>
      <p:sp>
        <p:nvSpPr>
          <p:cNvPr id="12" name="Title 1"/>
          <p:cNvSpPr txBox="1">
            <a:spLocks/>
          </p:cNvSpPr>
          <p:nvPr/>
        </p:nvSpPr>
        <p:spPr>
          <a:xfrm>
            <a:off x="74202" y="259020"/>
            <a:ext cx="8382000" cy="546323"/>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LASSO Regression</a:t>
            </a:r>
          </a:p>
        </p:txBody>
      </p:sp>
      <p:sp>
        <p:nvSpPr>
          <p:cNvPr id="13" name="TextBox 12"/>
          <p:cNvSpPr txBox="1"/>
          <p:nvPr/>
        </p:nvSpPr>
        <p:spPr>
          <a:xfrm>
            <a:off x="5486400" y="1740753"/>
            <a:ext cx="3505200" cy="830997"/>
          </a:xfrm>
          <a:prstGeom prst="rect">
            <a:avLst/>
          </a:prstGeom>
          <a:noFill/>
          <a:ln w="19050">
            <a:solidFill>
              <a:schemeClr val="tx2"/>
            </a:solidFill>
          </a:ln>
        </p:spPr>
        <p:txBody>
          <a:bodyPr wrap="square" rtlCol="0">
            <a:spAutoFit/>
          </a:bodyPr>
          <a:lstStyle/>
          <a:p>
            <a:r>
              <a:rPr lang="en-US" sz="1600" dirty="0">
                <a:latin typeface="Helvetica" panose="020B0604020202020204" pitchFamily="34" charset="0"/>
                <a:ea typeface="Helvetica" charset="0"/>
                <a:cs typeface="Helvetica" panose="020B0604020202020204" pitchFamily="34" charset="0"/>
              </a:rPr>
              <a:t>The selected model according to </a:t>
            </a:r>
            <a:r>
              <a:rPr lang="en-US" sz="1600" dirty="0" err="1">
                <a:latin typeface="Helvetica" panose="020B0604020202020204" pitchFamily="34" charset="0"/>
                <a:ea typeface="Helvetica" charset="0"/>
                <a:cs typeface="Helvetica" panose="020B0604020202020204" pitchFamily="34" charset="0"/>
              </a:rPr>
              <a:t>Malow’s</a:t>
            </a:r>
            <a:r>
              <a:rPr lang="en-US" sz="1600" dirty="0">
                <a:latin typeface="Helvetica" panose="020B0604020202020204" pitchFamily="34" charset="0"/>
                <a:ea typeface="Helvetica" charset="0"/>
                <a:cs typeface="Helvetica" panose="020B0604020202020204" pitchFamily="34" charset="0"/>
              </a:rPr>
              <a:t> </a:t>
            </a:r>
            <a:r>
              <a:rPr lang="en-US" sz="1600" dirty="0" err="1">
                <a:latin typeface="Helvetica" panose="020B0604020202020204" pitchFamily="34" charset="0"/>
                <a:ea typeface="Helvetica" charset="0"/>
                <a:cs typeface="Helvetica" panose="020B0604020202020204" pitchFamily="34" charset="0"/>
              </a:rPr>
              <a:t>Cp</a:t>
            </a:r>
            <a:r>
              <a:rPr lang="en-US" sz="1600" dirty="0">
                <a:latin typeface="Helvetica" panose="020B0604020202020204" pitchFamily="34" charset="0"/>
                <a:ea typeface="Helvetica" charset="0"/>
                <a:cs typeface="Helvetica" panose="020B0604020202020204" pitchFamily="34" charset="0"/>
              </a:rPr>
              <a:t> is at the fourth variable introduced in the model.</a:t>
            </a:r>
          </a:p>
        </p:txBody>
      </p:sp>
      <p:sp>
        <p:nvSpPr>
          <p:cNvPr id="2" name="Oval 1">
            <a:extLst>
              <a:ext uri="{FF2B5EF4-FFF2-40B4-BE49-F238E27FC236}">
                <a16:creationId xmlns:a16="http://schemas.microsoft.com/office/drawing/2014/main" id="{B40F7F92-F49F-4461-961F-DA9F9B3F75C3}"/>
              </a:ext>
            </a:extLst>
          </p:cNvPr>
          <p:cNvSpPr/>
          <p:nvPr/>
        </p:nvSpPr>
        <p:spPr>
          <a:xfrm>
            <a:off x="2167707" y="2822108"/>
            <a:ext cx="464095" cy="427402"/>
          </a:xfrm>
          <a:prstGeom prst="ellipse">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79EB660-2066-41E8-968B-8EEFBB70596E}"/>
              </a:ext>
            </a:extLst>
          </p:cNvPr>
          <p:cNvSpPr/>
          <p:nvPr/>
        </p:nvSpPr>
        <p:spPr>
          <a:xfrm>
            <a:off x="550770" y="1929194"/>
            <a:ext cx="1788609" cy="573771"/>
          </a:xfrm>
          <a:prstGeom prst="rect">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407518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 grpId="0" animBg="1"/>
      <p:bldP spid="3" grpId="0" animBg="1"/>
    </p:bldLst>
  </p:timing>
  <p:extLst mod="1">
    <p:ext uri="{6950BFC3-D8DA-4A85-94F7-54DA5524770B}">
      <p188:commentRel xmlns=""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3"/>
          <p:cNvSpPr txBox="1">
            <a:spLocks noChangeArrowheads="1"/>
          </p:cNvSpPr>
          <p:nvPr/>
        </p:nvSpPr>
        <p:spPr bwMode="auto">
          <a:xfrm>
            <a:off x="111218" y="959996"/>
            <a:ext cx="4460782" cy="2492990"/>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i="1" dirty="0">
                <a:latin typeface="Helvetica" panose="020B0604020202020204" pitchFamily="34" charset="0"/>
                <a:ea typeface="Helvetica Neue" charset="0"/>
                <a:cs typeface="Helvetica" panose="020B0604020202020204" pitchFamily="34" charset="0"/>
              </a:rPr>
              <a:t>library(lars)</a:t>
            </a:r>
          </a:p>
          <a:p>
            <a:pPr>
              <a:defRPr/>
            </a:pPr>
            <a:r>
              <a:rPr lang="en-US" sz="1200" i="1" dirty="0">
                <a:latin typeface="Helvetica" panose="020B0604020202020204" pitchFamily="34" charset="0"/>
                <a:ea typeface="Helvetica Neue" charset="0"/>
                <a:cs typeface="Helvetica" panose="020B0604020202020204" pitchFamily="34" charset="0"/>
              </a:rPr>
              <a:t>object = lars(x=predictors, y=</a:t>
            </a:r>
            <a:r>
              <a:rPr lang="en-US" sz="1200" i="1" dirty="0" err="1">
                <a:latin typeface="Helvetica" panose="020B0604020202020204" pitchFamily="34" charset="0"/>
                <a:ea typeface="Helvetica Neue" charset="0"/>
                <a:cs typeface="Helvetica" panose="020B0604020202020204" pitchFamily="34" charset="0"/>
              </a:rPr>
              <a:t>sat.scaled</a:t>
            </a:r>
            <a:r>
              <a:rPr lang="en-US" sz="1200" i="1" dirty="0">
                <a:latin typeface="Helvetica" panose="020B0604020202020204" pitchFamily="34" charset="0"/>
                <a:ea typeface="Helvetica Neue" charset="0"/>
                <a:cs typeface="Helvetica" panose="020B0604020202020204" pitchFamily="34" charset="0"/>
              </a:rPr>
              <a:t>)</a:t>
            </a:r>
          </a:p>
          <a:p>
            <a:pPr>
              <a:defRPr/>
            </a:pPr>
            <a:r>
              <a:rPr lang="en-US" sz="1200" i="1" dirty="0">
                <a:latin typeface="Helvetica" panose="020B0604020202020204" pitchFamily="34" charset="0"/>
                <a:ea typeface="Helvetica Neue" charset="0"/>
                <a:cs typeface="Helvetica" panose="020B0604020202020204" pitchFamily="34" charset="0"/>
              </a:rPr>
              <a:t>Object</a:t>
            </a:r>
          </a:p>
          <a:p>
            <a:pPr>
              <a:defRPr/>
            </a:pPr>
            <a:endParaRPr lang="en-US" sz="1200" dirty="0">
              <a:solidFill>
                <a:srgbClr val="3F6CAF"/>
              </a:solidFill>
              <a:latin typeface="Helvetica" panose="020B0604020202020204" pitchFamily="34" charset="0"/>
              <a:ea typeface="Helvetica Neue" charset="0"/>
              <a:cs typeface="Helvetica" panose="020B0604020202020204" pitchFamily="34" charset="0"/>
            </a:endParaRPr>
          </a:p>
          <a:p>
            <a:pPr>
              <a:defRPr/>
            </a:pPr>
            <a:r>
              <a:rPr lang="en-US" sz="1200" dirty="0">
                <a:latin typeface="Helvetica" panose="020B0604020202020204" pitchFamily="34" charset="0"/>
                <a:ea typeface="Helvetica Neue" charset="0"/>
                <a:cs typeface="Helvetica" panose="020B0604020202020204" pitchFamily="34" charset="0"/>
              </a:rPr>
              <a:t>Sequence of LASSO moves:</a:t>
            </a:r>
          </a:p>
          <a:p>
            <a:pPr>
              <a:defRPr/>
            </a:pPr>
            <a:r>
              <a:rPr lang="en-US" sz="1200" dirty="0">
                <a:latin typeface="Helvetica" panose="020B0604020202020204" pitchFamily="34" charset="0"/>
                <a:ea typeface="Helvetica Neue" charset="0"/>
                <a:cs typeface="Helvetica" panose="020B0604020202020204" pitchFamily="34" charset="0"/>
              </a:rPr>
              <a:t>         </a:t>
            </a:r>
            <a:r>
              <a:rPr lang="en-US" sz="1200" dirty="0" err="1">
                <a:latin typeface="Helvetica" panose="020B0604020202020204" pitchFamily="34" charset="0"/>
                <a:ea typeface="Helvetica Neue" charset="0"/>
                <a:cs typeface="Helvetica" panose="020B0604020202020204" pitchFamily="34" charset="0"/>
              </a:rPr>
              <a:t>ltakers</a:t>
            </a:r>
            <a:r>
              <a:rPr lang="en-US" sz="1200" dirty="0">
                <a:latin typeface="Helvetica" panose="020B0604020202020204" pitchFamily="34" charset="0"/>
                <a:ea typeface="Helvetica Neue" charset="0"/>
                <a:cs typeface="Helvetica" panose="020B0604020202020204" pitchFamily="34" charset="0"/>
              </a:rPr>
              <a:t> rank years expend income public</a:t>
            </a:r>
          </a:p>
          <a:p>
            <a:pPr>
              <a:defRPr/>
            </a:pPr>
            <a:r>
              <a:rPr lang="en-US" sz="1200" dirty="0" err="1">
                <a:latin typeface="Helvetica" panose="020B0604020202020204" pitchFamily="34" charset="0"/>
                <a:ea typeface="Helvetica Neue" charset="0"/>
                <a:cs typeface="Helvetica" panose="020B0604020202020204" pitchFamily="34" charset="0"/>
              </a:rPr>
              <a:t>Var</a:t>
            </a:r>
            <a:r>
              <a:rPr lang="en-US" sz="1200" dirty="0">
                <a:latin typeface="Helvetica" panose="020B0604020202020204" pitchFamily="34" charset="0"/>
                <a:ea typeface="Helvetica Neue" charset="0"/>
                <a:cs typeface="Helvetica" panose="020B0604020202020204" pitchFamily="34" charset="0"/>
              </a:rPr>
              <a:t>            1      2        4          6           3        5</a:t>
            </a:r>
          </a:p>
          <a:p>
            <a:pPr>
              <a:defRPr/>
            </a:pPr>
            <a:r>
              <a:rPr lang="en-US" sz="1200" dirty="0">
                <a:latin typeface="Helvetica" panose="020B0604020202020204" pitchFamily="34" charset="0"/>
                <a:ea typeface="Helvetica Neue" charset="0"/>
                <a:cs typeface="Helvetica" panose="020B0604020202020204" pitchFamily="34" charset="0"/>
              </a:rPr>
              <a:t>Step          1      2        3          4           5        6</a:t>
            </a:r>
          </a:p>
          <a:p>
            <a:pPr>
              <a:defRPr/>
            </a:pPr>
            <a:endParaRPr lang="en-US" sz="1200" dirty="0">
              <a:solidFill>
                <a:schemeClr val="accent1">
                  <a:lumMod val="75000"/>
                </a:schemeClr>
              </a:solidFill>
              <a:latin typeface="Helvetica" panose="020B0604020202020204" pitchFamily="34" charset="0"/>
              <a:ea typeface="Helvetica Neue" charset="0"/>
              <a:cs typeface="Helvetica" panose="020B0604020202020204" pitchFamily="34" charset="0"/>
            </a:endParaRPr>
          </a:p>
          <a:p>
            <a:pPr>
              <a:defRPr/>
            </a:pPr>
            <a:r>
              <a:rPr lang="en-US" sz="1200" i="1" dirty="0">
                <a:latin typeface="Helvetica" panose="020B0604020202020204" pitchFamily="34" charset="0"/>
                <a:ea typeface="Helvetica Neue" charset="0"/>
                <a:cs typeface="Helvetica" panose="020B0604020202020204" pitchFamily="34" charset="0"/>
              </a:rPr>
              <a:t>round(object$Cp,2)</a:t>
            </a:r>
          </a:p>
          <a:p>
            <a:pPr>
              <a:defRPr/>
            </a:pPr>
            <a:r>
              <a:rPr lang="en-US" sz="1200" dirty="0">
                <a:latin typeface="Helvetica" panose="020B0604020202020204" pitchFamily="34" charset="0"/>
                <a:ea typeface="Helvetica Neue" charset="0"/>
                <a:cs typeface="Helvetica" panose="020B0604020202020204" pitchFamily="34" charset="0"/>
              </a:rPr>
              <a:t>         0          1        2         3        4        5        6 </a:t>
            </a:r>
          </a:p>
          <a:p>
            <a:pPr>
              <a:defRPr/>
            </a:pPr>
            <a:r>
              <a:rPr lang="en-US" sz="1200" dirty="0">
                <a:latin typeface="Helvetica" panose="020B0604020202020204" pitchFamily="34" charset="0"/>
                <a:ea typeface="Helvetica Neue" charset="0"/>
                <a:cs typeface="Helvetica" panose="020B0604020202020204" pitchFamily="34" charset="0"/>
              </a:rPr>
              <a:t>349.91 103.40  46.89  35.64   3.10   5.09   7.00 </a:t>
            </a:r>
          </a:p>
          <a:p>
            <a:pPr>
              <a:defRPr/>
            </a:pPr>
            <a:endParaRPr lang="en-US" sz="1200" dirty="0">
              <a:solidFill>
                <a:srgbClr val="3F6CAF"/>
              </a:solidFill>
              <a:latin typeface="Helvetica" panose="020B0604020202020204" pitchFamily="34" charset="0"/>
              <a:ea typeface="Helvetica Neue" charset="0"/>
              <a:cs typeface="Helvetica" panose="020B0604020202020204" pitchFamily="34" charset="0"/>
            </a:endParaRPr>
          </a:p>
        </p:txBody>
      </p:sp>
      <p:sp>
        <p:nvSpPr>
          <p:cNvPr id="12" name="Title 1"/>
          <p:cNvSpPr txBox="1">
            <a:spLocks/>
          </p:cNvSpPr>
          <p:nvPr/>
        </p:nvSpPr>
        <p:spPr>
          <a:xfrm>
            <a:off x="73974" y="246717"/>
            <a:ext cx="8917625" cy="528434"/>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LASSO Regression: First Implementation</a:t>
            </a:r>
          </a:p>
        </p:txBody>
      </p:sp>
      <p:sp>
        <p:nvSpPr>
          <p:cNvPr id="10" name="Oval 9">
            <a:extLst>
              <a:ext uri="{FF2B5EF4-FFF2-40B4-BE49-F238E27FC236}">
                <a16:creationId xmlns:a16="http://schemas.microsoft.com/office/drawing/2014/main" id="{B40F7F92-F49F-4461-961F-DA9F9B3F75C3}"/>
              </a:ext>
            </a:extLst>
          </p:cNvPr>
          <p:cNvSpPr/>
          <p:nvPr/>
        </p:nvSpPr>
        <p:spPr>
          <a:xfrm>
            <a:off x="2167707" y="2822108"/>
            <a:ext cx="464095" cy="427402"/>
          </a:xfrm>
          <a:prstGeom prst="ellipse">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79EB660-2066-41E8-968B-8EEFBB70596E}"/>
              </a:ext>
            </a:extLst>
          </p:cNvPr>
          <p:cNvSpPr/>
          <p:nvPr/>
        </p:nvSpPr>
        <p:spPr>
          <a:xfrm>
            <a:off x="550770" y="1929194"/>
            <a:ext cx="1788609" cy="573771"/>
          </a:xfrm>
          <a:prstGeom prst="rect">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3"/>
          <p:cNvSpPr txBox="1"/>
          <p:nvPr/>
        </p:nvSpPr>
        <p:spPr>
          <a:xfrm>
            <a:off x="5486400" y="1740753"/>
            <a:ext cx="3505200" cy="830997"/>
          </a:xfrm>
          <a:prstGeom prst="rect">
            <a:avLst/>
          </a:prstGeom>
          <a:noFill/>
          <a:ln w="19050">
            <a:solidFill>
              <a:schemeClr val="tx2"/>
            </a:solidFill>
          </a:ln>
        </p:spPr>
        <p:txBody>
          <a:bodyPr wrap="square" rtlCol="0">
            <a:spAutoFit/>
          </a:bodyPr>
          <a:lstStyle/>
          <a:p>
            <a:r>
              <a:rPr lang="en-US" sz="1600" dirty="0">
                <a:latin typeface="Helvetica" panose="020B0604020202020204" pitchFamily="34" charset="0"/>
                <a:ea typeface="Helvetica" charset="0"/>
                <a:cs typeface="Helvetica" panose="020B0604020202020204" pitchFamily="34" charset="0"/>
              </a:rPr>
              <a:t>The selected model according to </a:t>
            </a:r>
            <a:r>
              <a:rPr lang="en-US" sz="1600" dirty="0" err="1">
                <a:latin typeface="Helvetica" panose="020B0604020202020204" pitchFamily="34" charset="0"/>
                <a:ea typeface="Helvetica" charset="0"/>
                <a:cs typeface="Helvetica" panose="020B0604020202020204" pitchFamily="34" charset="0"/>
              </a:rPr>
              <a:t>Malow’s</a:t>
            </a:r>
            <a:r>
              <a:rPr lang="en-US" sz="1600" dirty="0">
                <a:latin typeface="Helvetica" panose="020B0604020202020204" pitchFamily="34" charset="0"/>
                <a:ea typeface="Helvetica" charset="0"/>
                <a:cs typeface="Helvetica" panose="020B0604020202020204" pitchFamily="34" charset="0"/>
              </a:rPr>
              <a:t> </a:t>
            </a:r>
            <a:r>
              <a:rPr lang="en-US" sz="1600" dirty="0" err="1">
                <a:latin typeface="Helvetica" panose="020B0604020202020204" pitchFamily="34" charset="0"/>
                <a:ea typeface="Helvetica" charset="0"/>
                <a:cs typeface="Helvetica" panose="020B0604020202020204" pitchFamily="34" charset="0"/>
              </a:rPr>
              <a:t>Cp</a:t>
            </a:r>
            <a:r>
              <a:rPr lang="en-US" sz="1600" dirty="0">
                <a:latin typeface="Helvetica" panose="020B0604020202020204" pitchFamily="34" charset="0"/>
                <a:ea typeface="Helvetica" charset="0"/>
                <a:cs typeface="Helvetica" panose="020B0604020202020204" pitchFamily="34" charset="0"/>
              </a:rPr>
              <a:t> is at the fourth variable introduced in the model.</a:t>
            </a:r>
          </a:p>
        </p:txBody>
      </p:sp>
      <p:sp>
        <p:nvSpPr>
          <p:cNvPr id="5" name="TextBox 4"/>
          <p:cNvSpPr txBox="1"/>
          <p:nvPr/>
        </p:nvSpPr>
        <p:spPr>
          <a:xfrm>
            <a:off x="190501" y="3574055"/>
            <a:ext cx="7287156" cy="1077218"/>
          </a:xfrm>
          <a:prstGeom prst="rect">
            <a:avLst/>
          </a:prstGeom>
          <a:noFill/>
          <a:ln w="19050">
            <a:solidFill>
              <a:schemeClr val="tx2"/>
            </a:solidFill>
          </a:ln>
        </p:spPr>
        <p:txBody>
          <a:bodyPr wrap="square" rtlCol="0">
            <a:spAutoFit/>
          </a:bodyPr>
          <a:lstStyle/>
          <a:p>
            <a:pPr marL="227013" indent="-227013">
              <a:buClrTx/>
              <a:buFont typeface="Arial" panose="020B0604020202020204" pitchFamily="34" charset="0"/>
              <a:buChar char="•"/>
            </a:pPr>
            <a:r>
              <a:rPr lang="en-US" sz="1600" dirty="0">
                <a:solidFill>
                  <a:prstClr val="black"/>
                </a:solidFill>
                <a:latin typeface="Helvetica" panose="020B0604020202020204" pitchFamily="34" charset="0"/>
                <a:cs typeface="Helvetica" panose="020B0604020202020204" pitchFamily="34" charset="0"/>
              </a:rPr>
              <a:t>From the order the predictors were added, i.e., log(</a:t>
            </a:r>
            <a:r>
              <a:rPr lang="en-US" sz="1600" i="1" dirty="0">
                <a:solidFill>
                  <a:prstClr val="black"/>
                </a:solidFill>
                <a:latin typeface="Helvetica" panose="020B0604020202020204" pitchFamily="34" charset="0"/>
                <a:cs typeface="Helvetica" panose="020B0604020202020204" pitchFamily="34" charset="0"/>
              </a:rPr>
              <a:t>takers</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rank</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years</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expend</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income</a:t>
            </a:r>
            <a:r>
              <a:rPr lang="en-US" sz="1600" dirty="0">
                <a:solidFill>
                  <a:prstClr val="black"/>
                </a:solidFill>
                <a:latin typeface="Helvetica" panose="020B0604020202020204" pitchFamily="34" charset="0"/>
                <a:cs typeface="Helvetica" panose="020B0604020202020204" pitchFamily="34" charset="0"/>
              </a:rPr>
              <a:t> and </a:t>
            </a:r>
            <a:r>
              <a:rPr lang="en-US" sz="1600" i="1" dirty="0">
                <a:solidFill>
                  <a:prstClr val="black"/>
                </a:solidFill>
                <a:latin typeface="Helvetica" panose="020B0604020202020204" pitchFamily="34" charset="0"/>
                <a:cs typeface="Helvetica" panose="020B0604020202020204" pitchFamily="34" charset="0"/>
              </a:rPr>
              <a:t>public</a:t>
            </a:r>
            <a:r>
              <a:rPr lang="en-US" sz="1600" dirty="0">
                <a:solidFill>
                  <a:prstClr val="black"/>
                </a:solidFill>
                <a:latin typeface="Helvetica" panose="020B0604020202020204" pitchFamily="34" charset="0"/>
                <a:cs typeface="Helvetica" panose="020B0604020202020204" pitchFamily="34" charset="0"/>
              </a:rPr>
              <a:t>, the first four are selected</a:t>
            </a:r>
          </a:p>
          <a:p>
            <a:pPr marL="227013" indent="-227013">
              <a:buClrTx/>
              <a:buFont typeface="Arial" panose="020B0604020202020204" pitchFamily="34" charset="0"/>
              <a:buChar char="•"/>
            </a:pPr>
            <a:r>
              <a:rPr lang="en-US" sz="1600" dirty="0">
                <a:solidFill>
                  <a:prstClr val="black"/>
                </a:solidFill>
                <a:latin typeface="Helvetica" panose="020B0604020202020204" pitchFamily="34" charset="0"/>
                <a:cs typeface="Helvetica" panose="020B0604020202020204" pitchFamily="34" charset="0"/>
              </a:rPr>
              <a:t>After LASSO variable selection, apply ordinary least squares (OLS) with the selected predicting variables</a:t>
            </a:r>
            <a:endParaRPr lang="en-US" sz="1600" dirty="0">
              <a:latin typeface="Helvetica" panose="020B0604020202020204" pitchFamily="34" charset="0"/>
              <a:cs typeface="Helvetica" panose="020B0604020202020204" pitchFamily="34" charset="0"/>
            </a:endParaRPr>
          </a:p>
        </p:txBody>
      </p:sp>
    </p:spTree>
    <p:custDataLst>
      <p:tags r:id="rId1"/>
    </p:custDataLst>
    <p:extLst>
      <p:ext uri="{BB962C8B-B14F-4D97-AF65-F5344CB8AC3E}">
        <p14:creationId xmlns:p14="http://schemas.microsoft.com/office/powerpoint/2010/main" val="3593886098"/>
      </p:ext>
    </p:extLst>
  </p:cSld>
  <p:clrMapOvr>
    <a:masterClrMapping/>
  </p:clrMapOvr>
  <p:extLst mod="1">
    <p:ext uri="{6950BFC3-D8DA-4A85-94F7-54DA5524770B}">
      <p188:commentRel xmlns=""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12448" y="962694"/>
            <a:ext cx="4643002" cy="461665"/>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i="1" dirty="0" err="1">
                <a:latin typeface="Helvetica" panose="020B0604020202020204" pitchFamily="34" charset="0"/>
                <a:ea typeface="Helvetica Neue" charset="0"/>
                <a:cs typeface="Helvetica" panose="020B0604020202020204" pitchFamily="34" charset="0"/>
              </a:rPr>
              <a:t>plot.lars</a:t>
            </a:r>
            <a:r>
              <a:rPr lang="en-US" sz="1200" i="1" dirty="0">
                <a:latin typeface="Helvetica" panose="020B0604020202020204" pitchFamily="34" charset="0"/>
                <a:ea typeface="Helvetica Neue" charset="0"/>
                <a:cs typeface="Helvetica" panose="020B0604020202020204" pitchFamily="34" charset="0"/>
              </a:rPr>
              <a:t>(object)</a:t>
            </a:r>
          </a:p>
          <a:p>
            <a:pPr>
              <a:defRPr/>
            </a:pPr>
            <a:r>
              <a:rPr lang="en-US" sz="1200" i="1" dirty="0" err="1">
                <a:latin typeface="Helvetica" panose="020B0604020202020204" pitchFamily="34" charset="0"/>
                <a:ea typeface="Helvetica Neue" charset="0"/>
                <a:cs typeface="Helvetica" panose="020B0604020202020204" pitchFamily="34" charset="0"/>
              </a:rPr>
              <a:t>plot.lars</a:t>
            </a:r>
            <a:r>
              <a:rPr lang="en-US" sz="1200" i="1" dirty="0">
                <a:latin typeface="Helvetica" panose="020B0604020202020204" pitchFamily="34" charset="0"/>
                <a:ea typeface="Helvetica Neue" charset="0"/>
                <a:cs typeface="Helvetica" panose="020B0604020202020204" pitchFamily="34" charset="0"/>
              </a:rPr>
              <a:t>(object, </a:t>
            </a:r>
            <a:r>
              <a:rPr lang="en-US" sz="1200" i="1" dirty="0" err="1">
                <a:latin typeface="Helvetica" panose="020B0604020202020204" pitchFamily="34" charset="0"/>
                <a:ea typeface="Helvetica Neue" charset="0"/>
                <a:cs typeface="Helvetica" panose="020B0604020202020204" pitchFamily="34" charset="0"/>
              </a:rPr>
              <a:t>xvar</a:t>
            </a:r>
            <a:r>
              <a:rPr lang="en-US" sz="1200" i="1" dirty="0">
                <a:latin typeface="Helvetica" panose="020B0604020202020204" pitchFamily="34" charset="0"/>
                <a:ea typeface="Helvetica Neue" charset="0"/>
                <a:cs typeface="Helvetica" panose="020B0604020202020204" pitchFamily="34" charset="0"/>
              </a:rPr>
              <a:t>="df", </a:t>
            </a:r>
            <a:r>
              <a:rPr lang="en-US" sz="1200" i="1" dirty="0" err="1">
                <a:latin typeface="Helvetica" panose="020B0604020202020204" pitchFamily="34" charset="0"/>
                <a:ea typeface="Helvetica Neue" charset="0"/>
                <a:cs typeface="Helvetica" panose="020B0604020202020204" pitchFamily="34" charset="0"/>
              </a:rPr>
              <a:t>plottype</a:t>
            </a:r>
            <a:r>
              <a:rPr lang="en-US" sz="1200" i="1" dirty="0">
                <a:latin typeface="Helvetica" panose="020B0604020202020204" pitchFamily="34" charset="0"/>
                <a:ea typeface="Helvetica Neue" charset="0"/>
                <a:cs typeface="Helvetica" panose="020B0604020202020204" pitchFamily="34" charset="0"/>
              </a:rPr>
              <a:t>="Cp")</a:t>
            </a:r>
          </a:p>
        </p:txBody>
      </p:sp>
      <p:pic>
        <p:nvPicPr>
          <p:cNvPr id="11" name="Picture 10" descr="A close up of a map&#10;&#10;Description automatically generated">
            <a:extLst>
              <a:ext uri="{FF2B5EF4-FFF2-40B4-BE49-F238E27FC236}">
                <a16:creationId xmlns:a16="http://schemas.microsoft.com/office/drawing/2014/main" id="{7DDF2B4E-20FD-4557-BACC-15F9AD32E181}"/>
              </a:ext>
            </a:extLst>
          </p:cNvPr>
          <p:cNvPicPr>
            <a:picLocks noChangeAspect="1"/>
          </p:cNvPicPr>
          <p:nvPr/>
        </p:nvPicPr>
        <p:blipFill rotWithShape="1">
          <a:blip r:embed="rId3"/>
          <a:srcRect l="592" t="5849" r="5928" b="4637"/>
          <a:stretch/>
        </p:blipFill>
        <p:spPr>
          <a:xfrm>
            <a:off x="5495681" y="1541019"/>
            <a:ext cx="3078170" cy="2457655"/>
          </a:xfrm>
          <a:prstGeom prst="rect">
            <a:avLst/>
          </a:prstGeom>
        </p:spPr>
      </p:pic>
      <p:pic>
        <p:nvPicPr>
          <p:cNvPr id="14" name="Picture 13" descr="A close up of a map&#10;&#10;Description automatically generated">
            <a:extLst>
              <a:ext uri="{FF2B5EF4-FFF2-40B4-BE49-F238E27FC236}">
                <a16:creationId xmlns:a16="http://schemas.microsoft.com/office/drawing/2014/main" id="{C679DDFE-DC37-451A-9D21-7AB3750C4458}"/>
              </a:ext>
            </a:extLst>
          </p:cNvPr>
          <p:cNvPicPr>
            <a:picLocks noChangeAspect="1"/>
          </p:cNvPicPr>
          <p:nvPr/>
        </p:nvPicPr>
        <p:blipFill rotWithShape="1">
          <a:blip r:embed="rId4"/>
          <a:srcRect t="2640" b="3627"/>
          <a:stretch/>
        </p:blipFill>
        <p:spPr>
          <a:xfrm>
            <a:off x="524226" y="1499246"/>
            <a:ext cx="3082316" cy="2506058"/>
          </a:xfrm>
          <a:prstGeom prst="rect">
            <a:avLst/>
          </a:prstGeom>
        </p:spPr>
      </p:pic>
      <p:sp>
        <p:nvSpPr>
          <p:cNvPr id="7" name="Title 1"/>
          <p:cNvSpPr txBox="1">
            <a:spLocks/>
          </p:cNvSpPr>
          <p:nvPr/>
        </p:nvSpPr>
        <p:spPr>
          <a:xfrm>
            <a:off x="73974" y="246717"/>
            <a:ext cx="8917625" cy="528434"/>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LASSO Regression: First Implementation</a:t>
            </a:r>
          </a:p>
        </p:txBody>
      </p:sp>
    </p:spTree>
    <p:custDataLst>
      <p:tags r:id="rId1"/>
    </p:custDataLst>
    <p:extLst>
      <p:ext uri="{BB962C8B-B14F-4D97-AF65-F5344CB8AC3E}">
        <p14:creationId xmlns:p14="http://schemas.microsoft.com/office/powerpoint/2010/main" val="1377422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12448" y="962694"/>
            <a:ext cx="4643002" cy="461665"/>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i="1" dirty="0" err="1">
                <a:latin typeface="Helvetica" panose="020B0604020202020204" pitchFamily="34" charset="0"/>
                <a:ea typeface="Helvetica Neue" charset="0"/>
                <a:cs typeface="Helvetica" panose="020B0604020202020204" pitchFamily="34" charset="0"/>
              </a:rPr>
              <a:t>plot.lars</a:t>
            </a:r>
            <a:r>
              <a:rPr lang="en-US" sz="1200" i="1" dirty="0">
                <a:latin typeface="Helvetica" panose="020B0604020202020204" pitchFamily="34" charset="0"/>
                <a:ea typeface="Helvetica Neue" charset="0"/>
                <a:cs typeface="Helvetica" panose="020B0604020202020204" pitchFamily="34" charset="0"/>
              </a:rPr>
              <a:t>(object)</a:t>
            </a:r>
          </a:p>
          <a:p>
            <a:pPr>
              <a:defRPr/>
            </a:pPr>
            <a:r>
              <a:rPr lang="en-US" sz="1200" i="1" dirty="0" err="1">
                <a:latin typeface="Helvetica" panose="020B0604020202020204" pitchFamily="34" charset="0"/>
                <a:ea typeface="Helvetica Neue" charset="0"/>
                <a:cs typeface="Helvetica" panose="020B0604020202020204" pitchFamily="34" charset="0"/>
              </a:rPr>
              <a:t>plot.lars</a:t>
            </a:r>
            <a:r>
              <a:rPr lang="en-US" sz="1200" i="1" dirty="0">
                <a:latin typeface="Helvetica" panose="020B0604020202020204" pitchFamily="34" charset="0"/>
                <a:ea typeface="Helvetica Neue" charset="0"/>
                <a:cs typeface="Helvetica" panose="020B0604020202020204" pitchFamily="34" charset="0"/>
              </a:rPr>
              <a:t>(object, </a:t>
            </a:r>
            <a:r>
              <a:rPr lang="en-US" sz="1200" i="1" dirty="0" err="1">
                <a:latin typeface="Helvetica" panose="020B0604020202020204" pitchFamily="34" charset="0"/>
                <a:ea typeface="Helvetica Neue" charset="0"/>
                <a:cs typeface="Helvetica" panose="020B0604020202020204" pitchFamily="34" charset="0"/>
              </a:rPr>
              <a:t>xvar</a:t>
            </a:r>
            <a:r>
              <a:rPr lang="en-US" sz="1200" i="1" dirty="0">
                <a:latin typeface="Helvetica" panose="020B0604020202020204" pitchFamily="34" charset="0"/>
                <a:ea typeface="Helvetica Neue" charset="0"/>
                <a:cs typeface="Helvetica" panose="020B0604020202020204" pitchFamily="34" charset="0"/>
              </a:rPr>
              <a:t>="df", </a:t>
            </a:r>
            <a:r>
              <a:rPr lang="en-US" sz="1200" i="1" dirty="0" err="1">
                <a:latin typeface="Helvetica" panose="020B0604020202020204" pitchFamily="34" charset="0"/>
                <a:ea typeface="Helvetica Neue" charset="0"/>
                <a:cs typeface="Helvetica" panose="020B0604020202020204" pitchFamily="34" charset="0"/>
              </a:rPr>
              <a:t>plottype</a:t>
            </a:r>
            <a:r>
              <a:rPr lang="en-US" sz="1200" i="1" dirty="0">
                <a:latin typeface="Helvetica" panose="020B0604020202020204" pitchFamily="34" charset="0"/>
                <a:ea typeface="Helvetica Neue" charset="0"/>
                <a:cs typeface="Helvetica" panose="020B0604020202020204" pitchFamily="34" charset="0"/>
              </a:rPr>
              <a:t>="Cp")</a:t>
            </a:r>
          </a:p>
        </p:txBody>
      </p:sp>
      <p:pic>
        <p:nvPicPr>
          <p:cNvPr id="11" name="Picture 10" descr="A close up of a map&#10;&#10;Description automatically generated">
            <a:extLst>
              <a:ext uri="{FF2B5EF4-FFF2-40B4-BE49-F238E27FC236}">
                <a16:creationId xmlns:a16="http://schemas.microsoft.com/office/drawing/2014/main" id="{7DDF2B4E-20FD-4557-BACC-15F9AD32E181}"/>
              </a:ext>
            </a:extLst>
          </p:cNvPr>
          <p:cNvPicPr>
            <a:picLocks noChangeAspect="1"/>
          </p:cNvPicPr>
          <p:nvPr/>
        </p:nvPicPr>
        <p:blipFill rotWithShape="1">
          <a:blip r:embed="rId3"/>
          <a:srcRect l="592" t="5849" r="5928" b="4637"/>
          <a:stretch/>
        </p:blipFill>
        <p:spPr>
          <a:xfrm>
            <a:off x="5495681" y="1541019"/>
            <a:ext cx="3078170" cy="2457655"/>
          </a:xfrm>
          <a:prstGeom prst="rect">
            <a:avLst/>
          </a:prstGeom>
        </p:spPr>
      </p:pic>
      <p:pic>
        <p:nvPicPr>
          <p:cNvPr id="14" name="Picture 13" descr="A close up of a map&#10;&#10;Description automatically generated">
            <a:extLst>
              <a:ext uri="{FF2B5EF4-FFF2-40B4-BE49-F238E27FC236}">
                <a16:creationId xmlns:a16="http://schemas.microsoft.com/office/drawing/2014/main" id="{C679DDFE-DC37-451A-9D21-7AB3750C4458}"/>
              </a:ext>
            </a:extLst>
          </p:cNvPr>
          <p:cNvPicPr>
            <a:picLocks noChangeAspect="1"/>
          </p:cNvPicPr>
          <p:nvPr/>
        </p:nvPicPr>
        <p:blipFill rotWithShape="1">
          <a:blip r:embed="rId4"/>
          <a:srcRect t="2640" b="3627"/>
          <a:stretch/>
        </p:blipFill>
        <p:spPr>
          <a:xfrm>
            <a:off x="524226" y="1499246"/>
            <a:ext cx="3082316" cy="2506058"/>
          </a:xfrm>
          <a:prstGeom prst="rect">
            <a:avLst/>
          </a:prstGeom>
        </p:spPr>
      </p:pic>
      <p:sp>
        <p:nvSpPr>
          <p:cNvPr id="7" name="Title 1"/>
          <p:cNvSpPr txBox="1">
            <a:spLocks/>
          </p:cNvSpPr>
          <p:nvPr/>
        </p:nvSpPr>
        <p:spPr>
          <a:xfrm>
            <a:off x="73974" y="246717"/>
            <a:ext cx="8917625" cy="528434"/>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LASSO Regression: First Implementation</a:t>
            </a:r>
          </a:p>
        </p:txBody>
      </p:sp>
      <p:sp>
        <p:nvSpPr>
          <p:cNvPr id="2" name="TextBox 1"/>
          <p:cNvSpPr txBox="1"/>
          <p:nvPr/>
        </p:nvSpPr>
        <p:spPr>
          <a:xfrm>
            <a:off x="190500" y="4228535"/>
            <a:ext cx="6785861" cy="584775"/>
          </a:xfrm>
          <a:prstGeom prst="rect">
            <a:avLst/>
          </a:prstGeom>
          <a:noFill/>
          <a:ln w="19050">
            <a:solidFill>
              <a:schemeClr val="tx2"/>
            </a:solidFill>
          </a:ln>
        </p:spPr>
        <p:txBody>
          <a:bodyPr wrap="square" rtlCol="0">
            <a:spAutoFit/>
          </a:bodyPr>
          <a:lstStyle/>
          <a:p>
            <a:r>
              <a:rPr lang="en-US" sz="1600" dirty="0">
                <a:solidFill>
                  <a:prstClr val="black"/>
                </a:solidFill>
                <a:latin typeface="Helvetica" panose="020B0604020202020204" pitchFamily="34" charset="0"/>
                <a:cs typeface="Helvetica" panose="020B0604020202020204" pitchFamily="34" charset="0"/>
              </a:rPr>
              <a:t>From the order the predictors were added, i.e., log(</a:t>
            </a:r>
            <a:r>
              <a:rPr lang="en-US" sz="1600" i="1" dirty="0">
                <a:solidFill>
                  <a:prstClr val="black"/>
                </a:solidFill>
                <a:latin typeface="Helvetica" panose="020B0604020202020204" pitchFamily="34" charset="0"/>
                <a:cs typeface="Helvetica" panose="020B0604020202020204" pitchFamily="34" charset="0"/>
              </a:rPr>
              <a:t>takers</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rank</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years</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expend</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income</a:t>
            </a:r>
            <a:r>
              <a:rPr lang="en-US" sz="1600" dirty="0">
                <a:solidFill>
                  <a:prstClr val="black"/>
                </a:solidFill>
                <a:latin typeface="Helvetica" panose="020B0604020202020204" pitchFamily="34" charset="0"/>
                <a:cs typeface="Helvetica" panose="020B0604020202020204" pitchFamily="34" charset="0"/>
              </a:rPr>
              <a:t> and </a:t>
            </a:r>
            <a:r>
              <a:rPr lang="en-US" sz="1600" i="1" dirty="0">
                <a:solidFill>
                  <a:prstClr val="black"/>
                </a:solidFill>
                <a:latin typeface="Helvetica" panose="020B0604020202020204" pitchFamily="34" charset="0"/>
                <a:cs typeface="Helvetica" panose="020B0604020202020204" pitchFamily="34" charset="0"/>
              </a:rPr>
              <a:t>public</a:t>
            </a:r>
            <a:r>
              <a:rPr lang="en-US" sz="1600" dirty="0">
                <a:solidFill>
                  <a:prstClr val="black"/>
                </a:solidFill>
                <a:latin typeface="Helvetica" panose="020B0604020202020204" pitchFamily="34" charset="0"/>
                <a:cs typeface="Helvetica" panose="020B0604020202020204" pitchFamily="34" charset="0"/>
              </a:rPr>
              <a:t>, the first four are selected</a:t>
            </a:r>
          </a:p>
        </p:txBody>
      </p:sp>
    </p:spTree>
    <p:custDataLst>
      <p:tags r:id="rId1"/>
    </p:custDataLst>
    <p:extLst>
      <p:ext uri="{BB962C8B-B14F-4D97-AF65-F5344CB8AC3E}">
        <p14:creationId xmlns:p14="http://schemas.microsoft.com/office/powerpoint/2010/main" val="1861047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17007" y="970162"/>
            <a:ext cx="4454993" cy="2123658"/>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i="1" dirty="0">
                <a:latin typeface="Helvetica" panose="020B0604020202020204" pitchFamily="34" charset="0"/>
                <a:ea typeface="Helvetica Neue" charset="0"/>
                <a:cs typeface="Helvetica" panose="020B0604020202020204" pitchFamily="34" charset="0"/>
              </a:rPr>
              <a:t>library(</a:t>
            </a:r>
            <a:r>
              <a:rPr lang="en-US" sz="1200" i="1" dirty="0" err="1">
                <a:latin typeface="Helvetica" panose="020B0604020202020204" pitchFamily="34" charset="0"/>
                <a:ea typeface="Helvetica Neue" charset="0"/>
                <a:cs typeface="Helvetica" panose="020B0604020202020204" pitchFamily="34" charset="0"/>
              </a:rPr>
              <a:t>glmnet</a:t>
            </a:r>
            <a:r>
              <a:rPr lang="en-US" sz="1200" i="1" dirty="0">
                <a:latin typeface="Helvetica" panose="020B0604020202020204" pitchFamily="34" charset="0"/>
                <a:ea typeface="Helvetica Neue" charset="0"/>
                <a:cs typeface="Helvetica" panose="020B0604020202020204" pitchFamily="34" charset="0"/>
              </a:rPr>
              <a:t>) </a:t>
            </a:r>
            <a:r>
              <a:rPr lang="it-IT" sz="1200" b="1" dirty="0">
                <a:solidFill>
                  <a:srgbClr val="EEB211"/>
                </a:solidFill>
                <a:latin typeface="Helvetica" panose="020B0604020202020204" pitchFamily="34" charset="0"/>
                <a:ea typeface="Helvetica Neue" charset="0"/>
                <a:cs typeface="Helvetica" panose="020B0604020202020204" pitchFamily="34" charset="0"/>
              </a:rPr>
              <a:t># alpha=1 lasso, alpha=0 ridge</a:t>
            </a:r>
            <a:endParaRPr lang="en-US" sz="1200" b="1" dirty="0">
              <a:solidFill>
                <a:srgbClr val="EEB211"/>
              </a:solidFill>
              <a:latin typeface="Helvetica" panose="020B0604020202020204" pitchFamily="34" charset="0"/>
              <a:ea typeface="Helvetica Neue" charset="0"/>
              <a:cs typeface="Helvetica" panose="020B0604020202020204" pitchFamily="34" charset="0"/>
            </a:endParaRPr>
          </a:p>
          <a:p>
            <a:pPr>
              <a:defRPr/>
            </a:pPr>
            <a:r>
              <a:rPr lang="en-US" sz="1200" i="1" dirty="0" err="1">
                <a:latin typeface="Helvetica" panose="020B0604020202020204" pitchFamily="34" charset="0"/>
                <a:ea typeface="Helvetica Neue" charset="0"/>
                <a:cs typeface="Helvetica" panose="020B0604020202020204" pitchFamily="34" charset="0"/>
              </a:rPr>
              <a:t>Xpred</a:t>
            </a:r>
            <a:r>
              <a:rPr lang="en-US" sz="1200" i="1" dirty="0">
                <a:latin typeface="Helvetica" panose="020B0604020202020204" pitchFamily="34" charset="0"/>
                <a:ea typeface="Helvetica Neue" charset="0"/>
                <a:cs typeface="Helvetica" panose="020B0604020202020204" pitchFamily="34" charset="0"/>
              </a:rPr>
              <a:t>= </a:t>
            </a:r>
            <a:r>
              <a:rPr lang="en-US" sz="1200" i="1" dirty="0" err="1">
                <a:latin typeface="Helvetica" panose="020B0604020202020204" pitchFamily="34" charset="0"/>
                <a:ea typeface="Helvetica Neue" charset="0"/>
                <a:cs typeface="Helvetica" panose="020B0604020202020204" pitchFamily="34" charset="0"/>
              </a:rPr>
              <a:t>cbind</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ltakers</a:t>
            </a:r>
            <a:r>
              <a:rPr lang="en-US" sz="1200" i="1" dirty="0">
                <a:latin typeface="Helvetica" panose="020B0604020202020204" pitchFamily="34" charset="0"/>
                <a:ea typeface="Helvetica Neue" charset="0"/>
                <a:cs typeface="Helvetica" panose="020B0604020202020204" pitchFamily="34" charset="0"/>
              </a:rPr>
              <a:t>, rank, income, years, public, expend)</a:t>
            </a:r>
          </a:p>
          <a:p>
            <a:pPr>
              <a:defRPr/>
            </a:pPr>
            <a:endParaRPr lang="en-US" sz="1200" dirty="0">
              <a:solidFill>
                <a:srgbClr val="8E4221"/>
              </a:solidFill>
              <a:latin typeface="Helvetica" panose="020B0604020202020204" pitchFamily="34" charset="0"/>
              <a:ea typeface="Helvetica Neue" charset="0"/>
              <a:cs typeface="Helvetica" panose="020B0604020202020204" pitchFamily="34" charset="0"/>
            </a:endParaRPr>
          </a:p>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Find the optimal lambda using 10-fold CV </a:t>
            </a:r>
          </a:p>
          <a:p>
            <a:pPr>
              <a:defRPr/>
            </a:pPr>
            <a:r>
              <a:rPr lang="en-US" sz="1200" i="1" dirty="0">
                <a:latin typeface="Helvetica" panose="020B0604020202020204" pitchFamily="34" charset="0"/>
                <a:ea typeface="Helvetica Neue" charset="0"/>
                <a:cs typeface="Helvetica" panose="020B0604020202020204" pitchFamily="34" charset="0"/>
              </a:rPr>
              <a:t>satmodel.cv=</a:t>
            </a:r>
            <a:r>
              <a:rPr lang="en-US" sz="1200" i="1" dirty="0" err="1">
                <a:latin typeface="Helvetica" panose="020B0604020202020204" pitchFamily="34" charset="0"/>
                <a:ea typeface="Helvetica Neue" charset="0"/>
                <a:cs typeface="Helvetica" panose="020B0604020202020204" pitchFamily="34" charset="0"/>
              </a:rPr>
              <a:t>cv.glmnet</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Xpred</a:t>
            </a:r>
            <a:r>
              <a:rPr lang="en-US" sz="1200" i="1" dirty="0">
                <a:latin typeface="Helvetica" panose="020B0604020202020204" pitchFamily="34" charset="0"/>
                <a:ea typeface="Helvetica Neue" charset="0"/>
                <a:cs typeface="Helvetica" panose="020B0604020202020204" pitchFamily="34" charset="0"/>
              </a:rPr>
              <a:t>, sat, alpha=1, </a:t>
            </a:r>
            <a:r>
              <a:rPr lang="en-US" sz="1200" i="1" dirty="0" err="1">
                <a:latin typeface="Helvetica" panose="020B0604020202020204" pitchFamily="34" charset="0"/>
                <a:ea typeface="Helvetica Neue" charset="0"/>
                <a:cs typeface="Helvetica" panose="020B0604020202020204" pitchFamily="34" charset="0"/>
              </a:rPr>
              <a:t>nfolds</a:t>
            </a:r>
            <a:r>
              <a:rPr lang="en-US" sz="1200" i="1" dirty="0">
                <a:latin typeface="Helvetica" panose="020B0604020202020204" pitchFamily="34" charset="0"/>
                <a:ea typeface="Helvetica Neue" charset="0"/>
                <a:cs typeface="Helvetica" panose="020B0604020202020204" pitchFamily="34" charset="0"/>
              </a:rPr>
              <a:t>=10)</a:t>
            </a:r>
          </a:p>
          <a:p>
            <a:pPr>
              <a:defRPr/>
            </a:pPr>
            <a:endParaRPr lang="en-US" sz="1200" dirty="0">
              <a:solidFill>
                <a:srgbClr val="8E4221"/>
              </a:solidFill>
              <a:latin typeface="Helvetica" panose="020B0604020202020204" pitchFamily="34" charset="0"/>
              <a:ea typeface="Helvetica Neue" charset="0"/>
              <a:cs typeface="Helvetica" panose="020B0604020202020204" pitchFamily="34" charset="0"/>
            </a:endParaRPr>
          </a:p>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Fit lasso model with 100 values for lambda</a:t>
            </a:r>
          </a:p>
          <a:p>
            <a:pPr>
              <a:defRPr/>
            </a:pPr>
            <a:r>
              <a:rPr lang="en-US" sz="1200" i="1" dirty="0" err="1">
                <a:latin typeface="Helvetica" panose="020B0604020202020204" pitchFamily="34" charset="0"/>
                <a:ea typeface="Helvetica Neue" charset="0"/>
                <a:cs typeface="Helvetica" panose="020B0604020202020204" pitchFamily="34" charset="0"/>
              </a:rPr>
              <a:t>satmodel</a:t>
            </a:r>
            <a:r>
              <a:rPr lang="en-US" sz="1200" i="1" dirty="0">
                <a:latin typeface="Helvetica" panose="020B0604020202020204" pitchFamily="34" charset="0"/>
                <a:ea typeface="Helvetica Neue" charset="0"/>
                <a:cs typeface="Helvetica" panose="020B0604020202020204" pitchFamily="34" charset="0"/>
              </a:rPr>
              <a:t> = </a:t>
            </a:r>
            <a:r>
              <a:rPr lang="en-US" sz="1200" i="1" dirty="0" err="1">
                <a:latin typeface="Helvetica" panose="020B0604020202020204" pitchFamily="34" charset="0"/>
                <a:ea typeface="Helvetica Neue" charset="0"/>
                <a:cs typeface="Helvetica" panose="020B0604020202020204" pitchFamily="34" charset="0"/>
              </a:rPr>
              <a:t>glmnet</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Xpred</a:t>
            </a:r>
            <a:r>
              <a:rPr lang="en-US" sz="1200" i="1" dirty="0">
                <a:latin typeface="Helvetica" panose="020B0604020202020204" pitchFamily="34" charset="0"/>
                <a:ea typeface="Helvetica Neue" charset="0"/>
                <a:cs typeface="Helvetica" panose="020B0604020202020204" pitchFamily="34" charset="0"/>
              </a:rPr>
              <a:t>, sat, alpha = 1, </a:t>
            </a:r>
            <a:r>
              <a:rPr lang="en-US" sz="1200" i="1" dirty="0" err="1">
                <a:latin typeface="Helvetica" panose="020B0604020202020204" pitchFamily="34" charset="0"/>
                <a:ea typeface="Helvetica Neue" charset="0"/>
                <a:cs typeface="Helvetica" panose="020B0604020202020204" pitchFamily="34" charset="0"/>
              </a:rPr>
              <a:t>nlambda</a:t>
            </a:r>
            <a:r>
              <a:rPr lang="en-US" sz="1200" i="1" dirty="0">
                <a:latin typeface="Helvetica" panose="020B0604020202020204" pitchFamily="34" charset="0"/>
                <a:ea typeface="Helvetica Neue" charset="0"/>
                <a:cs typeface="Helvetica" panose="020B0604020202020204" pitchFamily="34" charset="0"/>
              </a:rPr>
              <a:t>=100)</a:t>
            </a:r>
          </a:p>
          <a:p>
            <a:pPr>
              <a:defRPr/>
            </a:pPr>
            <a:endParaRPr lang="en-US" sz="1200" dirty="0">
              <a:solidFill>
                <a:srgbClr val="8E4221"/>
              </a:solidFill>
              <a:latin typeface="Helvetica" panose="020B0604020202020204" pitchFamily="34" charset="0"/>
              <a:ea typeface="Helvetica Neue" charset="0"/>
              <a:cs typeface="Helvetica" panose="020B0604020202020204" pitchFamily="34" charset="0"/>
            </a:endParaRPr>
          </a:p>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Extract coefficients at optimal lambda</a:t>
            </a:r>
          </a:p>
          <a:p>
            <a:pPr>
              <a:defRPr/>
            </a:pPr>
            <a:r>
              <a:rPr lang="en-US" sz="1200" i="1" dirty="0" err="1">
                <a:latin typeface="Helvetica" panose="020B0604020202020204" pitchFamily="34" charset="0"/>
                <a:ea typeface="Helvetica Neue" charset="0"/>
                <a:cs typeface="Helvetica" panose="020B0604020202020204" pitchFamily="34" charset="0"/>
              </a:rPr>
              <a:t>coef</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satmodel</a:t>
            </a:r>
            <a:r>
              <a:rPr lang="en-US" sz="1200" i="1" dirty="0">
                <a:latin typeface="Helvetica" panose="020B0604020202020204" pitchFamily="34" charset="0"/>
                <a:ea typeface="Helvetica Neue" charset="0"/>
                <a:cs typeface="Helvetica" panose="020B0604020202020204" pitchFamily="34" charset="0"/>
              </a:rPr>
              <a:t>, s=</a:t>
            </a:r>
            <a:r>
              <a:rPr lang="en-US" sz="1200" i="1" dirty="0" err="1">
                <a:latin typeface="Helvetica" panose="020B0604020202020204" pitchFamily="34" charset="0"/>
                <a:ea typeface="Helvetica Neue" charset="0"/>
                <a:cs typeface="Helvetica" panose="020B0604020202020204" pitchFamily="34" charset="0"/>
              </a:rPr>
              <a:t>satmodel.cv$lambda.min</a:t>
            </a:r>
            <a:r>
              <a:rPr lang="en-US" sz="1200" i="1" dirty="0">
                <a:latin typeface="Helvetica" panose="020B0604020202020204" pitchFamily="34" charset="0"/>
                <a:ea typeface="Helvetica Neue" charset="0"/>
                <a:cs typeface="Helvetica" panose="020B0604020202020204" pitchFamily="34" charset="0"/>
              </a:rPr>
              <a:t>)</a:t>
            </a:r>
          </a:p>
        </p:txBody>
      </p:sp>
      <p:sp>
        <p:nvSpPr>
          <p:cNvPr id="12" name="Title 1"/>
          <p:cNvSpPr txBox="1">
            <a:spLocks/>
          </p:cNvSpPr>
          <p:nvPr/>
        </p:nvSpPr>
        <p:spPr>
          <a:xfrm>
            <a:off x="78626" y="246715"/>
            <a:ext cx="9065374" cy="508780"/>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500" dirty="0">
                <a:latin typeface="Vitesse"/>
                <a:ea typeface="Vitesse" charset="0"/>
                <a:cs typeface="Vitesse" charset="0"/>
              </a:rPr>
              <a:t>LASSO Regression: Second Implementation </a:t>
            </a:r>
          </a:p>
        </p:txBody>
      </p:sp>
      <p:sp>
        <p:nvSpPr>
          <p:cNvPr id="10" name="Oval 9"/>
          <p:cNvSpPr/>
          <p:nvPr/>
        </p:nvSpPr>
        <p:spPr>
          <a:xfrm>
            <a:off x="2249198" y="2264965"/>
            <a:ext cx="708315" cy="278213"/>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Oval 10"/>
          <p:cNvSpPr/>
          <p:nvPr/>
        </p:nvSpPr>
        <p:spPr>
          <a:xfrm>
            <a:off x="2550672" y="1704622"/>
            <a:ext cx="600381" cy="276167"/>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Content Placeholder 2">
            <a:extLst>
              <a:ext uri="{FF2B5EF4-FFF2-40B4-BE49-F238E27FC236}">
                <a16:creationId xmlns:a16="http://schemas.microsoft.com/office/drawing/2014/main" id="{FC1D0405-6654-450E-8DEB-AC803D9455BB}"/>
              </a:ext>
            </a:extLst>
          </p:cNvPr>
          <p:cNvSpPr txBox="1">
            <a:spLocks/>
          </p:cNvSpPr>
          <p:nvPr/>
        </p:nvSpPr>
        <p:spPr>
          <a:xfrm>
            <a:off x="5486399" y="3383996"/>
            <a:ext cx="3500475" cy="1169551"/>
          </a:xfrm>
          <a:prstGeom prst="rect">
            <a:avLst/>
          </a:prstGeom>
          <a:noFill/>
          <a:ln w="19050">
            <a:solidFill>
              <a:schemeClr val="tx2"/>
            </a:solidFill>
          </a:ln>
          <a:effectLst/>
        </p:spPr>
        <p:txBody>
          <a:bodyPr vert="horz" wrap="square" lIns="91440" tIns="91440" rIns="91440" bIns="91440" rtlCol="0" anchor="ctr">
            <a:spAutoFit/>
          </a:bodyPr>
          <a:lstStyle>
            <a:lvl1pPr marL="457200" indent="-45720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q"/>
              <a:defRPr sz="3200" kern="1200">
                <a:solidFill>
                  <a:schemeClr val="tx1">
                    <a:lumMod val="75000"/>
                    <a:lumOff val="25000"/>
                  </a:schemeClr>
                </a:solidFill>
                <a:latin typeface="+mn-lt"/>
                <a:ea typeface="+mn-ea"/>
                <a:cs typeface="+mn-cs"/>
              </a:defRPr>
            </a:lvl1pPr>
            <a:lvl2pPr marL="658368" indent="-45720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mn-lt"/>
                <a:ea typeface="+mn-ea"/>
                <a:cs typeface="+mn-cs"/>
              </a:defRPr>
            </a:lvl2pPr>
            <a:lvl3pPr marL="726948" indent="-342900" algn="l" defTabSz="914400" rtl="0" eaLnBrk="1" latinLnBrk="0" hangingPunct="1">
              <a:lnSpc>
                <a:spcPct val="90000"/>
              </a:lnSpc>
              <a:spcBef>
                <a:spcPts val="200"/>
              </a:spcBef>
              <a:spcAft>
                <a:spcPts val="400"/>
              </a:spcAft>
              <a:buClr>
                <a:schemeClr val="accent1"/>
              </a:buClr>
              <a:buFont typeface="Wingdings" panose="05000000000000000000" pitchFamily="2" charset="2"/>
              <a:buChar char="§"/>
              <a:defRPr sz="2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00000"/>
              </a:lnSpc>
              <a:buClrTx/>
              <a:buNone/>
            </a:pPr>
            <a:r>
              <a:rPr lang="en-US" sz="1600" dirty="0">
                <a:solidFill>
                  <a:prstClr val="black"/>
                </a:solidFill>
                <a:latin typeface="Helvetica" panose="020B0604020202020204" pitchFamily="34" charset="0"/>
                <a:cs typeface="Helvetica" panose="020B0604020202020204" pitchFamily="34" charset="0"/>
              </a:rPr>
              <a:t>Using LASSO </a:t>
            </a:r>
            <a:r>
              <a:rPr lang="en-US" sz="1600" dirty="0">
                <a:latin typeface="Helvetica" panose="020B0604020202020204" pitchFamily="34" charset="0"/>
                <a:cs typeface="Helvetica" panose="020B0604020202020204" pitchFamily="34" charset="0"/>
              </a:rPr>
              <a:t>and the penalty selected using 10-fold CV, the s</a:t>
            </a:r>
            <a:r>
              <a:rPr lang="en-US" sz="1600" dirty="0">
                <a:solidFill>
                  <a:prstClr val="black"/>
                </a:solidFill>
                <a:latin typeface="Helvetica" panose="020B0604020202020204" pitchFamily="34" charset="0"/>
                <a:cs typeface="Helvetica" panose="020B0604020202020204" pitchFamily="34" charset="0"/>
              </a:rPr>
              <a:t>elected predictors are: log(</a:t>
            </a:r>
            <a:r>
              <a:rPr lang="en-US" sz="1600" i="1" dirty="0">
                <a:solidFill>
                  <a:prstClr val="black"/>
                </a:solidFill>
                <a:latin typeface="Helvetica" panose="020B0604020202020204" pitchFamily="34" charset="0"/>
                <a:cs typeface="Helvetica" panose="020B0604020202020204" pitchFamily="34" charset="0"/>
              </a:rPr>
              <a:t>takers</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rank</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years</a:t>
            </a:r>
            <a:r>
              <a:rPr lang="en-US" sz="1600" dirty="0">
                <a:solidFill>
                  <a:prstClr val="black"/>
                </a:solidFill>
                <a:latin typeface="Helvetica" panose="020B0604020202020204" pitchFamily="34" charset="0"/>
                <a:cs typeface="Helvetica" panose="020B0604020202020204" pitchFamily="34" charset="0"/>
              </a:rPr>
              <a:t>, and </a:t>
            </a:r>
            <a:r>
              <a:rPr lang="en-US" sz="1600" i="1" dirty="0">
                <a:solidFill>
                  <a:prstClr val="black"/>
                </a:solidFill>
                <a:latin typeface="Helvetica" panose="020B0604020202020204" pitchFamily="34" charset="0"/>
                <a:cs typeface="Helvetica" panose="020B0604020202020204" pitchFamily="34" charset="0"/>
              </a:rPr>
              <a:t>expend</a:t>
            </a:r>
            <a:endParaRPr lang="en-US" sz="1600" dirty="0">
              <a:latin typeface="Helvetica" panose="020B0604020202020204" pitchFamily="34" charset="0"/>
              <a:cs typeface="Helvetica" panose="020B0604020202020204" pitchFamily="34" charset="0"/>
            </a:endParaRPr>
          </a:p>
        </p:txBody>
      </p:sp>
      <p:sp>
        <p:nvSpPr>
          <p:cNvPr id="2" name="Arrow: Left 1">
            <a:extLst>
              <a:ext uri="{FF2B5EF4-FFF2-40B4-BE49-F238E27FC236}">
                <a16:creationId xmlns:a16="http://schemas.microsoft.com/office/drawing/2014/main" id="{3250EDA3-F5AF-4558-AA5A-CB04452AE102}"/>
              </a:ext>
            </a:extLst>
          </p:cNvPr>
          <p:cNvSpPr/>
          <p:nvPr/>
        </p:nvSpPr>
        <p:spPr>
          <a:xfrm>
            <a:off x="2957533" y="3422259"/>
            <a:ext cx="1619239" cy="145444"/>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Arrow: Left 2">
            <a:extLst>
              <a:ext uri="{FF2B5EF4-FFF2-40B4-BE49-F238E27FC236}">
                <a16:creationId xmlns:a16="http://schemas.microsoft.com/office/drawing/2014/main" id="{681B3BAF-EB65-4B3D-9DE9-DC2D77C643B8}"/>
              </a:ext>
            </a:extLst>
          </p:cNvPr>
          <p:cNvSpPr/>
          <p:nvPr/>
        </p:nvSpPr>
        <p:spPr>
          <a:xfrm>
            <a:off x="2952769" y="3602645"/>
            <a:ext cx="1619239" cy="145444"/>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Arrow: Left 3">
            <a:extLst>
              <a:ext uri="{FF2B5EF4-FFF2-40B4-BE49-F238E27FC236}">
                <a16:creationId xmlns:a16="http://schemas.microsoft.com/office/drawing/2014/main" id="{FEC48470-38F2-483B-9F1A-7216EA53EF31}"/>
              </a:ext>
            </a:extLst>
          </p:cNvPr>
          <p:cNvSpPr/>
          <p:nvPr/>
        </p:nvSpPr>
        <p:spPr>
          <a:xfrm>
            <a:off x="2952771" y="3967565"/>
            <a:ext cx="1619239" cy="145444"/>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Arrow: Left 4">
            <a:extLst>
              <a:ext uri="{FF2B5EF4-FFF2-40B4-BE49-F238E27FC236}">
                <a16:creationId xmlns:a16="http://schemas.microsoft.com/office/drawing/2014/main" id="{827CA9C5-B998-4110-B6C3-B93F8172CB5A}"/>
              </a:ext>
            </a:extLst>
          </p:cNvPr>
          <p:cNvSpPr/>
          <p:nvPr/>
        </p:nvSpPr>
        <p:spPr>
          <a:xfrm>
            <a:off x="2962295" y="4317606"/>
            <a:ext cx="1619239" cy="145444"/>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CFB6957-B53E-41E5-B947-772CB85DD12A}"/>
              </a:ext>
            </a:extLst>
          </p:cNvPr>
          <p:cNvSpPr txBox="1"/>
          <p:nvPr/>
        </p:nvSpPr>
        <p:spPr>
          <a:xfrm>
            <a:off x="5486400" y="1633467"/>
            <a:ext cx="3505200" cy="923330"/>
          </a:xfrm>
          <a:prstGeom prst="rect">
            <a:avLst/>
          </a:prstGeom>
          <a:ln w="19050">
            <a:solidFill>
              <a:schemeClr val="tx2"/>
            </a:solidFill>
          </a:ln>
        </p:spPr>
        <p:txBody>
          <a:bodyPr vert="horz" wrap="square" lIns="91440" tIns="91440" rIns="91440" bIns="91440" rtlCol="0" anchor="ctr" anchorCtr="0">
            <a:spAutoFit/>
          </a:bodyPr>
          <a:lstStyle/>
          <a:p>
            <a:pPr algn="l"/>
            <a:r>
              <a:rPr lang="en-US" sz="1600" dirty="0">
                <a:solidFill>
                  <a:srgbClr val="000000"/>
                </a:solidFill>
                <a:latin typeface="Helvetica" panose="020B0604020202020204" pitchFamily="34" charset="0"/>
                <a:cs typeface="Helvetica" panose="020B0604020202020204" pitchFamily="34" charset="0"/>
              </a:rPr>
              <a:t>Because CV uses random assignments, expect slightly different coefficients each time it is run.</a:t>
            </a:r>
          </a:p>
        </p:txBody>
      </p:sp>
      <p:graphicFrame>
        <p:nvGraphicFramePr>
          <p:cNvPr id="9" name="Table 8"/>
          <p:cNvGraphicFramePr>
            <a:graphicFrameLocks noGrp="1"/>
          </p:cNvGraphicFramePr>
          <p:nvPr>
            <p:extLst>
              <p:ext uri="{D42A27DB-BD31-4B8C-83A1-F6EECF244321}">
                <p14:modId xmlns:p14="http://schemas.microsoft.com/office/powerpoint/2010/main" val="1921563834"/>
              </p:ext>
            </p:extLst>
          </p:nvPr>
        </p:nvGraphicFramePr>
        <p:xfrm>
          <a:off x="125401" y="3208155"/>
          <a:ext cx="1993900" cy="1270829"/>
        </p:xfrm>
        <a:graphic>
          <a:graphicData uri="http://schemas.openxmlformats.org/drawingml/2006/table">
            <a:tbl>
              <a:tblPr firstRow="1" firstCol="1" bandRow="1">
                <a:tableStyleId>{5C22544A-7EE6-4342-B048-85BDC9FD1C3A}</a:tableStyleId>
              </a:tblPr>
              <a:tblGrid>
                <a:gridCol w="928514">
                  <a:extLst>
                    <a:ext uri="{9D8B030D-6E8A-4147-A177-3AD203B41FA5}">
                      <a16:colId xmlns:a16="http://schemas.microsoft.com/office/drawing/2014/main" val="4006394708"/>
                    </a:ext>
                  </a:extLst>
                </a:gridCol>
                <a:gridCol w="1065386">
                  <a:extLst>
                    <a:ext uri="{9D8B030D-6E8A-4147-A177-3AD203B41FA5}">
                      <a16:colId xmlns:a16="http://schemas.microsoft.com/office/drawing/2014/main" val="218997717"/>
                    </a:ext>
                  </a:extLst>
                </a:gridCol>
              </a:tblGrid>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(Intercept)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516.519096</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982375820"/>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ltakers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-37.244873</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4271061817"/>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rank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3.420034</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4007774919"/>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income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4128188237"/>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years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13.780563</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4157723793"/>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public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3380055313"/>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expend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1.662338</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621549112"/>
                  </a:ext>
                </a:extLst>
              </a:tr>
            </a:tbl>
          </a:graphicData>
        </a:graphic>
      </p:graphicFrame>
    </p:spTree>
    <p:custDataLst>
      <p:tags r:id="rId1"/>
    </p:custDataLst>
    <p:extLst>
      <p:ext uri="{BB962C8B-B14F-4D97-AF65-F5344CB8AC3E}">
        <p14:creationId xmlns:p14="http://schemas.microsoft.com/office/powerpoint/2010/main" val="4240537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6" grpId="0" animBg="1"/>
      <p:bldP spid="2" grpId="0" animBg="1"/>
      <p:bldP spid="3" grpId="0" animBg="1"/>
      <p:bldP spid="4" grpId="0" animBg="1"/>
      <p:bldP spid="5" grpId="0" animBg="1"/>
      <p:bldP spid="7" grpId="0" animBg="1"/>
    </p:bldLst>
  </p:timing>
  <p:extLst mod="1">
    <p:ext uri="{6950BFC3-D8DA-4A85-94F7-54DA5524770B}">
      <p188:commentRel xmlns=""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02720" y="970162"/>
            <a:ext cx="5727513" cy="646331"/>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Plot coefficient paths</a:t>
            </a:r>
          </a:p>
          <a:p>
            <a:pPr>
              <a:defRPr/>
            </a:pPr>
            <a:r>
              <a:rPr lang="en-US" sz="1200" i="1" dirty="0">
                <a:latin typeface="Helvetica" panose="020B0604020202020204" pitchFamily="34" charset="0"/>
                <a:ea typeface="Helvetica Neue" charset="0"/>
                <a:cs typeface="Helvetica" panose="020B0604020202020204" pitchFamily="34" charset="0"/>
              </a:rPr>
              <a:t>plot(</a:t>
            </a:r>
            <a:r>
              <a:rPr lang="en-US" sz="1200" i="1" dirty="0" err="1">
                <a:latin typeface="Helvetica" panose="020B0604020202020204" pitchFamily="34" charset="0"/>
                <a:ea typeface="Helvetica Neue" charset="0"/>
                <a:cs typeface="Helvetica" panose="020B0604020202020204" pitchFamily="34" charset="0"/>
              </a:rPr>
              <a:t>satmodel,xvar</a:t>
            </a:r>
            <a:r>
              <a:rPr lang="en-US" sz="1200" i="1" dirty="0">
                <a:latin typeface="Helvetica" panose="020B0604020202020204" pitchFamily="34" charset="0"/>
                <a:ea typeface="Helvetica Neue" charset="0"/>
                <a:cs typeface="Helvetica" panose="020B0604020202020204" pitchFamily="34" charset="0"/>
              </a:rPr>
              <a:t>="lambda", </a:t>
            </a:r>
            <a:r>
              <a:rPr lang="en-US" sz="1200" i="1" dirty="0" err="1">
                <a:latin typeface="Helvetica" panose="020B0604020202020204" pitchFamily="34" charset="0"/>
                <a:ea typeface="Helvetica Neue" charset="0"/>
                <a:cs typeface="Helvetica" panose="020B0604020202020204" pitchFamily="34" charset="0"/>
              </a:rPr>
              <a:t>lwd</a:t>
            </a:r>
            <a:r>
              <a:rPr lang="en-US" sz="1200" i="1" dirty="0">
                <a:latin typeface="Helvetica" panose="020B0604020202020204" pitchFamily="34" charset="0"/>
                <a:ea typeface="Helvetica Neue" charset="0"/>
                <a:cs typeface="Helvetica" panose="020B0604020202020204" pitchFamily="34" charset="0"/>
              </a:rPr>
              <a:t>=2)</a:t>
            </a:r>
          </a:p>
          <a:p>
            <a:pPr>
              <a:defRPr/>
            </a:pPr>
            <a:r>
              <a:rPr lang="en-US" sz="1200" i="1" dirty="0" err="1">
                <a:latin typeface="Helvetica" panose="020B0604020202020204" pitchFamily="34" charset="0"/>
                <a:ea typeface="Helvetica Neue" charset="0"/>
                <a:cs typeface="Helvetica" panose="020B0604020202020204" pitchFamily="34" charset="0"/>
              </a:rPr>
              <a:t>abline</a:t>
            </a:r>
            <a:r>
              <a:rPr lang="en-US" sz="1200" i="1" dirty="0">
                <a:latin typeface="Helvetica" panose="020B0604020202020204" pitchFamily="34" charset="0"/>
                <a:ea typeface="Helvetica Neue" charset="0"/>
                <a:cs typeface="Helvetica" panose="020B0604020202020204" pitchFamily="34" charset="0"/>
              </a:rPr>
              <a:t>(v=log(</a:t>
            </a:r>
            <a:r>
              <a:rPr lang="en-US" sz="1200" i="1" dirty="0" err="1">
                <a:latin typeface="Helvetica" panose="020B0604020202020204" pitchFamily="34" charset="0"/>
                <a:ea typeface="Helvetica Neue" charset="0"/>
                <a:cs typeface="Helvetica" panose="020B0604020202020204" pitchFamily="34" charset="0"/>
              </a:rPr>
              <a:t>satmodel.cv$lambda.min</a:t>
            </a:r>
            <a:r>
              <a:rPr lang="en-US" sz="1200" i="1" dirty="0">
                <a:latin typeface="Helvetica" panose="020B0604020202020204" pitchFamily="34" charset="0"/>
                <a:ea typeface="Helvetica Neue" charset="0"/>
                <a:cs typeface="Helvetica" panose="020B0604020202020204" pitchFamily="34" charset="0"/>
              </a:rPr>
              <a:t>), col='black', </a:t>
            </a:r>
            <a:r>
              <a:rPr lang="en-US" sz="1200" i="1" dirty="0" err="1">
                <a:latin typeface="Helvetica" panose="020B0604020202020204" pitchFamily="34" charset="0"/>
                <a:ea typeface="Helvetica Neue" charset="0"/>
                <a:cs typeface="Helvetica" panose="020B0604020202020204" pitchFamily="34" charset="0"/>
              </a:rPr>
              <a:t>lty</a:t>
            </a:r>
            <a:r>
              <a:rPr lang="en-US" sz="1200" i="1" dirty="0">
                <a:latin typeface="Helvetica" panose="020B0604020202020204" pitchFamily="34" charset="0"/>
                <a:ea typeface="Helvetica Neue" charset="0"/>
                <a:cs typeface="Helvetica" panose="020B0604020202020204" pitchFamily="34" charset="0"/>
              </a:rPr>
              <a:t>=2)</a:t>
            </a:r>
          </a:p>
        </p:txBody>
      </p:sp>
      <p:pic>
        <p:nvPicPr>
          <p:cNvPr id="7" name="Picture 6" descr="A close up of a map&#10;&#10;Description automatically generated">
            <a:extLst>
              <a:ext uri="{FF2B5EF4-FFF2-40B4-BE49-F238E27FC236}">
                <a16:creationId xmlns:a16="http://schemas.microsoft.com/office/drawing/2014/main" id="{5C4FD7DE-E8B2-43EC-B9C1-5DCE247004F4}"/>
              </a:ext>
            </a:extLst>
          </p:cNvPr>
          <p:cNvPicPr>
            <a:picLocks noChangeAspect="1"/>
          </p:cNvPicPr>
          <p:nvPr/>
        </p:nvPicPr>
        <p:blipFill rotWithShape="1">
          <a:blip r:embed="rId3"/>
          <a:srcRect t="7546" r="6281" b="4236"/>
          <a:stretch/>
        </p:blipFill>
        <p:spPr>
          <a:xfrm>
            <a:off x="537738" y="1862521"/>
            <a:ext cx="4016396" cy="3109529"/>
          </a:xfrm>
          <a:prstGeom prst="rect">
            <a:avLst/>
          </a:prstGeom>
        </p:spPr>
      </p:pic>
      <p:sp>
        <p:nvSpPr>
          <p:cNvPr id="6" name="Title 1"/>
          <p:cNvSpPr txBox="1">
            <a:spLocks/>
          </p:cNvSpPr>
          <p:nvPr/>
        </p:nvSpPr>
        <p:spPr>
          <a:xfrm>
            <a:off x="78626" y="246715"/>
            <a:ext cx="9065374" cy="508780"/>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500" dirty="0">
                <a:latin typeface="Vitesse"/>
                <a:ea typeface="Vitesse" charset="0"/>
                <a:cs typeface="Vitesse" charset="0"/>
              </a:rPr>
              <a:t>LASSO Regression: Second Implementation </a:t>
            </a:r>
          </a:p>
        </p:txBody>
      </p:sp>
    </p:spTree>
    <p:custDataLst>
      <p:tags r:id="rId1"/>
    </p:custDataLst>
    <p:extLst>
      <p:ext uri="{BB962C8B-B14F-4D97-AF65-F5344CB8AC3E}">
        <p14:creationId xmlns:p14="http://schemas.microsoft.com/office/powerpoint/2010/main" val="894367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12242" y="965877"/>
            <a:ext cx="4459758" cy="2123658"/>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i="1" dirty="0">
                <a:latin typeface="Helvetica" panose="020B0604020202020204" pitchFamily="34" charset="0"/>
                <a:ea typeface="Helvetica Neue" charset="0"/>
                <a:cs typeface="Helvetica" panose="020B0604020202020204" pitchFamily="34" charset="0"/>
              </a:rPr>
              <a:t>library(</a:t>
            </a:r>
            <a:r>
              <a:rPr lang="en-US" sz="1200" i="1" dirty="0" err="1">
                <a:latin typeface="Helvetica" panose="020B0604020202020204" pitchFamily="34" charset="0"/>
                <a:ea typeface="Helvetica Neue" charset="0"/>
                <a:cs typeface="Helvetica" panose="020B0604020202020204" pitchFamily="34" charset="0"/>
              </a:rPr>
              <a:t>glmnet</a:t>
            </a:r>
            <a:r>
              <a:rPr lang="en-US" sz="1200" i="1" dirty="0">
                <a:latin typeface="Helvetica" panose="020B0604020202020204" pitchFamily="34" charset="0"/>
                <a:ea typeface="Helvetica Neue" charset="0"/>
                <a:cs typeface="Helvetica" panose="020B0604020202020204" pitchFamily="34" charset="0"/>
              </a:rPr>
              <a:t>) </a:t>
            </a:r>
            <a:r>
              <a:rPr lang="en-US" sz="1200" b="1" dirty="0">
                <a:solidFill>
                  <a:srgbClr val="EEB211"/>
                </a:solidFill>
                <a:latin typeface="Helvetica" panose="020B0604020202020204" pitchFamily="34" charset="0"/>
                <a:ea typeface="Helvetica Neue" charset="0"/>
                <a:cs typeface="Helvetica" panose="020B0604020202020204" pitchFamily="34" charset="0"/>
              </a:rPr>
              <a:t># alpha=1 lasso, alpha=0 ridge</a:t>
            </a:r>
          </a:p>
          <a:p>
            <a:pPr>
              <a:defRPr/>
            </a:pPr>
            <a:r>
              <a:rPr lang="en-US" sz="1200" i="1" dirty="0" err="1">
                <a:latin typeface="Helvetica" panose="020B0604020202020204" pitchFamily="34" charset="0"/>
                <a:ea typeface="Helvetica Neue" charset="0"/>
                <a:cs typeface="Helvetica" panose="020B0604020202020204" pitchFamily="34" charset="0"/>
              </a:rPr>
              <a:t>Xpred</a:t>
            </a:r>
            <a:r>
              <a:rPr lang="en-US" sz="1200" i="1" dirty="0">
                <a:latin typeface="Helvetica" panose="020B0604020202020204" pitchFamily="34" charset="0"/>
                <a:ea typeface="Helvetica Neue" charset="0"/>
                <a:cs typeface="Helvetica" panose="020B0604020202020204" pitchFamily="34" charset="0"/>
              </a:rPr>
              <a:t>= </a:t>
            </a:r>
            <a:r>
              <a:rPr lang="en-US" sz="1200" i="1" dirty="0" err="1">
                <a:latin typeface="Helvetica" panose="020B0604020202020204" pitchFamily="34" charset="0"/>
                <a:ea typeface="Helvetica Neue" charset="0"/>
                <a:cs typeface="Helvetica" panose="020B0604020202020204" pitchFamily="34" charset="0"/>
              </a:rPr>
              <a:t>cbind</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ltakers</a:t>
            </a:r>
            <a:r>
              <a:rPr lang="en-US" sz="1200" i="1" dirty="0">
                <a:latin typeface="Helvetica" panose="020B0604020202020204" pitchFamily="34" charset="0"/>
                <a:ea typeface="Helvetica Neue" charset="0"/>
                <a:cs typeface="Helvetica" panose="020B0604020202020204" pitchFamily="34" charset="0"/>
              </a:rPr>
              <a:t>, rank, income, years, public, expend)</a:t>
            </a:r>
          </a:p>
          <a:p>
            <a:pPr>
              <a:defRPr/>
            </a:pPr>
            <a:endParaRPr lang="en-US" sz="1200" dirty="0">
              <a:solidFill>
                <a:srgbClr val="8E4221"/>
              </a:solidFill>
              <a:latin typeface="Helvetica" panose="020B0604020202020204" pitchFamily="34" charset="0"/>
              <a:ea typeface="Helvetica Neue" charset="0"/>
              <a:cs typeface="Helvetica" panose="020B0604020202020204" pitchFamily="34" charset="0"/>
            </a:endParaRPr>
          </a:p>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Find the optimal lambda using 10-fold CV </a:t>
            </a:r>
          </a:p>
          <a:p>
            <a:pPr>
              <a:defRPr/>
            </a:pPr>
            <a:r>
              <a:rPr lang="en-US" sz="1200" i="1" dirty="0">
                <a:latin typeface="Helvetica" panose="020B0604020202020204" pitchFamily="34" charset="0"/>
                <a:ea typeface="Helvetica Neue" charset="0"/>
                <a:cs typeface="Helvetica" panose="020B0604020202020204" pitchFamily="34" charset="0"/>
              </a:rPr>
              <a:t>satmodel.cv=</a:t>
            </a:r>
            <a:r>
              <a:rPr lang="en-US" sz="1200" i="1" dirty="0" err="1">
                <a:latin typeface="Helvetica" panose="020B0604020202020204" pitchFamily="34" charset="0"/>
                <a:ea typeface="Helvetica Neue" charset="0"/>
                <a:cs typeface="Helvetica" panose="020B0604020202020204" pitchFamily="34" charset="0"/>
              </a:rPr>
              <a:t>cv.glmnet</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Xpred</a:t>
            </a:r>
            <a:r>
              <a:rPr lang="en-US" sz="1200" i="1" dirty="0">
                <a:latin typeface="Helvetica" panose="020B0604020202020204" pitchFamily="34" charset="0"/>
                <a:ea typeface="Helvetica Neue" charset="0"/>
                <a:cs typeface="Helvetica" panose="020B0604020202020204" pitchFamily="34" charset="0"/>
              </a:rPr>
              <a:t>, sat, alpha=0.5, </a:t>
            </a:r>
            <a:r>
              <a:rPr lang="en-US" sz="1200" i="1" dirty="0" err="1">
                <a:latin typeface="Helvetica" panose="020B0604020202020204" pitchFamily="34" charset="0"/>
                <a:ea typeface="Helvetica Neue" charset="0"/>
                <a:cs typeface="Helvetica" panose="020B0604020202020204" pitchFamily="34" charset="0"/>
              </a:rPr>
              <a:t>nfolds</a:t>
            </a:r>
            <a:r>
              <a:rPr lang="en-US" sz="1200" i="1" dirty="0">
                <a:latin typeface="Helvetica" panose="020B0604020202020204" pitchFamily="34" charset="0"/>
                <a:ea typeface="Helvetica Neue" charset="0"/>
                <a:cs typeface="Helvetica" panose="020B0604020202020204" pitchFamily="34" charset="0"/>
              </a:rPr>
              <a:t>=10)</a:t>
            </a:r>
          </a:p>
          <a:p>
            <a:pPr>
              <a:defRPr/>
            </a:pPr>
            <a:endParaRPr lang="en-US" sz="1200" dirty="0">
              <a:solidFill>
                <a:srgbClr val="8E4221"/>
              </a:solidFill>
              <a:latin typeface="Helvetica" panose="020B0604020202020204" pitchFamily="34" charset="0"/>
              <a:ea typeface="Helvetica Neue" charset="0"/>
              <a:cs typeface="Helvetica" panose="020B0604020202020204" pitchFamily="34" charset="0"/>
            </a:endParaRPr>
          </a:p>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Fit elastic net model with 100 values for lambda</a:t>
            </a:r>
          </a:p>
          <a:p>
            <a:pPr>
              <a:defRPr/>
            </a:pPr>
            <a:r>
              <a:rPr lang="en-US" sz="1200" i="1" dirty="0" err="1">
                <a:latin typeface="Helvetica" panose="020B0604020202020204" pitchFamily="34" charset="0"/>
                <a:ea typeface="Helvetica Neue" charset="0"/>
                <a:cs typeface="Helvetica" panose="020B0604020202020204" pitchFamily="34" charset="0"/>
              </a:rPr>
              <a:t>satmodel</a:t>
            </a:r>
            <a:r>
              <a:rPr lang="en-US" sz="1200" i="1" dirty="0">
                <a:latin typeface="Helvetica" panose="020B0604020202020204" pitchFamily="34" charset="0"/>
                <a:ea typeface="Helvetica Neue" charset="0"/>
                <a:cs typeface="Helvetica" panose="020B0604020202020204" pitchFamily="34" charset="0"/>
              </a:rPr>
              <a:t> = </a:t>
            </a:r>
            <a:r>
              <a:rPr lang="en-US" sz="1200" i="1" dirty="0" err="1">
                <a:latin typeface="Helvetica" panose="020B0604020202020204" pitchFamily="34" charset="0"/>
                <a:ea typeface="Helvetica Neue" charset="0"/>
                <a:cs typeface="Helvetica" panose="020B0604020202020204" pitchFamily="34" charset="0"/>
              </a:rPr>
              <a:t>glmnet</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Xpred</a:t>
            </a:r>
            <a:r>
              <a:rPr lang="en-US" sz="1200" i="1" dirty="0">
                <a:latin typeface="Helvetica" panose="020B0604020202020204" pitchFamily="34" charset="0"/>
                <a:ea typeface="Helvetica Neue" charset="0"/>
                <a:cs typeface="Helvetica" panose="020B0604020202020204" pitchFamily="34" charset="0"/>
              </a:rPr>
              <a:t>, sat, alpha=0.5, </a:t>
            </a:r>
            <a:r>
              <a:rPr lang="en-US" sz="1200" i="1" dirty="0" err="1">
                <a:latin typeface="Helvetica" panose="020B0604020202020204" pitchFamily="34" charset="0"/>
                <a:ea typeface="Helvetica Neue" charset="0"/>
                <a:cs typeface="Helvetica" panose="020B0604020202020204" pitchFamily="34" charset="0"/>
              </a:rPr>
              <a:t>nlambda</a:t>
            </a:r>
            <a:r>
              <a:rPr lang="en-US" sz="1200" i="1" dirty="0">
                <a:latin typeface="Helvetica" panose="020B0604020202020204" pitchFamily="34" charset="0"/>
                <a:ea typeface="Helvetica Neue" charset="0"/>
                <a:cs typeface="Helvetica" panose="020B0604020202020204" pitchFamily="34" charset="0"/>
              </a:rPr>
              <a:t> = 100)</a:t>
            </a:r>
          </a:p>
          <a:p>
            <a:pPr>
              <a:defRPr/>
            </a:pPr>
            <a:endParaRPr lang="en-US" sz="1200" dirty="0">
              <a:solidFill>
                <a:srgbClr val="8E4221"/>
              </a:solidFill>
              <a:latin typeface="Helvetica" panose="020B0604020202020204" pitchFamily="34" charset="0"/>
              <a:ea typeface="Helvetica Neue" charset="0"/>
              <a:cs typeface="Helvetica" panose="020B0604020202020204" pitchFamily="34" charset="0"/>
            </a:endParaRPr>
          </a:p>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Plot coefficient paths</a:t>
            </a:r>
          </a:p>
          <a:p>
            <a:pPr>
              <a:defRPr/>
            </a:pPr>
            <a:r>
              <a:rPr lang="en-US" sz="1200" i="1" dirty="0" err="1">
                <a:latin typeface="Helvetica" panose="020B0604020202020204" pitchFamily="34" charset="0"/>
                <a:ea typeface="Helvetica Neue" charset="0"/>
                <a:cs typeface="Helvetica" panose="020B0604020202020204" pitchFamily="34" charset="0"/>
              </a:rPr>
              <a:t>coef</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satmodel</a:t>
            </a:r>
            <a:r>
              <a:rPr lang="en-US" sz="1200" i="1" dirty="0">
                <a:latin typeface="Helvetica" panose="020B0604020202020204" pitchFamily="34" charset="0"/>
                <a:ea typeface="Helvetica Neue" charset="0"/>
                <a:cs typeface="Helvetica" panose="020B0604020202020204" pitchFamily="34" charset="0"/>
              </a:rPr>
              <a:t>, s=</a:t>
            </a:r>
            <a:r>
              <a:rPr lang="en-US" sz="1200" i="1" dirty="0" err="1">
                <a:latin typeface="Helvetica" panose="020B0604020202020204" pitchFamily="34" charset="0"/>
                <a:ea typeface="Helvetica Neue" charset="0"/>
                <a:cs typeface="Helvetica" panose="020B0604020202020204" pitchFamily="34" charset="0"/>
              </a:rPr>
              <a:t>satmodel.cv$lambda.min</a:t>
            </a:r>
            <a:r>
              <a:rPr lang="en-US" sz="1200" i="1" dirty="0">
                <a:latin typeface="Helvetica" panose="020B0604020202020204" pitchFamily="34" charset="0"/>
                <a:ea typeface="Helvetica Neue" charset="0"/>
                <a:cs typeface="Helvetica" panose="020B0604020202020204" pitchFamily="34" charset="0"/>
              </a:rPr>
              <a:t>)</a:t>
            </a:r>
          </a:p>
        </p:txBody>
      </p:sp>
      <p:sp>
        <p:nvSpPr>
          <p:cNvPr id="12" name="Title 1"/>
          <p:cNvSpPr txBox="1">
            <a:spLocks/>
          </p:cNvSpPr>
          <p:nvPr/>
        </p:nvSpPr>
        <p:spPr>
          <a:xfrm>
            <a:off x="74148" y="247924"/>
            <a:ext cx="8382000" cy="527442"/>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Elastic Net Regression</a:t>
            </a:r>
          </a:p>
        </p:txBody>
      </p:sp>
      <p:sp>
        <p:nvSpPr>
          <p:cNvPr id="10" name="Oval 9"/>
          <p:cNvSpPr/>
          <p:nvPr/>
        </p:nvSpPr>
        <p:spPr>
          <a:xfrm>
            <a:off x="2229940" y="2281236"/>
            <a:ext cx="822824" cy="218421"/>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Oval 10"/>
          <p:cNvSpPr/>
          <p:nvPr/>
        </p:nvSpPr>
        <p:spPr>
          <a:xfrm>
            <a:off x="2533787" y="1730395"/>
            <a:ext cx="814251" cy="234560"/>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Content Placeholder 2">
            <a:extLst>
              <a:ext uri="{FF2B5EF4-FFF2-40B4-BE49-F238E27FC236}">
                <a16:creationId xmlns:a16="http://schemas.microsoft.com/office/drawing/2014/main" id="{F4810DBE-06B0-4D3E-8E59-853D4745D34E}"/>
              </a:ext>
            </a:extLst>
          </p:cNvPr>
          <p:cNvSpPr txBox="1">
            <a:spLocks/>
          </p:cNvSpPr>
          <p:nvPr/>
        </p:nvSpPr>
        <p:spPr>
          <a:xfrm>
            <a:off x="5486400" y="3371319"/>
            <a:ext cx="3505200" cy="1169551"/>
          </a:xfrm>
          <a:prstGeom prst="rect">
            <a:avLst/>
          </a:prstGeom>
          <a:noFill/>
          <a:ln w="19050">
            <a:solidFill>
              <a:schemeClr val="tx2"/>
            </a:solidFill>
          </a:ln>
          <a:effectLst/>
        </p:spPr>
        <p:txBody>
          <a:bodyPr vert="horz" wrap="square" lIns="91440" tIns="91440" rIns="91440" bIns="91440" rtlCol="0" anchor="ctr">
            <a:spAutoFit/>
          </a:bodyPr>
          <a:lstStyle>
            <a:lvl1pPr marL="457200" indent="-45720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q"/>
              <a:defRPr sz="3200" kern="1200">
                <a:solidFill>
                  <a:schemeClr val="tx1">
                    <a:lumMod val="75000"/>
                    <a:lumOff val="25000"/>
                  </a:schemeClr>
                </a:solidFill>
                <a:latin typeface="+mn-lt"/>
                <a:ea typeface="+mn-ea"/>
                <a:cs typeface="+mn-cs"/>
              </a:defRPr>
            </a:lvl1pPr>
            <a:lvl2pPr marL="658368" indent="-45720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mn-lt"/>
                <a:ea typeface="+mn-ea"/>
                <a:cs typeface="+mn-cs"/>
              </a:defRPr>
            </a:lvl2pPr>
            <a:lvl3pPr marL="726948" indent="-342900" algn="l" defTabSz="914400" rtl="0" eaLnBrk="1" latinLnBrk="0" hangingPunct="1">
              <a:lnSpc>
                <a:spcPct val="90000"/>
              </a:lnSpc>
              <a:spcBef>
                <a:spcPts val="200"/>
              </a:spcBef>
              <a:spcAft>
                <a:spcPts val="400"/>
              </a:spcAft>
              <a:buClr>
                <a:schemeClr val="accent1"/>
              </a:buClr>
              <a:buFont typeface="Wingdings" panose="05000000000000000000" pitchFamily="2" charset="2"/>
              <a:buChar char="§"/>
              <a:defRPr sz="2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00000"/>
              </a:lnSpc>
              <a:buClrTx/>
              <a:buNone/>
            </a:pPr>
            <a:r>
              <a:rPr lang="en-US" sz="1600" dirty="0">
                <a:solidFill>
                  <a:prstClr val="black"/>
                </a:solidFill>
                <a:latin typeface="Helvetica" panose="020B0604020202020204" pitchFamily="34" charset="0"/>
                <a:cs typeface="Helvetica" panose="020B0604020202020204" pitchFamily="34" charset="0"/>
              </a:rPr>
              <a:t>Using Elastic Net </a:t>
            </a:r>
            <a:r>
              <a:rPr lang="en-US" sz="1600" dirty="0">
                <a:latin typeface="Helvetica" panose="020B0604020202020204" pitchFamily="34" charset="0"/>
                <a:cs typeface="Helvetica" panose="020B0604020202020204" pitchFamily="34" charset="0"/>
              </a:rPr>
              <a:t>and the penalty selected using 10-fold CV, the s</a:t>
            </a:r>
            <a:r>
              <a:rPr lang="en-US" sz="1600" dirty="0">
                <a:solidFill>
                  <a:prstClr val="black"/>
                </a:solidFill>
                <a:latin typeface="Helvetica" panose="020B0604020202020204" pitchFamily="34" charset="0"/>
                <a:cs typeface="Helvetica" panose="020B0604020202020204" pitchFamily="34" charset="0"/>
              </a:rPr>
              <a:t>elected predictors are: log(</a:t>
            </a:r>
            <a:r>
              <a:rPr lang="en-US" sz="1600" i="1" dirty="0">
                <a:solidFill>
                  <a:prstClr val="black"/>
                </a:solidFill>
                <a:latin typeface="Helvetica" panose="020B0604020202020204" pitchFamily="34" charset="0"/>
                <a:cs typeface="Helvetica" panose="020B0604020202020204" pitchFamily="34" charset="0"/>
              </a:rPr>
              <a:t>takers</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rank</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income</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years</a:t>
            </a:r>
            <a:r>
              <a:rPr lang="en-US" sz="1600" dirty="0">
                <a:solidFill>
                  <a:prstClr val="black"/>
                </a:solidFill>
                <a:latin typeface="Helvetica" panose="020B0604020202020204" pitchFamily="34" charset="0"/>
                <a:cs typeface="Helvetica" panose="020B0604020202020204" pitchFamily="34" charset="0"/>
              </a:rPr>
              <a:t>, and </a:t>
            </a:r>
            <a:r>
              <a:rPr lang="en-US" sz="1600" i="1" dirty="0">
                <a:solidFill>
                  <a:prstClr val="black"/>
                </a:solidFill>
                <a:latin typeface="Helvetica" panose="020B0604020202020204" pitchFamily="34" charset="0"/>
                <a:cs typeface="Helvetica" panose="020B0604020202020204" pitchFamily="34" charset="0"/>
              </a:rPr>
              <a:t>expend</a:t>
            </a:r>
            <a:endParaRPr lang="en-US" sz="1600" dirty="0">
              <a:latin typeface="Helvetica" panose="020B0604020202020204" pitchFamily="34" charset="0"/>
              <a:cs typeface="Helvetica" panose="020B0604020202020204" pitchFamily="34" charset="0"/>
            </a:endParaRPr>
          </a:p>
        </p:txBody>
      </p:sp>
      <p:sp>
        <p:nvSpPr>
          <p:cNvPr id="7" name="TextBox 6">
            <a:extLst>
              <a:ext uri="{FF2B5EF4-FFF2-40B4-BE49-F238E27FC236}">
                <a16:creationId xmlns:a16="http://schemas.microsoft.com/office/drawing/2014/main" id="{FBF11B2A-DEE5-4216-96B1-4AFFE47B7145}"/>
              </a:ext>
            </a:extLst>
          </p:cNvPr>
          <p:cNvSpPr txBox="1"/>
          <p:nvPr/>
        </p:nvSpPr>
        <p:spPr>
          <a:xfrm>
            <a:off x="5486400" y="1650755"/>
            <a:ext cx="3505199" cy="923330"/>
          </a:xfrm>
          <a:prstGeom prst="rect">
            <a:avLst/>
          </a:prstGeom>
          <a:ln w="19050">
            <a:solidFill>
              <a:schemeClr val="tx2"/>
            </a:solidFill>
          </a:ln>
        </p:spPr>
        <p:txBody>
          <a:bodyPr vert="horz" wrap="square" lIns="91440" tIns="91440" rIns="91440" bIns="91440" rtlCol="0" anchor="ctr" anchorCtr="0">
            <a:spAutoFit/>
          </a:bodyPr>
          <a:lstStyle/>
          <a:p>
            <a:pPr algn="l"/>
            <a:r>
              <a:rPr lang="en-US" sz="1600" dirty="0">
                <a:solidFill>
                  <a:srgbClr val="000000"/>
                </a:solidFill>
                <a:latin typeface="Helvetica" panose="020B0604020202020204" pitchFamily="34" charset="0"/>
                <a:cs typeface="Helvetica" panose="020B0604020202020204" pitchFamily="34" charset="0"/>
              </a:rPr>
              <a:t>Because CV uses random assignments, expect slightly different coefficients each time it is run.</a:t>
            </a:r>
          </a:p>
        </p:txBody>
      </p:sp>
      <p:sp>
        <p:nvSpPr>
          <p:cNvPr id="8" name="Arrow: Left 7">
            <a:extLst>
              <a:ext uri="{FF2B5EF4-FFF2-40B4-BE49-F238E27FC236}">
                <a16:creationId xmlns:a16="http://schemas.microsoft.com/office/drawing/2014/main" id="{CAA887B9-DA14-440E-A525-63C6A37E1DFD}"/>
              </a:ext>
            </a:extLst>
          </p:cNvPr>
          <p:cNvSpPr/>
          <p:nvPr/>
        </p:nvSpPr>
        <p:spPr>
          <a:xfrm>
            <a:off x="2977673" y="3456879"/>
            <a:ext cx="1594328" cy="158858"/>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Arrow: Left 8">
            <a:extLst>
              <a:ext uri="{FF2B5EF4-FFF2-40B4-BE49-F238E27FC236}">
                <a16:creationId xmlns:a16="http://schemas.microsoft.com/office/drawing/2014/main" id="{162F34BD-0A2B-41C8-AE22-3D4F955E42FF}"/>
              </a:ext>
            </a:extLst>
          </p:cNvPr>
          <p:cNvSpPr/>
          <p:nvPr/>
        </p:nvSpPr>
        <p:spPr>
          <a:xfrm>
            <a:off x="2983227" y="3639120"/>
            <a:ext cx="1594328" cy="158858"/>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Arrow: Left 12">
            <a:extLst>
              <a:ext uri="{FF2B5EF4-FFF2-40B4-BE49-F238E27FC236}">
                <a16:creationId xmlns:a16="http://schemas.microsoft.com/office/drawing/2014/main" id="{07472B2A-4D70-4E6E-9931-FC9FF8E2B4C9}"/>
              </a:ext>
            </a:extLst>
          </p:cNvPr>
          <p:cNvSpPr/>
          <p:nvPr/>
        </p:nvSpPr>
        <p:spPr>
          <a:xfrm>
            <a:off x="2977671" y="4002758"/>
            <a:ext cx="1594328" cy="158858"/>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Arrow: Left 13">
            <a:extLst>
              <a:ext uri="{FF2B5EF4-FFF2-40B4-BE49-F238E27FC236}">
                <a16:creationId xmlns:a16="http://schemas.microsoft.com/office/drawing/2014/main" id="{09E8D188-0DAD-4B52-82AD-D4D554ADF332}"/>
              </a:ext>
            </a:extLst>
          </p:cNvPr>
          <p:cNvSpPr/>
          <p:nvPr/>
        </p:nvSpPr>
        <p:spPr>
          <a:xfrm>
            <a:off x="2977670" y="4375921"/>
            <a:ext cx="1594328" cy="158858"/>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Arrow: Left 14">
            <a:extLst>
              <a:ext uri="{FF2B5EF4-FFF2-40B4-BE49-F238E27FC236}">
                <a16:creationId xmlns:a16="http://schemas.microsoft.com/office/drawing/2014/main" id="{B6FB744D-FFC9-4843-8890-2977B96C0647}"/>
              </a:ext>
            </a:extLst>
          </p:cNvPr>
          <p:cNvSpPr/>
          <p:nvPr/>
        </p:nvSpPr>
        <p:spPr>
          <a:xfrm>
            <a:off x="2977672" y="3818904"/>
            <a:ext cx="1594328" cy="158858"/>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2911330391"/>
              </p:ext>
            </p:extLst>
          </p:nvPr>
        </p:nvGraphicFramePr>
        <p:xfrm>
          <a:off x="134924" y="3241993"/>
          <a:ext cx="2065339" cy="1270829"/>
        </p:xfrm>
        <a:graphic>
          <a:graphicData uri="http://schemas.openxmlformats.org/drawingml/2006/table">
            <a:tbl>
              <a:tblPr firstRow="1" firstCol="1" bandRow="1">
                <a:tableStyleId>{5C22544A-7EE6-4342-B048-85BDC9FD1C3A}</a:tableStyleId>
              </a:tblPr>
              <a:tblGrid>
                <a:gridCol w="901565">
                  <a:extLst>
                    <a:ext uri="{9D8B030D-6E8A-4147-A177-3AD203B41FA5}">
                      <a16:colId xmlns:a16="http://schemas.microsoft.com/office/drawing/2014/main" val="1668780860"/>
                    </a:ext>
                  </a:extLst>
                </a:gridCol>
                <a:gridCol w="1163774">
                  <a:extLst>
                    <a:ext uri="{9D8B030D-6E8A-4147-A177-3AD203B41FA5}">
                      <a16:colId xmlns:a16="http://schemas.microsoft.com/office/drawing/2014/main" val="477862995"/>
                    </a:ext>
                  </a:extLst>
                </a:gridCol>
              </a:tblGrid>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(Intercept)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386.70798566</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608609765"/>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ltakers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-32.76143283</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2196104006"/>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rank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4.24246653</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207265477"/>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income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0.01727723</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4211230065"/>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years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16.40041447</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972591736"/>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public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514339795"/>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expend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1.83649835</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041737548"/>
                  </a:ext>
                </a:extLst>
              </a:tr>
            </a:tbl>
          </a:graphicData>
        </a:graphic>
      </p:graphicFrame>
    </p:spTree>
    <p:custDataLst>
      <p:tags r:id="rId1"/>
    </p:custDataLst>
    <p:extLst>
      <p:ext uri="{BB962C8B-B14F-4D97-AF65-F5344CB8AC3E}">
        <p14:creationId xmlns:p14="http://schemas.microsoft.com/office/powerpoint/2010/main" val="575835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6" grpId="0" animBg="1"/>
      <p:bldP spid="7" grpId="0" animBg="1"/>
      <p:bldP spid="8" grpId="0" animBg="1"/>
      <p:bldP spid="9" grpId="0" animBg="1"/>
      <p:bldP spid="13" grpId="0" animBg="1"/>
      <p:bldP spid="14" grpId="0" animBg="1"/>
      <p:bldP spid="15" grpId="0" animBg="1"/>
    </p:bldLst>
  </p:timing>
  <p:extLst mod="1">
    <p:ext uri="{6950BFC3-D8DA-4A85-94F7-54DA5524770B}">
      <p188:commentRel xmlns="" xmlns:p188="http://schemas.microsoft.com/office/powerpoint/2018/8/main" r:id="rId4"/>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11119" y="968756"/>
            <a:ext cx="6324600" cy="646331"/>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Extract coefficients at optimal lambda</a:t>
            </a:r>
          </a:p>
          <a:p>
            <a:pPr>
              <a:defRPr/>
            </a:pPr>
            <a:r>
              <a:rPr lang="en-US" sz="1200" i="1" dirty="0">
                <a:latin typeface="Helvetica" panose="020B0604020202020204" pitchFamily="34" charset="0"/>
                <a:ea typeface="Helvetica Neue" charset="0"/>
                <a:cs typeface="Helvetica" panose="020B0604020202020204" pitchFamily="34" charset="0"/>
              </a:rPr>
              <a:t>plot(</a:t>
            </a:r>
            <a:r>
              <a:rPr lang="en-US" sz="1200" i="1" dirty="0" err="1">
                <a:latin typeface="Helvetica" panose="020B0604020202020204" pitchFamily="34" charset="0"/>
                <a:ea typeface="Helvetica Neue" charset="0"/>
                <a:cs typeface="Helvetica" panose="020B0604020202020204" pitchFamily="34" charset="0"/>
              </a:rPr>
              <a:t>satmodel</a:t>
            </a:r>
            <a:r>
              <a:rPr lang="en-US" sz="1200" i="1" dirty="0">
                <a:latin typeface="Helvetica" panose="020B0604020202020204" pitchFamily="34" charset="0"/>
                <a:ea typeface="Helvetica Neue" charset="0"/>
                <a:cs typeface="Helvetica" panose="020B0604020202020204" pitchFamily="34" charset="0"/>
              </a:rPr>
              <a:t>, </a:t>
            </a:r>
            <a:r>
              <a:rPr lang="en-US" sz="1200" i="1" dirty="0" err="1">
                <a:latin typeface="Helvetica" panose="020B0604020202020204" pitchFamily="34" charset="0"/>
                <a:ea typeface="Helvetica Neue" charset="0"/>
                <a:cs typeface="Helvetica" panose="020B0604020202020204" pitchFamily="34" charset="0"/>
              </a:rPr>
              <a:t>xvar</a:t>
            </a:r>
            <a:r>
              <a:rPr lang="en-US" sz="1200" i="1" dirty="0">
                <a:latin typeface="Helvetica" panose="020B0604020202020204" pitchFamily="34" charset="0"/>
                <a:ea typeface="Helvetica Neue" charset="0"/>
                <a:cs typeface="Helvetica" panose="020B0604020202020204" pitchFamily="34" charset="0"/>
              </a:rPr>
              <a:t>="lambda", </a:t>
            </a:r>
            <a:r>
              <a:rPr lang="en-US" sz="1200" i="1" dirty="0" err="1">
                <a:latin typeface="Helvetica" panose="020B0604020202020204" pitchFamily="34" charset="0"/>
                <a:ea typeface="Helvetica Neue" charset="0"/>
                <a:cs typeface="Helvetica" panose="020B0604020202020204" pitchFamily="34" charset="0"/>
              </a:rPr>
              <a:t>lwd</a:t>
            </a:r>
            <a:r>
              <a:rPr lang="en-US" sz="1200" i="1" dirty="0">
                <a:latin typeface="Helvetica" panose="020B0604020202020204" pitchFamily="34" charset="0"/>
                <a:ea typeface="Helvetica Neue" charset="0"/>
                <a:cs typeface="Helvetica" panose="020B0604020202020204" pitchFamily="34" charset="0"/>
              </a:rPr>
              <a:t>=2)</a:t>
            </a:r>
          </a:p>
          <a:p>
            <a:pPr>
              <a:defRPr/>
            </a:pPr>
            <a:r>
              <a:rPr lang="en-US" sz="1200" i="1" dirty="0" err="1">
                <a:latin typeface="Helvetica" panose="020B0604020202020204" pitchFamily="34" charset="0"/>
                <a:ea typeface="Helvetica Neue" charset="0"/>
                <a:cs typeface="Helvetica" panose="020B0604020202020204" pitchFamily="34" charset="0"/>
              </a:rPr>
              <a:t>abline</a:t>
            </a:r>
            <a:r>
              <a:rPr lang="en-US" sz="1200" i="1" dirty="0">
                <a:latin typeface="Helvetica" panose="020B0604020202020204" pitchFamily="34" charset="0"/>
                <a:ea typeface="Helvetica Neue" charset="0"/>
                <a:cs typeface="Helvetica" panose="020B0604020202020204" pitchFamily="34" charset="0"/>
              </a:rPr>
              <a:t>(v=log(</a:t>
            </a:r>
            <a:r>
              <a:rPr lang="en-US" sz="1200" i="1" dirty="0" err="1">
                <a:latin typeface="Helvetica" panose="020B0604020202020204" pitchFamily="34" charset="0"/>
                <a:ea typeface="Helvetica Neue" charset="0"/>
                <a:cs typeface="Helvetica" panose="020B0604020202020204" pitchFamily="34" charset="0"/>
              </a:rPr>
              <a:t>satmodel.cv$lambda.min</a:t>
            </a:r>
            <a:r>
              <a:rPr lang="en-US" sz="1200" i="1" dirty="0">
                <a:latin typeface="Helvetica" panose="020B0604020202020204" pitchFamily="34" charset="0"/>
                <a:ea typeface="Helvetica Neue" charset="0"/>
                <a:cs typeface="Helvetica" panose="020B0604020202020204" pitchFamily="34" charset="0"/>
              </a:rPr>
              <a:t>), col='black', </a:t>
            </a:r>
            <a:r>
              <a:rPr lang="en-US" sz="1200" i="1" dirty="0" err="1">
                <a:latin typeface="Helvetica" panose="020B0604020202020204" pitchFamily="34" charset="0"/>
                <a:ea typeface="Helvetica Neue" charset="0"/>
                <a:cs typeface="Helvetica" panose="020B0604020202020204" pitchFamily="34" charset="0"/>
              </a:rPr>
              <a:t>lty</a:t>
            </a:r>
            <a:r>
              <a:rPr lang="en-US" sz="1200" i="1" dirty="0">
                <a:latin typeface="Helvetica" panose="020B0604020202020204" pitchFamily="34" charset="0"/>
                <a:ea typeface="Helvetica Neue" charset="0"/>
                <a:cs typeface="Helvetica" panose="020B0604020202020204" pitchFamily="34" charset="0"/>
              </a:rPr>
              <a:t>=2, </a:t>
            </a:r>
            <a:r>
              <a:rPr lang="en-US" sz="1200" i="1" dirty="0" err="1">
                <a:latin typeface="Helvetica" panose="020B0604020202020204" pitchFamily="34" charset="0"/>
                <a:ea typeface="Helvetica Neue" charset="0"/>
                <a:cs typeface="Helvetica" panose="020B0604020202020204" pitchFamily="34" charset="0"/>
              </a:rPr>
              <a:t>lwd</a:t>
            </a:r>
            <a:r>
              <a:rPr lang="en-US" sz="1200" i="1" dirty="0">
                <a:latin typeface="Helvetica" panose="020B0604020202020204" pitchFamily="34" charset="0"/>
                <a:ea typeface="Helvetica Neue" charset="0"/>
                <a:cs typeface="Helvetica" panose="020B0604020202020204" pitchFamily="34" charset="0"/>
              </a:rPr>
              <a:t>=2)</a:t>
            </a:r>
          </a:p>
        </p:txBody>
      </p:sp>
      <p:sp>
        <p:nvSpPr>
          <p:cNvPr id="12" name="Title 1"/>
          <p:cNvSpPr txBox="1">
            <a:spLocks/>
          </p:cNvSpPr>
          <p:nvPr/>
        </p:nvSpPr>
        <p:spPr>
          <a:xfrm>
            <a:off x="73975" y="242075"/>
            <a:ext cx="8382000" cy="468097"/>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Elastic Net</a:t>
            </a:r>
          </a:p>
        </p:txBody>
      </p:sp>
      <p:pic>
        <p:nvPicPr>
          <p:cNvPr id="3" name="Picture 2" descr="A close up of a map&#10;&#10;Description automatically generated">
            <a:extLst>
              <a:ext uri="{FF2B5EF4-FFF2-40B4-BE49-F238E27FC236}">
                <a16:creationId xmlns:a16="http://schemas.microsoft.com/office/drawing/2014/main" id="{7D810927-A2E6-4A68-B90F-6999CA0794E7}"/>
              </a:ext>
            </a:extLst>
          </p:cNvPr>
          <p:cNvPicPr>
            <a:picLocks noChangeAspect="1"/>
          </p:cNvPicPr>
          <p:nvPr/>
        </p:nvPicPr>
        <p:blipFill rotWithShape="1">
          <a:blip r:embed="rId4"/>
          <a:srcRect t="7234" r="6228" b="4238"/>
          <a:stretch/>
        </p:blipFill>
        <p:spPr>
          <a:xfrm>
            <a:off x="492547" y="1761353"/>
            <a:ext cx="4079453" cy="3167612"/>
          </a:xfrm>
          <a:prstGeom prst="rect">
            <a:avLst/>
          </a:prstGeom>
        </p:spPr>
      </p:pic>
    </p:spTree>
    <p:custDataLst>
      <p:tags r:id="rId1"/>
    </p:custDataLst>
    <p:extLst>
      <p:ext uri="{BB962C8B-B14F-4D97-AF65-F5344CB8AC3E}">
        <p14:creationId xmlns:p14="http://schemas.microsoft.com/office/powerpoint/2010/main" val="2847273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txBox="1">
            <a:spLocks/>
          </p:cNvSpPr>
          <p:nvPr/>
        </p:nvSpPr>
        <p:spPr>
          <a:xfrm>
            <a:off x="88435" y="243163"/>
            <a:ext cx="8382000" cy="528366"/>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Overview of All Selection Approaches</a:t>
            </a:r>
          </a:p>
        </p:txBody>
      </p:sp>
      <p:graphicFrame>
        <p:nvGraphicFramePr>
          <p:cNvPr id="2" name="Table 1"/>
          <p:cNvGraphicFramePr>
            <a:graphicFrameLocks noGrp="1"/>
          </p:cNvGraphicFramePr>
          <p:nvPr>
            <p:extLst>
              <p:ext uri="{D42A27DB-BD31-4B8C-83A1-F6EECF244321}">
                <p14:modId xmlns:p14="http://schemas.microsoft.com/office/powerpoint/2010/main" val="969245135"/>
              </p:ext>
            </p:extLst>
          </p:nvPr>
        </p:nvGraphicFramePr>
        <p:xfrm>
          <a:off x="198082" y="1158371"/>
          <a:ext cx="6917527" cy="2103120"/>
        </p:xfrm>
        <a:graphic>
          <a:graphicData uri="http://schemas.openxmlformats.org/drawingml/2006/table">
            <a:tbl>
              <a:tblPr firstRow="1" bandRow="1">
                <a:tableStyleId>{3B4B98B0-60AC-42C2-AFA5-B58CD77FA1E5}</a:tableStyleId>
              </a:tblPr>
              <a:tblGrid>
                <a:gridCol w="2158743">
                  <a:extLst>
                    <a:ext uri="{9D8B030D-6E8A-4147-A177-3AD203B41FA5}">
                      <a16:colId xmlns:a16="http://schemas.microsoft.com/office/drawing/2014/main" val="3817490032"/>
                    </a:ext>
                  </a:extLst>
                </a:gridCol>
                <a:gridCol w="1126719">
                  <a:extLst>
                    <a:ext uri="{9D8B030D-6E8A-4147-A177-3AD203B41FA5}">
                      <a16:colId xmlns:a16="http://schemas.microsoft.com/office/drawing/2014/main" val="2066309926"/>
                    </a:ext>
                  </a:extLst>
                </a:gridCol>
                <a:gridCol w="676095">
                  <a:extLst>
                    <a:ext uri="{9D8B030D-6E8A-4147-A177-3AD203B41FA5}">
                      <a16:colId xmlns:a16="http://schemas.microsoft.com/office/drawing/2014/main" val="2957443389"/>
                    </a:ext>
                  </a:extLst>
                </a:gridCol>
                <a:gridCol w="753039">
                  <a:extLst>
                    <a:ext uri="{9D8B030D-6E8A-4147-A177-3AD203B41FA5}">
                      <a16:colId xmlns:a16="http://schemas.microsoft.com/office/drawing/2014/main" val="864419425"/>
                    </a:ext>
                  </a:extLst>
                </a:gridCol>
                <a:gridCol w="663126">
                  <a:extLst>
                    <a:ext uri="{9D8B030D-6E8A-4147-A177-3AD203B41FA5}">
                      <a16:colId xmlns:a16="http://schemas.microsoft.com/office/drawing/2014/main" val="496788705"/>
                    </a:ext>
                  </a:extLst>
                </a:gridCol>
                <a:gridCol w="713549">
                  <a:extLst>
                    <a:ext uri="{9D8B030D-6E8A-4147-A177-3AD203B41FA5}">
                      <a16:colId xmlns:a16="http://schemas.microsoft.com/office/drawing/2014/main" val="2624085548"/>
                    </a:ext>
                  </a:extLst>
                </a:gridCol>
                <a:gridCol w="826256">
                  <a:extLst>
                    <a:ext uri="{9D8B030D-6E8A-4147-A177-3AD203B41FA5}">
                      <a16:colId xmlns:a16="http://schemas.microsoft.com/office/drawing/2014/main" val="4260476930"/>
                    </a:ext>
                  </a:extLst>
                </a:gridCol>
              </a:tblGrid>
              <a:tr h="273735">
                <a:tc>
                  <a:txBody>
                    <a:bodyPr/>
                    <a:lstStyle/>
                    <a:p>
                      <a:endParaRPr lang="en-US" sz="1200" dirty="0">
                        <a:solidFill>
                          <a:schemeClr val="bg1"/>
                        </a:solidFill>
                        <a:latin typeface="Helvetica" panose="020B0604020202020204" pitchFamily="34" charset="0"/>
                        <a:cs typeface="Helvetica" panose="020B0604020202020204" pitchFamily="34" charset="0"/>
                      </a:endParaRPr>
                    </a:p>
                  </a:txBody>
                  <a:tcPr>
                    <a:lnL w="12700" cap="flat" cmpd="sng" algn="ctr">
                      <a:solidFill>
                        <a:srgbClr val="3F6CAF"/>
                      </a:solidFill>
                      <a:prstDash val="solid"/>
                      <a:round/>
                      <a:headEnd type="none" w="med" len="med"/>
                      <a:tailEnd type="none" w="med" len="med"/>
                    </a:lnL>
                    <a:lnR>
                      <a:noFill/>
                    </a:lnR>
                    <a:lnT w="12700" cap="flat" cmpd="sng" algn="ctr">
                      <a:solidFill>
                        <a:srgbClr val="3F6CAF"/>
                      </a:solidFill>
                      <a:prstDash val="solid"/>
                      <a:round/>
                      <a:headEnd type="none" w="med" len="med"/>
                      <a:tailEnd type="none" w="med" len="med"/>
                    </a:lnT>
                    <a:lnB w="12700" cap="flat" cmpd="sng" algn="ctr">
                      <a:solidFill>
                        <a:srgbClr val="3F6CAF"/>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r>
                        <a:rPr lang="en-US" sz="1200" dirty="0">
                          <a:solidFill>
                            <a:schemeClr val="bg1"/>
                          </a:solidFill>
                          <a:latin typeface="Helvetica" panose="020B0604020202020204" pitchFamily="34" charset="0"/>
                          <a:cs typeface="Helvetica" panose="020B0604020202020204" pitchFamily="34" charset="0"/>
                        </a:rPr>
                        <a:t>Log(Takers)</a:t>
                      </a:r>
                    </a:p>
                  </a:txBody>
                  <a:tcPr anchor="ctr" anchorCtr="1">
                    <a:lnL>
                      <a:noFill/>
                    </a:lnL>
                    <a:lnR>
                      <a:noFill/>
                    </a:lnR>
                    <a:lnT w="12700" cap="flat" cmpd="sng" algn="ctr">
                      <a:solidFill>
                        <a:srgbClr val="3F6CAF"/>
                      </a:solidFill>
                      <a:prstDash val="solid"/>
                      <a:round/>
                      <a:headEnd type="none" w="med" len="med"/>
                      <a:tailEnd type="none" w="med" len="med"/>
                    </a:lnT>
                    <a:lnB w="12700" cap="flat" cmpd="sng" algn="ctr">
                      <a:solidFill>
                        <a:srgbClr val="3F6CAF"/>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r>
                        <a:rPr lang="en-US" sz="1200" dirty="0">
                          <a:solidFill>
                            <a:schemeClr val="bg1"/>
                          </a:solidFill>
                          <a:latin typeface="Helvetica" panose="020B0604020202020204" pitchFamily="34" charset="0"/>
                          <a:cs typeface="Helvetica" panose="020B0604020202020204" pitchFamily="34" charset="0"/>
                        </a:rPr>
                        <a:t>Rank</a:t>
                      </a:r>
                    </a:p>
                  </a:txBody>
                  <a:tcPr anchor="ctr" anchorCtr="1">
                    <a:lnL>
                      <a:noFill/>
                    </a:lnL>
                    <a:lnR>
                      <a:noFill/>
                    </a:lnR>
                    <a:lnT w="12700" cap="flat" cmpd="sng" algn="ctr">
                      <a:solidFill>
                        <a:srgbClr val="3F6CAF"/>
                      </a:solidFill>
                      <a:prstDash val="solid"/>
                      <a:round/>
                      <a:headEnd type="none" w="med" len="med"/>
                      <a:tailEnd type="none" w="med" len="med"/>
                    </a:lnT>
                    <a:lnB w="12700" cap="flat" cmpd="sng" algn="ctr">
                      <a:solidFill>
                        <a:srgbClr val="3F6CAF"/>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r>
                        <a:rPr lang="en-US" sz="1200" dirty="0">
                          <a:solidFill>
                            <a:schemeClr val="bg1"/>
                          </a:solidFill>
                          <a:latin typeface="Helvetica" panose="020B0604020202020204" pitchFamily="34" charset="0"/>
                          <a:cs typeface="Helvetica" panose="020B0604020202020204" pitchFamily="34" charset="0"/>
                        </a:rPr>
                        <a:t>Income</a:t>
                      </a:r>
                    </a:p>
                  </a:txBody>
                  <a:tcPr anchor="ctr" anchorCtr="1">
                    <a:lnL>
                      <a:noFill/>
                    </a:lnL>
                    <a:lnR>
                      <a:noFill/>
                    </a:lnR>
                    <a:lnT w="12700" cap="flat" cmpd="sng" algn="ctr">
                      <a:solidFill>
                        <a:srgbClr val="3F6CAF"/>
                      </a:solidFill>
                      <a:prstDash val="solid"/>
                      <a:round/>
                      <a:headEnd type="none" w="med" len="med"/>
                      <a:tailEnd type="none" w="med" len="med"/>
                    </a:lnT>
                    <a:lnB w="12700" cap="flat" cmpd="sng" algn="ctr">
                      <a:solidFill>
                        <a:srgbClr val="3F6CAF"/>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r>
                        <a:rPr lang="en-US" sz="1200" dirty="0">
                          <a:solidFill>
                            <a:schemeClr val="bg1"/>
                          </a:solidFill>
                          <a:latin typeface="Helvetica" panose="020B0604020202020204" pitchFamily="34" charset="0"/>
                          <a:cs typeface="Helvetica" panose="020B0604020202020204" pitchFamily="34" charset="0"/>
                        </a:rPr>
                        <a:t>Years</a:t>
                      </a:r>
                    </a:p>
                  </a:txBody>
                  <a:tcPr anchor="ctr" anchorCtr="1">
                    <a:lnL>
                      <a:noFill/>
                    </a:lnL>
                    <a:lnR>
                      <a:noFill/>
                    </a:lnR>
                    <a:lnT w="12700" cap="flat" cmpd="sng" algn="ctr">
                      <a:solidFill>
                        <a:srgbClr val="3F6CAF"/>
                      </a:solidFill>
                      <a:prstDash val="solid"/>
                      <a:round/>
                      <a:headEnd type="none" w="med" len="med"/>
                      <a:tailEnd type="none" w="med" len="med"/>
                    </a:lnT>
                    <a:lnB w="12700" cap="flat" cmpd="sng" algn="ctr">
                      <a:solidFill>
                        <a:srgbClr val="3F6CAF"/>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r>
                        <a:rPr lang="en-US" sz="1200" dirty="0">
                          <a:solidFill>
                            <a:schemeClr val="bg1"/>
                          </a:solidFill>
                          <a:latin typeface="Helvetica" panose="020B0604020202020204" pitchFamily="34" charset="0"/>
                          <a:cs typeface="Helvetica" panose="020B0604020202020204" pitchFamily="34" charset="0"/>
                        </a:rPr>
                        <a:t>Public</a:t>
                      </a:r>
                    </a:p>
                  </a:txBody>
                  <a:tcPr anchor="ctr" anchorCtr="1">
                    <a:lnL>
                      <a:noFill/>
                    </a:lnL>
                    <a:lnR>
                      <a:noFill/>
                    </a:lnR>
                    <a:lnT w="12700" cap="flat" cmpd="sng" algn="ctr">
                      <a:solidFill>
                        <a:srgbClr val="3F6CAF"/>
                      </a:solidFill>
                      <a:prstDash val="solid"/>
                      <a:round/>
                      <a:headEnd type="none" w="med" len="med"/>
                      <a:tailEnd type="none" w="med" len="med"/>
                    </a:lnT>
                    <a:lnB w="12700" cap="flat" cmpd="sng" algn="ctr">
                      <a:solidFill>
                        <a:srgbClr val="3F6CAF"/>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r>
                        <a:rPr lang="en-US" sz="1200" dirty="0">
                          <a:solidFill>
                            <a:schemeClr val="bg1"/>
                          </a:solidFill>
                          <a:latin typeface="Helvetica" panose="020B0604020202020204" pitchFamily="34" charset="0"/>
                          <a:cs typeface="Helvetica" panose="020B0604020202020204" pitchFamily="34" charset="0"/>
                        </a:rPr>
                        <a:t>Expend</a:t>
                      </a:r>
                    </a:p>
                  </a:txBody>
                  <a:tcPr anchor="ctr" anchorCtr="1">
                    <a:lnL>
                      <a:noFill/>
                    </a:lnL>
                    <a:lnR w="12700" cap="flat" cmpd="sng" algn="ctr">
                      <a:solidFill>
                        <a:srgbClr val="3F6CAF"/>
                      </a:solidFill>
                      <a:prstDash val="solid"/>
                      <a:round/>
                      <a:headEnd type="none" w="med" len="med"/>
                      <a:tailEnd type="none" w="med" len="med"/>
                    </a:lnR>
                    <a:lnT w="12700" cap="flat" cmpd="sng" algn="ctr">
                      <a:solidFill>
                        <a:srgbClr val="3F6CAF"/>
                      </a:solidFill>
                      <a:prstDash val="solid"/>
                      <a:round/>
                      <a:headEnd type="none" w="med" len="med"/>
                      <a:tailEnd type="none" w="med" len="med"/>
                    </a:lnT>
                    <a:lnB w="12700" cap="flat" cmpd="sng" algn="ctr">
                      <a:solidFill>
                        <a:srgbClr val="3F6CAF"/>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412186018"/>
                  </a:ext>
                </a:extLst>
              </a:tr>
              <a:tr h="326273">
                <a:tc>
                  <a:txBody>
                    <a:bodyPr/>
                    <a:lstStyle/>
                    <a:p>
                      <a:r>
                        <a:rPr lang="en-US" sz="1200" b="1" dirty="0">
                          <a:solidFill>
                            <a:schemeClr val="bg1"/>
                          </a:solidFill>
                          <a:latin typeface="Helvetica" panose="020B0604020202020204" pitchFamily="34" charset="0"/>
                          <a:cs typeface="Helvetica" panose="020B0604020202020204" pitchFamily="34" charset="0"/>
                        </a:rPr>
                        <a:t>Best Subset &amp;</a:t>
                      </a:r>
                      <a:r>
                        <a:rPr lang="en-US" sz="1200" b="1" baseline="0" dirty="0">
                          <a:solidFill>
                            <a:schemeClr val="bg1"/>
                          </a:solidFill>
                          <a:latin typeface="Helvetica" panose="020B0604020202020204" pitchFamily="34" charset="0"/>
                          <a:cs typeface="Helvetica" panose="020B0604020202020204" pitchFamily="34" charset="0"/>
                        </a:rPr>
                        <a:t> Mallow’s Cp</a:t>
                      </a:r>
                      <a:endParaRPr lang="en-US" sz="1200" b="1" dirty="0">
                        <a:solidFill>
                          <a:schemeClr val="bg1"/>
                        </a:solidFill>
                        <a:latin typeface="Helvetica" panose="020B0604020202020204" pitchFamily="34" charset="0"/>
                        <a:cs typeface="Helvetica" panose="020B0604020202020204" pitchFamily="34" charset="0"/>
                      </a:endParaRPr>
                    </a:p>
                  </a:txBody>
                  <a:tcPr marT="0" marB="0" anchor="ctr">
                    <a:lnL w="12700" cap="flat" cmpd="sng" algn="ctr">
                      <a:solidFill>
                        <a:srgbClr val="3F6CAF"/>
                      </a:solidFill>
                      <a:prstDash val="solid"/>
                      <a:round/>
                      <a:headEnd type="none" w="med" len="med"/>
                      <a:tailEnd type="none" w="med" len="med"/>
                    </a:lnL>
                    <a:lnT w="12700" cap="flat" cmpd="sng" algn="ctr">
                      <a:solidFill>
                        <a:srgbClr val="3F6CAF"/>
                      </a:solidFill>
                      <a:prstDash val="solid"/>
                      <a:round/>
                      <a:headEnd type="none" w="med" len="med"/>
                      <a:tailEnd type="none" w="med" len="med"/>
                    </a:lnT>
                    <a:solidFill>
                      <a:srgbClr val="002060"/>
                    </a:solidFill>
                  </a:tcPr>
                </a:tc>
                <a:tc>
                  <a:txBody>
                    <a:bodyPr/>
                    <a:lstStyle/>
                    <a:p>
                      <a:pPr algn="ctr"/>
                      <a:endParaRPr lang="en-US" sz="2400" b="0" dirty="0">
                        <a:latin typeface="Helvetica" panose="020B0604020202020204" pitchFamily="34" charset="0"/>
                        <a:cs typeface="Helvetica" panose="020B0604020202020204" pitchFamily="34" charset="0"/>
                      </a:endParaRPr>
                    </a:p>
                  </a:txBody>
                  <a:tcPr marT="0" marB="0" anchor="ctr" anchorCtr="1">
                    <a:lnT w="12700" cap="flat" cmpd="sng" algn="ctr">
                      <a:solidFill>
                        <a:srgbClr val="3F6CAF"/>
                      </a:solidFill>
                      <a:prstDash val="solid"/>
                      <a:round/>
                      <a:headEnd type="none" w="med" len="med"/>
                      <a:tailEnd type="none" w="med" len="med"/>
                    </a:lnT>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T w="12700" cap="flat" cmpd="sng" algn="ctr">
                      <a:solidFill>
                        <a:srgbClr val="3F6CAF"/>
                      </a:solidFill>
                      <a:prstDash val="solid"/>
                      <a:round/>
                      <a:headEnd type="none" w="med" len="med"/>
                      <a:tailEnd type="none" w="med" len="med"/>
                    </a:lnT>
                    <a:solidFill>
                      <a:schemeClr val="bg1"/>
                    </a:solidFill>
                  </a:tcPr>
                </a:tc>
                <a:tc>
                  <a:txBody>
                    <a:bodyPr/>
                    <a:lstStyle/>
                    <a:p>
                      <a:endParaRPr lang="en-US" sz="2400" b="0">
                        <a:latin typeface="Helvetica" panose="020B0604020202020204" pitchFamily="34" charset="0"/>
                        <a:cs typeface="Helvetica" panose="020B0604020202020204" pitchFamily="34" charset="0"/>
                      </a:endParaRPr>
                    </a:p>
                  </a:txBody>
                  <a:tcPr marT="0" marB="0" anchor="ctr" anchorCtr="1">
                    <a:lnT w="12700" cap="flat" cmpd="sng" algn="ctr">
                      <a:solidFill>
                        <a:srgbClr val="3F6CAF"/>
                      </a:solidFill>
                      <a:prstDash val="solid"/>
                      <a:round/>
                      <a:headEnd type="none" w="med" len="med"/>
                      <a:tailEnd type="none" w="med" len="med"/>
                    </a:lnT>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T w="12700" cap="flat" cmpd="sng" algn="ctr">
                      <a:solidFill>
                        <a:srgbClr val="3F6CAF"/>
                      </a:solidFill>
                      <a:prstDash val="solid"/>
                      <a:round/>
                      <a:headEnd type="none" w="med" len="med"/>
                      <a:tailEnd type="none" w="med" len="med"/>
                    </a:lnT>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T w="12700" cap="flat" cmpd="sng" algn="ctr">
                      <a:solidFill>
                        <a:srgbClr val="3F6CAF"/>
                      </a:solidFill>
                      <a:prstDash val="solid"/>
                      <a:round/>
                      <a:headEnd type="none" w="med" len="med"/>
                      <a:tailEnd type="none" w="med" len="med"/>
                    </a:lnT>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R w="12700" cap="flat" cmpd="sng" algn="ctr">
                      <a:solidFill>
                        <a:srgbClr val="3F6CAF"/>
                      </a:solidFill>
                      <a:prstDash val="solid"/>
                      <a:round/>
                      <a:headEnd type="none" w="med" len="med"/>
                      <a:tailEnd type="none" w="med" len="med"/>
                    </a:lnR>
                    <a:lnT w="12700" cap="flat" cmpd="sng" algn="ctr">
                      <a:solidFill>
                        <a:srgbClr val="3F6CAF"/>
                      </a:solidFill>
                      <a:prstDash val="solid"/>
                      <a:round/>
                      <a:headEnd type="none" w="med" len="med"/>
                      <a:tailEnd type="none" w="med" len="med"/>
                    </a:lnT>
                    <a:solidFill>
                      <a:schemeClr val="bg1"/>
                    </a:solidFill>
                  </a:tcPr>
                </a:tc>
                <a:extLst>
                  <a:ext uri="{0D108BD9-81ED-4DB2-BD59-A6C34878D82A}">
                    <a16:rowId xmlns:a16="http://schemas.microsoft.com/office/drawing/2014/main" val="1373558298"/>
                  </a:ext>
                </a:extLst>
              </a:tr>
              <a:tr h="326273">
                <a:tc>
                  <a:txBody>
                    <a:bodyPr/>
                    <a:lstStyle/>
                    <a:p>
                      <a:r>
                        <a:rPr lang="en-US" sz="1200" b="1" dirty="0">
                          <a:solidFill>
                            <a:schemeClr val="bg1"/>
                          </a:solidFill>
                          <a:latin typeface="Helvetica" panose="020B0604020202020204" pitchFamily="34" charset="0"/>
                          <a:cs typeface="Helvetica" panose="020B0604020202020204" pitchFamily="34" charset="0"/>
                        </a:rPr>
                        <a:t>Stepwise</a:t>
                      </a:r>
                      <a:r>
                        <a:rPr lang="en-US" sz="1200" b="1" baseline="0" dirty="0">
                          <a:solidFill>
                            <a:schemeClr val="bg1"/>
                          </a:solidFill>
                          <a:latin typeface="Helvetica" panose="020B0604020202020204" pitchFamily="34" charset="0"/>
                          <a:cs typeface="Helvetica" panose="020B0604020202020204" pitchFamily="34" charset="0"/>
                        </a:rPr>
                        <a:t> &amp; AIC</a:t>
                      </a:r>
                      <a:endParaRPr lang="en-US" sz="1200" b="1" dirty="0">
                        <a:solidFill>
                          <a:schemeClr val="bg1"/>
                        </a:solidFill>
                        <a:latin typeface="Helvetica" panose="020B0604020202020204" pitchFamily="34" charset="0"/>
                        <a:cs typeface="Helvetica" panose="020B0604020202020204" pitchFamily="34" charset="0"/>
                      </a:endParaRPr>
                    </a:p>
                  </a:txBody>
                  <a:tcPr marT="0" marB="0" anchor="ctr">
                    <a:lnL w="12700" cap="flat" cmpd="sng" algn="ctr">
                      <a:solidFill>
                        <a:srgbClr val="3F6CAF"/>
                      </a:solidFill>
                      <a:prstDash val="solid"/>
                      <a:round/>
                      <a:headEnd type="none" w="med" len="med"/>
                      <a:tailEnd type="none" w="med" len="med"/>
                    </a:lnL>
                    <a:solidFill>
                      <a:srgbClr val="00206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solidFill>
                      <a:schemeClr val="bg1"/>
                    </a:solidFill>
                  </a:tcPr>
                </a:tc>
                <a:tc>
                  <a:txBody>
                    <a:bodyPr/>
                    <a:lstStyle/>
                    <a:p>
                      <a:endParaRPr lang="en-US" sz="2400" b="0" dirty="0">
                        <a:latin typeface="Helvetica" panose="020B0604020202020204" pitchFamily="34" charset="0"/>
                        <a:cs typeface="Helvetica" panose="020B0604020202020204" pitchFamily="34" charset="0"/>
                      </a:endParaRP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solidFill>
                      <a:schemeClr val="bg1"/>
                    </a:solidFill>
                  </a:tcPr>
                </a:tc>
                <a:tc>
                  <a:txBody>
                    <a:bodyPr/>
                    <a:lstStyle/>
                    <a:p>
                      <a:endParaRPr lang="en-US" sz="2400" b="0">
                        <a:latin typeface="Helvetica" panose="020B0604020202020204" pitchFamily="34" charset="0"/>
                        <a:cs typeface="Helvetica" panose="020B0604020202020204" pitchFamily="34" charset="0"/>
                      </a:endParaRP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R w="12700" cap="flat" cmpd="sng" algn="ctr">
                      <a:solidFill>
                        <a:srgbClr val="3F6CAF"/>
                      </a:solidFill>
                      <a:prstDash val="solid"/>
                      <a:round/>
                      <a:headEnd type="none" w="med" len="med"/>
                      <a:tailEnd type="none" w="med" len="med"/>
                    </a:lnR>
                    <a:solidFill>
                      <a:schemeClr val="bg1"/>
                    </a:solidFill>
                  </a:tcPr>
                </a:tc>
                <a:extLst>
                  <a:ext uri="{0D108BD9-81ED-4DB2-BD59-A6C34878D82A}">
                    <a16:rowId xmlns:a16="http://schemas.microsoft.com/office/drawing/2014/main" val="4250406194"/>
                  </a:ext>
                </a:extLst>
              </a:tr>
              <a:tr h="32627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Helvetica" panose="020B0604020202020204" pitchFamily="34" charset="0"/>
                          <a:ea typeface="Vitesse" charset="0"/>
                          <a:cs typeface="Helvetica" panose="020B0604020202020204" pitchFamily="34" charset="0"/>
                        </a:rPr>
                        <a:t>LASSO</a:t>
                      </a:r>
                      <a:r>
                        <a:rPr lang="en-US" sz="1200" b="1" dirty="0">
                          <a:solidFill>
                            <a:schemeClr val="bg1"/>
                          </a:solidFill>
                          <a:latin typeface="Helvetica" panose="020B0604020202020204" pitchFamily="34" charset="0"/>
                          <a:cs typeface="Helvetica" panose="020B0604020202020204" pitchFamily="34" charset="0"/>
                        </a:rPr>
                        <a:t> &amp;</a:t>
                      </a:r>
                      <a:r>
                        <a:rPr lang="en-US" sz="1200" b="1" baseline="0" dirty="0">
                          <a:solidFill>
                            <a:schemeClr val="bg1"/>
                          </a:solidFill>
                          <a:latin typeface="Helvetica" panose="020B0604020202020204" pitchFamily="34" charset="0"/>
                          <a:cs typeface="Helvetica" panose="020B0604020202020204" pitchFamily="34" charset="0"/>
                        </a:rPr>
                        <a:t> Mallow’s Cp</a:t>
                      </a:r>
                      <a:endParaRPr lang="en-US" sz="1200" b="1" dirty="0">
                        <a:solidFill>
                          <a:schemeClr val="bg1"/>
                        </a:solidFill>
                        <a:latin typeface="Helvetica" panose="020B0604020202020204" pitchFamily="34" charset="0"/>
                        <a:cs typeface="Helvetica" panose="020B0604020202020204" pitchFamily="34" charset="0"/>
                      </a:endParaRPr>
                    </a:p>
                  </a:txBody>
                  <a:tcPr marT="0" marB="0" anchor="ctr">
                    <a:lnL w="12700" cap="flat" cmpd="sng" algn="ctr">
                      <a:solidFill>
                        <a:srgbClr val="3F6CAF"/>
                      </a:solidFill>
                      <a:prstDash val="solid"/>
                      <a:round/>
                      <a:headEnd type="none" w="med" len="med"/>
                      <a:tailEnd type="none" w="med" len="med"/>
                    </a:lnL>
                    <a:solidFill>
                      <a:srgbClr val="00206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solidFill>
                      <a:schemeClr val="bg1"/>
                    </a:solidFill>
                  </a:tcPr>
                </a:tc>
                <a:tc>
                  <a:txBody>
                    <a:bodyPr/>
                    <a:lstStyle/>
                    <a:p>
                      <a:endParaRPr lang="en-US" sz="2400" b="0" dirty="0">
                        <a:latin typeface="Helvetica" panose="020B0604020202020204" pitchFamily="34" charset="0"/>
                        <a:cs typeface="Helvetica" panose="020B0604020202020204" pitchFamily="34" charset="0"/>
                      </a:endParaRP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solidFill>
                      <a:schemeClr val="bg1"/>
                    </a:solidFill>
                  </a:tcPr>
                </a:tc>
                <a:tc>
                  <a:txBody>
                    <a:bodyPr/>
                    <a:lstStyle/>
                    <a:p>
                      <a:endParaRPr lang="en-US" sz="2400" b="0" dirty="0">
                        <a:latin typeface="Helvetica" panose="020B0604020202020204" pitchFamily="34" charset="0"/>
                        <a:cs typeface="Helvetica" panose="020B0604020202020204" pitchFamily="34" charset="0"/>
                      </a:endParaRP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R w="12700" cap="flat" cmpd="sng" algn="ctr">
                      <a:solidFill>
                        <a:srgbClr val="3F6CAF"/>
                      </a:solidFill>
                      <a:prstDash val="solid"/>
                      <a:round/>
                      <a:headEnd type="none" w="med" len="med"/>
                      <a:tailEnd type="none" w="med" len="med"/>
                    </a:lnR>
                    <a:solidFill>
                      <a:schemeClr val="bg1"/>
                    </a:solidFill>
                  </a:tcPr>
                </a:tc>
                <a:extLst>
                  <a:ext uri="{0D108BD9-81ED-4DB2-BD59-A6C34878D82A}">
                    <a16:rowId xmlns:a16="http://schemas.microsoft.com/office/drawing/2014/main" val="1458274186"/>
                  </a:ext>
                </a:extLst>
              </a:tr>
              <a:tr h="32627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Helvetica" panose="020B0604020202020204" pitchFamily="34" charset="0"/>
                          <a:cs typeface="Helvetica" panose="020B0604020202020204" pitchFamily="34" charset="0"/>
                        </a:rPr>
                        <a:t>Lasso &amp;</a:t>
                      </a:r>
                      <a:r>
                        <a:rPr lang="en-US" sz="1200" b="1" baseline="0" dirty="0">
                          <a:solidFill>
                            <a:schemeClr val="bg1"/>
                          </a:solidFill>
                          <a:latin typeface="Helvetica" panose="020B0604020202020204" pitchFamily="34" charset="0"/>
                          <a:cs typeface="Helvetica" panose="020B0604020202020204" pitchFamily="34" charset="0"/>
                        </a:rPr>
                        <a:t> 10-fold CV</a:t>
                      </a:r>
                      <a:endParaRPr lang="en-US" sz="1200" b="1" dirty="0">
                        <a:solidFill>
                          <a:schemeClr val="bg1"/>
                        </a:solidFill>
                        <a:latin typeface="Helvetica" panose="020B0604020202020204" pitchFamily="34" charset="0"/>
                        <a:cs typeface="Helvetica" panose="020B0604020202020204" pitchFamily="34" charset="0"/>
                      </a:endParaRPr>
                    </a:p>
                  </a:txBody>
                  <a:tcPr marT="0" marB="0" anchor="ctr">
                    <a:lnL w="12700" cap="flat" cmpd="sng" algn="ctr">
                      <a:solidFill>
                        <a:srgbClr val="3F6CAF"/>
                      </a:solidFill>
                      <a:prstDash val="solid"/>
                      <a:round/>
                      <a:headEnd type="none" w="med" len="med"/>
                      <a:tailEnd type="none" w="med" len="med"/>
                    </a:lnL>
                    <a:solidFill>
                      <a:srgbClr val="00206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solidFill>
                      <a:schemeClr val="bg1"/>
                    </a:solidFill>
                  </a:tcPr>
                </a:tc>
                <a:tc>
                  <a:txBody>
                    <a:bodyPr/>
                    <a:lstStyle/>
                    <a:p>
                      <a:endParaRPr lang="en-US" sz="2400" b="0" dirty="0">
                        <a:latin typeface="Helvetica" panose="020B0604020202020204" pitchFamily="34" charset="0"/>
                        <a:cs typeface="Helvetica" panose="020B0604020202020204" pitchFamily="34" charset="0"/>
                      </a:endParaRP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solidFill>
                      <a:schemeClr val="bg1"/>
                    </a:solidFill>
                  </a:tcPr>
                </a:tc>
                <a:tc>
                  <a:txBody>
                    <a:bodyPr/>
                    <a:lstStyle/>
                    <a:p>
                      <a:endParaRPr lang="en-US" sz="2400" b="0" dirty="0">
                        <a:latin typeface="Helvetica" panose="020B0604020202020204" pitchFamily="34" charset="0"/>
                        <a:cs typeface="Helvetica" panose="020B0604020202020204" pitchFamily="34" charset="0"/>
                      </a:endParaRP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R w="12700" cap="flat" cmpd="sng" algn="ctr">
                      <a:solidFill>
                        <a:srgbClr val="3F6CAF"/>
                      </a:solidFill>
                      <a:prstDash val="solid"/>
                      <a:round/>
                      <a:headEnd type="none" w="med" len="med"/>
                      <a:tailEnd type="none" w="med" len="med"/>
                    </a:lnR>
                    <a:solidFill>
                      <a:schemeClr val="bg1"/>
                    </a:solidFill>
                  </a:tcPr>
                </a:tc>
                <a:extLst>
                  <a:ext uri="{0D108BD9-81ED-4DB2-BD59-A6C34878D82A}">
                    <a16:rowId xmlns:a16="http://schemas.microsoft.com/office/drawing/2014/main" val="2659869213"/>
                  </a:ext>
                </a:extLst>
              </a:tr>
              <a:tr h="32627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Helvetica" panose="020B0604020202020204" pitchFamily="34" charset="0"/>
                          <a:cs typeface="Helvetica" panose="020B0604020202020204" pitchFamily="34" charset="0"/>
                        </a:rPr>
                        <a:t>Elastic Net &amp; </a:t>
                      </a:r>
                      <a:r>
                        <a:rPr lang="en-US" sz="1200" b="1" baseline="0" dirty="0">
                          <a:solidFill>
                            <a:schemeClr val="bg1"/>
                          </a:solidFill>
                          <a:latin typeface="Helvetica" panose="020B0604020202020204" pitchFamily="34" charset="0"/>
                          <a:cs typeface="Helvetica" panose="020B0604020202020204" pitchFamily="34" charset="0"/>
                        </a:rPr>
                        <a:t>10-fold CV</a:t>
                      </a:r>
                      <a:endParaRPr lang="en-US" sz="1200" b="1" dirty="0">
                        <a:solidFill>
                          <a:schemeClr val="bg1"/>
                        </a:solidFill>
                        <a:latin typeface="Helvetica" panose="020B0604020202020204" pitchFamily="34" charset="0"/>
                        <a:cs typeface="Helvetica" panose="020B0604020202020204" pitchFamily="34" charset="0"/>
                      </a:endParaRPr>
                    </a:p>
                  </a:txBody>
                  <a:tcPr marT="0" marB="0" anchor="ctr">
                    <a:lnL w="12700" cap="flat" cmpd="sng" algn="ctr">
                      <a:solidFill>
                        <a:srgbClr val="3F6CAF"/>
                      </a:solidFill>
                      <a:prstDash val="solid"/>
                      <a:round/>
                      <a:headEnd type="none" w="med" len="med"/>
                      <a:tailEnd type="none" w="med" len="med"/>
                    </a:lnL>
                    <a:lnB w="12700" cap="flat" cmpd="sng" algn="ctr">
                      <a:solidFill>
                        <a:srgbClr val="3F6CAF"/>
                      </a:solidFill>
                      <a:prstDash val="solid"/>
                      <a:round/>
                      <a:headEnd type="none" w="med" len="med"/>
                      <a:tailEnd type="none" w="med" len="med"/>
                    </a:lnB>
                    <a:solidFill>
                      <a:srgbClr val="00206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B w="12700" cap="flat" cmpd="sng" algn="ctr">
                      <a:solidFill>
                        <a:srgbClr val="3F6CAF"/>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B w="12700" cap="flat" cmpd="sng" algn="ctr">
                      <a:solidFill>
                        <a:srgbClr val="3F6CAF"/>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B w="12700" cap="flat" cmpd="sng" algn="ctr">
                      <a:solidFill>
                        <a:srgbClr val="3F6CAF"/>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B w="12700" cap="flat" cmpd="sng" algn="ctr">
                      <a:solidFill>
                        <a:srgbClr val="3F6CAF"/>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a:txBody>
                  <a:tcPr marT="0" marB="0" anchor="ctr" anchorCtr="1">
                    <a:lnB w="12700" cap="flat" cmpd="sng" algn="ctr">
                      <a:solidFill>
                        <a:srgbClr val="3F6CAF"/>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R w="12700" cap="flat" cmpd="sng" algn="ctr">
                      <a:solidFill>
                        <a:srgbClr val="3F6CAF"/>
                      </a:solidFill>
                      <a:prstDash val="solid"/>
                      <a:round/>
                      <a:headEnd type="none" w="med" len="med"/>
                      <a:tailEnd type="none" w="med" len="med"/>
                    </a:lnR>
                    <a:lnB w="12700" cap="flat" cmpd="sng" algn="ctr">
                      <a:solidFill>
                        <a:srgbClr val="3F6CAF"/>
                      </a:solidFill>
                      <a:prstDash val="solid"/>
                      <a:round/>
                      <a:headEnd type="none" w="med" len="med"/>
                      <a:tailEnd type="none" w="med" len="med"/>
                    </a:lnB>
                    <a:solidFill>
                      <a:schemeClr val="bg1"/>
                    </a:solidFill>
                  </a:tcPr>
                </a:tc>
                <a:extLst>
                  <a:ext uri="{0D108BD9-81ED-4DB2-BD59-A6C34878D82A}">
                    <a16:rowId xmlns:a16="http://schemas.microsoft.com/office/drawing/2014/main" val="3807568743"/>
                  </a:ext>
                </a:extLst>
              </a:tr>
            </a:tbl>
          </a:graphicData>
        </a:graphic>
      </p:graphicFrame>
      <p:sp>
        <p:nvSpPr>
          <p:cNvPr id="4" name="Content Placeholder 2">
            <a:extLst>
              <a:ext uri="{FF2B5EF4-FFF2-40B4-BE49-F238E27FC236}">
                <a16:creationId xmlns:a16="http://schemas.microsoft.com/office/drawing/2014/main" id="{17FF482B-EEF8-4DAF-9519-67FDF5E4609C}"/>
              </a:ext>
            </a:extLst>
          </p:cNvPr>
          <p:cNvSpPr txBox="1">
            <a:spLocks/>
          </p:cNvSpPr>
          <p:nvPr/>
        </p:nvSpPr>
        <p:spPr>
          <a:xfrm>
            <a:off x="198082" y="4030405"/>
            <a:ext cx="6077394" cy="923330"/>
          </a:xfrm>
          <a:prstGeom prst="rect">
            <a:avLst/>
          </a:prstGeom>
          <a:solidFill>
            <a:schemeClr val="bg1"/>
          </a:solidFill>
          <a:ln w="19050">
            <a:solidFill>
              <a:schemeClr val="tx2"/>
            </a:solidFill>
          </a:ln>
          <a:effectLst/>
        </p:spPr>
        <p:txBody>
          <a:bodyPr vert="horz" wrap="square" lIns="182880" tIns="91440" rIns="182880" bIns="91440" rtlCol="0" anchor="ctr">
            <a:spAutoFit/>
          </a:bodyPr>
          <a:lstStyle>
            <a:lvl1pPr marL="457200" indent="-45720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q"/>
              <a:defRPr sz="3200" kern="1200">
                <a:solidFill>
                  <a:schemeClr val="tx1">
                    <a:lumMod val="75000"/>
                    <a:lumOff val="25000"/>
                  </a:schemeClr>
                </a:solidFill>
                <a:latin typeface="+mn-lt"/>
                <a:ea typeface="+mn-ea"/>
                <a:cs typeface="+mn-cs"/>
              </a:defRPr>
            </a:lvl1pPr>
            <a:lvl2pPr marL="658368" indent="-45720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mn-lt"/>
                <a:ea typeface="+mn-ea"/>
                <a:cs typeface="+mn-cs"/>
              </a:defRPr>
            </a:lvl2pPr>
            <a:lvl3pPr marL="726948" indent="-342900" algn="l" defTabSz="914400" rtl="0" eaLnBrk="1" latinLnBrk="0" hangingPunct="1">
              <a:lnSpc>
                <a:spcPct val="90000"/>
              </a:lnSpc>
              <a:spcBef>
                <a:spcPts val="200"/>
              </a:spcBef>
              <a:spcAft>
                <a:spcPts val="400"/>
              </a:spcAft>
              <a:buClr>
                <a:schemeClr val="accent1"/>
              </a:buClr>
              <a:buFont typeface="Wingdings" panose="05000000000000000000" pitchFamily="2" charset="2"/>
              <a:buChar char="§"/>
              <a:defRPr sz="2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27013" indent="-227013">
              <a:lnSpc>
                <a:spcPct val="100000"/>
              </a:lnSpc>
              <a:spcBef>
                <a:spcPts val="0"/>
              </a:spcBef>
              <a:spcAft>
                <a:spcPts val="0"/>
              </a:spcAft>
              <a:buClrTx/>
              <a:buFont typeface="Arial" panose="020B0604020202020204" pitchFamily="34" charset="0"/>
              <a:buChar char="•"/>
            </a:pPr>
            <a:r>
              <a:rPr lang="en-US" sz="1600" i="1" dirty="0">
                <a:latin typeface="Helvetica" panose="020B0604020202020204" pitchFamily="34" charset="0"/>
                <a:cs typeface="Helvetica" panose="020B0604020202020204" pitchFamily="34" charset="0"/>
              </a:rPr>
              <a:t>Rank</a:t>
            </a:r>
            <a:r>
              <a:rPr lang="en-US" sz="1600" dirty="0">
                <a:latin typeface="Helvetica" panose="020B0604020202020204" pitchFamily="34" charset="0"/>
                <a:cs typeface="Helvetica" panose="020B0604020202020204" pitchFamily="34" charset="0"/>
              </a:rPr>
              <a:t>, </a:t>
            </a:r>
            <a:r>
              <a:rPr lang="en-US" sz="1600" i="1" dirty="0">
                <a:latin typeface="Helvetica" panose="020B0604020202020204" pitchFamily="34" charset="0"/>
                <a:cs typeface="Helvetica" panose="020B0604020202020204" pitchFamily="34" charset="0"/>
              </a:rPr>
              <a:t>Years</a:t>
            </a:r>
            <a:r>
              <a:rPr lang="en-US" sz="1600" dirty="0">
                <a:latin typeface="Helvetica" panose="020B0604020202020204" pitchFamily="34" charset="0"/>
                <a:cs typeface="Helvetica" panose="020B0604020202020204" pitchFamily="34" charset="0"/>
              </a:rPr>
              <a:t>, and </a:t>
            </a:r>
            <a:r>
              <a:rPr lang="en-US" sz="1600" i="1" dirty="0">
                <a:latin typeface="Helvetica" panose="020B0604020202020204" pitchFamily="34" charset="0"/>
                <a:cs typeface="Helvetica" panose="020B0604020202020204" pitchFamily="34" charset="0"/>
              </a:rPr>
              <a:t>Expend</a:t>
            </a:r>
            <a:r>
              <a:rPr lang="en-US" sz="1600" dirty="0">
                <a:latin typeface="Helvetica" panose="020B0604020202020204" pitchFamily="34" charset="0"/>
                <a:cs typeface="Helvetica" panose="020B0604020202020204" pitchFamily="34" charset="0"/>
              </a:rPr>
              <a:t> are selected by all approaches</a:t>
            </a:r>
          </a:p>
          <a:p>
            <a:pPr marL="227013" indent="-227013">
              <a:lnSpc>
                <a:spcPct val="100000"/>
              </a:lnSpc>
              <a:spcBef>
                <a:spcPts val="0"/>
              </a:spcBef>
              <a:spcAft>
                <a:spcPts val="0"/>
              </a:spcAft>
              <a:buClrTx/>
              <a:buFont typeface="Arial" panose="020B0604020202020204" pitchFamily="34" charset="0"/>
              <a:buChar char="•"/>
            </a:pPr>
            <a:r>
              <a:rPr lang="en-US" sz="1600" dirty="0">
                <a:latin typeface="Helvetica" panose="020B0604020202020204" pitchFamily="34" charset="0"/>
                <a:cs typeface="Helvetica" panose="020B0604020202020204" pitchFamily="34" charset="0"/>
              </a:rPr>
              <a:t>Best Subset alone selects </a:t>
            </a:r>
            <a:r>
              <a:rPr lang="en-US" sz="1600" i="1" dirty="0">
                <a:latin typeface="Helvetica" panose="020B0604020202020204" pitchFamily="34" charset="0"/>
                <a:cs typeface="Helvetica" panose="020B0604020202020204" pitchFamily="34" charset="0"/>
              </a:rPr>
              <a:t>Public</a:t>
            </a:r>
            <a:r>
              <a:rPr lang="en-US" sz="1600" dirty="0">
                <a:latin typeface="Helvetica" panose="020B0604020202020204" pitchFamily="34" charset="0"/>
                <a:cs typeface="Helvetica" panose="020B0604020202020204" pitchFamily="34" charset="0"/>
              </a:rPr>
              <a:t> and does not select </a:t>
            </a:r>
            <a:r>
              <a:rPr lang="en-US" sz="1600" i="1" dirty="0">
                <a:latin typeface="Helvetica" panose="020B0604020202020204" pitchFamily="34" charset="0"/>
                <a:cs typeface="Helvetica" panose="020B0604020202020204" pitchFamily="34" charset="0"/>
              </a:rPr>
              <a:t>Takers</a:t>
            </a:r>
            <a:endParaRPr lang="en-US" sz="1600" dirty="0">
              <a:latin typeface="Helvetica" panose="020B0604020202020204" pitchFamily="34" charset="0"/>
              <a:cs typeface="Helvetica" panose="020B0604020202020204" pitchFamily="34" charset="0"/>
            </a:endParaRPr>
          </a:p>
          <a:p>
            <a:pPr marL="227013" indent="-227013">
              <a:lnSpc>
                <a:spcPct val="100000"/>
              </a:lnSpc>
              <a:spcBef>
                <a:spcPts val="0"/>
              </a:spcBef>
              <a:spcAft>
                <a:spcPts val="0"/>
              </a:spcAft>
              <a:buClrTx/>
              <a:buFont typeface="Arial" panose="020B0604020202020204" pitchFamily="34" charset="0"/>
              <a:buChar char="•"/>
            </a:pPr>
            <a:r>
              <a:rPr lang="en-US" sz="1600" i="1" dirty="0">
                <a:latin typeface="Helvetica" panose="020B0604020202020204" pitchFamily="34" charset="0"/>
                <a:cs typeface="Helvetica" panose="020B0604020202020204" pitchFamily="34" charset="0"/>
              </a:rPr>
              <a:t>Income</a:t>
            </a:r>
            <a:r>
              <a:rPr lang="en-US" sz="1600" dirty="0">
                <a:latin typeface="Helvetica" panose="020B0604020202020204" pitchFamily="34" charset="0"/>
                <a:cs typeface="Helvetica" panose="020B0604020202020204" pitchFamily="34" charset="0"/>
              </a:rPr>
              <a:t> is selected only by Elastic Net</a:t>
            </a:r>
          </a:p>
        </p:txBody>
      </p:sp>
    </p:spTree>
    <p:custDataLst>
      <p:tags r:id="rId1"/>
    </p:custDataLst>
    <p:extLst>
      <p:ext uri="{BB962C8B-B14F-4D97-AF65-F5344CB8AC3E}">
        <p14:creationId xmlns:p14="http://schemas.microsoft.com/office/powerpoint/2010/main" val="747996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extLst mod="1">
    <p:ext uri="{6950BFC3-D8DA-4A85-94F7-54DA5524770B}">
      <p188:commentRel xmlns=""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961" y="126135"/>
            <a:ext cx="8562392" cy="635080"/>
          </a:xfrm>
        </p:spPr>
        <p:txBody>
          <a:bodyPr/>
          <a:lstStyle/>
          <a:p>
            <a:r>
              <a:rPr lang="en-US" sz="3600" dirty="0">
                <a:latin typeface="Vitesse"/>
              </a:rPr>
              <a:t>Predicting Bankruptcy</a:t>
            </a:r>
            <a:endParaRPr lang="zh-CN" altLang="en-US" sz="4000" dirty="0">
              <a:latin typeface="Vitesse"/>
            </a:endParaRPr>
          </a:p>
        </p:txBody>
      </p:sp>
      <p:sp>
        <p:nvSpPr>
          <p:cNvPr id="7" name="TextBox 1"/>
          <p:cNvSpPr txBox="1">
            <a:spLocks noChangeArrowheads="1"/>
          </p:cNvSpPr>
          <p:nvPr/>
        </p:nvSpPr>
        <p:spPr bwMode="auto">
          <a:xfrm>
            <a:off x="96835" y="887309"/>
            <a:ext cx="7353602" cy="175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342900" indent="-342900">
              <a:buFont typeface="Arial" panose="020B0604020202020204" pitchFamily="34" charset="0"/>
              <a:buChar char="•"/>
              <a:defRPr/>
            </a:pPr>
            <a:r>
              <a:rPr lang="en-US" dirty="0">
                <a:latin typeface="Helvetica" panose="020B0604020202020204" pitchFamily="34" charset="0"/>
                <a:cs typeface="Helvetica" panose="020B0604020202020204" pitchFamily="34" charset="0"/>
              </a:rPr>
              <a:t>Effective bankruptcy prediction is useful for investors and analysts, allowing for accurate evaluation of a firm’s prospects.</a:t>
            </a:r>
            <a:br>
              <a:rPr lang="en-US" dirty="0">
                <a:latin typeface="Helvetica" panose="020B0604020202020204" pitchFamily="34" charset="0"/>
                <a:cs typeface="Helvetica" panose="020B0604020202020204" pitchFamily="34" charset="0"/>
              </a:rPr>
            </a:br>
            <a:endParaRPr lang="en-US"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defRPr/>
            </a:pPr>
            <a:r>
              <a:rPr lang="en-US" dirty="0">
                <a:latin typeface="Helvetica" panose="020B0604020202020204" pitchFamily="34" charset="0"/>
                <a:cs typeface="Helvetica" panose="020B0604020202020204" pitchFamily="34" charset="0"/>
              </a:rPr>
              <a:t>Roughly 40 years ago, Ed Altman showed that publicly available financial indicators can be used to distinguish between firms that are about to go bankrupt and those that are not.</a:t>
            </a:r>
          </a:p>
        </p:txBody>
      </p:sp>
      <p:sp>
        <p:nvSpPr>
          <p:cNvPr id="8" name="TextBox 7"/>
          <p:cNvSpPr txBox="1"/>
          <p:nvPr/>
        </p:nvSpPr>
        <p:spPr>
          <a:xfrm flipH="1">
            <a:off x="111039" y="4586349"/>
            <a:ext cx="6703222" cy="461665"/>
          </a:xfrm>
          <a:prstGeom prst="rect">
            <a:avLst/>
          </a:prstGeom>
          <a:noFill/>
        </p:spPr>
        <p:txBody>
          <a:bodyPr wrap="square" rtlCol="0">
            <a:spAutoFit/>
          </a:bodyPr>
          <a:lstStyle/>
          <a:p>
            <a:r>
              <a:rPr lang="en-US" sz="1200" i="1" u="sng" dirty="0">
                <a:latin typeface="Helvetica" panose="020B0604020202020204" pitchFamily="34" charset="0"/>
                <a:cs typeface="Helvetica" panose="020B0604020202020204" pitchFamily="34" charset="0"/>
              </a:rPr>
              <a:t>Acknowledgement</a:t>
            </a:r>
            <a:r>
              <a:rPr lang="en-US" sz="1200" i="1" dirty="0">
                <a:latin typeface="Helvetica" panose="020B0604020202020204" pitchFamily="34" charset="0"/>
                <a:cs typeface="Helvetica" panose="020B0604020202020204" pitchFamily="34" charset="0"/>
              </a:rPr>
              <a:t>: This example was provided by Dr. Jeffrey </a:t>
            </a:r>
            <a:r>
              <a:rPr lang="en-US" sz="1200" i="1" dirty="0" err="1">
                <a:latin typeface="Helvetica" panose="020B0604020202020204" pitchFamily="34" charset="0"/>
                <a:cs typeface="Helvetica" panose="020B0604020202020204" pitchFamily="34" charset="0"/>
              </a:rPr>
              <a:t>Simonoff</a:t>
            </a:r>
            <a:r>
              <a:rPr lang="en-US" sz="1200" i="1" dirty="0">
                <a:latin typeface="Helvetica" panose="020B0604020202020204" pitchFamily="34" charset="0"/>
                <a:cs typeface="Helvetica" panose="020B0604020202020204" pitchFamily="34" charset="0"/>
              </a:rPr>
              <a:t> from New York University and was inspired by the honors thesis of Jeffrey Lui.</a:t>
            </a:r>
          </a:p>
        </p:txBody>
      </p:sp>
      <p:sp>
        <p:nvSpPr>
          <p:cNvPr id="3" name="TextBox 2">
            <a:extLst>
              <a:ext uri="{FF2B5EF4-FFF2-40B4-BE49-F238E27FC236}">
                <a16:creationId xmlns:a16="http://schemas.microsoft.com/office/drawing/2014/main" id="{A3093526-C5B0-430A-8F4B-E101BDBB10A3}"/>
              </a:ext>
            </a:extLst>
          </p:cNvPr>
          <p:cNvSpPr txBox="1"/>
          <p:nvPr/>
        </p:nvSpPr>
        <p:spPr>
          <a:xfrm>
            <a:off x="190499" y="2936617"/>
            <a:ext cx="7259937" cy="923330"/>
          </a:xfrm>
          <a:prstGeom prst="rect">
            <a:avLst/>
          </a:prstGeom>
          <a:ln w="19050">
            <a:solidFill>
              <a:schemeClr val="tx2"/>
            </a:solidFill>
          </a:ln>
          <a:effectLst/>
        </p:spPr>
        <p:txBody>
          <a:bodyPr vert="horz" wrap="square" lIns="182880" tIns="182880" rIns="182880" bIns="182880" rtlCol="0" anchor="ctr" anchorCtr="0">
            <a:spAutoFit/>
          </a:bodyPr>
          <a:lstStyle/>
          <a:p>
            <a:pPr>
              <a:defRPr/>
            </a:pPr>
            <a:r>
              <a:rPr lang="en-US" b="1" i="1" dirty="0">
                <a:solidFill>
                  <a:srgbClr val="EEB211"/>
                </a:solidFill>
                <a:latin typeface="Helvetica Neue"/>
              </a:rPr>
              <a:t>Which financial indicators are associated with bankruptcy for telecommunications firms? </a:t>
            </a:r>
            <a:endParaRPr lang="en-US" dirty="0">
              <a:solidFill>
                <a:srgbClr val="EEB211"/>
              </a:solidFill>
            </a:endParaRPr>
          </a:p>
        </p:txBody>
      </p:sp>
    </p:spTree>
    <p:custDataLst>
      <p:tags r:id="rId1"/>
    </p:custDataLst>
    <p:extLst>
      <p:ext uri="{BB962C8B-B14F-4D97-AF65-F5344CB8AC3E}">
        <p14:creationId xmlns:p14="http://schemas.microsoft.com/office/powerpoint/2010/main" val="614326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05487" y="959280"/>
            <a:ext cx="8382000" cy="2123658"/>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i="1" dirty="0">
                <a:latin typeface="Helvetica" panose="020B0604020202020204" pitchFamily="34" charset="0"/>
                <a:ea typeface="Helvetica Neue" charset="0"/>
                <a:cs typeface="Helvetica" panose="020B0604020202020204" pitchFamily="34" charset="0"/>
              </a:rPr>
              <a:t>library(</a:t>
            </a:r>
            <a:r>
              <a:rPr lang="en-US" sz="1200" i="1" dirty="0" err="1">
                <a:latin typeface="Helvetica" panose="020B0604020202020204" pitchFamily="34" charset="0"/>
                <a:ea typeface="Helvetica Neue" charset="0"/>
                <a:cs typeface="Helvetica" panose="020B0604020202020204" pitchFamily="34" charset="0"/>
              </a:rPr>
              <a:t>glmnet</a:t>
            </a:r>
            <a:r>
              <a:rPr lang="en-US" sz="1200" i="1" dirty="0">
                <a:latin typeface="Helvetica" panose="020B0604020202020204" pitchFamily="34" charset="0"/>
                <a:ea typeface="Helvetica Neue" charset="0"/>
                <a:cs typeface="Helvetica" panose="020B0604020202020204" pitchFamily="34" charset="0"/>
              </a:rPr>
              <a:t>) </a:t>
            </a:r>
          </a:p>
          <a:p>
            <a:pPr>
              <a:defRPr/>
            </a:pPr>
            <a:r>
              <a:rPr lang="en-US" sz="1200" i="1" dirty="0">
                <a:latin typeface="Helvetica" panose="020B0604020202020204" pitchFamily="34" charset="0"/>
                <a:ea typeface="Helvetica Neue" charset="0"/>
                <a:cs typeface="Helvetica" panose="020B0604020202020204" pitchFamily="34" charset="0"/>
              </a:rPr>
              <a:t>X = </a:t>
            </a:r>
            <a:r>
              <a:rPr lang="en-US" sz="1200" i="1" dirty="0" err="1">
                <a:latin typeface="Helvetica" panose="020B0604020202020204" pitchFamily="34" charset="0"/>
                <a:ea typeface="Helvetica Neue" charset="0"/>
                <a:cs typeface="Helvetica" panose="020B0604020202020204" pitchFamily="34" charset="0"/>
              </a:rPr>
              <a:t>cbind</a:t>
            </a:r>
            <a:r>
              <a:rPr lang="en-US" sz="1200" i="1" dirty="0">
                <a:latin typeface="Helvetica" panose="020B0604020202020204" pitchFamily="34" charset="0"/>
                <a:ea typeface="Helvetica Neue" charset="0"/>
                <a:cs typeface="Helvetica" panose="020B0604020202020204" pitchFamily="34" charset="0"/>
              </a:rPr>
              <a:t>(WC.TA, RE.TA, EBIT.TA, S.TA, BVE.BVL)</a:t>
            </a:r>
          </a:p>
          <a:p>
            <a:pPr>
              <a:defRPr/>
            </a:pPr>
            <a:endParaRPr lang="en-US" sz="1200" dirty="0">
              <a:latin typeface="Helvetica" panose="020B0604020202020204" pitchFamily="34" charset="0"/>
              <a:ea typeface="Helvetica Neue" charset="0"/>
              <a:cs typeface="Helvetica" panose="020B0604020202020204" pitchFamily="34" charset="0"/>
            </a:endParaRPr>
          </a:p>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10-fold CV to find the optimal lambda </a:t>
            </a:r>
          </a:p>
          <a:p>
            <a:pPr>
              <a:defRPr/>
            </a:pPr>
            <a:r>
              <a:rPr lang="en-US" sz="1200" i="1" dirty="0">
                <a:latin typeface="Helvetica" panose="020B0604020202020204" pitchFamily="34" charset="0"/>
                <a:ea typeface="Helvetica Neue" charset="0"/>
                <a:cs typeface="Helvetica" panose="020B0604020202020204" pitchFamily="34" charset="0"/>
              </a:rPr>
              <a:t>bank5.cv = </a:t>
            </a:r>
            <a:r>
              <a:rPr lang="en-US" sz="1200" i="1" dirty="0" err="1">
                <a:latin typeface="Helvetica" panose="020B0604020202020204" pitchFamily="34" charset="0"/>
                <a:ea typeface="Helvetica Neue" charset="0"/>
                <a:cs typeface="Helvetica" panose="020B0604020202020204" pitchFamily="34" charset="0"/>
              </a:rPr>
              <a:t>cv.glmnet</a:t>
            </a:r>
            <a:r>
              <a:rPr lang="en-US" sz="1200" i="1" dirty="0">
                <a:latin typeface="Helvetica" panose="020B0604020202020204" pitchFamily="34" charset="0"/>
                <a:ea typeface="Helvetica Neue" charset="0"/>
                <a:cs typeface="Helvetica" panose="020B0604020202020204" pitchFamily="34" charset="0"/>
              </a:rPr>
              <a:t>(X, Bankrupt, family=c("binomial"), alpha=1, type="class", </a:t>
            </a:r>
            <a:r>
              <a:rPr lang="en-US" sz="1200" i="1" dirty="0" err="1">
                <a:latin typeface="Helvetica" panose="020B0604020202020204" pitchFamily="34" charset="0"/>
                <a:ea typeface="Helvetica Neue" charset="0"/>
                <a:cs typeface="Helvetica" panose="020B0604020202020204" pitchFamily="34" charset="0"/>
              </a:rPr>
              <a:t>nfolds</a:t>
            </a:r>
            <a:r>
              <a:rPr lang="en-US" sz="1200" i="1" dirty="0">
                <a:latin typeface="Helvetica" panose="020B0604020202020204" pitchFamily="34" charset="0"/>
                <a:ea typeface="Helvetica Neue" charset="0"/>
                <a:cs typeface="Helvetica" panose="020B0604020202020204" pitchFamily="34" charset="0"/>
              </a:rPr>
              <a:t>=10)</a:t>
            </a:r>
          </a:p>
          <a:p>
            <a:pPr>
              <a:defRPr/>
            </a:pPr>
            <a:endParaRPr lang="en-US" sz="1200" dirty="0">
              <a:latin typeface="Helvetica" panose="020B0604020202020204" pitchFamily="34" charset="0"/>
              <a:ea typeface="Helvetica Neue" charset="0"/>
              <a:cs typeface="Helvetica" panose="020B0604020202020204" pitchFamily="34" charset="0"/>
            </a:endParaRPr>
          </a:p>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Fit lasso model with 100 values for lambda</a:t>
            </a:r>
          </a:p>
          <a:p>
            <a:pPr>
              <a:defRPr/>
            </a:pPr>
            <a:r>
              <a:rPr lang="en-US" sz="1200" i="1" dirty="0">
                <a:latin typeface="Helvetica" panose="020B0604020202020204" pitchFamily="34" charset="0"/>
                <a:ea typeface="Helvetica Neue" charset="0"/>
                <a:cs typeface="Helvetica" panose="020B0604020202020204" pitchFamily="34" charset="0"/>
              </a:rPr>
              <a:t>bank5 = </a:t>
            </a:r>
            <a:r>
              <a:rPr lang="en-US" sz="1200" i="1" dirty="0" err="1">
                <a:latin typeface="Helvetica" panose="020B0604020202020204" pitchFamily="34" charset="0"/>
                <a:ea typeface="Helvetica Neue" charset="0"/>
                <a:cs typeface="Helvetica" panose="020B0604020202020204" pitchFamily="34" charset="0"/>
              </a:rPr>
              <a:t>glmnet</a:t>
            </a:r>
            <a:r>
              <a:rPr lang="en-US" sz="1200" i="1" dirty="0">
                <a:latin typeface="Helvetica" panose="020B0604020202020204" pitchFamily="34" charset="0"/>
                <a:ea typeface="Helvetica Neue" charset="0"/>
                <a:cs typeface="Helvetica" panose="020B0604020202020204" pitchFamily="34" charset="0"/>
              </a:rPr>
              <a:t>(X, Bankrupt, family=c("binomial"), alpha=1, </a:t>
            </a:r>
            <a:r>
              <a:rPr lang="en-US" sz="1200" i="1" dirty="0" err="1">
                <a:latin typeface="Helvetica" panose="020B0604020202020204" pitchFamily="34" charset="0"/>
                <a:ea typeface="Helvetica Neue" charset="0"/>
                <a:cs typeface="Helvetica" panose="020B0604020202020204" pitchFamily="34" charset="0"/>
              </a:rPr>
              <a:t>nlambda</a:t>
            </a:r>
            <a:r>
              <a:rPr lang="en-US" sz="1200" i="1" dirty="0">
                <a:latin typeface="Helvetica" panose="020B0604020202020204" pitchFamily="34" charset="0"/>
                <a:ea typeface="Helvetica Neue" charset="0"/>
                <a:cs typeface="Helvetica" panose="020B0604020202020204" pitchFamily="34" charset="0"/>
              </a:rPr>
              <a:t>=100)</a:t>
            </a:r>
          </a:p>
          <a:p>
            <a:pPr>
              <a:defRPr/>
            </a:pPr>
            <a:endParaRPr lang="en-US" sz="1200" dirty="0">
              <a:latin typeface="Helvetica" panose="020B0604020202020204" pitchFamily="34" charset="0"/>
              <a:ea typeface="Helvetica Neue" charset="0"/>
              <a:cs typeface="Helvetica" panose="020B0604020202020204" pitchFamily="34" charset="0"/>
            </a:endParaRPr>
          </a:p>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Extract coefficients at optimal lambda</a:t>
            </a:r>
          </a:p>
          <a:p>
            <a:pPr>
              <a:defRPr/>
            </a:pPr>
            <a:r>
              <a:rPr lang="en-US" sz="1200" i="1" dirty="0" err="1">
                <a:latin typeface="Helvetica" panose="020B0604020202020204" pitchFamily="34" charset="0"/>
                <a:ea typeface="Helvetica Neue" charset="0"/>
                <a:cs typeface="Helvetica" panose="020B0604020202020204" pitchFamily="34" charset="0"/>
              </a:rPr>
              <a:t>coef</a:t>
            </a:r>
            <a:r>
              <a:rPr lang="en-US" sz="1200" i="1" dirty="0">
                <a:latin typeface="Helvetica" panose="020B0604020202020204" pitchFamily="34" charset="0"/>
                <a:ea typeface="Helvetica Neue" charset="0"/>
                <a:cs typeface="Helvetica" panose="020B0604020202020204" pitchFamily="34" charset="0"/>
              </a:rPr>
              <a:t>(bank5, s=bank5.cv$lambda.min)</a:t>
            </a:r>
          </a:p>
        </p:txBody>
      </p:sp>
      <p:sp>
        <p:nvSpPr>
          <p:cNvPr id="12" name="Title 1"/>
          <p:cNvSpPr txBox="1">
            <a:spLocks/>
          </p:cNvSpPr>
          <p:nvPr/>
        </p:nvSpPr>
        <p:spPr>
          <a:xfrm>
            <a:off x="83264" y="246716"/>
            <a:ext cx="8382000" cy="494410"/>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ea typeface="Vitesse" charset="0"/>
                <a:cs typeface="Vitesse" charset="0"/>
              </a:rPr>
              <a:t>LASSO Regression</a:t>
            </a:r>
          </a:p>
        </p:txBody>
      </p:sp>
      <p:sp>
        <p:nvSpPr>
          <p:cNvPr id="10" name="Oval 9"/>
          <p:cNvSpPr/>
          <p:nvPr/>
        </p:nvSpPr>
        <p:spPr>
          <a:xfrm>
            <a:off x="3558473" y="2273960"/>
            <a:ext cx="651480" cy="237159"/>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Oval 10"/>
          <p:cNvSpPr/>
          <p:nvPr/>
        </p:nvSpPr>
        <p:spPr>
          <a:xfrm>
            <a:off x="3936881" y="1717404"/>
            <a:ext cx="635119" cy="259928"/>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Content Placeholder 2">
            <a:extLst>
              <a:ext uri="{FF2B5EF4-FFF2-40B4-BE49-F238E27FC236}">
                <a16:creationId xmlns:a16="http://schemas.microsoft.com/office/drawing/2014/main" id="{49871ADA-95C7-4226-9739-0C0836C93209}"/>
              </a:ext>
            </a:extLst>
          </p:cNvPr>
          <p:cNvSpPr txBox="1">
            <a:spLocks/>
          </p:cNvSpPr>
          <p:nvPr/>
        </p:nvSpPr>
        <p:spPr>
          <a:xfrm>
            <a:off x="5486400" y="3277965"/>
            <a:ext cx="3505200" cy="1169551"/>
          </a:xfrm>
          <a:prstGeom prst="rect">
            <a:avLst/>
          </a:prstGeom>
          <a:noFill/>
          <a:ln w="19050">
            <a:solidFill>
              <a:schemeClr val="tx2"/>
            </a:solidFill>
          </a:ln>
          <a:effectLst/>
        </p:spPr>
        <p:txBody>
          <a:bodyPr vert="horz" wrap="square" lIns="91440" tIns="91440" rIns="91440" bIns="91440" rtlCol="0" anchor="ctr">
            <a:spAutoFit/>
          </a:bodyPr>
          <a:lstStyle>
            <a:lvl1pPr marL="457200" indent="-45720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q"/>
              <a:defRPr sz="3200" kern="1200">
                <a:solidFill>
                  <a:schemeClr val="tx1">
                    <a:lumMod val="75000"/>
                    <a:lumOff val="25000"/>
                  </a:schemeClr>
                </a:solidFill>
                <a:latin typeface="+mn-lt"/>
                <a:ea typeface="+mn-ea"/>
                <a:cs typeface="+mn-cs"/>
              </a:defRPr>
            </a:lvl1pPr>
            <a:lvl2pPr marL="658368" indent="-45720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mn-lt"/>
                <a:ea typeface="+mn-ea"/>
                <a:cs typeface="+mn-cs"/>
              </a:defRPr>
            </a:lvl2pPr>
            <a:lvl3pPr marL="726948" indent="-342900" algn="l" defTabSz="914400" rtl="0" eaLnBrk="1" latinLnBrk="0" hangingPunct="1">
              <a:lnSpc>
                <a:spcPct val="90000"/>
              </a:lnSpc>
              <a:spcBef>
                <a:spcPts val="200"/>
              </a:spcBef>
              <a:spcAft>
                <a:spcPts val="400"/>
              </a:spcAft>
              <a:buClr>
                <a:schemeClr val="accent1"/>
              </a:buClr>
              <a:buFont typeface="Wingdings" panose="05000000000000000000" pitchFamily="2" charset="2"/>
              <a:buChar char="§"/>
              <a:defRPr sz="2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00000"/>
              </a:lnSpc>
              <a:buClrTx/>
              <a:buNone/>
            </a:pPr>
            <a:r>
              <a:rPr lang="en-US" sz="1600" dirty="0">
                <a:solidFill>
                  <a:prstClr val="black"/>
                </a:solidFill>
                <a:latin typeface="Helvetica" panose="020B0604020202020204" pitchFamily="34" charset="0"/>
                <a:cs typeface="Helvetica" panose="020B0604020202020204" pitchFamily="34" charset="0"/>
              </a:rPr>
              <a:t>Using LASSO </a:t>
            </a:r>
            <a:r>
              <a:rPr lang="en-US" sz="1600" dirty="0">
                <a:latin typeface="Helvetica" panose="020B0604020202020204" pitchFamily="34" charset="0"/>
                <a:cs typeface="Helvetica" panose="020B0604020202020204" pitchFamily="34" charset="0"/>
              </a:rPr>
              <a:t>and the penalty selected using 10-fold CV, the s</a:t>
            </a:r>
            <a:r>
              <a:rPr lang="en-US" sz="1600" dirty="0">
                <a:solidFill>
                  <a:prstClr val="black"/>
                </a:solidFill>
                <a:latin typeface="Helvetica" panose="020B0604020202020204" pitchFamily="34" charset="0"/>
                <a:cs typeface="Helvetica" panose="020B0604020202020204" pitchFamily="34" charset="0"/>
              </a:rPr>
              <a:t>elected predictors are: </a:t>
            </a:r>
            <a:r>
              <a:rPr lang="en-US" sz="1600" i="1" dirty="0">
                <a:solidFill>
                  <a:prstClr val="black"/>
                </a:solidFill>
                <a:latin typeface="Helvetica" panose="020B0604020202020204" pitchFamily="34" charset="0"/>
                <a:cs typeface="Helvetica" panose="020B0604020202020204" pitchFamily="34" charset="0"/>
              </a:rPr>
              <a:t>RE.TA</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EBIT.TA</a:t>
            </a:r>
            <a:r>
              <a:rPr lang="en-US" sz="1600" dirty="0">
                <a:solidFill>
                  <a:prstClr val="black"/>
                </a:solidFill>
                <a:latin typeface="Helvetica" panose="020B0604020202020204" pitchFamily="34" charset="0"/>
                <a:cs typeface="Helvetica" panose="020B0604020202020204" pitchFamily="34" charset="0"/>
              </a:rPr>
              <a:t>, and </a:t>
            </a:r>
            <a:r>
              <a:rPr lang="en-US" sz="1600" i="1" dirty="0">
                <a:solidFill>
                  <a:prstClr val="black"/>
                </a:solidFill>
                <a:latin typeface="Helvetica" panose="020B0604020202020204" pitchFamily="34" charset="0"/>
                <a:cs typeface="Helvetica" panose="020B0604020202020204" pitchFamily="34" charset="0"/>
              </a:rPr>
              <a:t>BE.BVL</a:t>
            </a:r>
            <a:endParaRPr lang="en-US" sz="1600" dirty="0">
              <a:latin typeface="Helvetica" panose="020B0604020202020204" pitchFamily="34" charset="0"/>
              <a:cs typeface="Helvetica" panose="020B0604020202020204" pitchFamily="34" charset="0"/>
            </a:endParaRPr>
          </a:p>
        </p:txBody>
      </p:sp>
      <p:sp>
        <p:nvSpPr>
          <p:cNvPr id="19" name="Arrow: Left 18">
            <a:extLst>
              <a:ext uri="{FF2B5EF4-FFF2-40B4-BE49-F238E27FC236}">
                <a16:creationId xmlns:a16="http://schemas.microsoft.com/office/drawing/2014/main" id="{E47346FC-7491-4849-9901-86E6DC7A7330}"/>
              </a:ext>
            </a:extLst>
          </p:cNvPr>
          <p:cNvSpPr/>
          <p:nvPr/>
        </p:nvSpPr>
        <p:spPr>
          <a:xfrm>
            <a:off x="2694203" y="3702530"/>
            <a:ext cx="1877797" cy="191082"/>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Arrow: Left 19">
            <a:extLst>
              <a:ext uri="{FF2B5EF4-FFF2-40B4-BE49-F238E27FC236}">
                <a16:creationId xmlns:a16="http://schemas.microsoft.com/office/drawing/2014/main" id="{44D44541-BA40-49F4-B5C2-8A820957D37D}"/>
              </a:ext>
            </a:extLst>
          </p:cNvPr>
          <p:cNvSpPr/>
          <p:nvPr/>
        </p:nvSpPr>
        <p:spPr>
          <a:xfrm>
            <a:off x="2695573" y="3878524"/>
            <a:ext cx="1877797" cy="191082"/>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Arrow: Left 20">
            <a:extLst>
              <a:ext uri="{FF2B5EF4-FFF2-40B4-BE49-F238E27FC236}">
                <a16:creationId xmlns:a16="http://schemas.microsoft.com/office/drawing/2014/main" id="{2AA7C5CB-A73B-4BDA-B64D-F25240F5ED0A}"/>
              </a:ext>
            </a:extLst>
          </p:cNvPr>
          <p:cNvSpPr/>
          <p:nvPr/>
        </p:nvSpPr>
        <p:spPr>
          <a:xfrm>
            <a:off x="2694203" y="4231883"/>
            <a:ext cx="1877797" cy="191082"/>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1495214134"/>
              </p:ext>
            </p:extLst>
          </p:nvPr>
        </p:nvGraphicFramePr>
        <p:xfrm>
          <a:off x="120870" y="3248723"/>
          <a:ext cx="2213861" cy="1089282"/>
        </p:xfrm>
        <a:graphic>
          <a:graphicData uri="http://schemas.openxmlformats.org/drawingml/2006/table">
            <a:tbl>
              <a:tblPr firstRow="1" firstCol="1" bandRow="1">
                <a:tableStyleId>{5C22544A-7EE6-4342-B048-85BDC9FD1C3A}</a:tableStyleId>
              </a:tblPr>
              <a:tblGrid>
                <a:gridCol w="1030945">
                  <a:extLst>
                    <a:ext uri="{9D8B030D-6E8A-4147-A177-3AD203B41FA5}">
                      <a16:colId xmlns:a16="http://schemas.microsoft.com/office/drawing/2014/main" val="3472746856"/>
                    </a:ext>
                  </a:extLst>
                </a:gridCol>
                <a:gridCol w="1182916">
                  <a:extLst>
                    <a:ext uri="{9D8B030D-6E8A-4147-A177-3AD203B41FA5}">
                      <a16:colId xmlns:a16="http://schemas.microsoft.com/office/drawing/2014/main" val="939130580"/>
                    </a:ext>
                  </a:extLst>
                </a:gridCol>
              </a:tblGrid>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(Intercept)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-0.95995368</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723421902"/>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WC.TA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25624120"/>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RE.TA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-0.02874387</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821349002"/>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EBIT.TA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-0.05757731</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361987334"/>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S.TA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898449283"/>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BVE.BVL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-0.14135425</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3547830169"/>
                  </a:ext>
                </a:extLst>
              </a:tr>
            </a:tbl>
          </a:graphicData>
        </a:graphic>
      </p:graphicFrame>
    </p:spTree>
    <p:custDataLst>
      <p:tags r:id="rId1"/>
    </p:custDataLst>
    <p:extLst>
      <p:ext uri="{BB962C8B-B14F-4D97-AF65-F5344CB8AC3E}">
        <p14:creationId xmlns:p14="http://schemas.microsoft.com/office/powerpoint/2010/main" val="273454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8" grpId="0" animBg="1"/>
      <p:bldP spid="19" grpId="0" animBg="1"/>
      <p:bldP spid="20" grpId="0" animBg="1"/>
      <p:bldP spid="21" grpId="0" animBg="1"/>
    </p:bldLst>
  </p:timing>
  <p:extLst mod="1">
    <p:ext uri="{6950BFC3-D8DA-4A85-94F7-54DA5524770B}">
      <p188:commentRel xmlns=""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12445" y="962568"/>
            <a:ext cx="8382000" cy="646331"/>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Plot coefficient paths</a:t>
            </a:r>
          </a:p>
          <a:p>
            <a:pPr>
              <a:defRPr/>
            </a:pPr>
            <a:r>
              <a:rPr lang="en-US" sz="1200" i="1" dirty="0">
                <a:latin typeface="Helvetica" panose="020B0604020202020204" pitchFamily="34" charset="0"/>
                <a:ea typeface="Helvetica Neue" charset="0"/>
                <a:cs typeface="Helvetica" panose="020B0604020202020204" pitchFamily="34" charset="0"/>
              </a:rPr>
              <a:t>plot(bank5, </a:t>
            </a:r>
            <a:r>
              <a:rPr lang="en-US" sz="1200" i="1" dirty="0" err="1">
                <a:latin typeface="Helvetica" panose="020B0604020202020204" pitchFamily="34" charset="0"/>
                <a:ea typeface="Helvetica Neue" charset="0"/>
                <a:cs typeface="Helvetica" panose="020B0604020202020204" pitchFamily="34" charset="0"/>
              </a:rPr>
              <a:t>xvar</a:t>
            </a:r>
            <a:r>
              <a:rPr lang="en-US" sz="1200" i="1" dirty="0">
                <a:latin typeface="Helvetica" panose="020B0604020202020204" pitchFamily="34" charset="0"/>
                <a:ea typeface="Helvetica Neue" charset="0"/>
                <a:cs typeface="Helvetica" panose="020B0604020202020204" pitchFamily="34" charset="0"/>
              </a:rPr>
              <a:t>="lambda", </a:t>
            </a:r>
            <a:r>
              <a:rPr lang="en-US" sz="1200" i="1" dirty="0" err="1">
                <a:latin typeface="Helvetica" panose="020B0604020202020204" pitchFamily="34" charset="0"/>
                <a:ea typeface="Helvetica Neue" charset="0"/>
                <a:cs typeface="Helvetica" panose="020B0604020202020204" pitchFamily="34" charset="0"/>
              </a:rPr>
              <a:t>lwd</a:t>
            </a:r>
            <a:r>
              <a:rPr lang="en-US" sz="1200" i="1" dirty="0">
                <a:latin typeface="Helvetica" panose="020B0604020202020204" pitchFamily="34" charset="0"/>
                <a:ea typeface="Helvetica Neue" charset="0"/>
                <a:cs typeface="Helvetica" panose="020B0604020202020204" pitchFamily="34" charset="0"/>
              </a:rPr>
              <a:t>=2)</a:t>
            </a:r>
          </a:p>
          <a:p>
            <a:pPr>
              <a:defRPr/>
            </a:pPr>
            <a:r>
              <a:rPr lang="en-US" sz="1200" i="1" dirty="0" err="1">
                <a:latin typeface="Helvetica" panose="020B0604020202020204" pitchFamily="34" charset="0"/>
                <a:ea typeface="Helvetica Neue" charset="0"/>
                <a:cs typeface="Helvetica" panose="020B0604020202020204" pitchFamily="34" charset="0"/>
              </a:rPr>
              <a:t>abline</a:t>
            </a:r>
            <a:r>
              <a:rPr lang="en-US" sz="1200" i="1" dirty="0">
                <a:latin typeface="Helvetica" panose="020B0604020202020204" pitchFamily="34" charset="0"/>
                <a:ea typeface="Helvetica Neue" charset="0"/>
                <a:cs typeface="Helvetica" panose="020B0604020202020204" pitchFamily="34" charset="0"/>
              </a:rPr>
              <a:t>(v=log(bank5.cv$lambda.min), col='black', </a:t>
            </a:r>
            <a:r>
              <a:rPr lang="en-US" sz="1200" i="1" dirty="0" err="1">
                <a:latin typeface="Helvetica" panose="020B0604020202020204" pitchFamily="34" charset="0"/>
                <a:ea typeface="Helvetica Neue" charset="0"/>
                <a:cs typeface="Helvetica" panose="020B0604020202020204" pitchFamily="34" charset="0"/>
              </a:rPr>
              <a:t>lty</a:t>
            </a:r>
            <a:r>
              <a:rPr lang="en-US" sz="1200" i="1" dirty="0">
                <a:latin typeface="Helvetica" panose="020B0604020202020204" pitchFamily="34" charset="0"/>
                <a:ea typeface="Helvetica Neue" charset="0"/>
                <a:cs typeface="Helvetica" panose="020B0604020202020204" pitchFamily="34" charset="0"/>
              </a:rPr>
              <a:t> 2, </a:t>
            </a:r>
            <a:r>
              <a:rPr lang="en-US" sz="1200" i="1" dirty="0" err="1">
                <a:latin typeface="Helvetica" panose="020B0604020202020204" pitchFamily="34" charset="0"/>
                <a:ea typeface="Helvetica Neue" charset="0"/>
                <a:cs typeface="Helvetica" panose="020B0604020202020204" pitchFamily="34" charset="0"/>
              </a:rPr>
              <a:t>lwd</a:t>
            </a:r>
            <a:r>
              <a:rPr lang="en-US" sz="1200" i="1" dirty="0">
                <a:latin typeface="Helvetica" panose="020B0604020202020204" pitchFamily="34" charset="0"/>
                <a:ea typeface="Helvetica Neue" charset="0"/>
                <a:cs typeface="Helvetica" panose="020B0604020202020204" pitchFamily="34" charset="0"/>
              </a:rPr>
              <a:t>=2)</a:t>
            </a:r>
          </a:p>
        </p:txBody>
      </p:sp>
      <p:pic>
        <p:nvPicPr>
          <p:cNvPr id="3" name="Picture 2" descr="A screenshot of a map&#10;&#10;Description automatically generated">
            <a:extLst>
              <a:ext uri="{FF2B5EF4-FFF2-40B4-BE49-F238E27FC236}">
                <a16:creationId xmlns:a16="http://schemas.microsoft.com/office/drawing/2014/main" id="{89CE30C5-0EDD-45CE-BC2C-5AF62FAB3930}"/>
              </a:ext>
            </a:extLst>
          </p:cNvPr>
          <p:cNvPicPr>
            <a:picLocks noChangeAspect="1"/>
          </p:cNvPicPr>
          <p:nvPr/>
        </p:nvPicPr>
        <p:blipFill rotWithShape="1">
          <a:blip r:embed="rId3"/>
          <a:srcRect t="7630" r="6292" b="4115"/>
          <a:stretch/>
        </p:blipFill>
        <p:spPr>
          <a:xfrm>
            <a:off x="495791" y="1738582"/>
            <a:ext cx="4076209" cy="3157489"/>
          </a:xfrm>
          <a:prstGeom prst="rect">
            <a:avLst/>
          </a:prstGeom>
        </p:spPr>
      </p:pic>
      <p:sp>
        <p:nvSpPr>
          <p:cNvPr id="6" name="Title 1"/>
          <p:cNvSpPr txBox="1">
            <a:spLocks/>
          </p:cNvSpPr>
          <p:nvPr/>
        </p:nvSpPr>
        <p:spPr>
          <a:xfrm>
            <a:off x="83264" y="246716"/>
            <a:ext cx="8382000" cy="494410"/>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ea typeface="Vitesse" charset="0"/>
                <a:cs typeface="Vitesse" charset="0"/>
              </a:rPr>
              <a:t>LASSO Regression</a:t>
            </a:r>
          </a:p>
        </p:txBody>
      </p:sp>
    </p:spTree>
    <p:custDataLst>
      <p:tags r:id="rId1"/>
    </p:custDataLst>
    <p:extLst>
      <p:ext uri="{BB962C8B-B14F-4D97-AF65-F5344CB8AC3E}">
        <p14:creationId xmlns:p14="http://schemas.microsoft.com/office/powerpoint/2010/main" val="179888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15761" y="962814"/>
            <a:ext cx="8693604" cy="2123658"/>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i="1" dirty="0">
                <a:latin typeface="Helvetica" panose="020B0604020202020204" pitchFamily="34" charset="0"/>
                <a:ea typeface="Helvetica Neue" charset="0"/>
                <a:cs typeface="Helvetica" panose="020B0604020202020204" pitchFamily="34" charset="0"/>
              </a:rPr>
              <a:t>library(</a:t>
            </a:r>
            <a:r>
              <a:rPr lang="en-US" sz="1200" i="1" dirty="0" err="1">
                <a:latin typeface="Helvetica" panose="020B0604020202020204" pitchFamily="34" charset="0"/>
                <a:ea typeface="Helvetica Neue" charset="0"/>
                <a:cs typeface="Helvetica" panose="020B0604020202020204" pitchFamily="34" charset="0"/>
              </a:rPr>
              <a:t>glmnet</a:t>
            </a:r>
            <a:r>
              <a:rPr lang="en-US" sz="1200" i="1" dirty="0">
                <a:latin typeface="Helvetica" panose="020B0604020202020204" pitchFamily="34" charset="0"/>
                <a:ea typeface="Helvetica Neue" charset="0"/>
                <a:cs typeface="Helvetica" panose="020B0604020202020204" pitchFamily="34" charset="0"/>
              </a:rPr>
              <a:t>)</a:t>
            </a:r>
            <a:r>
              <a:rPr lang="en-US" sz="1200" dirty="0">
                <a:latin typeface="Helvetica" panose="020B0604020202020204" pitchFamily="34" charset="0"/>
                <a:ea typeface="Helvetica Neue" charset="0"/>
                <a:cs typeface="Helvetica" panose="020B0604020202020204" pitchFamily="34" charset="0"/>
              </a:rPr>
              <a:t> </a:t>
            </a:r>
            <a:r>
              <a:rPr lang="en-US" sz="1200" b="1" dirty="0">
                <a:solidFill>
                  <a:srgbClr val="EEB211"/>
                </a:solidFill>
                <a:latin typeface="Helvetica" panose="020B0604020202020204" pitchFamily="34" charset="0"/>
                <a:ea typeface="Helvetica Neue" charset="0"/>
                <a:cs typeface="Helvetica" panose="020B0604020202020204" pitchFamily="34" charset="0"/>
              </a:rPr>
              <a:t># alpha=1 lasso, alpha=0 ridge</a:t>
            </a:r>
          </a:p>
          <a:p>
            <a:pPr>
              <a:defRPr/>
            </a:pPr>
            <a:r>
              <a:rPr lang="en-US" sz="1200" i="1" dirty="0">
                <a:latin typeface="Helvetica" panose="020B0604020202020204" pitchFamily="34" charset="0"/>
                <a:ea typeface="Helvetica Neue" charset="0"/>
                <a:cs typeface="Helvetica" panose="020B0604020202020204" pitchFamily="34" charset="0"/>
              </a:rPr>
              <a:t>X = </a:t>
            </a:r>
            <a:r>
              <a:rPr lang="en-US" sz="1200" i="1" dirty="0" err="1">
                <a:latin typeface="Helvetica" panose="020B0604020202020204" pitchFamily="34" charset="0"/>
                <a:ea typeface="Helvetica Neue" charset="0"/>
                <a:cs typeface="Helvetica" panose="020B0604020202020204" pitchFamily="34" charset="0"/>
              </a:rPr>
              <a:t>cbind</a:t>
            </a:r>
            <a:r>
              <a:rPr lang="en-US" sz="1200" i="1" dirty="0">
                <a:latin typeface="Helvetica" panose="020B0604020202020204" pitchFamily="34" charset="0"/>
                <a:ea typeface="Helvetica Neue" charset="0"/>
                <a:cs typeface="Helvetica" panose="020B0604020202020204" pitchFamily="34" charset="0"/>
              </a:rPr>
              <a:t>(WC.TA,RE.TA,EBIT.TA,S.TA,BVE.BVL)</a:t>
            </a:r>
          </a:p>
          <a:p>
            <a:pPr>
              <a:defRPr/>
            </a:pPr>
            <a:endParaRPr lang="en-US" sz="1200" dirty="0">
              <a:latin typeface="Helvetica" panose="020B0604020202020204" pitchFamily="34" charset="0"/>
              <a:ea typeface="Helvetica Neue" charset="0"/>
              <a:cs typeface="Helvetica" panose="020B0604020202020204" pitchFamily="34" charset="0"/>
            </a:endParaRPr>
          </a:p>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10-fold CV to find the optimal lambda </a:t>
            </a:r>
          </a:p>
          <a:p>
            <a:pPr>
              <a:defRPr/>
            </a:pPr>
            <a:r>
              <a:rPr lang="en-US" sz="1200" i="1" dirty="0">
                <a:latin typeface="Helvetica" panose="020B0604020202020204" pitchFamily="34" charset="0"/>
                <a:ea typeface="Helvetica Neue" charset="0"/>
                <a:cs typeface="Helvetica" panose="020B0604020202020204" pitchFamily="34" charset="0"/>
              </a:rPr>
              <a:t>bank6.cv = </a:t>
            </a:r>
            <a:r>
              <a:rPr lang="en-US" sz="1200" i="1" dirty="0" err="1">
                <a:latin typeface="Helvetica" panose="020B0604020202020204" pitchFamily="34" charset="0"/>
                <a:ea typeface="Helvetica Neue" charset="0"/>
                <a:cs typeface="Helvetica" panose="020B0604020202020204" pitchFamily="34" charset="0"/>
              </a:rPr>
              <a:t>cv.glmnet</a:t>
            </a:r>
            <a:r>
              <a:rPr lang="en-US" sz="1200" i="1" dirty="0">
                <a:latin typeface="Helvetica" panose="020B0604020202020204" pitchFamily="34" charset="0"/>
                <a:ea typeface="Helvetica Neue" charset="0"/>
                <a:cs typeface="Helvetica" panose="020B0604020202020204" pitchFamily="34" charset="0"/>
              </a:rPr>
              <a:t>(X, Bankrupt, family=c("binomial"), alpha= 0.5, type="class", </a:t>
            </a:r>
            <a:r>
              <a:rPr lang="en-US" sz="1200" i="1" dirty="0" err="1">
                <a:latin typeface="Helvetica" panose="020B0604020202020204" pitchFamily="34" charset="0"/>
                <a:ea typeface="Helvetica Neue" charset="0"/>
                <a:cs typeface="Helvetica" panose="020B0604020202020204" pitchFamily="34" charset="0"/>
              </a:rPr>
              <a:t>nfolds</a:t>
            </a:r>
            <a:r>
              <a:rPr lang="en-US" sz="1200" i="1" dirty="0">
                <a:latin typeface="Helvetica" panose="020B0604020202020204" pitchFamily="34" charset="0"/>
                <a:ea typeface="Helvetica Neue" charset="0"/>
                <a:cs typeface="Helvetica" panose="020B0604020202020204" pitchFamily="34" charset="0"/>
              </a:rPr>
              <a:t>=10)</a:t>
            </a:r>
          </a:p>
          <a:p>
            <a:pPr>
              <a:defRPr/>
            </a:pPr>
            <a:endParaRPr lang="en-US" sz="1200" dirty="0">
              <a:latin typeface="Helvetica" panose="020B0604020202020204" pitchFamily="34" charset="0"/>
              <a:ea typeface="Helvetica Neue" charset="0"/>
              <a:cs typeface="Helvetica" panose="020B0604020202020204" pitchFamily="34" charset="0"/>
            </a:endParaRPr>
          </a:p>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Fit elastic net model with 100 values for lambda</a:t>
            </a:r>
          </a:p>
          <a:p>
            <a:pPr>
              <a:defRPr/>
            </a:pPr>
            <a:r>
              <a:rPr lang="en-US" sz="1200" i="1" dirty="0">
                <a:latin typeface="Helvetica" panose="020B0604020202020204" pitchFamily="34" charset="0"/>
                <a:ea typeface="Helvetica Neue" charset="0"/>
                <a:cs typeface="Helvetica" panose="020B0604020202020204" pitchFamily="34" charset="0"/>
              </a:rPr>
              <a:t>bank6 = </a:t>
            </a:r>
            <a:r>
              <a:rPr lang="en-US" sz="1200" i="1" dirty="0" err="1">
                <a:latin typeface="Helvetica" panose="020B0604020202020204" pitchFamily="34" charset="0"/>
                <a:ea typeface="Helvetica Neue" charset="0"/>
                <a:cs typeface="Helvetica" panose="020B0604020202020204" pitchFamily="34" charset="0"/>
              </a:rPr>
              <a:t>glmnet</a:t>
            </a:r>
            <a:r>
              <a:rPr lang="en-US" sz="1200" i="1" dirty="0">
                <a:latin typeface="Helvetica" panose="020B0604020202020204" pitchFamily="34" charset="0"/>
                <a:ea typeface="Helvetica Neue" charset="0"/>
                <a:cs typeface="Helvetica" panose="020B0604020202020204" pitchFamily="34" charset="0"/>
              </a:rPr>
              <a:t>(X, Bankrupt, family=c("binomial"), alpha=0.5, </a:t>
            </a:r>
            <a:r>
              <a:rPr lang="en-US" sz="1200" i="1" dirty="0" err="1">
                <a:latin typeface="Helvetica" panose="020B0604020202020204" pitchFamily="34" charset="0"/>
                <a:ea typeface="Helvetica Neue" charset="0"/>
                <a:cs typeface="Helvetica" panose="020B0604020202020204" pitchFamily="34" charset="0"/>
              </a:rPr>
              <a:t>nlambda</a:t>
            </a:r>
            <a:r>
              <a:rPr lang="en-US" sz="1200" i="1" dirty="0">
                <a:latin typeface="Helvetica" panose="020B0604020202020204" pitchFamily="34" charset="0"/>
                <a:ea typeface="Helvetica Neue" charset="0"/>
                <a:cs typeface="Helvetica" panose="020B0604020202020204" pitchFamily="34" charset="0"/>
              </a:rPr>
              <a:t>=100)</a:t>
            </a:r>
          </a:p>
          <a:p>
            <a:pPr>
              <a:defRPr/>
            </a:pPr>
            <a:endParaRPr lang="en-US" sz="1200" dirty="0">
              <a:latin typeface="Helvetica" panose="020B0604020202020204" pitchFamily="34" charset="0"/>
              <a:ea typeface="Helvetica Neue" charset="0"/>
              <a:cs typeface="Helvetica" panose="020B0604020202020204" pitchFamily="34" charset="0"/>
            </a:endParaRPr>
          </a:p>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Extract coefficients at optimal lambda</a:t>
            </a:r>
          </a:p>
          <a:p>
            <a:pPr>
              <a:defRPr/>
            </a:pPr>
            <a:r>
              <a:rPr lang="en-US" sz="1200" i="1" dirty="0" err="1">
                <a:latin typeface="Helvetica" panose="020B0604020202020204" pitchFamily="34" charset="0"/>
                <a:ea typeface="Helvetica Neue" charset="0"/>
                <a:cs typeface="Helvetica" panose="020B0604020202020204" pitchFamily="34" charset="0"/>
              </a:rPr>
              <a:t>coef</a:t>
            </a:r>
            <a:r>
              <a:rPr lang="en-US" sz="1200" i="1" dirty="0">
                <a:latin typeface="Helvetica" panose="020B0604020202020204" pitchFamily="34" charset="0"/>
                <a:ea typeface="Helvetica Neue" charset="0"/>
                <a:cs typeface="Helvetica" panose="020B0604020202020204" pitchFamily="34" charset="0"/>
              </a:rPr>
              <a:t>(bank6, s=bank6.cv$lambda.min)</a:t>
            </a:r>
          </a:p>
        </p:txBody>
      </p:sp>
      <p:sp>
        <p:nvSpPr>
          <p:cNvPr id="12" name="Title 1"/>
          <p:cNvSpPr txBox="1">
            <a:spLocks/>
          </p:cNvSpPr>
          <p:nvPr/>
        </p:nvSpPr>
        <p:spPr>
          <a:xfrm>
            <a:off x="78627" y="246714"/>
            <a:ext cx="8382000" cy="505230"/>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Elastic Net Regression</a:t>
            </a:r>
          </a:p>
        </p:txBody>
      </p:sp>
      <p:sp>
        <p:nvSpPr>
          <p:cNvPr id="10" name="Oval 9"/>
          <p:cNvSpPr/>
          <p:nvPr/>
        </p:nvSpPr>
        <p:spPr>
          <a:xfrm>
            <a:off x="3552745" y="2251712"/>
            <a:ext cx="791815" cy="277973"/>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Oval 10"/>
          <p:cNvSpPr/>
          <p:nvPr/>
        </p:nvSpPr>
        <p:spPr>
          <a:xfrm>
            <a:off x="3940919" y="1698733"/>
            <a:ext cx="826029" cy="278599"/>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Content Placeholder 2">
            <a:extLst>
              <a:ext uri="{FF2B5EF4-FFF2-40B4-BE49-F238E27FC236}">
                <a16:creationId xmlns:a16="http://schemas.microsoft.com/office/drawing/2014/main" id="{739B9AC4-8464-43C5-B97D-493EB8164CC1}"/>
              </a:ext>
            </a:extLst>
          </p:cNvPr>
          <p:cNvSpPr txBox="1">
            <a:spLocks/>
          </p:cNvSpPr>
          <p:nvPr/>
        </p:nvSpPr>
        <p:spPr>
          <a:xfrm>
            <a:off x="5486400" y="3184079"/>
            <a:ext cx="3505199" cy="1169551"/>
          </a:xfrm>
          <a:prstGeom prst="rect">
            <a:avLst/>
          </a:prstGeom>
          <a:noFill/>
          <a:ln w="19050">
            <a:solidFill>
              <a:schemeClr val="tx2"/>
            </a:solidFill>
          </a:ln>
          <a:effectLst/>
        </p:spPr>
        <p:txBody>
          <a:bodyPr vert="horz" wrap="square" lIns="91440" tIns="91440" rIns="91440" bIns="91440" rtlCol="0" anchor="ctr">
            <a:spAutoFit/>
          </a:bodyPr>
          <a:lstStyle>
            <a:lvl1pPr marL="457200" indent="-45720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q"/>
              <a:defRPr sz="3200" kern="1200">
                <a:solidFill>
                  <a:schemeClr val="tx1">
                    <a:lumMod val="75000"/>
                    <a:lumOff val="25000"/>
                  </a:schemeClr>
                </a:solidFill>
                <a:latin typeface="+mn-lt"/>
                <a:ea typeface="+mn-ea"/>
                <a:cs typeface="+mn-cs"/>
              </a:defRPr>
            </a:lvl1pPr>
            <a:lvl2pPr marL="658368" indent="-45720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mn-lt"/>
                <a:ea typeface="+mn-ea"/>
                <a:cs typeface="+mn-cs"/>
              </a:defRPr>
            </a:lvl2pPr>
            <a:lvl3pPr marL="726948" indent="-342900" algn="l" defTabSz="914400" rtl="0" eaLnBrk="1" latinLnBrk="0" hangingPunct="1">
              <a:lnSpc>
                <a:spcPct val="90000"/>
              </a:lnSpc>
              <a:spcBef>
                <a:spcPts val="200"/>
              </a:spcBef>
              <a:spcAft>
                <a:spcPts val="400"/>
              </a:spcAft>
              <a:buClr>
                <a:schemeClr val="accent1"/>
              </a:buClr>
              <a:buFont typeface="Wingdings" panose="05000000000000000000" pitchFamily="2" charset="2"/>
              <a:buChar char="§"/>
              <a:defRPr sz="2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00000"/>
              </a:lnSpc>
              <a:buClrTx/>
              <a:buNone/>
            </a:pPr>
            <a:r>
              <a:rPr lang="en-US" sz="1600" dirty="0">
                <a:solidFill>
                  <a:prstClr val="black"/>
                </a:solidFill>
                <a:latin typeface="Helvetica" panose="020B0604020202020204" pitchFamily="34" charset="0"/>
                <a:cs typeface="Helvetica" panose="020B0604020202020204" pitchFamily="34" charset="0"/>
              </a:rPr>
              <a:t>Using Elastic Net </a:t>
            </a:r>
            <a:r>
              <a:rPr lang="en-US" sz="1600" dirty="0">
                <a:latin typeface="Helvetica" panose="020B0604020202020204" pitchFamily="34" charset="0"/>
                <a:cs typeface="Helvetica" panose="020B0604020202020204" pitchFamily="34" charset="0"/>
              </a:rPr>
              <a:t>and the penalty selected using 10-fold CV, the s</a:t>
            </a:r>
            <a:r>
              <a:rPr lang="en-US" sz="1600" dirty="0">
                <a:solidFill>
                  <a:prstClr val="black"/>
                </a:solidFill>
                <a:latin typeface="Helvetica" panose="020B0604020202020204" pitchFamily="34" charset="0"/>
                <a:cs typeface="Helvetica" panose="020B0604020202020204" pitchFamily="34" charset="0"/>
              </a:rPr>
              <a:t>elected predictors are: </a:t>
            </a:r>
            <a:r>
              <a:rPr lang="en-US" sz="1600" i="1" dirty="0">
                <a:solidFill>
                  <a:prstClr val="black"/>
                </a:solidFill>
                <a:latin typeface="Helvetica" panose="020B0604020202020204" pitchFamily="34" charset="0"/>
                <a:cs typeface="Helvetica" panose="020B0604020202020204" pitchFamily="34" charset="0"/>
              </a:rPr>
              <a:t>WC.TA</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RE.TA</a:t>
            </a:r>
            <a:r>
              <a:rPr lang="en-US" sz="1600" dirty="0">
                <a:solidFill>
                  <a:prstClr val="black"/>
                </a:solidFill>
                <a:latin typeface="Helvetica" panose="020B0604020202020204" pitchFamily="34" charset="0"/>
                <a:cs typeface="Helvetica" panose="020B0604020202020204" pitchFamily="34" charset="0"/>
              </a:rPr>
              <a:t>, </a:t>
            </a:r>
            <a:r>
              <a:rPr lang="en-US" sz="1600" i="1" dirty="0">
                <a:solidFill>
                  <a:prstClr val="black"/>
                </a:solidFill>
                <a:latin typeface="Helvetica" panose="020B0604020202020204" pitchFamily="34" charset="0"/>
                <a:cs typeface="Helvetica" panose="020B0604020202020204" pitchFamily="34" charset="0"/>
              </a:rPr>
              <a:t>EBIT.TA</a:t>
            </a:r>
            <a:r>
              <a:rPr lang="en-US" sz="1600" dirty="0">
                <a:solidFill>
                  <a:prstClr val="black"/>
                </a:solidFill>
                <a:latin typeface="Helvetica" panose="020B0604020202020204" pitchFamily="34" charset="0"/>
                <a:cs typeface="Helvetica" panose="020B0604020202020204" pitchFamily="34" charset="0"/>
              </a:rPr>
              <a:t>, and </a:t>
            </a:r>
            <a:r>
              <a:rPr lang="en-US" sz="1600" i="1" dirty="0">
                <a:solidFill>
                  <a:prstClr val="black"/>
                </a:solidFill>
                <a:latin typeface="Helvetica" panose="020B0604020202020204" pitchFamily="34" charset="0"/>
                <a:cs typeface="Helvetica" panose="020B0604020202020204" pitchFamily="34" charset="0"/>
              </a:rPr>
              <a:t>BVE.BVL</a:t>
            </a:r>
            <a:endParaRPr lang="en-US" sz="1600" dirty="0">
              <a:latin typeface="Helvetica" panose="020B0604020202020204" pitchFamily="34" charset="0"/>
              <a:cs typeface="Helvetica" panose="020B0604020202020204" pitchFamily="34" charset="0"/>
            </a:endParaRPr>
          </a:p>
        </p:txBody>
      </p:sp>
      <p:sp>
        <p:nvSpPr>
          <p:cNvPr id="8" name="Arrow: Left 7">
            <a:extLst>
              <a:ext uri="{FF2B5EF4-FFF2-40B4-BE49-F238E27FC236}">
                <a16:creationId xmlns:a16="http://schemas.microsoft.com/office/drawing/2014/main" id="{EFEE2168-71D5-42CC-BD99-634AA3ABFFCF}"/>
              </a:ext>
            </a:extLst>
          </p:cNvPr>
          <p:cNvSpPr/>
          <p:nvPr/>
        </p:nvSpPr>
        <p:spPr>
          <a:xfrm>
            <a:off x="3029436" y="3411594"/>
            <a:ext cx="1524354" cy="190874"/>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Arrow: Left 8">
            <a:extLst>
              <a:ext uri="{FF2B5EF4-FFF2-40B4-BE49-F238E27FC236}">
                <a16:creationId xmlns:a16="http://schemas.microsoft.com/office/drawing/2014/main" id="{6807BAFD-3DBA-41F1-9CEE-572EB15FA3CD}"/>
              </a:ext>
            </a:extLst>
          </p:cNvPr>
          <p:cNvSpPr/>
          <p:nvPr/>
        </p:nvSpPr>
        <p:spPr>
          <a:xfrm>
            <a:off x="3026340" y="3773357"/>
            <a:ext cx="1524354" cy="190874"/>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Arrow: Left 12">
            <a:extLst>
              <a:ext uri="{FF2B5EF4-FFF2-40B4-BE49-F238E27FC236}">
                <a16:creationId xmlns:a16="http://schemas.microsoft.com/office/drawing/2014/main" id="{F6F246E1-5236-437E-85B3-31D1E1F95D75}"/>
              </a:ext>
            </a:extLst>
          </p:cNvPr>
          <p:cNvSpPr/>
          <p:nvPr/>
        </p:nvSpPr>
        <p:spPr>
          <a:xfrm>
            <a:off x="3026340" y="4135120"/>
            <a:ext cx="1524354" cy="190874"/>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Arrow: Left 13">
            <a:extLst>
              <a:ext uri="{FF2B5EF4-FFF2-40B4-BE49-F238E27FC236}">
                <a16:creationId xmlns:a16="http://schemas.microsoft.com/office/drawing/2014/main" id="{AF7AF7C7-00F5-4FB6-A980-D393A16FCE0F}"/>
              </a:ext>
            </a:extLst>
          </p:cNvPr>
          <p:cNvSpPr/>
          <p:nvPr/>
        </p:nvSpPr>
        <p:spPr>
          <a:xfrm>
            <a:off x="3029435" y="3589503"/>
            <a:ext cx="1524354" cy="190874"/>
          </a:xfrm>
          <a:prstGeom prst="leftArrow">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2527987584"/>
              </p:ext>
            </p:extLst>
          </p:nvPr>
        </p:nvGraphicFramePr>
        <p:xfrm>
          <a:off x="125512" y="3203079"/>
          <a:ext cx="2121029" cy="1089282"/>
        </p:xfrm>
        <a:graphic>
          <a:graphicData uri="http://schemas.openxmlformats.org/drawingml/2006/table">
            <a:tbl>
              <a:tblPr firstRow="1" firstCol="1" bandRow="1">
                <a:tableStyleId>{5C22544A-7EE6-4342-B048-85BDC9FD1C3A}</a:tableStyleId>
              </a:tblPr>
              <a:tblGrid>
                <a:gridCol w="925875">
                  <a:extLst>
                    <a:ext uri="{9D8B030D-6E8A-4147-A177-3AD203B41FA5}">
                      <a16:colId xmlns:a16="http://schemas.microsoft.com/office/drawing/2014/main" val="2755780265"/>
                    </a:ext>
                  </a:extLst>
                </a:gridCol>
                <a:gridCol w="1195154">
                  <a:extLst>
                    <a:ext uri="{9D8B030D-6E8A-4147-A177-3AD203B41FA5}">
                      <a16:colId xmlns:a16="http://schemas.microsoft.com/office/drawing/2014/main" val="2857906482"/>
                    </a:ext>
                  </a:extLst>
                </a:gridCol>
              </a:tblGrid>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(Intercept)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-0.572208580</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993699337"/>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WC.TA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-0.006693551</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4075765644"/>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RE.TA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-0.015677213</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812087924"/>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EBIT.TA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-0.050962740</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4107141631"/>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S.TA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3840275360"/>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BVE.BVL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-0.108940580</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640345898"/>
                  </a:ext>
                </a:extLst>
              </a:tr>
            </a:tbl>
          </a:graphicData>
        </a:graphic>
      </p:graphicFrame>
    </p:spTree>
    <p:custDataLst>
      <p:tags r:id="rId1"/>
    </p:custDataLst>
    <p:extLst>
      <p:ext uri="{BB962C8B-B14F-4D97-AF65-F5344CB8AC3E}">
        <p14:creationId xmlns:p14="http://schemas.microsoft.com/office/powerpoint/2010/main" val="424257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3" grpId="0" animBg="1"/>
      <p:bldP spid="14" grpId="0" animBg="1"/>
    </p:bldLst>
  </p:timing>
  <p:extLst mod="1">
    <p:ext uri="{6950BFC3-D8DA-4A85-94F7-54DA5524770B}">
      <p188:commentRel xmlns="" xmlns:p188="http://schemas.microsoft.com/office/powerpoint/2018/8/main" r:id="rId4"/>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98524" y="972437"/>
            <a:ext cx="7810500" cy="646331"/>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Plot coefficient paths</a:t>
            </a:r>
          </a:p>
          <a:p>
            <a:pPr>
              <a:defRPr/>
            </a:pPr>
            <a:r>
              <a:rPr lang="en-US" sz="1200" i="1" dirty="0">
                <a:latin typeface="Helvetica" panose="020B0604020202020204" pitchFamily="34" charset="0"/>
                <a:ea typeface="Helvetica Neue" charset="0"/>
                <a:cs typeface="Helvetica" panose="020B0604020202020204" pitchFamily="34" charset="0"/>
              </a:rPr>
              <a:t>plot(bank5, </a:t>
            </a:r>
            <a:r>
              <a:rPr lang="en-US" sz="1200" i="1" dirty="0" err="1">
                <a:latin typeface="Helvetica" panose="020B0604020202020204" pitchFamily="34" charset="0"/>
                <a:ea typeface="Helvetica Neue" charset="0"/>
                <a:cs typeface="Helvetica" panose="020B0604020202020204" pitchFamily="34" charset="0"/>
              </a:rPr>
              <a:t>xvar</a:t>
            </a:r>
            <a:r>
              <a:rPr lang="en-US" sz="1200" i="1" dirty="0">
                <a:latin typeface="Helvetica" panose="020B0604020202020204" pitchFamily="34" charset="0"/>
                <a:ea typeface="Helvetica Neue" charset="0"/>
                <a:cs typeface="Helvetica" panose="020B0604020202020204" pitchFamily="34" charset="0"/>
              </a:rPr>
              <a:t>="lambda", </a:t>
            </a:r>
            <a:r>
              <a:rPr lang="en-US" sz="1200" i="1" dirty="0" err="1">
                <a:latin typeface="Helvetica" panose="020B0604020202020204" pitchFamily="34" charset="0"/>
                <a:ea typeface="Helvetica Neue" charset="0"/>
                <a:cs typeface="Helvetica" panose="020B0604020202020204" pitchFamily="34" charset="0"/>
              </a:rPr>
              <a:t>lwd</a:t>
            </a:r>
            <a:r>
              <a:rPr lang="en-US" sz="1200" i="1" dirty="0">
                <a:latin typeface="Helvetica" panose="020B0604020202020204" pitchFamily="34" charset="0"/>
                <a:ea typeface="Helvetica Neue" charset="0"/>
                <a:cs typeface="Helvetica" panose="020B0604020202020204" pitchFamily="34" charset="0"/>
              </a:rPr>
              <a:t>=2)</a:t>
            </a:r>
          </a:p>
          <a:p>
            <a:pPr>
              <a:defRPr/>
            </a:pPr>
            <a:r>
              <a:rPr lang="en-US" sz="1200" i="1" dirty="0" err="1">
                <a:latin typeface="Helvetica" panose="020B0604020202020204" pitchFamily="34" charset="0"/>
                <a:ea typeface="Helvetica Neue" charset="0"/>
                <a:cs typeface="Helvetica" panose="020B0604020202020204" pitchFamily="34" charset="0"/>
              </a:rPr>
              <a:t>abline</a:t>
            </a:r>
            <a:r>
              <a:rPr lang="en-US" sz="1200" i="1" dirty="0">
                <a:latin typeface="Helvetica" panose="020B0604020202020204" pitchFamily="34" charset="0"/>
                <a:ea typeface="Helvetica Neue" charset="0"/>
                <a:cs typeface="Helvetica" panose="020B0604020202020204" pitchFamily="34" charset="0"/>
              </a:rPr>
              <a:t>(v=log(bank6.cv$lambda.min), col='black', </a:t>
            </a:r>
            <a:r>
              <a:rPr lang="en-US" sz="1200" i="1" dirty="0" err="1">
                <a:latin typeface="Helvetica" panose="020B0604020202020204" pitchFamily="34" charset="0"/>
                <a:ea typeface="Helvetica Neue" charset="0"/>
                <a:cs typeface="Helvetica" panose="020B0604020202020204" pitchFamily="34" charset="0"/>
              </a:rPr>
              <a:t>lty</a:t>
            </a:r>
            <a:r>
              <a:rPr lang="en-US" sz="1200" i="1" dirty="0">
                <a:latin typeface="Helvetica" panose="020B0604020202020204" pitchFamily="34" charset="0"/>
                <a:ea typeface="Helvetica Neue" charset="0"/>
                <a:cs typeface="Helvetica" panose="020B0604020202020204" pitchFamily="34" charset="0"/>
              </a:rPr>
              <a:t>=2, </a:t>
            </a:r>
            <a:r>
              <a:rPr lang="en-US" sz="1200" i="1" dirty="0" err="1">
                <a:latin typeface="Helvetica" panose="020B0604020202020204" pitchFamily="34" charset="0"/>
                <a:ea typeface="Helvetica Neue" charset="0"/>
                <a:cs typeface="Helvetica" panose="020B0604020202020204" pitchFamily="34" charset="0"/>
              </a:rPr>
              <a:t>lwd</a:t>
            </a:r>
            <a:r>
              <a:rPr lang="en-US" sz="1200" i="1" dirty="0">
                <a:latin typeface="Helvetica" panose="020B0604020202020204" pitchFamily="34" charset="0"/>
                <a:ea typeface="Helvetica Neue" charset="0"/>
                <a:cs typeface="Helvetica" panose="020B0604020202020204" pitchFamily="34" charset="0"/>
              </a:rPr>
              <a:t>=2)</a:t>
            </a:r>
          </a:p>
        </p:txBody>
      </p:sp>
      <p:sp>
        <p:nvSpPr>
          <p:cNvPr id="12" name="Title 1"/>
          <p:cNvSpPr txBox="1">
            <a:spLocks/>
          </p:cNvSpPr>
          <p:nvPr/>
        </p:nvSpPr>
        <p:spPr>
          <a:xfrm>
            <a:off x="73991" y="242074"/>
            <a:ext cx="8382000" cy="486663"/>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Elastic Net</a:t>
            </a:r>
          </a:p>
        </p:txBody>
      </p:sp>
      <p:pic>
        <p:nvPicPr>
          <p:cNvPr id="3" name="Picture 2" descr="A screenshot of a map&#10;&#10;Description automatically generated">
            <a:extLst>
              <a:ext uri="{FF2B5EF4-FFF2-40B4-BE49-F238E27FC236}">
                <a16:creationId xmlns:a16="http://schemas.microsoft.com/office/drawing/2014/main" id="{89590453-2D88-45D2-9344-5FF13E403331}"/>
              </a:ext>
            </a:extLst>
          </p:cNvPr>
          <p:cNvPicPr>
            <a:picLocks noChangeAspect="1"/>
          </p:cNvPicPr>
          <p:nvPr/>
        </p:nvPicPr>
        <p:blipFill rotWithShape="1">
          <a:blip r:embed="rId4"/>
          <a:srcRect t="8026" r="6154" b="4429"/>
          <a:stretch/>
        </p:blipFill>
        <p:spPr>
          <a:xfrm>
            <a:off x="505549" y="1780795"/>
            <a:ext cx="4066452" cy="3119996"/>
          </a:xfrm>
          <a:prstGeom prst="rect">
            <a:avLst/>
          </a:prstGeom>
        </p:spPr>
      </p:pic>
    </p:spTree>
    <p:custDataLst>
      <p:tags r:id="rId1"/>
    </p:custDataLst>
    <p:extLst>
      <p:ext uri="{BB962C8B-B14F-4D97-AF65-F5344CB8AC3E}">
        <p14:creationId xmlns:p14="http://schemas.microsoft.com/office/powerpoint/2010/main" val="929138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txBox="1">
            <a:spLocks/>
          </p:cNvSpPr>
          <p:nvPr/>
        </p:nvSpPr>
        <p:spPr>
          <a:xfrm>
            <a:off x="92548" y="246717"/>
            <a:ext cx="8747325" cy="482022"/>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Overview of All Selection Approaches</a:t>
            </a:r>
          </a:p>
        </p:txBody>
      </p:sp>
      <p:graphicFrame>
        <p:nvGraphicFramePr>
          <p:cNvPr id="2" name="Table 1"/>
          <p:cNvGraphicFramePr>
            <a:graphicFrameLocks noGrp="1"/>
          </p:cNvGraphicFramePr>
          <p:nvPr>
            <p:extLst>
              <p:ext uri="{D42A27DB-BD31-4B8C-83A1-F6EECF244321}">
                <p14:modId xmlns:p14="http://schemas.microsoft.com/office/powerpoint/2010/main" val="3424962586"/>
              </p:ext>
            </p:extLst>
          </p:nvPr>
        </p:nvGraphicFramePr>
        <p:xfrm>
          <a:off x="204554" y="1169056"/>
          <a:ext cx="6040126" cy="1812436"/>
        </p:xfrm>
        <a:graphic>
          <a:graphicData uri="http://schemas.openxmlformats.org/drawingml/2006/table">
            <a:tbl>
              <a:tblPr firstRow="1" bandRow="1">
                <a:tableStyleId>{3B4B98B0-60AC-42C2-AFA5-B58CD77FA1E5}</a:tableStyleId>
              </a:tblPr>
              <a:tblGrid>
                <a:gridCol w="1990587">
                  <a:extLst>
                    <a:ext uri="{9D8B030D-6E8A-4147-A177-3AD203B41FA5}">
                      <a16:colId xmlns:a16="http://schemas.microsoft.com/office/drawing/2014/main" val="3817490032"/>
                    </a:ext>
                  </a:extLst>
                </a:gridCol>
                <a:gridCol w="790020">
                  <a:extLst>
                    <a:ext uri="{9D8B030D-6E8A-4147-A177-3AD203B41FA5}">
                      <a16:colId xmlns:a16="http://schemas.microsoft.com/office/drawing/2014/main" val="2066309926"/>
                    </a:ext>
                  </a:extLst>
                </a:gridCol>
                <a:gridCol w="784494">
                  <a:extLst>
                    <a:ext uri="{9D8B030D-6E8A-4147-A177-3AD203B41FA5}">
                      <a16:colId xmlns:a16="http://schemas.microsoft.com/office/drawing/2014/main" val="2957443389"/>
                    </a:ext>
                  </a:extLst>
                </a:gridCol>
                <a:gridCol w="917085">
                  <a:extLst>
                    <a:ext uri="{9D8B030D-6E8A-4147-A177-3AD203B41FA5}">
                      <a16:colId xmlns:a16="http://schemas.microsoft.com/office/drawing/2014/main" val="864419425"/>
                    </a:ext>
                  </a:extLst>
                </a:gridCol>
                <a:gridCol w="640855">
                  <a:extLst>
                    <a:ext uri="{9D8B030D-6E8A-4147-A177-3AD203B41FA5}">
                      <a16:colId xmlns:a16="http://schemas.microsoft.com/office/drawing/2014/main" val="496788705"/>
                    </a:ext>
                  </a:extLst>
                </a:gridCol>
                <a:gridCol w="917085">
                  <a:extLst>
                    <a:ext uri="{9D8B030D-6E8A-4147-A177-3AD203B41FA5}">
                      <a16:colId xmlns:a16="http://schemas.microsoft.com/office/drawing/2014/main" val="2624085548"/>
                    </a:ext>
                  </a:extLst>
                </a:gridCol>
              </a:tblGrid>
              <a:tr h="349396">
                <a:tc>
                  <a:txBody>
                    <a:bodyPr/>
                    <a:lstStyle/>
                    <a:p>
                      <a:endParaRPr lang="en-US" sz="1200" dirty="0">
                        <a:solidFill>
                          <a:schemeClr val="bg1"/>
                        </a:solidFill>
                        <a:latin typeface="Helvetica" panose="020B0604020202020204" pitchFamily="34" charset="0"/>
                        <a:cs typeface="Helvetica" panose="020B0604020202020204" pitchFamily="34" charset="0"/>
                      </a:endParaRPr>
                    </a:p>
                  </a:txBody>
                  <a:tcPr>
                    <a:lnL w="12700" cap="flat" cmpd="sng" algn="ctr">
                      <a:solidFill>
                        <a:srgbClr val="3F6CAF"/>
                      </a:solidFill>
                      <a:prstDash val="solid"/>
                      <a:round/>
                      <a:headEnd type="none" w="med" len="med"/>
                      <a:tailEnd type="none" w="med" len="med"/>
                    </a:lnL>
                    <a:lnT w="12700" cap="flat" cmpd="sng" algn="ctr">
                      <a:solidFill>
                        <a:srgbClr val="3F6CAF"/>
                      </a:solidFill>
                      <a:prstDash val="solid"/>
                      <a:round/>
                      <a:headEnd type="none" w="med" len="med"/>
                      <a:tailEnd type="none" w="med" len="med"/>
                    </a:lnT>
                    <a:solidFill>
                      <a:srgbClr val="002060"/>
                    </a:solidFill>
                  </a:tcPr>
                </a:tc>
                <a:tc>
                  <a:txBody>
                    <a:bodyPr/>
                    <a:lstStyle/>
                    <a:p>
                      <a:pPr algn="ctr"/>
                      <a:r>
                        <a:rPr lang="en-US" sz="1200" dirty="0">
                          <a:solidFill>
                            <a:schemeClr val="bg1"/>
                          </a:solidFill>
                          <a:latin typeface="Helvetica" panose="020B0604020202020204" pitchFamily="34" charset="0"/>
                          <a:cs typeface="Helvetica" panose="020B0604020202020204" pitchFamily="34" charset="0"/>
                        </a:rPr>
                        <a:t>WC.TA</a:t>
                      </a:r>
                    </a:p>
                  </a:txBody>
                  <a:tcPr anchor="ctr" anchorCtr="1">
                    <a:lnT w="12700" cap="flat" cmpd="sng" algn="ctr">
                      <a:solidFill>
                        <a:srgbClr val="3F6CAF"/>
                      </a:solidFill>
                      <a:prstDash val="solid"/>
                      <a:round/>
                      <a:headEnd type="none" w="med" len="med"/>
                      <a:tailEnd type="none" w="med" len="med"/>
                    </a:lnT>
                    <a:solidFill>
                      <a:srgbClr val="002060"/>
                    </a:solidFill>
                  </a:tcPr>
                </a:tc>
                <a:tc>
                  <a:txBody>
                    <a:bodyPr/>
                    <a:lstStyle/>
                    <a:p>
                      <a:pPr algn="ctr"/>
                      <a:r>
                        <a:rPr lang="en-US" sz="1200" dirty="0">
                          <a:solidFill>
                            <a:schemeClr val="bg1"/>
                          </a:solidFill>
                          <a:latin typeface="Helvetica" panose="020B0604020202020204" pitchFamily="34" charset="0"/>
                          <a:cs typeface="Helvetica" panose="020B0604020202020204" pitchFamily="34" charset="0"/>
                        </a:rPr>
                        <a:t>RE.TA</a:t>
                      </a:r>
                    </a:p>
                  </a:txBody>
                  <a:tcPr anchor="ctr" anchorCtr="1">
                    <a:lnT w="12700" cap="flat" cmpd="sng" algn="ctr">
                      <a:solidFill>
                        <a:srgbClr val="3F6CAF"/>
                      </a:solidFill>
                      <a:prstDash val="solid"/>
                      <a:round/>
                      <a:headEnd type="none" w="med" len="med"/>
                      <a:tailEnd type="none" w="med" len="med"/>
                    </a:lnT>
                    <a:solidFill>
                      <a:srgbClr val="002060"/>
                    </a:solidFill>
                  </a:tcPr>
                </a:tc>
                <a:tc>
                  <a:txBody>
                    <a:bodyPr/>
                    <a:lstStyle/>
                    <a:p>
                      <a:pPr algn="ctr"/>
                      <a:r>
                        <a:rPr lang="en-US" sz="1200" dirty="0">
                          <a:solidFill>
                            <a:schemeClr val="bg1"/>
                          </a:solidFill>
                          <a:latin typeface="Helvetica" panose="020B0604020202020204" pitchFamily="34" charset="0"/>
                          <a:cs typeface="Helvetica" panose="020B0604020202020204" pitchFamily="34" charset="0"/>
                        </a:rPr>
                        <a:t>EBIT.TA</a:t>
                      </a:r>
                    </a:p>
                  </a:txBody>
                  <a:tcPr anchor="ctr" anchorCtr="1">
                    <a:lnT w="12700" cap="flat" cmpd="sng" algn="ctr">
                      <a:solidFill>
                        <a:srgbClr val="3F6CAF"/>
                      </a:solidFill>
                      <a:prstDash val="solid"/>
                      <a:round/>
                      <a:headEnd type="none" w="med" len="med"/>
                      <a:tailEnd type="none" w="med" len="med"/>
                    </a:lnT>
                    <a:solidFill>
                      <a:srgbClr val="002060"/>
                    </a:solidFill>
                  </a:tcPr>
                </a:tc>
                <a:tc>
                  <a:txBody>
                    <a:bodyPr/>
                    <a:lstStyle/>
                    <a:p>
                      <a:pPr algn="ctr"/>
                      <a:r>
                        <a:rPr lang="en-US" sz="1200" dirty="0">
                          <a:solidFill>
                            <a:schemeClr val="bg1"/>
                          </a:solidFill>
                          <a:latin typeface="Helvetica" panose="020B0604020202020204" pitchFamily="34" charset="0"/>
                          <a:cs typeface="Helvetica" panose="020B0604020202020204" pitchFamily="34" charset="0"/>
                        </a:rPr>
                        <a:t>S.TA</a:t>
                      </a:r>
                    </a:p>
                  </a:txBody>
                  <a:tcPr anchor="ctr" anchorCtr="1">
                    <a:lnT w="12700" cap="flat" cmpd="sng" algn="ctr">
                      <a:solidFill>
                        <a:srgbClr val="3F6CAF"/>
                      </a:solidFill>
                      <a:prstDash val="solid"/>
                      <a:round/>
                      <a:headEnd type="none" w="med" len="med"/>
                      <a:tailEnd type="none" w="med" len="med"/>
                    </a:lnT>
                    <a:solidFill>
                      <a:srgbClr val="002060"/>
                    </a:solidFill>
                  </a:tcPr>
                </a:tc>
                <a:tc>
                  <a:txBody>
                    <a:bodyPr/>
                    <a:lstStyle/>
                    <a:p>
                      <a:pPr algn="ctr"/>
                      <a:r>
                        <a:rPr lang="en-US" sz="1200" dirty="0">
                          <a:solidFill>
                            <a:schemeClr val="bg1"/>
                          </a:solidFill>
                          <a:latin typeface="Helvetica" panose="020B0604020202020204" pitchFamily="34" charset="0"/>
                          <a:cs typeface="Helvetica" panose="020B0604020202020204" pitchFamily="34" charset="0"/>
                        </a:rPr>
                        <a:t>BVE.BVL</a:t>
                      </a:r>
                    </a:p>
                  </a:txBody>
                  <a:tcPr anchor="ctr" anchorCtr="1">
                    <a:lnR w="12700" cap="flat" cmpd="sng" algn="ctr">
                      <a:solidFill>
                        <a:srgbClr val="3F6CAF"/>
                      </a:solidFill>
                      <a:prstDash val="solid"/>
                      <a:round/>
                      <a:headEnd type="none" w="med" len="med"/>
                      <a:tailEnd type="none" w="med" len="med"/>
                    </a:lnR>
                    <a:lnT w="12700" cap="flat" cmpd="sng" algn="ctr">
                      <a:solidFill>
                        <a:srgbClr val="3F6CAF"/>
                      </a:solidFill>
                      <a:prstDash val="solid"/>
                      <a:round/>
                      <a:headEnd type="none" w="med" len="med"/>
                      <a:tailEnd type="none" w="med" len="med"/>
                    </a:lnT>
                    <a:solidFill>
                      <a:srgbClr val="002060"/>
                    </a:solidFill>
                  </a:tcPr>
                </a:tc>
                <a:extLst>
                  <a:ext uri="{0D108BD9-81ED-4DB2-BD59-A6C34878D82A}">
                    <a16:rowId xmlns:a16="http://schemas.microsoft.com/office/drawing/2014/main" val="412186018"/>
                  </a:ext>
                </a:extLst>
              </a:tr>
              <a:tr h="349396">
                <a:tc>
                  <a:txBody>
                    <a:bodyPr/>
                    <a:lstStyle/>
                    <a:p>
                      <a:r>
                        <a:rPr lang="en-US" sz="1200" b="1" dirty="0">
                          <a:solidFill>
                            <a:schemeClr val="bg1"/>
                          </a:solidFill>
                          <a:latin typeface="Helvetica" panose="020B0604020202020204" pitchFamily="34" charset="0"/>
                          <a:cs typeface="Helvetica" panose="020B0604020202020204" pitchFamily="34" charset="0"/>
                        </a:rPr>
                        <a:t>Best subset AIC</a:t>
                      </a:r>
                    </a:p>
                  </a:txBody>
                  <a:tcPr marT="0" marB="0" anchor="ctr">
                    <a:lnL w="12700" cap="flat" cmpd="sng" algn="ctr">
                      <a:solidFill>
                        <a:srgbClr val="3F6CAF"/>
                      </a:solidFill>
                      <a:prstDash val="solid"/>
                      <a:round/>
                      <a:headEnd type="none" w="med" len="med"/>
                      <a:tailEnd type="none" w="med" len="med"/>
                    </a:lnL>
                    <a:solidFill>
                      <a:srgbClr val="00206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R w="12700" cap="flat" cmpd="sng" algn="ctr">
                      <a:solidFill>
                        <a:srgbClr val="3F6CAF"/>
                      </a:solidFill>
                      <a:prstDash val="solid"/>
                      <a:round/>
                      <a:headEnd type="none" w="med" len="med"/>
                      <a:tailEnd type="none" w="med" len="med"/>
                    </a:lnR>
                    <a:solidFill>
                      <a:schemeClr val="bg1"/>
                    </a:solidFill>
                  </a:tcPr>
                </a:tc>
                <a:extLst>
                  <a:ext uri="{0D108BD9-81ED-4DB2-BD59-A6C34878D82A}">
                    <a16:rowId xmlns:a16="http://schemas.microsoft.com/office/drawing/2014/main" val="1373558298"/>
                  </a:ext>
                </a:extLst>
              </a:tr>
              <a:tr h="349396">
                <a:tc>
                  <a:txBody>
                    <a:bodyPr/>
                    <a:lstStyle/>
                    <a:p>
                      <a:r>
                        <a:rPr lang="en-US" sz="1200" b="1" dirty="0">
                          <a:solidFill>
                            <a:schemeClr val="bg1"/>
                          </a:solidFill>
                          <a:latin typeface="Helvetica" panose="020B0604020202020204" pitchFamily="34" charset="0"/>
                          <a:cs typeface="Helvetica" panose="020B0604020202020204" pitchFamily="34" charset="0"/>
                        </a:rPr>
                        <a:t>Stepwise</a:t>
                      </a:r>
                      <a:r>
                        <a:rPr lang="en-US" sz="1200" b="1" baseline="0" dirty="0">
                          <a:solidFill>
                            <a:schemeClr val="bg1"/>
                          </a:solidFill>
                          <a:latin typeface="Helvetica" panose="020B0604020202020204" pitchFamily="34" charset="0"/>
                          <a:cs typeface="Helvetica" panose="020B0604020202020204" pitchFamily="34" charset="0"/>
                        </a:rPr>
                        <a:t> &amp; AIC</a:t>
                      </a:r>
                      <a:endParaRPr lang="en-US" sz="1200" b="1" dirty="0">
                        <a:solidFill>
                          <a:schemeClr val="bg1"/>
                        </a:solidFill>
                        <a:latin typeface="Helvetica" panose="020B0604020202020204" pitchFamily="34" charset="0"/>
                        <a:cs typeface="Helvetica" panose="020B0604020202020204" pitchFamily="34" charset="0"/>
                      </a:endParaRPr>
                    </a:p>
                  </a:txBody>
                  <a:tcPr marT="0" marB="0" anchor="ctr">
                    <a:lnL w="12700" cap="flat" cmpd="sng" algn="ctr">
                      <a:solidFill>
                        <a:srgbClr val="3F6CAF"/>
                      </a:solidFill>
                      <a:prstDash val="solid"/>
                      <a:round/>
                      <a:headEnd type="none" w="med" len="med"/>
                      <a:tailEnd type="none" w="med" len="med"/>
                    </a:lnL>
                    <a:solidFill>
                      <a:srgbClr val="00206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R w="12700" cap="flat" cmpd="sng" algn="ctr">
                      <a:solidFill>
                        <a:srgbClr val="3F6CAF"/>
                      </a:solidFill>
                      <a:prstDash val="solid"/>
                      <a:round/>
                      <a:headEnd type="none" w="med" len="med"/>
                      <a:tailEnd type="none" w="med" len="med"/>
                    </a:lnR>
                    <a:solidFill>
                      <a:schemeClr val="bg1"/>
                    </a:solidFill>
                  </a:tcPr>
                </a:tc>
                <a:extLst>
                  <a:ext uri="{0D108BD9-81ED-4DB2-BD59-A6C34878D82A}">
                    <a16:rowId xmlns:a16="http://schemas.microsoft.com/office/drawing/2014/main" val="4250406194"/>
                  </a:ext>
                </a:extLst>
              </a:tr>
              <a:tr h="34939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Helvetica" panose="020B0604020202020204" pitchFamily="34" charset="0"/>
                          <a:cs typeface="Helvetica" panose="020B0604020202020204" pitchFamily="34" charset="0"/>
                        </a:rPr>
                        <a:t>Lasso &amp;</a:t>
                      </a:r>
                      <a:r>
                        <a:rPr lang="en-US" sz="1200" b="1" baseline="0" dirty="0">
                          <a:solidFill>
                            <a:schemeClr val="bg1"/>
                          </a:solidFill>
                          <a:latin typeface="Helvetica" panose="020B0604020202020204" pitchFamily="34" charset="0"/>
                          <a:cs typeface="Helvetica" panose="020B0604020202020204" pitchFamily="34" charset="0"/>
                        </a:rPr>
                        <a:t> 10-fold CV</a:t>
                      </a:r>
                      <a:endParaRPr lang="en-US" sz="1200" b="1" dirty="0">
                        <a:solidFill>
                          <a:schemeClr val="bg1"/>
                        </a:solidFill>
                        <a:latin typeface="Helvetica" panose="020B0604020202020204" pitchFamily="34" charset="0"/>
                        <a:cs typeface="Helvetica" panose="020B0604020202020204" pitchFamily="34" charset="0"/>
                      </a:endParaRPr>
                    </a:p>
                  </a:txBody>
                  <a:tcPr marT="0" marB="0" anchor="ctr">
                    <a:lnL w="12700" cap="flat" cmpd="sng" algn="ctr">
                      <a:solidFill>
                        <a:srgbClr val="3F6CAF"/>
                      </a:solidFill>
                      <a:prstDash val="solid"/>
                      <a:round/>
                      <a:headEnd type="none" w="med" len="med"/>
                      <a:tailEnd type="none" w="med" len="med"/>
                    </a:lnL>
                    <a:solidFill>
                      <a:srgbClr val="00206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a:txBody>
                  <a:tcPr marT="0" marB="0" anchor="ctr" anchorCtr="1">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R w="12700" cap="flat" cmpd="sng" algn="ctr">
                      <a:solidFill>
                        <a:srgbClr val="3F6CAF"/>
                      </a:solidFill>
                      <a:prstDash val="solid"/>
                      <a:round/>
                      <a:headEnd type="none" w="med" len="med"/>
                      <a:tailEnd type="none" w="med" len="med"/>
                    </a:lnR>
                    <a:solidFill>
                      <a:schemeClr val="bg1"/>
                    </a:solidFill>
                  </a:tcPr>
                </a:tc>
                <a:extLst>
                  <a:ext uri="{0D108BD9-81ED-4DB2-BD59-A6C34878D82A}">
                    <a16:rowId xmlns:a16="http://schemas.microsoft.com/office/drawing/2014/main" val="2659869213"/>
                  </a:ext>
                </a:extLst>
              </a:tr>
              <a:tr h="34939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Helvetica" panose="020B0604020202020204" pitchFamily="34" charset="0"/>
                          <a:cs typeface="Helvetica" panose="020B0604020202020204" pitchFamily="34" charset="0"/>
                        </a:rPr>
                        <a:t>Elastic Net &amp; </a:t>
                      </a:r>
                      <a:r>
                        <a:rPr lang="en-US" sz="1200" b="1" baseline="0" dirty="0">
                          <a:solidFill>
                            <a:schemeClr val="bg1"/>
                          </a:solidFill>
                          <a:latin typeface="Helvetica" panose="020B0604020202020204" pitchFamily="34" charset="0"/>
                          <a:cs typeface="Helvetica" panose="020B0604020202020204" pitchFamily="34" charset="0"/>
                        </a:rPr>
                        <a:t>10-fold CV</a:t>
                      </a:r>
                      <a:endParaRPr lang="en-US" sz="1200" b="1" dirty="0">
                        <a:solidFill>
                          <a:schemeClr val="bg1"/>
                        </a:solidFill>
                        <a:latin typeface="Helvetica" panose="020B0604020202020204" pitchFamily="34" charset="0"/>
                        <a:cs typeface="Helvetica" panose="020B0604020202020204" pitchFamily="34" charset="0"/>
                      </a:endParaRPr>
                    </a:p>
                  </a:txBody>
                  <a:tcPr marT="0" marB="0" anchor="ctr">
                    <a:lnL w="12700" cap="flat" cmpd="sng" algn="ctr">
                      <a:solidFill>
                        <a:srgbClr val="3F6CAF"/>
                      </a:solidFill>
                      <a:prstDash val="solid"/>
                      <a:round/>
                      <a:headEnd type="none" w="med" len="med"/>
                      <a:tailEnd type="none" w="med" len="med"/>
                    </a:lnL>
                    <a:lnB w="12700" cap="flat" cmpd="sng" algn="ctr">
                      <a:solidFill>
                        <a:srgbClr val="3F6CAF"/>
                      </a:solidFill>
                      <a:prstDash val="solid"/>
                      <a:round/>
                      <a:headEnd type="none" w="med" len="med"/>
                      <a:tailEnd type="none" w="med" len="med"/>
                    </a:lnB>
                    <a:solidFill>
                      <a:srgbClr val="00206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B w="12700" cap="flat" cmpd="sng" algn="ctr">
                      <a:solidFill>
                        <a:srgbClr val="3F6CAF"/>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B w="12700" cap="flat" cmpd="sng" algn="ctr">
                      <a:solidFill>
                        <a:srgbClr val="3F6CAF"/>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B w="12700" cap="flat" cmpd="sng" algn="ctr">
                      <a:solidFill>
                        <a:srgbClr val="3F6CAF"/>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a:txBody>
                  <a:tcPr marT="0" marB="0" anchor="ctr" anchorCtr="1">
                    <a:lnB w="12700" cap="flat" cmpd="sng" algn="ctr">
                      <a:solidFill>
                        <a:srgbClr val="3F6CAF"/>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a:t>
                      </a:r>
                    </a:p>
                  </a:txBody>
                  <a:tcPr marT="0" marB="0" anchor="ctr" anchorCtr="1">
                    <a:lnR w="12700" cap="flat" cmpd="sng" algn="ctr">
                      <a:solidFill>
                        <a:srgbClr val="3F6CAF"/>
                      </a:solidFill>
                      <a:prstDash val="solid"/>
                      <a:round/>
                      <a:headEnd type="none" w="med" len="med"/>
                      <a:tailEnd type="none" w="med" len="med"/>
                    </a:lnR>
                    <a:lnB w="12700" cap="flat" cmpd="sng" algn="ctr">
                      <a:solidFill>
                        <a:srgbClr val="3F6CAF"/>
                      </a:solidFill>
                      <a:prstDash val="solid"/>
                      <a:round/>
                      <a:headEnd type="none" w="med" len="med"/>
                      <a:tailEnd type="none" w="med" len="med"/>
                    </a:lnB>
                    <a:solidFill>
                      <a:schemeClr val="bg1"/>
                    </a:solidFill>
                  </a:tcPr>
                </a:tc>
                <a:extLst>
                  <a:ext uri="{0D108BD9-81ED-4DB2-BD59-A6C34878D82A}">
                    <a16:rowId xmlns:a16="http://schemas.microsoft.com/office/drawing/2014/main" val="3807568743"/>
                  </a:ext>
                </a:extLst>
              </a:tr>
            </a:tbl>
          </a:graphicData>
        </a:graphic>
      </p:graphicFrame>
    </p:spTree>
    <p:custDataLst>
      <p:tags r:id="rId1"/>
    </p:custDataLst>
    <p:extLst>
      <p:ext uri="{BB962C8B-B14F-4D97-AF65-F5344CB8AC3E}">
        <p14:creationId xmlns:p14="http://schemas.microsoft.com/office/powerpoint/2010/main" val="2959336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05196" y="147217"/>
            <a:ext cx="4727575" cy="795337"/>
          </a:xfrm>
        </p:spPr>
        <p:txBody>
          <a:bodyPr>
            <a:normAutofit/>
          </a:bodyPr>
          <a:lstStyle/>
          <a:p>
            <a:pPr>
              <a:spcBef>
                <a:spcPct val="0"/>
              </a:spcBef>
            </a:pPr>
            <a:r>
              <a:rPr lang="en-US" sz="3600" dirty="0">
                <a:latin typeface="Vitesse" charset="0"/>
                <a:ea typeface="Vitesse" charset="0"/>
                <a:cs typeface="Vitesse" charset="0"/>
              </a:rPr>
              <a:t>Summary</a:t>
            </a:r>
          </a:p>
        </p:txBody>
      </p:sp>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l="7759" t="6607" r="13881" b="7744"/>
          <a:stretch/>
        </p:blipFill>
        <p:spPr>
          <a:xfrm>
            <a:off x="3236327" y="1171154"/>
            <a:ext cx="2573755" cy="2813176"/>
          </a:xfrm>
          <a:prstGeom prst="rect">
            <a:avLst/>
          </a:prstGeom>
        </p:spPr>
      </p:pic>
    </p:spTree>
    <p:custDataLst>
      <p:tags r:id="rId1"/>
    </p:custDataLst>
    <p:extLst>
      <p:ext uri="{BB962C8B-B14F-4D97-AF65-F5344CB8AC3E}">
        <p14:creationId xmlns:p14="http://schemas.microsoft.com/office/powerpoint/2010/main" val="3901965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DESIGN_ID_THEMEGTX" val="Sa2Y3Qu6"/>
  <p:tag name="ARTICULATE_DESIGN_ID_1_OFFICE THEME" val="S5bGI73Y"/>
  <p:tag name="ARTICULATE_DESIGN_ID_FULL PAGE LAYOUT" val="UL6H6Wns"/>
  <p:tag name="ARTICULATE_DESIGN_ID_HALF PAGE SLASH" val="bH3iUp38"/>
  <p:tag name="ARTICULATE_DESIGN_ID_3_OFFICE THEME" val="lvH21H0l"/>
  <p:tag name="ARTICULATE_DESIGN_ID_2_OFFICE THEME" val="AUixAbJX"/>
  <p:tag name="ARTICULATE_DESIGN_ID_4_FULL PAGE LAYOUT" val="QcBQZT09"/>
  <p:tag name="ARTICULATE_DESIGN_ID_1_HALF PAGE SLASH" val="1BroiZSv"/>
  <p:tag name="ARTICULATE_DESIGN_ID_2_HALF PAGE SLASH" val="rgqr1tPp"/>
  <p:tag name="ARTICULATE_DESIGN_ID_1_FULL PAGE LAYOUT" val="GiRUNXqy"/>
  <p:tag name="ARTICULATE_SLIDE_COUNT" val="22"/>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2.xml><?xml version="1.0" encoding="utf-8"?>
<a:theme xmlns:a="http://schemas.openxmlformats.org/drawingml/2006/main" name="2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3.xml><?xml version="1.0" encoding="utf-8"?>
<a:theme xmlns:a="http://schemas.openxmlformats.org/drawingml/2006/main" name="1_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16D43FDACDF02458C96071D7628C880" ma:contentTypeVersion="4" ma:contentTypeDescription="Create a new document." ma:contentTypeScope="" ma:versionID="93db545676783a71a92c456b471b0a8b">
  <xsd:schema xmlns:xsd="http://www.w3.org/2001/XMLSchema" xmlns:xs="http://www.w3.org/2001/XMLSchema" xmlns:p="http://schemas.microsoft.com/office/2006/metadata/properties" xmlns:ns1="http://schemas.microsoft.com/sharepoint/v3" xmlns:ns2="b057fda7-913b-4ab6-8820-932873bcd66c" targetNamespace="http://schemas.microsoft.com/office/2006/metadata/properties" ma:root="true" ma:fieldsID="1e1586ca1b53aa448b4e9fddfe24baf2" ns1:_="" ns2:_="">
    <xsd:import namespace="http://schemas.microsoft.com/sharepoint/v3"/>
    <xsd:import namespace="b057fda7-913b-4ab6-8820-932873bcd66c"/>
    <xsd:element name="properties">
      <xsd:complexType>
        <xsd:sequence>
          <xsd:element name="documentManagement">
            <xsd:complexType>
              <xsd:all>
                <xsd:element ref="ns1:PublishingStartDate" minOccurs="0"/>
                <xsd:element ref="ns1:PublishingExpirationDate" minOccurs="0"/>
                <xsd:element ref="ns2:SharedWithUsers" minOccurs="0"/>
                <xsd:element ref="ns2:SharingHintHash"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057fda7-913b-4ab6-8820-932873bcd66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11" nillable="true" ma:displayName="Sharing Hint Hash" ma:internalName="SharingHintHash" ma:readOnly="true">
      <xsd:simpleType>
        <xsd:restriction base="dms:Text"/>
      </xsd:simple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8EF043-B0E6-49AE-B312-D395614284AA}">
  <ds:schemaRefs>
    <ds:schemaRef ds:uri="http://schemas.microsoft.com/sharepoint/v3/contenttype/forms"/>
  </ds:schemaRefs>
</ds:datastoreItem>
</file>

<file path=customXml/itemProps2.xml><?xml version="1.0" encoding="utf-8"?>
<ds:datastoreItem xmlns:ds="http://schemas.openxmlformats.org/officeDocument/2006/customXml" ds:itemID="{A0B8D62D-BE99-40AF-BF97-BFAE812B12CE}">
  <ds:schemaRefs>
    <ds:schemaRef ds:uri="http://www.w3.org/XML/1998/namespace"/>
    <ds:schemaRef ds:uri="http://schemas.microsoft.com/office/2006/documentManagement/types"/>
    <ds:schemaRef ds:uri="http://schemas.microsoft.com/office/2006/metadata/properties"/>
    <ds:schemaRef ds:uri="http://schemas.microsoft.com/office/infopath/2007/PartnerControls"/>
    <ds:schemaRef ds:uri="http://purl.org/dc/terms/"/>
    <ds:schemaRef ds:uri="http://purl.org/dc/elements/1.1/"/>
    <ds:schemaRef ds:uri="http://purl.org/dc/dcmitype/"/>
    <ds:schemaRef ds:uri="b057fda7-913b-4ab6-8820-932873bcd66c"/>
    <ds:schemaRef ds:uri="http://schemas.openxmlformats.org/package/2006/metadata/core-properties"/>
    <ds:schemaRef ds:uri="http://schemas.microsoft.com/sharepoint/v3"/>
  </ds:schemaRefs>
</ds:datastoreItem>
</file>

<file path=customXml/itemProps3.xml><?xml version="1.0" encoding="utf-8"?>
<ds:datastoreItem xmlns:ds="http://schemas.openxmlformats.org/officeDocument/2006/customXml" ds:itemID="{E066AAC9-B2D0-46BD-87E7-92BBFA7E10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057fda7-913b-4ab6-8820-932873bcd6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18555</TotalTime>
  <Words>1792</Words>
  <Application>Microsoft Office PowerPoint</Application>
  <PresentationFormat>On-screen Show (16:9)</PresentationFormat>
  <Paragraphs>275</Paragraphs>
  <Slides>21</Slides>
  <Notes>6</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21</vt:i4>
      </vt:variant>
    </vt:vector>
  </HeadingPairs>
  <TitlesOfParts>
    <vt:vector size="33" baseType="lpstr">
      <vt:lpstr>Arial</vt:lpstr>
      <vt:lpstr>Calibri</vt:lpstr>
      <vt:lpstr>Helvetica</vt:lpstr>
      <vt:lpstr>Helvetica Neue</vt:lpstr>
      <vt:lpstr>Vitesse</vt:lpstr>
      <vt:lpstr>Vitesse Bold</vt:lpstr>
      <vt:lpstr>Vitesse Book</vt:lpstr>
      <vt:lpstr>Vitesse Medium</vt:lpstr>
      <vt:lpstr>Wingdings</vt:lpstr>
      <vt:lpstr>1_Half Page Slash</vt:lpstr>
      <vt:lpstr>2_Half Page Slash</vt:lpstr>
      <vt:lpstr>1_Full Page Layout</vt:lpstr>
      <vt:lpstr>PowerPoint Presentation</vt:lpstr>
      <vt:lpstr>PowerPoint Presentation</vt:lpstr>
      <vt:lpstr>Ranking States by SAT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Predicting Bankruptcy</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Serban, Nicoleta</dc:creator>
  <cp:lastModifiedBy>Nicoleta Serban</cp:lastModifiedBy>
  <cp:revision>836</cp:revision>
  <dcterms:modified xsi:type="dcterms:W3CDTF">2020-05-16T19:34:06Z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0x010100E16D43FDACDF02458C96071D7628C880</vt:lpwstr>
  </property>
  <property fmtid="{D5CDD505-2E9C-101B-9397-08002B2CF9AE}" pid="3" name="ArticulateGUID">
    <vt:lpwstr>66C49D55-0D79-46D1-9B92-BFDD642AB4EE</vt:lpwstr>
  </property>
  <property fmtid="{D5CDD505-2E9C-101B-9397-08002B2CF9AE}" pid="4" name="ArticulatePath">
    <vt:lpwstr>08-ModSel_Concept-L8_revised v051320</vt:lpwstr>
  </property>
</Properties>
</file>