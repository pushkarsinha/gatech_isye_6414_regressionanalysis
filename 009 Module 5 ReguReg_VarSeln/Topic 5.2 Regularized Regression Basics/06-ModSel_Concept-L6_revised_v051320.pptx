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1.xml" ContentType="application/vnd.openxmlformats-officedocument.presentationml.notesSlide+xml"/>
  <Override PartName="/ppt/tags/tag22.xml" ContentType="application/vnd.openxmlformats-officedocument.presentationml.tags+xml"/>
  <Override PartName="/ppt/notesSlides/notesSlide2.xml" ContentType="application/vnd.openxmlformats-officedocument.presentationml.notesSlide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tags/tag25.xml" ContentType="application/vnd.openxmlformats-officedocument.presentationml.tags+xml"/>
  <Override PartName="/ppt/notesSlides/notesSlide5.xml" ContentType="application/vnd.openxmlformats-officedocument.presentationml.notesSlide+xml"/>
  <Override PartName="/ppt/tags/tag26.xml" ContentType="application/vnd.openxmlformats-officedocument.presentationml.tags+xml"/>
  <Override PartName="/ppt/notesSlides/notesSlide6.xml" ContentType="application/vnd.openxmlformats-officedocument.presentationml.notesSlide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EC_8A05578F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  <p:sldMasterId id="2147483710" r:id="rId5"/>
    <p:sldMasterId id="2147483711" r:id="rId6"/>
  </p:sldMasterIdLst>
  <p:notesMasterIdLst>
    <p:notesMasterId r:id="rId16"/>
  </p:notesMasterIdLst>
  <p:handoutMasterIdLst>
    <p:handoutMasterId r:id="rId17"/>
  </p:handoutMasterIdLst>
  <p:sldIdLst>
    <p:sldId id="494" r:id="rId7"/>
    <p:sldId id="498" r:id="rId8"/>
    <p:sldId id="487" r:id="rId9"/>
    <p:sldId id="488" r:id="rId10"/>
    <p:sldId id="489" r:id="rId11"/>
    <p:sldId id="491" r:id="rId12"/>
    <p:sldId id="492" r:id="rId13"/>
    <p:sldId id="493" r:id="rId14"/>
    <p:sldId id="344" r:id="rId15"/>
  </p:sldIdLst>
  <p:sldSz cx="9144000" cy="5143500" type="screen16x9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94"/>
            <p14:sldId id="498"/>
            <p14:sldId id="487"/>
            <p14:sldId id="488"/>
            <p14:sldId id="489"/>
            <p14:sldId id="491"/>
            <p14:sldId id="492"/>
            <p14:sldId id="493"/>
            <p14:sldId id="3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20" userDrawn="1">
          <p15:clr>
            <a:srgbClr val="A4A3A4"/>
          </p15:clr>
        </p15:guide>
        <p15:guide id="4" pos="360" userDrawn="1">
          <p15:clr>
            <a:srgbClr val="A4A3A4"/>
          </p15:clr>
        </p15:guide>
        <p15:guide id="5" pos="3456" userDrawn="1">
          <p15:clr>
            <a:srgbClr val="A4A3A4"/>
          </p15:clr>
        </p15:guide>
        <p15:guide id="6" pos="5664" userDrawn="1">
          <p15:clr>
            <a:srgbClr val="A4A3A4"/>
          </p15:clr>
        </p15:guide>
        <p15:guide id="7" orient="horz" pos="396" userDrawn="1">
          <p15:clr>
            <a:srgbClr val="A4A3A4"/>
          </p15:clr>
        </p15:guide>
        <p15:guide id="8" orient="horz" pos="732" userDrawn="1">
          <p15:clr>
            <a:srgbClr val="A4A3A4"/>
          </p15:clr>
        </p15:guide>
        <p15:guide id="9" orient="horz" pos="31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E6B6AFC-8BFD-806F-D3AF-75EF9FEA13C7}" name="Richard Levine" initials="RL" userId="Richard Levin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B211"/>
    <a:srgbClr val="3F6CAF"/>
    <a:srgbClr val="8E4221"/>
    <a:srgbClr val="1F497D"/>
    <a:srgbClr val="984807"/>
    <a:srgbClr val="993200"/>
    <a:srgbClr val="F8FFF1"/>
    <a:srgbClr val="000000"/>
    <a:srgbClr val="F7FFEE"/>
    <a:srgbClr val="F5FC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03" autoAdjust="0"/>
    <p:restoredTop sz="89904" autoAdjust="0"/>
  </p:normalViewPr>
  <p:slideViewPr>
    <p:cSldViewPr snapToGrid="0">
      <p:cViewPr varScale="1">
        <p:scale>
          <a:sx n="96" d="100"/>
          <a:sy n="96" d="100"/>
        </p:scale>
        <p:origin x="1243" y="58"/>
      </p:cViewPr>
      <p:guideLst>
        <p:guide orient="horz" pos="1620"/>
        <p:guide pos="2880"/>
        <p:guide pos="120"/>
        <p:guide pos="360"/>
        <p:guide pos="3456"/>
        <p:guide pos="5664"/>
        <p:guide orient="horz" pos="396"/>
        <p:guide orient="horz" pos="732"/>
        <p:guide orient="horz" pos="31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comments/modernComment_1EC_8A0557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B545FC9-65E6-4AB1-BF7A-07DA759BF027}" authorId="{0E6B6AFC-8BFD-806F-D3AF-75EF9FEA13C7}" created="2020-04-26T05:41:22.7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15605903" sldId="492"/>
      <ac:spMk id="2" creationId="{00000000-0000-0000-0000-000000000000}"/>
    </ac:deMkLst>
    <p188:txBody>
      <a:bodyPr/>
      <a:lstStyle/>
      <a:p>
        <a:r>
          <a:rPr lang="en-US"/>
          <a:t>I think this slide should be talking about minimizing Q (the penlized sum of squared errors), not maximizing it. I've changed this from the original slide.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11/17/2020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3014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812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83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7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40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E0AC54-004F-48AD-88CD-0E7DEA96DBE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58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6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854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4171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2002E78-3C88-9A40-B579-FA4DB2691E4F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636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33347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4F0668-60AC-E24C-8E50-B74DE0FA4F02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l" defTabSz="457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1922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3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8490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409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123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5218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809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7964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0542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7984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349" y="274679"/>
            <a:ext cx="6182318" cy="993775"/>
          </a:xfrm>
          <a:prstGeom prst="rect">
            <a:avLst/>
          </a:prstGeom>
        </p:spPr>
        <p:txBody>
          <a:bodyPr/>
          <a:lstStyle>
            <a:lvl1pPr algn="l">
              <a:defRPr lang="en-US" sz="40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240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ags" Target="../tags/tag11.xml"/><Relationship Id="rId1" Type="http://schemas.openxmlformats.org/officeDocument/2006/relationships/theme" Target="../theme/theme2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10"/>
    </p:custDataLst>
    <p:extLst>
      <p:ext uri="{BB962C8B-B14F-4D97-AF65-F5344CB8AC3E}">
        <p14:creationId xmlns:p14="http://schemas.microsoft.com/office/powerpoint/2010/main" val="1893601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105818772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custDataLst>
      <p:tags r:id="rId8"/>
    </p:custDataLst>
    <p:extLst>
      <p:ext uri="{BB962C8B-B14F-4D97-AF65-F5344CB8AC3E}">
        <p14:creationId xmlns:p14="http://schemas.microsoft.com/office/powerpoint/2010/main" val="2379839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2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5.xml"/><Relationship Id="rId6" Type="http://schemas.microsoft.com/office/2018/10/relationships/comments" Target="../comments/modernComment_1EC_8A05578F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/>
        </p:nvSpPr>
        <p:spPr>
          <a:xfrm>
            <a:off x="73091" y="163290"/>
            <a:ext cx="6173436" cy="534636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17" name="Text Placeholder 3"/>
          <p:cNvSpPr>
            <a:spLocks noGrp="1"/>
          </p:cNvSpPr>
          <p:nvPr/>
        </p:nvSpPr>
        <p:spPr>
          <a:xfrm>
            <a:off x="85589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EAAA00"/>
              </a:solidFill>
              <a:effectLst/>
              <a:uLnTx/>
              <a:uFillTx/>
              <a:latin typeface="Helvetica" charset="0"/>
              <a:cs typeface="Helvetica" charset="0"/>
            </a:endParaRPr>
          </a:p>
          <a:p>
            <a:pPr marL="0" marR="0" lvl="0" indent="0" algn="l" defTabSz="457200" rtl="0" eaLnBrk="1" fontAlgn="auto" latinLnBrk="0" hangingPunct="1">
              <a:lnSpc>
                <a:spcPts val="1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AAA00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Nicoleta Serban, Ph.D. </a:t>
            </a:r>
          </a:p>
        </p:txBody>
      </p:sp>
      <p:sp>
        <p:nvSpPr>
          <p:cNvPr id="18" name="Text Placeholder 4"/>
          <p:cNvSpPr>
            <a:spLocks noGrp="1"/>
          </p:cNvSpPr>
          <p:nvPr/>
        </p:nvSpPr>
        <p:spPr>
          <a:xfrm>
            <a:off x="92366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Professor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1FFC2AE0-8557-485C-BAF4-734CEE29C594}"/>
              </a:ext>
            </a:extLst>
          </p:cNvPr>
          <p:cNvSpPr>
            <a:spLocks noGrp="1"/>
          </p:cNvSpPr>
          <p:nvPr/>
        </p:nvSpPr>
        <p:spPr>
          <a:xfrm>
            <a:off x="84400" y="636404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Vitesse Medium" charset="0"/>
              </a:rPr>
              <a:t>Model Selection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xmlns="" id="{96194DD8-166E-44C1-B715-8F6DC720E8C3}"/>
              </a:ext>
            </a:extLst>
          </p:cNvPr>
          <p:cNvSpPr>
            <a:spLocks noGrp="1"/>
          </p:cNvSpPr>
          <p:nvPr/>
        </p:nvSpPr>
        <p:spPr>
          <a:xfrm>
            <a:off x="109567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" charset="0"/>
                <a:cs typeface="Helvetica" charset="0"/>
              </a:rPr>
              <a:t>Stewart School of Industrial and Systems Engineering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xmlns="" id="{A3E82B30-B7C4-46C3-8F56-CEC29E739324}"/>
              </a:ext>
            </a:extLst>
          </p:cNvPr>
          <p:cNvSpPr>
            <a:spLocks noGrp="1"/>
          </p:cNvSpPr>
          <p:nvPr/>
        </p:nvSpPr>
        <p:spPr>
          <a:xfrm>
            <a:off x="92790" y="4102100"/>
            <a:ext cx="4079140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Regularized Regression: Penalties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14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3422383" y="1074049"/>
            <a:ext cx="2392685" cy="3028613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21380" y="154185"/>
            <a:ext cx="4727575" cy="731837"/>
          </a:xfrm>
        </p:spPr>
        <p:txBody>
          <a:bodyPr anchor="t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99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29709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Bias-Variance Tradeoff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280" y="904438"/>
                <a:ext cx="6270652" cy="2778329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Prediction Risk: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Measure of the Bias-Variance Tradeoff</a:t>
                </a:r>
              </a:p>
              <a:p>
                <a:pPr marL="403225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i="0"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subSup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𝐸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b="1" i="1">
                                          <a:latin typeface="Cambria Math" panose="02040503050406030204" pitchFamily="18" charset="0"/>
                                        </a:rPr>
                                        <m:t>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800" i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Sup>
                                <m:sSub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800" b="1" i="1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03225"/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03225"/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)+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𝐵𝑖𝑎𝑠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800" b="1" i="1"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acc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1800" i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</m:d>
                      </m:e>
                    </m:d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)</a:t>
                </a:r>
              </a:p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for a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1800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fitted response for model </a:t>
                </a:r>
                <a:r>
                  <a:rPr lang="en-US" sz="1800" dirty="0">
                    <a:latin typeface="Cambria Math" panose="02040503050406030204" pitchFamily="18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S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the future observation. 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280" y="904438"/>
                <a:ext cx="6270652" cy="2778329"/>
              </a:xfrm>
              <a:prstGeom prst="rect">
                <a:avLst/>
              </a:prstGeom>
              <a:blipFill>
                <a:blip r:embed="rId4"/>
                <a:stretch>
                  <a:fillRect l="-777" t="-1096" b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854089AA-59E7-4A22-8C1B-43F3C2C1EEFE}"/>
              </a:ext>
            </a:extLst>
          </p:cNvPr>
          <p:cNvGrpSpPr/>
          <p:nvPr/>
        </p:nvGrpSpPr>
        <p:grpSpPr>
          <a:xfrm>
            <a:off x="706456" y="2087521"/>
            <a:ext cx="1827019" cy="319147"/>
            <a:chOff x="1627631" y="1667352"/>
            <a:chExt cx="1827019" cy="369332"/>
          </a:xfrm>
        </p:grpSpPr>
        <p:sp>
          <p:nvSpPr>
            <p:cNvPr id="8" name="Rounded Rectangular Callout 7"/>
            <p:cNvSpPr/>
            <p:nvPr/>
          </p:nvSpPr>
          <p:spPr>
            <a:xfrm>
              <a:off x="1627631" y="1667352"/>
              <a:ext cx="1827019" cy="369332"/>
            </a:xfrm>
            <a:prstGeom prst="wedgeRoundRectCallout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627631" y="1691740"/>
              <a:ext cx="1813317" cy="320556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lIns="91440" tIns="0" bIns="0" rtlCol="0" anchor="ctr" anchorCtr="0">
              <a:spAutoFit/>
            </a:bodyPr>
            <a:lstStyle/>
            <a:p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Irreducible error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4B9705B0-7628-4DC4-949C-0328C038F3AD}"/>
              </a:ext>
            </a:extLst>
          </p:cNvPr>
          <p:cNvGrpSpPr/>
          <p:nvPr/>
        </p:nvGrpSpPr>
        <p:grpSpPr>
          <a:xfrm>
            <a:off x="2944534" y="2086092"/>
            <a:ext cx="2146742" cy="318609"/>
            <a:chOff x="4284762" y="1588270"/>
            <a:chExt cx="2146742" cy="570072"/>
          </a:xfrm>
        </p:grpSpPr>
        <p:sp>
          <p:nvSpPr>
            <p:cNvPr id="9" name="Rounded Rectangular Callout 8"/>
            <p:cNvSpPr/>
            <p:nvPr/>
          </p:nvSpPr>
          <p:spPr>
            <a:xfrm>
              <a:off x="4298464" y="1588270"/>
              <a:ext cx="2133040" cy="570072"/>
            </a:xfrm>
            <a:prstGeom prst="wedgeRoundRectCallout">
              <a:avLst/>
            </a:prstGeom>
            <a:solidFill>
              <a:schemeClr val="bg1"/>
            </a:solidFill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84762" y="1635980"/>
              <a:ext cx="2146742" cy="495621"/>
            </a:xfrm>
            <a:prstGeom prst="rect">
              <a:avLst/>
            </a:prstGeom>
            <a:noFill/>
          </p:spPr>
          <p:txBody>
            <a:bodyPr wrap="none" lIns="91440" tIns="0" bIns="0" rtlCol="0" anchor="ctr" anchorCtr="0">
              <a:spAutoFit/>
            </a:bodyPr>
            <a:lstStyle/>
            <a:p>
              <a:r>
                <a:rPr lang="en-US" dirty="0">
                  <a:latin typeface="Helvetica" panose="020B0604020202020204" pitchFamily="34" charset="0"/>
                  <a:cs typeface="Helvetica" panose="020B0604020202020204" pitchFamily="34" charset="0"/>
                </a:rPr>
                <a:t>Mean Square Error</a:t>
              </a:r>
            </a:p>
          </p:txBody>
        </p:sp>
      </p:grpSp>
      <p:sp>
        <p:nvSpPr>
          <p:cNvPr id="11" name="Content Placeholder 2"/>
          <p:cNvSpPr txBox="1">
            <a:spLocks/>
          </p:cNvSpPr>
          <p:nvPr/>
        </p:nvSpPr>
        <p:spPr>
          <a:xfrm>
            <a:off x="197256" y="3624858"/>
            <a:ext cx="6165675" cy="13613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  <a:effectLst/>
        </p:spPr>
        <p:txBody>
          <a:bodyPr vert="horz" wrap="square" lIns="182880" tIns="91440" rIns="182880" bIns="91440" rtlCol="0" anchor="ctr" anchorCtr="0">
            <a:sp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3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58368" indent="-4572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−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6948" indent="-3429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8925" indent="-288925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It is possible to find a model with lower MSE than the full model!</a:t>
            </a:r>
          </a:p>
          <a:p>
            <a:pPr marL="288925" indent="-288925">
              <a:buClrTx/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It is “generic” in statistics: introducing some bias often yields in a decrease in MSE.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921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7333766"/>
              </p:ext>
            </p:extLst>
          </p:nvPr>
        </p:nvGraphicFramePr>
        <p:xfrm>
          <a:off x="483063" y="1113275"/>
          <a:ext cx="5346238" cy="393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2" name="Bitmap Image" r:id="rId5" imgW="6292800" imgH="5289480" progId="Paint.Picture">
                  <p:embed/>
                </p:oleObj>
              </mc:Choice>
              <mc:Fallback>
                <p:oleObj name="Bitmap Image" r:id="rId5" imgW="6292800" imgH="5289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3063" y="1113275"/>
                        <a:ext cx="5346238" cy="393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xmlns="" id="{1A425F12-08CE-4B60-9CEA-4C317F8DC375}"/>
              </a:ext>
            </a:extLst>
          </p:cNvPr>
          <p:cNvSpPr txBox="1">
            <a:spLocks/>
          </p:cNvSpPr>
          <p:nvPr/>
        </p:nvSpPr>
        <p:spPr>
          <a:xfrm>
            <a:off x="76180" y="157232"/>
            <a:ext cx="8562392" cy="52970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sz="3600">
                <a:latin typeface="Vitesse"/>
              </a:rPr>
              <a:t>Bias-Variance Tradeoff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9081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614555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Biased Regression: Penalties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2279" y="898379"/>
            <a:ext cx="8264525" cy="2901834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>
            <a:noAutofit/>
          </a:bodyPr>
          <a:lstStyle/>
          <a:p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Not all biased models are better. </a:t>
            </a:r>
          </a:p>
          <a:p>
            <a:r>
              <a:rPr lang="en-US" sz="1800" b="1" dirty="0">
                <a:solidFill>
                  <a:srgbClr val="EEB21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We need a way to find “good” biased models!</a:t>
            </a:r>
          </a:p>
          <a:p>
            <a:endParaRPr lang="en-US" sz="1800" dirty="0">
              <a:latin typeface="Helvetica Neue"/>
            </a:endParaRPr>
          </a:p>
          <a:p>
            <a:pPr marL="403225" indent="-403225">
              <a:lnSpc>
                <a:spcPct val="108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Penalize large values of </a:t>
            </a:r>
            <a:r>
              <a:rPr lang="en-US" sz="1800" i="1" dirty="0">
                <a:latin typeface="Symbol" panose="05050102010706020507" pitchFamily="18" charset="2"/>
              </a:rPr>
              <a:t>b </a:t>
            </a:r>
            <a:r>
              <a:rPr lang="en-US" sz="1800" dirty="0">
                <a:latin typeface="Helvetica Neue"/>
              </a:rPr>
              <a:t>s </a:t>
            </a: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jointly</a:t>
            </a:r>
          </a:p>
          <a:p>
            <a:pPr marL="687388" lvl="1" indent="-342900">
              <a:lnSpc>
                <a:spcPct val="108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Should lead to “multivariate” shrinkage of the vector </a:t>
            </a:r>
            <a:r>
              <a:rPr lang="en-US" sz="1800" b="1" i="1" dirty="0">
                <a:latin typeface="Symbol" panose="05050102010706020507" pitchFamily="18" charset="2"/>
              </a:rPr>
              <a:t>b</a:t>
            </a:r>
            <a:endParaRPr lang="en-US" sz="1800" b="1" i="1" dirty="0">
              <a:latin typeface="Helvetica Neue"/>
            </a:endParaRPr>
          </a:p>
          <a:p>
            <a:pPr marL="403225" indent="-403225">
              <a:lnSpc>
                <a:spcPct val="108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Goal is really to penalize “complex” models</a:t>
            </a:r>
          </a:p>
          <a:p>
            <a:pPr marL="687388" lvl="1" indent="-342900">
              <a:lnSpc>
                <a:spcPct val="108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Heuristically, “large” is interpreted as “complex model”</a:t>
            </a:r>
          </a:p>
          <a:p>
            <a:pPr marL="1027113" lvl="2" indent="-342900">
              <a:lnSpc>
                <a:spcPct val="108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If truth really is complex, this may not work!</a:t>
            </a:r>
          </a:p>
          <a:p>
            <a:pPr marL="1376363" lvl="3" indent="-342900">
              <a:lnSpc>
                <a:spcPct val="108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  <a:t>It will then be hard to build a good model anyways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287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2"/>
            <a:ext cx="8562392" cy="597777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Regularized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9056" y="903317"/>
                <a:ext cx="7935985" cy="3940175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rmAutofit/>
              </a:bodyPr>
              <a:lstStyle/>
              <a:p>
                <a:r>
                  <a:rPr lang="en-US" alt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Without Penalization</a:t>
                </a:r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</a:t>
                </a:r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</a:t>
                </a:r>
                <a:r>
                  <a:rPr 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</a:t>
                </a:r>
                <a:r>
                  <a:rPr 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by </a:t>
                </a: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minimizing the sum of squared errors</a:t>
                </a:r>
              </a:p>
              <a:p>
                <a:endParaRPr lang="en-US" altLang="en-US" sz="18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altLang="en-US" sz="18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altLang="en-US" sz="1800" b="1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r>
                  <a:rPr lang="en-US" altLang="en-US" sz="1800" b="1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With Penalization</a:t>
                </a:r>
              </a:p>
              <a:p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Estimate </a:t>
                </a:r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</a:t>
                </a:r>
                <a:r>
                  <a:rPr 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,…,</a:t>
                </a:r>
                <a:r>
                  <a:rPr lang="en-US" sz="1800" dirty="0">
                    <a:solidFill>
                      <a:srgbClr val="000000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US" sz="1800" dirty="0">
                    <a:latin typeface="Helvetica" panose="020B0604020202020204" pitchFamily="34" charset="0"/>
                    <a:ea typeface="Cambria Math" panose="02040503050406030204" pitchFamily="18" charset="0"/>
                    <a:cs typeface="Helvetica" panose="020B0604020202020204" pitchFamily="34" charset="0"/>
                  </a:rPr>
                  <a:t>)</a:t>
                </a:r>
                <a:r>
                  <a:rPr lang="en-US" alt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by </a:t>
                </a: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minimizing the penalized sum of squared errors</a:t>
                </a:r>
              </a:p>
              <a:p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bigger l, the bigger the penalty for model complexity.</a:t>
                </a: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9056" y="903317"/>
                <a:ext cx="7935985" cy="3940175"/>
              </a:xfrm>
              <a:prstGeom prst="rect">
                <a:avLst/>
              </a:prstGeom>
              <a:blipFill>
                <a:blip r:embed="rId4"/>
                <a:stretch>
                  <a:fillRect l="-691" t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 bwMode="auto">
              <a:xfrm>
                <a:off x="470755" y="1643016"/>
                <a:ext cx="3554981" cy="819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charset="0"/>
                                    </a:rPr>
                                    <m:t>…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0755" y="1643016"/>
                <a:ext cx="3554981" cy="819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 bwMode="auto">
              <a:xfrm>
                <a:off x="492456" y="3397756"/>
                <a:ext cx="5625609" cy="819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en-US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charset="0"/>
                                    </a:rPr>
                                    <m:t>…</m:t>
                                  </m:r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𝑖𝑝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𝑃𝑒𝑛𝑎𝑙𝑡𝑦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…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456" y="3397756"/>
                <a:ext cx="5625609" cy="8191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8830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" y="157233"/>
            <a:ext cx="8562392" cy="660360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Regularized Regression (cont’d)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09056" y="901482"/>
                <a:ext cx="8882543" cy="420846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noAutofit/>
              </a:bodyPr>
              <a:lstStyle/>
              <a:p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The penalized sum of squared errors:</a:t>
                </a:r>
              </a:p>
              <a:p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endParaRPr lang="en-US" altLang="en-US" sz="1800" dirty="0">
                  <a:latin typeface="Helvetica" panose="020B0604020202020204" pitchFamily="34" charset="0"/>
                  <a:ea typeface="Helvetica Neue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0"/>
                  </a:spcBef>
                </a:pPr>
                <a:r>
                  <a:rPr lang="en-US" altLang="en-US" sz="1800" dirty="0">
                    <a:latin typeface="Helvetica" panose="020B0604020202020204" pitchFamily="34" charset="0"/>
                    <a:ea typeface="Helvetica Neue" charset="0"/>
                    <a:cs typeface="Helvetica" panose="020B0604020202020204" pitchFamily="34" charset="0"/>
                  </a:rPr>
                  <a:t>We consider three choices for the penalty:</a:t>
                </a: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penalty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</a:p>
              <a:p>
                <a:pPr marL="403225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=#{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≠0}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⇒ Minimizing Q means searching through all </a:t>
                </a:r>
                <a:r>
                  <a:rPr lang="en-US" sz="18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submodels</a:t>
                </a: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0"/>
                  </a:spcBef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penalty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(LASSO Regression)</a:t>
                </a:r>
              </a:p>
              <a:p>
                <a:pPr marL="403225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⇒ Minimizing Q forces many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s to be zeros </a:t>
                </a:r>
              </a:p>
              <a:p>
                <a:pPr>
                  <a:spcBef>
                    <a:spcPts val="0"/>
                  </a:spcBef>
                </a:pPr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b="1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penalty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(Ridge Regression)</a:t>
                </a:r>
              </a:p>
              <a:p>
                <a:pPr marL="403225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1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⇒ Minimizing Q accounts for multicollinearity</a:t>
                </a: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endParaRPr lang="en-US" sz="18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lvl="1" indent="0">
                  <a:buNone/>
                </a:pPr>
                <a:endParaRPr lang="en-US" sz="1800" b="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09056" y="901482"/>
                <a:ext cx="8882543" cy="4208462"/>
              </a:xfrm>
              <a:prstGeom prst="rect">
                <a:avLst/>
              </a:prstGeom>
              <a:blipFill>
                <a:blip r:embed="rId4"/>
                <a:stretch>
                  <a:fillRect l="-618" t="-870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/>
              <p:cNvSpPr txBox="1"/>
              <p:nvPr/>
            </p:nvSpPr>
            <p:spPr bwMode="auto">
              <a:xfrm>
                <a:off x="474595" y="1225996"/>
                <a:ext cx="7763393" cy="819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…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en-US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charset="0"/>
                                        </a:rPr>
                                        <m:t>…</m:t>
                                      </m:r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𝑖𝑝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𝑃𝑒𝑛𝑎𝑙𝑡𝑦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…</m:t>
                      </m:r>
                      <m:r>
                        <a:rPr lang="en-US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595" y="1225996"/>
                <a:ext cx="7763393" cy="8191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3156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>
    <p:ext uri="{6950BFC3-D8DA-4A85-94F7-54DA5524770B}">
      <p188:commentRel xmlns:p188="http://schemas.microsoft.com/office/powerpoint/2018/8/main" xmlns="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58" y="157233"/>
            <a:ext cx="8562392" cy="589388"/>
          </a:xfrm>
        </p:spPr>
        <p:txBody>
          <a:bodyPr/>
          <a:lstStyle/>
          <a:p>
            <a:pPr algn="l"/>
            <a:r>
              <a:rPr lang="en-US" sz="3600" dirty="0">
                <a:latin typeface="Vitesse"/>
              </a:rPr>
              <a:t>Comparing Penalties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92279" y="898496"/>
                <a:ext cx="8448675" cy="4309385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</p:spPr>
            <p:txBody>
              <a:bodyPr>
                <a:spAutoFit/>
              </a:bodyPr>
              <a:lstStyle/>
              <a:p>
                <a:pPr marL="403225" indent="-403225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</a:t>
                </a:r>
              </a:p>
              <a:p>
                <a:pPr marL="742950" lvl="1" indent="-341313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Provides best model given a selection criterion</a:t>
                </a:r>
              </a:p>
              <a:p>
                <a:pPr marL="742950" lvl="1" indent="-341313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Requires fitting all </a:t>
                </a:r>
                <a:r>
                  <a:rPr lang="en-US" sz="1600" dirty="0" err="1">
                    <a:latin typeface="Helvetica" panose="020B0604020202020204" pitchFamily="34" charset="0"/>
                    <a:cs typeface="Helvetica" panose="020B0604020202020204" pitchFamily="34" charset="0"/>
                  </a:rPr>
                  <a:t>submodels</a:t>
                </a:r>
                <a:endParaRPr lang="en-US" sz="16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 marL="403225" indent="-403225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</a:t>
                </a:r>
              </a:p>
              <a:p>
                <a:pPr marL="742950" lvl="1" indent="-341313">
                  <a:spcBef>
                    <a:spcPts val="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Measures sparsity</a:t>
                </a:r>
              </a:p>
              <a:p>
                <a:pPr marL="403225" indent="-403225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</a:t>
                </a:r>
              </a:p>
              <a:p>
                <a:pPr marL="742950" lvl="1" indent="-341313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Easy to implement</a:t>
                </a:r>
              </a:p>
              <a:p>
                <a:pPr marL="742950" lvl="1" indent="-341313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Does not do variable selection </a:t>
                </a:r>
                <a:endParaRPr lang="en-US" sz="16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1800" b="1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Example:</a:t>
                </a:r>
                <a:r>
                  <a:rPr lang="en-US" sz="1800" dirty="0">
                    <a:solidFill>
                      <a:schemeClr val="tx2"/>
                    </a:solidFill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Consider vectors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⋯,0</m:t>
                        </m:r>
                      </m:e>
                    </m:d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=(</m:t>
                    </m:r>
                    <m:box>
                      <m:box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</m:den>
                        </m:f>
                      </m:e>
                    </m:box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box>
                      <m:box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rad>
                          </m:den>
                        </m:f>
                      </m:e>
                    </m:box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both of length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.</a:t>
                </a:r>
                <a:b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</a:br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Vector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b="0">
                    <a:latin typeface="Helvetica" panose="020B0604020202020204" pitchFamily="34" charset="0"/>
                    <a:cs typeface="Helvetica" panose="020B0604020202020204" pitchFamily="34" charset="0"/>
                  </a:rPr>
                  <a:t>is </a:t>
                </a:r>
                <a:r>
                  <a:rPr lang="en-US" sz="1800" b="0" smtClean="0">
                    <a:latin typeface="Helvetica" panose="020B0604020202020204" pitchFamily="34" charset="0"/>
                    <a:cs typeface="Helvetica" panose="020B0604020202020204" pitchFamily="34" charset="0"/>
                  </a:rPr>
                  <a:t>sparse</a:t>
                </a:r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, because it contains mostly zeros.</a:t>
                </a:r>
              </a:p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norm,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</a:t>
                </a:r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.</a:t>
                </a:r>
              </a:p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Using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b="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norm, we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sup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1.</m:t>
                    </m:r>
                  </m:oMath>
                </a14:m>
                <a:endParaRPr lang="en-US" sz="1800" i="1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 rewards the sparsity of </a:t>
                </a:r>
                <a14:m>
                  <m:oMath xmlns:m="http://schemas.openxmlformats.org/officeDocument/2006/math">
                    <m:r>
                      <a:rPr lang="en-US" sz="1800" b="1" i="1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;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penalty makes no distinction.</a:t>
                </a:r>
              </a:p>
            </p:txBody>
          </p:sp>
        </mc:Choice>
        <mc:Fallback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92279" y="898496"/>
                <a:ext cx="8448675" cy="4309385"/>
              </a:xfrm>
              <a:prstGeom prst="rect">
                <a:avLst/>
              </a:prstGeom>
              <a:blipFill rotWithShape="0">
                <a:blip r:embed="rId4"/>
                <a:stretch>
                  <a:fillRect l="-577" t="-707" b="-3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0734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05196" y="147217"/>
            <a:ext cx="4727575" cy="795337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3236327" y="1171154"/>
            <a:ext cx="2573755" cy="2813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196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DESIGN_ID_THEMEGTX" val="yjazYVuI"/>
  <p:tag name="ARTICULATE_DESIGN_ID_4_FULL PAGE LAYOUT" val="snVQCKjZ"/>
  <p:tag name="ARTICULATE_DESIGN_ID_FULL PAGE LAYOUT" val="YQ9Sopey"/>
  <p:tag name="ARTICULATE_DESIGN_ID_1_HALF PAGE SLASH" val="z4tfGcN0"/>
  <p:tag name="ARTICULATE_DESIGN_ID_2_HALF PAGE SLASH" val="rJ5qzEdW"/>
  <p:tag name="ARTICULATE_DESIGN_ID_1_FULL PAGE LAYOUT" val="WqQUXYGG"/>
  <p:tag name="ARTICULATE_SLIDE_COUNT" val="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microsoft.com/office/2006/metadata/properties"/>
    <ds:schemaRef ds:uri="http://purl.org/dc/elements/1.1/"/>
    <ds:schemaRef ds:uri="http://purl.org/dc/dcmitype/"/>
    <ds:schemaRef ds:uri="http://schemas.microsoft.com/sharepoint/v3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057fda7-913b-4ab6-8820-932873bcd66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16139</TotalTime>
  <Words>201</Words>
  <Application>Microsoft Office PowerPoint</Application>
  <PresentationFormat>On-screen Show (16:9)</PresentationFormat>
  <Paragraphs>84</Paragraphs>
  <Slides>9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MS PGothic</vt:lpstr>
      <vt:lpstr>Arial</vt:lpstr>
      <vt:lpstr>Calibri</vt:lpstr>
      <vt:lpstr>Cambria Math</vt:lpstr>
      <vt:lpstr>Helvetica</vt:lpstr>
      <vt:lpstr>Helvetica Neue</vt:lpstr>
      <vt:lpstr>Symbol</vt:lpstr>
      <vt:lpstr>Vitesse</vt:lpstr>
      <vt:lpstr>Vitesse Bold</vt:lpstr>
      <vt:lpstr>Vitesse Book</vt:lpstr>
      <vt:lpstr>Vitesse Medium</vt:lpstr>
      <vt:lpstr>1_Half Page Slash</vt:lpstr>
      <vt:lpstr>2_Half Page Slash</vt:lpstr>
      <vt:lpstr>1_Full Page Layout</vt:lpstr>
      <vt:lpstr>Bitmap Image</vt:lpstr>
      <vt:lpstr>PowerPoint Presentation</vt:lpstr>
      <vt:lpstr>PowerPoint Presentation</vt:lpstr>
      <vt:lpstr>Bias-Variance Tradeoff</vt:lpstr>
      <vt:lpstr>PowerPoint Presentation</vt:lpstr>
      <vt:lpstr>Biased Regression: Penalties</vt:lpstr>
      <vt:lpstr>Regularized Regression</vt:lpstr>
      <vt:lpstr>Regularized Regression (cont’d)</vt:lpstr>
      <vt:lpstr>Comparing Penalties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Serban, Nicoleta</dc:creator>
  <cp:lastModifiedBy>Aymee Garcia</cp:lastModifiedBy>
  <cp:revision>786</cp:revision>
  <dcterms:modified xsi:type="dcterms:W3CDTF">2020-11-17T09:10:14Z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  <property fmtid="{D5CDD505-2E9C-101B-9397-08002B2CF9AE}" pid="3" name="ArticulateGUID">
    <vt:lpwstr>0588922D-21A8-4E11-85AC-5979C220023C</vt:lpwstr>
  </property>
  <property fmtid="{D5CDD505-2E9C-101B-9397-08002B2CF9AE}" pid="4" name="ArticulatePath">
    <vt:lpwstr>06-ModSel_Concept-L6_revised v051320</vt:lpwstr>
  </property>
</Properties>
</file>