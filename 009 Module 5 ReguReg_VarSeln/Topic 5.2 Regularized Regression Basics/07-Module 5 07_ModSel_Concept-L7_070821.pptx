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F6_3280F109.xml" ContentType="application/vnd.ms-powerpoint.comments+xml"/>
  <Override PartName="/ppt/comments/modernComment_212_3FA25608.xml" ContentType="application/vnd.ms-powerpoint.comments+xml"/>
  <Override PartName="/ppt/comments/modernComment_213_B930B459.xml" ContentType="application/vnd.ms-powerpoint.comment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  <p:sldMasterId id="2147483710" r:id="rId5"/>
    <p:sldMasterId id="2147483711" r:id="rId6"/>
  </p:sldMasterIdLst>
  <p:notesMasterIdLst>
    <p:notesMasterId r:id="rId19"/>
  </p:notesMasterIdLst>
  <p:handoutMasterIdLst>
    <p:handoutMasterId r:id="rId20"/>
  </p:handoutMasterIdLst>
  <p:sldIdLst>
    <p:sldId id="489" r:id="rId7"/>
    <p:sldId id="498" r:id="rId8"/>
    <p:sldId id="490" r:id="rId9"/>
    <p:sldId id="537" r:id="rId10"/>
    <p:sldId id="534" r:id="rId11"/>
    <p:sldId id="535" r:id="rId12"/>
    <p:sldId id="529" r:id="rId13"/>
    <p:sldId id="502" r:id="rId14"/>
    <p:sldId id="530" r:id="rId15"/>
    <p:sldId id="526" r:id="rId16"/>
    <p:sldId id="531" r:id="rId17"/>
    <p:sldId id="344" r:id="rId18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89"/>
            <p14:sldId id="498"/>
            <p14:sldId id="490"/>
            <p14:sldId id="537"/>
            <p14:sldId id="534"/>
            <p14:sldId id="535"/>
            <p14:sldId id="529"/>
            <p14:sldId id="502"/>
            <p14:sldId id="530"/>
            <p14:sldId id="526"/>
            <p14:sldId id="531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  <p15:guide id="10" pos="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CAF"/>
    <a:srgbClr val="8E4221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EF334-D289-43F3-AC0D-C6A1B402247A}" v="1" dt="2021-06-04T19:16:21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03" autoAdjust="0"/>
    <p:restoredTop sz="89904" autoAdjust="0"/>
  </p:normalViewPr>
  <p:slideViewPr>
    <p:cSldViewPr snapToGrid="0">
      <p:cViewPr varScale="1">
        <p:scale>
          <a:sx n="101" d="100"/>
          <a:sy n="101" d="100"/>
        </p:scale>
        <p:origin x="1171" y="67"/>
      </p:cViewPr>
      <p:guideLst>
        <p:guide orient="horz" pos="1620"/>
        <p:guide pos="2880"/>
        <p:guide pos="120"/>
        <p:guide pos="336"/>
        <p:guide pos="3456"/>
        <p:guide pos="5664"/>
        <p:guide orient="horz" pos="396"/>
        <p:guide orient="horz" pos="732"/>
        <p:guide orient="horz" pos="3132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, Ramon S" userId="2fd46b25-7eaa-49e2-87fd-bd0e69daa70a" providerId="ADAL" clId="{1A0EF334-D289-43F3-AC0D-C6A1B402247A}"/>
    <pc:docChg chg="addSld delSld modSld modSection">
      <pc:chgData name="Rodriguez, Ramon S" userId="2fd46b25-7eaa-49e2-87fd-bd0e69daa70a" providerId="ADAL" clId="{1A0EF334-D289-43F3-AC0D-C6A1B402247A}" dt="2021-06-04T19:16:28.306" v="1" actId="2696"/>
      <pc:docMkLst>
        <pc:docMk/>
      </pc:docMkLst>
      <pc:sldChg chg="del">
        <pc:chgData name="Rodriguez, Ramon S" userId="2fd46b25-7eaa-49e2-87fd-bd0e69daa70a" providerId="ADAL" clId="{1A0EF334-D289-43F3-AC0D-C6A1B402247A}" dt="2021-06-04T19:16:28.306" v="1" actId="2696"/>
        <pc:sldMkLst>
          <pc:docMk/>
          <pc:sldMk cId="3746463805" sldId="528"/>
        </pc:sldMkLst>
      </pc:sldChg>
      <pc:sldChg chg="add">
        <pc:chgData name="Rodriguez, Ramon S" userId="2fd46b25-7eaa-49e2-87fd-bd0e69daa70a" providerId="ADAL" clId="{1A0EF334-D289-43F3-AC0D-C6A1B402247A}" dt="2021-06-04T19:16:21.294" v="0"/>
        <pc:sldMkLst>
          <pc:docMk/>
          <pc:sldMk cId="971772530" sldId="536"/>
        </pc:sldMkLst>
      </pc:sldChg>
    </pc:docChg>
  </pc:docChgLst>
</pc:chgInfo>
</file>

<file path=ppt/comments/modernComment_1F6_3280F10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7294A3-5016-4455-A3CA-8C67AD4932E4}" authorId="{0E6B6AFC-8BFD-806F-D3AF-75EF9FEA13C7}" created="2020-04-26T19:28:30.328">
    <pc:sldMkLst xmlns:pc="http://schemas.microsoft.com/office/powerpoint/2013/main/command">
      <pc:docMk/>
      <pc:sldMk cId="847311113" sldId="502"/>
    </pc:sldMkLst>
    <p188:txBody>
      <a:bodyPr/>
      <a:lstStyle/>
      <a:p>
        <a:r>
          <a:rPr lang="en-US"/>
          <a:t>I have changed this slide significantly. Please check.</a:t>
        </a:r>
      </a:p>
    </p188:txBody>
  </p188:cm>
</p188:cmLst>
</file>

<file path=ppt/comments/modernComment_212_3FA256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3A7E83-420A-4BE9-9E82-B7D08EC7E51D}" authorId="{0E6B6AFC-8BFD-806F-D3AF-75EF9FEA13C7}" created="2020-04-26T16:55:03.380">
    <pc:sldMkLst xmlns:pc="http://schemas.microsoft.com/office/powerpoint/2013/main/command">
      <pc:docMk/>
      <pc:sldMk cId="1067603464" sldId="530"/>
    </pc:sldMkLst>
    <p188:txBody>
      <a:bodyPr/>
      <a:lstStyle/>
      <a:p>
        <a:r>
          <a:rPr lang="en-US"/>
          <a:t>I reversed the order of the title to match the order of the figures.</a:t>
        </a:r>
      </a:p>
    </p188:txBody>
  </p188:cm>
</p188:cmLst>
</file>

<file path=ppt/comments/modernComment_213_B930B4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9F27C6-4867-490F-AE7C-41CEBB845E9B}" authorId="{0E6B6AFC-8BFD-806F-D3AF-75EF9FEA13C7}" created="2020-04-26T21:37:03.305">
    <pc:sldMkLst xmlns:pc="http://schemas.microsoft.com/office/powerpoint/2013/main/command">
      <pc:docMk/>
      <pc:sldMk cId="3106976857" sldId="531"/>
    </pc:sldMkLst>
    <p188:txBody>
      <a:bodyPr/>
      <a:lstStyle/>
      <a:p>
        <a:r>
          <a:rPr lang="en-US"/>
          <a:t>I've switched the order of the last two terms so that lambda_1 is the penalty for L1 and lambda_2 is the penalty for L2.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7/8/2021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7/8/2021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56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55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2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29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44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6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72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0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650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73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378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0130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09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056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168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493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38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500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567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0125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47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18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26987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08302924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180863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5" Type="http://schemas.openxmlformats.org/officeDocument/2006/relationships/image" Target="../media/image13.png"/><Relationship Id="rId4" Type="http://schemas.microsoft.com/office/2018/10/relationships/comments" Target="../comments/modernComment_1F6_3280F109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212_3FA25608.xml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4.png"/><Relationship Id="rId2" Type="http://schemas.openxmlformats.org/officeDocument/2006/relationships/tags" Target="../tags/tag2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18/10/relationships/comments" Target="../comments/modernComment_213_B930B4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="" xmlns:a16="http://schemas.microsoft.com/office/drawing/2014/main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Model Selection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=""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="" xmlns:a16="http://schemas.microsoft.com/office/drawing/2014/main" id="{D457D5F6-2478-48F6-9EDC-68FF858E13D7}"/>
              </a:ext>
            </a:extLst>
          </p:cNvPr>
          <p:cNvSpPr>
            <a:spLocks noGrp="1"/>
          </p:cNvSpPr>
          <p:nvPr/>
        </p:nvSpPr>
        <p:spPr>
          <a:xfrm>
            <a:off x="92789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Regularized Regression: Approaches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7" y="157233"/>
            <a:ext cx="8562392" cy="613982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Variable Standardization &amp;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279" y="903972"/>
                <a:ext cx="8054975" cy="3122613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Autofit/>
              </a:bodyPr>
              <a:lstStyle/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For regularized regression, center each column's values at zero and rescale so that the sum of squares of each column's values is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 That is,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Rescale the values for each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j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sz="18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predicting variable,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j=1,.., p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as follows:</a:t>
                </a:r>
              </a:p>
              <a:p>
                <a:pPr marL="344488"/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</a:p>
              <a:p>
                <a:pPr>
                  <a:tabLst>
                    <a:tab pos="0" algn="l"/>
                  </a:tabLst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and </a:t>
                </a:r>
              </a:p>
              <a:p>
                <a:pPr marL="344488"/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It is also recommended to rescale the response variable in the same way:</a:t>
                </a:r>
              </a:p>
              <a:p>
                <a:pPr marL="344488"/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and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279" y="903972"/>
                <a:ext cx="8054975" cy="3122613"/>
              </a:xfrm>
              <a:prstGeom prst="rect">
                <a:avLst/>
              </a:prstGeom>
              <a:blipFill>
                <a:blip r:embed="rId4"/>
                <a:stretch>
                  <a:fillRect l="-606" t="-975" r="-303" b="-17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6A90C29-63C6-4605-A7B3-68E69516A2BD}"/>
              </a:ext>
            </a:extLst>
          </p:cNvPr>
          <p:cNvSpPr txBox="1"/>
          <p:nvPr/>
        </p:nvSpPr>
        <p:spPr>
          <a:xfrm>
            <a:off x="203016" y="4159343"/>
            <a:ext cx="6523271" cy="73866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pPr marL="460375" indent="-460375"/>
            <a:r>
              <a:rPr lang="en-US" sz="18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	</a:t>
            </a:r>
            <a:r>
              <a:rPr lang="en-US" sz="18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Use the original scale when fitting the selected model for interpretation of the regression coefficients.</a:t>
            </a:r>
            <a:endParaRPr lang="en-US" sz="18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622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1455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0668" y="899457"/>
                <a:ext cx="8890932" cy="4066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Minimizes SSE plus the penalty the penalty term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Provides closed-form estimate of regression coefficients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</a:p>
              <a:p>
                <a:pPr marL="344488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1031875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identity matrix</a:t>
                </a:r>
              </a:p>
              <a:p>
                <a:pPr marL="339725" indent="-33972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= 0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gives least squares estimate (low bias, high variance)</a:t>
                </a:r>
              </a:p>
              <a:p>
                <a:pPr marL="339725" indent="-33972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∞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gives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(high bias, low variance)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Commonly used under multicollinearity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Not used for model selection</a:t>
                </a:r>
              </a:p>
              <a:p>
                <a:pPr marL="1031875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Shrinks but does not “force”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to equal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0668" y="899457"/>
                <a:ext cx="8890932" cy="4066049"/>
              </a:xfrm>
              <a:prstGeom prst="rect">
                <a:avLst/>
              </a:prstGeom>
              <a:blipFill rotWithShape="0">
                <a:blip r:embed="rId4"/>
                <a:stretch>
                  <a:fillRect l="-480" t="-900" b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458371" y="1224244"/>
                <a:ext cx="6655491" cy="819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71" y="1224244"/>
                <a:ext cx="6655491" cy="819150"/>
              </a:xfrm>
              <a:prstGeom prst="rect">
                <a:avLst/>
              </a:prstGeom>
              <a:blipFill rotWithShape="0">
                <a:blip r:embed="rId5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700331" y="2368181"/>
            <a:ext cx="314309" cy="297656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36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5559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LASSO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7172" y="918012"/>
                <a:ext cx="8189912" cy="398884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east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bsolute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hrinkage and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election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perator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Normal Linear Regression minimizes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Generalized Linear Model minimizes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</a:t>
                </a:r>
              </a:p>
              <a:p>
                <a:pPr marL="557213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1031875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1600" i="1" dirty="0">
                    <a:latin typeface="Helvetica Neue"/>
                  </a:rPr>
                  <a:t>(</a:t>
                </a:r>
                <a:r>
                  <a:rPr lang="en-US" sz="1600" b="1" i="1" dirty="0">
                    <a:latin typeface="Symbol" panose="05050102010706020507" pitchFamily="18" charset="2"/>
                  </a:rPr>
                  <a:t>b</a:t>
                </a:r>
                <a:r>
                  <a:rPr lang="en-US" sz="1600" i="1" dirty="0">
                    <a:latin typeface="Helvetica Neue"/>
                  </a:rPr>
                  <a:t>)</a:t>
                </a:r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the log-likelihood function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Estimated regression coefficients</a:t>
                </a:r>
              </a:p>
              <a:p>
                <a:pPr marL="1031875" lvl="1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Must use numerical algorithms</a:t>
                </a:r>
              </a:p>
              <a:p>
                <a:pPr marL="1031875" lvl="1" indent="-34290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 closed-form expression 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Used for model selection</a:t>
                </a:r>
              </a:p>
              <a:p>
                <a:pPr marL="1031875" lvl="1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Does “force”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equal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7172" y="918012"/>
                <a:ext cx="8189912" cy="3988849"/>
              </a:xfrm>
              <a:prstGeom prst="rect">
                <a:avLst/>
              </a:prstGeom>
              <a:blipFill>
                <a:blip r:embed="rId4"/>
                <a:stretch>
                  <a:fillRect l="-298" t="-459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="" xmlns:a16="http://schemas.microsoft.com/office/drawing/2014/main" id="{0DA1B5DD-38AB-455E-BD36-A24A0E246A6A}"/>
                  </a:ext>
                </a:extLst>
              </p:cNvPr>
              <p:cNvSpPr txBox="1"/>
              <p:nvPr/>
            </p:nvSpPr>
            <p:spPr bwMode="auto">
              <a:xfrm>
                <a:off x="446509" y="1530515"/>
                <a:ext cx="6557058" cy="866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0DA1B5DD-38AB-455E-BD36-A24A0E246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509" y="1530515"/>
                <a:ext cx="6557058" cy="866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>
                <a:extLst>
                  <a:ext uri="{FF2B5EF4-FFF2-40B4-BE49-F238E27FC236}">
                    <a16:creationId xmlns="" xmlns:a16="http://schemas.microsoft.com/office/drawing/2014/main" id="{5972124B-2683-45CB-8867-1A1D5487CF3B}"/>
                  </a:ext>
                </a:extLst>
              </p:cNvPr>
              <p:cNvSpPr txBox="1"/>
              <p:nvPr/>
            </p:nvSpPr>
            <p:spPr bwMode="auto">
              <a:xfrm>
                <a:off x="462509" y="2490001"/>
                <a:ext cx="4726681" cy="630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en-US" sz="1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5972124B-2683-45CB-8867-1A1D5487C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09" y="2490001"/>
                <a:ext cx="4726681" cy="630704"/>
              </a:xfrm>
              <a:prstGeom prst="rect">
                <a:avLst/>
              </a:prstGeom>
              <a:blipFill>
                <a:blip r:embed="rId6"/>
                <a:stretch>
                  <a:fillRect b="-48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6010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5559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LASSO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7172" y="918012"/>
                <a:ext cx="8189912" cy="398884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east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bsolute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hrinkage and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election 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perator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Normal Linear Regression minimizes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Generalized Linear Model minimizes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</a:t>
                </a:r>
              </a:p>
              <a:p>
                <a:pPr marL="557213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1031875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1600" i="1" dirty="0">
                    <a:latin typeface="Helvetica Neue"/>
                  </a:rPr>
                  <a:t>(</a:t>
                </a:r>
                <a:r>
                  <a:rPr lang="en-US" sz="1600" b="1" i="1" dirty="0">
                    <a:latin typeface="Symbol" panose="05050102010706020507" pitchFamily="18" charset="2"/>
                  </a:rPr>
                  <a:t>b</a:t>
                </a:r>
                <a:r>
                  <a:rPr lang="en-US" sz="1600" i="1" dirty="0">
                    <a:latin typeface="Helvetica Neue"/>
                  </a:rPr>
                  <a:t>)</a:t>
                </a:r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the log-likelihood function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Estimated regression coefficients</a:t>
                </a:r>
              </a:p>
              <a:p>
                <a:pPr marL="1031875" lvl="1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Must use numerical algorithms</a:t>
                </a:r>
              </a:p>
              <a:p>
                <a:pPr marL="1031875" lvl="1" indent="-342900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 closed-form expression 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Used for model selection</a:t>
                </a:r>
              </a:p>
              <a:p>
                <a:pPr marL="1031875" lvl="1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Does “force”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equal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7172" y="918012"/>
                <a:ext cx="8189912" cy="3988849"/>
              </a:xfrm>
              <a:prstGeom prst="rect">
                <a:avLst/>
              </a:prstGeom>
              <a:blipFill>
                <a:blip r:embed="rId4"/>
                <a:stretch>
                  <a:fillRect l="-298" t="-459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446509" y="1530515"/>
                <a:ext cx="6557058" cy="866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509" y="1530515"/>
                <a:ext cx="6557058" cy="866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 bwMode="auto">
              <a:xfrm>
                <a:off x="462509" y="2490001"/>
                <a:ext cx="4726681" cy="630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en-US" sz="1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09" y="2490001"/>
                <a:ext cx="4726681" cy="630704"/>
              </a:xfrm>
              <a:prstGeom prst="rect">
                <a:avLst/>
              </a:prstGeom>
              <a:blipFill>
                <a:blip r:embed="rId6"/>
                <a:stretch>
                  <a:fillRect b="-48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8426522-E6EF-4B1F-94FB-15EA1E2BD1ED}"/>
              </a:ext>
            </a:extLst>
          </p:cNvPr>
          <p:cNvSpPr txBox="1"/>
          <p:nvPr/>
        </p:nvSpPr>
        <p:spPr>
          <a:xfrm>
            <a:off x="5494789" y="1015069"/>
            <a:ext cx="3505200" cy="310854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LASSO performs estimation of regression coefficients and variable selection simultaneously.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regression coefficients obtained from LASSO are less efficient than those obtained from Ordinary Least Squares (OLS).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è"/>
            </a:pPr>
            <a:r>
              <a:rPr lang="en-US" sz="16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After using LASSO to select the model, use OLS to estimate the (final) regression coefficients.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29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58" y="148844"/>
            <a:ext cx="8562392" cy="60616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Choosing </a:t>
            </a:r>
            <a:r>
              <a:rPr lang="en-US" sz="3600" dirty="0">
                <a:latin typeface="Symbol" panose="05050102010706020507" pitchFamily="18" charset="2"/>
              </a:rPr>
              <a:t>l</a:t>
            </a:r>
            <a:r>
              <a:rPr lang="en-US" sz="3600" dirty="0">
                <a:latin typeface="Vitesse"/>
              </a:rPr>
              <a:t>: Cross-Validation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8221" y="897285"/>
                <a:ext cx="8802498" cy="3502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ts val="0"/>
                  </a:spcBef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Split the data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dPr>
                          <m:e>
                            <m:r>
                              <a:rPr lang="en-US" alt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𝑥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11</m:t>
                            </m:r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,</m:t>
                            </m:r>
                            <m:r>
                              <a:rPr lang="en-US" alt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⋯</m:t>
                            </m:r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, </m:t>
                            </m:r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𝑥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1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𝑝</m:t>
                            </m:r>
                          </m:e>
                        </m:d>
                        <m:r>
                          <a:rPr lang="en-US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, </m:t>
                        </m:r>
                        <m:r>
                          <a:rPr lang="en-US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𝑦</m:t>
                        </m:r>
                        <m:r>
                          <a:rPr lang="en-US" altLang="en-US" sz="1800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1</m:t>
                        </m:r>
                      </m:e>
                    </m:d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,⋯,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dPr>
                          <m:e>
                            <m:r>
                              <a:rPr lang="en-US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𝑥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𝑛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1,⋯, </m:t>
                            </m:r>
                            <m:r>
                              <a:rPr lang="en-US" altLang="en-US" sz="1800" i="1" dirty="0" err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𝑥</m:t>
                            </m:r>
                            <m:r>
                              <a:rPr lang="en-US" altLang="en-US" sz="1800" i="1" baseline="-25000" dirty="0" err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𝑛𝑝</m:t>
                            </m:r>
                            <m:r>
                              <a:rPr lang="en-US" altLang="en-US" sz="1800" i="1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, </m:t>
                        </m:r>
                        <m:r>
                          <a:rPr lang="en-US" altLang="en-US" sz="1800" i="1" dirty="0" err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𝑦</m:t>
                        </m:r>
                        <m:r>
                          <a:rPr lang="en-US" altLang="en-US" sz="1800" i="1" baseline="-25000" dirty="0" err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into two sets.</a:t>
                </a:r>
              </a:p>
              <a:p>
                <a:pPr marL="344488" lvl="0" indent="-344488">
                  <a:lnSpc>
                    <a:spcPct val="12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Training set</a:t>
                </a:r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687388" lvl="1" indent="-347663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to fit the penalized model</a:t>
                </a:r>
              </a:p>
              <a:p>
                <a:pPr marL="1044575" lvl="2" indent="-357188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⋯</m:t>
                    </m:r>
                    <m:r>
                      <a:rPr lang="en-US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600" dirty="0">
                  <a:solidFill>
                    <a:prstClr val="black"/>
                  </a:solidFill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lvl="0" indent="-344488">
                  <a:lnSpc>
                    <a:spcPct val="12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Testing/Validation set</a:t>
                </a:r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687388" lvl="1" indent="-347663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to evaluate performance of model obtained with training set</a:t>
                </a:r>
              </a:p>
              <a:p>
                <a:pPr marL="1044575" lvl="2" indent="-357188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mean squared error (MSE)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normal regression</a:t>
                </a:r>
              </a:p>
              <a:p>
                <a:pPr marL="1044575" lvl="2" indent="-357188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classification error rate for logistic regression</a:t>
                </a:r>
              </a:p>
              <a:p>
                <a:pPr marL="1044575" lvl="2" indent="-357188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sum of squared deviances for Poisson regression</a:t>
                </a:r>
              </a:p>
              <a:p>
                <a:pPr marL="1044575" lvl="2" indent="-357188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Generally, estimate a scoring rule depending on the regression problem</a:t>
                </a:r>
                <a:endParaRPr lang="en-US" sz="1800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8221" y="897285"/>
                <a:ext cx="8802498" cy="3502305"/>
              </a:xfrm>
              <a:prstGeom prst="rect">
                <a:avLst/>
              </a:prstGeom>
              <a:blipFill>
                <a:blip r:embed="rId4"/>
                <a:stretch>
                  <a:fillRect l="-554" t="-870" b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456418B-7600-4C84-ACD2-55C09F205F01}"/>
              </a:ext>
            </a:extLst>
          </p:cNvPr>
          <p:cNvSpPr txBox="1"/>
          <p:nvPr/>
        </p:nvSpPr>
        <p:spPr>
          <a:xfrm>
            <a:off x="201156" y="4516213"/>
            <a:ext cx="4933082" cy="461665"/>
          </a:xfrm>
          <a:prstGeom prst="rect">
            <a:avLst/>
          </a:prstGeom>
          <a:ln w="19050">
            <a:solidFill>
              <a:srgbClr val="3F6CAF"/>
            </a:solidFill>
          </a:ln>
        </p:spPr>
        <p:txBody>
          <a:bodyPr vert="horz" wrap="none" lIns="182880" tIns="91440" rIns="182880" bIns="91440" rtlCol="0" anchor="ctr" anchorCtr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process can be repeated for multiple </a:t>
            </a:r>
            <a:r>
              <a:rPr lang="en-US" dirty="0">
                <a:latin typeface="Symbol" panose="05050102010706020507" pitchFamily="18" charset="2"/>
              </a:rPr>
              <a:t>l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42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69" y="157233"/>
            <a:ext cx="8562392" cy="57261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Cross Validation: How to Split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98257" y="904615"/>
                <a:ext cx="8893343" cy="36009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lvl="0"/>
                <a:r>
                  <a:rPr lang="en-US" b="1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K-fold cross-validation (KCV) </a:t>
                </a:r>
              </a:p>
              <a:p>
                <a:pPr marL="344488" lvl="0" indent="-344488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Divide data into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chunks of approximately equal size</a:t>
                </a:r>
              </a:p>
              <a:p>
                <a:pPr marL="344488" lvl="0" indent="-344488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For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a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 values,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and for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1 to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</a:p>
              <a:p>
                <a:pPr marL="687388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The training set consists of data without the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dirty="0" err="1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fold of data, and the testing set consists of 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the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dirty="0" err="1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</a:t>
                </a:r>
              </a:p>
              <a:p>
                <a:pPr marL="687388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 fit a model on the training data and predict responses</a:t>
                </a:r>
              </a:p>
              <a:p>
                <a:pPr marL="687388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 compute mean squared error or classification error rate for the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dirty="0" err="1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fold testing data</a:t>
                </a:r>
              </a:p>
              <a:p>
                <a:pPr marL="687388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 after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K</a:t>
                </a:r>
                <a:r>
                  <a:rPr lang="en-US" i="1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folds have been processed, compute overall error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(e.g., MSE or classification error) for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for</a:t>
                </a:r>
                <a:r>
                  <a:rPr lang="en-US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all folds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</a:t>
                </a:r>
                <a:r>
                  <a:rPr lang="en-US" dirty="0">
                    <a:solidFill>
                      <a:srgbClr val="3F6CAF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Select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 providing minimum overall error</a:t>
                </a:r>
                <a:endParaRPr lang="en-US" dirty="0">
                  <a:solidFill>
                    <a:prstClr val="black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257" y="904615"/>
                <a:ext cx="8893343" cy="3600986"/>
              </a:xfrm>
              <a:prstGeom prst="rect">
                <a:avLst/>
              </a:prstGeom>
              <a:blipFill>
                <a:blip r:embed="rId5"/>
                <a:stretch>
                  <a:fillRect l="-548" t="-846" b="-16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731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="" xmlns:p188="http://schemas.microsoft.com/office/powerpoint/2018/8/main" r:id="rId4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1" y="157233"/>
            <a:ext cx="8562392" cy="56154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Ridge vs. LASSO Regression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303503"/>
              </p:ext>
            </p:extLst>
          </p:nvPr>
        </p:nvGraphicFramePr>
        <p:xfrm>
          <a:off x="370063" y="1110848"/>
          <a:ext cx="3617913" cy="3293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Bitmap Image" r:id="rId5" imgW="7816680" imgH="8782200" progId="Paint.Picture">
                  <p:embed/>
                </p:oleObj>
              </mc:Choice>
              <mc:Fallback>
                <p:oleObj name="Bitmap Image" r:id="rId5" imgW="7816680" imgH="8782200" progId="Paint.Picture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>
                        <a:lum/>
                        <a:alphaModFix/>
                      </a:blip>
                      <a:stretch>
                        <a:fillRect/>
                      </a:stretch>
                    </p:blipFill>
                    <p:spPr>
                      <a:xfrm>
                        <a:off x="370063" y="1110848"/>
                        <a:ext cx="3617913" cy="3293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8004" y="1163705"/>
            <a:ext cx="3408271" cy="3361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flipH="1">
            <a:off x="110868" y="4546953"/>
            <a:ext cx="747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100" i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From Hastie, T., </a:t>
            </a:r>
            <a:r>
              <a:rPr lang="en-US" sz="1100" dirty="0" err="1">
                <a:latin typeface="Helvetica" panose="020B0604020202020204" pitchFamily="34" charset="0"/>
                <a:cs typeface="Helvetica" panose="020B0604020202020204" pitchFamily="34" charset="0"/>
              </a:rPr>
              <a:t>Tibshirani</a:t>
            </a:r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, R., Friedman, J. (2001), </a:t>
            </a:r>
            <a:r>
              <a:rPr lang="en-US" sz="1100" i="1" dirty="0">
                <a:latin typeface="Helvetica" panose="020B0604020202020204" pitchFamily="34" charset="0"/>
                <a:cs typeface="Helvetica" panose="020B0604020202020204" pitchFamily="34" charset="0"/>
              </a:rPr>
              <a:t>The Elements of Statistical Learning</a:t>
            </a:r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, Springer Series in Statistics.  </a:t>
            </a:r>
          </a:p>
        </p:txBody>
      </p:sp>
      <p:sp>
        <p:nvSpPr>
          <p:cNvPr id="6" name="Oval 5"/>
          <p:cNvSpPr/>
          <p:nvPr/>
        </p:nvSpPr>
        <p:spPr>
          <a:xfrm>
            <a:off x="7058483" y="1164240"/>
            <a:ext cx="314326" cy="13893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030703" y="2065964"/>
            <a:ext cx="406400" cy="161927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293727" y="1175378"/>
            <a:ext cx="349250" cy="14049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274677" y="2065965"/>
            <a:ext cx="431006" cy="18244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06760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</p:bldLst>
  </p:timing>
  <p:extLst>
    <p:ext uri="{6950BFC3-D8DA-4A85-94F7-54DA5524770B}">
      <p188:commentRel xmlns="" xmlns:p188="http://schemas.microsoft.com/office/powerpoint/2018/8/main" r:id="rId8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52227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LASSO: Limitations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00445" y="902810"/>
            <a:ext cx="763442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4488" lvl="0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LASSO selects only up to </a:t>
            </a:r>
            <a:r>
              <a:rPr lang="en-US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variables</a:t>
            </a:r>
          </a:p>
          <a:p>
            <a:pPr marL="687388" lvl="1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is the number of observations</a:t>
            </a:r>
          </a:p>
          <a:p>
            <a:pPr marL="687388" lvl="1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If the number of potential predictors is greater than the number of observations, LASSO will select at most </a:t>
            </a:r>
            <a:r>
              <a:rPr lang="en-US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of them</a:t>
            </a:r>
          </a:p>
          <a:p>
            <a:pPr marL="687388" lvl="1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Since, normally, </a:t>
            </a:r>
            <a:r>
              <a:rPr lang="en-US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 &gt; </a:t>
            </a:r>
            <a:r>
              <a:rPr lang="en-US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, not a significant limitation</a:t>
            </a:r>
          </a:p>
          <a:p>
            <a:pPr marL="344488" lvl="0" indent="-344488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If there are high correlations among predictors</a:t>
            </a:r>
          </a:p>
          <a:p>
            <a:pPr marL="687388" lvl="1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LASSO is dominated by ridge regression</a:t>
            </a:r>
          </a:p>
          <a:p>
            <a:pPr marL="344488" indent="-344488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there is a group of variables with high correlation</a:t>
            </a:r>
          </a:p>
          <a:p>
            <a:pPr marL="687388" lvl="1" indent="-3444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LASSO tends to select only one variable from the group</a:t>
            </a:r>
          </a:p>
          <a:p>
            <a:pPr marL="1031875" lvl="2" indent="-3460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LASSO doesn't care which one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577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8477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279" y="901030"/>
                <a:ext cx="8064500" cy="310051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Elastic Net minimizes</a:t>
                </a: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 generates a sparse model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Removes the limitation on the number of selected variables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Encourages group effect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Stabilizes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regularization path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279" y="901030"/>
                <a:ext cx="8064500" cy="3100519"/>
              </a:xfrm>
              <a:prstGeom prst="rect">
                <a:avLst/>
              </a:prstGeom>
              <a:blipFill>
                <a:blip r:embed="rId5"/>
                <a:stretch>
                  <a:fillRect l="-605" t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282238" y="1287518"/>
                <a:ext cx="6481967" cy="866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238" y="1287518"/>
                <a:ext cx="6481967" cy="866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07766" y="4508980"/>
            <a:ext cx="6762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Reference</a:t>
            </a:r>
            <a:r>
              <a:rPr lang="en-US" sz="12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Hui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Zou and Trevor Hastie. "Regularization and variable selection via the elastic net." 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Journal of the Royal Statistical Society: Series B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67.2 (2005): 301-320.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6" name="Oval 5"/>
          <p:cNvSpPr/>
          <p:nvPr/>
        </p:nvSpPr>
        <p:spPr>
          <a:xfrm>
            <a:off x="4335709" y="1295787"/>
            <a:ext cx="971550" cy="866774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47407" y="1285136"/>
            <a:ext cx="971551" cy="877665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97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  <p:extLst>
    <p:ext uri="{6950BFC3-D8DA-4A85-94F7-54DA5524770B}">
      <p188:commentRel xmlns="" xmlns:p188="http://schemas.microsoft.com/office/powerpoint/2018/8/main" r:id="rId4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BxE4HN8A"/>
  <p:tag name="ARTICULATE_DESIGN_ID_4_FULL PAGE LAYOUT" val="ntfY31pc"/>
  <p:tag name="ARTICULATE_DESIGN_ID_FULL PAGE LAYOUT" val="lDcY0pzz"/>
  <p:tag name="ARTICULATE_DESIGN_ID_1_HALF PAGE SLASH" val="JD7yPw5u"/>
  <p:tag name="ARTICULATE_DESIGN_ID_2_HALF PAGE SLASH" val="8j3BEgld"/>
  <p:tag name="ARTICULATE_DESIGN_ID_1_FULL PAGE LAYOUT" val="XldpaKCm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057fda7-913b-4ab6-8820-932873bcd66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17055</TotalTime>
  <Words>441</Words>
  <Application>Microsoft Office PowerPoint</Application>
  <PresentationFormat>On-screen Show (16:9)</PresentationFormat>
  <Paragraphs>120</Paragraphs>
  <Slides>12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MS PGothic</vt:lpstr>
      <vt:lpstr>Arial</vt:lpstr>
      <vt:lpstr>Calibri</vt:lpstr>
      <vt:lpstr>Cambria Math</vt:lpstr>
      <vt:lpstr>Helvetica</vt:lpstr>
      <vt:lpstr>Helvetica Neue</vt:lpstr>
      <vt:lpstr>Symbol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Bitmap Image</vt:lpstr>
      <vt:lpstr>PowerPoint Presentation</vt:lpstr>
      <vt:lpstr>PowerPoint Presentation</vt:lpstr>
      <vt:lpstr>Variable Standardization &amp; Notation</vt:lpstr>
      <vt:lpstr>Ridge Regression</vt:lpstr>
      <vt:lpstr>LASSO Regression</vt:lpstr>
      <vt:lpstr>LASSO Regression</vt:lpstr>
      <vt:lpstr>Choosing l: Cross-Validation </vt:lpstr>
      <vt:lpstr>Cross Validation: How to Split Data?</vt:lpstr>
      <vt:lpstr>Ridge vs. LASSO Regression</vt:lpstr>
      <vt:lpstr>LASSO: Limitations</vt:lpstr>
      <vt:lpstr>Elastic Net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801</cp:revision>
  <dcterms:modified xsi:type="dcterms:W3CDTF">2021-07-08T09:02:00Z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BE0EC3DE-E873-45AE-A506-651D4566E3E7</vt:lpwstr>
  </property>
  <property fmtid="{D5CDD505-2E9C-101B-9397-08002B2CF9AE}" pid="4" name="ArticulatePath">
    <vt:lpwstr>07-ModSel_Concept-L7_revised v051320</vt:lpwstr>
  </property>
</Properties>
</file>