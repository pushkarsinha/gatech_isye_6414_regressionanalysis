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heme/theme2.xml" ContentType="application/vnd.openxmlformats-officedocument.theme+xml"/>
  <Override PartName="/ppt/tags/tag11.xml" ContentType="application/vnd.openxmlformats-officedocument.presentationml.tags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3.xml" ContentType="application/vnd.openxmlformats-officedocument.them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heme/theme4.xml" ContentType="application/vnd.openxmlformats-officedocument.them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1.xml" ContentType="application/vnd.openxmlformats-officedocument.presentationml.notesSlide+xml"/>
  <Override PartName="/ppt/tags/tag22.xml" ContentType="application/vnd.openxmlformats-officedocument.presentationml.tags+xml"/>
  <Override PartName="/ppt/notesSlides/notesSlide2.xml" ContentType="application/vnd.openxmlformats-officedocument.presentationml.notesSlide+xml"/>
  <Override PartName="/ppt/tags/tag23.xml" ContentType="application/vnd.openxmlformats-officedocument.presentationml.tags+xml"/>
  <Override PartName="/ppt/notesSlides/notesSlide3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notesSlides/notesSlide4.xml" ContentType="application/vnd.openxmlformats-officedocument.presentationml.notesSlide+xml"/>
  <Override PartName="/ppt/tags/tag27.xml" ContentType="application/vnd.openxmlformats-officedocument.presentationml.tags+xml"/>
  <Override PartName="/ppt/notesSlides/notesSlide5.xml" ContentType="application/vnd.openxmlformats-officedocument.presentationml.notesSlide+xml"/>
  <Override PartName="/ppt/tags/tag28.xml" ContentType="application/vnd.openxmlformats-officedocument.presentationml.tags+xml"/>
  <Override PartName="/ppt/notesSlides/notesSlide6.xml" ContentType="application/vnd.openxmlformats-officedocument.presentationml.notesSlide+xml"/>
  <Override PartName="/ppt/tags/tag29.xml" ContentType="application/vnd.openxmlformats-officedocument.presentationml.tags+xml"/>
  <Override PartName="/ppt/notesSlides/notesSlide7.xml" ContentType="application/vnd.openxmlformats-officedocument.presentationml.notesSlide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notesSlides/notesSlide8.xml" ContentType="application/vnd.openxmlformats-officedocument.presentationml.notesSlide+xml"/>
  <Override PartName="/ppt/tags/tag33.xml" ContentType="application/vnd.openxmlformats-officedocument.presentationml.tags+xml"/>
  <Override PartName="/ppt/notesSlides/notesSlide9.xml" ContentType="application/vnd.openxmlformats-officedocument.presentationml.notesSlide+xml"/>
  <Override PartName="/ppt/tags/tag34.xml" ContentType="application/vnd.openxmlformats-officedocument.presentationml.tags+xml"/>
  <Override PartName="/ppt/notesSlides/notesSlide10.xml" ContentType="application/vnd.openxmlformats-officedocument.presentationml.notesSlide+xml"/>
  <Override PartName="/ppt/tags/tag35.xml" ContentType="application/vnd.openxmlformats-officedocument.presentationml.tags+xml"/>
  <Override PartName="/ppt/notesSlides/notesSlide11.xml" ContentType="application/vnd.openxmlformats-officedocument.presentationml.notesSlide+xml"/>
  <Override PartName="/ppt/tags/tag3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omments/modernComment_177_F687507D.xml" ContentType="application/vnd.ms-powerpoint.comments+xml"/>
  <Override PartName="/ppt/comments/modernComment_173_4E66497F.xml" ContentType="application/vnd.ms-powerpoint.comments+xml"/>
  <Override PartName="/ppt/comments/modernComment_17C_66D34231.xml" ContentType="application/vnd.ms-powerpoint.comments+xml"/>
  <Override PartName="/ppt/comments/modernComment_164_A85E941A.xml" ContentType="application/vnd.ms-powerpoint.comments+xml"/>
  <Override PartName="/ppt/comments/modernComment_17F_2F7EDD90.xml" ContentType="application/vnd.ms-powerpoint.comments+xml"/>
  <Override PartName="/ppt/comments/modernComment_188_39DBA0CD.xml" ContentType="application/vnd.ms-powerpoint.comment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  <p:sldMasterId id="2147483711" r:id="rId2"/>
    <p:sldMasterId id="2147483712" r:id="rId3"/>
  </p:sldMasterIdLst>
  <p:notesMasterIdLst>
    <p:notesMasterId r:id="rId22"/>
  </p:notesMasterIdLst>
  <p:sldIdLst>
    <p:sldId id="489" r:id="rId4"/>
    <p:sldId id="498" r:id="rId5"/>
    <p:sldId id="377" r:id="rId6"/>
    <p:sldId id="376" r:id="rId7"/>
    <p:sldId id="375" r:id="rId8"/>
    <p:sldId id="371" r:id="rId9"/>
    <p:sldId id="380" r:id="rId10"/>
    <p:sldId id="356" r:id="rId11"/>
    <p:sldId id="383" r:id="rId12"/>
    <p:sldId id="357" r:id="rId13"/>
    <p:sldId id="360" r:id="rId14"/>
    <p:sldId id="362" r:id="rId15"/>
    <p:sldId id="387" r:id="rId16"/>
    <p:sldId id="392" r:id="rId17"/>
    <p:sldId id="372" r:id="rId18"/>
    <p:sldId id="366" r:id="rId19"/>
    <p:sldId id="499" r:id="rId20"/>
    <p:sldId id="344" r:id="rId21"/>
  </p:sldIdLst>
  <p:sldSz cx="9144000" cy="5143500" type="screen16x9"/>
  <p:notesSz cx="6858000" cy="9144000"/>
  <p:custDataLst>
    <p:tags r:id="rId23"/>
  </p:custDataLst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pos="120" userDrawn="1">
          <p15:clr>
            <a:srgbClr val="A4A3A4"/>
          </p15:clr>
        </p15:guide>
        <p15:guide id="4" pos="312" userDrawn="1">
          <p15:clr>
            <a:srgbClr val="A4A3A4"/>
          </p15:clr>
        </p15:guide>
        <p15:guide id="5" pos="3456" userDrawn="1">
          <p15:clr>
            <a:srgbClr val="A4A3A4"/>
          </p15:clr>
        </p15:guide>
        <p15:guide id="6" pos="5664" userDrawn="1">
          <p15:clr>
            <a:srgbClr val="A4A3A4"/>
          </p15:clr>
        </p15:guide>
        <p15:guide id="7" orient="horz" pos="396" userDrawn="1">
          <p15:clr>
            <a:srgbClr val="A4A3A4"/>
          </p15:clr>
        </p15:guide>
        <p15:guide id="8" orient="horz" pos="732" userDrawn="1">
          <p15:clr>
            <a:srgbClr val="A4A3A4"/>
          </p15:clr>
        </p15:guide>
        <p15:guide id="9" orient="horz" pos="612" userDrawn="1">
          <p15:clr>
            <a:srgbClr val="A4A3A4"/>
          </p15:clr>
        </p15:guide>
        <p15:guide id="10" orient="horz" pos="3132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E6B6AFC-8BFD-806F-D3AF-75EF9FEA13C7}" name="Richard Levine" initials="RL" userId="Richard Levine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AA00"/>
    <a:srgbClr val="3F6CAF"/>
    <a:srgbClr val="8E4221"/>
    <a:srgbClr val="CC0099"/>
    <a:srgbClr val="0033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566" autoAdjust="0"/>
    <p:restoredTop sz="93632" autoAdjust="0"/>
  </p:normalViewPr>
  <p:slideViewPr>
    <p:cSldViewPr snapToGrid="0">
      <p:cViewPr varScale="1">
        <p:scale>
          <a:sx n="105" d="100"/>
          <a:sy n="105" d="100"/>
        </p:scale>
        <p:origin x="1037" y="72"/>
      </p:cViewPr>
      <p:guideLst>
        <p:guide orient="horz" pos="1620"/>
        <p:guide pos="2880"/>
        <p:guide pos="120"/>
        <p:guide pos="312"/>
        <p:guide pos="3456"/>
        <p:guide pos="5664"/>
        <p:guide orient="horz" pos="396"/>
        <p:guide orient="horz" pos="732"/>
        <p:guide orient="horz" pos="612"/>
        <p:guide orient="horz" pos="313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ags" Target="tags/tag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Relationship Id="rId35" Type="http://schemas.microsoft.com/office/2018/10/relationships/authors" Target="authors.xml"/></Relationships>
</file>

<file path=ppt/comments/modernComment_17C_66D3423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E61D441-FA75-4599-832F-D75E4AADD0D1}" authorId="{0E6B6AFC-8BFD-806F-D3AF-75EF9FEA13C7}" created="2020-04-28T07:40:47.935">
    <pc:sldMkLst xmlns:pc="http://schemas.microsoft.com/office/powerpoint/2013/main/command">
      <pc:docMk/>
      <pc:sldMk cId="1725121073" sldId="380"/>
    </pc:sldMkLst>
    <p188:txBody>
      <a:bodyPr/>
      <a:lstStyle/>
      <a:p>
        <a:r>
          <a:rPr lang="en-US"/>
          <a:t>When this is run multiple times, often RankingsSocial is selected. You may want to make mention of this.</a:t>
        </a:r>
      </a:p>
    </p188:txBody>
  </p188:cm>
</p188:cmLst>
</file>

<file path=ppt/comments/modernComment_17F_2F7EDD9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BD7E0AE-AFA8-4CE9-8580-E3D9FA557AA7}" authorId="{0E6B6AFC-8BFD-806F-D3AF-75EF9FEA13C7}" created="2020-04-28T19:10:09.383">
    <pc:sldMkLst xmlns:pc="http://schemas.microsoft.com/office/powerpoint/2013/main/command">
      <pc:docMk/>
      <pc:sldMk cId="796843408" sldId="383"/>
    </pc:sldMkLst>
    <p188:txBody>
      <a:bodyPr/>
      <a:lstStyle/>
      <a:p>
        <a:r>
          <a:rPr lang="en-US"/>
          <a:t>I've adapted these observations from what was in the original slide to fit my stepwise models. Please check.</a:t>
        </a:r>
      </a:p>
    </p188:txBody>
  </p188:cm>
</p188:cmLst>
</file>

<file path=ppt/comments/modernComment_164_A85E941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8CC8D4B-7160-405E-8315-9CEEC4848565}" authorId="{0E6B6AFC-8BFD-806F-D3AF-75EF9FEA13C7}" created="2020-04-28T08:08:13.974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824770586" sldId="356"/>
      <ac:spMk id="5" creationId="{00000000-0000-0000-0000-000000000000}"/>
    </ac:deMkLst>
    <p188:txBody>
      <a:bodyPr/>
      <a:lstStyle/>
      <a:p>
        <a:r>
          <a:rPr lang="en-US"/>
          <a:t>When I run this, I find forward stepwise regression selecting one more variable, RankingsSocial, than backward or forward-backward regression. In your lecture you mention that all methods produce the same predictors.</a:t>
        </a:r>
      </a:p>
    </p188:txBody>
  </p188:cm>
</p188:cmLst>
</file>

<file path=ppt/comments/modernComment_173_4E66497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DD7606F-A105-4FB2-9C81-D678EAF48FD9}" authorId="{0E6B6AFC-8BFD-806F-D3AF-75EF9FEA13C7}" created="2020-04-28T07:36:22.21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315326335" sldId="371"/>
      <ac:spMk id="71683" creationId="{00000000-0000-0000-0000-000000000000}"/>
    </ac:deMkLst>
    <p188:txBody>
      <a:bodyPr/>
      <a:lstStyle/>
      <a:p>
        <a:r>
          <a:rPr lang="en-US"/>
          <a:t>When this is run multiple times, often RankingsSocial is selected. You may want to make mention of this.</a:t>
        </a:r>
      </a:p>
    </p188:txBody>
  </p188:cm>
</p188:cmLst>
</file>

<file path=ppt/comments/modernComment_177_F687507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EACD98B-4E9D-4A61-B2A8-9D8F5BCAD053}" authorId="{0E6B6AFC-8BFD-806F-D3AF-75EF9FEA13C7}" created="2020-04-28T05:48:24.478">
    <pc:sldMkLst xmlns:pc="http://schemas.microsoft.com/office/powerpoint/2013/main/command">
      <pc:docMk/>
      <pc:sldMk cId="4136063101" sldId="375"/>
    </pc:sldMkLst>
    <p188:txBody>
      <a:bodyPr/>
      <a:lstStyle/>
      <a:p>
        <a:r>
          <a:rPr lang="en-US"/>
          <a:t>On the original slide, suburban was not selected. I think this was due to a coding error in the code file, where the coef call had a wrong argument supplied for the second parameter.</a:t>
        </a:r>
      </a:p>
    </p188:txBody>
  </p188:cm>
</p188:cmLst>
</file>

<file path=ppt/comments/modernComment_188_39DBA0C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4AE2967-19A6-445A-B323-3B3A1AA4564F}" authorId="{0E6B6AFC-8BFD-806F-D3AF-75EF9FEA13C7}" created="2020-04-29T04:31:57.676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970694861" sldId="392"/>
      <ac:spMk id="2" creationId="{00000000-0000-0000-0000-000000000000}"/>
    </ac:deMkLst>
    <p188:txBody>
      <a:bodyPr/>
      <a:lstStyle/>
      <a:p>
        <a:r>
          <a:rPr lang="en-US"/>
          <a:t>The results here are slightly different than on the original slide and in the video. Both HealthyPop and ChronicPop were statistically significant at alpha=0.05 and are no longer. UrbanicityUrban was statistically significant at alpha=0.05 and no longer is. Additionally, it might be noted that some of the coefficients have changed sign, including PO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C358C8-D37B-4DB3-A032-059E1BD5A650}" type="datetimeFigureOut">
              <a:rPr lang="en-US" smtClean="0"/>
              <a:t>6/4/2021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BE3481-38DB-434B-B170-CFE83842A5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398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BE3481-38DB-434B-B170-CFE83842A57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1634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BE3481-38DB-434B-B170-CFE83842A57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4658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BE3481-38DB-434B-B170-CFE83842A57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4539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BE3481-38DB-434B-B170-CFE83842A57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8367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BE3481-38DB-434B-B170-CFE83842A57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4702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BE3481-38DB-434B-B170-CFE83842A57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0290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BE3481-38DB-434B-B170-CFE83842A57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632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BE3481-38DB-434B-B170-CFE83842A57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3747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BE3481-38DB-434B-B170-CFE83842A57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7160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BE3481-38DB-434B-B170-CFE83842A57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2469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BE3481-38DB-434B-B170-CFE83842A57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4082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13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14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15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16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17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1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481920" y="1421266"/>
            <a:ext cx="4727575" cy="13303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38650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5520941" cy="993775"/>
          </a:xfrm>
          <a:prstGeom prst="rect">
            <a:avLst/>
          </a:prstGeom>
        </p:spPr>
        <p:txBody>
          <a:bodyPr/>
          <a:lstStyle>
            <a:lvl1pPr algn="l">
              <a:defRPr lang="en-US" sz="44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628649" y="1436688"/>
            <a:ext cx="4375430" cy="2994025"/>
          </a:xfrm>
          <a:prstGeom prst="rect">
            <a:avLst/>
          </a:prstGeom>
        </p:spPr>
        <p:txBody>
          <a:bodyPr/>
          <a:lstStyle>
            <a:lvl1pPr>
              <a:defRPr>
                <a:latin typeface="Vitesse Book" charset="0"/>
                <a:ea typeface="Vitesse Book" charset="0"/>
                <a:cs typeface="Vitesse Book" charset="0"/>
              </a:defRPr>
            </a:lvl1pPr>
            <a:lvl2pPr>
              <a:defRPr>
                <a:latin typeface="Vitesse Book" charset="0"/>
                <a:ea typeface="Vitesse Book" charset="0"/>
                <a:cs typeface="Vitesse Book" charset="0"/>
              </a:defRPr>
            </a:lvl2pPr>
            <a:lvl3pPr>
              <a:defRPr>
                <a:latin typeface="Vitesse Book" charset="0"/>
                <a:ea typeface="Vitesse Book" charset="0"/>
                <a:cs typeface="Vitesse Book" charset="0"/>
              </a:defRPr>
            </a:lvl3pPr>
            <a:lvl4pPr>
              <a:defRPr>
                <a:latin typeface="Vitesse Book" charset="0"/>
                <a:ea typeface="Vitesse Book" charset="0"/>
                <a:cs typeface="Vitesse Book" charset="0"/>
              </a:defRPr>
            </a:lvl4pPr>
            <a:lvl5pPr>
              <a:defRPr>
                <a:latin typeface="Vitesse Book" charset="0"/>
                <a:ea typeface="Vitesse Book" charset="0"/>
                <a:cs typeface="Vitesse Book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647896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002E78-3C88-9A40-B579-FA4DB2691E4F}" type="slidenum"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rPr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543715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7631784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34F0668-60AC-E24C-8E50-B74DE0FA4F02}" type="slidenum"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rPr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28179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349" y="274679"/>
            <a:ext cx="6182318" cy="993775"/>
          </a:xfrm>
          <a:prstGeom prst="rect">
            <a:avLst/>
          </a:prstGeom>
        </p:spPr>
        <p:txBody>
          <a:bodyPr/>
          <a:lstStyle>
            <a:lvl1pPr algn="l">
              <a:defRPr lang="en-US" sz="3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66522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562392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22335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ull Page w/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52347" y="1268453"/>
            <a:ext cx="8449503" cy="3286125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 </a:t>
            </a:r>
          </a:p>
          <a:p>
            <a:r>
              <a:rPr lang="en-US" sz="1800" dirty="0"/>
              <a:t>of the printing and typesetting industry. </a:t>
            </a:r>
            <a:r>
              <a:rPr lang="en-US" sz="1800" dirty="0" err="1"/>
              <a:t>Lorem</a:t>
            </a:r>
            <a:r>
              <a:rPr lang="en-US" sz="1800" dirty="0"/>
              <a:t> </a:t>
            </a:r>
            <a:r>
              <a:rPr lang="en-US" sz="1800" dirty="0" err="1"/>
              <a:t>Ipsum</a:t>
            </a:r>
            <a:r>
              <a:rPr lang="en-US" sz="1800" dirty="0"/>
              <a:t> has been the industry's standard dummy text ever since the 1500s, when an unknown printer took a galley of type and scrambled it to make a type specimen book. 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449503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88727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562392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663709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5"/>
          <p:cNvSpPr>
            <a:spLocks noGrp="1"/>
          </p:cNvSpPr>
          <p:nvPr>
            <p:ph sz="quarter" idx="10"/>
          </p:nvPr>
        </p:nvSpPr>
        <p:spPr>
          <a:xfrm>
            <a:off x="252349" y="1268453"/>
            <a:ext cx="8280166" cy="3519917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Helvetica" charset="0"/>
                <a:ea typeface="Helvetica" charset="0"/>
                <a:cs typeface="Helvetica" charset="0"/>
              </a:defRPr>
            </a:lvl1pPr>
            <a:lvl2pPr>
              <a:defRPr sz="1800">
                <a:latin typeface="Helvetica" charset="0"/>
                <a:ea typeface="Helvetica" charset="0"/>
                <a:cs typeface="Helvetica" charset="0"/>
              </a:defRPr>
            </a:lvl2pPr>
            <a:lvl3pPr>
              <a:defRPr sz="1800">
                <a:latin typeface="Helvetica" charset="0"/>
                <a:ea typeface="Helvetica" charset="0"/>
                <a:cs typeface="Helvetica" charset="0"/>
              </a:defRPr>
            </a:lvl3pPr>
            <a:lvl4pPr>
              <a:defRPr sz="1800">
                <a:latin typeface="Helvetica" charset="0"/>
                <a:ea typeface="Helvetica" charset="0"/>
                <a:cs typeface="Helvetica" charset="0"/>
              </a:defRPr>
            </a:lvl4pPr>
            <a:lvl5pPr>
              <a:defRPr sz="1800">
                <a:latin typeface="Helvetica" charset="0"/>
                <a:ea typeface="Helvetica" charset="0"/>
                <a:cs typeface="Helvetica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280166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309494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52347" y="1268453"/>
            <a:ext cx="8449503" cy="3286125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 </a:t>
            </a:r>
          </a:p>
          <a:p>
            <a:r>
              <a:rPr lang="en-US" sz="1800" dirty="0"/>
              <a:t>of the printing and typesetting industry. </a:t>
            </a:r>
            <a:r>
              <a:rPr lang="en-US" sz="1800" dirty="0" err="1"/>
              <a:t>Lorem</a:t>
            </a:r>
            <a:r>
              <a:rPr lang="en-US" sz="1800" dirty="0"/>
              <a:t> </a:t>
            </a:r>
            <a:r>
              <a:rPr lang="en-US" sz="1800" dirty="0" err="1"/>
              <a:t>Ipsum</a:t>
            </a:r>
            <a:r>
              <a:rPr lang="en-US" sz="1800" dirty="0"/>
              <a:t> has been the industry's standard dummy text ever since the 1500s, when an unknown printer took a galley of type and scrambled it to make a type specimen book. 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449503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956270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Text +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33538" y="1110075"/>
            <a:ext cx="3595277" cy="3612444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text.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6" name="Chart Placeholder 3"/>
          <p:cNvSpPr>
            <a:spLocks noGrp="1"/>
          </p:cNvSpPr>
          <p:nvPr>
            <p:ph type="chart" sz="quarter" idx="11"/>
          </p:nvPr>
        </p:nvSpPr>
        <p:spPr>
          <a:xfrm>
            <a:off x="3828815" y="1110075"/>
            <a:ext cx="4948296" cy="36124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303236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rt Placeholder 3"/>
          <p:cNvSpPr>
            <a:spLocks noGrp="1"/>
          </p:cNvSpPr>
          <p:nvPr>
            <p:ph type="chart" sz="quarter" idx="10"/>
          </p:nvPr>
        </p:nvSpPr>
        <p:spPr>
          <a:xfrm>
            <a:off x="252349" y="1268453"/>
            <a:ext cx="8110832" cy="35643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475880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349" y="274679"/>
            <a:ext cx="6182318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00818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0" Type="http://schemas.openxmlformats.org/officeDocument/2006/relationships/tags" Target="../tags/tag2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ags" Target="../tags/tag11.xml"/><Relationship Id="rId1" Type="http://schemas.openxmlformats.org/officeDocument/2006/relationships/theme" Target="../theme/theme2.xml"/><Relationship Id="rId6" Type="http://schemas.openxmlformats.org/officeDocument/2006/relationships/image" Target="../media/image1.jp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ags" Target="../tags/tag12.xml"/><Relationship Id="rId3" Type="http://schemas.openxmlformats.org/officeDocument/2006/relationships/slideLayout" Target="../slideLayouts/slideLayout11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image" Target="../media/image4.png"/><Relationship Id="rId5" Type="http://schemas.openxmlformats.org/officeDocument/2006/relationships/slideLayout" Target="../slideLayouts/slideLayout13.xml"/><Relationship Id="rId10" Type="http://schemas.openxmlformats.org/officeDocument/2006/relationships/image" Target="../media/image3.png"/><Relationship Id="rId4" Type="http://schemas.openxmlformats.org/officeDocument/2006/relationships/slideLayout" Target="../slideLayouts/slideLayout12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13BCFA4D-1CC5-4243-98FC-591DF878C6E5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custDataLst>
      <p:tags r:id="rId10"/>
    </p:custDataLst>
    <p:extLst>
      <p:ext uri="{BB962C8B-B14F-4D97-AF65-F5344CB8AC3E}">
        <p14:creationId xmlns:p14="http://schemas.microsoft.com/office/powerpoint/2010/main" val="1228021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0" y="0"/>
            <a:ext cx="9142647" cy="5144187"/>
            <a:chOff x="0" y="0"/>
            <a:chExt cx="9142647" cy="5144187"/>
          </a:xfrm>
        </p:grpSpPr>
        <p:pic>
          <p:nvPicPr>
            <p:cNvPr id="5" name="Picture 4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 flipH="1" flipV="1">
              <a:off x="5423765" y="2211757"/>
              <a:ext cx="3718882" cy="293243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xmlns="" id="{5BC3A035-B0EE-3A43-AADA-02BA46FB09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8111132" y="4644572"/>
              <a:ext cx="945783" cy="401634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5"/>
            <a:stretch>
              <a:fillRect/>
            </a:stretch>
          </p:blipFill>
          <p:spPr>
            <a:xfrm>
              <a:off x="0" y="0"/>
              <a:ext cx="3719590" cy="2933934"/>
            </a:xfrm>
            <a:prstGeom prst="rect">
              <a:avLst/>
            </a:prstGeom>
          </p:spPr>
        </p:pic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13BCFA4D-1CC5-4243-98FC-591DF878C6E5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4036886347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0" y="0"/>
            <a:ext cx="9142647" cy="5144187"/>
            <a:chOff x="0" y="0"/>
            <a:chExt cx="9142647" cy="5144187"/>
          </a:xfrm>
        </p:grpSpPr>
        <p:pic>
          <p:nvPicPr>
            <p:cNvPr id="4" name="Picture 3"/>
            <p:cNvPicPr>
              <a:picLocks noChangeAspect="1"/>
            </p:cNvPicPr>
            <p:nvPr userDrawn="1"/>
          </p:nvPicPr>
          <p:blipFill>
            <a:blip r:embed="rId9"/>
            <a:stretch>
              <a:fillRect/>
            </a:stretch>
          </p:blipFill>
          <p:spPr>
            <a:xfrm flipH="1" flipV="1">
              <a:off x="5423765" y="2211757"/>
              <a:ext cx="3718882" cy="293243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xmlns="" id="{5BC3A035-B0EE-3A43-AADA-02BA46FB09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/>
            <a:stretch>
              <a:fillRect/>
            </a:stretch>
          </p:blipFill>
          <p:spPr>
            <a:xfrm>
              <a:off x="8111132" y="4644572"/>
              <a:ext cx="945783" cy="401634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11"/>
            <a:stretch>
              <a:fillRect/>
            </a:stretch>
          </p:blipFill>
          <p:spPr>
            <a:xfrm>
              <a:off x="0" y="0"/>
              <a:ext cx="3719590" cy="2933934"/>
            </a:xfrm>
            <a:prstGeom prst="rect">
              <a:avLst/>
            </a:prstGeom>
          </p:spPr>
        </p:pic>
      </p:grpSp>
    </p:spTree>
    <p:custDataLst>
      <p:tags r:id="rId8"/>
    </p:custDataLst>
    <p:extLst>
      <p:ext uri="{BB962C8B-B14F-4D97-AF65-F5344CB8AC3E}">
        <p14:creationId xmlns:p14="http://schemas.microsoft.com/office/powerpoint/2010/main" val="24818474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Arial"/>
        <a:buNone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tags" Target="../tags/tag1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3.xml"/><Relationship Id="rId5" Type="http://schemas.microsoft.com/office/2018/10/relationships/comments" Target="../comments/modernComment_177_F687507D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73_4E66497F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5.xml"/><Relationship Id="rId4" Type="http://schemas.microsoft.com/office/2018/10/relationships/comments" Target="../comments/modernComment_17C_66D3423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6.xml"/><Relationship Id="rId4" Type="http://schemas.microsoft.com/office/2018/10/relationships/comments" Target="../comments/modernComment_164_A85E941A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7.xml"/><Relationship Id="rId4" Type="http://schemas.microsoft.com/office/2018/10/relationships/comments" Target="../comments/modernComment_17F_2F7EDD9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tags" Target="../tags/tag3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3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32.xml"/><Relationship Id="rId6" Type="http://schemas.microsoft.com/office/2018/10/relationships/comments" Target="../comments/modernComment_188_39DBA0CD.xml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3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3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3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/>
        </p:nvSpPr>
        <p:spPr>
          <a:xfrm>
            <a:off x="73091" y="163290"/>
            <a:ext cx="6173436" cy="534636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4000" b="0" i="0" kern="1200" dirty="0">
                <a:solidFill>
                  <a:schemeClr val="tx1"/>
                </a:solidFill>
                <a:latin typeface="Vitesse Bold"/>
                <a:ea typeface="Vitesse" charset="0"/>
                <a:cs typeface="Vitesse Bold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itesse" charset="0"/>
                <a:cs typeface="Vitesse" charset="0"/>
              </a:rPr>
              <a:t>Regression Analysis</a:t>
            </a:r>
          </a:p>
        </p:txBody>
      </p:sp>
      <p:sp>
        <p:nvSpPr>
          <p:cNvPr id="17" name="Text Placeholder 3"/>
          <p:cNvSpPr>
            <a:spLocks noGrp="1"/>
          </p:cNvSpPr>
          <p:nvPr/>
        </p:nvSpPr>
        <p:spPr>
          <a:xfrm>
            <a:off x="85589" y="2018346"/>
            <a:ext cx="4305091" cy="432669"/>
          </a:xfrm>
          <a:prstGeom prst="rect">
            <a:avLst/>
          </a:prstGeom>
        </p:spPr>
        <p:txBody>
          <a:bodyPr anchor="ctr"/>
          <a:lstStyle>
            <a:lvl1pPr marL="0" indent="0" algn="l" defTabSz="457200" rtl="0" eaLnBrk="1" latinLnBrk="0" hangingPunct="1">
              <a:lnSpc>
                <a:spcPts val="1400"/>
              </a:lnSpc>
              <a:spcBef>
                <a:spcPct val="20000"/>
              </a:spcBef>
              <a:buFont typeface="Arial"/>
              <a:buNone/>
              <a:defRPr lang="en-US" sz="2400" b="1" kern="1200" baseline="0" dirty="0">
                <a:solidFill>
                  <a:srgbClr val="EEB21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EAAA00"/>
              </a:solidFill>
              <a:effectLst/>
              <a:uLnTx/>
              <a:uFillTx/>
              <a:latin typeface="Helvetica" charset="0"/>
              <a:cs typeface="Helvetica" charset="0"/>
            </a:endParaRPr>
          </a:p>
          <a:p>
            <a:pPr marL="0" marR="0" lvl="0" indent="0" algn="l" defTabSz="457200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EAAA00"/>
                </a:solidFill>
                <a:effectLst/>
                <a:uLnTx/>
                <a:uFillTx/>
                <a:latin typeface="Helvetica" charset="0"/>
                <a:cs typeface="Helvetica" charset="0"/>
              </a:rPr>
              <a:t>Nicoleta Serban, Ph.D. </a:t>
            </a:r>
          </a:p>
        </p:txBody>
      </p:sp>
      <p:sp>
        <p:nvSpPr>
          <p:cNvPr id="18" name="Text Placeholder 4"/>
          <p:cNvSpPr>
            <a:spLocks noGrp="1"/>
          </p:cNvSpPr>
          <p:nvPr/>
        </p:nvSpPr>
        <p:spPr>
          <a:xfrm>
            <a:off x="92366" y="2376336"/>
            <a:ext cx="4305091" cy="254281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0" i="1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charset="0"/>
                <a:cs typeface="Helvetica" charset="0"/>
              </a:rPr>
              <a:t>Professor 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xmlns="" id="{96194DD8-166E-44C1-B715-8F6DC720E8C3}"/>
              </a:ext>
            </a:extLst>
          </p:cNvPr>
          <p:cNvSpPr>
            <a:spLocks noGrp="1"/>
          </p:cNvSpPr>
          <p:nvPr/>
        </p:nvSpPr>
        <p:spPr>
          <a:xfrm>
            <a:off x="109567" y="2661666"/>
            <a:ext cx="4305091" cy="322253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200" b="0" i="0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charset="0"/>
                <a:cs typeface="Helvetica" charset="0"/>
              </a:rPr>
              <a:t>Stewart School of Industrial and Systems Engineering</a:t>
            </a:r>
          </a:p>
        </p:txBody>
      </p:sp>
      <p:sp>
        <p:nvSpPr>
          <p:cNvPr id="9" name="文本占位符 2">
            <a:extLst>
              <a:ext uri="{FF2B5EF4-FFF2-40B4-BE49-F238E27FC236}">
                <a16:creationId xmlns:a16="http://schemas.microsoft.com/office/drawing/2014/main" xmlns="" id="{0095DF2C-BA85-43DF-90C9-B8E19F8A129D}"/>
              </a:ext>
            </a:extLst>
          </p:cNvPr>
          <p:cNvSpPr txBox="1">
            <a:spLocks/>
          </p:cNvSpPr>
          <p:nvPr/>
        </p:nvSpPr>
        <p:spPr>
          <a:xfrm>
            <a:off x="87005" y="643513"/>
            <a:ext cx="6543913" cy="542236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Vitesse Medium"/>
                <a:ea typeface="宋体" panose="02010600030101010101" pitchFamily="2" charset="-122"/>
                <a:cs typeface="+mn-cs"/>
              </a:rPr>
              <a:t>Regression Analysis in Practice</a:t>
            </a:r>
            <a:b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Vitesse Medium"/>
                <a:ea typeface="宋体" panose="02010600030101010101" pitchFamily="2" charset="-122"/>
                <a:cs typeface="+mn-cs"/>
              </a:rPr>
            </a:b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Vitesse Medium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Vitesse Medium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文本占位符 5">
            <a:extLst>
              <a:ext uri="{FF2B5EF4-FFF2-40B4-BE49-F238E27FC236}">
                <a16:creationId xmlns:a16="http://schemas.microsoft.com/office/drawing/2014/main" xmlns="" id="{213D5D62-C7F2-4ABE-A52E-F65B45BC69F3}"/>
              </a:ext>
            </a:extLst>
          </p:cNvPr>
          <p:cNvSpPr txBox="1">
            <a:spLocks/>
          </p:cNvSpPr>
          <p:nvPr/>
        </p:nvSpPr>
        <p:spPr>
          <a:xfrm>
            <a:off x="87662" y="3887709"/>
            <a:ext cx="4273945" cy="681037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 dirty="0">
                <a:solidFill>
                  <a:schemeClr val="tx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Emergency Department Healthcare Costs: Variable Selection</a:t>
            </a:r>
          </a:p>
          <a:p>
            <a:endParaRPr kumimoji="1" lang="zh-CN" altLang="en-US" dirty="0">
              <a:solidFill>
                <a:schemeClr val="tx2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321412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20" t="7499" r="15454" b="5507"/>
          <a:stretch/>
        </p:blipFill>
        <p:spPr>
          <a:xfrm>
            <a:off x="3422383" y="1074049"/>
            <a:ext cx="2392685" cy="3028613"/>
          </a:xfrm>
          <a:prstGeom prst="rect">
            <a:avLst/>
          </a:prstGeom>
        </p:spPr>
      </p:pic>
      <p:sp>
        <p:nvSpPr>
          <p:cNvPr id="2" name="Text Placeholder 1"/>
          <p:cNvSpPr>
            <a:spLocks noGrp="1"/>
          </p:cNvSpPr>
          <p:nvPr>
            <p:ph type="body" sz="quarter" idx="4294967295"/>
          </p:nvPr>
        </p:nvSpPr>
        <p:spPr>
          <a:xfrm>
            <a:off x="121380" y="154185"/>
            <a:ext cx="4727575" cy="731837"/>
          </a:xfrm>
        </p:spPr>
        <p:txBody>
          <a:bodyPr anchor="t">
            <a:normAutofit/>
          </a:bodyPr>
          <a:lstStyle/>
          <a:p>
            <a:pPr>
              <a:spcBef>
                <a:spcPct val="0"/>
              </a:spcBef>
            </a:pPr>
            <a:r>
              <a:rPr lang="en-US" sz="3600" dirty="0">
                <a:latin typeface="Vitesse" charset="0"/>
                <a:ea typeface="Vitesse" charset="0"/>
                <a:cs typeface="Vitesse" charset="0"/>
              </a:rPr>
              <a:t>About This Lesson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57991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 txBox="1">
            <a:spLocks/>
          </p:cNvSpPr>
          <p:nvPr/>
        </p:nvSpPr>
        <p:spPr>
          <a:xfrm>
            <a:off x="72347" y="263340"/>
            <a:ext cx="6684503" cy="500816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pPr fontAlgn="auto">
              <a:lnSpc>
                <a:spcPts val="3400"/>
              </a:lnSpc>
              <a:spcAft>
                <a:spcPts val="0"/>
              </a:spcAft>
            </a:pPr>
            <a:r>
              <a:rPr lang="en-US" sz="3600" dirty="0">
                <a:ea typeface="Vitesse" charset="0"/>
                <a:cs typeface="Vitesse" charset="0"/>
              </a:rPr>
              <a:t>Lasso Regression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3A2CB49D-98D8-4013-8E45-D5C3FAC0B3BA}"/>
              </a:ext>
            </a:extLst>
          </p:cNvPr>
          <p:cNvSpPr txBox="1"/>
          <p:nvPr/>
        </p:nvSpPr>
        <p:spPr>
          <a:xfrm>
            <a:off x="108618" y="995590"/>
            <a:ext cx="7513449" cy="3633367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predictors = </a:t>
            </a:r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as.matrix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(</a:t>
            </a:r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dataAdult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[, -c(1, 2, 3, 4, 5, 10, 13, 18)])</a:t>
            </a:r>
          </a:p>
          <a:p>
            <a:pPr algn="l">
              <a:lnSpc>
                <a:spcPts val="1200"/>
              </a:lnSpc>
            </a:pPr>
            <a:endParaRPr lang="en-US" sz="1200" dirty="0">
              <a:solidFill>
                <a:srgbClr val="8E422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l">
              <a:lnSpc>
                <a:spcPts val="1200"/>
              </a:lnSpc>
            </a:pPr>
            <a:r>
              <a:rPr lang="en-US" sz="1200" b="1" dirty="0">
                <a:solidFill>
                  <a:srgbClr val="EAAA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# Set up indicator (dummy) variables for State and Urbanicity</a:t>
            </a:r>
          </a:p>
          <a:p>
            <a:pPr algn="l">
              <a:lnSpc>
                <a:spcPts val="1200"/>
              </a:lnSpc>
            </a:pPr>
            <a:r>
              <a:rPr lang="en-US" sz="1200" b="1" dirty="0">
                <a:solidFill>
                  <a:srgbClr val="EAAA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# Leave out one indicator (dummy) variable for each group</a:t>
            </a:r>
          </a:p>
          <a:p>
            <a:pPr algn="l">
              <a:lnSpc>
                <a:spcPts val="1200"/>
              </a:lnSpc>
            </a:pPr>
            <a:endParaRPr lang="en-US" sz="1200" i="1" dirty="0">
              <a:solidFill>
                <a:srgbClr val="8E422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l">
              <a:lnSpc>
                <a:spcPts val="1200"/>
              </a:lnSpc>
            </a:pP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#AL= rep(0, </a:t>
            </a:r>
            <a:r>
              <a:rPr lang="en-US" sz="1200" i="1" dirty="0" smtClean="0">
                <a:latin typeface="Helvetica" panose="020B0604020202020204" pitchFamily="34" charset="0"/>
                <a:cs typeface="Helvetica" panose="020B0604020202020204" pitchFamily="34" charset="0"/>
              </a:rPr>
              <a:t>length(State))</a:t>
            </a:r>
            <a:endParaRPr lang="en-US" sz="1200" i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l">
              <a:lnSpc>
                <a:spcPts val="1200"/>
              </a:lnSpc>
            </a:pP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AR = rep(0, length(State))</a:t>
            </a:r>
          </a:p>
          <a:p>
            <a:pPr algn="l">
              <a:lnSpc>
                <a:spcPts val="1200"/>
              </a:lnSpc>
            </a:pP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LA = rep(0, length(State))</a:t>
            </a:r>
          </a:p>
          <a:p>
            <a:pPr algn="l">
              <a:lnSpc>
                <a:spcPts val="1200"/>
              </a:lnSpc>
            </a:pP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NC = rep(0, length(State))</a:t>
            </a:r>
          </a:p>
          <a:p>
            <a:pPr algn="l">
              <a:lnSpc>
                <a:spcPts val="1200"/>
              </a:lnSpc>
            </a:pP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#</a:t>
            </a:r>
            <a:r>
              <a:rPr lang="en-US" sz="1200" i="1" dirty="0" smtClean="0">
                <a:latin typeface="Helvetica" panose="020B0604020202020204" pitchFamily="34" charset="0"/>
                <a:cs typeface="Helvetica" panose="020B0604020202020204" pitchFamily="34" charset="0"/>
              </a:rPr>
              <a:t>AL[</a:t>
            </a:r>
            <a:r>
              <a:rPr lang="en-US" sz="1200" i="1" dirty="0" err="1" smtClean="0">
                <a:latin typeface="Helvetica" panose="020B0604020202020204" pitchFamily="34" charset="0"/>
                <a:cs typeface="Helvetica" panose="020B0604020202020204" pitchFamily="34" charset="0"/>
              </a:rPr>
              <a:t>as.numeric</a:t>
            </a:r>
            <a:r>
              <a:rPr lang="en-US" sz="1200" i="1" dirty="0" smtClean="0">
                <a:latin typeface="Helvetica" panose="020B0604020202020204" pitchFamily="34" charset="0"/>
                <a:cs typeface="Helvetica" panose="020B0604020202020204" pitchFamily="34" charset="0"/>
              </a:rPr>
              <a:t>(factor(State))==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1] = 1</a:t>
            </a:r>
          </a:p>
          <a:p>
            <a:pPr>
              <a:lnSpc>
                <a:spcPts val="1200"/>
              </a:lnSpc>
            </a:pP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 AR[</a:t>
            </a:r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as.numeric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(factor(State))==2] = 1</a:t>
            </a:r>
          </a:p>
          <a:p>
            <a:pPr>
              <a:lnSpc>
                <a:spcPts val="1200"/>
              </a:lnSpc>
            </a:pP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sz="1200" i="1" dirty="0" smtClean="0">
                <a:latin typeface="Helvetica" panose="020B0604020202020204" pitchFamily="34" charset="0"/>
                <a:cs typeface="Helvetica" panose="020B0604020202020204" pitchFamily="34" charset="0"/>
              </a:rPr>
              <a:t>LA[</a:t>
            </a:r>
            <a:r>
              <a:rPr lang="en-US" sz="1200" i="1" dirty="0" err="1" smtClean="0">
                <a:latin typeface="Helvetica" panose="020B0604020202020204" pitchFamily="34" charset="0"/>
                <a:cs typeface="Helvetica" panose="020B0604020202020204" pitchFamily="34" charset="0"/>
              </a:rPr>
              <a:t>as.numeric</a:t>
            </a:r>
            <a:r>
              <a:rPr lang="en-US" sz="1200" i="1" dirty="0" smtClean="0">
                <a:latin typeface="Helvetica" panose="020B0604020202020204" pitchFamily="34" charset="0"/>
                <a:cs typeface="Helvetica" panose="020B0604020202020204" pitchFamily="34" charset="0"/>
              </a:rPr>
              <a:t>(factor(State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))==3] = 1</a:t>
            </a:r>
          </a:p>
          <a:p>
            <a:pPr>
              <a:lnSpc>
                <a:spcPts val="1200"/>
              </a:lnSpc>
            </a:pP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 NC[</a:t>
            </a:r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as.numeric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(factor(State))==4] = 1</a:t>
            </a:r>
          </a:p>
          <a:p>
            <a:pPr algn="l">
              <a:lnSpc>
                <a:spcPts val="1200"/>
              </a:lnSpc>
            </a:pPr>
            <a:endParaRPr lang="en-US" sz="1200" i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l">
              <a:lnSpc>
                <a:spcPts val="1200"/>
              </a:lnSpc>
            </a:pP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#rural   = rep(0, length(Urbanicity))</a:t>
            </a:r>
          </a:p>
          <a:p>
            <a:pPr algn="l">
              <a:lnSpc>
                <a:spcPts val="1200"/>
              </a:lnSpc>
            </a:pP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suburban = rep(0, length(Urbanicity))</a:t>
            </a:r>
          </a:p>
          <a:p>
            <a:pPr algn="l">
              <a:lnSpc>
                <a:spcPts val="1200"/>
              </a:lnSpc>
            </a:pP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urban    = rep(0, length(Urbanicity))</a:t>
            </a:r>
          </a:p>
          <a:p>
            <a:pPr algn="l">
              <a:lnSpc>
                <a:spcPts val="1200"/>
              </a:lnSpc>
            </a:pP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#  </a:t>
            </a:r>
            <a:r>
              <a:rPr lang="en-US" sz="1200" i="1" dirty="0" smtClean="0">
                <a:latin typeface="Helvetica" panose="020B0604020202020204" pitchFamily="34" charset="0"/>
                <a:cs typeface="Helvetica" panose="020B0604020202020204" pitchFamily="34" charset="0"/>
              </a:rPr>
              <a:t>rural[</a:t>
            </a:r>
            <a:r>
              <a:rPr lang="en-US" sz="1200" i="1" dirty="0" err="1" smtClean="0">
                <a:latin typeface="Helvetica" panose="020B0604020202020204" pitchFamily="34" charset="0"/>
                <a:cs typeface="Helvetica" panose="020B0604020202020204" pitchFamily="34" charset="0"/>
              </a:rPr>
              <a:t>as.numeric</a:t>
            </a:r>
            <a:r>
              <a:rPr lang="en-US" sz="1200" i="1" dirty="0" smtClean="0">
                <a:latin typeface="Helvetica" panose="020B0604020202020204" pitchFamily="34" charset="0"/>
                <a:cs typeface="Helvetica" panose="020B0604020202020204" pitchFamily="34" charset="0"/>
              </a:rPr>
              <a:t>(factor(</a:t>
            </a:r>
            <a:r>
              <a:rPr lang="en-US" sz="1200" i="1" dirty="0" err="1" smtClean="0">
                <a:latin typeface="Helvetica" panose="020B0604020202020204" pitchFamily="34" charset="0"/>
                <a:cs typeface="Helvetica" panose="020B0604020202020204" pitchFamily="34" charset="0"/>
              </a:rPr>
              <a:t>Urbanicity</a:t>
            </a:r>
            <a:r>
              <a:rPr lang="en-US" sz="1200" i="1" dirty="0" smtClean="0">
                <a:latin typeface="Helvetica" panose="020B0604020202020204" pitchFamily="34" charset="0"/>
                <a:cs typeface="Helvetica" panose="020B0604020202020204" pitchFamily="34" charset="0"/>
              </a:rPr>
              <a:t>))==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1] = 1</a:t>
            </a:r>
          </a:p>
          <a:p>
            <a:pPr>
              <a:lnSpc>
                <a:spcPts val="1200"/>
              </a:lnSpc>
            </a:pPr>
            <a:r>
              <a:rPr lang="en-US" sz="1200" i="1" dirty="0" smtClean="0">
                <a:latin typeface="Helvetica" panose="020B0604020202020204" pitchFamily="34" charset="0"/>
                <a:cs typeface="Helvetica" panose="020B0604020202020204" pitchFamily="34" charset="0"/>
              </a:rPr>
              <a:t>suburban[</a:t>
            </a:r>
            <a:r>
              <a:rPr lang="en-US" sz="1200" i="1" dirty="0" err="1" smtClean="0">
                <a:latin typeface="Helvetica" panose="020B0604020202020204" pitchFamily="34" charset="0"/>
                <a:cs typeface="Helvetica" panose="020B0604020202020204" pitchFamily="34" charset="0"/>
              </a:rPr>
              <a:t>as.numeric</a:t>
            </a:r>
            <a:r>
              <a:rPr lang="en-US" sz="1200" i="1" dirty="0" smtClean="0">
                <a:latin typeface="Helvetica" panose="020B0604020202020204" pitchFamily="34" charset="0"/>
                <a:cs typeface="Helvetica" panose="020B0604020202020204" pitchFamily="34" charset="0"/>
              </a:rPr>
              <a:t>(factor(</a:t>
            </a:r>
            <a:r>
              <a:rPr lang="en-US" sz="1200" i="1" dirty="0" err="1" smtClean="0">
                <a:latin typeface="Helvetica" panose="020B0604020202020204" pitchFamily="34" charset="0"/>
                <a:cs typeface="Helvetica" panose="020B0604020202020204" pitchFamily="34" charset="0"/>
              </a:rPr>
              <a:t>Urbanicity</a:t>
            </a:r>
            <a:r>
              <a:rPr lang="en-US" sz="1200" i="1" dirty="0" smtClean="0">
                <a:latin typeface="Helvetica" panose="020B0604020202020204" pitchFamily="34" charset="0"/>
                <a:cs typeface="Helvetica" panose="020B0604020202020204" pitchFamily="34" charset="0"/>
              </a:rPr>
              <a:t>))==2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] = 1</a:t>
            </a:r>
          </a:p>
          <a:p>
            <a:pPr>
              <a:lnSpc>
                <a:spcPts val="1200"/>
              </a:lnSpc>
            </a:pP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   </a:t>
            </a:r>
            <a:r>
              <a:rPr lang="en-US" sz="1200" i="1" dirty="0" smtClean="0">
                <a:latin typeface="Helvetica" panose="020B0604020202020204" pitchFamily="34" charset="0"/>
                <a:cs typeface="Helvetica" panose="020B0604020202020204" pitchFamily="34" charset="0"/>
              </a:rPr>
              <a:t>urban[</a:t>
            </a:r>
            <a:r>
              <a:rPr lang="en-US" sz="1200" i="1" dirty="0" err="1" smtClean="0">
                <a:latin typeface="Helvetica" panose="020B0604020202020204" pitchFamily="34" charset="0"/>
                <a:cs typeface="Helvetica" panose="020B0604020202020204" pitchFamily="34" charset="0"/>
              </a:rPr>
              <a:t>as.numeric</a:t>
            </a:r>
            <a:r>
              <a:rPr lang="en-US" sz="1200" i="1" dirty="0" smtClean="0">
                <a:latin typeface="Helvetica" panose="020B0604020202020204" pitchFamily="34" charset="0"/>
                <a:cs typeface="Helvetica" panose="020B0604020202020204" pitchFamily="34" charset="0"/>
              </a:rPr>
              <a:t>(factor(</a:t>
            </a:r>
            <a:r>
              <a:rPr lang="en-US" sz="1200" i="1" dirty="0" err="1" smtClean="0">
                <a:latin typeface="Helvetica" panose="020B0604020202020204" pitchFamily="34" charset="0"/>
                <a:cs typeface="Helvetica" panose="020B0604020202020204" pitchFamily="34" charset="0"/>
              </a:rPr>
              <a:t>Urbanicity</a:t>
            </a:r>
            <a:r>
              <a:rPr lang="en-US" sz="1200" i="1" dirty="0" smtClean="0">
                <a:latin typeface="Helvetica" panose="020B0604020202020204" pitchFamily="34" charset="0"/>
                <a:cs typeface="Helvetica" panose="020B0604020202020204" pitchFamily="34" charset="0"/>
              </a:rPr>
              <a:t>))==3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] = 1</a:t>
            </a:r>
          </a:p>
          <a:p>
            <a:pPr algn="l">
              <a:lnSpc>
                <a:spcPts val="1200"/>
              </a:lnSpc>
            </a:pPr>
            <a:endParaRPr lang="en-US" sz="1200" i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l">
              <a:lnSpc>
                <a:spcPts val="1200"/>
              </a:lnSpc>
            </a:pP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predictors = </a:t>
            </a:r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cbind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(predictors, AR, LA, NC, suburban, urban)</a:t>
            </a:r>
          </a:p>
          <a:p>
            <a:pPr algn="l">
              <a:lnSpc>
                <a:spcPts val="1200"/>
              </a:lnSpc>
            </a:pPr>
            <a:endParaRPr lang="en-US" sz="1200" dirty="0">
              <a:solidFill>
                <a:srgbClr val="3F6CAF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018920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3A2CB49D-98D8-4013-8E45-D5C3FAC0B3BA}"/>
              </a:ext>
            </a:extLst>
          </p:cNvPr>
          <p:cNvSpPr txBox="1"/>
          <p:nvPr/>
        </p:nvSpPr>
        <p:spPr>
          <a:xfrm>
            <a:off x="116759" y="1001756"/>
            <a:ext cx="7850438" cy="1946687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1200" b="1" dirty="0">
                <a:solidFill>
                  <a:srgbClr val="EAAA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## 10-fold CV to find the optimal lambda </a:t>
            </a:r>
          </a:p>
          <a:p>
            <a:pPr algn="l">
              <a:lnSpc>
                <a:spcPts val="1200"/>
              </a:lnSpc>
            </a:pP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lassomodel.cv = </a:t>
            </a:r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cv.glmnet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(predictors, log(</a:t>
            </a:r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EDCost.pmpm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), alpha=1, </a:t>
            </a:r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nfolds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=10)</a:t>
            </a:r>
          </a:p>
          <a:p>
            <a:pPr algn="l">
              <a:lnSpc>
                <a:spcPts val="1200"/>
              </a:lnSpc>
            </a:pPr>
            <a:endParaRPr lang="en-US" sz="1200" dirty="0">
              <a:solidFill>
                <a:srgbClr val="8E422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l">
              <a:lnSpc>
                <a:spcPts val="1200"/>
              </a:lnSpc>
            </a:pPr>
            <a:r>
              <a:rPr lang="en-US" sz="1200" b="1" dirty="0">
                <a:solidFill>
                  <a:srgbClr val="EAAA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## Fit lasso model with 100 values for lambda</a:t>
            </a:r>
          </a:p>
          <a:p>
            <a:pPr algn="l">
              <a:lnSpc>
                <a:spcPts val="1200"/>
              </a:lnSpc>
            </a:pPr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lassomodel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 = </a:t>
            </a:r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glmnet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(predictors, log(</a:t>
            </a:r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EDCost.pmpm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), alpha=1, </a:t>
            </a:r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nlambda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=100)</a:t>
            </a:r>
          </a:p>
          <a:p>
            <a:pPr algn="l">
              <a:lnSpc>
                <a:spcPts val="1200"/>
              </a:lnSpc>
            </a:pPr>
            <a:endParaRPr lang="en-US" sz="1200" dirty="0">
              <a:solidFill>
                <a:srgbClr val="8E422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l">
              <a:lnSpc>
                <a:spcPts val="1200"/>
              </a:lnSpc>
            </a:pPr>
            <a:r>
              <a:rPr lang="en-US" sz="1200" b="1" dirty="0">
                <a:solidFill>
                  <a:srgbClr val="EAAA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## Plot coefficient paths</a:t>
            </a:r>
          </a:p>
          <a:p>
            <a:pPr algn="l">
              <a:lnSpc>
                <a:spcPts val="1200"/>
              </a:lnSpc>
            </a:pP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plot(</a:t>
            </a:r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lassomodel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xvar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="lambda", label=TRUE, </a:t>
            </a:r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lwd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=2)</a:t>
            </a:r>
          </a:p>
          <a:p>
            <a:pPr algn="l">
              <a:lnSpc>
                <a:spcPts val="1200"/>
              </a:lnSpc>
            </a:pPr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abline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(v=log(</a:t>
            </a:r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lassomodel.cv$lambda.min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), col='black', </a:t>
            </a:r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lty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=2, </a:t>
            </a:r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lwd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=2)</a:t>
            </a:r>
          </a:p>
          <a:p>
            <a:pPr algn="l">
              <a:lnSpc>
                <a:spcPts val="1200"/>
              </a:lnSpc>
            </a:pPr>
            <a:endParaRPr lang="en-US" sz="1200" dirty="0">
              <a:solidFill>
                <a:srgbClr val="3F6CAF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l">
              <a:lnSpc>
                <a:spcPts val="1200"/>
              </a:lnSpc>
            </a:pPr>
            <a:r>
              <a:rPr lang="en-US" sz="1200" b="1" dirty="0">
                <a:solidFill>
                  <a:srgbClr val="EAAA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## Extract coefficients at optimal lambda</a:t>
            </a:r>
          </a:p>
          <a:p>
            <a:pPr algn="l">
              <a:lnSpc>
                <a:spcPts val="1200"/>
              </a:lnSpc>
            </a:pPr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coef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(</a:t>
            </a:r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lassomodel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lassomodel.cv$lambda.min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)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xmlns="" id="{A1F14AF7-CECA-4408-B9AB-1700EF0A532F}"/>
              </a:ext>
            </a:extLst>
          </p:cNvPr>
          <p:cNvSpPr/>
          <p:nvPr/>
        </p:nvSpPr>
        <p:spPr>
          <a:xfrm>
            <a:off x="4122892" y="1131033"/>
            <a:ext cx="641897" cy="246142"/>
          </a:xfrm>
          <a:prstGeom prst="ellipse">
            <a:avLst/>
          </a:prstGeom>
          <a:noFill/>
          <a:ln w="19050">
            <a:solidFill>
              <a:schemeClr val="tx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xmlns="" id="{3BDE6D9C-15D1-4329-B678-70F328B88034}"/>
              </a:ext>
            </a:extLst>
          </p:cNvPr>
          <p:cNvSpPr/>
          <p:nvPr/>
        </p:nvSpPr>
        <p:spPr>
          <a:xfrm>
            <a:off x="3752078" y="1590751"/>
            <a:ext cx="641897" cy="246141"/>
          </a:xfrm>
          <a:prstGeom prst="ellipse">
            <a:avLst/>
          </a:prstGeom>
          <a:noFill/>
          <a:ln w="19050">
            <a:solidFill>
              <a:schemeClr val="tx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xmlns="" id="{2C0ECD2E-A2D3-4041-8987-FDCA1F4577EF}"/>
              </a:ext>
            </a:extLst>
          </p:cNvPr>
          <p:cNvSpPr txBox="1">
            <a:spLocks/>
          </p:cNvSpPr>
          <p:nvPr/>
        </p:nvSpPr>
        <p:spPr>
          <a:xfrm>
            <a:off x="72347" y="263340"/>
            <a:ext cx="6684503" cy="500816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pPr fontAlgn="auto">
              <a:lnSpc>
                <a:spcPts val="3400"/>
              </a:lnSpc>
              <a:spcAft>
                <a:spcPts val="0"/>
              </a:spcAft>
            </a:pPr>
            <a:r>
              <a:rPr lang="en-US" sz="3600" dirty="0">
                <a:ea typeface="Vitesse" charset="0"/>
                <a:cs typeface="Vitesse" charset="0"/>
              </a:rPr>
              <a:t>Lasso Regression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551260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icture containing boat&#10;&#10;Description automatically generated">
            <a:extLst>
              <a:ext uri="{FF2B5EF4-FFF2-40B4-BE49-F238E27FC236}">
                <a16:creationId xmlns:a16="http://schemas.microsoft.com/office/drawing/2014/main" xmlns="" id="{5353BAEB-CCCC-4031-997C-B84894CFCD1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38" r="6066" b="3670"/>
          <a:stretch/>
        </p:blipFill>
        <p:spPr>
          <a:xfrm>
            <a:off x="5276071" y="1003866"/>
            <a:ext cx="3737943" cy="2892971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xmlns="" id="{EC4C06FD-0C8C-47AE-B465-985A51E9C7A2}"/>
              </a:ext>
            </a:extLst>
          </p:cNvPr>
          <p:cNvSpPr txBox="1">
            <a:spLocks/>
          </p:cNvSpPr>
          <p:nvPr/>
        </p:nvSpPr>
        <p:spPr>
          <a:xfrm>
            <a:off x="3015305" y="983677"/>
            <a:ext cx="1563340" cy="83099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  <a:effectLst/>
        </p:spPr>
        <p:txBody>
          <a:bodyPr vert="horz" wrap="square" lIns="91440" tIns="91440" rIns="91440" bIns="91440" rtlCol="0">
            <a:spAutoFit/>
          </a:bodyPr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q"/>
              <a:defRPr sz="3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58368" indent="-4572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−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6948" indent="-3429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ClrTx/>
              <a:buNone/>
            </a:pPr>
            <a:r>
              <a:rPr lang="en-US" sz="1400" dirty="0">
                <a:latin typeface="Helvetica" panose="020B0604020202020204" pitchFamily="34" charset="0"/>
                <a:cs typeface="Helvetica" panose="020B0604020202020204" pitchFamily="34" charset="0"/>
              </a:rPr>
              <a:t>High-coefficient path corresponds to </a:t>
            </a:r>
            <a:r>
              <a:rPr lang="en-US" sz="1400" i="1" dirty="0">
                <a:latin typeface="Helvetica" panose="020B0604020202020204" pitchFamily="34" charset="0"/>
                <a:cs typeface="Helvetica" panose="020B0604020202020204" pitchFamily="34" charset="0"/>
              </a:rPr>
              <a:t>HO</a:t>
            </a:r>
            <a:r>
              <a:rPr lang="en-US" sz="1400" dirty="0">
                <a:latin typeface="Helvetica" panose="020B0604020202020204" pitchFamily="34" charset="0"/>
                <a:cs typeface="Helvetica" panose="020B0604020202020204" pitchFamily="34" charset="0"/>
              </a:rPr>
              <a:t> variable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xmlns="" id="{BB6C9CDE-B30D-4A17-8F43-B45D9D78CA63}"/>
              </a:ext>
            </a:extLst>
          </p:cNvPr>
          <p:cNvSpPr txBox="1">
            <a:spLocks/>
          </p:cNvSpPr>
          <p:nvPr/>
        </p:nvSpPr>
        <p:spPr>
          <a:xfrm>
            <a:off x="3015305" y="2243725"/>
            <a:ext cx="1563340" cy="83099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  <a:effectLst/>
        </p:spPr>
        <p:txBody>
          <a:bodyPr vert="horz" wrap="square" lIns="91440" tIns="91440" rIns="91440" bIns="91440" rtlCol="0">
            <a:spAutoFit/>
          </a:bodyPr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q"/>
              <a:defRPr sz="3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58368" indent="-4572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−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6948" indent="-3429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ClrTx/>
              <a:buNone/>
            </a:pPr>
            <a:r>
              <a:rPr lang="en-US" sz="1400" i="1" dirty="0" err="1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RankingsSocial</a:t>
            </a:r>
            <a:r>
              <a:rPr lang="en-US" sz="1400" dirty="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dummy variable is </a:t>
            </a:r>
            <a:r>
              <a:rPr lang="en-US" sz="1400" u="sng" dirty="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not</a:t>
            </a:r>
            <a:r>
              <a:rPr lang="en-US" sz="1400" dirty="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selected</a:t>
            </a:r>
            <a:endParaRPr lang="en-US" sz="1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xmlns="" id="{96A78BCB-FD1F-42A1-BC2C-9333E543B11D}"/>
              </a:ext>
            </a:extLst>
          </p:cNvPr>
          <p:cNvSpPr txBox="1">
            <a:spLocks/>
          </p:cNvSpPr>
          <p:nvPr/>
        </p:nvSpPr>
        <p:spPr>
          <a:xfrm>
            <a:off x="3015305" y="3492830"/>
            <a:ext cx="1563340" cy="147732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  <a:effectLst/>
        </p:spPr>
        <p:txBody>
          <a:bodyPr vert="horz" wrap="square" lIns="91440" tIns="91440" rIns="91440" bIns="91440" rtlCol="0">
            <a:spAutoFit/>
          </a:bodyPr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q"/>
              <a:defRPr sz="3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58368" indent="-4572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−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6948" indent="-3429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ClrTx/>
              <a:buNone/>
            </a:pPr>
            <a:r>
              <a:rPr lang="en-US" sz="1400" dirty="0">
                <a:latin typeface="Helvetica" panose="020B0604020202020204" pitchFamily="34" charset="0"/>
                <a:cs typeface="Helvetica" panose="020B0604020202020204" pitchFamily="34" charset="0"/>
              </a:rPr>
              <a:t>Other large-coefficient paths correspond to State dummy variables (</a:t>
            </a:r>
            <a:r>
              <a:rPr lang="en-US" sz="1400" i="1" dirty="0">
                <a:latin typeface="Helvetica" panose="020B0604020202020204" pitchFamily="34" charset="0"/>
                <a:cs typeface="Helvetica" panose="020B0604020202020204" pitchFamily="34" charset="0"/>
              </a:rPr>
              <a:t>AR</a:t>
            </a:r>
            <a:r>
              <a:rPr lang="en-US" sz="1400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n-US" sz="1400" i="1" dirty="0">
                <a:latin typeface="Helvetica" panose="020B0604020202020204" pitchFamily="34" charset="0"/>
                <a:cs typeface="Helvetica" panose="020B0604020202020204" pitchFamily="34" charset="0"/>
              </a:rPr>
              <a:t>LA</a:t>
            </a:r>
            <a:r>
              <a:rPr lang="en-US" sz="1400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n-US" sz="1400" i="1" dirty="0">
                <a:latin typeface="Helvetica" panose="020B0604020202020204" pitchFamily="34" charset="0"/>
                <a:cs typeface="Helvetica" panose="020B0604020202020204" pitchFamily="34" charset="0"/>
              </a:rPr>
              <a:t>NC</a:t>
            </a:r>
            <a:r>
              <a:rPr lang="en-US" sz="1400" dirty="0">
                <a:latin typeface="Helvetica" panose="020B0604020202020204" pitchFamily="34" charset="0"/>
                <a:cs typeface="Helvetica" panose="020B0604020202020204" pitchFamily="34" charset="0"/>
              </a:rPr>
              <a:t>)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xmlns="" id="{D8580FFE-37C2-41AD-96F8-7C829724ACEF}"/>
              </a:ext>
            </a:extLst>
          </p:cNvPr>
          <p:cNvSpPr txBox="1">
            <a:spLocks/>
          </p:cNvSpPr>
          <p:nvPr/>
        </p:nvSpPr>
        <p:spPr>
          <a:xfrm>
            <a:off x="72347" y="263340"/>
            <a:ext cx="6684503" cy="500816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pPr fontAlgn="auto">
              <a:lnSpc>
                <a:spcPts val="3400"/>
              </a:lnSpc>
              <a:spcAft>
                <a:spcPts val="0"/>
              </a:spcAft>
            </a:pPr>
            <a:r>
              <a:rPr lang="en-US" sz="3600" dirty="0">
                <a:ea typeface="Vitesse" charset="0"/>
                <a:cs typeface="Vitesse" charset="0"/>
              </a:rPr>
              <a:t>Lasso Regression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xmlns="" id="{509BB5F7-D38A-4612-87D4-5298F79B9E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7183670"/>
              </p:ext>
            </p:extLst>
          </p:nvPr>
        </p:nvGraphicFramePr>
        <p:xfrm>
          <a:off x="146170" y="1024137"/>
          <a:ext cx="2394730" cy="430531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58723">
                  <a:extLst>
                    <a:ext uri="{9D8B030D-6E8A-4147-A177-3AD203B41FA5}">
                      <a16:colId xmlns:a16="http://schemas.microsoft.com/office/drawing/2014/main" xmlns="" val="1552017339"/>
                    </a:ext>
                  </a:extLst>
                </a:gridCol>
                <a:gridCol w="1136007">
                  <a:extLst>
                    <a:ext uri="{9D8B030D-6E8A-4147-A177-3AD203B41FA5}">
                      <a16:colId xmlns:a16="http://schemas.microsoft.com/office/drawing/2014/main" xmlns="" val="4162721159"/>
                    </a:ext>
                  </a:extLst>
                </a:gridCol>
              </a:tblGrid>
              <a:tr h="13593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(Intercept)       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4372" marR="54372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2.277008e+00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4372" marR="54372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458284801"/>
                  </a:ext>
                </a:extLst>
              </a:tr>
              <a:tr h="13593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HO                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4372" marR="54372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1.162649e+01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4372" marR="54372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114554052"/>
                  </a:ext>
                </a:extLst>
              </a:tr>
              <a:tr h="13593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PO                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4372" marR="54372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1.389343e-01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4372" marR="54372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804475266"/>
                  </a:ext>
                </a:extLst>
              </a:tr>
              <a:tr h="13593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WhitePop          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4372" marR="54372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3.767074e-03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4372" marR="54372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642576942"/>
                  </a:ext>
                </a:extLst>
              </a:tr>
              <a:tr h="13593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BlackPop          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4372" marR="54372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4.246413e-03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4372" marR="54372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895037185"/>
                  </a:ext>
                </a:extLst>
              </a:tr>
              <a:tr h="13593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HealthyPop       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4372" marR="54372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-1.042170e-03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4372" marR="54372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455884026"/>
                  </a:ext>
                </a:extLst>
              </a:tr>
              <a:tr h="13593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dirty="0" err="1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ChronicPop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       </a:t>
                      </a:r>
                      <a:endParaRPr lang="en-US" sz="11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4372" marR="54372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-5.704991e-03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4372" marR="54372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677452561"/>
                  </a:ext>
                </a:extLst>
              </a:tr>
              <a:tr h="13593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Unemployment      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4372" marR="54372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3.421637e-04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4372" marR="54372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22197836"/>
                  </a:ext>
                </a:extLst>
              </a:tr>
              <a:tr h="13593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Income           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4372" marR="54372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-2.307290e-07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4372" marR="54372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811043047"/>
                  </a:ext>
                </a:extLst>
              </a:tr>
              <a:tr h="13593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Poverty          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4372" marR="54372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-2.383079e-04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4372" marR="54372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38182274"/>
                  </a:ext>
                </a:extLst>
              </a:tr>
              <a:tr h="13593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Education        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4372" marR="54372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-1.451700e-03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4372" marR="54372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526214869"/>
                  </a:ext>
                </a:extLst>
              </a:tr>
              <a:tr h="13593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Accessibility    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4372" marR="54372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-1.831102e-03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4372" marR="54372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592935301"/>
                  </a:ext>
                </a:extLst>
              </a:tr>
              <a:tr h="13593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Availability      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4372" marR="54372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7.664592e-02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4372" marR="54372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776486650"/>
                  </a:ext>
                </a:extLst>
              </a:tr>
              <a:tr h="13593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RankingsPCP       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4372" marR="54372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7.194696e-04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4372" marR="54372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377412599"/>
                  </a:ext>
                </a:extLst>
              </a:tr>
              <a:tr h="13593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RankingsFood      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4372" marR="54372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5.782113e-03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4372" marR="54372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78385376"/>
                  </a:ext>
                </a:extLst>
              </a:tr>
              <a:tr h="13593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RankingsHousing  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4372" marR="54372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-4.587208e-03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4372" marR="54372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824978869"/>
                  </a:ext>
                </a:extLst>
              </a:tr>
              <a:tr h="13593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RankingsExercise  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4372" marR="54372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3.969711e-04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4372" marR="54372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051321336"/>
                  </a:ext>
                </a:extLst>
              </a:tr>
              <a:tr h="13593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RankingsSocial    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4372" marR="54372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.           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4372" marR="54372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983340406"/>
                  </a:ext>
                </a:extLst>
              </a:tr>
              <a:tr h="13593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ProvDensity       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4372" marR="54372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5.923880e-02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4372" marR="54372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308676689"/>
                  </a:ext>
                </a:extLst>
              </a:tr>
              <a:tr h="13593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AR                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4372" marR="54372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9.183680e-01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4372" marR="54372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457425819"/>
                  </a:ext>
                </a:extLst>
              </a:tr>
              <a:tr h="13593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LA                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4372" marR="54372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9.027530e-01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4372" marR="54372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693427972"/>
                  </a:ext>
                </a:extLst>
              </a:tr>
              <a:tr h="13593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NC                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4372" marR="54372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1.410464e+00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4372" marR="54372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686088637"/>
                  </a:ext>
                </a:extLst>
              </a:tr>
              <a:tr h="13593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suburban         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4372" marR="54372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-7.302043e-05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4372" marR="54372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664318906"/>
                  </a:ext>
                </a:extLst>
              </a:tr>
              <a:tr h="13593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urban             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4372" marR="54372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2.096038e-02</a:t>
                      </a:r>
                      <a:endParaRPr lang="en-US" sz="11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4372" marR="54372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809569180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4136063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  <p:extLst mod="1">
    <p:ext uri="{6950BFC3-D8DA-4A85-94F7-54DA5524770B}">
      <p188:commentRel xmlns="" xmlns:p188="http://schemas.microsoft.com/office/powerpoint/2018/8/main" r:id="rId5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3" name="Text Box 3"/>
          <p:cNvSpPr txBox="1">
            <a:spLocks noChangeArrowheads="1"/>
          </p:cNvSpPr>
          <p:nvPr/>
        </p:nvSpPr>
        <p:spPr bwMode="auto">
          <a:xfrm>
            <a:off x="111882" y="972714"/>
            <a:ext cx="8118566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200" b="1" dirty="0">
                <a:solidFill>
                  <a:srgbClr val="EAAA00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## 10-fold CV to find the optimal lambda </a:t>
            </a:r>
          </a:p>
          <a:p>
            <a:pPr>
              <a:defRPr/>
            </a:pPr>
            <a:r>
              <a:rPr lang="en-US" sz="12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enetmodel.cv = </a:t>
            </a:r>
            <a:r>
              <a:rPr lang="en-US" sz="12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cv.glmnet</a:t>
            </a:r>
            <a:r>
              <a:rPr lang="en-US" sz="12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(predictors, log(</a:t>
            </a:r>
            <a:r>
              <a:rPr lang="en-US" sz="12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EDCost.pmpm</a:t>
            </a:r>
            <a:r>
              <a:rPr lang="en-US" sz="12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), alpha=0.5, </a:t>
            </a:r>
            <a:r>
              <a:rPr lang="en-US" sz="12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nfolds</a:t>
            </a:r>
            <a:r>
              <a:rPr lang="en-US" sz="12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=10)</a:t>
            </a:r>
          </a:p>
          <a:p>
            <a:pPr>
              <a:defRPr/>
            </a:pPr>
            <a:endParaRPr lang="en-US" sz="1200" dirty="0">
              <a:solidFill>
                <a:srgbClr val="8E4221"/>
              </a:solidFill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>
              <a:defRPr/>
            </a:pPr>
            <a:r>
              <a:rPr lang="en-US" sz="1200" b="1" dirty="0">
                <a:solidFill>
                  <a:srgbClr val="EAAA00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## Fit lasso model with 100 values for lambda</a:t>
            </a:r>
          </a:p>
          <a:p>
            <a:pPr>
              <a:defRPr/>
            </a:pPr>
            <a:r>
              <a:rPr lang="en-US" sz="12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enetmodel</a:t>
            </a:r>
            <a:r>
              <a:rPr lang="en-US" sz="12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= </a:t>
            </a:r>
            <a:r>
              <a:rPr lang="en-US" sz="12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glmnet</a:t>
            </a:r>
            <a:r>
              <a:rPr lang="en-US" sz="12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(predictors, log(</a:t>
            </a:r>
            <a:r>
              <a:rPr lang="en-US" sz="12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EDCost.pmpm</a:t>
            </a:r>
            <a:r>
              <a:rPr lang="en-US" sz="12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), alpha=0.5, </a:t>
            </a:r>
            <a:r>
              <a:rPr lang="en-US" sz="12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nlambda</a:t>
            </a:r>
            <a:r>
              <a:rPr lang="en-US" sz="12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=100)</a:t>
            </a:r>
          </a:p>
          <a:p>
            <a:pPr>
              <a:defRPr/>
            </a:pPr>
            <a:endParaRPr lang="en-US" sz="1200" dirty="0">
              <a:solidFill>
                <a:srgbClr val="8E4221"/>
              </a:solidFill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>
              <a:defRPr/>
            </a:pPr>
            <a:r>
              <a:rPr lang="en-US" sz="1200" b="1" dirty="0">
                <a:solidFill>
                  <a:srgbClr val="EAAA00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## Plot coefficient paths</a:t>
            </a:r>
          </a:p>
          <a:p>
            <a:pPr>
              <a:defRPr/>
            </a:pPr>
            <a:r>
              <a:rPr lang="en-US" sz="12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plot(</a:t>
            </a:r>
            <a:r>
              <a:rPr lang="en-US" sz="12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enetmodel</a:t>
            </a:r>
            <a:r>
              <a:rPr lang="en-US" sz="12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, </a:t>
            </a:r>
            <a:r>
              <a:rPr lang="en-US" sz="12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xvar</a:t>
            </a:r>
            <a:r>
              <a:rPr lang="en-US" sz="12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="lambda", label=TRUE, </a:t>
            </a:r>
            <a:r>
              <a:rPr lang="en-US" sz="12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lwd</a:t>
            </a:r>
            <a:r>
              <a:rPr lang="en-US" sz="12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=2)</a:t>
            </a:r>
          </a:p>
          <a:p>
            <a:pPr>
              <a:defRPr/>
            </a:pPr>
            <a:r>
              <a:rPr lang="en-US" sz="12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abline</a:t>
            </a:r>
            <a:r>
              <a:rPr lang="en-US" sz="12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(v=log(</a:t>
            </a:r>
            <a:r>
              <a:rPr lang="en-US" sz="12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enetmodel.cv$lambda.min</a:t>
            </a:r>
            <a:r>
              <a:rPr lang="en-US" sz="12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), col='black', </a:t>
            </a:r>
            <a:r>
              <a:rPr lang="en-US" sz="12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lty</a:t>
            </a:r>
            <a:r>
              <a:rPr lang="en-US" sz="12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=2, </a:t>
            </a:r>
            <a:r>
              <a:rPr lang="en-US" sz="12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lwd</a:t>
            </a:r>
            <a:r>
              <a:rPr lang="en-US" sz="12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=2)</a:t>
            </a:r>
          </a:p>
          <a:p>
            <a:pPr>
              <a:defRPr/>
            </a:pPr>
            <a:endParaRPr lang="en-US" sz="1200" dirty="0">
              <a:solidFill>
                <a:srgbClr val="8E4221"/>
              </a:solidFill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>
              <a:defRPr/>
            </a:pPr>
            <a:r>
              <a:rPr lang="en-US" sz="1200" b="1" dirty="0">
                <a:solidFill>
                  <a:srgbClr val="EAAA00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## Extract coefficients at optimal lambda</a:t>
            </a:r>
          </a:p>
          <a:p>
            <a:pPr>
              <a:defRPr/>
            </a:pPr>
            <a:r>
              <a:rPr lang="en-US" sz="12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coef</a:t>
            </a:r>
            <a:r>
              <a:rPr lang="en-US" sz="12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(</a:t>
            </a:r>
            <a:r>
              <a:rPr lang="en-US" sz="12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enetmodel</a:t>
            </a:r>
            <a:r>
              <a:rPr lang="en-US" sz="12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, s=</a:t>
            </a:r>
            <a:r>
              <a:rPr lang="en-US" sz="12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enetmodel.cv$lambda.min</a:t>
            </a:r>
            <a:r>
              <a:rPr lang="en-US" sz="12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)</a:t>
            </a:r>
          </a:p>
        </p:txBody>
      </p:sp>
      <p:sp>
        <p:nvSpPr>
          <p:cNvPr id="10" name="Oval 9"/>
          <p:cNvSpPr/>
          <p:nvPr/>
        </p:nvSpPr>
        <p:spPr>
          <a:xfrm>
            <a:off x="4073550" y="1134985"/>
            <a:ext cx="757396" cy="345857"/>
          </a:xfrm>
          <a:prstGeom prst="ellipse">
            <a:avLst/>
          </a:prstGeom>
          <a:noFill/>
          <a:ln w="19050">
            <a:solidFill>
              <a:schemeClr val="tx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3664623" y="1710072"/>
            <a:ext cx="818366" cy="288662"/>
          </a:xfrm>
          <a:prstGeom prst="ellipse">
            <a:avLst/>
          </a:prstGeom>
          <a:noFill/>
          <a:ln w="19050">
            <a:solidFill>
              <a:schemeClr val="tx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2" name="Title 1"/>
          <p:cNvSpPr txBox="1">
            <a:spLocks/>
          </p:cNvSpPr>
          <p:nvPr/>
        </p:nvSpPr>
        <p:spPr>
          <a:xfrm>
            <a:off x="72347" y="263404"/>
            <a:ext cx="8302910" cy="448696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pPr fontAlgn="auto">
              <a:lnSpc>
                <a:spcPts val="3400"/>
              </a:lnSpc>
              <a:spcAft>
                <a:spcPts val="0"/>
              </a:spcAft>
            </a:pPr>
            <a:r>
              <a:rPr lang="en-US" sz="3600" dirty="0">
                <a:latin typeface="Vitesse"/>
                <a:ea typeface="Vitesse" charset="0"/>
                <a:cs typeface="Vitesse" charset="0"/>
              </a:rPr>
              <a:t>Elastic Net Regression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15326335"/>
      </p:ext>
    </p:extLst>
  </p:cSld>
  <p:clrMapOvr>
    <a:masterClrMapping/>
  </p:clrMapOvr>
  <p:extLst mod="1">
    <p:ext uri="{6950BFC3-D8DA-4A85-94F7-54DA5524770B}">
      <p188:commentRel xmlns="" xmlns:p188="http://schemas.microsoft.com/office/powerpoint/2018/8/main" r:id="rId3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 up of a map&#10;&#10;Description automatically generated">
            <a:extLst>
              <a:ext uri="{FF2B5EF4-FFF2-40B4-BE49-F238E27FC236}">
                <a16:creationId xmlns:a16="http://schemas.microsoft.com/office/drawing/2014/main" xmlns="" id="{D7E255CB-EB62-4319-820A-8D6CDB62E9E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610" r="6056" b="3184"/>
          <a:stretch/>
        </p:blipFill>
        <p:spPr>
          <a:xfrm>
            <a:off x="5228792" y="1031221"/>
            <a:ext cx="3784082" cy="2955348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xmlns="" id="{AB0C506D-0344-4771-BDC1-AA79BA53249C}"/>
              </a:ext>
            </a:extLst>
          </p:cNvPr>
          <p:cNvSpPr txBox="1">
            <a:spLocks/>
          </p:cNvSpPr>
          <p:nvPr/>
        </p:nvSpPr>
        <p:spPr>
          <a:xfrm>
            <a:off x="3015305" y="1033193"/>
            <a:ext cx="1563340" cy="83099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  <a:effectLst/>
        </p:spPr>
        <p:txBody>
          <a:bodyPr vert="horz" wrap="square" lIns="91440" tIns="91440" rIns="91440" bIns="91440" rtlCol="0">
            <a:spAutoFit/>
          </a:bodyPr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q"/>
              <a:defRPr sz="3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58368" indent="-4572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−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6948" indent="-3429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ClrTx/>
              <a:buNone/>
            </a:pPr>
            <a:r>
              <a:rPr lang="en-US" sz="1400" dirty="0">
                <a:latin typeface="Helvetica" panose="020B0604020202020204" pitchFamily="34" charset="0"/>
                <a:cs typeface="Helvetica" panose="020B0604020202020204" pitchFamily="34" charset="0"/>
              </a:rPr>
              <a:t>High-coefficient path corresponds to </a:t>
            </a:r>
            <a:r>
              <a:rPr lang="en-US" sz="1400" i="1" dirty="0">
                <a:latin typeface="Helvetica" panose="020B0604020202020204" pitchFamily="34" charset="0"/>
                <a:cs typeface="Helvetica" panose="020B0604020202020204" pitchFamily="34" charset="0"/>
              </a:rPr>
              <a:t>HO</a:t>
            </a:r>
            <a:r>
              <a:rPr lang="en-US" sz="1400" dirty="0">
                <a:latin typeface="Helvetica" panose="020B0604020202020204" pitchFamily="34" charset="0"/>
                <a:cs typeface="Helvetica" panose="020B0604020202020204" pitchFamily="34" charset="0"/>
              </a:rPr>
              <a:t> variable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xmlns="" id="{6323D4E4-24E6-4717-9438-21FB3817C553}"/>
              </a:ext>
            </a:extLst>
          </p:cNvPr>
          <p:cNvSpPr txBox="1">
            <a:spLocks/>
          </p:cNvSpPr>
          <p:nvPr/>
        </p:nvSpPr>
        <p:spPr>
          <a:xfrm>
            <a:off x="3015305" y="2293241"/>
            <a:ext cx="1563340" cy="83099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  <a:effectLst/>
        </p:spPr>
        <p:txBody>
          <a:bodyPr vert="horz" wrap="square" lIns="91440" tIns="91440" rIns="91440" bIns="91440" rtlCol="0">
            <a:spAutoFit/>
          </a:bodyPr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q"/>
              <a:defRPr sz="3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58368" indent="-4572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−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6948" indent="-3429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ClrTx/>
              <a:buNone/>
            </a:pPr>
            <a:r>
              <a:rPr lang="en-US" sz="1400" i="1" dirty="0" err="1">
                <a:solidFill>
                  <a:prstClr val="black"/>
                </a:solidFill>
                <a:latin typeface="Helvetica Neue"/>
              </a:rPr>
              <a:t>RankingsSocial</a:t>
            </a:r>
            <a:r>
              <a:rPr lang="en-US" sz="1400" dirty="0">
                <a:solidFill>
                  <a:prstClr val="black"/>
                </a:solidFill>
                <a:latin typeface="Helvetica Neue"/>
              </a:rPr>
              <a:t> dummy variable is </a:t>
            </a:r>
            <a:r>
              <a:rPr lang="en-US" sz="1400" u="sng" dirty="0">
                <a:solidFill>
                  <a:prstClr val="black"/>
                </a:solidFill>
                <a:latin typeface="Helvetica Neue"/>
              </a:rPr>
              <a:t>not</a:t>
            </a:r>
            <a:r>
              <a:rPr lang="en-US" sz="1400" dirty="0">
                <a:solidFill>
                  <a:prstClr val="black"/>
                </a:solidFill>
                <a:latin typeface="Helvetica Neue"/>
              </a:rPr>
              <a:t> selected</a:t>
            </a:r>
            <a:endParaRPr lang="en-US" sz="1400" dirty="0">
              <a:latin typeface="Helvetica Neue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xmlns="" id="{E3F1CE7E-28F9-47A2-8BE7-40010CC554C7}"/>
              </a:ext>
            </a:extLst>
          </p:cNvPr>
          <p:cNvSpPr txBox="1">
            <a:spLocks/>
          </p:cNvSpPr>
          <p:nvPr/>
        </p:nvSpPr>
        <p:spPr>
          <a:xfrm>
            <a:off x="3015304" y="3501886"/>
            <a:ext cx="1563341" cy="147732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  <a:effectLst/>
        </p:spPr>
        <p:txBody>
          <a:bodyPr vert="horz" wrap="square" lIns="91440" tIns="91440" rIns="91440" bIns="91440" rtlCol="0">
            <a:spAutoFit/>
          </a:bodyPr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q"/>
              <a:defRPr sz="3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58368" indent="-4572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−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6948" indent="-3429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ClrTx/>
              <a:buNone/>
            </a:pPr>
            <a:r>
              <a:rPr lang="en-US" sz="1400" dirty="0">
                <a:latin typeface="Helvetica Neue"/>
              </a:rPr>
              <a:t>Other large-coefficient paths correspond to State dummy variables (</a:t>
            </a:r>
            <a:r>
              <a:rPr lang="en-US" sz="1400" i="1" dirty="0">
                <a:latin typeface="Helvetica Neue"/>
              </a:rPr>
              <a:t>AR</a:t>
            </a:r>
            <a:r>
              <a:rPr lang="en-US" sz="1400" dirty="0">
                <a:latin typeface="Helvetica Neue"/>
              </a:rPr>
              <a:t>, </a:t>
            </a:r>
            <a:r>
              <a:rPr lang="en-US" sz="1400" i="1" dirty="0">
                <a:latin typeface="Helvetica Neue"/>
              </a:rPr>
              <a:t>LA</a:t>
            </a:r>
            <a:r>
              <a:rPr lang="en-US" sz="1400" dirty="0">
                <a:latin typeface="Helvetica Neue"/>
              </a:rPr>
              <a:t>, </a:t>
            </a:r>
            <a:r>
              <a:rPr lang="en-US" sz="1400" i="1" dirty="0">
                <a:latin typeface="Helvetica Neue"/>
              </a:rPr>
              <a:t>NC</a:t>
            </a:r>
            <a:r>
              <a:rPr lang="en-US" sz="1400" dirty="0">
                <a:latin typeface="Helvetica Neue"/>
              </a:rPr>
              <a:t>)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xmlns="" id="{B59A345C-2884-4B63-830E-BB61AFAA40F9}"/>
              </a:ext>
            </a:extLst>
          </p:cNvPr>
          <p:cNvSpPr txBox="1">
            <a:spLocks/>
          </p:cNvSpPr>
          <p:nvPr/>
        </p:nvSpPr>
        <p:spPr>
          <a:xfrm>
            <a:off x="72347" y="263404"/>
            <a:ext cx="8302910" cy="448696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pPr fontAlgn="auto">
              <a:lnSpc>
                <a:spcPts val="3400"/>
              </a:lnSpc>
              <a:spcAft>
                <a:spcPts val="0"/>
              </a:spcAft>
            </a:pPr>
            <a:r>
              <a:rPr lang="en-US" sz="3600" dirty="0">
                <a:latin typeface="Vitesse"/>
                <a:ea typeface="Vitesse" charset="0"/>
                <a:cs typeface="Vitesse" charset="0"/>
              </a:rPr>
              <a:t>Elastic Net Regression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xmlns="" id="{346463F6-7393-4D96-AF6B-57304AB22F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9137337"/>
              </p:ext>
            </p:extLst>
          </p:nvPr>
        </p:nvGraphicFramePr>
        <p:xfrm>
          <a:off x="138293" y="1030606"/>
          <a:ext cx="2477713" cy="430531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02341">
                  <a:extLst>
                    <a:ext uri="{9D8B030D-6E8A-4147-A177-3AD203B41FA5}">
                      <a16:colId xmlns:a16="http://schemas.microsoft.com/office/drawing/2014/main" xmlns="" val="3614624864"/>
                    </a:ext>
                  </a:extLst>
                </a:gridCol>
                <a:gridCol w="1175372">
                  <a:extLst>
                    <a:ext uri="{9D8B030D-6E8A-4147-A177-3AD203B41FA5}">
                      <a16:colId xmlns:a16="http://schemas.microsoft.com/office/drawing/2014/main" xmlns="" val="1244375128"/>
                    </a:ext>
                  </a:extLst>
                </a:gridCol>
              </a:tblGrid>
              <a:tr h="13593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(Intercept)       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4372" marR="54372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2.288092e+00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4372" marR="54372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243512514"/>
                  </a:ext>
                </a:extLst>
              </a:tr>
              <a:tr h="13593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HO                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4372" marR="54372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1.165709e+01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4372" marR="54372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423300958"/>
                  </a:ext>
                </a:extLst>
              </a:tr>
              <a:tr h="13593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PO                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4372" marR="54372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1.478576e-01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4372" marR="54372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986517988"/>
                  </a:ext>
                </a:extLst>
              </a:tr>
              <a:tr h="13593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WhitePop          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4372" marR="54372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3.688873e-03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4372" marR="54372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855060198"/>
                  </a:ext>
                </a:extLst>
              </a:tr>
              <a:tr h="13593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BlackPop          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4372" marR="54372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4.184739e-03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4372" marR="54372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394596825"/>
                  </a:ext>
                </a:extLst>
              </a:tr>
              <a:tr h="13593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HealthyPop       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4372" marR="54372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-1.170339e-03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4372" marR="54372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272819804"/>
                  </a:ext>
                </a:extLst>
              </a:tr>
              <a:tr h="13593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dirty="0" err="1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ChronicPop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       </a:t>
                      </a:r>
                      <a:endParaRPr lang="en-US" sz="11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4372" marR="54372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-5.767968e-03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4372" marR="54372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974166685"/>
                  </a:ext>
                </a:extLst>
              </a:tr>
              <a:tr h="13593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Unemployment      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4372" marR="54372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3.568585e-04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4372" marR="54372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101280155"/>
                  </a:ext>
                </a:extLst>
              </a:tr>
              <a:tr h="13593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Income           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4372" marR="54372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-2.361412e-07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4372" marR="54372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31578621"/>
                  </a:ext>
                </a:extLst>
              </a:tr>
              <a:tr h="13593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Poverty          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4372" marR="54372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-2.646852e-04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4372" marR="54372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50631095"/>
                  </a:ext>
                </a:extLst>
              </a:tr>
              <a:tr h="13593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Education        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4372" marR="54372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-1.451879e-03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4372" marR="54372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385191005"/>
                  </a:ext>
                </a:extLst>
              </a:tr>
              <a:tr h="13593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Accessibility    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4372" marR="54372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-1.859399e-03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4372" marR="54372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413245091"/>
                  </a:ext>
                </a:extLst>
              </a:tr>
              <a:tr h="13593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Availability      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4372" marR="54372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7.703073e-02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4372" marR="54372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677501071"/>
                  </a:ext>
                </a:extLst>
              </a:tr>
              <a:tr h="13593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RankingsPCP       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4372" marR="54372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7.168545e-04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4372" marR="54372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974636064"/>
                  </a:ext>
                </a:extLst>
              </a:tr>
              <a:tr h="13593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RankingsFood      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4372" marR="54372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5.944554e-03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4372" marR="54372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36271047"/>
                  </a:ext>
                </a:extLst>
              </a:tr>
              <a:tr h="13593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RankingsHousing  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4372" marR="54372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-4.569033e-03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4372" marR="54372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071091855"/>
                  </a:ext>
                </a:extLst>
              </a:tr>
              <a:tr h="13593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RankingsExercise  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4372" marR="54372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4.221634e-04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4372" marR="54372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929340059"/>
                  </a:ext>
                </a:extLst>
              </a:tr>
              <a:tr h="13593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RankingsSocial    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4372" marR="54372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.           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4372" marR="54372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279312496"/>
                  </a:ext>
                </a:extLst>
              </a:tr>
              <a:tr h="13593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ProvDensity       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4372" marR="54372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5.941349e-02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4372" marR="54372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38223025"/>
                  </a:ext>
                </a:extLst>
              </a:tr>
              <a:tr h="13593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AR                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4372" marR="54372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9.140417e-01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4372" marR="54372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423233517"/>
                  </a:ext>
                </a:extLst>
              </a:tr>
              <a:tr h="13593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LA                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4372" marR="54372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8.996673e-01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4372" marR="54372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88914374"/>
                  </a:ext>
                </a:extLst>
              </a:tr>
              <a:tr h="13593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NC                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4372" marR="54372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1.404530e+00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4372" marR="54372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485019864"/>
                  </a:ext>
                </a:extLst>
              </a:tr>
              <a:tr h="13593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suburban         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4372" marR="54372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-3.213212e-04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4372" marR="54372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961374185"/>
                  </a:ext>
                </a:extLst>
              </a:tr>
              <a:tr h="13593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urban             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4372" marR="54372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2.105330e-02</a:t>
                      </a:r>
                      <a:endParaRPr lang="en-US" sz="11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54372" marR="54372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005918424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725121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3" grpId="0" animBg="1"/>
    </p:bldLst>
  </p:timing>
  <p:extLst mod="1">
    <p:ext uri="{6950BFC3-D8DA-4A85-94F7-54DA5524770B}">
      <p188:commentRel xmlns="" xmlns:p188="http://schemas.microsoft.com/office/powerpoint/2018/8/main" r:id="rId4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12537" y="971330"/>
            <a:ext cx="856239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full = lm(log(</a:t>
            </a:r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EDCost.pmpm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) ~ </a:t>
            </a:r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HealthyPop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 + </a:t>
            </a:r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ChronicPop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 + State + Urbanicity + HO + PO +</a:t>
            </a:r>
          </a:p>
          <a:p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      </a:t>
            </a:r>
            <a:r>
              <a:rPr lang="zh-CN" alt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       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 </a:t>
            </a:r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BlackPop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 + </a:t>
            </a:r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WhitePop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 + Unemployment + Income + Poverty+ Education +</a:t>
            </a:r>
          </a:p>
          <a:p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     </a:t>
            </a:r>
            <a:r>
              <a:rPr lang="zh-CN" alt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        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 Accessibility + Availability + </a:t>
            </a:r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ProvDensity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 +</a:t>
            </a:r>
          </a:p>
          <a:p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     </a:t>
            </a:r>
            <a:r>
              <a:rPr lang="zh-CN" alt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         </a:t>
            </a:r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RankingsPCP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 + </a:t>
            </a:r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RankingsFood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 + </a:t>
            </a:r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RankingsExercise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 + </a:t>
            </a:r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RankingsSocial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, data=</a:t>
            </a:r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dataAdult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)  </a:t>
            </a:r>
            <a:endParaRPr lang="en-US" sz="1200" dirty="0">
              <a:solidFill>
                <a:schemeClr val="tx2"/>
              </a:solidFill>
              <a:latin typeface="Helvetica" panose="020B0604020202020204" pitchFamily="34" charset="0"/>
              <a:ea typeface="Helvetica" charset="0"/>
              <a:cs typeface="Helvetica" panose="020B0604020202020204" pitchFamily="34" charset="0"/>
            </a:endParaRPr>
          </a:p>
          <a:p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minimum = lm(log(</a:t>
            </a:r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EDCost.pmpm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) ~ </a:t>
            </a:r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HealthyPop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 + </a:t>
            </a:r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ChronicPop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, data=</a:t>
            </a:r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dataAdult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)</a:t>
            </a:r>
          </a:p>
          <a:p>
            <a:r>
              <a:rPr lang="en-US" sz="1200" b="1" dirty="0">
                <a:solidFill>
                  <a:srgbClr val="EAAA00"/>
                </a:solidFill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# Forward Stepwise Regression</a:t>
            </a:r>
          </a:p>
          <a:p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forward.model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 = step(minimum, scope=list(lower=minimum, upper=full), direction="forward")</a:t>
            </a:r>
          </a:p>
          <a:p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summary(</a:t>
            </a:r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forward.model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)</a:t>
            </a:r>
          </a:p>
          <a:p>
            <a:r>
              <a:rPr lang="en-US" sz="1200" b="1" dirty="0">
                <a:solidFill>
                  <a:srgbClr val="EAAA00"/>
                </a:solidFill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# Backward Stepwise Regression</a:t>
            </a:r>
          </a:p>
          <a:p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backward.model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 = step(full, scope=list(lower=minimum, upper=full), direction = "backward")</a:t>
            </a:r>
          </a:p>
          <a:p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summary(</a:t>
            </a:r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backward.model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)</a:t>
            </a:r>
          </a:p>
          <a:p>
            <a:r>
              <a:rPr lang="en-US" sz="1200" b="1" dirty="0">
                <a:solidFill>
                  <a:srgbClr val="EAAA00"/>
                </a:solidFill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# Forward-Backward Stepwise Regression</a:t>
            </a:r>
          </a:p>
          <a:p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both.min.model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 = step(minimum, scope=list(lower=minimum, upper=full), direction = "both")</a:t>
            </a:r>
          </a:p>
          <a:p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summary(</a:t>
            </a:r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both.min.model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)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509" y="145207"/>
            <a:ext cx="8562392" cy="526434"/>
          </a:xfrm>
        </p:spPr>
        <p:txBody>
          <a:bodyPr/>
          <a:lstStyle/>
          <a:p>
            <a:r>
              <a:rPr kumimoji="1" lang="en-US" altLang="zh-CN" sz="3600" dirty="0">
                <a:latin typeface="Vitesse"/>
              </a:rPr>
              <a:t>Stepwise Regression</a:t>
            </a:r>
            <a:endParaRPr kumimoji="1" lang="zh-CN" altLang="en-US" sz="3600" dirty="0">
              <a:latin typeface="Vitesse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24770586"/>
      </p:ext>
    </p:extLst>
  </p:cSld>
  <p:clrMapOvr>
    <a:masterClrMapping/>
  </p:clrMapOvr>
  <p:extLst mod="1">
    <p:ext uri="{6950BFC3-D8DA-4A85-94F7-54DA5524770B}">
      <p188:commentRel xmlns="" xmlns:p188="http://schemas.microsoft.com/office/powerpoint/2018/8/main" r:id="rId4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0D68C5CC-BC34-40C6-93DF-27D99F61278A}"/>
              </a:ext>
            </a:extLst>
          </p:cNvPr>
          <p:cNvSpPr txBox="1"/>
          <p:nvPr/>
        </p:nvSpPr>
        <p:spPr>
          <a:xfrm>
            <a:off x="190499" y="971550"/>
            <a:ext cx="7335093" cy="2893100"/>
          </a:xfrm>
          <a:prstGeom prst="rect">
            <a:avLst/>
          </a:prstGeom>
          <a:noFill/>
          <a:ln w="19050">
            <a:solidFill>
              <a:srgbClr val="3F6CAF"/>
            </a:solidFill>
          </a:ln>
        </p:spPr>
        <p:txBody>
          <a:bodyPr wrap="square" lIns="182880" tIns="182880" rIns="182880" bIns="18288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b="1" dirty="0">
                <a:solidFill>
                  <a:srgbClr val="000000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Observations</a:t>
            </a:r>
          </a:p>
          <a:p>
            <a:pPr marL="339725" indent="-339725">
              <a:buFont typeface="Arial" panose="020B0604020202020204" pitchFamily="34" charset="0"/>
              <a:buChar char="•"/>
              <a:defRPr/>
            </a:pPr>
            <a:r>
              <a:rPr lang="en-US" sz="1800" dirty="0">
                <a:solidFill>
                  <a:srgbClr val="000000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Variables not selected:</a:t>
            </a:r>
          </a:p>
          <a:p>
            <a:pPr marL="628650" lvl="1" indent="-285750">
              <a:buFont typeface="Arial" panose="020B0604020202020204" pitchFamily="34" charset="0"/>
              <a:buChar char="•"/>
              <a:defRPr/>
            </a:pPr>
            <a:r>
              <a:rPr lang="en-US" sz="1800" i="1" dirty="0">
                <a:solidFill>
                  <a:srgbClr val="000000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Unemployment</a:t>
            </a:r>
            <a:r>
              <a:rPr lang="en-US" sz="1800" dirty="0">
                <a:solidFill>
                  <a:srgbClr val="000000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, </a:t>
            </a:r>
            <a:r>
              <a:rPr lang="en-US" sz="1800" i="1" dirty="0">
                <a:solidFill>
                  <a:srgbClr val="000000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Income</a:t>
            </a:r>
            <a:r>
              <a:rPr lang="en-US" sz="1800" dirty="0">
                <a:solidFill>
                  <a:srgbClr val="000000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, </a:t>
            </a:r>
            <a:r>
              <a:rPr lang="en-US" sz="1800" i="1" dirty="0">
                <a:solidFill>
                  <a:srgbClr val="000000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Poverty</a:t>
            </a:r>
            <a:r>
              <a:rPr lang="en-US" sz="1800" dirty="0">
                <a:solidFill>
                  <a:srgbClr val="000000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, </a:t>
            </a:r>
            <a:r>
              <a:rPr lang="en-US" sz="1800" i="1" dirty="0" err="1">
                <a:solidFill>
                  <a:srgbClr val="000000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RankingExercise</a:t>
            </a:r>
            <a:r>
              <a:rPr lang="en-US" sz="1800" i="1" dirty="0">
                <a:solidFill>
                  <a:srgbClr val="000000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, </a:t>
            </a:r>
            <a:r>
              <a:rPr lang="en-US" sz="1800" i="1" dirty="0" err="1">
                <a:solidFill>
                  <a:srgbClr val="000000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RankingsSocial</a:t>
            </a:r>
            <a:endParaRPr lang="en-US" sz="1800" dirty="0">
              <a:solidFill>
                <a:srgbClr val="000000"/>
              </a:solidFill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 marL="339725" indent="-339725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1800" i="1" dirty="0">
                <a:solidFill>
                  <a:srgbClr val="000000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Urbanicity</a:t>
            </a:r>
            <a:r>
              <a:rPr lang="en-US" sz="1800" dirty="0">
                <a:solidFill>
                  <a:srgbClr val="000000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was not statistically significant</a:t>
            </a:r>
            <a:endParaRPr lang="en-US" sz="1800" i="1" dirty="0">
              <a:solidFill>
                <a:srgbClr val="000000"/>
              </a:solidFill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 marL="339725" indent="-339725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1800" dirty="0">
                <a:solidFill>
                  <a:srgbClr val="000000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Variables selected first by forward stepwise regression, in order</a:t>
            </a:r>
          </a:p>
          <a:p>
            <a:pPr marL="628650" lvl="1" indent="-285750">
              <a:buFont typeface="Arial" panose="020B0604020202020204" pitchFamily="34" charset="0"/>
              <a:buChar char="•"/>
              <a:defRPr/>
            </a:pPr>
            <a:r>
              <a:rPr lang="en-US" sz="1800" dirty="0">
                <a:solidFill>
                  <a:srgbClr val="000000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State dummy variables (</a:t>
            </a:r>
            <a:r>
              <a:rPr lang="en-US" sz="1800" i="1" dirty="0" err="1">
                <a:solidFill>
                  <a:srgbClr val="000000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StateAR</a:t>
            </a:r>
            <a:r>
              <a:rPr lang="en-US" sz="1800" i="1" dirty="0">
                <a:solidFill>
                  <a:srgbClr val="000000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, </a:t>
            </a:r>
            <a:r>
              <a:rPr lang="en-US" sz="1800" i="1" dirty="0" err="1">
                <a:solidFill>
                  <a:srgbClr val="000000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StateLA</a:t>
            </a:r>
            <a:r>
              <a:rPr lang="en-US" sz="1800" i="1" dirty="0">
                <a:solidFill>
                  <a:srgbClr val="000000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, </a:t>
            </a:r>
            <a:r>
              <a:rPr lang="en-US" sz="1800" i="1" dirty="0" err="1">
                <a:solidFill>
                  <a:srgbClr val="000000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StateNC</a:t>
            </a:r>
            <a:r>
              <a:rPr lang="en-US" sz="1800" dirty="0">
                <a:solidFill>
                  <a:srgbClr val="000000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)</a:t>
            </a:r>
          </a:p>
          <a:p>
            <a:pPr marL="628650" lvl="1" indent="-285750">
              <a:buFont typeface="Arial" panose="020B0604020202020204" pitchFamily="34" charset="0"/>
              <a:buChar char="•"/>
              <a:defRPr/>
            </a:pPr>
            <a:r>
              <a:rPr lang="en-US" sz="1800" dirty="0">
                <a:solidFill>
                  <a:srgbClr val="000000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Number of inpatient claims per-member-per-month </a:t>
            </a:r>
            <a:endParaRPr lang="en-US" sz="1800" i="1" dirty="0">
              <a:solidFill>
                <a:srgbClr val="000000"/>
              </a:solidFill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xmlns="" id="{30DFCDC3-50E5-4F42-A820-E222417CF46E}"/>
              </a:ext>
            </a:extLst>
          </p:cNvPr>
          <p:cNvSpPr txBox="1">
            <a:spLocks/>
          </p:cNvSpPr>
          <p:nvPr/>
        </p:nvSpPr>
        <p:spPr>
          <a:xfrm>
            <a:off x="90509" y="145207"/>
            <a:ext cx="8562392" cy="526434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kumimoji="1" lang="en-US" altLang="zh-CN" sz="3600">
                <a:latin typeface="Vitesse"/>
              </a:rPr>
              <a:t>Stepwise Regression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96843408"/>
      </p:ext>
    </p:extLst>
  </p:cSld>
  <p:clrMapOvr>
    <a:masterClrMapping/>
  </p:clrMapOvr>
  <p:extLst mod="1">
    <p:ext uri="{6950BFC3-D8DA-4A85-94F7-54DA5524770B}">
      <p188:commentRel xmlns="" xmlns:p188="http://schemas.microsoft.com/office/powerpoint/2018/8/main" r:id="rId4"/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509" y="145207"/>
            <a:ext cx="8562392" cy="534526"/>
          </a:xfrm>
        </p:spPr>
        <p:txBody>
          <a:bodyPr/>
          <a:lstStyle/>
          <a:p>
            <a:r>
              <a:rPr kumimoji="1" lang="en-US" altLang="zh-CN" sz="3600" dirty="0">
                <a:latin typeface="Vitesse"/>
              </a:rPr>
              <a:t>Stepwise Regression Model</a:t>
            </a:r>
            <a:endParaRPr kumimoji="1" lang="zh-CN" altLang="en-US" sz="3600" dirty="0">
              <a:latin typeface="Vitesse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460431" y="2169453"/>
            <a:ext cx="223138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F937FFE9-ECB1-4650-80BE-1FD7A278ED24}"/>
              </a:ext>
            </a:extLst>
          </p:cNvPr>
          <p:cNvSpPr txBox="1"/>
          <p:nvPr/>
        </p:nvSpPr>
        <p:spPr>
          <a:xfrm>
            <a:off x="4683569" y="1827051"/>
            <a:ext cx="4071642" cy="49244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txBody>
          <a:bodyPr vert="horz" wrap="square" lIns="91440" tIns="91440" rIns="91440" bIns="91440" rtlCol="0" anchor="ctr" anchorCtr="0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1200" dirty="0">
                <a:solidFill>
                  <a:srgbClr val="0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Both models explain the same amount of variance (about 84%). Prefer the smaller model.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xmlns="" id="{AA01609C-B32A-467F-840E-D98BA2554178}"/>
              </a:ext>
            </a:extLst>
          </p:cNvPr>
          <p:cNvSpPr/>
          <p:nvPr/>
        </p:nvSpPr>
        <p:spPr>
          <a:xfrm>
            <a:off x="1610755" y="4332978"/>
            <a:ext cx="581211" cy="248760"/>
          </a:xfrm>
          <a:prstGeom prst="ellipse">
            <a:avLst/>
          </a:prstGeom>
          <a:noFill/>
          <a:ln w="1905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0AA8A407-DE99-4B5C-85F9-CE5C8A16DF63}"/>
              </a:ext>
            </a:extLst>
          </p:cNvPr>
          <p:cNvSpPr txBox="1"/>
          <p:nvPr/>
        </p:nvSpPr>
        <p:spPr>
          <a:xfrm>
            <a:off x="4683569" y="2661896"/>
            <a:ext cx="4071642" cy="27699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Urbanicity</a:t>
            </a:r>
            <a:r>
              <a:rPr lang="en-US" sz="12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 is not statistically significant at</a:t>
            </a:r>
            <a:r>
              <a:rPr lang="en-US" sz="1200" dirty="0">
                <a:latin typeface="Helvetica Neue"/>
                <a:ea typeface="Helvetica" charset="0"/>
                <a:cs typeface="Helvetica" charset="0"/>
              </a:rPr>
              <a:t> </a:t>
            </a:r>
            <a:r>
              <a:rPr lang="en-US" sz="1200" dirty="0">
                <a:latin typeface="Symbol" panose="05050102010706020507" pitchFamily="18" charset="2"/>
                <a:ea typeface="Helvetica" charset="0"/>
                <a:cs typeface="Helvetica" charset="0"/>
              </a:rPr>
              <a:t>a</a:t>
            </a:r>
            <a:r>
              <a:rPr lang="en-US" sz="1200" dirty="0">
                <a:latin typeface="Helvetica Neue"/>
                <a:ea typeface="Helvetica" charset="0"/>
                <a:cs typeface="Helvetica" charset="0"/>
              </a:rPr>
              <a:t> </a:t>
            </a:r>
            <a:r>
              <a:rPr lang="en-US" sz="1200" dirty="0">
                <a:latin typeface="Cambria Math" panose="02040503050406030204" pitchFamily="18" charset="0"/>
                <a:ea typeface="Cambria Math" panose="02040503050406030204" pitchFamily="18" charset="0"/>
                <a:cs typeface="Helvetica" charset="0"/>
              </a:rPr>
              <a:t>= 0.05.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D08A9B02-8CA4-4BE8-BBA9-0D05804D3A4F}"/>
              </a:ext>
            </a:extLst>
          </p:cNvPr>
          <p:cNvSpPr txBox="1"/>
          <p:nvPr/>
        </p:nvSpPr>
        <p:spPr>
          <a:xfrm>
            <a:off x="4674108" y="3347549"/>
            <a:ext cx="4060094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Access</a:t>
            </a:r>
            <a:r>
              <a:rPr lang="en-US" sz="1200" b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 </a:t>
            </a:r>
            <a:r>
              <a:rPr lang="en-US" sz="12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to primary care (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Accessibility</a:t>
            </a:r>
            <a:r>
              <a:rPr lang="en-US" sz="12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 and 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Availability</a:t>
            </a:r>
            <a:r>
              <a:rPr lang="en-US" sz="12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) is statistically significantly associated to ED cost.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49C46618-10CD-48A0-8619-0AA8243453AE}"/>
              </a:ext>
            </a:extLst>
          </p:cNvPr>
          <p:cNvSpPr/>
          <p:nvPr/>
        </p:nvSpPr>
        <p:spPr>
          <a:xfrm>
            <a:off x="267847" y="2627117"/>
            <a:ext cx="4112792" cy="346555"/>
          </a:xfrm>
          <a:prstGeom prst="rect">
            <a:avLst/>
          </a:prstGeom>
          <a:noFill/>
          <a:ln w="1905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565B5B1C-1C00-418F-A86D-4EA0676C437C}"/>
              </a:ext>
            </a:extLst>
          </p:cNvPr>
          <p:cNvSpPr/>
          <p:nvPr/>
        </p:nvSpPr>
        <p:spPr>
          <a:xfrm>
            <a:off x="207524" y="977620"/>
            <a:ext cx="4828505" cy="39225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800" dirty="0">
                <a:solidFill>
                  <a:srgbClr val="000000"/>
                </a:solidFill>
                <a:latin typeface="Lucida Console" panose="020B060904050402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                   </a:t>
            </a:r>
            <a:r>
              <a:rPr lang="en-US" sz="900" dirty="0">
                <a:solidFill>
                  <a:srgbClr val="000000"/>
                </a:solidFill>
                <a:latin typeface="Lucida Console" panose="020B060904050402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Estimate Std. Error t value </a:t>
            </a:r>
            <a:r>
              <a:rPr lang="en-US" sz="900" dirty="0" err="1">
                <a:solidFill>
                  <a:srgbClr val="000000"/>
                </a:solidFill>
                <a:latin typeface="Lucida Console" panose="020B060904050402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Pr</a:t>
            </a:r>
            <a:r>
              <a:rPr lang="en-US" sz="900" dirty="0">
                <a:solidFill>
                  <a:srgbClr val="000000"/>
                </a:solidFill>
                <a:latin typeface="Lucida Console" panose="020B060904050402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(&gt;|t|)    </a:t>
            </a:r>
            <a:endParaRPr lang="en-US" sz="9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900" dirty="0">
                <a:solidFill>
                  <a:srgbClr val="000000"/>
                </a:solidFill>
                <a:latin typeface="Lucida Console" panose="020B060904050402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(Intercept)         2.0271089  0.0995378  20.365  &lt; 2e-16 ***</a:t>
            </a:r>
            <a:endParaRPr lang="en-US" sz="9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900" dirty="0" err="1">
                <a:solidFill>
                  <a:srgbClr val="000000"/>
                </a:solidFill>
                <a:latin typeface="Lucida Console" panose="020B060904050402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HealthyPop</a:t>
            </a:r>
            <a:r>
              <a:rPr lang="en-US" sz="900" dirty="0">
                <a:solidFill>
                  <a:srgbClr val="000000"/>
                </a:solidFill>
                <a:latin typeface="Lucida Console" panose="020B060904050402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     -0.0005092  0.0007837  -0.650 0.515917    </a:t>
            </a:r>
            <a:endParaRPr lang="en-US" sz="9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900" dirty="0" err="1">
                <a:solidFill>
                  <a:srgbClr val="000000"/>
                </a:solidFill>
                <a:latin typeface="Lucida Console" panose="020B060904050402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ChronicPop</a:t>
            </a:r>
            <a:r>
              <a:rPr lang="en-US" sz="900" dirty="0">
                <a:solidFill>
                  <a:srgbClr val="000000"/>
                </a:solidFill>
                <a:latin typeface="Lucida Console" panose="020B060904050402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     -0.0051250  0.0020252  -2.531 0.011418 *  </a:t>
            </a:r>
            <a:endParaRPr lang="en-US" sz="9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900" dirty="0" err="1">
                <a:solidFill>
                  <a:srgbClr val="000000"/>
                </a:solidFill>
                <a:latin typeface="Lucida Console" panose="020B060904050402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StateAR</a:t>
            </a:r>
            <a:r>
              <a:rPr lang="en-US" sz="900" dirty="0">
                <a:solidFill>
                  <a:srgbClr val="000000"/>
                </a:solidFill>
                <a:latin typeface="Lucida Console" panose="020B060904050402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         0.9324593  0.0155667  59.901  &lt; 2e-16 ***</a:t>
            </a:r>
            <a:endParaRPr lang="en-US" sz="9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900" dirty="0" err="1">
                <a:solidFill>
                  <a:srgbClr val="000000"/>
                </a:solidFill>
                <a:latin typeface="Lucida Console" panose="020B060904050402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StateLA</a:t>
            </a:r>
            <a:r>
              <a:rPr lang="en-US" sz="900" dirty="0">
                <a:solidFill>
                  <a:srgbClr val="000000"/>
                </a:solidFill>
                <a:latin typeface="Lucida Console" panose="020B060904050402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         0.9003846  0.0118631  75.898  &lt; 2e-16 ***</a:t>
            </a:r>
            <a:endParaRPr lang="en-US" sz="9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900" dirty="0" err="1">
                <a:solidFill>
                  <a:srgbClr val="000000"/>
                </a:solidFill>
                <a:latin typeface="Lucida Console" panose="020B060904050402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StateNC</a:t>
            </a:r>
            <a:r>
              <a:rPr lang="en-US" sz="900" dirty="0">
                <a:solidFill>
                  <a:srgbClr val="000000"/>
                </a:solidFill>
                <a:latin typeface="Lucida Console" panose="020B060904050402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         1.4268425  0.0157605  90.533  &lt; 2e-16 ***</a:t>
            </a:r>
            <a:endParaRPr lang="en-US" sz="9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900" dirty="0">
                <a:solidFill>
                  <a:srgbClr val="000000"/>
                </a:solidFill>
                <a:latin typeface="Lucida Console" panose="020B060904050402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HO                 12.0476486  0.7237072  16.647  &lt; 2e-16 ***</a:t>
            </a:r>
            <a:endParaRPr lang="en-US" sz="9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900" dirty="0">
                <a:solidFill>
                  <a:srgbClr val="000000"/>
                </a:solidFill>
                <a:latin typeface="Lucida Console" panose="020B060904050402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Education          -0.0016689  0.0002312  -7.218 6.08e-13 ***</a:t>
            </a:r>
            <a:endParaRPr lang="en-US" sz="9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900" dirty="0" err="1">
                <a:solidFill>
                  <a:srgbClr val="000000"/>
                </a:solidFill>
                <a:latin typeface="Lucida Console" panose="020B060904050402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ProvDensity</a:t>
            </a:r>
            <a:r>
              <a:rPr lang="en-US" sz="900" dirty="0">
                <a:solidFill>
                  <a:srgbClr val="000000"/>
                </a:solidFill>
                <a:latin typeface="Lucida Console" panose="020B060904050402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     0.0605923  0.0156154   3.880 0.000106 ***</a:t>
            </a:r>
            <a:endParaRPr lang="en-US" sz="9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900" dirty="0" err="1">
                <a:solidFill>
                  <a:srgbClr val="000000"/>
                </a:solidFill>
                <a:latin typeface="Lucida Console" panose="020B060904050402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RankingsPCP</a:t>
            </a:r>
            <a:r>
              <a:rPr lang="en-US" sz="900" dirty="0">
                <a:solidFill>
                  <a:srgbClr val="000000"/>
                </a:solidFill>
                <a:latin typeface="Lucida Console" panose="020B060904050402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     0.0007885  0.0001577   5.000 5.94e-07 ***</a:t>
            </a:r>
            <a:endParaRPr lang="en-US" sz="9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900" dirty="0">
                <a:solidFill>
                  <a:srgbClr val="000000"/>
                </a:solidFill>
                <a:latin typeface="Lucida Console" panose="020B060904050402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Availability        0.0756249  0.0191618   3.947 8.03e-05 ***</a:t>
            </a:r>
            <a:endParaRPr lang="en-US" sz="9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900" dirty="0">
                <a:solidFill>
                  <a:srgbClr val="000000"/>
                </a:solidFill>
                <a:latin typeface="Lucida Console" panose="020B060904050402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Accessibility      -0.0019930  0.0007001  -2.847 0.004433 ** </a:t>
            </a:r>
            <a:endParaRPr lang="en-US" sz="9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900" dirty="0">
                <a:solidFill>
                  <a:srgbClr val="000000"/>
                </a:solidFill>
                <a:latin typeface="Lucida Console" panose="020B060904050402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PO                  0.1232428  0.0406869   3.029 0.002466 ** </a:t>
            </a:r>
            <a:endParaRPr lang="en-US" sz="9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900" dirty="0" err="1">
                <a:solidFill>
                  <a:srgbClr val="000000"/>
                </a:solidFill>
                <a:latin typeface="Lucida Console" panose="020B060904050402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UrbanicitySuburban</a:t>
            </a:r>
            <a:r>
              <a:rPr lang="en-US" sz="900" dirty="0">
                <a:solidFill>
                  <a:srgbClr val="000000"/>
                </a:solidFill>
                <a:latin typeface="Lucida Console" panose="020B060904050402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-0.0017746  0.0136754  -0.130 0.896758    </a:t>
            </a:r>
            <a:endParaRPr lang="en-US" sz="9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900" dirty="0" err="1">
                <a:solidFill>
                  <a:srgbClr val="000000"/>
                </a:solidFill>
                <a:latin typeface="Lucida Console" panose="020B060904050402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UrbanicityUrban</a:t>
            </a:r>
            <a:r>
              <a:rPr lang="en-US" sz="900" dirty="0">
                <a:solidFill>
                  <a:srgbClr val="000000"/>
                </a:solidFill>
                <a:latin typeface="Lucida Console" panose="020B060904050402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 0.0226383  0.0124409   1.820 0.068870 .  </a:t>
            </a:r>
            <a:endParaRPr lang="en-US" sz="9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900" dirty="0" err="1">
                <a:solidFill>
                  <a:srgbClr val="000000"/>
                </a:solidFill>
                <a:latin typeface="Lucida Console" panose="020B060904050402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BlackPop</a:t>
            </a:r>
            <a:r>
              <a:rPr lang="en-US" sz="900" dirty="0">
                <a:solidFill>
                  <a:srgbClr val="000000"/>
                </a:solidFill>
                <a:latin typeface="Lucida Console" panose="020B060904050402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        0.0050790  0.0005596   9.076  &lt; 2e-16 ***</a:t>
            </a:r>
            <a:endParaRPr lang="en-US" sz="9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900" dirty="0" err="1">
                <a:solidFill>
                  <a:srgbClr val="000000"/>
                </a:solidFill>
                <a:latin typeface="Lucida Console" panose="020B060904050402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WhitePop</a:t>
            </a:r>
            <a:r>
              <a:rPr lang="en-US" sz="900" dirty="0">
                <a:solidFill>
                  <a:srgbClr val="000000"/>
                </a:solidFill>
                <a:latin typeface="Lucida Console" panose="020B060904050402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        0.0046371  0.0005522   8.398  &lt; 2e-16 ***</a:t>
            </a:r>
            <a:endParaRPr lang="en-US" sz="9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900" dirty="0" err="1">
                <a:solidFill>
                  <a:srgbClr val="000000"/>
                </a:solidFill>
                <a:latin typeface="Lucida Console" panose="020B060904050402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RankingsFood</a:t>
            </a:r>
            <a:r>
              <a:rPr lang="en-US" sz="900" dirty="0">
                <a:solidFill>
                  <a:srgbClr val="000000"/>
                </a:solidFill>
                <a:latin typeface="Lucida Console" panose="020B060904050402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    0.0158764  0.0040770   3.894 9.98e-05 ***</a:t>
            </a:r>
            <a:endParaRPr lang="en-US" sz="9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900" dirty="0">
                <a:solidFill>
                  <a:srgbClr val="000000"/>
                </a:solidFill>
                <a:latin typeface="Lucida Console" panose="020B060904050402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---</a:t>
            </a:r>
            <a:endParaRPr lang="en-US" sz="9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900" dirty="0" err="1">
                <a:solidFill>
                  <a:srgbClr val="000000"/>
                </a:solidFill>
                <a:latin typeface="Lucida Console" panose="020B060904050402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Signif</a:t>
            </a:r>
            <a:r>
              <a:rPr lang="en-US" sz="900" dirty="0">
                <a:solidFill>
                  <a:srgbClr val="000000"/>
                </a:solidFill>
                <a:latin typeface="Lucida Console" panose="020B060904050402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. codes:  0 ‘***’ 0.001 ‘**’ 0.01 ‘*’ 0.05 ‘.’ 0.1 ‘ ’ 1</a:t>
            </a:r>
            <a:endParaRPr lang="en-US" sz="9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900" dirty="0">
                <a:solidFill>
                  <a:srgbClr val="000000"/>
                </a:solidFill>
                <a:latin typeface="Lucida Console" panose="020B060904050402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</a:t>
            </a:r>
            <a:endParaRPr lang="en-US" sz="9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900" dirty="0">
                <a:solidFill>
                  <a:srgbClr val="000000"/>
                </a:solidFill>
                <a:latin typeface="Lucida Console" panose="020B060904050402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Residual standard error: 0.2322 on 5001 degrees of freedom</a:t>
            </a:r>
            <a:endParaRPr lang="en-US" sz="9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900" dirty="0">
                <a:solidFill>
                  <a:srgbClr val="000000"/>
                </a:solidFill>
                <a:latin typeface="Lucida Console" panose="020B060904050402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Multiple R-squared:  0.8483,	Adjusted R-squared:  0.8478 </a:t>
            </a:r>
            <a:endParaRPr lang="en-US" sz="9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900" dirty="0">
                <a:solidFill>
                  <a:srgbClr val="000000"/>
                </a:solidFill>
                <a:latin typeface="Lucida Console" panose="020B060904050402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F-statistic:  1645 on 17 and 5001 DF,  p-value: &lt; 2.2e-16</a:t>
            </a:r>
            <a:endParaRPr lang="en-US" sz="9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800" dirty="0">
                <a:solidFill>
                  <a:srgbClr val="000000"/>
                </a:solidFill>
                <a:latin typeface="Lucida Console" panose="020B060904050402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</a:t>
            </a:r>
            <a:endParaRPr lang="en-US" sz="800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xmlns="" id="{04EEF410-7A6C-490F-A941-92C98A563482}"/>
              </a:ext>
            </a:extLst>
          </p:cNvPr>
          <p:cNvSpPr/>
          <p:nvPr/>
        </p:nvSpPr>
        <p:spPr>
          <a:xfrm>
            <a:off x="3496303" y="3036309"/>
            <a:ext cx="809808" cy="346555"/>
          </a:xfrm>
          <a:prstGeom prst="ellipse">
            <a:avLst/>
          </a:prstGeom>
          <a:noFill/>
          <a:ln w="1905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36434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2" grpId="0" animBg="1"/>
      <p:bldP spid="13" grpId="0" animBg="1"/>
      <p:bldP spid="14" grpId="0" animBg="1"/>
      <p:bldP spid="1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17544" y="971917"/>
            <a:ext cx="843651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EAAA00"/>
                </a:solidFill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## Compare full model to selected model</a:t>
            </a:r>
            <a:endParaRPr lang="en-US" sz="1200" b="1" i="1" dirty="0">
              <a:solidFill>
                <a:srgbClr val="EAAA00"/>
              </a:solidFill>
              <a:latin typeface="Helvetica" panose="020B0604020202020204" pitchFamily="34" charset="0"/>
              <a:ea typeface="Helvetica" charset="0"/>
              <a:cs typeface="Helvetica" panose="020B0604020202020204" pitchFamily="34" charset="0"/>
            </a:endParaRPr>
          </a:p>
          <a:p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reg.step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 = </a:t>
            </a:r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lm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(log(</a:t>
            </a:r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EDCost.pmpm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) ~ </a:t>
            </a:r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HealthyPop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 + </a:t>
            </a:r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ChronicPop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 + State +  Urbanicity + HO       </a:t>
            </a:r>
          </a:p>
          <a:p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           + PO + </a:t>
            </a:r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BlackPop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 + </a:t>
            </a:r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WhitePop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 + Education +  Accessibility + Availability </a:t>
            </a:r>
            <a:b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</a:b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                  + </a:t>
            </a:r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ProvDensity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 + </a:t>
            </a:r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RankingsPCP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 + </a:t>
            </a:r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RankingsFood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, ,data=</a:t>
            </a:r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dataAdult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)</a:t>
            </a:r>
          </a:p>
          <a:p>
            <a:endParaRPr lang="en-US" sz="1200" i="1" dirty="0">
              <a:latin typeface="Helvetica" panose="020B0604020202020204" pitchFamily="34" charset="0"/>
              <a:ea typeface="Helvetica" charset="0"/>
              <a:cs typeface="Helvetica" panose="020B0604020202020204" pitchFamily="34" charset="0"/>
            </a:endParaRPr>
          </a:p>
          <a:p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anova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(</a:t>
            </a:r>
            <a:r>
              <a:rPr lang="en-US" sz="12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reg.step</a:t>
            </a:r>
            <a:r>
              <a:rPr lang="en-US" sz="12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, full)</a:t>
            </a:r>
          </a:p>
          <a:p>
            <a:r>
              <a:rPr lang="en-US" sz="12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     </a:t>
            </a:r>
            <a:r>
              <a:rPr lang="en-US" sz="1200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Res.Df</a:t>
            </a:r>
            <a:r>
              <a:rPr lang="en-US" sz="12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   RSS      Df   Sum of </a:t>
            </a:r>
            <a:r>
              <a:rPr lang="en-US" sz="1200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Sq</a:t>
            </a:r>
            <a:r>
              <a:rPr lang="en-US" sz="12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   F           </a:t>
            </a:r>
            <a:r>
              <a:rPr lang="en-US" sz="1200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Pr</a:t>
            </a:r>
            <a:r>
              <a:rPr lang="en-US" sz="12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(&gt;F)</a:t>
            </a:r>
          </a:p>
          <a:p>
            <a:r>
              <a:rPr lang="en-US" sz="12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1   5001      269.56                           </a:t>
            </a:r>
          </a:p>
          <a:p>
            <a:r>
              <a:rPr lang="en-US" sz="12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2   4996      269.46   5    0.10406       0.3859  0.8588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509" y="153299"/>
            <a:ext cx="8562392" cy="559028"/>
          </a:xfrm>
        </p:spPr>
        <p:txBody>
          <a:bodyPr/>
          <a:lstStyle/>
          <a:p>
            <a:r>
              <a:rPr kumimoji="1" lang="en-US" altLang="zh-CN" sz="3600" dirty="0">
                <a:latin typeface="Vitesse"/>
              </a:rPr>
              <a:t>Stepwise Regression Vs Full Models</a:t>
            </a:r>
            <a:endParaRPr kumimoji="1" lang="zh-CN" altLang="en-US" sz="3600" dirty="0">
              <a:latin typeface="Vitesse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98464" y="3173821"/>
            <a:ext cx="7377874" cy="150810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txBody>
          <a:bodyPr wrap="square" lIns="182880" tIns="182880" rIns="182880" bIns="182880" anchor="ctr" anchorCtr="0">
            <a:spAutoFit/>
          </a:bodyPr>
          <a:lstStyle/>
          <a:p>
            <a:pPr marL="342900" indent="-3429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solidFill>
                  <a:srgbClr val="000000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P-value large</a:t>
            </a:r>
          </a:p>
          <a:p>
            <a:pPr marL="685800" lvl="1" indent="-342900"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solidFill>
                  <a:srgbClr val="000000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Do not reject the null hypothesis (reduced model)</a:t>
            </a:r>
          </a:p>
          <a:p>
            <a:pPr marL="342900" indent="-342900" eaLnBrk="1" fontAlgn="auto" hangingPunct="1"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solidFill>
                  <a:srgbClr val="000000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The reduced model is plausibly as good in terms of explanatory power as the full model</a:t>
            </a:r>
          </a:p>
        </p:txBody>
      </p:sp>
      <p:sp>
        <p:nvSpPr>
          <p:cNvPr id="6" name="Oval 5"/>
          <p:cNvSpPr/>
          <p:nvPr/>
        </p:nvSpPr>
        <p:spPr>
          <a:xfrm>
            <a:off x="3216084" y="2450441"/>
            <a:ext cx="583901" cy="242617"/>
          </a:xfrm>
          <a:prstGeom prst="ellipse">
            <a:avLst/>
          </a:prstGeom>
          <a:noFill/>
          <a:ln w="1905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78444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4325" y="145207"/>
            <a:ext cx="8562392" cy="583078"/>
          </a:xfrm>
        </p:spPr>
        <p:txBody>
          <a:bodyPr/>
          <a:lstStyle/>
          <a:p>
            <a:r>
              <a:rPr lang="en-US" sz="3600" dirty="0">
                <a:latin typeface="Vitesse"/>
              </a:rPr>
              <a:t>Residual Analysis: Outliers &amp; Normality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3962B993-DCE4-4EDD-ADAF-1DB4C9D14C47}"/>
              </a:ext>
            </a:extLst>
          </p:cNvPr>
          <p:cNvSpPr txBox="1"/>
          <p:nvPr/>
        </p:nvSpPr>
        <p:spPr>
          <a:xfrm>
            <a:off x="102151" y="968411"/>
            <a:ext cx="7578541" cy="2123658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/>
          <a:p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red.resid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 = </a:t>
            </a:r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rstandard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(</a:t>
            </a:r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reg.step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)</a:t>
            </a:r>
          </a:p>
          <a:p>
            <a:pPr algn="l"/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red.cook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 = </a:t>
            </a:r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cooks.distance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(</a:t>
            </a:r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reg.step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)</a:t>
            </a:r>
          </a:p>
          <a:p>
            <a:pPr algn="l"/>
            <a:endParaRPr lang="en-US" sz="1200" dirty="0">
              <a:solidFill>
                <a:srgbClr val="8E422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l"/>
            <a:r>
              <a:rPr lang="en-US" sz="1200" b="1" dirty="0">
                <a:solidFill>
                  <a:srgbClr val="EAAA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## Check outliers</a:t>
            </a:r>
          </a:p>
          <a:p>
            <a:pPr algn="l"/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influencePlot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(</a:t>
            </a:r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reg.step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)</a:t>
            </a:r>
          </a:p>
          <a:p>
            <a:pPr algn="l"/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plot(</a:t>
            </a:r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red.cook,type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="h",</a:t>
            </a:r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lwd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=3,col="red", </a:t>
            </a:r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ylab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 = "Cook's Distance")</a:t>
            </a:r>
          </a:p>
          <a:p>
            <a:pPr algn="l"/>
            <a:endParaRPr lang="en-US" sz="1200" dirty="0">
              <a:solidFill>
                <a:srgbClr val="8E422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l"/>
            <a:r>
              <a:rPr lang="en-US" sz="1200" b="1" dirty="0">
                <a:solidFill>
                  <a:srgbClr val="EAAA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## Check normality</a:t>
            </a:r>
          </a:p>
          <a:p>
            <a:pPr algn="l"/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qqPlot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(</a:t>
            </a:r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red.resid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ylab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="Residuals", main = "")</a:t>
            </a:r>
          </a:p>
          <a:p>
            <a:pPr algn="l"/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qqline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(</a:t>
            </a:r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red.resid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, col="red", </a:t>
            </a:r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lwd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=2)</a:t>
            </a:r>
          </a:p>
          <a:p>
            <a:pPr algn="l"/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hist(</a:t>
            </a:r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red.resid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xlab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="Residuals", main = "", </a:t>
            </a:r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nclass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=30, col="orange")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591919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503661" y="1252829"/>
            <a:ext cx="3487939" cy="81560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txBody>
          <a:bodyPr wrap="square" lIns="91440" tIns="91440" rIns="91440" bIns="91440" rtlCol="0" anchor="ctr" anchorCtr="0">
            <a:spAutoFit/>
          </a:bodyPr>
          <a:lstStyle/>
          <a:p>
            <a:pPr algn="ctr"/>
            <a:r>
              <a:rPr lang="en-US" sz="1800" b="1" dirty="0">
                <a:latin typeface="Helvetica" charset="0"/>
                <a:ea typeface="Helvetica" charset="0"/>
                <a:cs typeface="Helvetica" charset="0"/>
              </a:rPr>
              <a:t>Outliers</a:t>
            </a:r>
          </a:p>
          <a:p>
            <a:pPr algn="ctr">
              <a:spcBef>
                <a:spcPts val="600"/>
              </a:spcBef>
            </a:pPr>
            <a:r>
              <a:rPr lang="en-US" sz="1800" dirty="0">
                <a:latin typeface="Helvetica" charset="0"/>
                <a:ea typeface="Helvetica" charset="0"/>
                <a:cs typeface="Helvetica" charset="0"/>
              </a:rPr>
              <a:t>Observation</a:t>
            </a:r>
            <a:r>
              <a:rPr lang="en-US" sz="1800" b="1" dirty="0">
                <a:latin typeface="Helvetica" charset="0"/>
                <a:ea typeface="Helvetica" charset="0"/>
                <a:cs typeface="Helvetica" charset="0"/>
              </a:rPr>
              <a:t> </a:t>
            </a:r>
            <a:r>
              <a:rPr lang="en-US" sz="1800" dirty="0">
                <a:latin typeface="Helvetica" charset="0"/>
                <a:ea typeface="Helvetica" charset="0"/>
                <a:cs typeface="Helvetica" charset="0"/>
              </a:rPr>
              <a:t>909 stands out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D499126D-EF66-4477-B209-29593F5365DD}"/>
              </a:ext>
            </a:extLst>
          </p:cNvPr>
          <p:cNvSpPr txBox="1"/>
          <p:nvPr/>
        </p:nvSpPr>
        <p:spPr>
          <a:xfrm>
            <a:off x="5486400" y="3148478"/>
            <a:ext cx="3505200" cy="815608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 tIns="91440" bIns="91440" rtlCol="0" anchor="ctr" anchorCtr="0">
            <a:spAutoFit/>
          </a:bodyPr>
          <a:lstStyle/>
          <a:p>
            <a:pPr algn="ctr"/>
            <a:r>
              <a:rPr lang="en-US" sz="1800" b="1" dirty="0">
                <a:latin typeface="Helvetica" charset="0"/>
                <a:ea typeface="Helvetica" charset="0"/>
                <a:cs typeface="Helvetica" charset="0"/>
              </a:rPr>
              <a:t>Normality</a:t>
            </a:r>
          </a:p>
          <a:p>
            <a:pPr algn="ctr">
              <a:spcBef>
                <a:spcPts val="600"/>
              </a:spcBef>
            </a:pPr>
            <a:r>
              <a:rPr lang="en-US" sz="1800" dirty="0">
                <a:latin typeface="Helvetica" charset="0"/>
                <a:ea typeface="Helvetica" charset="0"/>
                <a:cs typeface="Helvetica" charset="0"/>
              </a:rPr>
              <a:t>Symmetric but with heavy tails</a:t>
            </a:r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xmlns="" id="{1CA657AB-7BE9-4078-BBAA-50ED0E91F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25" y="145207"/>
            <a:ext cx="8562392" cy="583078"/>
          </a:xfrm>
        </p:spPr>
        <p:txBody>
          <a:bodyPr/>
          <a:lstStyle/>
          <a:p>
            <a:r>
              <a:rPr lang="en-US" sz="3600" dirty="0">
                <a:latin typeface="Vitesse"/>
              </a:rPr>
              <a:t>Residual Analysis: Outliers &amp; Normality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97C00C61-9F81-4E00-9A56-BB2039DD7B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30" y="905429"/>
            <a:ext cx="4559700" cy="378386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77812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8" name="Picture 837" descr="A close up of text on a white background&#10;&#10;Description automatically generated">
            <a:extLst>
              <a:ext uri="{FF2B5EF4-FFF2-40B4-BE49-F238E27FC236}">
                <a16:creationId xmlns:a16="http://schemas.microsoft.com/office/drawing/2014/main" xmlns="" id="{5A8B109F-9B30-490A-89E3-BC2E5DE46E6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1145" y="1380468"/>
            <a:ext cx="4539777" cy="3099572"/>
          </a:xfrm>
          <a:prstGeom prst="rect">
            <a:avLst/>
          </a:prstGeom>
        </p:spPr>
      </p:pic>
      <p:pic>
        <p:nvPicPr>
          <p:cNvPr id="833" name="Picture 832" descr="A close up of a newspaper&#10;&#10;Description automatically generated">
            <a:extLst>
              <a:ext uri="{FF2B5EF4-FFF2-40B4-BE49-F238E27FC236}">
                <a16:creationId xmlns:a16="http://schemas.microsoft.com/office/drawing/2014/main" xmlns="" id="{C14BD92C-0EFA-440C-A966-D1249D97E72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35" y="1398896"/>
            <a:ext cx="4528910" cy="308114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2417" y="145207"/>
            <a:ext cx="8562392" cy="568768"/>
          </a:xfrm>
        </p:spPr>
        <p:txBody>
          <a:bodyPr/>
          <a:lstStyle/>
          <a:p>
            <a:r>
              <a:rPr kumimoji="1" lang="en-US" altLang="zh-CN" sz="3600" dirty="0">
                <a:latin typeface="Vitesse"/>
              </a:rPr>
              <a:t>Removing Outlier? </a:t>
            </a:r>
            <a:endParaRPr kumimoji="1" lang="zh-CN" altLang="en-US" sz="3600" dirty="0">
              <a:latin typeface="Vitesse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572856" y="2345509"/>
            <a:ext cx="223138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xmlns="" id="{8E301BAF-4566-4B1D-A5C4-AEC78412C2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3313" y="1463288"/>
            <a:ext cx="199107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2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19" name="Rectangle 418">
            <a:extLst>
              <a:ext uri="{FF2B5EF4-FFF2-40B4-BE49-F238E27FC236}">
                <a16:creationId xmlns:a16="http://schemas.microsoft.com/office/drawing/2014/main" xmlns="" id="{7D3C4B65-3243-4150-9F94-09C65AF0689E}"/>
              </a:ext>
            </a:extLst>
          </p:cNvPr>
          <p:cNvSpPr/>
          <p:nvPr/>
        </p:nvSpPr>
        <p:spPr>
          <a:xfrm>
            <a:off x="335841" y="915262"/>
            <a:ext cx="2916183" cy="2389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1100"/>
              </a:lnSpc>
            </a:pPr>
            <a:r>
              <a:rPr lang="en-US" sz="1400" b="1" dirty="0">
                <a:solidFill>
                  <a:schemeClr val="tx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Regression Output: With Outlier</a:t>
            </a:r>
          </a:p>
        </p:txBody>
      </p:sp>
      <p:sp>
        <p:nvSpPr>
          <p:cNvPr id="836" name="Rectangle 835">
            <a:extLst>
              <a:ext uri="{FF2B5EF4-FFF2-40B4-BE49-F238E27FC236}">
                <a16:creationId xmlns:a16="http://schemas.microsoft.com/office/drawing/2014/main" xmlns="" id="{7128C095-6049-49D2-80D8-192D903248A0}"/>
              </a:ext>
            </a:extLst>
          </p:cNvPr>
          <p:cNvSpPr/>
          <p:nvPr/>
        </p:nvSpPr>
        <p:spPr>
          <a:xfrm>
            <a:off x="5357443" y="915262"/>
            <a:ext cx="3193503" cy="2389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1100"/>
              </a:lnSpc>
            </a:pPr>
            <a:r>
              <a:rPr lang="en-US" sz="1400" b="1" dirty="0">
                <a:solidFill>
                  <a:schemeClr val="tx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Regression Output: Without Outlier</a:t>
            </a:r>
          </a:p>
        </p:txBody>
      </p:sp>
      <p:cxnSp>
        <p:nvCxnSpPr>
          <p:cNvPr id="840" name="Straight Connector 839">
            <a:extLst>
              <a:ext uri="{FF2B5EF4-FFF2-40B4-BE49-F238E27FC236}">
                <a16:creationId xmlns:a16="http://schemas.microsoft.com/office/drawing/2014/main" xmlns="" id="{CCCC93BE-A8A5-4A5C-A732-37FE87F38064}"/>
              </a:ext>
            </a:extLst>
          </p:cNvPr>
          <p:cNvCxnSpPr/>
          <p:nvPr/>
        </p:nvCxnSpPr>
        <p:spPr>
          <a:xfrm>
            <a:off x="4525749" y="1214566"/>
            <a:ext cx="0" cy="339819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970694861"/>
      </p:ext>
    </p:extLst>
  </p:cSld>
  <p:clrMapOvr>
    <a:masterClrMapping/>
  </p:clrMapOvr>
  <p:extLst mod="1">
    <p:ext uri="{6950BFC3-D8DA-4A85-94F7-54DA5524770B}">
      <p188:commentRel xmlns="" xmlns:p188="http://schemas.microsoft.com/office/powerpoint/2018/8/main" r:id="rId6"/>
    </p:ext>
  </p:extLs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TextBox 1"/>
          <p:cNvSpPr txBox="1">
            <a:spLocks noChangeArrowheads="1"/>
          </p:cNvSpPr>
          <p:nvPr/>
        </p:nvSpPr>
        <p:spPr bwMode="auto">
          <a:xfrm>
            <a:off x="101423" y="899553"/>
            <a:ext cx="8354757" cy="40318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1800" b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Comparing 2011 ED Costs by Location (AL, AR, LA, and NC)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Controlling for utilization, access, and socioeconomics</a:t>
            </a:r>
          </a:p>
          <a:p>
            <a:pPr marL="574675" indent="-285750"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In AR versus AL</a:t>
            </a:r>
          </a:p>
          <a:p>
            <a:pPr marL="914400" lvl="1" indent="-339725"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ED cost PMPM is exp(0.938) = $2.55 higher</a:t>
            </a:r>
          </a:p>
          <a:p>
            <a:pPr marL="914400" lvl="1" indent="-339725"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ED cost per member per year is $30.65 higher</a:t>
            </a:r>
          </a:p>
          <a:p>
            <a:pPr marL="574675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In LA versus AL</a:t>
            </a:r>
          </a:p>
          <a:p>
            <a:pPr marL="914400" lvl="1" indent="-339725"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ED cost PMPM is exp(0.899) = $2.46 higher</a:t>
            </a:r>
          </a:p>
          <a:p>
            <a:pPr marL="914400" lvl="1" indent="-339725"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ED cost per member per year is $29.49 higher</a:t>
            </a:r>
          </a:p>
          <a:p>
            <a:pPr marL="574675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In NC versus AL</a:t>
            </a:r>
          </a:p>
          <a:p>
            <a:pPr marL="914400" lvl="1" indent="-339725"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ED cost PMPM is exp(1.428) = $4.17 higher</a:t>
            </a:r>
          </a:p>
          <a:p>
            <a:pPr marL="914400" lvl="1" indent="-339725"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ED cost per member per year is $50.04 higher</a:t>
            </a:r>
            <a:endParaRPr lang="en-US" altLang="en-US" sz="1400" b="1" dirty="0">
              <a:latin typeface="Helvetica" panose="020B0604020202020204" pitchFamily="34" charset="0"/>
              <a:ea typeface="Helvetica" charset="0"/>
              <a:cs typeface="Helvetica" panose="020B0604020202020204" pitchFamily="34" charset="0"/>
            </a:endParaRPr>
          </a:p>
          <a:p>
            <a:pPr>
              <a:spcBef>
                <a:spcPts val="1200"/>
              </a:spcBef>
            </a:pPr>
            <a:r>
              <a:rPr lang="en-US" altLang="en-US" sz="1800" b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Overall Interpretation: </a:t>
            </a:r>
            <a:r>
              <a:rPr lang="en-US" altLang="en-US" sz="18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Controlling for many potential factors contributing to ED costs, North Carolina pays significantly more while Alabama pays significantly less per member on emergency care than do Louisiana and Arkansas.</a:t>
            </a:r>
            <a:endParaRPr lang="en-US" altLang="en-US" sz="1800" b="1" dirty="0">
              <a:latin typeface="Helvetica" panose="020B0604020202020204" pitchFamily="34" charset="0"/>
              <a:ea typeface="Helvetica" charset="0"/>
              <a:cs typeface="Helvetica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4325" y="153299"/>
            <a:ext cx="8562392" cy="607354"/>
          </a:xfrm>
        </p:spPr>
        <p:txBody>
          <a:bodyPr/>
          <a:lstStyle/>
          <a:p>
            <a:r>
              <a:rPr kumimoji="1" lang="en-US" altLang="zh-CN" sz="3600" dirty="0">
                <a:latin typeface="Vitesse"/>
              </a:rPr>
              <a:t>Model Interpretation: State Differences</a:t>
            </a:r>
            <a:endParaRPr kumimoji="1" lang="zh-CN" altLang="en-US" sz="3600" dirty="0">
              <a:latin typeface="Vitesse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44357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TextBox 1"/>
          <p:cNvSpPr txBox="1">
            <a:spLocks noChangeArrowheads="1"/>
          </p:cNvSpPr>
          <p:nvPr/>
        </p:nvSpPr>
        <p:spPr bwMode="auto">
          <a:xfrm>
            <a:off x="95579" y="900792"/>
            <a:ext cx="8417241" cy="39241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1800" b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Healthcare Utilization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8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PO</a:t>
            </a:r>
          </a:p>
          <a:p>
            <a:pPr marL="574675" lvl="1" indent="-292100"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Proxy of regular care utilization</a:t>
            </a:r>
          </a:p>
          <a:p>
            <a:pPr marL="574675" lvl="1" indent="-292100"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Number of claims reimbursed for care in a physician's office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sz="18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HO</a:t>
            </a:r>
          </a:p>
          <a:p>
            <a:pPr marL="574675" lvl="1" indent="-292100"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Proxy of inpatient care utilization</a:t>
            </a:r>
          </a:p>
          <a:p>
            <a:pPr marL="574675" lvl="1" indent="-292100"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Number of claims reimbursed for hospital care</a:t>
            </a:r>
          </a:p>
          <a:p>
            <a:endParaRPr lang="en-US" altLang="en-US" sz="1800" dirty="0">
              <a:latin typeface="Helvetica" panose="020B0604020202020204" pitchFamily="34" charset="0"/>
              <a:ea typeface="Helvetica" charset="0"/>
              <a:cs typeface="Helvetica" panose="020B0604020202020204" pitchFamily="34" charset="0"/>
            </a:endParaRPr>
          </a:p>
          <a:p>
            <a:r>
              <a:rPr lang="en-US" altLang="en-US" sz="1800" b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Interpretation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An increase of 1 claim PMPM for regular care results in a 0.133 increase in log of ED cost PMPM, given all other predictors fixed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An increase of 1 claim PMPM for inpatient care results in a 11.54 increase in log of ED cost PMPM, given all other predictors fixed 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4325" y="153299"/>
            <a:ext cx="8562392" cy="585654"/>
          </a:xfrm>
        </p:spPr>
        <p:txBody>
          <a:bodyPr/>
          <a:lstStyle/>
          <a:p>
            <a:r>
              <a:rPr kumimoji="1" lang="en-US" altLang="zh-CN" sz="3600" dirty="0">
                <a:latin typeface="Vitesse"/>
              </a:rPr>
              <a:t>Model Interpretation: Utilization</a:t>
            </a:r>
            <a:endParaRPr kumimoji="1" lang="zh-CN" altLang="en-US" sz="3600" dirty="0">
              <a:latin typeface="Vitesse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24457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TextBox 1"/>
          <p:cNvSpPr txBox="1">
            <a:spLocks noChangeArrowheads="1"/>
          </p:cNvSpPr>
          <p:nvPr/>
        </p:nvSpPr>
        <p:spPr bwMode="auto">
          <a:xfrm>
            <a:off x="119083" y="900414"/>
            <a:ext cx="8199529" cy="41088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1800" b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Access to primary care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8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Availability</a:t>
            </a:r>
            <a:endParaRPr lang="en-US" altLang="en-US" sz="1800" dirty="0">
              <a:latin typeface="Helvetica" panose="020B0604020202020204" pitchFamily="34" charset="0"/>
              <a:ea typeface="Helvetica" charset="0"/>
              <a:cs typeface="Helvetica" panose="020B0604020202020204" pitchFamily="34" charset="0"/>
            </a:endParaRPr>
          </a:p>
          <a:p>
            <a:pPr marL="574675" lvl="1" indent="-292100"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Proxy of wait times for appointment</a:t>
            </a:r>
          </a:p>
          <a:p>
            <a:pPr marL="574675" lvl="1" indent="-292100"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Takes values between 0 (low wait time) and 1 (high wait time)</a:t>
            </a:r>
            <a:endParaRPr lang="en-US" altLang="en-US" sz="1800" dirty="0">
              <a:latin typeface="Helvetica" panose="020B0604020202020204" pitchFamily="34" charset="0"/>
              <a:ea typeface="Helvetica" charset="0"/>
              <a:cs typeface="Helvetica" panose="020B0604020202020204" pitchFamily="34" charset="0"/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sz="18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Accessibility</a:t>
            </a:r>
            <a:endParaRPr lang="en-US" altLang="en-US" sz="1800" dirty="0">
              <a:latin typeface="Helvetica" panose="020B0604020202020204" pitchFamily="34" charset="0"/>
              <a:ea typeface="Helvetica" charset="0"/>
              <a:cs typeface="Helvetica" panose="020B0604020202020204" pitchFamily="34" charset="0"/>
            </a:endParaRPr>
          </a:p>
          <a:p>
            <a:pPr marL="574675" lvl="1" indent="-292100"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Travel distance to primary care providers, measured in miles</a:t>
            </a:r>
            <a:endParaRPr lang="en-US" altLang="en-US" sz="1800" dirty="0">
              <a:latin typeface="Helvetica" panose="020B0604020202020204" pitchFamily="34" charset="0"/>
              <a:ea typeface="Helvetica" charset="0"/>
              <a:cs typeface="Helvetica" panose="020B0604020202020204" pitchFamily="34" charset="0"/>
            </a:endParaRPr>
          </a:p>
          <a:p>
            <a:r>
              <a:rPr lang="en-US" altLang="en-US" sz="1800" b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Interpretation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An increase of 0.01 or 1% in lack of availability of primary care providers results in 0.000755 unit increase in log(ED cost PMPM) given all other predictors fixed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A reduction of 1 mile in travel distance to primary care providers results in 0.002 unit increase in log(ED cost PMPM) given all other predictors fixed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The correlation between the two measures is 0.696. If </a:t>
            </a:r>
            <a:r>
              <a:rPr lang="en-US" altLang="en-US" sz="18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Availability</a:t>
            </a:r>
            <a:r>
              <a:rPr lang="en-US" altLang="en-US" sz="18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 is discarded from the model, </a:t>
            </a:r>
            <a:r>
              <a:rPr lang="en-US" altLang="en-US" sz="18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Accessibility</a:t>
            </a:r>
            <a:r>
              <a:rPr lang="en-US" altLang="en-US" sz="18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 is not statistically significant.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4325" y="153299"/>
            <a:ext cx="8562392" cy="607354"/>
          </a:xfrm>
        </p:spPr>
        <p:txBody>
          <a:bodyPr/>
          <a:lstStyle/>
          <a:p>
            <a:r>
              <a:rPr kumimoji="1" lang="en-US" altLang="zh-CN" sz="3600" dirty="0">
                <a:latin typeface="Vitesse"/>
              </a:rPr>
              <a:t>Model Interpretation: Access to Care</a:t>
            </a:r>
            <a:endParaRPr kumimoji="1" lang="zh-CN" altLang="en-US" sz="3600" dirty="0">
              <a:latin typeface="Vitesse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93706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4294967295"/>
          </p:nvPr>
        </p:nvSpPr>
        <p:spPr>
          <a:xfrm>
            <a:off x="105196" y="147217"/>
            <a:ext cx="4727575" cy="795337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sz="3600" dirty="0">
                <a:latin typeface="Vitesse" charset="0"/>
                <a:ea typeface="Vitesse" charset="0"/>
                <a:cs typeface="Vitesse" charset="0"/>
              </a:rPr>
              <a:t>Summary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59" t="6607" r="13881" b="7744"/>
          <a:stretch/>
        </p:blipFill>
        <p:spPr>
          <a:xfrm>
            <a:off x="3236327" y="1171154"/>
            <a:ext cx="2573755" cy="281317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019656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THEMEGTX" val="ULIKCWys"/>
  <p:tag name="ARTICULATE_DESIGN_ID_4_FULL PAGE LAYOUT" val="pIwFL34y"/>
  <p:tag name="ARTICULATE_DESIGN_ID_HALF PAGE SLASH" val="3Zhj9GxJ"/>
  <p:tag name="ARTICULATE_DESIGN_ID_FULL PAGE LAYOUT" val="JeUoz1Kf"/>
  <p:tag name="ARTICULATE_DESIGN_ID_HEAD SHOT" val="OCzOYpy2"/>
  <p:tag name="ARTICULATE_DESIGN_ID_1_HALF PAGE SLASH" val="uhrDGiqM"/>
  <p:tag name="ARTICULATE_DESIGN_ID_2_HALF PAGE SLASH" val="xvTv1H84"/>
  <p:tag name="ARTICULATE_DESIGN_ID_1_FULL PAGE LAYOUT" val="yJUpx4M5"/>
  <p:tag name="ARTICULATE_SLIDE_COUNT" val="21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1_Half Page Slash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 algn="l">
          <a:lnSpc>
            <a:spcPts val="1200"/>
          </a:lnSpc>
          <a:defRPr sz="1200" dirty="0" smtClean="0">
            <a:solidFill>
              <a:srgbClr val="000000"/>
            </a:solidFill>
            <a:latin typeface="Helvetica"/>
            <a:cs typeface="Helvetica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2_Half Page Slash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 algn="l">
          <a:lnSpc>
            <a:spcPts val="1200"/>
          </a:lnSpc>
          <a:defRPr sz="1200" dirty="0" smtClean="0">
            <a:solidFill>
              <a:srgbClr val="000000"/>
            </a:solidFill>
            <a:latin typeface="Helvetica"/>
            <a:cs typeface="Helvetica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1_Full Page Layou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14850</TotalTime>
  <Words>1394</Words>
  <Application>Microsoft Office PowerPoint</Application>
  <PresentationFormat>On-screen Show (16:9)</PresentationFormat>
  <Paragraphs>296</Paragraphs>
  <Slides>18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18</vt:i4>
      </vt:variant>
    </vt:vector>
  </HeadingPairs>
  <TitlesOfParts>
    <vt:vector size="37" baseType="lpstr">
      <vt:lpstr>MS PGothic</vt:lpstr>
      <vt:lpstr>宋体</vt:lpstr>
      <vt:lpstr>Arial</vt:lpstr>
      <vt:lpstr>Calibri</vt:lpstr>
      <vt:lpstr>Cambria Math</vt:lpstr>
      <vt:lpstr>Courier New</vt:lpstr>
      <vt:lpstr>Helvetica</vt:lpstr>
      <vt:lpstr>Helvetica Neue</vt:lpstr>
      <vt:lpstr>Lucida Console</vt:lpstr>
      <vt:lpstr>Symbol</vt:lpstr>
      <vt:lpstr>Times New Roman</vt:lpstr>
      <vt:lpstr>Vitesse</vt:lpstr>
      <vt:lpstr>Vitesse Bold</vt:lpstr>
      <vt:lpstr>Vitesse Book</vt:lpstr>
      <vt:lpstr>Vitesse Medium</vt:lpstr>
      <vt:lpstr>Wingdings</vt:lpstr>
      <vt:lpstr>1_Half Page Slash</vt:lpstr>
      <vt:lpstr>2_Half Page Slash</vt:lpstr>
      <vt:lpstr>1_Full Page Layout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Stepwise Regression</vt:lpstr>
      <vt:lpstr>PowerPoint Presentation</vt:lpstr>
      <vt:lpstr>Stepwise Regression Model</vt:lpstr>
      <vt:lpstr>Stepwise Regression Vs Full Models</vt:lpstr>
      <vt:lpstr>Residual Analysis: Outliers &amp; Normality</vt:lpstr>
      <vt:lpstr>Residual Analysis: Outliers &amp; Normality</vt:lpstr>
      <vt:lpstr>Removing Outlier? </vt:lpstr>
      <vt:lpstr>Model Interpretation: State Differences</vt:lpstr>
      <vt:lpstr>Model Interpretation: Utilization</vt:lpstr>
      <vt:lpstr>Model Interpretation: Access to Care</vt:lpstr>
      <vt:lpstr>PowerPoint Presentation</vt:lpstr>
    </vt:vector>
  </TitlesOfParts>
  <Company>gt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Simple Linear Regression R Examples</dc:title>
  <dc:creator>Serban, Nicoleta</dc:creator>
  <cp:lastModifiedBy>Aymee Garcia</cp:lastModifiedBy>
  <cp:revision>685</cp:revision>
  <dcterms:created xsi:type="dcterms:W3CDTF">2017-01-02T15:06:50Z</dcterms:created>
  <dcterms:modified xsi:type="dcterms:W3CDTF">2021-06-04T08:32:47Z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1E017B62-66AD-4A90-8B31-725AA37B73BD</vt:lpwstr>
  </property>
  <property fmtid="{D5CDD505-2E9C-101B-9397-08002B2CF9AE}" pid="3" name="ArticulatePath">
    <vt:lpwstr>12-Data_Analysis-L4_revised v051420</vt:lpwstr>
  </property>
</Properties>
</file>