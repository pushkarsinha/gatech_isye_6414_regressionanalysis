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56_D3765467.xml" ContentType="application/vnd.ms-powerpoint.comments+xml"/>
  <Override PartName="/ppt/comments/modernComment_15A_F2906391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17" r:id="rId2"/>
    <p:sldMasterId id="2147483718" r:id="rId3"/>
  </p:sldMasterIdLst>
  <p:notesMasterIdLst>
    <p:notesMasterId r:id="rId14"/>
  </p:notesMasterIdLst>
  <p:sldIdLst>
    <p:sldId id="489" r:id="rId4"/>
    <p:sldId id="498" r:id="rId5"/>
    <p:sldId id="342" r:id="rId6"/>
    <p:sldId id="350" r:id="rId7"/>
    <p:sldId id="346" r:id="rId8"/>
    <p:sldId id="351" r:id="rId9"/>
    <p:sldId id="347" r:id="rId10"/>
    <p:sldId id="348" r:id="rId11"/>
    <p:sldId id="349" r:id="rId12"/>
    <p:sldId id="344" r:id="rId13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612" userDrawn="1">
          <p15:clr>
            <a:srgbClr val="A4A3A4"/>
          </p15:clr>
        </p15:guide>
        <p15:guide id="10" orient="horz" pos="31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3F6CAF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3590" autoAdjust="0"/>
  </p:normalViewPr>
  <p:slideViewPr>
    <p:cSldViewPr snapToGrid="0">
      <p:cViewPr varScale="1">
        <p:scale>
          <a:sx n="81" d="100"/>
          <a:sy n="81" d="100"/>
        </p:scale>
        <p:origin x="928" y="56"/>
      </p:cViewPr>
      <p:guideLst>
        <p:guide orient="horz" pos="1620"/>
        <p:guide pos="2880"/>
        <p:guide pos="120"/>
        <p:guide pos="312"/>
        <p:guide pos="3456"/>
        <p:guide pos="5664"/>
        <p:guide orient="horz" pos="396"/>
        <p:guide orient="horz" pos="732"/>
        <p:guide orient="horz" pos="61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omments/modernComment_15A_F29063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FB4CE0-CA91-42BF-8B31-9B38C1794BB5}" authorId="{0E6B6AFC-8BFD-806F-D3AF-75EF9FEA13C7}" created="2020-04-27T21:02:36.903">
    <pc:sldMkLst xmlns:pc="http://schemas.microsoft.com/office/powerpoint/2013/main/command">
      <pc:docMk/>
      <pc:sldMk cId="4069548945" sldId="346"/>
    </pc:sldMkLst>
    <p188:txBody>
      <a:bodyPr/>
      <a:lstStyle/>
      <a:p>
        <a:r>
          <a:rPr lang="en-US"/>
          <a:t>For the qq plot, I needed to change the code to produce the plot shown in the video. The abline call is replaced with a qqline call and the call is being made after the qqPlot call instead of before.</a:t>
        </a:r>
      </a:p>
    </p188:txBody>
  </p188:cm>
</p188:cmLst>
</file>

<file path=ppt/comments/modernComment_156_D37654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8466D9-603A-4D05-90F5-54492E9133F5}" authorId="{0E6B6AFC-8BFD-806F-D3AF-75EF9FEA13C7}" created="2020-04-27T19:05:04.003">
    <pc:sldMkLst xmlns:pc="http://schemas.microsoft.com/office/powerpoint/2013/main/command">
      <pc:docMk/>
      <pc:sldMk cId="3547747431" sldId="342"/>
    </pc:sldMkLst>
    <p188:txBody>
      <a:bodyPr/>
      <a:lstStyle/>
      <a:p>
        <a:r>
          <a:rPr lang="en-US"/>
          <a:t>The first comment in the original slide did not mention EDCost. I've included it as a confounding factor.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14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20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78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792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689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057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4104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144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842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437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381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780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1364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653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89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397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335150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1270509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354420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microsoft.com/office/2018/10/relationships/comments" Target="../comments/modernComment_156_D37654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4" Type="http://schemas.microsoft.com/office/2018/10/relationships/comments" Target="../comments/modernComment_15A_F290639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3091" y="16329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0095DF2C-BA85-43DF-90C9-B8E19F8A129D}"/>
              </a:ext>
            </a:extLst>
          </p:cNvPr>
          <p:cNvSpPr txBox="1">
            <a:spLocks/>
          </p:cNvSpPr>
          <p:nvPr/>
        </p:nvSpPr>
        <p:spPr>
          <a:xfrm>
            <a:off x="87005" y="643513"/>
            <a:ext cx="6543913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  <a:t>Regression Analysis in Practice</a:t>
            </a:r>
            <a:b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</a:b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E2E0496C-EFFC-4FB5-B3C2-B0A616F5048F}"/>
              </a:ext>
            </a:extLst>
          </p:cNvPr>
          <p:cNvSpPr txBox="1">
            <a:spLocks/>
          </p:cNvSpPr>
          <p:nvPr/>
        </p:nvSpPr>
        <p:spPr>
          <a:xfrm>
            <a:off x="87663" y="3887709"/>
            <a:ext cx="4409258" cy="68103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Emergency Department Healthcare Costs : Model Fit  and Assessment</a:t>
            </a:r>
            <a:endParaRPr kumimoji="1" lang="zh-CN" altLang="en-US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5928" y="977536"/>
            <a:ext cx="77831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Exclude GEOID, scaling factor PMPM, and confounding factors </a:t>
            </a:r>
            <a:r>
              <a:rPr lang="en-US" sz="1200" b="1" dirty="0" err="1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</a:t>
            </a: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and ED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Exclude </a:t>
            </a:r>
            <a:r>
              <a:rPr lang="en-US" sz="1200" b="1" dirty="0" err="1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OtherPop</a:t>
            </a: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ComplexPop</a:t>
            </a: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because of linear dependence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dataAdult.red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[, -c(1, 3, 4, 5, 10, 13)] </a:t>
            </a:r>
          </a:p>
          <a:p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fullmodel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lm(log(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~ ., data=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dataAdult.red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fullmodel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0735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Multiple Linear Regression Model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7747431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7EFC46-2B60-419E-A14D-15939E64D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609889"/>
              </p:ext>
            </p:extLst>
          </p:nvPr>
        </p:nvGraphicFramePr>
        <p:xfrm>
          <a:off x="146236" y="949030"/>
          <a:ext cx="4382128" cy="4076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3534">
                  <a:extLst>
                    <a:ext uri="{9D8B030D-6E8A-4147-A177-3AD203B41FA5}">
                      <a16:colId xmlns:a16="http://schemas.microsoft.com/office/drawing/2014/main" val="4273596968"/>
                    </a:ext>
                  </a:extLst>
                </a:gridCol>
                <a:gridCol w="872725">
                  <a:extLst>
                    <a:ext uri="{9D8B030D-6E8A-4147-A177-3AD203B41FA5}">
                      <a16:colId xmlns:a16="http://schemas.microsoft.com/office/drawing/2014/main" val="1055439411"/>
                    </a:ext>
                  </a:extLst>
                </a:gridCol>
                <a:gridCol w="777126">
                  <a:extLst>
                    <a:ext uri="{9D8B030D-6E8A-4147-A177-3AD203B41FA5}">
                      <a16:colId xmlns:a16="http://schemas.microsoft.com/office/drawing/2014/main" val="1788499153"/>
                    </a:ext>
                  </a:extLst>
                </a:gridCol>
                <a:gridCol w="610599">
                  <a:extLst>
                    <a:ext uri="{9D8B030D-6E8A-4147-A177-3AD203B41FA5}">
                      <a16:colId xmlns:a16="http://schemas.microsoft.com/office/drawing/2014/main" val="1458357099"/>
                    </a:ext>
                  </a:extLst>
                </a:gridCol>
                <a:gridCol w="888144">
                  <a:extLst>
                    <a:ext uri="{9D8B030D-6E8A-4147-A177-3AD203B41FA5}">
                      <a16:colId xmlns:a16="http://schemas.microsoft.com/office/drawing/2014/main" val="1449364989"/>
                    </a:ext>
                  </a:extLst>
                </a:gridCol>
              </a:tblGrid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 value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Pr(&gt;|t|)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858754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2.208e+00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1.175e-01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18.788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63844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StateAR 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9.235e-01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1.610e-02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57.353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696388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StateLA 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9.081e-01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1.358e-02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66.853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534265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StateNC 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1.418e+00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1.650e-02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85.909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669161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HO      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1.168e+01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7.587e-01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15.401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967403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      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1.378e-01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4.114e-02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3.350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0.000815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36233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WhitePop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4.416e-03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5.800e-04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7.614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3.16e-14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83995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BlackPop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4.894e-03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5.824e-04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8.403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14322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HealthyPop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-9.044e-04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8.160e-04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-1.108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0.267751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99553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ChronicPop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-5.949e-03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2.052e-03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-2.899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0.003760 **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170793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Unemployment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4.390e-04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7.377e-04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0.595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0.551797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06614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Income 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-2.556e-07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2.774e-07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-0.922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0.356769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901778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Poverty  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-3.306e-04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4.460e-04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-0.741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0.458529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637727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Education 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-1.447e-03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3.296e-04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-4.390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1.16e-05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638564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UrbanicitySuburban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-4.565e-04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1.369e-02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-0.033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0.973406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836533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UrbanicityUrban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2.067e-02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1.269e-02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1.629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0.103356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436123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Accessibility      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-1.965e-03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7.094e-04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-2.770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0.005623 **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109919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Availability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8.037e-02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1.975e-02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4.068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4.81e-05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422716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RankingsPCP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7.596e-04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1.819e-04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4.175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3.03e-05 ***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087501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RankingsFood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6.586e-03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5.203e-03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1.266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0.205642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747849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RankingsHousing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-4.642e-03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1.562e-03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-2.973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0.002967 **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30840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RankingsExercise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3.993e-04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2.332e-04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1.712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0.086907 .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492477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RankingsSocial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-3.895e-04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1.347e-03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-0.289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0.772497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80957"/>
                  </a:ext>
                </a:extLst>
              </a:tr>
              <a:tr h="130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ProvDensity      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6.042e-02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1.573e-02  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3.841 </a:t>
                      </a:r>
                      <a:endParaRPr lang="en-US" sz="10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0.000124 ***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2197" marR="5219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5713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2770387-E696-44C9-882C-6272E69EFBE2}"/>
              </a:ext>
            </a:extLst>
          </p:cNvPr>
          <p:cNvSpPr txBox="1"/>
          <p:nvPr/>
        </p:nvSpPr>
        <p:spPr>
          <a:xfrm>
            <a:off x="5406923" y="3727063"/>
            <a:ext cx="3653187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---</a:t>
            </a:r>
          </a:p>
          <a:p>
            <a:pPr algn="l"/>
            <a:r>
              <a:rPr lang="en-US" sz="10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Signif</a:t>
            </a:r>
            <a:r>
              <a:rPr 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 codes:  0 ‘***’ 0.001 ‘**’ 0.01 ‘*’ 0.05 ‘.’ 0.1 ‘ ’ 1</a:t>
            </a:r>
          </a:p>
          <a:p>
            <a:pPr algn="l"/>
            <a:endParaRPr lang="en-US" sz="10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Residual standard error: 0.2321 on 4995 degrees of freedom</a:t>
            </a:r>
          </a:p>
          <a:p>
            <a:pPr algn="l"/>
            <a:r>
              <a:rPr 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Multiple R-squared:  0.8486,      Adjusted R-squared:  0.8479 </a:t>
            </a:r>
          </a:p>
          <a:p>
            <a:pPr algn="l"/>
            <a:r>
              <a:rPr 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F-statistic:  1218 on 23 and 4995 DF,  p-value: &lt; 2.2e-16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971550"/>
            <a:ext cx="3505200" cy="11695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Helvetica" charset="0"/>
                <a:ea typeface="Helvetica" charset="0"/>
                <a:cs typeface="Helvetica" charset="0"/>
              </a:rPr>
              <a:t>Socioeconomic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predicting variables </a:t>
            </a:r>
            <a:r>
              <a:rPr lang="en-US" sz="1400" i="1" dirty="0">
                <a:latin typeface="Helvetica" charset="0"/>
                <a:ea typeface="Helvetica" charset="0"/>
                <a:cs typeface="Helvetica" charset="0"/>
              </a:rPr>
              <a:t>Unemployment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, </a:t>
            </a:r>
            <a:r>
              <a:rPr lang="en-US" sz="1400" i="1" dirty="0">
                <a:latin typeface="Helvetica" charset="0"/>
                <a:ea typeface="Helvetica" charset="0"/>
                <a:cs typeface="Helvetica" charset="0"/>
              </a:rPr>
              <a:t>Income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, </a:t>
            </a:r>
            <a:r>
              <a:rPr lang="en-US" sz="1400" i="1" dirty="0">
                <a:latin typeface="Helvetica" charset="0"/>
                <a:ea typeface="Helvetica" charset="0"/>
                <a:cs typeface="Helvetica" charset="0"/>
              </a:rPr>
              <a:t>Poverty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and </a:t>
            </a:r>
            <a:r>
              <a:rPr lang="en-US" sz="1400" i="1" dirty="0" err="1">
                <a:latin typeface="Helvetica" charset="0"/>
                <a:ea typeface="Helvetica" charset="0"/>
                <a:cs typeface="Helvetica" charset="0"/>
              </a:rPr>
              <a:t>RankingsSocial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are </a:t>
            </a:r>
            <a:r>
              <a:rPr lang="en-US" sz="1400" b="1" dirty="0">
                <a:latin typeface="Helvetica" charset="0"/>
                <a:ea typeface="Helvetica" charset="0"/>
                <a:cs typeface="Helvetica" charset="0"/>
              </a:rPr>
              <a:t>not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statistically significant given other predicting variables in the model.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0075" y="2254989"/>
            <a:ext cx="3501525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Helvetica" charset="0"/>
                <a:ea typeface="Helvetica" charset="0"/>
                <a:cs typeface="Helvetica" charset="0"/>
              </a:rPr>
              <a:t>Access 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to primary care variables </a:t>
            </a:r>
            <a:r>
              <a:rPr lang="en-US" sz="1400" i="1" dirty="0">
                <a:latin typeface="Helvetica" charset="0"/>
                <a:ea typeface="Helvetica" charset="0"/>
                <a:cs typeface="Helvetica" charset="0"/>
              </a:rPr>
              <a:t>Accessibility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and </a:t>
            </a:r>
            <a:r>
              <a:rPr lang="en-US" sz="1400" i="1" dirty="0">
                <a:latin typeface="Helvetica" charset="0"/>
                <a:ea typeface="Helvetica" charset="0"/>
                <a:cs typeface="Helvetica" charset="0"/>
              </a:rPr>
              <a:t>Availability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are statistically significant.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437" y="3716025"/>
            <a:ext cx="4382129" cy="351478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3437" y="2742531"/>
            <a:ext cx="4382129" cy="497283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3437" y="4694209"/>
            <a:ext cx="4382129" cy="161767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486400" y="3110722"/>
            <a:ext cx="3511364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Helvetica" charset="0"/>
                <a:ea typeface="Helvetica" charset="0"/>
                <a:cs typeface="Helvetica" charset="0"/>
              </a:rPr>
              <a:t>85%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 of the variability in the ED cost is explained.</a:t>
            </a:r>
          </a:p>
        </p:txBody>
      </p:sp>
      <p:sp>
        <p:nvSpPr>
          <p:cNvPr id="12" name="Oval 11"/>
          <p:cNvSpPr/>
          <p:nvPr/>
        </p:nvSpPr>
        <p:spPr>
          <a:xfrm>
            <a:off x="6600439" y="4367352"/>
            <a:ext cx="525483" cy="171685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0C7C21D-6BD1-4DFA-BD05-309C34FF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0735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Multiple Linear Regression Model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135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4" grpId="0" animBg="1"/>
      <p:bldP spid="4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16941" y="953176"/>
            <a:ext cx="682301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Residuals versus individual predicting variables 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full.resid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residuals(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fullmodel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cook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cooks.distance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fullmodel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4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Check outliers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influencePlot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fullmodel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plot(cook, type="h",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=3, col="red",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="Cook's Distance")</a:t>
            </a:r>
          </a:p>
          <a:p>
            <a:pPr>
              <a:defRPr/>
            </a:pPr>
            <a:endParaRPr lang="en-US" sz="14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Check Normality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qqPlot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full.resid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="Residuals", main = "")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qqline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full.resid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col="red",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hist(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full.resid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="Residuals", main = "",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nclass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=30, col="orange")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23538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Residual Analysis: Outliers &amp; Normality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9548945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486400" y="3037416"/>
            <a:ext cx="3505200" cy="8156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pPr algn="ctr"/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Normality</a:t>
            </a:r>
          </a:p>
          <a:p>
            <a:pPr algn="ctr">
              <a:spcBef>
                <a:spcPts val="600"/>
              </a:spcBef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Symmetric, but with heavy tails.</a:t>
            </a: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982A411F-923E-4C4E-A305-779D740624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0" b="2245"/>
          <a:stretch/>
        </p:blipFill>
        <p:spPr>
          <a:xfrm>
            <a:off x="459147" y="1124795"/>
            <a:ext cx="4539755" cy="3291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36847E-DF71-4235-A0E1-3F9EE32E82F3}"/>
              </a:ext>
            </a:extLst>
          </p:cNvPr>
          <p:cNvSpPr txBox="1"/>
          <p:nvPr/>
        </p:nvSpPr>
        <p:spPr>
          <a:xfrm>
            <a:off x="5486400" y="1256541"/>
            <a:ext cx="3505200" cy="8156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pPr algn="ctr"/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Outliers</a:t>
            </a:r>
          </a:p>
          <a:p>
            <a:pPr algn="ctr">
              <a:spcBef>
                <a:spcPts val="600"/>
              </a:spcBef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Observation</a:t>
            </a:r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909 stands out.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9651E75F-0C34-4BAB-9DEC-11377E16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23538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Residual Analysis: Outliers &amp; Normality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293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20033" y="1107344"/>
            <a:ext cx="53663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Check Constant Variance &amp; Uncorrelated Errors</a:t>
            </a:r>
          </a:p>
          <a:p>
            <a:pPr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full.fitted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fitted(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fullmodel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mfrow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=c(1,1))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full.fitted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full.resid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="Fitted Values",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324" y="258494"/>
            <a:ext cx="8917275" cy="9937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3400" dirty="0">
                <a:latin typeface="Vitesse"/>
              </a:rPr>
              <a:t>Residual Analysis: Constant Variance and Uncorrelated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309276"/>
            <a:ext cx="3505199" cy="7540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tIns="91440" bIns="91440" rtlCol="0" anchor="ctr" anchorCtr="0">
            <a:spAutoFit/>
          </a:bodyPr>
          <a:lstStyle/>
          <a:p>
            <a:pPr algn="ctr"/>
            <a:r>
              <a:rPr lang="en-US" sz="1600" b="1" dirty="0">
                <a:latin typeface="Helvetica" charset="0"/>
                <a:ea typeface="Helvetica" charset="0"/>
                <a:cs typeface="Helvetica" charset="0"/>
              </a:rPr>
              <a:t>Constant Variance Assumption</a:t>
            </a:r>
          </a:p>
          <a:p>
            <a:pPr algn="ctr">
              <a:spcBef>
                <a:spcPts val="600"/>
              </a:spcBef>
            </a:pPr>
            <a:r>
              <a:rPr lang="en-US" sz="1600" dirty="0">
                <a:latin typeface="Helvetica" charset="0"/>
                <a:ea typeface="Helvetica" charset="0"/>
                <a:cs typeface="Helvetica" charset="0"/>
              </a:rPr>
              <a:t>No pattern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5F17D60-8624-42D1-9F06-71B7A76335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7" r="5281" b="3868"/>
          <a:stretch/>
        </p:blipFill>
        <p:spPr>
          <a:xfrm>
            <a:off x="457764" y="2287604"/>
            <a:ext cx="4364231" cy="2705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F0111F-1D4B-49BF-952B-967094BC4E47}"/>
              </a:ext>
            </a:extLst>
          </p:cNvPr>
          <p:cNvSpPr txBox="1"/>
          <p:nvPr/>
        </p:nvSpPr>
        <p:spPr>
          <a:xfrm>
            <a:off x="5486401" y="3362620"/>
            <a:ext cx="3505200" cy="107721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pPr algn="ctr"/>
            <a:r>
              <a:rPr lang="en-US" sz="1600" b="1" dirty="0">
                <a:latin typeface="Helvetica" charset="0"/>
                <a:ea typeface="Helvetica" charset="0"/>
                <a:cs typeface="Helvetica" charset="0"/>
              </a:rPr>
              <a:t>Uncorrelated Errors Assumption</a:t>
            </a:r>
          </a:p>
          <a:p>
            <a:pPr algn="ctr">
              <a:spcBef>
                <a:spcPts val="600"/>
              </a:spcBef>
            </a:pPr>
            <a:r>
              <a:rPr lang="en-US" sz="1600" dirty="0">
                <a:latin typeface="Helvetica" charset="0"/>
                <a:ea typeface="Helvetica" charset="0"/>
                <a:cs typeface="Helvetica" charset="0"/>
              </a:rPr>
              <a:t>Three well-defined clusters </a:t>
            </a:r>
          </a:p>
          <a:p>
            <a:pPr algn="ctr">
              <a:spcBef>
                <a:spcPts val="600"/>
              </a:spcBef>
            </a:pPr>
            <a:r>
              <a:rPr lang="en-US" sz="1600" dirty="0">
                <a:latin typeface="Helvetica" charset="0"/>
                <a:ea typeface="Helvetica" charset="0"/>
                <a:cs typeface="Helvetica" charset="0"/>
              </a:rPr>
              <a:t>Spatial Dependence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143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17167" y="970359"/>
            <a:ext cx="6457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Check Linearity</a:t>
            </a:r>
          </a:p>
          <a:p>
            <a:pPr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crPlots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fullmodel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="")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52322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Residual Analysis: Linearity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EEC306D2-7362-4C56-BB7B-B8C012A6B4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" t="5724" r="3499" b="2140"/>
          <a:stretch/>
        </p:blipFill>
        <p:spPr>
          <a:xfrm>
            <a:off x="478971" y="1699328"/>
            <a:ext cx="5540268" cy="32657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475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20313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Residual Analysis: Linearity (cont’d)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FEEAC-8A86-4E20-A7D7-F39EADD4B6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9" t="5650" r="2939" b="2244"/>
          <a:stretch/>
        </p:blipFill>
        <p:spPr>
          <a:xfrm>
            <a:off x="474419" y="1162050"/>
            <a:ext cx="4482330" cy="3651804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F878DEF5-CC5A-4ED8-B8B2-15C160895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259" y="3724848"/>
            <a:ext cx="2855146" cy="1079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34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mdjvbi9x"/>
  <p:tag name="ARTICULATE_DESIGN_ID_HALF PAGE SLASH" val="iJtQi0uQ"/>
  <p:tag name="ARTICULATE_DESIGN_ID_FULL PAGE LAYOUT" val="mNItm6NB"/>
  <p:tag name="ARTICULATE_DESIGN_ID_HEAD SHOT" val="nHL4k1Vc"/>
  <p:tag name="ARTICULATE_DESIGN_ID_4_FULL PAGE LAYOUT" val="G7e86sfP"/>
  <p:tag name="ARTICULATE_DESIGN_ID_1_HALF PAGE SLASH" val="C9UERO0G"/>
  <p:tag name="ARTICULATE_DESIGN_ID_2_HALF PAGE SLASH" val="I3gWYjYU"/>
  <p:tag name="ARTICULATE_DESIGN_ID_1_FULL PAGE LAYOUT" val="pLefVDaQ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10438</TotalTime>
  <Words>526</Words>
  <Application>Microsoft Office PowerPoint</Application>
  <PresentationFormat>On-screen Show (16:9)</PresentationFormat>
  <Paragraphs>188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MS PGothic</vt:lpstr>
      <vt:lpstr>宋体</vt:lpstr>
      <vt:lpstr>Arial</vt:lpstr>
      <vt:lpstr>Calibri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Multiple Linear Regression Model</vt:lpstr>
      <vt:lpstr>Multiple Linear Regression Model</vt:lpstr>
      <vt:lpstr>Residual Analysis: Outliers &amp; Normality</vt:lpstr>
      <vt:lpstr>Residual Analysis: Outliers &amp; Normality</vt:lpstr>
      <vt:lpstr>Residual Analysis: Constant Variance and Uncorrelated Errors</vt:lpstr>
      <vt:lpstr>Residual Analysis: Linearity</vt:lpstr>
      <vt:lpstr>Residual Analysis: Linearity (cont’d)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629</cp:revision>
  <dcterms:created xsi:type="dcterms:W3CDTF">2017-01-02T15:06:50Z</dcterms:created>
  <dcterms:modified xsi:type="dcterms:W3CDTF">2020-06-11T20:55:30Z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86E860BA-BAE7-41F0-A49A-D84253D86A3B</vt:lpwstr>
  </property>
  <property fmtid="{D5CDD505-2E9C-101B-9397-08002B2CF9AE}" pid="3" name="ArticulatePath">
    <vt:lpwstr>11-Data_Analysis-L3_revised v051420</vt:lpwstr>
  </property>
</Properties>
</file>