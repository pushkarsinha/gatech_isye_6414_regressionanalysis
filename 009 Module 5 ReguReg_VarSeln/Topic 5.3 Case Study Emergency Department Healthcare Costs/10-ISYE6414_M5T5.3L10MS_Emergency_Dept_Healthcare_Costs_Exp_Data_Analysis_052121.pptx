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4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notesSlides/notesSlide7.xml" ContentType="application/vnd.openxmlformats-officedocument.presentationml.notesSlide+xml"/>
  <Override PartName="/ppt/tags/tag2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  <p:sldMasterId id="2147483711" r:id="rId2"/>
    <p:sldMasterId id="2147483712" r:id="rId3"/>
  </p:sldMasterIdLst>
  <p:notesMasterIdLst>
    <p:notesMasterId r:id="rId14"/>
  </p:notesMasterIdLst>
  <p:sldIdLst>
    <p:sldId id="489" r:id="rId4"/>
    <p:sldId id="498" r:id="rId5"/>
    <p:sldId id="260" r:id="rId6"/>
    <p:sldId id="333" r:id="rId7"/>
    <p:sldId id="345" r:id="rId8"/>
    <p:sldId id="344" r:id="rId9"/>
    <p:sldId id="500" r:id="rId10"/>
    <p:sldId id="334" r:id="rId11"/>
    <p:sldId id="343" r:id="rId12"/>
    <p:sldId id="499" r:id="rId13"/>
  </p:sldIdLst>
  <p:sldSz cx="9144000" cy="5143500" type="screen16x9"/>
  <p:notesSz cx="6858000" cy="9144000"/>
  <p:custDataLst>
    <p:tags r:id="rId15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96" userDrawn="1">
          <p15:clr>
            <a:srgbClr val="A4A3A4"/>
          </p15:clr>
        </p15:guide>
        <p15:guide id="8" orient="horz" pos="732" userDrawn="1">
          <p15:clr>
            <a:srgbClr val="A4A3A4"/>
          </p15:clr>
        </p15:guide>
        <p15:guide id="9" orient="horz" pos="31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6B6AFC-8BFD-806F-D3AF-75EF9FEA13C7}" name="Richard Levine" initials="RL" userId="Richard Levine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A00"/>
    <a:srgbClr val="3F6CAF"/>
    <a:srgbClr val="C24E60"/>
    <a:srgbClr val="AF3541"/>
    <a:srgbClr val="7F1229"/>
    <a:srgbClr val="8E4221"/>
    <a:srgbClr val="CC00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EF5A8-04F8-4DF3-9605-9060D0C64A57}" v="3" dt="2021-06-04T19:37:55.5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03" autoAdjust="0"/>
    <p:restoredTop sz="93613" autoAdjust="0"/>
  </p:normalViewPr>
  <p:slideViewPr>
    <p:cSldViewPr snapToGrid="0">
      <p:cViewPr varScale="1">
        <p:scale>
          <a:sx n="136" d="100"/>
          <a:sy n="136" d="100"/>
        </p:scale>
        <p:origin x="180" y="120"/>
      </p:cViewPr>
      <p:guideLst>
        <p:guide orient="horz" pos="1620"/>
        <p:guide pos="2880"/>
        <p:guide pos="120"/>
        <p:guide pos="336"/>
        <p:guide pos="3456"/>
        <p:guide pos="5664"/>
        <p:guide orient="horz" pos="396"/>
        <p:guide orient="horz" pos="732"/>
        <p:guide orient="horz" pos="31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, Ramon S" userId="2fd46b25-7eaa-49e2-87fd-bd0e69daa70a" providerId="ADAL" clId="{7D5EF5A8-04F8-4DF3-9605-9060D0C64A57}"/>
    <pc:docChg chg="addSld delSld modSld">
      <pc:chgData name="Rodriguez, Ramon S" userId="2fd46b25-7eaa-49e2-87fd-bd0e69daa70a" providerId="ADAL" clId="{7D5EF5A8-04F8-4DF3-9605-9060D0C64A57}" dt="2021-06-04T19:38:29.463" v="5"/>
      <pc:docMkLst>
        <pc:docMk/>
      </pc:docMkLst>
      <pc:sldChg chg="addSp delSp modSp del">
        <pc:chgData name="Rodriguez, Ramon S" userId="2fd46b25-7eaa-49e2-87fd-bd0e69daa70a" providerId="ADAL" clId="{7D5EF5A8-04F8-4DF3-9605-9060D0C64A57}" dt="2021-06-04T19:38:15.933" v="3" actId="2696"/>
        <pc:sldMkLst>
          <pc:docMk/>
          <pc:sldMk cId="2573378293" sldId="335"/>
        </pc:sldMkLst>
        <pc:spChg chg="add del mod">
          <ac:chgData name="Rodriguez, Ramon S" userId="2fd46b25-7eaa-49e2-87fd-bd0e69daa70a" providerId="ADAL" clId="{7D5EF5A8-04F8-4DF3-9605-9060D0C64A57}" dt="2021-06-04T19:37:46.348" v="1"/>
          <ac:spMkLst>
            <pc:docMk/>
            <pc:sldMk cId="2573378293" sldId="335"/>
            <ac:spMk id="3" creationId="{EA5C1F95-92E6-44A4-A06E-B9B91EF1FB15}"/>
          </ac:spMkLst>
        </pc:spChg>
      </pc:sldChg>
      <pc:sldChg chg="delCm">
        <pc:chgData name="Rodriguez, Ramon S" userId="2fd46b25-7eaa-49e2-87fd-bd0e69daa70a" providerId="ADAL" clId="{7D5EF5A8-04F8-4DF3-9605-9060D0C64A57}" dt="2021-06-04T19:38:29.463" v="5"/>
        <pc:sldMkLst>
          <pc:docMk/>
          <pc:sldMk cId="3717151268" sldId="343"/>
        </pc:sldMkLst>
      </pc:sldChg>
      <pc:sldChg chg="delCm">
        <pc:chgData name="Rodriguez, Ramon S" userId="2fd46b25-7eaa-49e2-87fd-bd0e69daa70a" providerId="ADAL" clId="{7D5EF5A8-04F8-4DF3-9605-9060D0C64A57}" dt="2021-06-04T19:38:25.153" v="4"/>
        <pc:sldMkLst>
          <pc:docMk/>
          <pc:sldMk cId="265994828" sldId="344"/>
        </pc:sldMkLst>
      </pc:sldChg>
      <pc:sldChg chg="add">
        <pc:chgData name="Rodriguez, Ramon S" userId="2fd46b25-7eaa-49e2-87fd-bd0e69daa70a" providerId="ADAL" clId="{7D5EF5A8-04F8-4DF3-9605-9060D0C64A57}" dt="2021-06-04T19:37:55.585" v="2"/>
        <pc:sldMkLst>
          <pc:docMk/>
          <pc:sldMk cId="1342605008" sldId="5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48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23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66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66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5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54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76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990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63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852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5035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4533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1288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223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11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028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3863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8652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3580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7054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366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heme" Target="../theme/theme2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4378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3931185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custDataLst>
      <p:tags r:id="rId8"/>
    </p:custDataLst>
    <p:extLst>
      <p:ext uri="{BB962C8B-B14F-4D97-AF65-F5344CB8AC3E}">
        <p14:creationId xmlns:p14="http://schemas.microsoft.com/office/powerpoint/2010/main" val="2043945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3091" y="163290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 Serban,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6194DD8-166E-44C1-B715-8F6DC720E8C3}"/>
              </a:ext>
            </a:extLst>
          </p:cNvPr>
          <p:cNvSpPr>
            <a:spLocks noGrp="1"/>
          </p:cNvSpPr>
          <p:nvPr/>
        </p:nvSpPr>
        <p:spPr>
          <a:xfrm>
            <a:off x="109567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0095DF2C-BA85-43DF-90C9-B8E19F8A129D}"/>
              </a:ext>
            </a:extLst>
          </p:cNvPr>
          <p:cNvSpPr txBox="1">
            <a:spLocks/>
          </p:cNvSpPr>
          <p:nvPr/>
        </p:nvSpPr>
        <p:spPr>
          <a:xfrm>
            <a:off x="87005" y="643513"/>
            <a:ext cx="6543913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宋体" panose="02010600030101010101" pitchFamily="2" charset="-122"/>
                <a:cs typeface="+mn-cs"/>
              </a:rPr>
              <a:t>Regression Analysis in Practice</a:t>
            </a:r>
            <a:b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宋体" panose="02010600030101010101" pitchFamily="2" charset="-122"/>
                <a:cs typeface="+mn-cs"/>
              </a:rPr>
            </a:b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8376D94D-3E46-4D1C-BC5E-8106EE4C3DD9}"/>
              </a:ext>
            </a:extLst>
          </p:cNvPr>
          <p:cNvSpPr txBox="1">
            <a:spLocks/>
          </p:cNvSpPr>
          <p:nvPr/>
        </p:nvSpPr>
        <p:spPr>
          <a:xfrm>
            <a:off x="87663" y="3887709"/>
            <a:ext cx="4565900" cy="681037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Emergency Department Healthcare Costs: Exploratory Data Analysis</a:t>
            </a:r>
          </a:p>
          <a:p>
            <a:endParaRPr kumimoji="1" lang="zh-CN" altLang="en-US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740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9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7680" y="972898"/>
            <a:ext cx="84859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Read the data using read.csv() R command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read.csv("DataADULT.csv", header=TRUE)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attach(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Rescale outcome/response variable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/PMPM</a:t>
            </a:r>
          </a:p>
          <a:p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Rescale utilization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dataAdult$PO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PO/PMPM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dataAdult$HO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HO/PMPM</a:t>
            </a:r>
          </a:p>
          <a:p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Histogram of the response variable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par(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mfrow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=c(2,1))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breaks=300,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="Emergency Department Cost", main="")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hist(log(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), breaks=300,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="Log-Emergency Department Cost", main="")</a:t>
            </a:r>
          </a:p>
          <a:p>
            <a:endParaRPr lang="en-US" sz="12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638544"/>
          </a:xfrm>
        </p:spPr>
        <p:txBody>
          <a:bodyPr/>
          <a:lstStyle/>
          <a:p>
            <a:r>
              <a:rPr kumimoji="1" lang="en-US" altLang="zh-CN" dirty="0">
                <a:latin typeface="Vitesse"/>
              </a:rPr>
              <a:t>Exploratory Data Analysis: Response Variable</a:t>
            </a:r>
            <a:endParaRPr kumimoji="1" lang="zh-CN" altLang="en-US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1171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3F057761-1BAD-4D1D-90A4-CB3B7C2C76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25" b="-1"/>
          <a:stretch/>
        </p:blipFill>
        <p:spPr>
          <a:xfrm>
            <a:off x="494686" y="3119318"/>
            <a:ext cx="5839721" cy="178074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448941" y="3583110"/>
            <a:ext cx="1057275" cy="539263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481801" y="3119318"/>
            <a:ext cx="1419828" cy="1003054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E14B98FE-92DD-405E-B9E6-D36A5D1B0C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16" b="52940"/>
          <a:stretch/>
        </p:blipFill>
        <p:spPr>
          <a:xfrm>
            <a:off x="494686" y="1133809"/>
            <a:ext cx="5839721" cy="1539053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C58CD55D-58EB-4693-932A-A29CF62E0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638544"/>
          </a:xfrm>
        </p:spPr>
        <p:txBody>
          <a:bodyPr/>
          <a:lstStyle/>
          <a:p>
            <a:r>
              <a:rPr kumimoji="1" lang="en-US" altLang="zh-CN" dirty="0">
                <a:latin typeface="Vitesse"/>
              </a:rPr>
              <a:t>Exploratory Data Analysis: Response Variable</a:t>
            </a:r>
            <a:endParaRPr kumimoji="1" lang="zh-CN" altLang="en-US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120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4903" y="1102414"/>
            <a:ext cx="8485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log.EDCost.pmpm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log(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Response variable vs categorical predicating variables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par(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mfrow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=c(2,1))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boxplot(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log.EDCost.pmpm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~ State, main = "Variation of log of ED costs by state")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boxplot(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log.EDCost.pmpm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~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Urbanicity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main = "Variation of log of ED costs by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urbanicity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")</a:t>
            </a:r>
          </a:p>
          <a:p>
            <a:endParaRPr lang="en-US" sz="1200" dirty="0">
              <a:solidFill>
                <a:schemeClr val="tx2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4" y="266586"/>
            <a:ext cx="8917275" cy="9937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kumimoji="1" lang="en-US" altLang="zh-CN" sz="3400" dirty="0">
                <a:latin typeface="Vitesse"/>
              </a:rPr>
              <a:t>Exploratory Data Analysis: Response vs Qualitative Predictors</a:t>
            </a:r>
            <a:endParaRPr kumimoji="1" lang="zh-CN" altLang="en-US" sz="3400" dirty="0">
              <a:latin typeface="Vitesse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A7E97E-3152-4FAF-9D46-44E3C069CDEA}"/>
              </a:ext>
            </a:extLst>
          </p:cNvPr>
          <p:cNvGrpSpPr/>
          <p:nvPr/>
        </p:nvGrpSpPr>
        <p:grpSpPr>
          <a:xfrm>
            <a:off x="517899" y="2310835"/>
            <a:ext cx="4105551" cy="2744276"/>
            <a:chOff x="1647417" y="1153145"/>
            <a:chExt cx="5849166" cy="3868580"/>
          </a:xfrm>
        </p:grpSpPr>
        <p:pic>
          <p:nvPicPr>
            <p:cNvPr id="7" name="Picture 6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F45AFB48-C7E4-4666-B52C-57B53BB959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77" b="53361"/>
            <a:stretch/>
          </p:blipFill>
          <p:spPr>
            <a:xfrm>
              <a:off x="1647417" y="1153145"/>
              <a:ext cx="5849166" cy="1980253"/>
            </a:xfrm>
            <a:prstGeom prst="rect">
              <a:avLst/>
            </a:prstGeom>
          </p:spPr>
        </p:pic>
        <p:pic>
          <p:nvPicPr>
            <p:cNvPr id="9" name="Picture 8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A3F48C3A-C384-4AC4-9886-C488357201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107"/>
            <a:stretch/>
          </p:blipFill>
          <p:spPr>
            <a:xfrm>
              <a:off x="1647417" y="2862023"/>
              <a:ext cx="5849166" cy="2159702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29315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8558" y="1101954"/>
            <a:ext cx="84859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Scatterplot matrix plots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library(car)</a:t>
            </a:r>
          </a:p>
          <a:p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Response vs Utilization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scatterplotMatrix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(~ log(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 + HO + PO, smooth=FALSE)</a:t>
            </a:r>
          </a:p>
          <a:p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Response vs Population Characteristics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scatterplotMatrix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(~ log(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WhitePop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BlackPop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OtherPop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HealthyPop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ChronicPop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ComplexPop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smooth=FALSE)</a:t>
            </a:r>
          </a:p>
          <a:p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Response vs Socioeconomic and Environmental Characteristics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scatterplotMatrix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(~ log(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 + Unemployment + Income + Poverty + Education +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Accessibility + Availability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ProvDensity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smooth=FALSE)</a:t>
            </a:r>
          </a:p>
          <a:p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Response vs County Health Rankings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scatterplotMatrix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(~ log(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RankingsPCP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RankingsFood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RankingsHousing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RankingsExercise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RankingsSocial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smooth=FALSE)</a:t>
            </a:r>
          </a:p>
          <a:p>
            <a:endParaRPr lang="en-US" sz="1200" i="1" dirty="0">
              <a:solidFill>
                <a:schemeClr val="tx2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2155135-82D9-4D26-BB1A-9B0429A6C337}"/>
              </a:ext>
            </a:extLst>
          </p:cNvPr>
          <p:cNvSpPr txBox="1">
            <a:spLocks/>
          </p:cNvSpPr>
          <p:nvPr/>
        </p:nvSpPr>
        <p:spPr>
          <a:xfrm>
            <a:off x="74324" y="266586"/>
            <a:ext cx="8917275" cy="9937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>
              <a:lnSpc>
                <a:spcPct val="80000"/>
              </a:lnSpc>
            </a:pPr>
            <a:r>
              <a:rPr kumimoji="1" lang="en-US" altLang="zh-CN" sz="3400" dirty="0">
                <a:latin typeface="Vitesse"/>
              </a:rPr>
              <a:t>Exploratory Data Analysis: Response vs Qualitative Predictors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99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45207"/>
            <a:ext cx="8562392" cy="574986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Response vs Quantitative Predictors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92281" y="903761"/>
            <a:ext cx="78702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 Cost vs. Utilization Measures:</a:t>
            </a:r>
            <a:r>
              <a:rPr 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</a:t>
            </a:r>
            <a:r>
              <a:rPr 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Number of Claims for HO and PO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7673D-9557-4A84-BBCB-192DF29FE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59" y="1330108"/>
            <a:ext cx="5013657" cy="37360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2605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90509" y="899703"/>
            <a:ext cx="79772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61963" indent="-461963">
              <a:defRPr/>
            </a:pPr>
            <a:r>
              <a:rPr 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 Cost vs. Population Characteristics: </a:t>
            </a:r>
            <a:r>
              <a:rPr lang="en-US" sz="18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WhitePop</a:t>
            </a:r>
            <a:r>
              <a:rPr 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</a:t>
            </a:r>
            <a:r>
              <a:rPr lang="en-US" sz="18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BlackPop</a:t>
            </a:r>
            <a:r>
              <a:rPr 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</a:t>
            </a:r>
            <a:r>
              <a:rPr lang="en-US" sz="18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OtherPop</a:t>
            </a:r>
            <a:r>
              <a:rPr 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</a:t>
            </a:r>
            <a:r>
              <a:rPr lang="en-US" sz="18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HealthyPop</a:t>
            </a:r>
            <a:r>
              <a:rPr 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</a:t>
            </a:r>
            <a:r>
              <a:rPr lang="en-US" sz="18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ChronicPop</a:t>
            </a:r>
            <a:r>
              <a:rPr 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</a:t>
            </a:r>
            <a:r>
              <a:rPr lang="en-US" sz="18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ComplexPop</a:t>
            </a:r>
            <a:endParaRPr lang="en-US" sz="18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CBCDA2BB-E8FB-405E-996A-81866DBC12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2" b="6290"/>
          <a:stretch/>
        </p:blipFill>
        <p:spPr>
          <a:xfrm>
            <a:off x="316972" y="1659405"/>
            <a:ext cx="4479653" cy="3220091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26E80463-818E-47F2-B489-F4BDAA8A5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5" y="145207"/>
            <a:ext cx="8562392" cy="574986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Response vs Quantitative Predictors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1920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566" y="1097315"/>
            <a:ext cx="8485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Correlation matrix plot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library(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corrplot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corr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cor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cbind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(log(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[,-c(1, 2, 3, 18)]))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corrplot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corr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258495"/>
            <a:ext cx="8562392" cy="83882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kumimoji="1" lang="en-US" altLang="zh-CN" sz="3400" dirty="0">
                <a:latin typeface="Vitesse"/>
              </a:rPr>
              <a:t>Response vs. Predicting Variables: Correlation Matrix Plot</a:t>
            </a:r>
            <a:endParaRPr kumimoji="1" lang="zh-CN" altLang="en-US" sz="3400" dirty="0">
              <a:latin typeface="Vitesse"/>
            </a:endParaRPr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B0DE28DE-859E-4518-8D5B-68FBFD5E1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85" y="1995650"/>
            <a:ext cx="3345895" cy="30475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7151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171154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THEMEGTX" val="YMaO5ZfG"/>
  <p:tag name="ARTICULATE_DESIGN_ID_4_FULL PAGE LAYOUT" val="rWLszQ1v"/>
  <p:tag name="ARTICULATE_DESIGN_ID_5_FULL PAGE LAYOUT" val="C3b2ALGe"/>
  <p:tag name="ARTICULATE_DESIGN_ID_HALF PAGE SLASH" val="cBS8Mtps"/>
  <p:tag name="ARTICULATE_DESIGN_ID_FULL PAGE LAYOUT" val="EZGQprF6"/>
  <p:tag name="ARTICULATE_DESIGN_ID_HEAD SHOT" val="hKyrKUVP"/>
  <p:tag name="ARTICULATE_DESIGN_ID_1_HALF PAGE SLASH" val="62Undg07"/>
  <p:tag name="ARTICULATE_DESIGN_ID_2_HALF PAGE SLASH" val="TLqOKk04"/>
  <p:tag name="ARTICULATE_DESIGN_ID_1_FULL PAGE LAYOUT" val="rT0jILC5"/>
  <p:tag name="ARTICULATE_SLIDE_COUNT" val="10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11263</TotalTime>
  <Words>461</Words>
  <Application>Microsoft Office PowerPoint</Application>
  <PresentationFormat>On-screen Show (16:9)</PresentationFormat>
  <Paragraphs>66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Helvetica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Exploratory Data Analysis: Response Variable</vt:lpstr>
      <vt:lpstr>Exploratory Data Analysis: Response Variable</vt:lpstr>
      <vt:lpstr>Exploratory Data Analysis: Response vs Qualitative Predictors</vt:lpstr>
      <vt:lpstr>PowerPoint Presentation</vt:lpstr>
      <vt:lpstr>Response vs Quantitative Predictors</vt:lpstr>
      <vt:lpstr>Response vs Quantitative Predictors</vt:lpstr>
      <vt:lpstr>Response vs. Predicting Variables: Correlation Matrix Plot</vt:lpstr>
      <vt:lpstr>PowerPoint Presentation</vt:lpstr>
    </vt:vector>
  </TitlesOfParts>
  <Company>gt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Rodriguez, Ramon S</cp:lastModifiedBy>
  <cp:revision>627</cp:revision>
  <dcterms:created xsi:type="dcterms:W3CDTF">2017-01-02T15:06:50Z</dcterms:created>
  <dcterms:modified xsi:type="dcterms:W3CDTF">2021-06-04T19:38:41Z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03EADC45-48B6-4392-8AEF-539A8038C31E</vt:lpwstr>
  </property>
  <property fmtid="{D5CDD505-2E9C-101B-9397-08002B2CF9AE}" pid="3" name="ArticulatePath">
    <vt:lpwstr>10-Data_Analysis-L2_revised v051420</vt:lpwstr>
  </property>
</Properties>
</file>