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ags/tag11.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4.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notesSlides/notesSlide3.xml" ContentType="application/vnd.openxmlformats-officedocument.presentationml.notesSlide+xml"/>
  <Override PartName="/ppt/tags/tag24.xml" ContentType="application/vnd.openxmlformats-officedocument.presentationml.tags+xml"/>
  <Override PartName="/ppt/notesSlides/notesSlide4.xml" ContentType="application/vnd.openxmlformats-officedocument.presentationml.notesSlide+xml"/>
  <Override PartName="/ppt/tags/tag25.xml" ContentType="application/vnd.openxmlformats-officedocument.presentationml.tags+xml"/>
  <Override PartName="/ppt/notesSlides/notesSlide5.xml" ContentType="application/vnd.openxmlformats-officedocument.presentationml.notesSlide+xml"/>
  <Override PartName="/ppt/tags/tag2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omments/modernComment_14A_B458DC47.xml" ContentType="application/vnd.ms-powerpoint.comments+xml"/>
  <Override PartName="/ppt/comments/modernComment_118_5B966B2C.xml" ContentType="application/vnd.ms-powerpoint.comment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20" r:id="rId2"/>
    <p:sldMasterId id="2147483721" r:id="rId3"/>
  </p:sldMasterIdLst>
  <p:notesMasterIdLst>
    <p:notesMasterId r:id="rId12"/>
  </p:notesMasterIdLst>
  <p:sldIdLst>
    <p:sldId id="489" r:id="rId4"/>
    <p:sldId id="498" r:id="rId5"/>
    <p:sldId id="258" r:id="rId6"/>
    <p:sldId id="330" r:id="rId7"/>
    <p:sldId id="280" r:id="rId8"/>
    <p:sldId id="332" r:id="rId9"/>
    <p:sldId id="281" r:id="rId10"/>
    <p:sldId id="344" r:id="rId11"/>
  </p:sldIdLst>
  <p:sldSz cx="9144000" cy="5143500" type="screen16x9"/>
  <p:notesSz cx="6858000" cy="9144000"/>
  <p:custDataLst>
    <p:tags r:id="rId13"/>
  </p:custData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pos="120" userDrawn="1">
          <p15:clr>
            <a:srgbClr val="A4A3A4"/>
          </p15:clr>
        </p15:guide>
        <p15:guide id="4" pos="336" userDrawn="1">
          <p15:clr>
            <a:srgbClr val="A4A3A4"/>
          </p15:clr>
        </p15:guide>
        <p15:guide id="5" pos="3456" userDrawn="1">
          <p15:clr>
            <a:srgbClr val="A4A3A4"/>
          </p15:clr>
        </p15:guide>
        <p15:guide id="6" pos="5664" userDrawn="1">
          <p15:clr>
            <a:srgbClr val="A4A3A4"/>
          </p15:clr>
        </p15:guide>
        <p15:guide id="7" orient="horz" pos="396" userDrawn="1">
          <p15:clr>
            <a:srgbClr val="A4A3A4"/>
          </p15:clr>
        </p15:guide>
        <p15:guide id="8" orient="horz" pos="612" userDrawn="1">
          <p15:clr>
            <a:srgbClr val="A4A3A4"/>
          </p15:clr>
        </p15:guide>
        <p15:guide id="9" orient="horz" pos="732" userDrawn="1">
          <p15:clr>
            <a:srgbClr val="A4A3A4"/>
          </p15:clr>
        </p15:guide>
        <p15:guide id="10" orient="horz" pos="313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E6B6AFC-8BFD-806F-D3AF-75EF9FEA13C7}" name="Richard Levine" initials="RL" userId="Richard Levine"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4221"/>
    <a:srgbClr val="CC0099"/>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00" autoAdjust="0"/>
    <p:restoredTop sz="93590" autoAdjust="0"/>
  </p:normalViewPr>
  <p:slideViewPr>
    <p:cSldViewPr snapToGrid="0">
      <p:cViewPr varScale="1">
        <p:scale>
          <a:sx n="81" d="100"/>
          <a:sy n="81" d="100"/>
        </p:scale>
        <p:origin x="896" y="56"/>
      </p:cViewPr>
      <p:guideLst>
        <p:guide orient="horz" pos="1620"/>
        <p:guide pos="2880"/>
        <p:guide pos="120"/>
        <p:guide pos="336"/>
        <p:guide pos="3456"/>
        <p:guide pos="5664"/>
        <p:guide orient="horz" pos="396"/>
        <p:guide orient="horz" pos="612"/>
        <p:guide orient="horz" pos="732"/>
        <p:guide orient="horz" pos="31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gs" Target="tags/tag1.xml"/><Relationship Id="rId3" Type="http://schemas.openxmlformats.org/officeDocument/2006/relationships/slideMaster" Target="slideMasters/slideMaster3.xml"/><Relationship Id="rId21" Type="http://schemas.microsoft.com/office/2018/10/relationships/authors" Target="authors.xml"/><Relationship Id="rId7" Type="http://schemas.openxmlformats.org/officeDocument/2006/relationships/slide" Target="slides/slide4.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comments/modernComment_14A_B458DC47.xml><?xml version="1.0" encoding="utf-8"?>
<p188:cmLst xmlns:a="http://schemas.openxmlformats.org/drawingml/2006/main" xmlns:r="http://schemas.openxmlformats.org/officeDocument/2006/relationships" xmlns:p188="http://schemas.microsoft.com/office/powerpoint/2018/8/main">
  <p188:cm id="{2C14B81F-CB31-41C3-A429-DD9FDD34D031}" authorId="{0E6B6AFC-8BFD-806F-D3AF-75EF9FEA13C7}" created="2020-04-27T08:41:05.890">
    <ac:deMkLst xmlns:ac="http://schemas.microsoft.com/office/drawing/2013/main/command">
      <pc:docMk xmlns:pc="http://schemas.microsoft.com/office/powerpoint/2013/main/command"/>
      <pc:sldMk xmlns:pc="http://schemas.microsoft.com/office/powerpoint/2013/main/command" cId="3025722439" sldId="330"/>
      <ac:spMk id="9" creationId="{00000000-0000-0000-0000-000000000000}"/>
    </ac:deMkLst>
    <p188:txBody>
      <a:bodyPr/>
      <a:lstStyle/>
      <a:p>
        <a:r>
          <a:rPr lang="en-US"/>
          <a:t>Please check the disclaimer. I rewrote it to match what you said in the video.</a:t>
        </a:r>
      </a:p>
    </p188:txBody>
  </p188:cm>
</p188:cmLst>
</file>

<file path=ppt/comments/modernComment_118_5B966B2C.xml><?xml version="1.0" encoding="utf-8"?>
<p188:cmLst xmlns:a="http://schemas.openxmlformats.org/drawingml/2006/main" xmlns:r="http://schemas.openxmlformats.org/officeDocument/2006/relationships" xmlns:p188="http://schemas.microsoft.com/office/powerpoint/2018/8/main">
  <p188:cm id="{40BAF3FA-45DC-4E3D-8211-C6352255E9FF}" authorId="{0E6B6AFC-8BFD-806F-D3AF-75EF9FEA13C7}" created="2020-04-27T09:32:30.446">
    <ac:deMkLst xmlns:ac="http://schemas.microsoft.com/office/drawing/2013/main/command">
      <pc:docMk xmlns:pc="http://schemas.microsoft.com/office/powerpoint/2013/main/command"/>
      <pc:sldMk xmlns:pc="http://schemas.microsoft.com/office/powerpoint/2013/main/command" cId="1536584492" sldId="280"/>
      <ac:spMk id="13315" creationId="{00000000-0000-0000-0000-000000000000}"/>
    </ac:deMkLst>
    <p188:txBody>
      <a:bodyPr/>
      <a:lstStyle/>
      <a:p>
        <a:r>
          <a:rPr lang="en-US"/>
          <a:t>I thought there was too much information on thr original slide, so I've divided it into two: one for Response Variable and one for Prediction Variables.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C358C8-D37B-4DB3-A032-059E1BD5A650}" type="datetimeFigureOut">
              <a:rPr lang="en-US" smtClean="0"/>
              <a:t>6/11/2020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BE3481-38DB-434B-B170-CFE83842A57C}" type="slidenum">
              <a:rPr lang="en-US" smtClean="0"/>
              <a:t>‹#›</a:t>
            </a:fld>
            <a:endParaRPr lang="en-US"/>
          </a:p>
        </p:txBody>
      </p:sp>
    </p:spTree>
    <p:extLst>
      <p:ext uri="{BB962C8B-B14F-4D97-AF65-F5344CB8AC3E}">
        <p14:creationId xmlns:p14="http://schemas.microsoft.com/office/powerpoint/2010/main" val="274139800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4" name="Slide Number Placeholder 3"/>
          <p:cNvSpPr>
            <a:spLocks noGrp="1"/>
          </p:cNvSpPr>
          <p:nvPr>
            <p:ph type="sldNum" sz="quarter" idx="5"/>
          </p:nvPr>
        </p:nvSpPr>
        <p:spPr/>
        <p:txBody>
          <a:bodyPr/>
          <a:lstStyle/>
          <a:p>
            <a:pPr>
              <a:defRPr/>
            </a:pPr>
            <a:fld id="{EEB0A727-CD93-43DD-ACDD-AAF4F8395EA0}" type="slidenum">
              <a:rPr lang="en-US" smtClean="0"/>
              <a:pPr>
                <a:defRPr/>
              </a:pPr>
              <a:t>3</a:t>
            </a:fld>
            <a:endParaRPr lang="en-US"/>
          </a:p>
        </p:txBody>
      </p:sp>
    </p:spTree>
    <p:extLst>
      <p:ext uri="{BB962C8B-B14F-4D97-AF65-F5344CB8AC3E}">
        <p14:creationId xmlns:p14="http://schemas.microsoft.com/office/powerpoint/2010/main" val="1340239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
        <p:nvSpPr>
          <p:cNvPr id="4" name="Slide Number Placeholder 3"/>
          <p:cNvSpPr>
            <a:spLocks noGrp="1"/>
          </p:cNvSpPr>
          <p:nvPr>
            <p:ph type="sldNum" sz="quarter" idx="5"/>
          </p:nvPr>
        </p:nvSpPr>
        <p:spPr/>
        <p:txBody>
          <a:bodyPr/>
          <a:lstStyle/>
          <a:p>
            <a:pPr>
              <a:defRPr/>
            </a:pPr>
            <a:fld id="{EEB0A727-CD93-43DD-ACDD-AAF4F8395EA0}" type="slidenum">
              <a:rPr lang="en-US" smtClean="0"/>
              <a:pPr>
                <a:defRPr/>
              </a:pPr>
              <a:t>4</a:t>
            </a:fld>
            <a:endParaRPr lang="en-US"/>
          </a:p>
        </p:txBody>
      </p:sp>
    </p:spTree>
    <p:extLst>
      <p:ext uri="{BB962C8B-B14F-4D97-AF65-F5344CB8AC3E}">
        <p14:creationId xmlns:p14="http://schemas.microsoft.com/office/powerpoint/2010/main" val="2891004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5</a:t>
            </a:fld>
            <a:endParaRPr lang="en-US"/>
          </a:p>
        </p:txBody>
      </p:sp>
    </p:spTree>
    <p:extLst>
      <p:ext uri="{BB962C8B-B14F-4D97-AF65-F5344CB8AC3E}">
        <p14:creationId xmlns:p14="http://schemas.microsoft.com/office/powerpoint/2010/main" val="3676612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6</a:t>
            </a:fld>
            <a:endParaRPr lang="en-US"/>
          </a:p>
        </p:txBody>
      </p:sp>
    </p:spTree>
    <p:extLst>
      <p:ext uri="{BB962C8B-B14F-4D97-AF65-F5344CB8AC3E}">
        <p14:creationId xmlns:p14="http://schemas.microsoft.com/office/powerpoint/2010/main" val="4033277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7</a:t>
            </a:fld>
            <a:endParaRPr lang="en-US"/>
          </a:p>
        </p:txBody>
      </p:sp>
    </p:spTree>
    <p:extLst>
      <p:ext uri="{BB962C8B-B14F-4D97-AF65-F5344CB8AC3E}">
        <p14:creationId xmlns:p14="http://schemas.microsoft.com/office/powerpoint/2010/main" val="9186854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3.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4.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5.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6.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7.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custDataLst>
      <p:tags r:id="rId1"/>
    </p:custDataLst>
    <p:extLst>
      <p:ext uri="{BB962C8B-B14F-4D97-AF65-F5344CB8AC3E}">
        <p14:creationId xmlns:p14="http://schemas.microsoft.com/office/powerpoint/2010/main" val="681190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49" y="1436688"/>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190924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3"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4"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A2002E78-3C88-9A40-B579-FA4DB2691E4F}"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custDataLst>
      <p:tags r:id="rId1"/>
    </p:custDataLst>
    <p:extLst>
      <p:ext uri="{BB962C8B-B14F-4D97-AF65-F5344CB8AC3E}">
        <p14:creationId xmlns:p14="http://schemas.microsoft.com/office/powerpoint/2010/main" val="485707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6578412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369219"/>
            <a:ext cx="7886700" cy="326350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lvl1pPr>
              <a:defRPr/>
            </a:lvl1pPr>
          </a:lstStyle>
          <a:p>
            <a:pPr marL="0" marR="0" lvl="0" indent="0" algn="l" defTabSz="457200" rtl="0" eaLnBrk="0" fontAlgn="base" latinLnBrk="0" hangingPunct="0">
              <a:lnSpc>
                <a:spcPct val="100000"/>
              </a:lnSpc>
              <a:spcBef>
                <a:spcPct val="0"/>
              </a:spcBef>
              <a:spcAft>
                <a:spcPct val="0"/>
              </a:spcAft>
              <a:buClrTx/>
              <a:buSzTx/>
              <a:buFontTx/>
              <a:buNone/>
              <a:tabLst/>
              <a:defRPr/>
            </a:pPr>
            <a:fld id="{134F0668-60AC-E24C-8E50-B74DE0FA4F02}" type="slidenum">
              <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rPr>
              <a:pPr marL="0" marR="0" lvl="0" indent="0" algn="l" defTabSz="457200" rtl="0" eaLnBrk="0" fontAlgn="base" latinLnBrk="0" hangingPunct="0">
                <a:lnSpc>
                  <a:spcPct val="100000"/>
                </a:lnSpc>
                <a:spcBef>
                  <a:spcPct val="0"/>
                </a:spcBef>
                <a:spcAft>
                  <a:spcPct val="0"/>
                </a:spcAft>
                <a:buClrTx/>
                <a:buSzTx/>
                <a:buFontTx/>
                <a:buNone/>
                <a:tabLst/>
                <a:defRPr/>
              </a:pPr>
              <a:t>‹#›</a:t>
            </a:fld>
            <a:endParaRPr kumimoji="0" lang="en-US" altLang="en-US" sz="1800" b="0" i="0" u="none" strike="noStrike" kern="1200" cap="none" spc="0" normalizeH="0" baseline="0" noProof="0">
              <a:ln>
                <a:noFill/>
              </a:ln>
              <a:solidFill>
                <a:prstClr val="black"/>
              </a:solidFill>
              <a:effectLst/>
              <a:uLnTx/>
              <a:uFillTx/>
              <a:latin typeface="Calibri" panose="020F0502020204030204" pitchFamily="34" charset="0"/>
              <a:ea typeface="MS PGothic" panose="020B0600070205080204" pitchFamily="34" charset="-128"/>
              <a:cs typeface="+mn-cs"/>
            </a:endParaRPr>
          </a:p>
        </p:txBody>
      </p:sp>
    </p:spTree>
    <p:custDataLst>
      <p:tags r:id="rId1"/>
    </p:custDataLst>
    <p:extLst>
      <p:ext uri="{BB962C8B-B14F-4D97-AF65-F5344CB8AC3E}">
        <p14:creationId xmlns:p14="http://schemas.microsoft.com/office/powerpoint/2010/main" val="3766737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30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3105133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4006625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a:t>Click to edit Master title style</a:t>
            </a:r>
            <a:endParaRPr lang="en-US" dirty="0"/>
          </a:p>
        </p:txBody>
      </p:sp>
    </p:spTree>
    <p:custDataLst>
      <p:tags r:id="rId1"/>
    </p:custDataLst>
    <p:extLst>
      <p:ext uri="{BB962C8B-B14F-4D97-AF65-F5344CB8AC3E}">
        <p14:creationId xmlns:p14="http://schemas.microsoft.com/office/powerpoint/2010/main" val="2438812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4226441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665510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40231940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a:buChar char="•"/>
            </a:pPr>
            <a:r>
              <a:rPr lang="en-US" sz="1800" dirty="0"/>
              <a:t>not only five centuries</a:t>
            </a:r>
          </a:p>
          <a:p>
            <a:pPr marL="285750" indent="-285750">
              <a:buFont typeface="Arial"/>
              <a:buChar char="•"/>
            </a:pPr>
            <a:r>
              <a:rPr lang="en-US" sz="1800" dirty="0"/>
              <a:t>but also the leap into electronic typesetting, </a:t>
            </a:r>
          </a:p>
          <a:p>
            <a:pPr marL="285750" indent="-285750">
              <a:buFont typeface="Arial"/>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2490393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23979162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alf Page BLANK">
    <p:spTree>
      <p:nvGrpSpPr>
        <p:cNvPr id="1" name=""/>
        <p:cNvGrpSpPr/>
        <p:nvPr/>
      </p:nvGrpSpPr>
      <p:grpSpPr>
        <a:xfrm>
          <a:off x="0" y="0"/>
          <a:ext cx="0" cy="0"/>
          <a:chOff x="0" y="0"/>
          <a:chExt cx="0" cy="0"/>
        </a:xfrm>
      </p:grpSpPr>
      <p:sp>
        <p:nvSpPr>
          <p:cNvPr id="2" name="Title 1"/>
          <p:cNvSpPr>
            <a:spLocks noGrp="1"/>
          </p:cNvSpPr>
          <p:nvPr>
            <p:ph type="title"/>
          </p:nvPr>
        </p:nvSpPr>
        <p:spPr>
          <a:xfrm>
            <a:off x="252349" y="274679"/>
            <a:ext cx="6182318"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custDataLst>
      <p:tags r:id="rId1"/>
    </p:custDataLst>
    <p:extLst>
      <p:ext uri="{BB962C8B-B14F-4D97-AF65-F5344CB8AC3E}">
        <p14:creationId xmlns:p14="http://schemas.microsoft.com/office/powerpoint/2010/main" val="3828957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heme" Target="../theme/theme2.xml"/><Relationship Id="rId6" Type="http://schemas.openxmlformats.org/officeDocument/2006/relationships/image" Target="../media/image1.jpg"/><Relationship Id="rId5" Type="http://schemas.openxmlformats.org/officeDocument/2006/relationships/image" Target="../media/image4.png"/><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12.xml"/><Relationship Id="rId3" Type="http://schemas.openxmlformats.org/officeDocument/2006/relationships/slideLayout" Target="../slideLayouts/slideLayout11.xml"/><Relationship Id="rId7"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4.png"/><Relationship Id="rId5" Type="http://schemas.openxmlformats.org/officeDocument/2006/relationships/slideLayout" Target="../slideLayouts/slideLayout13.xml"/><Relationship Id="rId10" Type="http://schemas.openxmlformats.org/officeDocument/2006/relationships/image" Target="../media/image3.png"/><Relationship Id="rId4" Type="http://schemas.openxmlformats.org/officeDocument/2006/relationships/slideLayout" Target="../slideLayouts/slideLayout12.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3BCFA4D-1CC5-4243-98FC-591DF878C6E5}"/>
              </a:ext>
            </a:extLst>
          </p:cNvPr>
          <p:cNvPicPr>
            <a:picLocks noChangeAspect="1"/>
          </p:cNvPicPr>
          <p:nvPr userDrawn="1"/>
        </p:nvPicPr>
        <p:blipFill>
          <a:blip r:embed="rId11"/>
          <a:stretch>
            <a:fillRect/>
          </a:stretch>
        </p:blipFill>
        <p:spPr>
          <a:xfrm>
            <a:off x="0" y="0"/>
            <a:ext cx="9144000" cy="5143500"/>
          </a:xfrm>
          <a:prstGeom prst="rect">
            <a:avLst/>
          </a:prstGeom>
        </p:spPr>
      </p:pic>
    </p:spTree>
    <p:custDataLst>
      <p:tags r:id="rId10"/>
    </p:custDataLst>
    <p:extLst>
      <p:ext uri="{BB962C8B-B14F-4D97-AF65-F5344CB8AC3E}">
        <p14:creationId xmlns:p14="http://schemas.microsoft.com/office/powerpoint/2010/main" val="3046638261"/>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5" name="Picture 4"/>
            <p:cNvPicPr>
              <a:picLocks noChangeAspect="1"/>
            </p:cNvPicPr>
            <p:nvPr userDrawn="1"/>
          </p:nvPicPr>
          <p:blipFill>
            <a:blip r:embed="rId3"/>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4"/>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5"/>
            <a:stretch>
              <a:fillRect/>
            </a:stretch>
          </p:blipFill>
          <p:spPr>
            <a:xfrm>
              <a:off x="0" y="0"/>
              <a:ext cx="3719590" cy="2933934"/>
            </a:xfrm>
            <a:prstGeom prst="rect">
              <a:avLst/>
            </a:prstGeom>
          </p:spPr>
        </p:pic>
      </p:grpSp>
      <p:pic>
        <p:nvPicPr>
          <p:cNvPr id="8" name="Picture 7">
            <a:extLst>
              <a:ext uri="{FF2B5EF4-FFF2-40B4-BE49-F238E27FC236}">
                <a16:creationId xmlns:a16="http://schemas.microsoft.com/office/drawing/2014/main" id="{13BCFA4D-1CC5-4243-98FC-591DF878C6E5}"/>
              </a:ext>
            </a:extLst>
          </p:cNvPr>
          <p:cNvPicPr>
            <a:picLocks noChangeAspect="1"/>
          </p:cNvPicPr>
          <p:nvPr userDrawn="1"/>
        </p:nvPicPr>
        <p:blipFill>
          <a:blip r:embed="rId6"/>
          <a:stretch>
            <a:fillRect/>
          </a:stretch>
        </p:blipFill>
        <p:spPr>
          <a:xfrm>
            <a:off x="0" y="0"/>
            <a:ext cx="9144000" cy="5143500"/>
          </a:xfrm>
          <a:prstGeom prst="rect">
            <a:avLst/>
          </a:prstGeom>
        </p:spPr>
      </p:pic>
    </p:spTree>
    <p:custDataLst>
      <p:tags r:id="rId2"/>
    </p:custDataLst>
    <p:extLst>
      <p:ext uri="{BB962C8B-B14F-4D97-AF65-F5344CB8AC3E}">
        <p14:creationId xmlns:p14="http://schemas.microsoft.com/office/powerpoint/2010/main" val="195851307"/>
      </p:ext>
    </p:extLst>
  </p:cSld>
  <p:clrMap bg1="lt1" tx1="dk1" bg2="lt2" tx2="dk2" accent1="accent1" accent2="accent2" accent3="accent3" accent4="accent4" accent5="accent5" accent6="accent6" hlink="hlink" folHlink="folHlink"/>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9"/>
            <a:stretch>
              <a:fillRect/>
            </a:stretch>
          </p:blipFill>
          <p:spPr>
            <a:xfrm flipH="1" flipV="1">
              <a:off x="5423765" y="2211757"/>
              <a:ext cx="3718882" cy="2932430"/>
            </a:xfrm>
            <a:prstGeom prst="rect">
              <a:avLst/>
            </a:prstGeom>
          </p:spPr>
        </p:pic>
        <p:pic>
          <p:nvPicPr>
            <p:cNvPr id="6" name="Picture 5">
              <a:extLst>
                <a:ext uri="{FF2B5EF4-FFF2-40B4-BE49-F238E27FC236}">
                  <a16:creationId xmlns:a16="http://schemas.microsoft.com/office/drawing/2014/main" id="{5BC3A035-B0EE-3A43-AADA-02BA46FB0931}"/>
                </a:ext>
              </a:extLst>
            </p:cNvPr>
            <p:cNvPicPr>
              <a:picLocks noChangeAspect="1"/>
            </p:cNvPicPr>
            <p:nvPr userDrawn="1"/>
          </p:nvPicPr>
          <p:blipFill>
            <a:blip r:embed="rId10"/>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11"/>
            <a:stretch>
              <a:fillRect/>
            </a:stretch>
          </p:blipFill>
          <p:spPr>
            <a:xfrm>
              <a:off x="0" y="0"/>
              <a:ext cx="3719590" cy="2933934"/>
            </a:xfrm>
            <a:prstGeom prst="rect">
              <a:avLst/>
            </a:prstGeom>
          </p:spPr>
        </p:pic>
      </p:grpSp>
    </p:spTree>
    <p:custDataLst>
      <p:tags r:id="rId8"/>
    </p:custDataLst>
    <p:extLst>
      <p:ext uri="{BB962C8B-B14F-4D97-AF65-F5344CB8AC3E}">
        <p14:creationId xmlns:p14="http://schemas.microsoft.com/office/powerpoint/2010/main" val="370563744"/>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19.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9.xml"/><Relationship Id="rId1" Type="http://schemas.openxmlformats.org/officeDocument/2006/relationships/tags" Target="../tags/tag20.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tags" Target="../tags/tag2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9.xml"/><Relationship Id="rId1" Type="http://schemas.openxmlformats.org/officeDocument/2006/relationships/tags" Target="../tags/tag22.xml"/><Relationship Id="rId4" Type="http://schemas.microsoft.com/office/2018/10/relationships/comments" Target="../comments/modernComment_14A_B458DC47.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xml"/><Relationship Id="rId1" Type="http://schemas.openxmlformats.org/officeDocument/2006/relationships/tags" Target="../tags/tag23.xml"/><Relationship Id="rId4" Type="http://schemas.microsoft.com/office/2018/10/relationships/comments" Target="../comments/modernComment_118_5B966B2C.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tags" Target="../tags/tag2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tags" Target="../tags/tag25.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9.xml"/><Relationship Id="rId1" Type="http://schemas.openxmlformats.org/officeDocument/2006/relationships/tags" Target="../tags/tag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nvSpPr>
        <p:spPr>
          <a:xfrm>
            <a:off x="73091" y="163290"/>
            <a:ext cx="6173436" cy="534636"/>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Vitesse" charset="0"/>
                <a:cs typeface="Vitesse" charset="0"/>
              </a:rPr>
              <a:t>Regression Analysis</a:t>
            </a:r>
          </a:p>
        </p:txBody>
      </p:sp>
      <p:sp>
        <p:nvSpPr>
          <p:cNvPr id="17" name="Text Placeholder 3"/>
          <p:cNvSpPr>
            <a:spLocks noGrp="1"/>
          </p:cNvSpPr>
          <p:nvPr/>
        </p:nvSpPr>
        <p:spPr>
          <a:xfrm>
            <a:off x="85589"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ts val="1400"/>
              </a:lnSpc>
              <a:spcBef>
                <a:spcPct val="20000"/>
              </a:spcBef>
              <a:spcAft>
                <a:spcPts val="0"/>
              </a:spcAft>
              <a:buClrTx/>
              <a:buSzTx/>
              <a:buFont typeface="Arial"/>
              <a:buNone/>
              <a:tabLst/>
              <a:defRPr/>
            </a:pPr>
            <a:endParaRPr kumimoji="0" lang="en-US" sz="2400" b="1" i="0" u="none" strike="noStrike" kern="1200" cap="none" spc="0" normalizeH="0" baseline="0" noProof="0" dirty="0">
              <a:ln>
                <a:noFill/>
              </a:ln>
              <a:solidFill>
                <a:srgbClr val="EAAA00"/>
              </a:solidFill>
              <a:effectLst/>
              <a:uLnTx/>
              <a:uFillTx/>
              <a:latin typeface="Helvetica" charset="0"/>
              <a:cs typeface="Helvetica" charset="0"/>
            </a:endParaRPr>
          </a:p>
          <a:p>
            <a:pPr marL="0" marR="0" lvl="0" indent="0" algn="l" defTabSz="457200" rtl="0" eaLnBrk="1" fontAlgn="auto" latinLnBrk="0" hangingPunct="1">
              <a:lnSpc>
                <a:spcPts val="1400"/>
              </a:lnSpc>
              <a:spcBef>
                <a:spcPct val="20000"/>
              </a:spcBef>
              <a:spcAft>
                <a:spcPts val="0"/>
              </a:spcAft>
              <a:buClrTx/>
              <a:buSzTx/>
              <a:buFont typeface="Arial"/>
              <a:buNone/>
              <a:tabLst/>
              <a:defRPr/>
            </a:pPr>
            <a:r>
              <a:rPr kumimoji="0" lang="en-US" sz="2400" b="1" i="0" u="none" strike="noStrike" kern="1200" cap="none" spc="0" normalizeH="0" baseline="0" noProof="0" dirty="0">
                <a:ln>
                  <a:noFill/>
                </a:ln>
                <a:solidFill>
                  <a:srgbClr val="EAAA00"/>
                </a:solidFill>
                <a:effectLst/>
                <a:uLnTx/>
                <a:uFillTx/>
                <a:latin typeface="Helvetica" charset="0"/>
                <a:cs typeface="Helvetica" charset="0"/>
              </a:rPr>
              <a:t>Nicoleta Serban, Ph.D. </a:t>
            </a:r>
          </a:p>
        </p:txBody>
      </p:sp>
      <p:sp>
        <p:nvSpPr>
          <p:cNvPr id="18" name="Text Placeholder 4"/>
          <p:cNvSpPr>
            <a:spLocks noGrp="1"/>
          </p:cNvSpPr>
          <p:nvPr/>
        </p:nvSpPr>
        <p:spPr>
          <a:xfrm>
            <a:off x="92366" y="2376336"/>
            <a:ext cx="4305091" cy="254281"/>
          </a:xfrm>
          <a:prstGeom prst="rect">
            <a:avLst/>
          </a:prstGeom>
        </p:spPr>
        <p:txBody>
          <a:bodyPr/>
          <a:lstStyle>
            <a:lvl1pPr marL="0" indent="0" algn="l" defTabSz="457200" rtl="0" eaLnBrk="1" latinLnBrk="0" hangingPunct="1">
              <a:spcBef>
                <a:spcPct val="20000"/>
              </a:spcBef>
              <a:buFont typeface="Arial"/>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1600" b="0" i="1" u="none" strike="noStrike" kern="1200" cap="none" spc="0" normalizeH="0" baseline="0" noProof="0" dirty="0">
                <a:ln>
                  <a:noFill/>
                </a:ln>
                <a:solidFill>
                  <a:prstClr val="black"/>
                </a:solidFill>
                <a:effectLst/>
                <a:uLnTx/>
                <a:uFillTx/>
                <a:latin typeface="Helvetica" charset="0"/>
                <a:cs typeface="Helvetica" charset="0"/>
              </a:rPr>
              <a:t>Professor </a:t>
            </a:r>
          </a:p>
        </p:txBody>
      </p:sp>
      <p:sp>
        <p:nvSpPr>
          <p:cNvPr id="11" name="Text Placeholder 6">
            <a:extLst>
              <a:ext uri="{FF2B5EF4-FFF2-40B4-BE49-F238E27FC236}">
                <a16:creationId xmlns:a16="http://schemas.microsoft.com/office/drawing/2014/main" id="{96194DD8-166E-44C1-B715-8F6DC720E8C3}"/>
              </a:ext>
            </a:extLst>
          </p:cNvPr>
          <p:cNvSpPr>
            <a:spLocks noGrp="1"/>
          </p:cNvSpPr>
          <p:nvPr/>
        </p:nvSpPr>
        <p:spPr>
          <a:xfrm>
            <a:off x="109567" y="2661666"/>
            <a:ext cx="4305091" cy="322253"/>
          </a:xfrm>
          <a:prstGeom prst="rect">
            <a:avLst/>
          </a:prstGeom>
        </p:spPr>
        <p:txBody>
          <a:bodyPr/>
          <a:lstStyle>
            <a:lvl1pPr marL="0" indent="0" algn="l" defTabSz="457200" rtl="0" eaLnBrk="1" latinLnBrk="0" hangingPunct="1">
              <a:spcBef>
                <a:spcPct val="20000"/>
              </a:spcBef>
              <a:buFont typeface="Arial"/>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kumimoji="0" lang="en-US" sz="1200" b="0" i="0" u="none" strike="noStrike" kern="1200" cap="none" spc="0" normalizeH="0" baseline="0" noProof="0" dirty="0">
                <a:ln>
                  <a:noFill/>
                </a:ln>
                <a:solidFill>
                  <a:prstClr val="black"/>
                </a:solidFill>
                <a:effectLst/>
                <a:uLnTx/>
                <a:uFillTx/>
                <a:latin typeface="Helvetica" charset="0"/>
                <a:cs typeface="Helvetica" charset="0"/>
              </a:rPr>
              <a:t>Stewart School of Industrial and Systems Engineering</a:t>
            </a:r>
          </a:p>
        </p:txBody>
      </p:sp>
      <p:sp>
        <p:nvSpPr>
          <p:cNvPr id="9" name="文本占位符 2">
            <a:extLst>
              <a:ext uri="{FF2B5EF4-FFF2-40B4-BE49-F238E27FC236}">
                <a16:creationId xmlns:a16="http://schemas.microsoft.com/office/drawing/2014/main" id="{0095DF2C-BA85-43DF-90C9-B8E19F8A129D}"/>
              </a:ext>
            </a:extLst>
          </p:cNvPr>
          <p:cNvSpPr txBox="1">
            <a:spLocks/>
          </p:cNvSpPr>
          <p:nvPr/>
        </p:nvSpPr>
        <p:spPr>
          <a:xfrm>
            <a:off x="87005" y="643513"/>
            <a:ext cx="6543913" cy="542236"/>
          </a:xfrm>
          <a:prstGeom prst="rect">
            <a:avLst/>
          </a:prstGeom>
        </p:spPr>
        <p:txBody>
          <a:bodyPr/>
          <a:lst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kumimoji="1" lang="en-US" altLang="zh-CN" sz="2400" dirty="0">
                <a:solidFill>
                  <a:schemeClr val="tx2"/>
                </a:solidFill>
                <a:latin typeface="Vitesse Medium"/>
              </a:rPr>
              <a:t>Regression Analysis in Practice</a:t>
            </a:r>
            <a:br>
              <a:rPr kumimoji="1" lang="en-US" altLang="zh-CN" sz="2400" dirty="0">
                <a:solidFill>
                  <a:schemeClr val="tx2"/>
                </a:solidFill>
                <a:latin typeface="Vitesse Medium"/>
              </a:rPr>
            </a:br>
            <a:endParaRPr kumimoji="1" lang="en-US" altLang="zh-CN" sz="2400" dirty="0">
              <a:solidFill>
                <a:schemeClr val="tx2"/>
              </a:solidFill>
              <a:latin typeface="Vitesse Medium"/>
            </a:endParaRPr>
          </a:p>
          <a:p>
            <a:endParaRPr kumimoji="1" lang="zh-CN" altLang="en-US" sz="2400" dirty="0">
              <a:solidFill>
                <a:schemeClr val="tx2"/>
              </a:solidFill>
              <a:latin typeface="Vitesse Medium"/>
            </a:endParaRPr>
          </a:p>
        </p:txBody>
      </p:sp>
      <p:sp>
        <p:nvSpPr>
          <p:cNvPr id="13" name="文本占位符 5">
            <a:extLst>
              <a:ext uri="{FF2B5EF4-FFF2-40B4-BE49-F238E27FC236}">
                <a16:creationId xmlns:a16="http://schemas.microsoft.com/office/drawing/2014/main" id="{FC16521B-9315-47F2-B142-A7E484FEB9C9}"/>
              </a:ext>
            </a:extLst>
          </p:cNvPr>
          <p:cNvSpPr txBox="1">
            <a:spLocks/>
          </p:cNvSpPr>
          <p:nvPr/>
        </p:nvSpPr>
        <p:spPr>
          <a:xfrm>
            <a:off x="87663" y="4033365"/>
            <a:ext cx="3780330" cy="681037"/>
          </a:xfrm>
          <a:prstGeom prst="rect">
            <a:avLst/>
          </a:prstGeom>
        </p:spPr>
        <p:txBody>
          <a:bodyPr/>
          <a:lstStyle>
            <a:lvl1pPr marL="0" indent="0" algn="l" defTabSz="457200" rtl="0" eaLnBrk="1" latinLnBrk="0" hangingPunct="1">
              <a:spcBef>
                <a:spcPct val="20000"/>
              </a:spcBef>
              <a:buFont typeface="Arial"/>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kumimoji="1" lang="en-US" altLang="zh-CN" sz="2000" dirty="0">
                <a:solidFill>
                  <a:schemeClr val="tx2"/>
                </a:solidFill>
                <a:latin typeface="Vitesse"/>
              </a:rPr>
              <a:t>Emergency Department Healthcare Costs </a:t>
            </a:r>
          </a:p>
          <a:p>
            <a:endParaRPr kumimoji="1" lang="zh-CN" altLang="en-US" dirty="0">
              <a:solidFill>
                <a:schemeClr val="tx2"/>
              </a:solidFill>
              <a:latin typeface="Vitesse"/>
            </a:endParaRPr>
          </a:p>
        </p:txBody>
      </p:sp>
    </p:spTree>
    <p:custDataLst>
      <p:tags r:id="rId1"/>
    </p:custDataLst>
    <p:extLst>
      <p:ext uri="{BB962C8B-B14F-4D97-AF65-F5344CB8AC3E}">
        <p14:creationId xmlns:p14="http://schemas.microsoft.com/office/powerpoint/2010/main" val="432141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15820" t="7499" r="15454" b="5507"/>
          <a:stretch/>
        </p:blipFill>
        <p:spPr>
          <a:xfrm>
            <a:off x="3422383" y="1074049"/>
            <a:ext cx="2392685" cy="3028613"/>
          </a:xfrm>
          <a:prstGeom prst="rect">
            <a:avLst/>
          </a:prstGeom>
        </p:spPr>
      </p:pic>
      <p:sp>
        <p:nvSpPr>
          <p:cNvPr id="2" name="Text Placeholder 1"/>
          <p:cNvSpPr>
            <a:spLocks noGrp="1"/>
          </p:cNvSpPr>
          <p:nvPr>
            <p:ph type="body" sz="quarter" idx="4294967295"/>
          </p:nvPr>
        </p:nvSpPr>
        <p:spPr>
          <a:xfrm>
            <a:off x="121380" y="154185"/>
            <a:ext cx="4727575" cy="731837"/>
          </a:xfrm>
        </p:spPr>
        <p:txBody>
          <a:bodyPr anchor="t">
            <a:normAutofit/>
          </a:bodyPr>
          <a:lstStyle/>
          <a:p>
            <a:pPr>
              <a:spcBef>
                <a:spcPct val="0"/>
              </a:spcBef>
            </a:pPr>
            <a:r>
              <a:rPr lang="en-US" sz="3600" dirty="0">
                <a:latin typeface="Vitesse" charset="0"/>
                <a:ea typeface="Vitesse" charset="0"/>
                <a:cs typeface="Vitesse" charset="0"/>
              </a:rPr>
              <a:t>About This Lesson</a:t>
            </a:r>
          </a:p>
        </p:txBody>
      </p:sp>
    </p:spTree>
    <p:custDataLst>
      <p:tags r:id="rId1"/>
    </p:custDataLst>
    <p:extLst>
      <p:ext uri="{BB962C8B-B14F-4D97-AF65-F5344CB8AC3E}">
        <p14:creationId xmlns:p14="http://schemas.microsoft.com/office/powerpoint/2010/main" val="2357991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4325" y="153299"/>
            <a:ext cx="8562392" cy="554520"/>
          </a:xfrm>
        </p:spPr>
        <p:txBody>
          <a:bodyPr/>
          <a:lstStyle/>
          <a:p>
            <a:r>
              <a:rPr lang="en-US" altLang="zh-CN" dirty="0">
                <a:latin typeface="Vitesse"/>
              </a:rPr>
              <a:t>Emergency Department Healthcare Costs</a:t>
            </a:r>
            <a:endParaRPr lang="zh-CN" altLang="en-US" dirty="0">
              <a:latin typeface="Vitesse"/>
            </a:endParaRPr>
          </a:p>
        </p:txBody>
      </p:sp>
      <p:sp>
        <p:nvSpPr>
          <p:cNvPr id="9" name="TextBox 1"/>
          <p:cNvSpPr txBox="1">
            <a:spLocks noChangeArrowheads="1"/>
          </p:cNvSpPr>
          <p:nvPr/>
        </p:nvSpPr>
        <p:spPr bwMode="auto">
          <a:xfrm>
            <a:off x="5389296" y="903117"/>
            <a:ext cx="3601087" cy="14773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defRPr/>
            </a:pPr>
            <a:r>
              <a:rPr lang="en-US" sz="1800" b="1" dirty="0">
                <a:latin typeface="Helvetica" panose="020B0604020202020204" pitchFamily="34" charset="0"/>
                <a:ea typeface="Helvetica" charset="0"/>
                <a:cs typeface="Helvetica" panose="020B0604020202020204" pitchFamily="34" charset="0"/>
              </a:rPr>
              <a:t>Research Question 1</a:t>
            </a:r>
            <a:endParaRPr lang="en-US" sz="1800" dirty="0">
              <a:latin typeface="Helvetica" panose="020B0604020202020204" pitchFamily="34" charset="0"/>
              <a:ea typeface="Helvetica" charset="0"/>
              <a:cs typeface="Helvetica" panose="020B0604020202020204" pitchFamily="34" charset="0"/>
            </a:endParaRPr>
          </a:p>
          <a:p>
            <a:pPr>
              <a:defRPr/>
            </a:pPr>
            <a:r>
              <a:rPr lang="en-US" sz="1800" dirty="0">
                <a:latin typeface="Helvetica" panose="020B0604020202020204" pitchFamily="34" charset="0"/>
                <a:ea typeface="Helvetica" charset="0"/>
                <a:cs typeface="Helvetica" panose="020B0604020202020204" pitchFamily="34" charset="0"/>
              </a:rPr>
              <a:t>What factors impact the healthcare cost due to emergency department encounters?</a:t>
            </a:r>
          </a:p>
        </p:txBody>
      </p:sp>
      <p:pic>
        <p:nvPicPr>
          <p:cNvPr id="8" name="Picture 7"/>
          <p:cNvPicPr>
            <a:picLocks noChangeAspect="1"/>
          </p:cNvPicPr>
          <p:nvPr/>
        </p:nvPicPr>
        <p:blipFill>
          <a:blip r:embed="rId4"/>
          <a:stretch>
            <a:fillRect/>
          </a:stretch>
        </p:blipFill>
        <p:spPr>
          <a:xfrm>
            <a:off x="542165" y="978873"/>
            <a:ext cx="3191020" cy="1188066"/>
          </a:xfrm>
          <a:prstGeom prst="rect">
            <a:avLst/>
          </a:prstGeom>
        </p:spPr>
      </p:pic>
      <p:sp>
        <p:nvSpPr>
          <p:cNvPr id="12" name="TextBox 1"/>
          <p:cNvSpPr txBox="1">
            <a:spLocks noChangeArrowheads="1"/>
          </p:cNvSpPr>
          <p:nvPr/>
        </p:nvSpPr>
        <p:spPr bwMode="auto">
          <a:xfrm>
            <a:off x="5386220" y="2479203"/>
            <a:ext cx="3601087" cy="2031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defRPr/>
            </a:pPr>
            <a:r>
              <a:rPr lang="en-US" sz="1800" b="1" dirty="0">
                <a:latin typeface="Helvetica" panose="020B0604020202020204" pitchFamily="34" charset="0"/>
                <a:ea typeface="Helvetica" charset="0"/>
                <a:cs typeface="Helvetica" panose="020B0604020202020204" pitchFamily="34" charset="0"/>
              </a:rPr>
              <a:t>Research Question 2</a:t>
            </a:r>
            <a:endParaRPr lang="en-US" sz="1800" dirty="0">
              <a:latin typeface="Helvetica" panose="020B0604020202020204" pitchFamily="34" charset="0"/>
              <a:ea typeface="Helvetica" charset="0"/>
              <a:cs typeface="Helvetica" panose="020B0604020202020204" pitchFamily="34" charset="0"/>
            </a:endParaRPr>
          </a:p>
          <a:p>
            <a:pPr>
              <a:defRPr/>
            </a:pPr>
            <a:r>
              <a:rPr lang="en-US" sz="1800" dirty="0">
                <a:latin typeface="Helvetica" panose="020B0604020202020204" pitchFamily="34" charset="0"/>
                <a:ea typeface="Helvetica" charset="0"/>
                <a:cs typeface="Helvetica" panose="020B0604020202020204" pitchFamily="34" charset="0"/>
              </a:rPr>
              <a:t>Is access to primary care providers associated with healthcare costs due to emergency department encounters?</a:t>
            </a:r>
          </a:p>
          <a:p>
            <a:pPr defTabSz="342900">
              <a:defRPr/>
            </a:pPr>
            <a:endParaRPr lang="en-US" sz="1800" b="1" dirty="0">
              <a:solidFill>
                <a:srgbClr val="000000"/>
              </a:solidFill>
              <a:latin typeface="Helvetica" panose="020B0604020202020204" pitchFamily="34" charset="0"/>
              <a:ea typeface="Helvetica" charset="0"/>
              <a:cs typeface="Helvetica" panose="020B0604020202020204" pitchFamily="34" charset="0"/>
            </a:endParaRPr>
          </a:p>
        </p:txBody>
      </p:sp>
      <p:grpSp>
        <p:nvGrpSpPr>
          <p:cNvPr id="4" name="Group 3">
            <a:extLst>
              <a:ext uri="{FF2B5EF4-FFF2-40B4-BE49-F238E27FC236}">
                <a16:creationId xmlns:a16="http://schemas.microsoft.com/office/drawing/2014/main" id="{B77A5BDF-60C8-45B0-BB2A-5A8202124D32}"/>
              </a:ext>
            </a:extLst>
          </p:cNvPr>
          <p:cNvGrpSpPr/>
          <p:nvPr/>
        </p:nvGrpSpPr>
        <p:grpSpPr>
          <a:xfrm>
            <a:off x="493614" y="2552796"/>
            <a:ext cx="3264167" cy="2437405"/>
            <a:chOff x="356048" y="2515078"/>
            <a:chExt cx="3008535" cy="2367265"/>
          </a:xfrm>
        </p:grpSpPr>
        <p:pic>
          <p:nvPicPr>
            <p:cNvPr id="10" name="Picture 9"/>
            <p:cNvPicPr>
              <a:picLocks noChangeAspect="1"/>
            </p:cNvPicPr>
            <p:nvPr/>
          </p:nvPicPr>
          <p:blipFill rotWithShape="1">
            <a:blip r:embed="rId5"/>
            <a:srcRect t="14720"/>
            <a:stretch/>
          </p:blipFill>
          <p:spPr>
            <a:xfrm>
              <a:off x="356048" y="2515078"/>
              <a:ext cx="2985865" cy="2042494"/>
            </a:xfrm>
            <a:prstGeom prst="rect">
              <a:avLst/>
            </a:prstGeom>
          </p:spPr>
        </p:pic>
        <p:pic>
          <p:nvPicPr>
            <p:cNvPr id="3" name="Picture 2">
              <a:extLst>
                <a:ext uri="{FF2B5EF4-FFF2-40B4-BE49-F238E27FC236}">
                  <a16:creationId xmlns:a16="http://schemas.microsoft.com/office/drawing/2014/main" id="{06F6A3ED-57A1-447B-A674-36CD6625BFE1}"/>
                </a:ext>
              </a:extLst>
            </p:cNvPr>
            <p:cNvPicPr>
              <a:picLocks noChangeAspect="1"/>
            </p:cNvPicPr>
            <p:nvPr/>
          </p:nvPicPr>
          <p:blipFill rotWithShape="1">
            <a:blip r:embed="rId5"/>
            <a:srcRect b="86440"/>
            <a:stretch/>
          </p:blipFill>
          <p:spPr>
            <a:xfrm>
              <a:off x="378718" y="4557572"/>
              <a:ext cx="2985865" cy="324771"/>
            </a:xfrm>
            <a:prstGeom prst="rect">
              <a:avLst/>
            </a:prstGeom>
          </p:spPr>
        </p:pic>
      </p:grpSp>
    </p:spTree>
    <p:custDataLst>
      <p:tags r:id="rId1"/>
    </p:custDataLst>
    <p:extLst>
      <p:ext uri="{BB962C8B-B14F-4D97-AF65-F5344CB8AC3E}">
        <p14:creationId xmlns:p14="http://schemas.microsoft.com/office/powerpoint/2010/main" val="2145787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1"/>
          <p:cNvSpPr txBox="1">
            <a:spLocks noChangeArrowheads="1"/>
          </p:cNvSpPr>
          <p:nvPr/>
        </p:nvSpPr>
        <p:spPr bwMode="auto">
          <a:xfrm>
            <a:off x="107220" y="899925"/>
            <a:ext cx="7936263" cy="403187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defRPr/>
            </a:pPr>
            <a:r>
              <a:rPr lang="en-US" sz="1800" b="1" dirty="0">
                <a:latin typeface="Helvetica" panose="020B0604020202020204" pitchFamily="34" charset="0"/>
                <a:ea typeface="Helvetica" charset="0"/>
                <a:cs typeface="Helvetica" panose="020B0604020202020204" pitchFamily="34" charset="0"/>
              </a:rPr>
              <a:t>Study Population</a:t>
            </a:r>
          </a:p>
          <a:p>
            <a:pPr>
              <a:defRPr/>
            </a:pPr>
            <a:r>
              <a:rPr lang="en-US" sz="1800" dirty="0">
                <a:latin typeface="Helvetica" panose="020B0604020202020204" pitchFamily="34" charset="0"/>
                <a:ea typeface="Helvetica" charset="0"/>
                <a:cs typeface="Helvetica" panose="020B0604020202020204" pitchFamily="34" charset="0"/>
              </a:rPr>
              <a:t>Adults enrolled in Medicaid in 2011 in four southeast states</a:t>
            </a:r>
          </a:p>
          <a:p>
            <a:pPr marL="687388" lvl="1" indent="-347663">
              <a:buFont typeface="Arial" panose="020B0604020202020204" pitchFamily="34" charset="0"/>
              <a:buChar char="•"/>
              <a:defRPr/>
            </a:pPr>
            <a:r>
              <a:rPr lang="en-US" sz="1600" dirty="0">
                <a:latin typeface="Helvetica" panose="020B0604020202020204" pitchFamily="34" charset="0"/>
                <a:ea typeface="Helvetica" charset="0"/>
                <a:cs typeface="Helvetica" panose="020B0604020202020204" pitchFamily="34" charset="0"/>
              </a:rPr>
              <a:t>Alabama, Arkansas, Louisiana, and North Carolina</a:t>
            </a:r>
          </a:p>
          <a:p>
            <a:pPr marL="687388" lvl="1" indent="-347663">
              <a:buFont typeface="Arial" panose="020B0604020202020204" pitchFamily="34" charset="0"/>
              <a:buChar char="•"/>
              <a:defRPr/>
            </a:pPr>
            <a:r>
              <a:rPr lang="en-US" sz="1600" dirty="0">
                <a:latin typeface="Helvetica" panose="020B0604020202020204" pitchFamily="34" charset="0"/>
                <a:ea typeface="Helvetica" charset="0"/>
                <a:cs typeface="Helvetica" panose="020B0604020202020204" pitchFamily="34" charset="0"/>
              </a:rPr>
              <a:t>Medicaid is a low-income health insurance program</a:t>
            </a:r>
          </a:p>
          <a:p>
            <a:pPr defTabSz="342900">
              <a:spcBef>
                <a:spcPts val="1200"/>
              </a:spcBef>
              <a:defRPr/>
            </a:pPr>
            <a:r>
              <a:rPr lang="en-US" sz="1800" b="1" dirty="0">
                <a:solidFill>
                  <a:srgbClr val="000000"/>
                </a:solidFill>
                <a:latin typeface="Helvetica" panose="020B0604020202020204" pitchFamily="34" charset="0"/>
                <a:ea typeface="Helvetica" charset="0"/>
                <a:cs typeface="Helvetica" panose="020B0604020202020204" pitchFamily="34" charset="0"/>
              </a:rPr>
              <a:t>Data Source</a:t>
            </a:r>
          </a:p>
          <a:p>
            <a:pPr defTabSz="342900">
              <a:defRPr/>
            </a:pPr>
            <a:r>
              <a:rPr lang="en-US" sz="1800" dirty="0">
                <a:solidFill>
                  <a:srgbClr val="000000"/>
                </a:solidFill>
                <a:latin typeface="Helvetica" panose="020B0604020202020204" pitchFamily="34" charset="0"/>
                <a:ea typeface="Helvetica" charset="0"/>
                <a:cs typeface="Helvetica" panose="020B0604020202020204" pitchFamily="34" charset="0"/>
              </a:rPr>
              <a:t>Medicaid Analytic </a:t>
            </a:r>
            <a:r>
              <a:rPr lang="en-US" sz="1800" dirty="0" err="1">
                <a:solidFill>
                  <a:srgbClr val="000000"/>
                </a:solidFill>
                <a:latin typeface="Helvetica" panose="020B0604020202020204" pitchFamily="34" charset="0"/>
                <a:ea typeface="Helvetica" charset="0"/>
                <a:cs typeface="Helvetica" panose="020B0604020202020204" pitchFamily="34" charset="0"/>
              </a:rPr>
              <a:t>eXtract</a:t>
            </a:r>
            <a:r>
              <a:rPr lang="en-US" sz="1800" dirty="0">
                <a:solidFill>
                  <a:srgbClr val="000000"/>
                </a:solidFill>
                <a:latin typeface="Helvetica" panose="020B0604020202020204" pitchFamily="34" charset="0"/>
                <a:ea typeface="Helvetica" charset="0"/>
                <a:cs typeface="Helvetica" panose="020B0604020202020204" pitchFamily="34" charset="0"/>
              </a:rPr>
              <a:t> (MAX) claims files available from the Centers of Medicare and Medicaid Services (CMS)</a:t>
            </a:r>
          </a:p>
          <a:p>
            <a:pPr marL="687388" indent="-347663" defTabSz="342900">
              <a:spcBef>
                <a:spcPts val="600"/>
              </a:spcBef>
              <a:buFont typeface="Arial" panose="020B0604020202020204" pitchFamily="34" charset="0"/>
              <a:buChar char="•"/>
              <a:defRPr/>
            </a:pPr>
            <a:r>
              <a:rPr lang="en-US" sz="1600" u="sng" dirty="0">
                <a:solidFill>
                  <a:srgbClr val="000000"/>
                </a:solidFill>
                <a:latin typeface="Helvetica" panose="020B0604020202020204" pitchFamily="34" charset="0"/>
                <a:ea typeface="Helvetica" charset="0"/>
                <a:cs typeface="Helvetica" panose="020B0604020202020204" pitchFamily="34" charset="0"/>
              </a:rPr>
              <a:t>Additional data sources</a:t>
            </a:r>
            <a:r>
              <a:rPr lang="en-US" sz="1600" dirty="0">
                <a:solidFill>
                  <a:srgbClr val="000000"/>
                </a:solidFill>
                <a:latin typeface="Helvetica" panose="020B0604020202020204" pitchFamily="34" charset="0"/>
                <a:ea typeface="Helvetica" charset="0"/>
                <a:cs typeface="Helvetica" panose="020B0604020202020204" pitchFamily="34" charset="0"/>
              </a:rPr>
              <a:t>: U.S. Bureau Census, Health Analytics Group at GT, Robert Wood Johnson Foundation, among others. </a:t>
            </a:r>
          </a:p>
          <a:p>
            <a:pPr marL="687388" indent="-347663" defTabSz="342900">
              <a:spcBef>
                <a:spcPts val="600"/>
              </a:spcBef>
              <a:buFont typeface="Arial" panose="020B0604020202020204" pitchFamily="34" charset="0"/>
              <a:buChar char="•"/>
              <a:defRPr/>
            </a:pPr>
            <a:r>
              <a:rPr lang="en-US" sz="1600" u="sng" dirty="0">
                <a:solidFill>
                  <a:srgbClr val="000000"/>
                </a:solidFill>
                <a:latin typeface="Helvetica" panose="020B0604020202020204" pitchFamily="34" charset="0"/>
                <a:ea typeface="Helvetica" charset="0"/>
                <a:cs typeface="Helvetica" panose="020B0604020202020204" pitchFamily="34" charset="0"/>
              </a:rPr>
              <a:t>Disclaimer</a:t>
            </a:r>
            <a:r>
              <a:rPr lang="en-US" sz="1600" dirty="0">
                <a:solidFill>
                  <a:srgbClr val="000000"/>
                </a:solidFill>
                <a:latin typeface="Helvetica" panose="020B0604020202020204" pitchFamily="34" charset="0"/>
                <a:ea typeface="Helvetica" charset="0"/>
                <a:cs typeface="Helvetica" panose="020B0604020202020204" pitchFamily="34" charset="0"/>
              </a:rPr>
              <a:t>: This analysis of healthcare cost for the Medicaid population using the MAX claims data is in compliance with the study protocol approved by the Georgia Tech Internal Review Board (IRB) and by CMS. Do NOT use the data provided for this analysis for purposes other than the study in this lesson. </a:t>
            </a:r>
          </a:p>
          <a:p>
            <a:pPr marL="285750" indent="-285750" defTabSz="342900">
              <a:buFont typeface="Arial" panose="020B0604020202020204" pitchFamily="34" charset="0"/>
              <a:buChar char="•"/>
              <a:defRPr/>
            </a:pPr>
            <a:endParaRPr lang="en-US" sz="1800" dirty="0">
              <a:solidFill>
                <a:srgbClr val="000000"/>
              </a:solidFill>
              <a:latin typeface="Helvetica" panose="020B0604020202020204" pitchFamily="34" charset="0"/>
              <a:ea typeface="Helvetica" charset="0"/>
              <a:cs typeface="Helvetica" panose="020B0604020202020204" pitchFamily="34" charset="0"/>
            </a:endParaRPr>
          </a:p>
        </p:txBody>
      </p:sp>
      <p:sp>
        <p:nvSpPr>
          <p:cNvPr id="6" name="标题 1">
            <a:extLst>
              <a:ext uri="{FF2B5EF4-FFF2-40B4-BE49-F238E27FC236}">
                <a16:creationId xmlns:a16="http://schemas.microsoft.com/office/drawing/2014/main" id="{75241A72-009C-4F98-9CB3-2DAD5D6E8FF0}"/>
              </a:ext>
            </a:extLst>
          </p:cNvPr>
          <p:cNvSpPr>
            <a:spLocks noGrp="1"/>
          </p:cNvSpPr>
          <p:nvPr>
            <p:ph type="title"/>
          </p:nvPr>
        </p:nvSpPr>
        <p:spPr>
          <a:xfrm>
            <a:off x="74325" y="153299"/>
            <a:ext cx="8562392" cy="554520"/>
          </a:xfrm>
        </p:spPr>
        <p:txBody>
          <a:bodyPr/>
          <a:lstStyle/>
          <a:p>
            <a:r>
              <a:rPr lang="en-US" altLang="zh-CN" dirty="0">
                <a:latin typeface="Vitesse"/>
              </a:rPr>
              <a:t>Emergency Department Healthcare Costs</a:t>
            </a:r>
            <a:endParaRPr lang="zh-CN" altLang="en-US" dirty="0">
              <a:latin typeface="Vitesse"/>
            </a:endParaRPr>
          </a:p>
        </p:txBody>
      </p:sp>
    </p:spTree>
    <p:custDataLst>
      <p:tags r:id="rId1"/>
    </p:custDataLst>
    <p:extLst>
      <p:ext uri="{BB962C8B-B14F-4D97-AF65-F5344CB8AC3E}">
        <p14:creationId xmlns:p14="http://schemas.microsoft.com/office/powerpoint/2010/main" val="3025722439"/>
      </p:ext>
    </p:extLst>
  </p:cSld>
  <p:clrMapOvr>
    <a:masterClrMapping/>
  </p:clrMapOvr>
  <p:extLst mod="1">
    <p:ext uri="{6950BFC3-D8DA-4A85-94F7-54DA5524770B}">
      <p188:commentRel xmlns="" xmlns:p188="http://schemas.microsoft.com/office/powerpoint/2018/8/main" r:id="rId4"/>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Box 1"/>
          <p:cNvSpPr txBox="1">
            <a:spLocks noChangeArrowheads="1"/>
          </p:cNvSpPr>
          <p:nvPr/>
        </p:nvSpPr>
        <p:spPr bwMode="auto">
          <a:xfrm>
            <a:off x="74325" y="901494"/>
            <a:ext cx="8754086" cy="29238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339725" indent="-339725">
              <a:buFont typeface="Arial" panose="020B0604020202020204" pitchFamily="34" charset="0"/>
              <a:buChar char="•"/>
            </a:pPr>
            <a:r>
              <a:rPr lang="en-US" altLang="en-US" sz="1800" i="1" dirty="0" err="1">
                <a:latin typeface="Helvetica" panose="020B0604020202020204" pitchFamily="34" charset="0"/>
                <a:ea typeface="Helvetica Neue" charset="0"/>
                <a:cs typeface="Helvetica" panose="020B0604020202020204" pitchFamily="34" charset="0"/>
              </a:rPr>
              <a:t>EDcost</a:t>
            </a:r>
            <a:endParaRPr lang="en-US" altLang="en-US" sz="1800" i="1" dirty="0">
              <a:latin typeface="Helvetica" panose="020B0604020202020204" pitchFamily="34" charset="0"/>
              <a:ea typeface="Helvetica Neue" charset="0"/>
              <a:cs typeface="Helvetica" panose="020B0604020202020204" pitchFamily="34" charset="0"/>
            </a:endParaRPr>
          </a:p>
          <a:p>
            <a:pPr marL="687388" lvl="1" indent="-341313">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Primary variable of interest</a:t>
            </a:r>
          </a:p>
          <a:p>
            <a:pPr marL="687388" lvl="1" indent="-341313">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Emergency Department cost aggregated at the census tract level</a:t>
            </a:r>
          </a:p>
          <a:p>
            <a:pPr marL="687388" lvl="1" indent="-341313">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Depends on number of enrollees (members) and lengths of their enrollments</a:t>
            </a:r>
          </a:p>
          <a:p>
            <a:pPr marL="339725" indent="-339725">
              <a:spcBef>
                <a:spcPts val="1200"/>
              </a:spcBef>
              <a:buFont typeface="Arial" panose="020B0604020202020204" pitchFamily="34" charset="0"/>
              <a:buChar char="•"/>
            </a:pPr>
            <a:r>
              <a:rPr lang="en-US" altLang="en-US" sz="1800" i="1" dirty="0">
                <a:latin typeface="Helvetica" panose="020B0604020202020204" pitchFamily="34" charset="0"/>
                <a:ea typeface="Helvetica Neue" charset="0"/>
                <a:cs typeface="Helvetica" panose="020B0604020202020204" pitchFamily="34" charset="0"/>
              </a:rPr>
              <a:t>PMPM</a:t>
            </a:r>
            <a:endParaRPr lang="en-US" altLang="en-US" sz="1800" dirty="0">
              <a:latin typeface="Helvetica" panose="020B0604020202020204" pitchFamily="34" charset="0"/>
              <a:ea typeface="Helvetica Neue" charset="0"/>
              <a:cs typeface="Helvetica" panose="020B0604020202020204" pitchFamily="34" charset="0"/>
            </a:endParaRPr>
          </a:p>
          <a:p>
            <a:pPr marL="687388" lvl="1" indent="-341313">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Per Member Per Month</a:t>
            </a:r>
          </a:p>
          <a:p>
            <a:pPr marL="687388" lvl="1" indent="-341313">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Total number of enrollment months aggregated by census tract</a:t>
            </a:r>
          </a:p>
          <a:p>
            <a:pPr marL="687388" lvl="1" indent="-341313">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Used to scale </a:t>
            </a:r>
            <a:r>
              <a:rPr lang="en-US" altLang="en-US" sz="1600" i="1" dirty="0" err="1">
                <a:latin typeface="Helvetica" panose="020B0604020202020204" pitchFamily="34" charset="0"/>
                <a:ea typeface="Helvetica Neue" charset="0"/>
                <a:cs typeface="Helvetica" panose="020B0604020202020204" pitchFamily="34" charset="0"/>
              </a:rPr>
              <a:t>EDcost</a:t>
            </a:r>
            <a:r>
              <a:rPr lang="en-US" altLang="en-US" sz="1600" dirty="0">
                <a:latin typeface="Helvetica" panose="020B0604020202020204" pitchFamily="34" charset="0"/>
                <a:ea typeface="Helvetica Neue" charset="0"/>
                <a:cs typeface="Helvetica" panose="020B0604020202020204" pitchFamily="34" charset="0"/>
              </a:rPr>
              <a:t> for comparison across census tracts</a:t>
            </a:r>
          </a:p>
          <a:p>
            <a:pPr marL="1027113" lvl="2" indent="-339725">
              <a:buFont typeface="Arial" panose="020B0604020202020204" pitchFamily="34" charset="0"/>
              <a:buChar char="•"/>
            </a:pPr>
            <a:r>
              <a:rPr lang="en-US" altLang="en-US" sz="1400" dirty="0">
                <a:latin typeface="Helvetica" panose="020B0604020202020204" pitchFamily="34" charset="0"/>
                <a:ea typeface="Helvetica Neue" charset="0"/>
                <a:cs typeface="Helvetica" panose="020B0604020202020204" pitchFamily="34" charset="0"/>
              </a:rPr>
              <a:t>Each census tract has different numbers of enrollees, and each enrollee can have a different length of enrollment</a:t>
            </a:r>
          </a:p>
          <a:p>
            <a:pPr marL="1027113" lvl="2" indent="-339725">
              <a:buFont typeface="Arial" panose="020B0604020202020204" pitchFamily="34" charset="0"/>
              <a:buChar char="•"/>
            </a:pPr>
            <a:r>
              <a:rPr lang="en-US" altLang="en-US" sz="1400" dirty="0">
                <a:latin typeface="Helvetica" panose="020B0604020202020204" pitchFamily="34" charset="0"/>
                <a:ea typeface="Helvetica Neue" charset="0"/>
                <a:cs typeface="Helvetica" panose="020B0604020202020204" pitchFamily="34" charset="0"/>
              </a:rPr>
              <a:t>Scaling </a:t>
            </a:r>
            <a:r>
              <a:rPr lang="en-US" altLang="en-US" sz="1400" i="1" dirty="0" err="1">
                <a:latin typeface="Helvetica" panose="020B0604020202020204" pitchFamily="34" charset="0"/>
                <a:ea typeface="Helvetica Neue" charset="0"/>
                <a:cs typeface="Helvetica" panose="020B0604020202020204" pitchFamily="34" charset="0"/>
              </a:rPr>
              <a:t>EDcost</a:t>
            </a:r>
            <a:r>
              <a:rPr lang="en-US" altLang="en-US" sz="1400" dirty="0">
                <a:latin typeface="Helvetica" panose="020B0604020202020204" pitchFamily="34" charset="0"/>
                <a:ea typeface="Helvetica Neue" charset="0"/>
                <a:cs typeface="Helvetica" panose="020B0604020202020204" pitchFamily="34" charset="0"/>
              </a:rPr>
              <a:t> by </a:t>
            </a:r>
            <a:r>
              <a:rPr lang="en-US" altLang="en-US" sz="1400" i="1" dirty="0">
                <a:latin typeface="Helvetica" panose="020B0604020202020204" pitchFamily="34" charset="0"/>
                <a:ea typeface="Helvetica Neue" charset="0"/>
                <a:cs typeface="Helvetica" panose="020B0604020202020204" pitchFamily="34" charset="0"/>
              </a:rPr>
              <a:t>PMPM</a:t>
            </a:r>
            <a:r>
              <a:rPr lang="en-US" altLang="en-US" sz="1400" dirty="0">
                <a:latin typeface="Helvetica" panose="020B0604020202020204" pitchFamily="34" charset="0"/>
                <a:ea typeface="Helvetica Neue" charset="0"/>
                <a:cs typeface="Helvetica" panose="020B0604020202020204" pitchFamily="34" charset="0"/>
              </a:rPr>
              <a:t> allows a comparison of cost per enrollee month</a:t>
            </a:r>
          </a:p>
        </p:txBody>
      </p:sp>
      <p:sp>
        <p:nvSpPr>
          <p:cNvPr id="2" name="标题 1"/>
          <p:cNvSpPr>
            <a:spLocks noGrp="1"/>
          </p:cNvSpPr>
          <p:nvPr>
            <p:ph type="title"/>
          </p:nvPr>
        </p:nvSpPr>
        <p:spPr>
          <a:xfrm>
            <a:off x="74325" y="153299"/>
            <a:ext cx="8562392" cy="623538"/>
          </a:xfrm>
        </p:spPr>
        <p:txBody>
          <a:bodyPr/>
          <a:lstStyle/>
          <a:p>
            <a:r>
              <a:rPr kumimoji="1" lang="en-US" altLang="zh-CN" sz="3600" dirty="0">
                <a:latin typeface="Vitesse"/>
              </a:rPr>
              <a:t>Response</a:t>
            </a:r>
            <a:r>
              <a:rPr kumimoji="1" lang="zh-CN" altLang="en-US" sz="3600" dirty="0">
                <a:latin typeface="Vitesse"/>
              </a:rPr>
              <a:t> </a:t>
            </a:r>
            <a:r>
              <a:rPr kumimoji="1" lang="en-US" altLang="zh-CN" sz="3600" dirty="0">
                <a:latin typeface="Vitesse"/>
              </a:rPr>
              <a:t>Variable</a:t>
            </a:r>
            <a:endParaRPr kumimoji="1" lang="zh-CN" altLang="en-US" sz="3600" dirty="0">
              <a:latin typeface="Vitesse"/>
            </a:endParaRPr>
          </a:p>
        </p:txBody>
      </p:sp>
    </p:spTree>
    <p:custDataLst>
      <p:tags r:id="rId1"/>
    </p:custDataLst>
    <p:extLst>
      <p:ext uri="{BB962C8B-B14F-4D97-AF65-F5344CB8AC3E}">
        <p14:creationId xmlns:p14="http://schemas.microsoft.com/office/powerpoint/2010/main" val="1536584492"/>
      </p:ext>
    </p:extLst>
  </p:cSld>
  <p:clrMapOvr>
    <a:masterClrMapping/>
  </p:clrMapOvr>
  <p:extLst mod="1">
    <p:ext uri="{6950BFC3-D8DA-4A85-94F7-54DA5524770B}">
      <p188:commentRel xmlns="" xmlns:p188="http://schemas.microsoft.com/office/powerpoint/2018/8/main" r:id="rId4"/>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Box 1"/>
          <p:cNvSpPr txBox="1">
            <a:spLocks noChangeArrowheads="1"/>
          </p:cNvSpPr>
          <p:nvPr/>
        </p:nvSpPr>
        <p:spPr bwMode="auto">
          <a:xfrm>
            <a:off x="102899" y="898818"/>
            <a:ext cx="8316885" cy="40472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339725" indent="-339725">
              <a:buFont typeface="Arial" panose="020B0604020202020204" pitchFamily="34" charset="0"/>
              <a:buChar char="•"/>
            </a:pPr>
            <a:r>
              <a:rPr lang="en-US" altLang="en-US" sz="1800" b="1" dirty="0">
                <a:latin typeface="Helvetica" panose="020B0604020202020204" pitchFamily="34" charset="0"/>
                <a:ea typeface="Helvetica Neue" charset="0"/>
                <a:cs typeface="Helvetica" panose="020B0604020202020204" pitchFamily="34" charset="0"/>
              </a:rPr>
              <a:t>Location</a:t>
            </a:r>
          </a:p>
          <a:p>
            <a:pPr marL="687388" lvl="1" indent="-341313">
              <a:buFont typeface="Arial" panose="020B0604020202020204" pitchFamily="34" charset="0"/>
              <a:buChar char="•"/>
            </a:pPr>
            <a:r>
              <a:rPr lang="en-US" altLang="en-US" sz="1600" i="1" dirty="0">
                <a:latin typeface="Helvetica" panose="020B0604020202020204" pitchFamily="34" charset="0"/>
                <a:ea typeface="Helvetica Neue" charset="0"/>
                <a:cs typeface="Helvetica" panose="020B0604020202020204" pitchFamily="34" charset="0"/>
              </a:rPr>
              <a:t>State</a:t>
            </a:r>
            <a:r>
              <a:rPr lang="en-US" altLang="en-US" sz="1600" dirty="0">
                <a:latin typeface="Helvetica" panose="020B0604020202020204" pitchFamily="34" charset="0"/>
                <a:ea typeface="Helvetica Neue" charset="0"/>
                <a:cs typeface="Helvetica" panose="020B0604020202020204" pitchFamily="34" charset="0"/>
              </a:rPr>
              <a:t> and </a:t>
            </a:r>
            <a:r>
              <a:rPr lang="en-US" altLang="en-US" sz="1600" i="1" dirty="0">
                <a:latin typeface="Helvetica" panose="020B0604020202020204" pitchFamily="34" charset="0"/>
                <a:ea typeface="Helvetica Neue" charset="0"/>
                <a:cs typeface="Helvetica" panose="020B0604020202020204" pitchFamily="34" charset="0"/>
              </a:rPr>
              <a:t>GEOID</a:t>
            </a:r>
            <a:r>
              <a:rPr lang="en-US" altLang="en-US" sz="1600" dirty="0">
                <a:latin typeface="Helvetica" panose="020B0604020202020204" pitchFamily="34" charset="0"/>
                <a:ea typeface="Helvetica Neue" charset="0"/>
                <a:cs typeface="Helvetica" panose="020B0604020202020204" pitchFamily="34" charset="0"/>
              </a:rPr>
              <a:t> give state and census tract identification</a:t>
            </a:r>
            <a:endParaRPr lang="en-US" altLang="en-US" sz="1600" b="1" dirty="0">
              <a:latin typeface="Helvetica" panose="020B0604020202020204" pitchFamily="34" charset="0"/>
              <a:ea typeface="Helvetica Neue" charset="0"/>
              <a:cs typeface="Helvetica" panose="020B0604020202020204" pitchFamily="34" charset="0"/>
            </a:endParaRPr>
          </a:p>
          <a:p>
            <a:pPr marL="339725" indent="-339725">
              <a:spcBef>
                <a:spcPts val="600"/>
              </a:spcBef>
              <a:buFont typeface="Arial" panose="020B0604020202020204" pitchFamily="34" charset="0"/>
              <a:buChar char="•"/>
            </a:pPr>
            <a:r>
              <a:rPr lang="en-US" altLang="en-US" sz="1800" b="1" dirty="0">
                <a:latin typeface="Helvetica" panose="020B0604020202020204" pitchFamily="34" charset="0"/>
                <a:ea typeface="Helvetica Neue" charset="0"/>
                <a:cs typeface="Helvetica" panose="020B0604020202020204" pitchFamily="34" charset="0"/>
              </a:rPr>
              <a:t>Utilization</a:t>
            </a:r>
          </a:p>
          <a:p>
            <a:pPr marL="687388" lvl="1" indent="-341313">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Data must be scaled by </a:t>
            </a:r>
            <a:r>
              <a:rPr lang="en-US" altLang="en-US" sz="1600" i="1" dirty="0">
                <a:latin typeface="Helvetica" panose="020B0604020202020204" pitchFamily="34" charset="0"/>
                <a:ea typeface="Helvetica Neue" charset="0"/>
                <a:cs typeface="Helvetica" panose="020B0604020202020204" pitchFamily="34" charset="0"/>
              </a:rPr>
              <a:t>PMPM</a:t>
            </a:r>
            <a:endParaRPr lang="en-US" altLang="en-US" sz="1600" dirty="0">
              <a:latin typeface="Helvetica" panose="020B0604020202020204" pitchFamily="34" charset="0"/>
              <a:ea typeface="Helvetica Neue" charset="0"/>
              <a:cs typeface="Helvetica" panose="020B0604020202020204" pitchFamily="34" charset="0"/>
            </a:endParaRPr>
          </a:p>
          <a:p>
            <a:pPr marL="1027113" lvl="2" indent="-339725">
              <a:buFont typeface="Arial" panose="020B0604020202020204" pitchFamily="34" charset="0"/>
              <a:buChar char="•"/>
            </a:pPr>
            <a:r>
              <a:rPr lang="en-US" altLang="en-US" sz="1400" i="1" dirty="0">
                <a:latin typeface="Helvetica" panose="020B0604020202020204" pitchFamily="34" charset="0"/>
                <a:ea typeface="Helvetica Neue" charset="0"/>
                <a:cs typeface="Helvetica" panose="020B0604020202020204" pitchFamily="34" charset="0"/>
              </a:rPr>
              <a:t>ED </a:t>
            </a:r>
            <a:r>
              <a:rPr lang="en-US" altLang="en-US" sz="1400" dirty="0">
                <a:latin typeface="Helvetica" panose="020B0604020202020204" pitchFamily="34" charset="0"/>
                <a:ea typeface="Helvetica Neue" charset="0"/>
                <a:cs typeface="Helvetica" panose="020B0604020202020204" pitchFamily="34" charset="0"/>
              </a:rPr>
              <a:t>(number of emergency department claims)</a:t>
            </a:r>
          </a:p>
          <a:p>
            <a:pPr marL="1027113" lvl="2" indent="-339725">
              <a:buFont typeface="Arial" panose="020B0604020202020204" pitchFamily="34" charset="0"/>
              <a:buChar char="•"/>
            </a:pPr>
            <a:r>
              <a:rPr lang="en-US" altLang="en-US" sz="1400" i="1" dirty="0">
                <a:latin typeface="Helvetica" panose="020B0604020202020204" pitchFamily="34" charset="0"/>
                <a:ea typeface="Helvetica Neue" charset="0"/>
                <a:cs typeface="Helvetica" panose="020B0604020202020204" pitchFamily="34" charset="0"/>
              </a:rPr>
              <a:t>HO </a:t>
            </a:r>
            <a:r>
              <a:rPr lang="en-US" altLang="en-US" sz="1400" dirty="0">
                <a:latin typeface="Helvetica" panose="020B0604020202020204" pitchFamily="34" charset="0"/>
                <a:ea typeface="Helvetica Neue" charset="0"/>
                <a:cs typeface="Helvetica" panose="020B0604020202020204" pitchFamily="34" charset="0"/>
              </a:rPr>
              <a:t>(number of hospitalization claims)</a:t>
            </a:r>
          </a:p>
          <a:p>
            <a:pPr marL="1027113" lvl="2" indent="-339725">
              <a:buFont typeface="Arial" panose="020B0604020202020204" pitchFamily="34" charset="0"/>
              <a:buChar char="•"/>
            </a:pPr>
            <a:r>
              <a:rPr lang="en-US" altLang="en-US" sz="1400" i="1" dirty="0">
                <a:latin typeface="Helvetica" panose="020B0604020202020204" pitchFamily="34" charset="0"/>
                <a:ea typeface="Helvetica Neue" charset="0"/>
                <a:cs typeface="Helvetica" panose="020B0604020202020204" pitchFamily="34" charset="0"/>
              </a:rPr>
              <a:t>PO</a:t>
            </a:r>
            <a:r>
              <a:rPr lang="en-US" altLang="en-US" sz="1400" dirty="0">
                <a:latin typeface="Helvetica" panose="020B0604020202020204" pitchFamily="34" charset="0"/>
                <a:ea typeface="Helvetica Neue" charset="0"/>
                <a:cs typeface="Helvetica" panose="020B0604020202020204" pitchFamily="34" charset="0"/>
              </a:rPr>
              <a:t> (number of physician office claims)</a:t>
            </a:r>
          </a:p>
          <a:p>
            <a:pPr marL="339725" indent="-339725">
              <a:spcBef>
                <a:spcPts val="600"/>
              </a:spcBef>
              <a:buFont typeface="Arial" panose="020B0604020202020204" pitchFamily="34" charset="0"/>
              <a:buChar char="•"/>
            </a:pPr>
            <a:r>
              <a:rPr lang="en-US" altLang="en-US" sz="1800" b="1" dirty="0">
                <a:latin typeface="Helvetica" panose="020B0604020202020204" pitchFamily="34" charset="0"/>
                <a:ea typeface="Helvetica Neue" charset="0"/>
                <a:cs typeface="Helvetica" panose="020B0604020202020204" pitchFamily="34" charset="0"/>
              </a:rPr>
              <a:t>Population characteristics</a:t>
            </a:r>
          </a:p>
          <a:p>
            <a:pPr marL="687388" lvl="1" indent="-341313">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Percentages of Medicaid-enrolled adults of various populations</a:t>
            </a:r>
          </a:p>
          <a:p>
            <a:pPr marL="1027113" lvl="2" indent="-339725">
              <a:buFont typeface="Arial" panose="020B0604020202020204" pitchFamily="34" charset="0"/>
              <a:buChar char="•"/>
            </a:pPr>
            <a:r>
              <a:rPr lang="en-US" altLang="en-US" sz="1400" i="1" dirty="0" err="1">
                <a:latin typeface="Helvetica" panose="020B0604020202020204" pitchFamily="34" charset="0"/>
                <a:ea typeface="Helvetica Neue" charset="0"/>
                <a:cs typeface="Helvetica" panose="020B0604020202020204" pitchFamily="34" charset="0"/>
              </a:rPr>
              <a:t>BlackPop</a:t>
            </a:r>
            <a:r>
              <a:rPr lang="en-US" altLang="en-US" sz="1400" dirty="0">
                <a:latin typeface="Helvetica" panose="020B0604020202020204" pitchFamily="34" charset="0"/>
                <a:ea typeface="Helvetica Neue" charset="0"/>
                <a:cs typeface="Helvetica" panose="020B0604020202020204" pitchFamily="34" charset="0"/>
              </a:rPr>
              <a:t>, </a:t>
            </a:r>
            <a:r>
              <a:rPr lang="en-US" altLang="en-US" sz="1400" i="1" dirty="0" err="1">
                <a:latin typeface="Helvetica" panose="020B0604020202020204" pitchFamily="34" charset="0"/>
                <a:ea typeface="Helvetica Neue" charset="0"/>
                <a:cs typeface="Helvetica" panose="020B0604020202020204" pitchFamily="34" charset="0"/>
              </a:rPr>
              <a:t>WhitePop</a:t>
            </a:r>
            <a:r>
              <a:rPr lang="en-US" altLang="en-US" sz="1400" dirty="0">
                <a:latin typeface="Helvetica" panose="020B0604020202020204" pitchFamily="34" charset="0"/>
                <a:ea typeface="Helvetica Neue" charset="0"/>
                <a:cs typeface="Helvetica" panose="020B0604020202020204" pitchFamily="34" charset="0"/>
              </a:rPr>
              <a:t>, </a:t>
            </a:r>
            <a:r>
              <a:rPr lang="en-US" altLang="en-US" sz="1400" i="1" dirty="0" err="1">
                <a:latin typeface="Helvetica" panose="020B0604020202020204" pitchFamily="34" charset="0"/>
                <a:ea typeface="Helvetica Neue" charset="0"/>
                <a:cs typeface="Helvetica" panose="020B0604020202020204" pitchFamily="34" charset="0"/>
              </a:rPr>
              <a:t>OtherPop</a:t>
            </a:r>
            <a:r>
              <a:rPr lang="en-US" altLang="en-US" sz="1400" dirty="0">
                <a:latin typeface="Helvetica" panose="020B0604020202020204" pitchFamily="34" charset="0"/>
                <a:ea typeface="Helvetica Neue" charset="0"/>
                <a:cs typeface="Helvetica" panose="020B0604020202020204" pitchFamily="34" charset="0"/>
              </a:rPr>
              <a:t> (race/ethnicity)</a:t>
            </a:r>
          </a:p>
          <a:p>
            <a:pPr marL="1027113" lvl="2" indent="-339725">
              <a:buFont typeface="Arial" panose="020B0604020202020204" pitchFamily="34" charset="0"/>
              <a:buChar char="•"/>
            </a:pPr>
            <a:r>
              <a:rPr lang="en-US" altLang="en-US" sz="1400" i="1" dirty="0" err="1">
                <a:latin typeface="Helvetica" panose="020B0604020202020204" pitchFamily="34" charset="0"/>
                <a:ea typeface="Helvetica Neue" charset="0"/>
                <a:cs typeface="Helvetica" panose="020B0604020202020204" pitchFamily="34" charset="0"/>
              </a:rPr>
              <a:t>HealthyPop</a:t>
            </a:r>
            <a:r>
              <a:rPr lang="en-US" altLang="en-US" sz="1400" dirty="0">
                <a:latin typeface="Helvetica" panose="020B0604020202020204" pitchFamily="34" charset="0"/>
                <a:ea typeface="Helvetica Neue" charset="0"/>
                <a:cs typeface="Helvetica" panose="020B0604020202020204" pitchFamily="34" charset="0"/>
              </a:rPr>
              <a:t>, </a:t>
            </a:r>
            <a:r>
              <a:rPr lang="en-US" altLang="en-US" sz="1400" i="1" dirty="0" err="1">
                <a:latin typeface="Helvetica" panose="020B0604020202020204" pitchFamily="34" charset="0"/>
                <a:ea typeface="Helvetica Neue" charset="0"/>
                <a:cs typeface="Helvetica" panose="020B0604020202020204" pitchFamily="34" charset="0"/>
              </a:rPr>
              <a:t>ChronicPop</a:t>
            </a:r>
            <a:r>
              <a:rPr lang="en-US" altLang="en-US" sz="1400" i="1" dirty="0">
                <a:latin typeface="Helvetica" panose="020B0604020202020204" pitchFamily="34" charset="0"/>
                <a:ea typeface="Helvetica Neue" charset="0"/>
                <a:cs typeface="Helvetica" panose="020B0604020202020204" pitchFamily="34" charset="0"/>
              </a:rPr>
              <a:t>, </a:t>
            </a:r>
            <a:r>
              <a:rPr lang="en-US" altLang="en-US" sz="1400" i="1" dirty="0" err="1">
                <a:latin typeface="Helvetica" panose="020B0604020202020204" pitchFamily="34" charset="0"/>
                <a:ea typeface="Helvetica Neue" charset="0"/>
                <a:cs typeface="Helvetica" panose="020B0604020202020204" pitchFamily="34" charset="0"/>
              </a:rPr>
              <a:t>ComplexPop</a:t>
            </a:r>
            <a:r>
              <a:rPr lang="en-US" altLang="en-US" sz="1400" dirty="0">
                <a:latin typeface="Helvetica" panose="020B0604020202020204" pitchFamily="34" charset="0"/>
                <a:ea typeface="Helvetica Neue" charset="0"/>
                <a:cs typeface="Helvetica" panose="020B0604020202020204" pitchFamily="34" charset="0"/>
              </a:rPr>
              <a:t> (health conditions)</a:t>
            </a:r>
          </a:p>
          <a:p>
            <a:pPr marL="339725" indent="-339725">
              <a:spcBef>
                <a:spcPts val="600"/>
              </a:spcBef>
              <a:buFont typeface="Arial" panose="020B0604020202020204" pitchFamily="34" charset="0"/>
              <a:buChar char="•"/>
            </a:pPr>
            <a:r>
              <a:rPr lang="en-US" altLang="en-US" sz="1800" b="1" dirty="0">
                <a:latin typeface="Helvetica" panose="020B0604020202020204" pitchFamily="34" charset="0"/>
                <a:ea typeface="Helvetica Neue" charset="0"/>
                <a:cs typeface="Helvetica" panose="020B0604020202020204" pitchFamily="34" charset="0"/>
              </a:rPr>
              <a:t>Socioeconomic and Health Environment Factors</a:t>
            </a:r>
            <a:r>
              <a:rPr lang="en-US" altLang="en-US" sz="1800" dirty="0">
                <a:latin typeface="Helvetica" panose="020B0604020202020204" pitchFamily="34" charset="0"/>
                <a:ea typeface="Helvetica Neue" charset="0"/>
                <a:cs typeface="Helvetica" panose="020B0604020202020204" pitchFamily="34" charset="0"/>
              </a:rPr>
              <a:t> </a:t>
            </a:r>
          </a:p>
          <a:p>
            <a:pPr marL="687388" lvl="1" indent="-341313">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13 variables quantifying other possibly health-related factors</a:t>
            </a:r>
          </a:p>
          <a:p>
            <a:pPr marL="1027113" lvl="2" indent="-339725">
              <a:buFont typeface="Arial" panose="020B0604020202020204" pitchFamily="34" charset="0"/>
              <a:buChar char="•"/>
            </a:pPr>
            <a:r>
              <a:rPr lang="en-US" altLang="en-US" sz="1400" dirty="0">
                <a:latin typeface="Helvetica" panose="020B0604020202020204" pitchFamily="34" charset="0"/>
                <a:ea typeface="Helvetica Neue" charset="0"/>
                <a:cs typeface="Helvetica" panose="020B0604020202020204" pitchFamily="34" charset="0"/>
              </a:rPr>
              <a:t>Includes unemployment, median income, urbanicity of the census tract, access to primary care, health rankings, and others</a:t>
            </a:r>
            <a:endParaRPr lang="en-US" altLang="en-US" sz="1400" b="1" dirty="0">
              <a:latin typeface="Helvetica" panose="020B0604020202020204" pitchFamily="34" charset="0"/>
              <a:ea typeface="Helvetica Neue" charset="0"/>
              <a:cs typeface="Helvetica" panose="020B0604020202020204" pitchFamily="34" charset="0"/>
            </a:endParaRPr>
          </a:p>
        </p:txBody>
      </p:sp>
      <p:sp>
        <p:nvSpPr>
          <p:cNvPr id="2" name="标题 1"/>
          <p:cNvSpPr>
            <a:spLocks noGrp="1"/>
          </p:cNvSpPr>
          <p:nvPr>
            <p:ph type="title"/>
          </p:nvPr>
        </p:nvSpPr>
        <p:spPr>
          <a:xfrm>
            <a:off x="74325" y="161391"/>
            <a:ext cx="8562392" cy="566894"/>
          </a:xfrm>
        </p:spPr>
        <p:txBody>
          <a:bodyPr/>
          <a:lstStyle/>
          <a:p>
            <a:r>
              <a:rPr kumimoji="1" lang="en-US" altLang="zh-CN" sz="3600" dirty="0">
                <a:latin typeface="Vitesse"/>
              </a:rPr>
              <a:t>Predicting</a:t>
            </a:r>
            <a:r>
              <a:rPr kumimoji="1" lang="zh-CN" altLang="en-US" sz="3600" dirty="0">
                <a:latin typeface="Vitesse"/>
              </a:rPr>
              <a:t> </a:t>
            </a:r>
            <a:r>
              <a:rPr kumimoji="1" lang="en-US" altLang="zh-CN" sz="3600" dirty="0">
                <a:latin typeface="Vitesse"/>
              </a:rPr>
              <a:t>Variables</a:t>
            </a:r>
            <a:endParaRPr kumimoji="1" lang="zh-CN" altLang="en-US" sz="3600" dirty="0">
              <a:latin typeface="Vitesse"/>
            </a:endParaRPr>
          </a:p>
        </p:txBody>
      </p:sp>
    </p:spTree>
    <p:custDataLst>
      <p:tags r:id="rId1"/>
    </p:custDataLst>
    <p:extLst>
      <p:ext uri="{BB962C8B-B14F-4D97-AF65-F5344CB8AC3E}">
        <p14:creationId xmlns:p14="http://schemas.microsoft.com/office/powerpoint/2010/main" val="327313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315">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315">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315">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315">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31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Box 1"/>
          <p:cNvSpPr txBox="1">
            <a:spLocks noChangeArrowheads="1"/>
          </p:cNvSpPr>
          <p:nvPr/>
        </p:nvSpPr>
        <p:spPr bwMode="auto">
          <a:xfrm>
            <a:off x="102899" y="902680"/>
            <a:ext cx="8610727" cy="38625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defRPr/>
            </a:pPr>
            <a:r>
              <a:rPr lang="en-US" sz="1800" b="1" dirty="0">
                <a:latin typeface="Helvetica" panose="020B0604020202020204" pitchFamily="34" charset="0"/>
                <a:ea typeface="Helvetica Neue" charset="0"/>
                <a:cs typeface="Helvetica" panose="020B0604020202020204" pitchFamily="34" charset="0"/>
              </a:rPr>
              <a:t>Selection Bias</a:t>
            </a:r>
            <a:endParaRPr lang="en-US" sz="1800" dirty="0">
              <a:latin typeface="Helvetica" panose="020B0604020202020204" pitchFamily="34" charset="0"/>
              <a:ea typeface="Helvetica Neue" charset="0"/>
              <a:cs typeface="Helvetica" panose="020B0604020202020204" pitchFamily="34" charset="0"/>
            </a:endParaRPr>
          </a:p>
          <a:p>
            <a:pPr marL="339725" indent="-339725">
              <a:buFont typeface="Arial" panose="020B0604020202020204" pitchFamily="34" charset="0"/>
              <a:buChar char="•"/>
              <a:defRPr/>
            </a:pPr>
            <a:r>
              <a:rPr lang="en-US" sz="1800" dirty="0">
                <a:latin typeface="Helvetica" panose="020B0604020202020204" pitchFamily="34" charset="0"/>
                <a:ea typeface="Helvetica Neue" charset="0"/>
                <a:cs typeface="Helvetica" panose="020B0604020202020204" pitchFamily="34" charset="0"/>
              </a:rPr>
              <a:t>Adults with chronic or complex health problems tend to need emergency services more than the healthy population</a:t>
            </a:r>
          </a:p>
          <a:p>
            <a:pPr marL="339725" indent="-339725">
              <a:spcBef>
                <a:spcPts val="600"/>
              </a:spcBef>
              <a:buFont typeface="Arial" panose="020B0604020202020204" pitchFamily="34" charset="0"/>
              <a:buChar char="•"/>
              <a:defRPr/>
            </a:pPr>
            <a:r>
              <a:rPr lang="en-US" sz="1800" dirty="0">
                <a:solidFill>
                  <a:srgbClr val="000000"/>
                </a:solidFill>
                <a:latin typeface="Helvetica" panose="020B0604020202020204" pitchFamily="34" charset="0"/>
                <a:ea typeface="Helvetica Neue" charset="0"/>
                <a:cs typeface="Helvetica" panose="020B0604020202020204" pitchFamily="34" charset="0"/>
              </a:rPr>
              <a:t>Controlling factors</a:t>
            </a:r>
          </a:p>
          <a:p>
            <a:pPr marL="687388" lvl="1" indent="-347663">
              <a:buFont typeface="Arial" panose="020B0604020202020204" pitchFamily="34" charset="0"/>
              <a:buChar char="•"/>
              <a:defRPr/>
            </a:pPr>
            <a:r>
              <a:rPr lang="en-US" altLang="en-US" sz="1600" i="1" dirty="0" err="1">
                <a:solidFill>
                  <a:srgbClr val="000000"/>
                </a:solidFill>
                <a:latin typeface="Helvetica" panose="020B0604020202020204" pitchFamily="34" charset="0"/>
                <a:ea typeface="Helvetica Neue" charset="0"/>
                <a:cs typeface="Helvetica" panose="020B0604020202020204" pitchFamily="34" charset="0"/>
              </a:rPr>
              <a:t>ChronicPop</a:t>
            </a:r>
            <a:r>
              <a:rPr lang="en-US" altLang="en-US" sz="1600" i="1" dirty="0">
                <a:solidFill>
                  <a:srgbClr val="000000"/>
                </a:solidFill>
                <a:latin typeface="Helvetica" panose="020B0604020202020204" pitchFamily="34" charset="0"/>
                <a:ea typeface="Helvetica Neue" charset="0"/>
                <a:cs typeface="Helvetica" panose="020B0604020202020204" pitchFamily="34" charset="0"/>
              </a:rPr>
              <a:t> </a:t>
            </a:r>
            <a:r>
              <a:rPr lang="en-US" altLang="en-US" sz="1600" dirty="0">
                <a:solidFill>
                  <a:srgbClr val="000000"/>
                </a:solidFill>
                <a:latin typeface="Helvetica" panose="020B0604020202020204" pitchFamily="34" charset="0"/>
                <a:ea typeface="Helvetica Neue" charset="0"/>
                <a:cs typeface="Helvetica" panose="020B0604020202020204" pitchFamily="34" charset="0"/>
              </a:rPr>
              <a:t>(percentage of population </a:t>
            </a:r>
            <a:r>
              <a:rPr lang="en-US" altLang="en-US" sz="1600" dirty="0">
                <a:latin typeface="Helvetica" panose="020B0604020202020204" pitchFamily="34" charset="0"/>
                <a:ea typeface="Helvetica Neue" charset="0"/>
                <a:cs typeface="Helvetica" panose="020B0604020202020204" pitchFamily="34" charset="0"/>
              </a:rPr>
              <a:t>with chronic conditions)</a:t>
            </a:r>
          </a:p>
          <a:p>
            <a:pPr marL="687388" lvl="1" indent="-347663">
              <a:buFont typeface="Arial" panose="020B0604020202020204" pitchFamily="34" charset="0"/>
              <a:buChar char="•"/>
              <a:defRPr/>
            </a:pPr>
            <a:r>
              <a:rPr lang="en-US" altLang="en-US" sz="1600" i="1" dirty="0" err="1">
                <a:latin typeface="Helvetica" panose="020B0604020202020204" pitchFamily="34" charset="0"/>
                <a:ea typeface="Helvetica Neue" charset="0"/>
                <a:cs typeface="Helvetica" panose="020B0604020202020204" pitchFamily="34" charset="0"/>
              </a:rPr>
              <a:t>ComplexPop</a:t>
            </a:r>
            <a:r>
              <a:rPr lang="en-US" altLang="en-US" sz="1600" dirty="0">
                <a:latin typeface="Helvetica" panose="020B0604020202020204" pitchFamily="34" charset="0"/>
                <a:ea typeface="Helvetica Neue" charset="0"/>
                <a:cs typeface="Helvetica" panose="020B0604020202020204" pitchFamily="34" charset="0"/>
              </a:rPr>
              <a:t> (percentage with complex health problems)</a:t>
            </a:r>
          </a:p>
          <a:p>
            <a:pPr defTabSz="342900">
              <a:defRPr/>
            </a:pPr>
            <a:endParaRPr lang="en-US" altLang="en-US" sz="1800" dirty="0">
              <a:latin typeface="Helvetica" panose="020B0604020202020204" pitchFamily="34" charset="0"/>
              <a:ea typeface="Helvetica Neue" charset="0"/>
              <a:cs typeface="Helvetica" panose="020B0604020202020204" pitchFamily="34" charset="0"/>
            </a:endParaRPr>
          </a:p>
          <a:p>
            <a:pPr defTabSz="342900">
              <a:defRPr/>
            </a:pPr>
            <a:r>
              <a:rPr lang="en-US" altLang="en-US" sz="1800" b="1" dirty="0">
                <a:latin typeface="Helvetica" panose="020B0604020202020204" pitchFamily="34" charset="0"/>
                <a:ea typeface="Helvetica Neue" charset="0"/>
                <a:cs typeface="Helvetica" panose="020B0604020202020204" pitchFamily="34" charset="0"/>
              </a:rPr>
              <a:t>Confounding Variable</a:t>
            </a:r>
            <a:endParaRPr lang="en-US" altLang="en-US" sz="1800" dirty="0">
              <a:latin typeface="Helvetica" panose="020B0604020202020204" pitchFamily="34" charset="0"/>
              <a:ea typeface="Helvetica Neue" charset="0"/>
              <a:cs typeface="Helvetica" panose="020B0604020202020204" pitchFamily="34" charset="0"/>
            </a:endParaRPr>
          </a:p>
          <a:p>
            <a:pPr marL="339725" indent="-339725" defTabSz="342900">
              <a:buFont typeface="Arial" panose="020B0604020202020204" pitchFamily="34" charset="0"/>
              <a:buChar char="•"/>
              <a:defRPr/>
            </a:pPr>
            <a:r>
              <a:rPr lang="en-US" altLang="en-US" sz="1800" dirty="0">
                <a:latin typeface="Helvetica" panose="020B0604020202020204" pitchFamily="34" charset="0"/>
                <a:ea typeface="Helvetica Neue" charset="0"/>
                <a:cs typeface="Helvetica" panose="020B0604020202020204" pitchFamily="34" charset="0"/>
              </a:rPr>
              <a:t>The number of ED claims correlates with both response and predicting variables</a:t>
            </a:r>
          </a:p>
          <a:p>
            <a:pPr marL="687388" indent="-347663" defTabSz="342900">
              <a:buFont typeface="Arial" panose="020B0604020202020204" pitchFamily="34" charset="0"/>
              <a:buChar char="•"/>
              <a:defRPr/>
            </a:pPr>
            <a:r>
              <a:rPr lang="en-US" altLang="en-US" sz="1600" dirty="0">
                <a:latin typeface="Helvetica" panose="020B0604020202020204" pitchFamily="34" charset="0"/>
                <a:ea typeface="Helvetica Neue" charset="0"/>
                <a:cs typeface="Helvetica" panose="020B0604020202020204" pitchFamily="34" charset="0"/>
              </a:rPr>
              <a:t>It is a measure of the utilization of the emergency department</a:t>
            </a:r>
          </a:p>
          <a:p>
            <a:pPr marL="1027113" indent="-339725" defTabSz="342900">
              <a:buFont typeface="Arial" panose="020B0604020202020204" pitchFamily="34" charset="0"/>
              <a:buChar char="•"/>
              <a:defRPr/>
            </a:pPr>
            <a:r>
              <a:rPr lang="en-US" altLang="en-US" sz="1400" dirty="0">
                <a:latin typeface="Helvetica" panose="020B0604020202020204" pitchFamily="34" charset="0"/>
                <a:ea typeface="Helvetica Neue" charset="0"/>
                <a:cs typeface="Helvetica" panose="020B0604020202020204" pitchFamily="34" charset="0"/>
              </a:rPr>
              <a:t>Utilization directly leads to ED healthcare costs</a:t>
            </a:r>
          </a:p>
          <a:p>
            <a:pPr marL="1027113" indent="-339725" defTabSz="342900">
              <a:buFont typeface="Arial" panose="020B0604020202020204" pitchFamily="34" charset="0"/>
              <a:buChar char="•"/>
              <a:defRPr/>
            </a:pPr>
            <a:r>
              <a:rPr lang="en-US" altLang="en-US" sz="1400" dirty="0">
                <a:latin typeface="Helvetica" panose="020B0604020202020204" pitchFamily="34" charset="0"/>
                <a:ea typeface="Helvetica Neue" charset="0"/>
                <a:cs typeface="Helvetica" panose="020B0604020202020204" pitchFamily="34" charset="0"/>
              </a:rPr>
              <a:t>It is therefore a confounding variable</a:t>
            </a:r>
          </a:p>
          <a:p>
            <a:pPr marL="1027113" indent="-339725" defTabSz="342900">
              <a:buFont typeface="Arial" panose="020B0604020202020204" pitchFamily="34" charset="0"/>
              <a:buChar char="•"/>
              <a:defRPr/>
            </a:pPr>
            <a:r>
              <a:rPr lang="en-US" altLang="en-US" sz="1400" dirty="0">
                <a:latin typeface="Helvetica" panose="020B0604020202020204" pitchFamily="34" charset="0"/>
                <a:ea typeface="Helvetica Neue" charset="0"/>
                <a:cs typeface="Helvetica" panose="020B0604020202020204" pitchFamily="34" charset="0"/>
              </a:rPr>
              <a:t>Do not include this confounding variable in the model</a:t>
            </a:r>
            <a:endParaRPr lang="en-US" altLang="en-US" sz="1800" dirty="0">
              <a:latin typeface="Helvetica" panose="020B0604020202020204" pitchFamily="34" charset="0"/>
              <a:ea typeface="Helvetica Neue" charset="0"/>
              <a:cs typeface="Helvetica" panose="020B0604020202020204" pitchFamily="34" charset="0"/>
            </a:endParaRPr>
          </a:p>
        </p:txBody>
      </p:sp>
      <p:sp>
        <p:nvSpPr>
          <p:cNvPr id="2" name="标题 1"/>
          <p:cNvSpPr>
            <a:spLocks noGrp="1"/>
          </p:cNvSpPr>
          <p:nvPr>
            <p:ph type="title"/>
          </p:nvPr>
        </p:nvSpPr>
        <p:spPr>
          <a:xfrm>
            <a:off x="90509" y="153299"/>
            <a:ext cx="8562392" cy="631630"/>
          </a:xfrm>
        </p:spPr>
        <p:txBody>
          <a:bodyPr/>
          <a:lstStyle/>
          <a:p>
            <a:r>
              <a:rPr kumimoji="1" lang="en-US" altLang="zh-CN" sz="3600" dirty="0">
                <a:latin typeface="Vitesse"/>
              </a:rPr>
              <a:t>Controlling</a:t>
            </a:r>
            <a:r>
              <a:rPr kumimoji="1" lang="zh-CN" altLang="en-US" sz="3600" dirty="0">
                <a:latin typeface="Vitesse"/>
              </a:rPr>
              <a:t> </a:t>
            </a:r>
            <a:r>
              <a:rPr kumimoji="1" lang="en-US" altLang="zh-CN" sz="3600" dirty="0">
                <a:latin typeface="Vitesse"/>
              </a:rPr>
              <a:t>Variables</a:t>
            </a:r>
            <a:endParaRPr kumimoji="1" lang="zh-CN" altLang="en-US" sz="3600" dirty="0">
              <a:latin typeface="Vitesse"/>
            </a:endParaRPr>
          </a:p>
        </p:txBody>
      </p:sp>
    </p:spTree>
    <p:custDataLst>
      <p:tags r:id="rId1"/>
    </p:custDataLst>
    <p:extLst>
      <p:ext uri="{BB962C8B-B14F-4D97-AF65-F5344CB8AC3E}">
        <p14:creationId xmlns:p14="http://schemas.microsoft.com/office/powerpoint/2010/main" val="1357636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05196" y="147217"/>
            <a:ext cx="4727575" cy="795337"/>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l="7759" t="6607" r="13881" b="7744"/>
          <a:stretch/>
        </p:blipFill>
        <p:spPr>
          <a:xfrm>
            <a:off x="3236327" y="1171154"/>
            <a:ext cx="2573755" cy="2813176"/>
          </a:xfrm>
          <a:prstGeom prst="rect">
            <a:avLst/>
          </a:prstGeom>
        </p:spPr>
      </p:pic>
    </p:spTree>
    <p:custDataLst>
      <p:tags r:id="rId1"/>
    </p:custDataLst>
    <p:extLst>
      <p:ext uri="{BB962C8B-B14F-4D97-AF65-F5344CB8AC3E}">
        <p14:creationId xmlns:p14="http://schemas.microsoft.com/office/powerpoint/2010/main" val="3901965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DESIGN_ID_THEMEGTX" val="nJfJsZXz"/>
  <p:tag name="ARTICULATE_DESIGN_ID_HALF PAGE SLASH" val="AhRePx0E"/>
  <p:tag name="ARTICULATE_DESIGN_ID_FULL PAGE LAYOUT" val="wYoHsvRQ"/>
  <p:tag name="ARTICULATE_DESIGN_ID_HEAD SHOT" val="w9mZo9BP"/>
  <p:tag name="ARTICULATE_DESIGN_ID_4_FULL PAGE LAYOUT" val="wKB4ipUz"/>
  <p:tag name="ARTICULATE_DESIGN_ID_1_HALF PAGE SLASH" val="iOK1A4Xx"/>
  <p:tag name="ARTICULATE_DESIGN_ID_2_HALF PAGE SLASH" val="cW0KkJJl"/>
  <p:tag name="ARTICULATE_DESIGN_ID_1_FULL PAGE LAYOUT" val="ZIK2AtbI"/>
  <p:tag name="ARTICULATE_SLIDE_COUNT" val="8"/>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2.xml><?xml version="1.0" encoding="utf-8"?>
<a:theme xmlns:a="http://schemas.openxmlformats.org/drawingml/2006/main" name="2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theme>
</file>

<file path=ppt/theme/theme3.xml><?xml version="1.0" encoding="utf-8"?>
<a:theme xmlns:a="http://schemas.openxmlformats.org/drawingml/2006/main" name="1_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10764</TotalTime>
  <Words>477</Words>
  <Application>Microsoft Office PowerPoint</Application>
  <PresentationFormat>On-screen Show (16:9)</PresentationFormat>
  <Paragraphs>67</Paragraphs>
  <Slides>8</Slides>
  <Notes>5</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8</vt:i4>
      </vt:variant>
    </vt:vector>
  </HeadingPairs>
  <TitlesOfParts>
    <vt:vector size="21" baseType="lpstr">
      <vt:lpstr>MS PGothic</vt:lpstr>
      <vt:lpstr>宋体</vt:lpstr>
      <vt:lpstr>Arial</vt:lpstr>
      <vt:lpstr>Calibri</vt:lpstr>
      <vt:lpstr>Helvetica</vt:lpstr>
      <vt:lpstr>Helvetica Neue</vt:lpstr>
      <vt:lpstr>Vitesse</vt:lpstr>
      <vt:lpstr>Vitesse Bold</vt:lpstr>
      <vt:lpstr>Vitesse Book</vt:lpstr>
      <vt:lpstr>Vitesse Medium</vt:lpstr>
      <vt:lpstr>1_Half Page Slash</vt:lpstr>
      <vt:lpstr>2_Half Page Slash</vt:lpstr>
      <vt:lpstr>1_Full Page Layout</vt:lpstr>
      <vt:lpstr>PowerPoint Presentation</vt:lpstr>
      <vt:lpstr>PowerPoint Presentation</vt:lpstr>
      <vt:lpstr>Emergency Department Healthcare Costs</vt:lpstr>
      <vt:lpstr>Emergency Department Healthcare Costs</vt:lpstr>
      <vt:lpstr>Response Variable</vt:lpstr>
      <vt:lpstr>Predicting Variables</vt:lpstr>
      <vt:lpstr>Controlling Variables</vt:lpstr>
      <vt:lpstr>PowerPoint Presentation</vt:lpstr>
    </vt:vector>
  </TitlesOfParts>
  <Company>gt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Linear Regression R Examples</dc:title>
  <dc:creator>Serban, Nicoleta</dc:creator>
  <cp:lastModifiedBy>Rodriguez, Ramon S</cp:lastModifiedBy>
  <cp:revision>632</cp:revision>
  <dcterms:created xsi:type="dcterms:W3CDTF">2017-01-02T15:06:50Z</dcterms:created>
  <dcterms:modified xsi:type="dcterms:W3CDTF">2020-06-11T20:37:25Z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ED8CE5C7-A285-402F-B505-AAC06866DD15</vt:lpwstr>
  </property>
  <property fmtid="{D5CDD505-2E9C-101B-9397-08002B2CF9AE}" pid="3" name="ArticulatePath">
    <vt:lpwstr>09-Data_Analysis-L1_revised v051420</vt:lpwstr>
  </property>
</Properties>
</file>