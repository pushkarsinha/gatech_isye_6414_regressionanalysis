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70_D629AB9A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3711" r:id="rId2"/>
    <p:sldMasterId id="2147483712" r:id="rId3"/>
  </p:sldMasterIdLst>
  <p:notesMasterIdLst>
    <p:notesMasterId r:id="rId13"/>
  </p:notesMasterIdLst>
  <p:sldIdLst>
    <p:sldId id="489" r:id="rId4"/>
    <p:sldId id="498" r:id="rId5"/>
    <p:sldId id="367" r:id="rId6"/>
    <p:sldId id="368" r:id="rId7"/>
    <p:sldId id="375" r:id="rId8"/>
    <p:sldId id="372" r:id="rId9"/>
    <p:sldId id="373" r:id="rId10"/>
    <p:sldId id="374" r:id="rId11"/>
    <p:sldId id="344" r:id="rId12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612" userDrawn="1">
          <p15:clr>
            <a:srgbClr val="A4A3A4"/>
          </p15:clr>
        </p15:guide>
        <p15:guide id="10" orient="horz" pos="31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3F6CAF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3590" autoAdjust="0"/>
  </p:normalViewPr>
  <p:slideViewPr>
    <p:cSldViewPr snapToGrid="0">
      <p:cViewPr varScale="1">
        <p:scale>
          <a:sx n="105" d="100"/>
          <a:sy n="105" d="100"/>
        </p:scale>
        <p:origin x="974" y="72"/>
      </p:cViewPr>
      <p:guideLst>
        <p:guide orient="horz" pos="1620"/>
        <p:guide pos="2880"/>
        <p:guide pos="120"/>
        <p:guide pos="360"/>
        <p:guide pos="3456"/>
        <p:guide pos="5664"/>
        <p:guide orient="horz" pos="396"/>
        <p:guide orient="horz" pos="732"/>
        <p:guide orient="horz" pos="61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comments/modernComment_170_D629AB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10C7D5-A59B-4B43-BF6F-D25F0711CF17}" authorId="{0E6B6AFC-8BFD-806F-D3AF-75EF9FEA13C7}" created="2020-04-29T06:52:16.342">
    <pc:sldMkLst xmlns:pc="http://schemas.microsoft.com/office/powerpoint/2013/main/command">
      <pc:docMk/>
      <pc:sldMk cId="3593055130" sldId="368"/>
    </pc:sldMkLst>
    <p188:txBody>
      <a:bodyPr/>
      <a:lstStyle/>
      <a:p>
        <a:r>
          <a:rPr lang="en-US"/>
          <a:t>I simplified this code and added the color and main title parameters to the histograms. Please check.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25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0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99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48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60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52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639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116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442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37037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64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39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280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376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51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432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6042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18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2618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749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343553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40033976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160181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4" Type="http://schemas.microsoft.com/office/2018/10/relationships/comments" Target="../comments/modernComment_170_D629AB9A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3091" y="16329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xmlns="" id="{0095DF2C-BA85-43DF-90C9-B8E19F8A129D}"/>
              </a:ext>
            </a:extLst>
          </p:cNvPr>
          <p:cNvSpPr txBox="1">
            <a:spLocks/>
          </p:cNvSpPr>
          <p:nvPr/>
        </p:nvSpPr>
        <p:spPr>
          <a:xfrm>
            <a:off x="87005" y="643513"/>
            <a:ext cx="6543913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  <a:t>Regression Analysis in Practice</a:t>
            </a:r>
            <a:b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</a:b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xmlns="" id="{23F41735-E17A-4BB2-9D64-E590E0356223}"/>
              </a:ext>
            </a:extLst>
          </p:cNvPr>
          <p:cNvSpPr txBox="1">
            <a:spLocks/>
          </p:cNvSpPr>
          <p:nvPr/>
        </p:nvSpPr>
        <p:spPr>
          <a:xfrm>
            <a:off x="91541" y="3887709"/>
            <a:ext cx="4000152" cy="68103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Emergency Department Healthcare Costs: Findings</a:t>
            </a:r>
          </a:p>
          <a:p>
            <a:endParaRPr kumimoji="1" lang="zh-CN" altLang="en-US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17650" y="900935"/>
            <a:ext cx="831688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Access to Primary Care</a:t>
            </a:r>
          </a:p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Availability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</a:p>
          <a:p>
            <a:pPr marL="687388" lvl="1" indent="-341313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Proxy for appointment wait times</a:t>
            </a:r>
          </a:p>
          <a:p>
            <a:pPr marL="687388" lvl="1" indent="-341313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Takes values between 0 (low wait times) and 1 (high wait times)</a:t>
            </a:r>
          </a:p>
          <a:p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Interpretation</a:t>
            </a:r>
          </a:p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 increase of 1% in lack of availability of primary care providers results in $</a:t>
            </a:r>
            <a:r>
              <a:rPr lang="en-US" altLang="en-US" sz="1800" dirty="0" smtClean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1.00075 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unit increase in ED cost PMPM, given all other predictors fixed</a:t>
            </a:r>
          </a:p>
          <a:p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Policy Research Question</a:t>
            </a:r>
          </a:p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Does improvement in availability of primary care providers reduce the cost of ED care?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85" y="153299"/>
            <a:ext cx="8562392" cy="59926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Access to Care: Intervention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774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272" y="974347"/>
            <a:ext cx="856239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dataAdult.no.out</a:t>
            </a:r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index = which(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newdata$Availability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&gt;= 0.5)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Improve Availability to at most 0.5 congestion experienced by all communities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newdata$Availability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[index] = 0.5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Predict by changing Availability with all other predictors fixed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EDCost.predict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reg.step.no.out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interval="prediction")[,1]</a:t>
            </a:r>
          </a:p>
          <a:p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Compare predicted to fitted for those communities with intervention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EDCost.diff.fitted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(fitted(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reg.step.no.out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)) -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EDCost.predict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EDCost.diff.fitted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[index],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="Difference in Expected versus Predicted ED Cost",</a:t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main="Predicted vs. Fitted with Intervention", col="orange")</a:t>
            </a:r>
          </a:p>
          <a:p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Compare predicted to observed for those communities with intervention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EDCost.diff.observed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[-909] -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EDCost.predict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EDCost.diff.observed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[index])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EDCost.diff.observed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[index],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="Difference in Observed versus Predicted ED Cost",</a:t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main="Predicted vs. Observed with Intervention", col="red")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1834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Findings: Access Intervention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3835" y="1946156"/>
            <a:ext cx="738366" cy="2689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3055130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53835" y="1946156"/>
            <a:ext cx="738366" cy="2689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6FA222C4-CCB8-42E4-84D4-BFE70DE47F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2" r="7098" b="2908"/>
          <a:stretch/>
        </p:blipFill>
        <p:spPr>
          <a:xfrm>
            <a:off x="200004" y="1173347"/>
            <a:ext cx="3899663" cy="2834456"/>
          </a:xfrm>
          <a:prstGeom prst="rect">
            <a:avLst/>
          </a:prstGeom>
        </p:spPr>
      </p:pic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xmlns="" id="{1BEB5561-2984-4245-A845-A8E2F2A828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3" r="7351" b="2884"/>
          <a:stretch/>
        </p:blipFill>
        <p:spPr>
          <a:xfrm>
            <a:off x="5090587" y="1173850"/>
            <a:ext cx="3899664" cy="2848397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xmlns="" id="{BE536C16-87FD-4D85-B31F-C18169C5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1834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Findings: Access Intervention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618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00986" y="900893"/>
            <a:ext cx="811664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96875" indent="-39687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Large variations in ED healthcare cost across the four states</a:t>
            </a:r>
          </a:p>
          <a:p>
            <a:pPr marL="684213" lvl="1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North Carolina leads and Alabama trails in ED care cost. </a:t>
            </a:r>
            <a:r>
              <a:rPr lang="en-US" altLang="en-US" sz="1800" b="1" i="1" dirty="0">
                <a:solidFill>
                  <a:schemeClr val="tx2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Why?</a:t>
            </a:r>
          </a:p>
          <a:p>
            <a:pPr marL="1027113" lvl="2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Medicaid programs vary by state</a:t>
            </a:r>
          </a:p>
          <a:p>
            <a:pPr marL="1376363" lvl="3" indent="-3492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Different health policies and reimbursements levels</a:t>
            </a:r>
            <a:endParaRPr lang="en-US" altLang="en-US" sz="18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1027113" lvl="2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North Carolina leads and Alabama trails also in ED utilization PMPM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550710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Findings: State Variations</a:t>
            </a:r>
            <a:endParaRPr kumimoji="1" lang="zh-CN" altLang="en-US" sz="3600" dirty="0">
              <a:latin typeface="Vitess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4" y="2528323"/>
            <a:ext cx="4858908" cy="19198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2581543"/>
            <a:ext cx="3505200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wrap="square" tIns="91440" bIns="91440" rtlCol="0">
            <a:spAutoFit/>
          </a:bodyPr>
          <a:lstStyle/>
          <a:p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correlation between ED cost and ED utilization is 0.899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55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94807" y="901516"/>
            <a:ext cx="8316885" cy="395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96875" indent="-39687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Utilization of physician office visits is positively associated with ED cost of care given the other predicting variables fixed in the model</a:t>
            </a:r>
          </a:p>
          <a:p>
            <a:pPr marL="687388" lvl="1" indent="-2905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Correlation between utilization of physician office visits and utilization of  ED is high (0.54)</a:t>
            </a:r>
          </a:p>
          <a:p>
            <a:pPr marL="1027113" lvl="2" indent="-339725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1087438" algn="l"/>
              </a:tabLst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There may be communities with higher utilization of healthcare in general and thus higher ED costs</a:t>
            </a:r>
          </a:p>
          <a:p>
            <a:pPr marL="396875" indent="-396875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Utilization of inpatient care (hospitalizations) is positively associated with ED cost of care given the other predicting variables fixed in the model</a:t>
            </a:r>
          </a:p>
          <a:p>
            <a:pPr marL="687388" lvl="1" indent="-2905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There is a very weak correlation between utilization of inpatient care and utilization of ED</a:t>
            </a:r>
          </a:p>
          <a:p>
            <a:pPr marL="687388" lvl="1" indent="-2905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Further investigation is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550710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Findings: Utilization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29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00033" y="900890"/>
            <a:ext cx="831688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Education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is the only socioeconomic variable</a:t>
            </a:r>
            <a:r>
              <a:rPr lang="zh-CN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selected in the reduced model</a:t>
            </a:r>
          </a:p>
          <a:p>
            <a:pPr marL="631825" lvl="1" indent="-2921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Other socioeconomic variables do not add additional explanatory power given the other predicting variables in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Availability of primary care providers is statistically significantly associated with ED cost of care</a:t>
            </a:r>
          </a:p>
          <a:p>
            <a:pPr marL="631825" lvl="1" indent="-2921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Intervening to improve availability shows a reduction in the expected ED cost of care according to the fitted model</a:t>
            </a:r>
          </a:p>
          <a:p>
            <a:pPr marL="971550" lvl="2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Such analysis relies on causal inference</a:t>
            </a:r>
          </a:p>
          <a:p>
            <a:pPr marL="1146175" lvl="3" indent="0">
              <a:tabLst>
                <a:tab pos="1374775" algn="l"/>
              </a:tabLst>
            </a:pP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Whether living in urban or rural communities is not statistically significantly associated to ED cost of care given other predicting variables in the model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55880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Findings: Other Variables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34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zb9pX7O0"/>
  <p:tag name="ARTICULATE_DESIGN_ID_4_FULL PAGE LAYOUT" val="yebBiGSl"/>
  <p:tag name="ARTICULATE_DESIGN_ID_HALF PAGE SLASH" val="UC22C6Rj"/>
  <p:tag name="ARTICULATE_DESIGN_ID_FULL PAGE LAYOUT" val="UENAqevT"/>
  <p:tag name="ARTICULATE_DESIGN_ID_HEAD SHOT" val="8u3gHt27"/>
  <p:tag name="ARTICULATE_DESIGN_ID_1_HALF PAGE SLASH" val="WWJ50TXK"/>
  <p:tag name="ARTICULATE_DESIGN_ID_2_HALF PAGE SLASH" val="pCxV9Kan"/>
  <p:tag name="ARTICULATE_DESIGN_ID_1_FULL PAGE LAYOUT" val="Q7buOjQd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11266</TotalTime>
  <Words>450</Words>
  <Application>Microsoft Office PowerPoint</Application>
  <PresentationFormat>On-screen Show (16:9)</PresentationFormat>
  <Paragraphs>68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MS PGothic</vt:lpstr>
      <vt:lpstr>宋体</vt:lpstr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Access to Care: Intervention</vt:lpstr>
      <vt:lpstr>Findings: Access Intervention</vt:lpstr>
      <vt:lpstr>Findings: Access Intervention</vt:lpstr>
      <vt:lpstr>Findings: State Variations</vt:lpstr>
      <vt:lpstr>Findings: Utilization</vt:lpstr>
      <vt:lpstr>Findings: Other Variables</vt:lpstr>
      <vt:lpstr>PowerPoint Presentation</vt:lpstr>
    </vt:vector>
  </TitlesOfParts>
  <Company>gt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Aymee Garcia</cp:lastModifiedBy>
  <cp:revision>636</cp:revision>
  <dcterms:created xsi:type="dcterms:W3CDTF">2017-01-02T15:06:50Z</dcterms:created>
  <dcterms:modified xsi:type="dcterms:W3CDTF">2021-06-04T08:43:55Z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C8527B6F-5D7F-4EDE-9B5F-2F849977B839</vt:lpwstr>
  </property>
  <property fmtid="{D5CDD505-2E9C-101B-9397-08002B2CF9AE}" pid="3" name="ArticulatePath">
    <vt:lpwstr>13-Data_Analysis-L5_revised V051420</vt:lpwstr>
  </property>
</Properties>
</file>