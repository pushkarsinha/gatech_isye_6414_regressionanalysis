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notesSlides/notesSlide3.xml" ContentType="application/vnd.openxmlformats-officedocument.presentationml.notesSlide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tags/tag26.xml" ContentType="application/vnd.openxmlformats-officedocument.presentationml.tags+xml"/>
  <Override PartName="/ppt/notesSlides/notesSlide5.xml" ContentType="application/vnd.openxmlformats-officedocument.presentationml.notesSlide+xml"/>
  <Override PartName="/ppt/tags/tag27.xml" ContentType="application/vnd.openxmlformats-officedocument.presentationml.tags+xml"/>
  <Override PartName="/ppt/notesSlides/notesSlide6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7.xml" ContentType="application/vnd.openxmlformats-officedocument.presentationml.notesSlide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ppt/tags/tag31.xml" ContentType="application/vnd.openxmlformats-officedocument.presentationml.tags+xml"/>
  <Override PartName="/ppt/notesSlides/notesSlide9.xml" ContentType="application/vnd.openxmlformats-officedocument.presentationml.notesSlide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0" r:id="rId4"/>
    <p:sldMasterId id="2147483719" r:id="rId5"/>
    <p:sldMasterId id="2147483720" r:id="rId6"/>
  </p:sldMasterIdLst>
  <p:notesMasterIdLst>
    <p:notesMasterId r:id="rId21"/>
  </p:notesMasterIdLst>
  <p:handoutMasterIdLst>
    <p:handoutMasterId r:id="rId22"/>
  </p:handoutMasterIdLst>
  <p:sldIdLst>
    <p:sldId id="489" r:id="rId7"/>
    <p:sldId id="498" r:id="rId8"/>
    <p:sldId id="514" r:id="rId9"/>
    <p:sldId id="466" r:id="rId10"/>
    <p:sldId id="513" r:id="rId11"/>
    <p:sldId id="510" r:id="rId12"/>
    <p:sldId id="517" r:id="rId13"/>
    <p:sldId id="465" r:id="rId14"/>
    <p:sldId id="467" r:id="rId15"/>
    <p:sldId id="518" r:id="rId16"/>
    <p:sldId id="511" r:id="rId17"/>
    <p:sldId id="519" r:id="rId18"/>
    <p:sldId id="509" r:id="rId19"/>
    <p:sldId id="344" r:id="rId20"/>
  </p:sldIdLst>
  <p:sldSz cx="9144000" cy="5143500" type="screen16x9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89"/>
            <p14:sldId id="498"/>
            <p14:sldId id="514"/>
            <p14:sldId id="466"/>
            <p14:sldId id="513"/>
            <p14:sldId id="510"/>
            <p14:sldId id="517"/>
            <p14:sldId id="465"/>
            <p14:sldId id="467"/>
            <p14:sldId id="518"/>
            <p14:sldId id="511"/>
            <p14:sldId id="519"/>
            <p14:sldId id="509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96" userDrawn="1">
          <p15:clr>
            <a:srgbClr val="A4A3A4"/>
          </p15:clr>
        </p15:guide>
        <p15:guide id="8" orient="horz" pos="732" userDrawn="1">
          <p15:clr>
            <a:srgbClr val="A4A3A4"/>
          </p15:clr>
        </p15:guide>
        <p15:guide id="9" orient="horz" pos="3132" userDrawn="1">
          <p15:clr>
            <a:srgbClr val="A4A3A4"/>
          </p15:clr>
        </p15:guide>
        <p15:guide id="10" orient="horz" pos="1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3F6CAF"/>
    <a:srgbClr val="1F497D"/>
    <a:srgbClr val="8E4221"/>
    <a:srgbClr val="984807"/>
    <a:srgbClr val="993200"/>
    <a:srgbClr val="F8FFF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 autoAdjust="0"/>
    <p:restoredTop sz="89858" autoAdjust="0"/>
  </p:normalViewPr>
  <p:slideViewPr>
    <p:cSldViewPr snapToGrid="0">
      <p:cViewPr varScale="1">
        <p:scale>
          <a:sx n="78" d="100"/>
          <a:sy n="78" d="100"/>
        </p:scale>
        <p:origin x="1064" y="44"/>
      </p:cViewPr>
      <p:guideLst>
        <p:guide orient="horz" pos="1620"/>
        <p:guide pos="2880"/>
        <p:guide pos="120"/>
        <p:guide pos="336"/>
        <p:guide pos="3456"/>
        <p:guide pos="5664"/>
        <p:guide orient="horz" pos="396"/>
        <p:guide orient="horz" pos="732"/>
        <p:guide orient="horz" pos="3132"/>
        <p:guide orient="horz" pos="19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39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97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20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8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1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20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79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52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8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023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6232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735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943876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7391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7985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2228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441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635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016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5217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329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7109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425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heme" Target="../theme/theme2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139630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244501900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custDataLst>
      <p:tags r:id="rId8"/>
    </p:custDataLst>
    <p:extLst>
      <p:ext uri="{BB962C8B-B14F-4D97-AF65-F5344CB8AC3E}">
        <p14:creationId xmlns:p14="http://schemas.microsoft.com/office/powerpoint/2010/main" val="384546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0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2284" y="155460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 Serban,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FFC2AE0-8557-485C-BAF4-734CEE29C594}"/>
              </a:ext>
            </a:extLst>
          </p:cNvPr>
          <p:cNvSpPr>
            <a:spLocks noGrp="1"/>
          </p:cNvSpPr>
          <p:nvPr/>
        </p:nvSpPr>
        <p:spPr>
          <a:xfrm>
            <a:off x="84400" y="636404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 charset="0"/>
              </a:rPr>
              <a:t>Model Selection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6194DD8-166E-44C1-B715-8F6DC720E8C3}"/>
              </a:ext>
            </a:extLst>
          </p:cNvPr>
          <p:cNvSpPr>
            <a:spLocks noGrp="1"/>
          </p:cNvSpPr>
          <p:nvPr/>
        </p:nvSpPr>
        <p:spPr>
          <a:xfrm>
            <a:off x="109567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A993F1D-8184-4AD6-A057-FECABCAA329D}"/>
              </a:ext>
            </a:extLst>
          </p:cNvPr>
          <p:cNvSpPr>
            <a:spLocks noGrp="1"/>
          </p:cNvSpPr>
          <p:nvPr/>
        </p:nvSpPr>
        <p:spPr>
          <a:xfrm>
            <a:off x="92789" y="4093711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Data Examples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740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9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5394120" y="1086549"/>
            <a:ext cx="3597479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b="1" i="1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rPr>
              <a:t>Which variables are associated with state average SAT scores?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b="1" i="1" dirty="0">
              <a:solidFill>
                <a:srgbClr val="EEB211"/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b="1" i="1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rPr>
              <a:t>After accounting for selection biases, how do the states rank?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800" b="1" i="1" dirty="0">
              <a:solidFill>
                <a:srgbClr val="EEB211"/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b="1" i="1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rPr>
              <a:t>Which states perform best for the amount of money they spend?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91" y="157232"/>
            <a:ext cx="8562392" cy="648111"/>
          </a:xfrm>
        </p:spPr>
        <p:txBody>
          <a:bodyPr/>
          <a:lstStyle/>
          <a:p>
            <a:r>
              <a:rPr lang="en-US" altLang="zh-CN" sz="3600" dirty="0">
                <a:latin typeface="Vitesse"/>
              </a:rPr>
              <a:t>Ranking</a:t>
            </a:r>
            <a:r>
              <a:rPr lang="zh-CN" altLang="en-US" sz="3600" dirty="0">
                <a:latin typeface="Vitesse"/>
              </a:rPr>
              <a:t> </a:t>
            </a:r>
            <a:r>
              <a:rPr lang="en-US" altLang="zh-CN" sz="3600" dirty="0">
                <a:latin typeface="Vitesse"/>
              </a:rPr>
              <a:t>States</a:t>
            </a:r>
            <a:r>
              <a:rPr lang="zh-CN" altLang="en-US" sz="3600" dirty="0">
                <a:latin typeface="Vitesse"/>
              </a:rPr>
              <a:t> </a:t>
            </a:r>
            <a:r>
              <a:rPr lang="en-US" altLang="zh-CN" sz="3600" dirty="0">
                <a:latin typeface="Vitesse"/>
              </a:rPr>
              <a:t>by</a:t>
            </a:r>
            <a:r>
              <a:rPr lang="zh-CN" altLang="en-US" sz="3600" dirty="0">
                <a:latin typeface="Vitesse"/>
              </a:rPr>
              <a:t> </a:t>
            </a:r>
            <a:r>
              <a:rPr lang="en-US" altLang="zh-CN" sz="3600" dirty="0">
                <a:latin typeface="Vitesse"/>
              </a:rPr>
              <a:t>SAT</a:t>
            </a:r>
            <a:r>
              <a:rPr lang="zh-CN" altLang="en-US" sz="3600" dirty="0">
                <a:latin typeface="Vitesse"/>
              </a:rPr>
              <a:t> </a:t>
            </a:r>
            <a:r>
              <a:rPr lang="en-US" altLang="zh-CN" sz="3600" dirty="0">
                <a:latin typeface="Vitesse"/>
              </a:rPr>
              <a:t>Performance</a:t>
            </a:r>
            <a:endParaRPr lang="zh-CN" altLang="en-US" sz="3600" dirty="0">
              <a:latin typeface="Vitess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78" y="1175255"/>
            <a:ext cx="4372422" cy="29805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9578" y="4233386"/>
            <a:ext cx="437242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SAT Mean Score by State – Year 1982</a:t>
            </a:r>
          </a:p>
          <a:p>
            <a:pPr algn="ctr"/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790 (South Carolina) – 1088 (Iowa)</a:t>
            </a:r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5787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92958" y="902372"/>
            <a:ext cx="8828589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800" b="1" dirty="0">
                <a:latin typeface="Helvetica" charset="0"/>
                <a:ea typeface="Helvetica" charset="0"/>
                <a:cs typeface="Helvetica" charset="0"/>
              </a:rPr>
              <a:t>The </a:t>
            </a:r>
            <a:r>
              <a:rPr lang="en-US" altLang="en-US" sz="1800" b="1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rPr>
              <a:t>response variable </a:t>
            </a:r>
            <a:r>
              <a:rPr lang="en-US" altLang="en-US" sz="1800" b="1" dirty="0">
                <a:latin typeface="Helvetica" charset="0"/>
                <a:ea typeface="Helvetica" charset="0"/>
                <a:cs typeface="Helvetica" charset="0"/>
              </a:rPr>
              <a:t>is:</a:t>
            </a:r>
          </a:p>
          <a:p>
            <a:pPr>
              <a:spcAft>
                <a:spcPts val="1800"/>
              </a:spcAft>
              <a:tabLst>
                <a:tab pos="344488" algn="l"/>
                <a:tab pos="1085850" algn="l"/>
              </a:tabLst>
            </a:pPr>
            <a:r>
              <a:rPr lang="en-US" altLang="en-US" sz="1800" b="1" i="1" dirty="0">
                <a:latin typeface="Helvetica" charset="0"/>
                <a:ea typeface="Helvetica" charset="0"/>
                <a:cs typeface="Helvetica" charset="0"/>
              </a:rPr>
              <a:t>	Y</a:t>
            </a:r>
            <a:r>
              <a:rPr lang="en-US" altLang="en-US" sz="1800" dirty="0">
                <a:latin typeface="Helvetica" charset="0"/>
                <a:ea typeface="Helvetica" charset="0"/>
                <a:cs typeface="Helvetica" charset="0"/>
              </a:rPr>
              <a:t> = State average SAT score (verbal and quantitative combined)</a:t>
            </a:r>
          </a:p>
          <a:p>
            <a:pPr>
              <a:spcAft>
                <a:spcPts val="600"/>
              </a:spcAft>
            </a:pPr>
            <a:r>
              <a:rPr lang="en-US" altLang="en-US" sz="1800" b="1" dirty="0">
                <a:latin typeface="Helvetica" charset="0"/>
                <a:ea typeface="Helvetica" charset="0"/>
                <a:cs typeface="Helvetica" charset="0"/>
              </a:rPr>
              <a:t>The </a:t>
            </a:r>
            <a:r>
              <a:rPr lang="en-US" altLang="en-US" sz="1800" b="1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rPr>
              <a:t>predicting variables </a:t>
            </a:r>
            <a:r>
              <a:rPr lang="en-US" altLang="en-US" sz="1800" b="1" dirty="0">
                <a:latin typeface="Helvetica" charset="0"/>
                <a:ea typeface="Helvetica" charset="0"/>
                <a:cs typeface="Helvetica" charset="0"/>
              </a:rPr>
              <a:t>are:</a:t>
            </a:r>
          </a:p>
          <a:p>
            <a:pPr>
              <a:spcAft>
                <a:spcPts val="600"/>
              </a:spcAft>
              <a:tabLst>
                <a:tab pos="344488" algn="l"/>
                <a:tab pos="1085850" algn="l"/>
              </a:tabLst>
            </a:pPr>
            <a:r>
              <a:rPr lang="en-US" altLang="en-US" sz="1800" b="1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sz="1800" b="1" i="1" dirty="0">
                <a:latin typeface="Helvetica" charset="0"/>
                <a:ea typeface="Helvetica" charset="0"/>
                <a:cs typeface="Helvetica" charset="0"/>
              </a:rPr>
              <a:t>takers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dirty="0" smtClean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sz="1800" dirty="0" smtClean="0">
                <a:latin typeface="Helvetica" charset="0"/>
                <a:ea typeface="Helvetica" charset="0"/>
                <a:cs typeface="Helvetica" charset="0"/>
              </a:rPr>
              <a:t>% </a:t>
            </a:r>
            <a:r>
              <a:rPr lang="en-US" altLang="en-US" sz="1800" dirty="0">
                <a:latin typeface="Helvetica" charset="0"/>
                <a:ea typeface="Helvetica" charset="0"/>
                <a:cs typeface="Helvetica" charset="0"/>
              </a:rPr>
              <a:t>of eligible students (high school seniors) in state who took the exam</a:t>
            </a:r>
          </a:p>
          <a:p>
            <a:pPr marL="1371600" indent="-1371600">
              <a:spcAft>
                <a:spcPts val="600"/>
              </a:spcAft>
              <a:tabLst>
                <a:tab pos="344488" algn="l"/>
                <a:tab pos="1085850" algn="l"/>
              </a:tabLst>
            </a:pPr>
            <a:r>
              <a:rPr lang="en-US" altLang="en-US" sz="1800" b="1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sz="1800" b="1" i="1" dirty="0">
                <a:latin typeface="Helvetica" charset="0"/>
                <a:ea typeface="Helvetica" charset="0"/>
                <a:cs typeface="Helvetica" charset="0"/>
              </a:rPr>
              <a:t>rank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dirty="0" smtClean="0">
                <a:latin typeface="Helvetica" charset="0"/>
                <a:ea typeface="Helvetica" charset="0"/>
                <a:cs typeface="Helvetica" charset="0"/>
              </a:rPr>
              <a:t>	M</a:t>
            </a:r>
            <a:r>
              <a:rPr lang="en-US" altLang="en-US" sz="1800" dirty="0" smtClean="0">
                <a:latin typeface="Helvetica" charset="0"/>
                <a:ea typeface="Helvetica" charset="0"/>
                <a:cs typeface="Helvetica" charset="0"/>
              </a:rPr>
              <a:t>edian </a:t>
            </a:r>
            <a:r>
              <a:rPr lang="en-US" altLang="en-US" sz="1800" dirty="0">
                <a:latin typeface="Helvetica" charset="0"/>
                <a:ea typeface="Helvetica" charset="0"/>
                <a:cs typeface="Helvetica" charset="0"/>
              </a:rPr>
              <a:t>percentile ranking of test takers in their secondary school classes</a:t>
            </a:r>
          </a:p>
          <a:p>
            <a:pPr>
              <a:spcAft>
                <a:spcPts val="600"/>
              </a:spcAft>
              <a:tabLst>
                <a:tab pos="344488" algn="l"/>
                <a:tab pos="1085850" algn="l"/>
              </a:tabLst>
            </a:pPr>
            <a:r>
              <a:rPr lang="en-US" altLang="en-US" sz="1800" b="1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sz="1800" b="1" i="1" dirty="0">
                <a:latin typeface="Helvetica" charset="0"/>
                <a:ea typeface="Helvetica" charset="0"/>
                <a:cs typeface="Helvetica" charset="0"/>
              </a:rPr>
              <a:t>income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sz="1800" dirty="0">
                <a:latin typeface="Helvetica" charset="0"/>
                <a:ea typeface="Helvetica" charset="0"/>
                <a:cs typeface="Helvetica" charset="0"/>
              </a:rPr>
              <a:t>Median income of families of test 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takers (in $00's)</a:t>
            </a:r>
            <a:endParaRPr lang="en-US" altLang="en-US" sz="1800" dirty="0">
              <a:latin typeface="Helvetica" charset="0"/>
              <a:ea typeface="Helvetica" charset="0"/>
              <a:cs typeface="Helvetica" charset="0"/>
            </a:endParaRPr>
          </a:p>
          <a:p>
            <a:pPr>
              <a:spcAft>
                <a:spcPts val="600"/>
              </a:spcAft>
              <a:tabLst>
                <a:tab pos="344488" algn="l"/>
                <a:tab pos="1085850" algn="l"/>
              </a:tabLst>
            </a:pPr>
            <a:r>
              <a:rPr lang="en-US" altLang="en-US" sz="1800" b="1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sz="1800" b="1" i="1" dirty="0">
                <a:latin typeface="Helvetica" charset="0"/>
                <a:ea typeface="Helvetica" charset="0"/>
                <a:cs typeface="Helvetica" charset="0"/>
              </a:rPr>
              <a:t>years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dirty="0" smtClean="0">
                <a:latin typeface="Helvetica" charset="0"/>
                <a:ea typeface="Helvetica" charset="0"/>
                <a:cs typeface="Helvetica" charset="0"/>
              </a:rPr>
              <a:t>	A</a:t>
            </a:r>
            <a:r>
              <a:rPr lang="en-US" altLang="en-US" sz="1800" dirty="0" smtClean="0">
                <a:latin typeface="Helvetica" charset="0"/>
                <a:ea typeface="Helvetica" charset="0"/>
                <a:cs typeface="Helvetica" charset="0"/>
              </a:rPr>
              <a:t>verage </a:t>
            </a:r>
            <a:r>
              <a:rPr lang="en-US" altLang="en-US" sz="1800" dirty="0">
                <a:latin typeface="Helvetica" charset="0"/>
                <a:ea typeface="Helvetica" charset="0"/>
                <a:cs typeface="Helvetica" charset="0"/>
              </a:rPr>
              <a:t>years test takers had in social/natural sciences and humanities</a:t>
            </a:r>
          </a:p>
          <a:p>
            <a:pPr>
              <a:spcAft>
                <a:spcPts val="600"/>
              </a:spcAft>
              <a:tabLst>
                <a:tab pos="344488" algn="l"/>
                <a:tab pos="1085850" algn="l"/>
              </a:tabLst>
            </a:pPr>
            <a:r>
              <a:rPr lang="en-US" altLang="en-US" sz="1800" b="1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sz="1800" b="1" i="1" dirty="0">
                <a:latin typeface="Helvetica" charset="0"/>
                <a:ea typeface="Helvetica" charset="0"/>
                <a:cs typeface="Helvetica" charset="0"/>
              </a:rPr>
              <a:t>public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dirty="0" smtClean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sz="1800" dirty="0" smtClean="0">
                <a:latin typeface="Helvetica" charset="0"/>
                <a:ea typeface="Helvetica" charset="0"/>
                <a:cs typeface="Helvetica" charset="0"/>
              </a:rPr>
              <a:t>% </a:t>
            </a:r>
            <a:r>
              <a:rPr lang="en-US" altLang="en-US" sz="1800" dirty="0">
                <a:latin typeface="Helvetica" charset="0"/>
                <a:ea typeface="Helvetica" charset="0"/>
                <a:cs typeface="Helvetica" charset="0"/>
              </a:rPr>
              <a:t>of test takers who attended public schools</a:t>
            </a:r>
          </a:p>
          <a:p>
            <a:pPr>
              <a:spcAft>
                <a:spcPts val="600"/>
              </a:spcAft>
              <a:tabLst>
                <a:tab pos="344488" algn="l"/>
                <a:tab pos="1085850" algn="l"/>
              </a:tabLst>
            </a:pPr>
            <a:r>
              <a:rPr lang="en-US" altLang="en-US" sz="1800" b="1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sz="1800" b="1" i="1" dirty="0">
                <a:latin typeface="Helvetica" charset="0"/>
                <a:ea typeface="Helvetica" charset="0"/>
                <a:cs typeface="Helvetica" charset="0"/>
              </a:rPr>
              <a:t>expend</a:t>
            </a:r>
            <a:r>
              <a:rPr lang="en-US" altLang="en-US" sz="1800" b="1" dirty="0">
                <a:latin typeface="Helvetica" charset="0"/>
                <a:ea typeface="Helvetica" charset="0"/>
                <a:cs typeface="Helvetica" charset="0"/>
              </a:rPr>
              <a:t>	</a:t>
            </a:r>
            <a:r>
              <a:rPr lang="en-US" altLang="en-US" sz="1800" dirty="0">
                <a:latin typeface="Helvetica" charset="0"/>
                <a:ea typeface="Helvetica" charset="0"/>
                <a:cs typeface="Helvetica" charset="0"/>
              </a:rPr>
              <a:t>State expenditure on secondary schools (in $00's/student)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64811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Response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&amp;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Predicting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Variables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3259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621505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Regression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Analysis</a:t>
            </a:r>
            <a:r>
              <a:rPr kumimoji="1" lang="zh-CN" altLang="en-US" sz="3600" dirty="0">
                <a:latin typeface="Vitesse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91" y="971684"/>
            <a:ext cx="43315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regression.line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lm(sat ~ log(takers) + rank + income + years + public + expend)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summary(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regression.line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endParaRPr lang="en-US" sz="14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Coefficients:</a:t>
            </a:r>
          </a:p>
          <a:p>
            <a:endParaRPr lang="en-US" sz="14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91819" y="1172233"/>
                <a:ext cx="3247421" cy="2216056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Helvetica" charset="0"/>
                    <a:ea typeface="Helvetica" charset="0"/>
                    <a:cs typeface="Helvetica" charset="0"/>
                  </a:rPr>
                  <a:t>Test for Statistical Significance</a:t>
                </a:r>
              </a:p>
              <a:p>
                <a:pPr algn="ctr"/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p-values</a:t>
                </a:r>
              </a:p>
              <a:p>
                <a:pPr marL="741363"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𝑡𝑎𝑘𝑒𝑟𝑠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 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charset="0"/>
                  </a:rPr>
                  <a:t>≈ </a:t>
                </a:r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0.02</a:t>
                </a:r>
              </a:p>
              <a:p>
                <a:pPr marL="741363"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𝑟𝑎𝑛𝑘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    &gt; 0.1</a:t>
                </a:r>
              </a:p>
              <a:p>
                <a:pPr marL="741363"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𝑖𝑛𝑐𝑜𝑚𝑒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 &gt; 0.1</a:t>
                </a:r>
              </a:p>
              <a:p>
                <a:pPr marL="741363"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𝑦𝑒𝑎𝑟𝑠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   &lt; 0.01</a:t>
                </a:r>
              </a:p>
              <a:p>
                <a:pPr marL="741363"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𝑝𝑢𝑏𝑙𝑖𝑐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  &gt; 0.1</a:t>
                </a:r>
              </a:p>
              <a:p>
                <a:pPr marL="741363"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𝑒𝑥𝑝𝑒𝑛𝑑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 &lt; 0.01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819" y="1172233"/>
                <a:ext cx="3247421" cy="2216056"/>
              </a:xfrm>
              <a:prstGeom prst="rect">
                <a:avLst/>
              </a:prstGeom>
              <a:blipFill>
                <a:blip r:embed="rId4"/>
                <a:stretch>
                  <a:fillRect t="-545" b="-1090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/>
          <p:cNvSpPr/>
          <p:nvPr/>
        </p:nvSpPr>
        <p:spPr>
          <a:xfrm>
            <a:off x="4746706" y="2251656"/>
            <a:ext cx="436182" cy="278612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3" name="TextBox 2"/>
          <p:cNvSpPr txBox="1"/>
          <p:nvPr/>
        </p:nvSpPr>
        <p:spPr>
          <a:xfrm>
            <a:off x="204239" y="3544269"/>
            <a:ext cx="4367762" cy="1431161"/>
          </a:xfrm>
          <a:prstGeom prst="rect">
            <a:avLst/>
          </a:prstGeom>
          <a:ln w="190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82880" tIns="182880" rIns="182880" bIns="182880" rtlCol="0" anchor="ctr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Shall we discard the predicting variables with regression coefficients that are not statistically significant?</a:t>
            </a:r>
          </a:p>
          <a:p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en-US" sz="1600" dirty="0">
                <a:solidFill>
                  <a:srgbClr val="3F6CAF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NO. Perform variable selection.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B50B74-981D-40ED-BFCA-8003146EB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883593"/>
              </p:ext>
            </p:extLst>
          </p:nvPr>
        </p:nvGraphicFramePr>
        <p:xfrm>
          <a:off x="131818" y="1961897"/>
          <a:ext cx="4191320" cy="1565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2836">
                  <a:extLst>
                    <a:ext uri="{9D8B030D-6E8A-4147-A177-3AD203B41FA5}">
                      <a16:colId xmlns:a16="http://schemas.microsoft.com/office/drawing/2014/main" val="3144949261"/>
                    </a:ext>
                  </a:extLst>
                </a:gridCol>
                <a:gridCol w="889233">
                  <a:extLst>
                    <a:ext uri="{9D8B030D-6E8A-4147-A177-3AD203B41FA5}">
                      <a16:colId xmlns:a16="http://schemas.microsoft.com/office/drawing/2014/main" val="763717791"/>
                    </a:ext>
                  </a:extLst>
                </a:gridCol>
                <a:gridCol w="855677">
                  <a:extLst>
                    <a:ext uri="{9D8B030D-6E8A-4147-A177-3AD203B41FA5}">
                      <a16:colId xmlns:a16="http://schemas.microsoft.com/office/drawing/2014/main" val="1429624050"/>
                    </a:ext>
                  </a:extLst>
                </a:gridCol>
                <a:gridCol w="645952">
                  <a:extLst>
                    <a:ext uri="{9D8B030D-6E8A-4147-A177-3AD203B41FA5}">
                      <a16:colId xmlns:a16="http://schemas.microsoft.com/office/drawing/2014/main" val="162647697"/>
                    </a:ext>
                  </a:extLst>
                </a:gridCol>
                <a:gridCol w="897622">
                  <a:extLst>
                    <a:ext uri="{9D8B030D-6E8A-4147-A177-3AD203B41FA5}">
                      <a16:colId xmlns:a16="http://schemas.microsoft.com/office/drawing/2014/main" val="1963911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 value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Pr(&gt;|t|)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1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407.53990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282.76325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1.441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0.15675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053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log(takers)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-38.43758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15.95214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-2.410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0.02032 *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21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4.11427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2.50166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1.645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0.10734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457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income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-0.03588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0.13011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-0.276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0.78407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866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years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17.21811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6.32007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2.724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0.00928 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325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public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-0.11301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0.56239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-0.201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0.84168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47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expend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2.56691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0.80641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3.183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0.00271 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16557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2829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642925D-7CD9-40F5-AD14-0CC2D3010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872254"/>
              </p:ext>
            </p:extLst>
          </p:nvPr>
        </p:nvGraphicFramePr>
        <p:xfrm>
          <a:off x="137341" y="2033514"/>
          <a:ext cx="4401101" cy="5871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329">
                  <a:extLst>
                    <a:ext uri="{9D8B030D-6E8A-4147-A177-3AD203B41FA5}">
                      <a16:colId xmlns:a16="http://schemas.microsoft.com/office/drawing/2014/main" val="2250527238"/>
                    </a:ext>
                  </a:extLst>
                </a:gridCol>
                <a:gridCol w="679508">
                  <a:extLst>
                    <a:ext uri="{9D8B030D-6E8A-4147-A177-3AD203B41FA5}">
                      <a16:colId xmlns:a16="http://schemas.microsoft.com/office/drawing/2014/main" val="3441514745"/>
                    </a:ext>
                  </a:extLst>
                </a:gridCol>
                <a:gridCol w="612396">
                  <a:extLst>
                    <a:ext uri="{9D8B030D-6E8A-4147-A177-3AD203B41FA5}">
                      <a16:colId xmlns:a16="http://schemas.microsoft.com/office/drawing/2014/main" val="2890894236"/>
                    </a:ext>
                  </a:extLst>
                </a:gridCol>
                <a:gridCol w="302004">
                  <a:extLst>
                    <a:ext uri="{9D8B030D-6E8A-4147-A177-3AD203B41FA5}">
                      <a16:colId xmlns:a16="http://schemas.microsoft.com/office/drawing/2014/main" val="4167957546"/>
                    </a:ext>
                  </a:extLst>
                </a:gridCol>
                <a:gridCol w="906011">
                  <a:extLst>
                    <a:ext uri="{9D8B030D-6E8A-4147-A177-3AD203B41FA5}">
                      <a16:colId xmlns:a16="http://schemas.microsoft.com/office/drawing/2014/main" val="3678336267"/>
                    </a:ext>
                  </a:extLst>
                </a:gridCol>
                <a:gridCol w="671119">
                  <a:extLst>
                    <a:ext uri="{9D8B030D-6E8A-4147-A177-3AD203B41FA5}">
                      <a16:colId xmlns:a16="http://schemas.microsoft.com/office/drawing/2014/main" val="2256588991"/>
                    </a:ext>
                  </a:extLst>
                </a:gridCol>
                <a:gridCol w="964734">
                  <a:extLst>
                    <a:ext uri="{9D8B030D-6E8A-4147-A177-3AD203B41FA5}">
                      <a16:colId xmlns:a16="http://schemas.microsoft.com/office/drawing/2014/main" val="2520979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Res.Df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RSS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Df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Sum of Sq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Pr(&gt;F)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001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47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45530                       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251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43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26585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18945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7.6604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9.42e-05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252048"/>
                  </a:ext>
                </a:extLst>
              </a:tr>
            </a:tbl>
          </a:graphicData>
        </a:graphic>
      </p:graphicFrame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104163" y="973154"/>
            <a:ext cx="708794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regression.red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lm(sat ~ log(takers) + rank)</a:t>
            </a:r>
          </a:p>
          <a:p>
            <a:pPr eaLnBrk="1" hangingPunct="1">
              <a:defRPr/>
            </a:pPr>
            <a:r>
              <a:rPr lang="de-DE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anova(regression.red, regression.line)</a:t>
            </a:r>
          </a:p>
          <a:p>
            <a:pPr eaLnBrk="1" hangingPunct="1">
              <a:defRPr/>
            </a:pPr>
            <a:endParaRPr lang="de-DE" sz="1200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 1: sat ~ log(takers) + rank</a:t>
            </a:r>
          </a:p>
          <a:p>
            <a:pPr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 2: sat ~ log(takers) + rank + income + years + public + expend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0500" y="3114226"/>
                <a:ext cx="5295900" cy="1846659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  <a:effectLst/>
            </p:spPr>
            <p:txBody>
              <a:bodyPr wrap="square" lIns="182880" tIns="182880" rIns="182880" bIns="182880" rtlCol="0" anchor="ctr" anchorCtr="0">
                <a:spAutoFit/>
              </a:bodyPr>
              <a:lstStyle/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Testing for a subset of regression coefficients:</a:t>
                </a:r>
              </a:p>
              <a:p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0</m:t>
                        </m:r>
                      </m:sub>
                    </m:sSub>
                    <m:r>
                      <a:rPr lang="en-US" sz="1600" b="0" i="1">
                        <a:latin typeface="Cambria Math" charset="0"/>
                        <a:ea typeface="Helvetica Neue" charset="0"/>
                        <a:cs typeface="Helvetica Neue" charset="0"/>
                      </a:rPr>
                      <m:t>:</m:t>
                    </m:r>
                  </m:oMath>
                </a14:m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Reduced Model (takers and rank only)</a:t>
                </a:r>
              </a:p>
              <a:p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vs. </a:t>
                </a:r>
              </a:p>
              <a:p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>
                            <a:latin typeface="Cambria Math" charset="0"/>
                            <a:ea typeface="Helvetica Neue" charset="0"/>
                            <a:cs typeface="Helvetica Neue" charset="0"/>
                          </a:rPr>
                          <m:t>A</m:t>
                        </m:r>
                      </m:sub>
                    </m:sSub>
                    <m:r>
                      <a:rPr lang="en-US" sz="1600" b="0" i="1">
                        <a:latin typeface="Cambria Math" charset="0"/>
                        <a:ea typeface="Helvetica Neue" charset="0"/>
                        <a:cs typeface="Helvetica Neue" charset="0"/>
                      </a:rPr>
                      <m:t>:</m:t>
                    </m:r>
                  </m:oMath>
                </a14:m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Full Model </a:t>
                </a:r>
              </a:p>
              <a:p>
                <a:endParaRPr 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Partial F Test: F-value = </a:t>
                </a:r>
                <a:r>
                  <a:rPr lang="de-DE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7.6604; P-value 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≈ 0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3114226"/>
                <a:ext cx="5295900" cy="18466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3535335" y="2390756"/>
            <a:ext cx="994720" cy="230654"/>
          </a:xfrm>
          <a:prstGeom prst="ellipse">
            <a:avLst/>
          </a:prstGeom>
          <a:noFill/>
          <a:ln w="19050">
            <a:solidFill>
              <a:srgbClr val="3F6C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220555" y="4488110"/>
            <a:ext cx="1238081" cy="329444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78996" y="258794"/>
            <a:ext cx="8382000" cy="58849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Inference on Subset of Coefficients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287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A186B2-F0D8-479A-9733-025E25F742DE}"/>
              </a:ext>
            </a:extLst>
          </p:cNvPr>
          <p:cNvSpPr txBox="1"/>
          <p:nvPr/>
        </p:nvSpPr>
        <p:spPr>
          <a:xfrm>
            <a:off x="190500" y="3109507"/>
            <a:ext cx="5295900" cy="1846659"/>
          </a:xfrm>
          <a:prstGeom prst="rect">
            <a:avLst/>
          </a:prstGeom>
          <a:ln w="190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82880" tIns="182880" rIns="182880" bIns="182880" rtlCol="0" anchor="ctr" anchorCtr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16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Controlling and explanatory variables</a:t>
            </a: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log(takers) and rank need to be in the model.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16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Partial F test for explanatory variables</a:t>
            </a: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at least one predicting variable has explanatory power. Which ones?</a:t>
            </a:r>
          </a:p>
          <a:p>
            <a:pPr marL="285750" indent="-285750"/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  </a:t>
            </a:r>
            <a:r>
              <a:rPr lang="en-US" sz="1600" dirty="0">
                <a:solidFill>
                  <a:schemeClr val="tx2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Perform variable selection!!!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11E72B7-B511-4BCB-8A92-759F0C0290FE}"/>
              </a:ext>
            </a:extLst>
          </p:cNvPr>
          <p:cNvSpPr txBox="1">
            <a:spLocks/>
          </p:cNvSpPr>
          <p:nvPr/>
        </p:nvSpPr>
        <p:spPr>
          <a:xfrm>
            <a:off x="78996" y="258794"/>
            <a:ext cx="8382000" cy="58849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altLang="en-US" sz="3600" dirty="0">
                <a:latin typeface="Vitesse"/>
                <a:ea typeface="Vitesse" charset="0"/>
                <a:cs typeface="Vitesse" charset="0"/>
              </a:rPr>
              <a:t>Inference on Subset of Coefficients</a:t>
            </a:r>
            <a:endParaRPr lang="en-US" sz="3600" dirty="0">
              <a:latin typeface="Vitesse"/>
              <a:ea typeface="Vitesse" charset="0"/>
              <a:cs typeface="Vitesse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95208FC-3607-4CD9-9D3A-AF95BA1CA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63" y="973154"/>
            <a:ext cx="708794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regression.red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lm(sat ~ log(takers) + rank)</a:t>
            </a:r>
          </a:p>
          <a:p>
            <a:pPr eaLnBrk="1" hangingPunct="1">
              <a:defRPr/>
            </a:pPr>
            <a:r>
              <a:rPr lang="de-DE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anova(regression.red, regression.line)</a:t>
            </a:r>
          </a:p>
          <a:p>
            <a:pPr eaLnBrk="1" hangingPunct="1">
              <a:defRPr/>
            </a:pPr>
            <a:endParaRPr lang="de-DE" sz="1200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 1: sat ~ log(takers) + rank</a:t>
            </a:r>
          </a:p>
          <a:p>
            <a:pPr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 2: sat ~ log(takers) + rank + income + years + public + expend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09278F2-6012-4DC7-B6DC-CC5591521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200078"/>
              </p:ext>
            </p:extLst>
          </p:nvPr>
        </p:nvGraphicFramePr>
        <p:xfrm>
          <a:off x="137341" y="2033514"/>
          <a:ext cx="4401101" cy="5871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329">
                  <a:extLst>
                    <a:ext uri="{9D8B030D-6E8A-4147-A177-3AD203B41FA5}">
                      <a16:colId xmlns:a16="http://schemas.microsoft.com/office/drawing/2014/main" val="2250527238"/>
                    </a:ext>
                  </a:extLst>
                </a:gridCol>
                <a:gridCol w="679508">
                  <a:extLst>
                    <a:ext uri="{9D8B030D-6E8A-4147-A177-3AD203B41FA5}">
                      <a16:colId xmlns:a16="http://schemas.microsoft.com/office/drawing/2014/main" val="3441514745"/>
                    </a:ext>
                  </a:extLst>
                </a:gridCol>
                <a:gridCol w="612396">
                  <a:extLst>
                    <a:ext uri="{9D8B030D-6E8A-4147-A177-3AD203B41FA5}">
                      <a16:colId xmlns:a16="http://schemas.microsoft.com/office/drawing/2014/main" val="2890894236"/>
                    </a:ext>
                  </a:extLst>
                </a:gridCol>
                <a:gridCol w="302004">
                  <a:extLst>
                    <a:ext uri="{9D8B030D-6E8A-4147-A177-3AD203B41FA5}">
                      <a16:colId xmlns:a16="http://schemas.microsoft.com/office/drawing/2014/main" val="4167957546"/>
                    </a:ext>
                  </a:extLst>
                </a:gridCol>
                <a:gridCol w="906011">
                  <a:extLst>
                    <a:ext uri="{9D8B030D-6E8A-4147-A177-3AD203B41FA5}">
                      <a16:colId xmlns:a16="http://schemas.microsoft.com/office/drawing/2014/main" val="3678336267"/>
                    </a:ext>
                  </a:extLst>
                </a:gridCol>
                <a:gridCol w="671119">
                  <a:extLst>
                    <a:ext uri="{9D8B030D-6E8A-4147-A177-3AD203B41FA5}">
                      <a16:colId xmlns:a16="http://schemas.microsoft.com/office/drawing/2014/main" val="2256588991"/>
                    </a:ext>
                  </a:extLst>
                </a:gridCol>
                <a:gridCol w="964734">
                  <a:extLst>
                    <a:ext uri="{9D8B030D-6E8A-4147-A177-3AD203B41FA5}">
                      <a16:colId xmlns:a16="http://schemas.microsoft.com/office/drawing/2014/main" val="2520979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Res.Df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RSS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Df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Sum of Sq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Pr(&gt;F)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001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47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45530                       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251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43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26585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18945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7.6604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9.42e-05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25204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27949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630299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Predicting Bankruptcy</a:t>
            </a:r>
            <a:endParaRPr lang="zh-CN" altLang="en-US" sz="4000" dirty="0">
              <a:latin typeface="Vitesse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98244" y="900557"/>
            <a:ext cx="889335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Effective bankruptcy prediction is useful for investors and analysts, allowing for accurate evaluation of a firm’s prospects.</a:t>
            </a: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Roughly 40 years ago, Ed Altman showed that publicly available financial indicators can be used to distinguish between firms that are about to go bankrupt and those that are not.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121430" y="4511317"/>
            <a:ext cx="6703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u="sng" dirty="0"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: This example was provided by Dr. Jeffrey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Simonoff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from New York University and was inspired by the honors thesis of Jeffrey Lui.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93526-C5B0-430A-8F4B-E101BDBB10A3}"/>
              </a:ext>
            </a:extLst>
          </p:cNvPr>
          <p:cNvSpPr txBox="1"/>
          <p:nvPr/>
        </p:nvSpPr>
        <p:spPr>
          <a:xfrm>
            <a:off x="203477" y="2967346"/>
            <a:ext cx="5282923" cy="1200329"/>
          </a:xfrm>
          <a:prstGeom prst="rect">
            <a:avLst/>
          </a:prstGeom>
          <a:ln w="19050">
            <a:solidFill>
              <a:schemeClr val="tx2"/>
            </a:solidFill>
          </a:ln>
          <a:effectLst/>
        </p:spPr>
        <p:txBody>
          <a:bodyPr vert="horz" wrap="square" lIns="182880" tIns="182880" rIns="182880" bIns="182880" rtlCol="0" anchor="ctr" anchorCtr="0"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Which financial indicators are associated with bankruptcy for telecommunications firms? </a:t>
            </a:r>
            <a:endParaRPr lang="en-US" dirty="0">
              <a:solidFill>
                <a:srgbClr val="EEB21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4326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86047" y="901475"/>
            <a:ext cx="890555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 Sample:</a:t>
            </a:r>
          </a:p>
          <a:p>
            <a:pPr marL="344488" indent="-344488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25 telecommunication firms that declared bankruptcy 2000</a:t>
            </a:r>
            <a:r>
              <a:rPr lang="en-US" altLang="en-US" dirty="0"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–</a:t>
            </a:r>
            <a:r>
              <a:rPr lang="en-US" altLang="en-US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2002 </a:t>
            </a:r>
          </a:p>
          <a:p>
            <a:pPr marL="344488" indent="-344488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25 telecommunication firms that did not declare bankruptcy, “matched” according to the asset size of the bankrupt firms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180" y="157233"/>
            <a:ext cx="8562392" cy="656500"/>
          </a:xfrm>
        </p:spPr>
        <p:txBody>
          <a:bodyPr>
            <a:normAutofit/>
          </a:bodyPr>
          <a:lstStyle/>
          <a:p>
            <a:r>
              <a:rPr kumimoji="1" lang="en-US" altLang="zh-CN" sz="3600" dirty="0">
                <a:latin typeface="Vitesse"/>
              </a:rPr>
              <a:t>Bankruptcy Data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0501" y="3105150"/>
            <a:ext cx="5295899" cy="164651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vert="horz" lIns="182880" tIns="182880" rIns="182880" bIns="182880" rtlCol="0" anchor="ctr" anchorCtr="0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9913" indent="-401638">
              <a:buNone/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Replicate Experimental Data Setting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569913" indent="-401638">
              <a:buClr>
                <a:schemeClr val="tx2"/>
              </a:buClr>
              <a:buFont typeface="Wingdings" panose="05000000000000000000" pitchFamily="2" charset="2"/>
              <a:buChar char="è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Matching firms to be comparable with respect to meaningful factors</a:t>
            </a:r>
          </a:p>
          <a:p>
            <a:pPr marL="569913" indent="-401638">
              <a:buClr>
                <a:schemeClr val="tx2"/>
              </a:buClr>
              <a:buFont typeface="Wingdings" panose="05000000000000000000" pitchFamily="2" charset="2"/>
              <a:buChar char="è"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Allowing for causal inference</a:t>
            </a: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90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101347" y="902372"/>
            <a:ext cx="8890253" cy="300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</a:t>
            </a:r>
            <a:r>
              <a:rPr lang="en-US" altLang="en-US" sz="18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response variable </a:t>
            </a:r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is:</a:t>
            </a:r>
          </a:p>
          <a:p>
            <a:pPr>
              <a:spcAft>
                <a:spcPts val="1800"/>
              </a:spcAft>
              <a:tabLst>
                <a:tab pos="344488" algn="l"/>
                <a:tab pos="1141413" algn="l"/>
              </a:tabLst>
            </a:pPr>
            <a:r>
              <a:rPr lang="en-US" altLang="en-US" sz="1800" b="1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Y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</a:t>
            </a:r>
            <a:r>
              <a:rPr lang="en-US" altLang="en-US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Whether the firm declared bankruptcy</a:t>
            </a:r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</a:t>
            </a:r>
            <a:r>
              <a:rPr lang="en-US" altLang="en-US" sz="18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predicting variables </a:t>
            </a:r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are:</a:t>
            </a:r>
          </a:p>
          <a:p>
            <a:pPr>
              <a:spcAft>
                <a:spcPts val="600"/>
              </a:spcAft>
              <a:tabLst>
                <a:tab pos="344488" algn="l"/>
                <a:tab pos="1141413" algn="l"/>
              </a:tabLst>
            </a:pPr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</a:t>
            </a:r>
            <a:r>
              <a:rPr 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WC.TA</a:t>
            </a:r>
            <a:r>
              <a:rPr lang="en-US" altLang="en-US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Working capital as a percentage of total assets (in %)</a:t>
            </a:r>
          </a:p>
          <a:p>
            <a:pPr>
              <a:spcAft>
                <a:spcPts val="600"/>
              </a:spcAft>
              <a:tabLst>
                <a:tab pos="344488" algn="l"/>
                <a:tab pos="1141413" algn="l"/>
              </a:tabLst>
            </a:pPr>
            <a:r>
              <a:rPr lang="en-US" altLang="en-US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</a:t>
            </a:r>
            <a:r>
              <a:rPr 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RE.TA</a:t>
            </a:r>
            <a:r>
              <a:rPr lang="en-US" altLang="en-US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Retained earnings as a percentage of total assets (in %)</a:t>
            </a:r>
          </a:p>
          <a:p>
            <a:pPr>
              <a:spcAft>
                <a:spcPts val="600"/>
              </a:spcAft>
              <a:tabLst>
                <a:tab pos="344488" algn="l"/>
                <a:tab pos="1141413" algn="l"/>
              </a:tabLst>
            </a:pPr>
            <a:r>
              <a:rPr lang="en-US" altLang="en-US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</a:t>
            </a:r>
            <a:r>
              <a:rPr 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EBIT.TA</a:t>
            </a:r>
            <a:r>
              <a:rPr lang="en-US" altLang="en-US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Earnings before interest and taxes as a percentage of total assets (in %) </a:t>
            </a:r>
          </a:p>
          <a:p>
            <a:pPr>
              <a:spcAft>
                <a:spcPts val="600"/>
              </a:spcAft>
              <a:tabLst>
                <a:tab pos="344488" algn="l"/>
                <a:tab pos="1141413" algn="l"/>
              </a:tabLst>
            </a:pPr>
            <a:r>
              <a:rPr lang="en-US" altLang="en-US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</a:t>
            </a:r>
            <a:r>
              <a:rPr 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S.TA</a:t>
            </a:r>
            <a:r>
              <a:rPr lang="en-US" altLang="en-US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	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Sales as a percentage of total assets (in %)</a:t>
            </a:r>
          </a:p>
          <a:p>
            <a:pPr>
              <a:tabLst>
                <a:tab pos="344488" algn="l"/>
                <a:tab pos="1141413" algn="l"/>
              </a:tabLst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BE.T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Book value of equity divided by book value of total liabilities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180" y="157233"/>
            <a:ext cx="8562392" cy="639722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Response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&amp;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Predicting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Variables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451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4688" y="957226"/>
            <a:ext cx="817639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Read the data from the file##  Exploratory analysis</a:t>
            </a:r>
          </a:p>
          <a:p>
            <a:endParaRPr lang="en-US" sz="12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bankruptcy =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read.table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("bankruptcy.dat",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sep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="\t", header=T,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row.names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=NULL)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attach(bankruptcy)</a:t>
            </a:r>
          </a:p>
          <a:p>
            <a:endParaRPr lang="en-US" sz="12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 Exploratory analysis</a:t>
            </a:r>
            <a:endParaRPr lang="en-US" sz="1200" b="1" i="1" dirty="0">
              <a:solidFill>
                <a:srgbClr val="EEB21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par(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mfrow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=c(2,3))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/>
            </a:r>
            <a:b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boxplot(split(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WC.TA,Bankrupt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style.bxp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="old",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="Bankrupt",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="WC.TA",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main="Boxplot of WC/TA")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/>
            </a:r>
            <a:b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boxplot(split(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RE.TA,Bankrupt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style.bxp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="old",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="Bankrupt",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="RE.TA",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main="Boxplot of RE/TA")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/>
            </a:r>
            <a:b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boxplot(split(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EBIT.TA,Bankrupt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style.bxp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="old",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="Bankrupt",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="EBIT.TA",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main="Boxplot of EBIT/TA")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/>
            </a:r>
            <a:b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boxplot(split(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S.TA,Bankrupt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style.bxp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="old",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="Bankrupt",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="S.TA",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main="Boxplot of S/TA")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/>
            </a:r>
            <a:b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boxplot(split(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BVE.BVL,Bankrupt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style.bxp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="old",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="Bankrupt",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="BVE.BVL",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main="Boxplot of BVE/BVL")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623825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Exploratory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Data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Analysis</a:t>
            </a:r>
            <a:r>
              <a:rPr kumimoji="1" lang="zh-CN" altLang="en-US" sz="3600" dirty="0">
                <a:latin typeface="Vitesse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943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62" y="1027233"/>
            <a:ext cx="6224617" cy="3908700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58A90B66-35AA-472C-8A75-D1E5A36B6152}"/>
              </a:ext>
            </a:extLst>
          </p:cNvPr>
          <p:cNvSpPr txBox="1">
            <a:spLocks/>
          </p:cNvSpPr>
          <p:nvPr/>
        </p:nvSpPr>
        <p:spPr>
          <a:xfrm>
            <a:off x="76180" y="157232"/>
            <a:ext cx="8562392" cy="62382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>
                <a:latin typeface="Vitesse"/>
              </a:rPr>
              <a:t>Exploratory Data Analysis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7582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76180" y="157233"/>
            <a:ext cx="8562392" cy="612234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Regression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Analysis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002" y="967130"/>
            <a:ext cx="44639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bank1 =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glm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(Bankrupt ~ WC.TA + RE.TA + EBIT.TA + S.TA + BVE.BVL, family=binomial)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summary(bank1)</a:t>
            </a:r>
          </a:p>
          <a:p>
            <a:endParaRPr lang="en-US" sz="12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Coefficients: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   </a:t>
            </a:r>
          </a:p>
          <a:p>
            <a:endParaRPr lang="en-US" sz="1200" dirty="0">
              <a:solidFill>
                <a:schemeClr val="accent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endParaRPr lang="en-US" sz="1200" dirty="0">
              <a:solidFill>
                <a:schemeClr val="accent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endParaRPr lang="en-US" sz="1200" dirty="0">
              <a:solidFill>
                <a:schemeClr val="accent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endParaRPr lang="en-US" sz="1200" dirty="0">
              <a:solidFill>
                <a:schemeClr val="accent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endParaRPr lang="en-US" sz="1200" dirty="0">
              <a:solidFill>
                <a:schemeClr val="accent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endParaRPr lang="en-US" sz="1200" dirty="0">
              <a:solidFill>
                <a:schemeClr val="accent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endParaRPr lang="en-US" sz="1200" dirty="0">
              <a:solidFill>
                <a:schemeClr val="accent1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gstat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bank1$null.deviance - deviance(bank1)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cbind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gstat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1 -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pchisq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gstat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length(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coef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(bank1))-1))</a:t>
            </a:r>
          </a:p>
          <a:p>
            <a:endParaRPr lang="en-US" sz="12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gstat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    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[1,] 57.46799 4.049594e-11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98724" y="1854415"/>
            <a:ext cx="3206960" cy="1077218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16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Test for Statistical Significance</a:t>
            </a:r>
          </a:p>
          <a:p>
            <a:pPr algn="ctr"/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All p-values &gt; 0.1 </a:t>
            </a:r>
          </a:p>
          <a:p>
            <a:r>
              <a:rPr lang="en-US" sz="1600" b="1" dirty="0">
                <a:solidFill>
                  <a:schemeClr val="tx2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None of the coefficients are statistically significant.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77790" y="3839954"/>
            <a:ext cx="488131" cy="278612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6" name="Right Arrow 15"/>
          <p:cNvSpPr/>
          <p:nvPr/>
        </p:nvSpPr>
        <p:spPr>
          <a:xfrm>
            <a:off x="4576476" y="2253718"/>
            <a:ext cx="488131" cy="278612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7" name="TextBox 16"/>
          <p:cNvSpPr txBox="1"/>
          <p:nvPr/>
        </p:nvSpPr>
        <p:spPr>
          <a:xfrm>
            <a:off x="5498724" y="3306232"/>
            <a:ext cx="3206960" cy="1077218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16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Test for Overall Regression</a:t>
            </a:r>
          </a:p>
          <a:p>
            <a:pPr algn="ctr"/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p-value </a:t>
            </a:r>
            <a:r>
              <a:rPr lang="en-US" sz="1600" dirty="0"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≈ 0</a:t>
            </a:r>
          </a:p>
          <a:p>
            <a:r>
              <a:rPr lang="en-US" sz="1600" b="1" dirty="0">
                <a:solidFill>
                  <a:schemeClr val="tx2"/>
                </a:solidFill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The overall regression has predictive power.</a:t>
            </a:r>
            <a:endParaRPr lang="en-US" sz="1600" b="1" dirty="0">
              <a:solidFill>
                <a:schemeClr val="tx2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8C7008-BE07-4C32-9E75-702726F83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494225"/>
              </p:ext>
            </p:extLst>
          </p:nvPr>
        </p:nvGraphicFramePr>
        <p:xfrm>
          <a:off x="135359" y="1962259"/>
          <a:ext cx="3899744" cy="13699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4447">
                  <a:extLst>
                    <a:ext uri="{9D8B030D-6E8A-4147-A177-3AD203B41FA5}">
                      <a16:colId xmlns:a16="http://schemas.microsoft.com/office/drawing/2014/main" val="2075310849"/>
                    </a:ext>
                  </a:extLst>
                </a:gridCol>
                <a:gridCol w="813732">
                  <a:extLst>
                    <a:ext uri="{9D8B030D-6E8A-4147-A177-3AD203B41FA5}">
                      <a16:colId xmlns:a16="http://schemas.microsoft.com/office/drawing/2014/main" val="2183387141"/>
                    </a:ext>
                  </a:extLst>
                </a:gridCol>
                <a:gridCol w="849326">
                  <a:extLst>
                    <a:ext uri="{9D8B030D-6E8A-4147-A177-3AD203B41FA5}">
                      <a16:colId xmlns:a16="http://schemas.microsoft.com/office/drawing/2014/main" val="2742301666"/>
                    </a:ext>
                  </a:extLst>
                </a:gridCol>
                <a:gridCol w="696287">
                  <a:extLst>
                    <a:ext uri="{9D8B030D-6E8A-4147-A177-3AD203B41FA5}">
                      <a16:colId xmlns:a16="http://schemas.microsoft.com/office/drawing/2014/main" val="272076598"/>
                    </a:ext>
                  </a:extLst>
                </a:gridCol>
                <a:gridCol w="645952">
                  <a:extLst>
                    <a:ext uri="{9D8B030D-6E8A-4147-A177-3AD203B41FA5}">
                      <a16:colId xmlns:a16="http://schemas.microsoft.com/office/drawing/2014/main" val="35613907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Pr(&gt;|z|)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912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7.42646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6.35770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1.168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0.243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71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WC.TA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-0.15587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0.12208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-1.277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0.202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59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RE.TA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-0.07605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0.06311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-1.205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0.228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251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EBIT.TA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-0.49111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0.32260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-1.522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0.128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847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S.TA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-0.08040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0.09216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-0.872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0.383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172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BVE.BVL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-2.07764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1.47488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-1.409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0.159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26152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0295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171154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THEMEGTX" val="O4niM9hl"/>
  <p:tag name="ARTICULATE_DESIGN_ID_4_FULL PAGE LAYOUT" val="7svCkx0E"/>
  <p:tag name="ARTICULATE_DESIGN_ID_1_OFFICE THEME" val="R80ywHmA"/>
  <p:tag name="ARTICULATE_DESIGN_ID_FULL PAGE LAYOUT" val="gA1zGnJu"/>
  <p:tag name="ARTICULATE_DESIGN_ID_HALF PAGE SLASH" val="XbBTD7Dy"/>
  <p:tag name="ARTICULATE_DESIGN_ID_3_OFFICE THEME" val="XEvvQJfz"/>
  <p:tag name="ARTICULATE_DESIGN_ID_2_OFFICE THEME" val="WIDDaHsY"/>
  <p:tag name="ARTICULATE_DESIGN_ID_1_HALF PAGE SLASH" val="PDBVVYT0"/>
  <p:tag name="ARTICULATE_DESIGN_ID_2_HALF PAGE SLASH" val="yJzKzrqb"/>
  <p:tag name="ARTICULATE_DESIGN_ID_1_FULL PAGE LAYOUT" val="JpSPfXEi"/>
  <p:tag name="ARTICULATE_SLIDE_COUNT" val="1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B8D62D-BE99-40AF-BF97-BFAE812B12CE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  <ds:schemaRef ds:uri="b057fda7-913b-4ab6-8820-932873bcd66c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17552</TotalTime>
  <Words>1120</Words>
  <Application>Microsoft Office PowerPoint</Application>
  <PresentationFormat>On-screen Show (16:9)</PresentationFormat>
  <Paragraphs>253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9" baseType="lpstr">
      <vt:lpstr>MS PGothic</vt:lpstr>
      <vt:lpstr>宋体</vt:lpstr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Book</vt:lpstr>
      <vt:lpstr>Vitesse Medium</vt:lpstr>
      <vt:lpstr>Wingdings</vt:lpstr>
      <vt:lpstr>1_Half Page Slash</vt:lpstr>
      <vt:lpstr>2_Half Page Slash</vt:lpstr>
      <vt:lpstr>1_Full Page Layout</vt:lpstr>
      <vt:lpstr>PowerPoint Presentation</vt:lpstr>
      <vt:lpstr>PowerPoint Presentation</vt:lpstr>
      <vt:lpstr>Ranking States by SAT Performance</vt:lpstr>
      <vt:lpstr>Response &amp; Predicting Variables</vt:lpstr>
      <vt:lpstr>Regression Analysis </vt:lpstr>
      <vt:lpstr>PowerPoint Presentation</vt:lpstr>
      <vt:lpstr>PowerPoint Presentation</vt:lpstr>
      <vt:lpstr>Predicting Bankruptcy</vt:lpstr>
      <vt:lpstr>Bankruptcy Data</vt:lpstr>
      <vt:lpstr>Response &amp; Predicting Variables</vt:lpstr>
      <vt:lpstr>Exploratory Data Analysis </vt:lpstr>
      <vt:lpstr>PowerPoint Presentation</vt:lpstr>
      <vt:lpstr>Regression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798</cp:revision>
  <dcterms:modified xsi:type="dcterms:W3CDTF">2020-06-11T16:38:09Z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7160C8BE-83D8-4C26-9A8A-D83625E72E46</vt:lpwstr>
  </property>
  <property fmtid="{D5CDD505-2E9C-101B-9397-08002B2CF9AE}" pid="4" name="ArticulatePath">
    <vt:lpwstr>02-ModSel_Concept-L2_revised v050820</vt:lpwstr>
  </property>
</Properties>
</file>