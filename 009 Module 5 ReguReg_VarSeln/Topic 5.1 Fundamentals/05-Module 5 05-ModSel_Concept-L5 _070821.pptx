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tags/tag11.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xml" ContentType="application/vnd.openxmlformats-officedocument.presentationml.notesSlide+xml"/>
  <Override PartName="/ppt/tags/tag22.xml" ContentType="application/vnd.openxmlformats-officedocument.presentationml.tags+xml"/>
  <Override PartName="/ppt/notesSlides/notesSlide2.xml" ContentType="application/vnd.openxmlformats-officedocument.presentationml.notesSlide+xml"/>
  <Override PartName="/ppt/tags/tag23.xml" ContentType="application/vnd.openxmlformats-officedocument.presentationml.tags+xml"/>
  <Override PartName="/ppt/notesSlides/notesSlide3.xml" ContentType="application/vnd.openxmlformats-officedocument.presentationml.notesSlide+xml"/>
  <Override PartName="/ppt/tags/tag24.xml" ContentType="application/vnd.openxmlformats-officedocument.presentationml.tags+xml"/>
  <Override PartName="/ppt/notesSlides/notesSlide4.xml" ContentType="application/vnd.openxmlformats-officedocument.presentationml.notesSlide+xml"/>
  <Override PartName="/ppt/tags/tag25.xml" ContentType="application/vnd.openxmlformats-officedocument.presentationml.tags+xml"/>
  <Override PartName="/ppt/notesSlides/notesSlide5.xml" ContentType="application/vnd.openxmlformats-officedocument.presentationml.notesSlide+xml"/>
  <Override PartName="/ppt/tags/tag26.xml" ContentType="application/vnd.openxmlformats-officedocument.presentationml.tags+xml"/>
  <Override PartName="/ppt/notesSlides/notesSlide6.xml" ContentType="application/vnd.openxmlformats-officedocument.presentationml.notesSlide+xml"/>
  <Override PartName="/ppt/tags/tag27.xml" ContentType="application/vnd.openxmlformats-officedocument.presentationml.tags+xml"/>
  <Override PartName="/ppt/notesSlides/notesSlide7.xml" ContentType="application/vnd.openxmlformats-officedocument.presentationml.notesSlide+xml"/>
  <Override PartName="/ppt/tags/tag28.xml" ContentType="application/vnd.openxmlformats-officedocument.presentationml.tags+xml"/>
  <Override PartName="/ppt/notesSlides/notesSlide8.xml" ContentType="application/vnd.openxmlformats-officedocument.presentationml.notesSlide+xml"/>
  <Override PartName="/ppt/tags/tag29.xml" ContentType="application/vnd.openxmlformats-officedocument.presentationml.tags+xml"/>
  <Override PartName="/ppt/notesSlides/notesSlide9.xml" ContentType="application/vnd.openxmlformats-officedocument.presentationml.notesSlide+xml"/>
  <Override PartName="/ppt/tags/tag30.xml" ContentType="application/vnd.openxmlformats-officedocument.presentationml.tags+xml"/>
  <Override PartName="/ppt/notesSlides/notesSlide10.xml" ContentType="application/vnd.openxmlformats-officedocument.presentationml.notesSlide+xml"/>
  <Override PartName="/ppt/tags/tag31.xml" ContentType="application/vnd.openxmlformats-officedocument.presentationml.tags+xml"/>
  <Override PartName="/ppt/notesSlides/notesSlide11.xml" ContentType="application/vnd.openxmlformats-officedocument.presentationml.notesSlide+xml"/>
  <Override PartName="/ppt/tags/tag3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omments/modernComment_203_52B3E8E0.xml" ContentType="application/vnd.ms-powerpoint.comments+xml"/>
  <Override PartName="/ppt/comments/modernComment_206_3380809.xml" ContentType="application/vnd.ms-powerpoint.comments+xml"/>
  <Override PartName="/ppt/comments/modernComment_207_95F2770B.xml" ContentType="application/vnd.ms-powerpoint.comments+xml"/>
  <Override PartName="/ppt/comments/modernComment_208_16F2AECE.xml" ContentType="application/vnd.ms-powerpoint.comments+xml"/>
  <Override PartName="/ppt/comments/modernComment_210_81DBBA3A.xml" ContentType="application/vnd.ms-powerpoint.comment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3" r:id="rId4"/>
    <p:sldMasterId id="2147483732" r:id="rId5"/>
    <p:sldMasterId id="2147483733" r:id="rId6"/>
  </p:sldMasterIdLst>
  <p:notesMasterIdLst>
    <p:notesMasterId r:id="rId21"/>
  </p:notesMasterIdLst>
  <p:handoutMasterIdLst>
    <p:handoutMasterId r:id="rId22"/>
  </p:handoutMasterIdLst>
  <p:sldIdLst>
    <p:sldId id="489" r:id="rId7"/>
    <p:sldId id="498" r:id="rId8"/>
    <p:sldId id="550" r:id="rId9"/>
    <p:sldId id="515" r:id="rId10"/>
    <p:sldId id="516" r:id="rId11"/>
    <p:sldId id="517" r:id="rId12"/>
    <p:sldId id="552" r:id="rId13"/>
    <p:sldId id="542" r:id="rId14"/>
    <p:sldId id="518" r:id="rId15"/>
    <p:sldId id="549" r:id="rId16"/>
    <p:sldId id="519" r:id="rId17"/>
    <p:sldId id="520" r:id="rId18"/>
    <p:sldId id="528" r:id="rId19"/>
    <p:sldId id="344" r:id="rId20"/>
  </p:sldIdLst>
  <p:sldSz cx="9144000" cy="5143500" type="screen16x9"/>
  <p:notesSz cx="6858000" cy="9144000"/>
  <p:custDataLst>
    <p:tags r:id="rId2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C567BE6-4E2E-2A45-BD72-59F9659A3211}">
          <p14:sldIdLst>
            <p14:sldId id="489"/>
            <p14:sldId id="498"/>
            <p14:sldId id="550"/>
            <p14:sldId id="515"/>
            <p14:sldId id="516"/>
            <p14:sldId id="517"/>
            <p14:sldId id="552"/>
            <p14:sldId id="542"/>
            <p14:sldId id="518"/>
            <p14:sldId id="549"/>
            <p14:sldId id="519"/>
            <p14:sldId id="520"/>
            <p14:sldId id="528"/>
            <p14:sldId id="344"/>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guide id="3" pos="120" userDrawn="1">
          <p15:clr>
            <a:srgbClr val="A4A3A4"/>
          </p15:clr>
        </p15:guide>
        <p15:guide id="4" pos="336" userDrawn="1">
          <p15:clr>
            <a:srgbClr val="A4A3A4"/>
          </p15:clr>
        </p15:guide>
        <p15:guide id="5" pos="3456" userDrawn="1">
          <p15:clr>
            <a:srgbClr val="A4A3A4"/>
          </p15:clr>
        </p15:guide>
        <p15:guide id="6" pos="5664" userDrawn="1">
          <p15:clr>
            <a:srgbClr val="A4A3A4"/>
          </p15:clr>
        </p15:guide>
        <p15:guide id="7" orient="horz" pos="396" userDrawn="1">
          <p15:clr>
            <a:srgbClr val="A4A3A4"/>
          </p15:clr>
        </p15:guide>
        <p15:guide id="8" orient="horz" pos="732" userDrawn="1">
          <p15:clr>
            <a:srgbClr val="A4A3A4"/>
          </p15:clr>
        </p15:guide>
        <p15:guide id="9" orient="horz" pos="3132" userDrawn="1">
          <p15:clr>
            <a:srgbClr val="A4A3A4"/>
          </p15:clr>
        </p15:guide>
        <p15:guide id="10" orient="horz" pos="1260" userDrawn="1">
          <p15:clr>
            <a:srgbClr val="A4A3A4"/>
          </p15:clr>
        </p15:guide>
        <p15:guide id="11" pos="64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E6B6AFC-8BFD-806F-D3AF-75EF9FEA13C7}" name="Richard Levine" initials="RL" userId="Richard Levin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Figueroa, Shabana" initials="FS" lastIdx="16" clrIdx="0"/>
  <p:cmAuthor id="2" name="Figueroa, Shabana" initials="FS [2]" lastIdx="1" clrIdx="1"/>
  <p:cmAuthor id="3" name="Serban, Nicoleta" initials="SN" lastIdx="11" clrIdx="2"/>
  <p:cmAuthor id="4" name="Hu, Rui" initials="HR" lastIdx="1" clrIdx="3"/>
  <p:cmAuthor id="5" name="Hu, Rui" initials="HR [2]" lastIdx="1"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B211"/>
    <a:srgbClr val="3F6CAF"/>
    <a:srgbClr val="8E4221"/>
    <a:srgbClr val="1F497D"/>
    <a:srgbClr val="984807"/>
    <a:srgbClr val="993200"/>
    <a:srgbClr val="F8FFF1"/>
    <a:srgbClr val="000000"/>
    <a:srgbClr val="F7FFEE"/>
    <a:srgbClr val="F5FCE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78" y="82"/>
      </p:cViewPr>
      <p:guideLst>
        <p:guide orient="horz" pos="1620"/>
        <p:guide pos="2880"/>
        <p:guide pos="120"/>
        <p:guide pos="336"/>
        <p:guide pos="3456"/>
        <p:guide pos="5664"/>
        <p:guide orient="horz" pos="396"/>
        <p:guide orient="horz" pos="732"/>
        <p:guide orient="horz" pos="3132"/>
        <p:guide orient="horz" pos="1260"/>
        <p:guide pos="64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presProps" Target="presProps.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handoutMaster" Target="handoutMasters/handoutMaster1.xml"/><Relationship Id="rId27" Type="http://schemas.openxmlformats.org/officeDocument/2006/relationships/theme" Target="theme/theme1.xml"/></Relationships>
</file>

<file path=ppt/comments/modernComment_203_52B3E8E0.xml><?xml version="1.0" encoding="utf-8"?>
<p188:cmLst xmlns:a="http://schemas.openxmlformats.org/drawingml/2006/main" xmlns:r="http://schemas.openxmlformats.org/officeDocument/2006/relationships" xmlns:p188="http://schemas.microsoft.com/office/powerpoint/2018/8/main">
  <p188:cm id="{EC95EC3A-E719-410C-8231-8B70A86647F7}" authorId="{0E6B6AFC-8BFD-806F-D3AF-75EF9FEA13C7}" created="2020-04-25T06:34:50.840">
    <pc:sldMkLst xmlns:pc="http://schemas.microsoft.com/office/powerpoint/2013/main/command">
      <pc:docMk/>
      <pc:sldMk cId="1387522272" sldId="515"/>
    </pc:sldMkLst>
    <p188:txBody>
      <a:bodyPr/>
      <a:lstStyle/>
      <a:p>
        <a:r>
          <a:rPr lang="en-US"/>
          <a:t>Note that I included the last row of the leaps output, which wasn't in the original slide. The current narration makes mention of the "last row provided on the slid" which, now, would be the next to the last row provided. You might also mention that the (now) last row provided shows all six variables included.</a:t>
        </a:r>
      </a:p>
    </p188:txBody>
  </p188:cm>
</p188:cmLst>
</file>

<file path=ppt/comments/modernComment_206_3380809.xml><?xml version="1.0" encoding="utf-8"?>
<p188:cmLst xmlns:a="http://schemas.openxmlformats.org/drawingml/2006/main" xmlns:r="http://schemas.openxmlformats.org/officeDocument/2006/relationships" xmlns:p188="http://schemas.microsoft.com/office/powerpoint/2018/8/main">
  <p188:cm id="{79B24F78-8447-4D74-8CC7-66F66CA4BE1C}" authorId="{0E6B6AFC-8BFD-806F-D3AF-75EF9FEA13C7}" created="2020-04-25T19:27:10.770">
    <pc:sldMkLst xmlns:pc="http://schemas.microsoft.com/office/powerpoint/2013/main/command">
      <pc:docMk/>
      <pc:sldMk cId="54003721" sldId="518"/>
    </pc:sldMkLst>
    <p188:txBody>
      <a:bodyPr/>
      <a:lstStyle/>
      <a:p>
        <a:r>
          <a:rPr lang="en-US"/>
          <a:t>Note: I originally added maxit from source code file and epsilon just for exposure. They are not required. p-values are very slightly different (in ten-thousandths), and with epsilon, an message is issued that isn' there without. I'l supply two or three versions of this slide, and you can choose.
ADDENDUM: In the complete separation slide, the maxit parameter (which was used in the source code file) was needed in order to generate the original output. Perhaps it should be included here for consistency. One of the following slides has just that parameter added.</a:t>
        </a:r>
      </a:p>
    </p188:txBody>
  </p188:cm>
</p188:cmLst>
</file>

<file path=ppt/comments/modernComment_207_95F2770B.xml><?xml version="1.0" encoding="utf-8"?>
<p188:cmLst xmlns:a="http://schemas.openxmlformats.org/drawingml/2006/main" xmlns:r="http://schemas.openxmlformats.org/officeDocument/2006/relationships" xmlns:p188="http://schemas.microsoft.com/office/powerpoint/2018/8/main">
  <p188:cm id="{66D0A41A-707A-4FDA-B16E-2D148E8C08E8}" authorId="{0E6B6AFC-8BFD-806F-D3AF-75EF9FEA13C7}" created="2020-04-26T03:21:57.719">
    <ac:deMkLst xmlns:ac="http://schemas.microsoft.com/office/drawing/2013/main/command">
      <pc:docMk xmlns:pc="http://schemas.microsoft.com/office/powerpoint/2013/main/command"/>
      <pc:sldMk xmlns:pc="http://schemas.microsoft.com/office/powerpoint/2013/main/command" cId="2515695371" sldId="519"/>
      <ac:spMk id="71683" creationId="{00000000-0000-0000-0000-000000000000}"/>
    </ac:deMkLst>
    <p188:txBody>
      <a:bodyPr/>
      <a:lstStyle/>
      <a:p>
        <a:r>
          <a:rPr lang="en-US"/>
          <a:t>In order to show the complete separation with all p-values 1, I need to add a maxit parameter with value at least 30. Perhaps that's why the parameter was there in the other slide. Without that parameter, or with too low a value for that parameter, the p-values are very close to 1 but not equal to 1. I've added the parameter in order to produce the results from the original slide.
I also included the warning message from the glm call. It wasn't in the original slide.</a:t>
        </a:r>
      </a:p>
    </p188:txBody>
  </p188:cm>
</p188:cmLst>
</file>

<file path=ppt/comments/modernComment_208_16F2AECE.xml><?xml version="1.0" encoding="utf-8"?>
<p188:cmLst xmlns:a="http://schemas.openxmlformats.org/drawingml/2006/main" xmlns:r="http://schemas.openxmlformats.org/officeDocument/2006/relationships" xmlns:p188="http://schemas.microsoft.com/office/powerpoint/2018/8/main">
  <p188:cm id="{91189C20-4F7E-4C43-8467-3CF0A7A3970A}" authorId="{0E6B6AFC-8BFD-806F-D3AF-75EF9FEA13C7}" created="2020-04-26T03:47:25.966">
    <pc:sldMkLst xmlns:pc="http://schemas.microsoft.com/office/powerpoint/2013/main/command">
      <pc:docMk/>
      <pc:sldMk cId="385003214" sldId="520"/>
    </pc:sldMkLst>
    <p188:txBody>
      <a:bodyPr/>
      <a:lstStyle/>
      <a:p>
        <a:r>
          <a:rPr lang="en-US"/>
          <a:t>I removed x=T and added maxit=500 to the glm call for consistency with other slides.</a:t>
        </a:r>
      </a:p>
    </p188:txBody>
  </p188:cm>
</p188:cmLst>
</file>

<file path=ppt/comments/modernComment_210_81DBBA3A.xml><?xml version="1.0" encoding="utf-8"?>
<p188:cmLst xmlns:a="http://schemas.openxmlformats.org/drawingml/2006/main" xmlns:r="http://schemas.openxmlformats.org/officeDocument/2006/relationships" xmlns:p188="http://schemas.microsoft.com/office/powerpoint/2018/8/main">
  <p188:cm id="{9E6A16B1-3942-4224-8C09-101BAF82790D}" authorId="{0E6B6AFC-8BFD-806F-D3AF-75EF9FEA13C7}" created="2020-04-27T10:29:59.412">
    <pc:sldMkLst xmlns:pc="http://schemas.microsoft.com/office/powerpoint/2013/main/command">
      <pc:docMk/>
      <pc:sldMk cId="2178660922" sldId="528"/>
    </pc:sldMkLst>
    <p188:txBody>
      <a:bodyPr/>
      <a:lstStyle/>
      <a:p>
        <a:r>
          <a:rPr lang="en-US"/>
          <a:t>The summary output was missing. I've added it (partial) here.</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DFD447-ACB1-BC49-B8EF-23729E0A333F}" type="datetimeFigureOut">
              <a:rPr lang="en-US" smtClean="0"/>
              <a:t>6/8/2021</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EF598F-7A46-204A-ADDD-A1229C86B248}"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1738FA-185A-CF4F-BD02-7990310E47F3}" type="datetimeFigureOut">
              <a:rPr lang="en-US" smtClean="0"/>
              <a:t>6/8/2021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F7A93-C87A-E149-BF89-5D793380F19A}"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EB0A727-CD93-43DD-ACDD-AAF4F8395EA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0239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13F7A93-C87A-E149-BF89-5D793380F19A}" type="slidenum">
              <a:rPr lang="en-US" smtClean="0"/>
              <a:t>4</a:t>
            </a:fld>
            <a:endParaRPr lang="en-US"/>
          </a:p>
        </p:txBody>
      </p:sp>
    </p:spTree>
    <p:extLst>
      <p:ext uri="{BB962C8B-B14F-4D97-AF65-F5344CB8AC3E}">
        <p14:creationId xmlns:p14="http://schemas.microsoft.com/office/powerpoint/2010/main" val="96348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p>
        </p:txBody>
      </p:sp>
      <p:sp>
        <p:nvSpPr>
          <p:cNvPr id="4" name="Slide Number Placeholder 3"/>
          <p:cNvSpPr>
            <a:spLocks noGrp="1"/>
          </p:cNvSpPr>
          <p:nvPr>
            <p:ph type="sldNum" sz="quarter" idx="10"/>
          </p:nvPr>
        </p:nvSpPr>
        <p:spPr/>
        <p:txBody>
          <a:bodyPr/>
          <a:lstStyle/>
          <a:p>
            <a:fld id="{B13F7A93-C87A-E149-BF89-5D793380F19A}" type="slidenum">
              <a:rPr lang="en-US" smtClean="0"/>
              <a:t>5</a:t>
            </a:fld>
            <a:endParaRPr lang="en-US"/>
          </a:p>
        </p:txBody>
      </p:sp>
    </p:spTree>
    <p:extLst>
      <p:ext uri="{BB962C8B-B14F-4D97-AF65-F5344CB8AC3E}">
        <p14:creationId xmlns:p14="http://schemas.microsoft.com/office/powerpoint/2010/main" val="12843257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13F7A93-C87A-E149-BF89-5D793380F19A}" type="slidenum">
              <a:rPr lang="en-US" smtClean="0"/>
              <a:t>6</a:t>
            </a:fld>
            <a:endParaRPr lang="en-US"/>
          </a:p>
        </p:txBody>
      </p:sp>
    </p:spTree>
    <p:extLst>
      <p:ext uri="{BB962C8B-B14F-4D97-AF65-F5344CB8AC3E}">
        <p14:creationId xmlns:p14="http://schemas.microsoft.com/office/powerpoint/2010/main" val="1844749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13F7A93-C87A-E149-BF89-5D793380F19A}" type="slidenum">
              <a:rPr lang="en-US" smtClean="0"/>
              <a:t>7</a:t>
            </a:fld>
            <a:endParaRPr lang="en-US"/>
          </a:p>
        </p:txBody>
      </p:sp>
    </p:spTree>
    <p:extLst>
      <p:ext uri="{BB962C8B-B14F-4D97-AF65-F5344CB8AC3E}">
        <p14:creationId xmlns:p14="http://schemas.microsoft.com/office/powerpoint/2010/main" val="3561518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4" name="Slide Number Placeholder 3"/>
          <p:cNvSpPr>
            <a:spLocks noGrp="1"/>
          </p:cNvSpPr>
          <p:nvPr>
            <p:ph type="sldNum" sz="quarter" idx="5"/>
          </p:nvPr>
        </p:nvSpPr>
        <p:spPr/>
        <p:txBody>
          <a:bodyPr/>
          <a:lstStyle/>
          <a:p>
            <a:pPr>
              <a:defRPr/>
            </a:pPr>
            <a:fld id="{EEB0A727-CD93-43DD-ACDD-AAF4F8395EA0}" type="slidenum">
              <a:rPr lang="en-US" smtClean="0"/>
              <a:pPr>
                <a:defRPr/>
              </a:pPr>
              <a:t>8</a:t>
            </a:fld>
            <a:endParaRPr lang="en-US"/>
          </a:p>
        </p:txBody>
      </p:sp>
    </p:spTree>
    <p:extLst>
      <p:ext uri="{BB962C8B-B14F-4D97-AF65-F5344CB8AC3E}">
        <p14:creationId xmlns:p14="http://schemas.microsoft.com/office/powerpoint/2010/main" val="239561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13F7A93-C87A-E149-BF89-5D793380F19A}" type="slidenum">
              <a:rPr lang="en-US" smtClean="0"/>
              <a:t>9</a:t>
            </a:fld>
            <a:endParaRPr lang="en-US"/>
          </a:p>
        </p:txBody>
      </p:sp>
    </p:spTree>
    <p:extLst>
      <p:ext uri="{BB962C8B-B14F-4D97-AF65-F5344CB8AC3E}">
        <p14:creationId xmlns:p14="http://schemas.microsoft.com/office/powerpoint/2010/main" val="413032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13F7A93-C87A-E149-BF89-5D793380F19A}" type="slidenum">
              <a:rPr lang="en-US" smtClean="0"/>
              <a:t>10</a:t>
            </a:fld>
            <a:endParaRPr lang="en-US"/>
          </a:p>
        </p:txBody>
      </p:sp>
    </p:spTree>
    <p:extLst>
      <p:ext uri="{BB962C8B-B14F-4D97-AF65-F5344CB8AC3E}">
        <p14:creationId xmlns:p14="http://schemas.microsoft.com/office/powerpoint/2010/main" val="31756579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13F7A93-C87A-E149-BF89-5D793380F19A}" type="slidenum">
              <a:rPr lang="en-US" smtClean="0"/>
              <a:t>11</a:t>
            </a:fld>
            <a:endParaRPr lang="en-US"/>
          </a:p>
        </p:txBody>
      </p:sp>
    </p:spTree>
    <p:extLst>
      <p:ext uri="{BB962C8B-B14F-4D97-AF65-F5344CB8AC3E}">
        <p14:creationId xmlns:p14="http://schemas.microsoft.com/office/powerpoint/2010/main" val="25666482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13F7A93-C87A-E149-BF89-5D793380F19A}" type="slidenum">
              <a:rPr lang="en-US" smtClean="0"/>
              <a:t>12</a:t>
            </a:fld>
            <a:endParaRPr lang="en-US"/>
          </a:p>
        </p:txBody>
      </p:sp>
    </p:spTree>
    <p:extLst>
      <p:ext uri="{BB962C8B-B14F-4D97-AF65-F5344CB8AC3E}">
        <p14:creationId xmlns:p14="http://schemas.microsoft.com/office/powerpoint/2010/main" val="3854970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0000"/>
              </a:lnSpc>
            </a:pPr>
            <a:endParaRPr lang="en-US"/>
          </a:p>
        </p:txBody>
      </p:sp>
      <p:sp>
        <p:nvSpPr>
          <p:cNvPr id="4" name="Slide Number Placeholder 3"/>
          <p:cNvSpPr>
            <a:spLocks noGrp="1"/>
          </p:cNvSpPr>
          <p:nvPr>
            <p:ph type="sldNum" sz="quarter" idx="10"/>
          </p:nvPr>
        </p:nvSpPr>
        <p:spPr/>
        <p:txBody>
          <a:bodyPr/>
          <a:lstStyle/>
          <a:p>
            <a:fld id="{B13F7A93-C87A-E149-BF89-5D793380F19A}" type="slidenum">
              <a:rPr lang="en-US" smtClean="0"/>
              <a:t>13</a:t>
            </a:fld>
            <a:endParaRPr lang="en-US"/>
          </a:p>
        </p:txBody>
      </p:sp>
    </p:spTree>
    <p:extLst>
      <p:ext uri="{BB962C8B-B14F-4D97-AF65-F5344CB8AC3E}">
        <p14:creationId xmlns:p14="http://schemas.microsoft.com/office/powerpoint/2010/main" val="12355403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3.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4.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5.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6.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7.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81920" y="1421266"/>
            <a:ext cx="4727575" cy="1330325"/>
          </a:xfrm>
        </p:spPr>
        <p:txBody>
          <a:bodyPr/>
          <a:lstStyle>
            <a:lvl1pPr marL="0" indent="0">
              <a:buNone/>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3615282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5520941" cy="993775"/>
          </a:xfrm>
          <a:prstGeom prst="rect">
            <a:avLst/>
          </a:prstGeom>
        </p:spPr>
        <p:txBody>
          <a:bodyPr/>
          <a:lstStyle>
            <a:lvl1pPr algn="l">
              <a:defRPr lang="en-US" sz="4400" kern="1200" dirty="0">
                <a:solidFill>
                  <a:schemeClr val="tx1"/>
                </a:solidFill>
                <a:latin typeface="Vitesse Bold"/>
                <a:ea typeface="+mj-ea"/>
                <a:cs typeface="Vitesse Bold"/>
              </a:defRPr>
            </a:lvl1pPr>
          </a:lstStyle>
          <a:p>
            <a:r>
              <a:rPr lang="en-US"/>
              <a:t>Click to edit Master title style</a:t>
            </a:r>
          </a:p>
        </p:txBody>
      </p:sp>
      <p:sp>
        <p:nvSpPr>
          <p:cNvPr id="6" name="Content Placeholder 5"/>
          <p:cNvSpPr>
            <a:spLocks noGrp="1"/>
          </p:cNvSpPr>
          <p:nvPr>
            <p:ph sz="quarter" idx="10"/>
          </p:nvPr>
        </p:nvSpPr>
        <p:spPr>
          <a:xfrm>
            <a:off x="628649" y="1436688"/>
            <a:ext cx="4375430" cy="2994025"/>
          </a:xfrm>
          <a:prstGeom prst="rect">
            <a:avLst/>
          </a:prstGeom>
        </p:spPr>
        <p:txBody>
          <a:bodyPr/>
          <a:lstStyle>
            <a:lvl1pPr>
              <a:defRPr>
                <a:latin typeface="Vitesse Book" charset="0"/>
                <a:ea typeface="Vitesse Book" charset="0"/>
                <a:cs typeface="Vitesse Book" charset="0"/>
              </a:defRPr>
            </a:lvl1pPr>
            <a:lvl2pPr>
              <a:defRPr>
                <a:latin typeface="Vitesse Book" charset="0"/>
                <a:ea typeface="Vitesse Book" charset="0"/>
                <a:cs typeface="Vitesse Book" charset="0"/>
              </a:defRPr>
            </a:lvl2pPr>
            <a:lvl3pPr>
              <a:defRPr>
                <a:latin typeface="Vitesse Book" charset="0"/>
                <a:ea typeface="Vitesse Book" charset="0"/>
                <a:cs typeface="Vitesse Book" charset="0"/>
              </a:defRPr>
            </a:lvl3pPr>
            <a:lvl4pPr>
              <a:defRPr>
                <a:latin typeface="Vitesse Book" charset="0"/>
                <a:ea typeface="Vitesse Book" charset="0"/>
                <a:cs typeface="Vitesse Book" charset="0"/>
              </a:defRPr>
            </a:lvl4pPr>
            <a:lvl5pPr>
              <a:defRPr>
                <a:latin typeface="Vitesse Book" charset="0"/>
                <a:ea typeface="Vitesse Book" charset="0"/>
                <a:cs typeface="Vitesse Boo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1335599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286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3"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4"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fld id="{A2002E78-3C88-9A40-B579-FA4DB2691E4F}" type="slidenum">
              <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rPr>
              <a:pPr marL="0" marR="0" lvl="0" indent="0" algn="l" defTabSz="457200" rtl="0" eaLnBrk="0" fontAlgn="base" latinLnBrk="0" hangingPunct="0">
                <a:lnSpc>
                  <a:spcPct val="100000"/>
                </a:lnSpc>
                <a:spcBef>
                  <a:spcPct val="0"/>
                </a:spcBef>
                <a:spcAft>
                  <a:spcPct val="0"/>
                </a:spcAft>
                <a:buClrTx/>
                <a:buSzTx/>
                <a:buFontTx/>
                <a:buNone/>
                <a:tabLst/>
                <a:defRPr/>
              </a:pPr>
              <a:t>‹#›</a:t>
            </a:fld>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Tree>
    <p:custDataLst>
      <p:tags r:id="rId1"/>
    </p:custDataLst>
    <p:extLst>
      <p:ext uri="{BB962C8B-B14F-4D97-AF65-F5344CB8AC3E}">
        <p14:creationId xmlns:p14="http://schemas.microsoft.com/office/powerpoint/2010/main" val="487013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85093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fld id="{134F0668-60AC-E24C-8E50-B74DE0FA4F02}" type="slidenum">
              <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rPr>
              <a:pPr marL="0" marR="0" lvl="0" indent="0" algn="l" defTabSz="457200" rtl="0" eaLnBrk="0" fontAlgn="base" latinLnBrk="0" hangingPunct="0">
                <a:lnSpc>
                  <a:spcPct val="100000"/>
                </a:lnSpc>
                <a:spcBef>
                  <a:spcPct val="0"/>
                </a:spcBef>
                <a:spcAft>
                  <a:spcPct val="0"/>
                </a:spcAft>
                <a:buClrTx/>
                <a:buSzTx/>
                <a:buFontTx/>
                <a:buNone/>
                <a:tabLst/>
                <a:defRPr/>
              </a:pPr>
              <a:t>‹#›</a:t>
            </a:fld>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Tree>
    <p:custDataLst>
      <p:tags r:id="rId1"/>
    </p:custDataLst>
    <p:extLst>
      <p:ext uri="{BB962C8B-B14F-4D97-AF65-F5344CB8AC3E}">
        <p14:creationId xmlns:p14="http://schemas.microsoft.com/office/powerpoint/2010/main" val="3571487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alf Page BLANK">
    <p:spTree>
      <p:nvGrpSpPr>
        <p:cNvPr id="1" name=""/>
        <p:cNvGrpSpPr/>
        <p:nvPr/>
      </p:nvGrpSpPr>
      <p:grpSpPr>
        <a:xfrm>
          <a:off x="0" y="0"/>
          <a:ext cx="0" cy="0"/>
          <a:chOff x="0" y="0"/>
          <a:chExt cx="0" cy="0"/>
        </a:xfrm>
      </p:grpSpPr>
      <p:sp>
        <p:nvSpPr>
          <p:cNvPr id="2" name="Title 1"/>
          <p:cNvSpPr>
            <a:spLocks noGrp="1"/>
          </p:cNvSpPr>
          <p:nvPr>
            <p:ph type="title"/>
          </p:nvPr>
        </p:nvSpPr>
        <p:spPr>
          <a:xfrm>
            <a:off x="252349" y="274679"/>
            <a:ext cx="6182318" cy="993775"/>
          </a:xfrm>
          <a:prstGeom prst="rect">
            <a:avLst/>
          </a:prstGeom>
        </p:spPr>
        <p:txBody>
          <a:bodyPr/>
          <a:lstStyle>
            <a:lvl1pPr algn="l">
              <a:defRPr lang="en-US" sz="30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4189104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3072449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5" name="Title 1"/>
          <p:cNvSpPr>
            <a:spLocks noGrp="1"/>
          </p:cNvSpPr>
          <p:nvPr>
            <p:ph type="title"/>
          </p:nvPr>
        </p:nvSpPr>
        <p:spPr>
          <a:xfrm>
            <a:off x="252348" y="274678"/>
            <a:ext cx="8449503"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a:t>Click to edit Master title style</a:t>
            </a:r>
            <a:endParaRPr lang="en-US" dirty="0"/>
          </a:p>
        </p:txBody>
      </p:sp>
    </p:spTree>
    <p:custDataLst>
      <p:tags r:id="rId1"/>
    </p:custDataLst>
    <p:extLst>
      <p:ext uri="{BB962C8B-B14F-4D97-AF65-F5344CB8AC3E}">
        <p14:creationId xmlns:p14="http://schemas.microsoft.com/office/powerpoint/2010/main" val="1093669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1236674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Page w/ Bullets">
    <p:spTree>
      <p:nvGrpSpPr>
        <p:cNvPr id="1" name=""/>
        <p:cNvGrpSpPr/>
        <p:nvPr/>
      </p:nvGrpSpPr>
      <p:grpSpPr>
        <a:xfrm>
          <a:off x="0" y="0"/>
          <a:ext cx="0" cy="0"/>
          <a:chOff x="0" y="0"/>
          <a:chExt cx="0" cy="0"/>
        </a:xfrm>
      </p:grpSpPr>
      <p:sp>
        <p:nvSpPr>
          <p:cNvPr id="10" name="Content Placeholder 5"/>
          <p:cNvSpPr>
            <a:spLocks noGrp="1"/>
          </p:cNvSpPr>
          <p:nvPr>
            <p:ph sz="quarter" idx="10"/>
          </p:nvPr>
        </p:nvSpPr>
        <p:spPr>
          <a:xfrm>
            <a:off x="252349" y="1268453"/>
            <a:ext cx="8280166" cy="3519917"/>
          </a:xfrm>
          <a:prstGeom prst="rect">
            <a:avLst/>
          </a:prstGeom>
        </p:spPr>
        <p:txBody>
          <a:bodyPr/>
          <a:lstStyle>
            <a:lvl1pPr>
              <a:defRPr sz="2000">
                <a:latin typeface="Helvetica" charset="0"/>
                <a:ea typeface="Helvetica" charset="0"/>
                <a:cs typeface="Helvetica" charset="0"/>
              </a:defRPr>
            </a:lvl1pPr>
            <a:lvl2pPr>
              <a:defRPr sz="1800">
                <a:latin typeface="Helvetica" charset="0"/>
                <a:ea typeface="Helvetica" charset="0"/>
                <a:cs typeface="Helvetica" charset="0"/>
              </a:defRPr>
            </a:lvl2pPr>
            <a:lvl3pPr>
              <a:defRPr sz="1800">
                <a:latin typeface="Helvetica" charset="0"/>
                <a:ea typeface="Helvetica" charset="0"/>
                <a:cs typeface="Helvetica" charset="0"/>
              </a:defRPr>
            </a:lvl3pPr>
            <a:lvl4pPr>
              <a:defRPr sz="1800">
                <a:latin typeface="Helvetica" charset="0"/>
                <a:ea typeface="Helvetica" charset="0"/>
                <a:cs typeface="Helvetica" charset="0"/>
              </a:defRPr>
            </a:lvl4pPr>
            <a:lvl5pPr>
              <a:defRPr sz="1800">
                <a:latin typeface="Helvetica" charset="0"/>
                <a:ea typeface="Helvetica" charset="0"/>
                <a:cs typeface="Helvetica"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252349" y="274678"/>
            <a:ext cx="8280166"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675761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5" name="Title 1"/>
          <p:cNvSpPr>
            <a:spLocks noGrp="1"/>
          </p:cNvSpPr>
          <p:nvPr>
            <p:ph type="title"/>
          </p:nvPr>
        </p:nvSpPr>
        <p:spPr>
          <a:xfrm>
            <a:off x="252348" y="274678"/>
            <a:ext cx="8449503"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21287388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Page w/ Text + Graphic">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233538" y="1110075"/>
            <a:ext cx="3595277" cy="3612444"/>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6" name="Chart Placeholder 3"/>
          <p:cNvSpPr>
            <a:spLocks noGrp="1"/>
          </p:cNvSpPr>
          <p:nvPr>
            <p:ph type="chart" sz="quarter" idx="11"/>
          </p:nvPr>
        </p:nvSpPr>
        <p:spPr>
          <a:xfrm>
            <a:off x="3828815" y="1110075"/>
            <a:ext cx="4948296" cy="3612444"/>
          </a:xfrm>
          <a:prstGeom prst="rect">
            <a:avLst/>
          </a:prstGeom>
        </p:spPr>
        <p:txBody>
          <a:bodyPr/>
          <a:lstStyle>
            <a:lvl1pPr marL="0" indent="0">
              <a:buNone/>
              <a:defRPr/>
            </a:lvl1pPr>
          </a:lstStyle>
          <a:p>
            <a:endParaRPr lang="en-US" dirty="0"/>
          </a:p>
        </p:txBody>
      </p:sp>
      <p:sp>
        <p:nvSpPr>
          <p:cNvPr id="10"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510070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p:nvPr>
        </p:nvSpPr>
        <p:spPr>
          <a:xfrm>
            <a:off x="252349" y="1268453"/>
            <a:ext cx="8110832" cy="3564316"/>
          </a:xfrm>
          <a:prstGeom prst="rect">
            <a:avLst/>
          </a:prstGeom>
        </p:spPr>
        <p:txBody>
          <a:bodyPr/>
          <a:lstStyle>
            <a:lvl1pPr marL="0" indent="0">
              <a:buNone/>
              <a:defRPr sz="2000">
                <a:latin typeface="Helvetica" charset="0"/>
                <a:ea typeface="Helvetica" charset="0"/>
                <a:cs typeface="Helvetica" charset="0"/>
              </a:defRPr>
            </a:lvl1pPr>
          </a:lstStyle>
          <a:p>
            <a:endParaRPr lang="en-US" dirty="0"/>
          </a:p>
        </p:txBody>
      </p:sp>
      <p:sp>
        <p:nvSpPr>
          <p:cNvPr id="5"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18991627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alf Page BLANK">
    <p:spTree>
      <p:nvGrpSpPr>
        <p:cNvPr id="1" name=""/>
        <p:cNvGrpSpPr/>
        <p:nvPr/>
      </p:nvGrpSpPr>
      <p:grpSpPr>
        <a:xfrm>
          <a:off x="0" y="0"/>
          <a:ext cx="0" cy="0"/>
          <a:chOff x="0" y="0"/>
          <a:chExt cx="0" cy="0"/>
        </a:xfrm>
      </p:grpSpPr>
      <p:sp>
        <p:nvSpPr>
          <p:cNvPr id="2" name="Title 1"/>
          <p:cNvSpPr>
            <a:spLocks noGrp="1"/>
          </p:cNvSpPr>
          <p:nvPr>
            <p:ph type="title"/>
          </p:nvPr>
        </p:nvSpPr>
        <p:spPr>
          <a:xfrm>
            <a:off x="252349" y="274679"/>
            <a:ext cx="6182318"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3932741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heme" Target="../theme/theme2.xml"/><Relationship Id="rId6" Type="http://schemas.openxmlformats.org/officeDocument/2006/relationships/image" Target="../media/image1.jpg"/><Relationship Id="rId5" Type="http://schemas.openxmlformats.org/officeDocument/2006/relationships/image" Target="../media/image4.png"/><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12.xml"/><Relationship Id="rId3" Type="http://schemas.openxmlformats.org/officeDocument/2006/relationships/slideLayout" Target="../slideLayouts/slideLayout11.xml"/><Relationship Id="rId7"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4.png"/><Relationship Id="rId5" Type="http://schemas.openxmlformats.org/officeDocument/2006/relationships/slideLayout" Target="../slideLayouts/slideLayout13.xml"/><Relationship Id="rId10" Type="http://schemas.openxmlformats.org/officeDocument/2006/relationships/image" Target="../media/image3.png"/><Relationship Id="rId4" Type="http://schemas.openxmlformats.org/officeDocument/2006/relationships/slideLayout" Target="../slideLayouts/slideLayout12.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 xmlns:a16="http://schemas.microsoft.com/office/drawing/2014/main" id="{13BCFA4D-1CC5-4243-98FC-591DF878C6E5}"/>
              </a:ext>
            </a:extLst>
          </p:cNvPr>
          <p:cNvPicPr>
            <a:picLocks noChangeAspect="1"/>
          </p:cNvPicPr>
          <p:nvPr userDrawn="1"/>
        </p:nvPicPr>
        <p:blipFill>
          <a:blip r:embed="rId11"/>
          <a:stretch>
            <a:fillRect/>
          </a:stretch>
        </p:blipFill>
        <p:spPr>
          <a:xfrm>
            <a:off x="0" y="0"/>
            <a:ext cx="9144000" cy="5143500"/>
          </a:xfrm>
          <a:prstGeom prst="rect">
            <a:avLst/>
          </a:prstGeom>
        </p:spPr>
      </p:pic>
    </p:spTree>
    <p:custDataLst>
      <p:tags r:id="rId10"/>
    </p:custDataLst>
    <p:extLst>
      <p:ext uri="{BB962C8B-B14F-4D97-AF65-F5344CB8AC3E}">
        <p14:creationId xmlns:p14="http://schemas.microsoft.com/office/powerpoint/2010/main" val="2233766839"/>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5" name="Picture 4"/>
            <p:cNvPicPr>
              <a:picLocks noChangeAspect="1"/>
            </p:cNvPicPr>
            <p:nvPr userDrawn="1"/>
          </p:nvPicPr>
          <p:blipFill>
            <a:blip r:embed="rId3"/>
            <a:stretch>
              <a:fillRect/>
            </a:stretch>
          </p:blipFill>
          <p:spPr>
            <a:xfrm flipH="1" flipV="1">
              <a:off x="5423765" y="2211757"/>
              <a:ext cx="3718882" cy="2932430"/>
            </a:xfrm>
            <a:prstGeom prst="rect">
              <a:avLst/>
            </a:prstGeom>
          </p:spPr>
        </p:pic>
        <p:pic>
          <p:nvPicPr>
            <p:cNvPr id="6" name="Picture 5">
              <a:extLst>
                <a:ext uri="{FF2B5EF4-FFF2-40B4-BE49-F238E27FC236}">
                  <a16:creationId xmlns="" xmlns:a16="http://schemas.microsoft.com/office/drawing/2014/main" id="{5BC3A035-B0EE-3A43-AADA-02BA46FB0931}"/>
                </a:ext>
              </a:extLst>
            </p:cNvPr>
            <p:cNvPicPr>
              <a:picLocks noChangeAspect="1"/>
            </p:cNvPicPr>
            <p:nvPr userDrawn="1"/>
          </p:nvPicPr>
          <p:blipFill>
            <a:blip r:embed="rId4"/>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5"/>
            <a:stretch>
              <a:fillRect/>
            </a:stretch>
          </p:blipFill>
          <p:spPr>
            <a:xfrm>
              <a:off x="0" y="0"/>
              <a:ext cx="3719590" cy="2933934"/>
            </a:xfrm>
            <a:prstGeom prst="rect">
              <a:avLst/>
            </a:prstGeom>
          </p:spPr>
        </p:pic>
      </p:grpSp>
      <p:pic>
        <p:nvPicPr>
          <p:cNvPr id="8" name="Picture 7">
            <a:extLst>
              <a:ext uri="{FF2B5EF4-FFF2-40B4-BE49-F238E27FC236}">
                <a16:creationId xmlns="" xmlns:a16="http://schemas.microsoft.com/office/drawing/2014/main" id="{13BCFA4D-1CC5-4243-98FC-591DF878C6E5}"/>
              </a:ext>
            </a:extLst>
          </p:cNvPr>
          <p:cNvPicPr>
            <a:picLocks noChangeAspect="1"/>
          </p:cNvPicPr>
          <p:nvPr userDrawn="1"/>
        </p:nvPicPr>
        <p:blipFill>
          <a:blip r:embed="rId6"/>
          <a:stretch>
            <a:fillRect/>
          </a:stretch>
        </p:blipFill>
        <p:spPr>
          <a:xfrm>
            <a:off x="0" y="0"/>
            <a:ext cx="9144000" cy="5143500"/>
          </a:xfrm>
          <a:prstGeom prst="rect">
            <a:avLst/>
          </a:prstGeom>
        </p:spPr>
      </p:pic>
    </p:spTree>
    <p:custDataLst>
      <p:tags r:id="rId2"/>
    </p:custDataLst>
    <p:extLst>
      <p:ext uri="{BB962C8B-B14F-4D97-AF65-F5344CB8AC3E}">
        <p14:creationId xmlns:p14="http://schemas.microsoft.com/office/powerpoint/2010/main" val="161375844"/>
      </p:ext>
    </p:extLst>
  </p:cSld>
  <p:clrMap bg1="lt1" tx1="dk1" bg2="lt2" tx2="dk2" accent1="accent1" accent2="accent2" accent3="accent3" accent4="accent4" accent5="accent5" accent6="accent6" hlink="hlink" folHlink="folHlink"/>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4" name="Picture 3"/>
            <p:cNvPicPr>
              <a:picLocks noChangeAspect="1"/>
            </p:cNvPicPr>
            <p:nvPr userDrawn="1"/>
          </p:nvPicPr>
          <p:blipFill>
            <a:blip r:embed="rId9"/>
            <a:stretch>
              <a:fillRect/>
            </a:stretch>
          </p:blipFill>
          <p:spPr>
            <a:xfrm flipH="1" flipV="1">
              <a:off x="5423765" y="2211757"/>
              <a:ext cx="3718882" cy="2932430"/>
            </a:xfrm>
            <a:prstGeom prst="rect">
              <a:avLst/>
            </a:prstGeom>
          </p:spPr>
        </p:pic>
        <p:pic>
          <p:nvPicPr>
            <p:cNvPr id="6" name="Picture 5">
              <a:extLst>
                <a:ext uri="{FF2B5EF4-FFF2-40B4-BE49-F238E27FC236}">
                  <a16:creationId xmlns="" xmlns:a16="http://schemas.microsoft.com/office/drawing/2014/main" id="{5BC3A035-B0EE-3A43-AADA-02BA46FB0931}"/>
                </a:ext>
              </a:extLst>
            </p:cNvPr>
            <p:cNvPicPr>
              <a:picLocks noChangeAspect="1"/>
            </p:cNvPicPr>
            <p:nvPr userDrawn="1"/>
          </p:nvPicPr>
          <p:blipFill>
            <a:blip r:embed="rId10"/>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11"/>
            <a:stretch>
              <a:fillRect/>
            </a:stretch>
          </p:blipFill>
          <p:spPr>
            <a:xfrm>
              <a:off x="0" y="0"/>
              <a:ext cx="3719590" cy="2933934"/>
            </a:xfrm>
            <a:prstGeom prst="rect">
              <a:avLst/>
            </a:prstGeom>
          </p:spPr>
        </p:pic>
      </p:grpSp>
    </p:spTree>
    <p:custDataLst>
      <p:tags r:id="rId8"/>
    </p:custDataLst>
    <p:extLst>
      <p:ext uri="{BB962C8B-B14F-4D97-AF65-F5344CB8AC3E}">
        <p14:creationId xmlns:p14="http://schemas.microsoft.com/office/powerpoint/2010/main" val="3726128507"/>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19.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9.xml"/><Relationship Id="rId1" Type="http://schemas.openxmlformats.org/officeDocument/2006/relationships/tags" Target="../tags/tag20.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9.xml"/><Relationship Id="rId1" Type="http://schemas.openxmlformats.org/officeDocument/2006/relationships/tags" Target="../tags/tag2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xml"/><Relationship Id="rId1" Type="http://schemas.openxmlformats.org/officeDocument/2006/relationships/tags" Target="../tags/tag22.xml"/><Relationship Id="rId4" Type="http://schemas.microsoft.com/office/2018/10/relationships/comments" Target="../comments/modernComment_203_52B3E8E0.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tags" Target="../tags/tag2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9.xml"/><Relationship Id="rId1" Type="http://schemas.openxmlformats.org/officeDocument/2006/relationships/tags" Target="../tags/tag2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tags" Target="../tags/tag2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9.xml"/><Relationship Id="rId1" Type="http://schemas.openxmlformats.org/officeDocument/2006/relationships/tags" Target="../tags/tag2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9.xml"/><Relationship Id="rId1" Type="http://schemas.openxmlformats.org/officeDocument/2006/relationships/tags" Target="../tags/tag27.xml"/><Relationship Id="rId4" Type="http://schemas.microsoft.com/office/2018/10/relationships/comments" Target="../comments/modernComment_206_338080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tags" Target="../tags/tag28.xml"/><Relationship Id="rId4" Type="http://schemas.microsoft.com/office/2018/10/relationships/comments" Target="../comments/modernComment_206_338080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xml"/><Relationship Id="rId1" Type="http://schemas.openxmlformats.org/officeDocument/2006/relationships/tags" Target="../tags/tag29.xml"/><Relationship Id="rId4" Type="http://schemas.microsoft.com/office/2018/10/relationships/comments" Target="../comments/modernComment_207_95F2770B.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9.xml"/><Relationship Id="rId1" Type="http://schemas.openxmlformats.org/officeDocument/2006/relationships/tags" Target="../tags/tag30.xml"/><Relationship Id="rId4" Type="http://schemas.microsoft.com/office/2018/10/relationships/comments" Target="../comments/modernComment_208_16F2AECE.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9.xml"/><Relationship Id="rId1" Type="http://schemas.openxmlformats.org/officeDocument/2006/relationships/tags" Target="../tags/tag31.xml"/><Relationship Id="rId4" Type="http://schemas.microsoft.com/office/2018/10/relationships/comments" Target="../comments/modernComment_210_81DBBA3A.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9.xml"/><Relationship Id="rId1" Type="http://schemas.openxmlformats.org/officeDocument/2006/relationships/tags" Target="../tags/tag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nvSpPr>
        <p:spPr>
          <a:xfrm>
            <a:off x="73091" y="163290"/>
            <a:ext cx="6173436" cy="534636"/>
          </a:xfrm>
          <a:prstGeom prst="rect">
            <a:avLst/>
          </a:prstGeom>
        </p:spPr>
        <p:txBody>
          <a:bodyPr/>
          <a:lstStyle>
            <a:lvl1pPr algn="l" defTabSz="457200" rtl="0" eaLnBrk="1" latinLnBrk="0" hangingPunct="1">
              <a:spcBef>
                <a:spcPct val="0"/>
              </a:spcBef>
              <a:buNone/>
              <a:defRPr lang="en-US" sz="4000" b="0" i="0" kern="1200" dirty="0">
                <a:solidFill>
                  <a:schemeClr val="tx1"/>
                </a:solidFill>
                <a:latin typeface="Vitesse Bold"/>
                <a:ea typeface="Vitesse" charset="0"/>
                <a:cs typeface="Vitesse Bold"/>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Vitesse" charset="0"/>
                <a:cs typeface="Vitesse" charset="0"/>
              </a:rPr>
              <a:t>Regression Analysis</a:t>
            </a:r>
          </a:p>
        </p:txBody>
      </p:sp>
      <p:sp>
        <p:nvSpPr>
          <p:cNvPr id="17" name="Text Placeholder 3"/>
          <p:cNvSpPr>
            <a:spLocks noGrp="1"/>
          </p:cNvSpPr>
          <p:nvPr/>
        </p:nvSpPr>
        <p:spPr>
          <a:xfrm>
            <a:off x="85589" y="2018346"/>
            <a:ext cx="4305091" cy="432669"/>
          </a:xfrm>
          <a:prstGeom prst="rect">
            <a:avLst/>
          </a:prstGeom>
        </p:spPr>
        <p:txBody>
          <a:bodyPr anchor="ctr"/>
          <a:lstStyle>
            <a:lvl1pPr marL="0" indent="0" algn="l" defTabSz="457200" rtl="0" eaLnBrk="1" latinLnBrk="0" hangingPunct="1">
              <a:lnSpc>
                <a:spcPts val="1400"/>
              </a:lnSpc>
              <a:spcBef>
                <a:spcPct val="20000"/>
              </a:spcBef>
              <a:buFont typeface="Arial"/>
              <a:buNone/>
              <a:defRPr lang="en-US" sz="2400" b="1" kern="1200" baseline="0" dirty="0">
                <a:solidFill>
                  <a:srgbClr val="EEB21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ts val="1400"/>
              </a:lnSpc>
              <a:spcBef>
                <a:spcPct val="20000"/>
              </a:spcBef>
              <a:spcAft>
                <a:spcPts val="0"/>
              </a:spcAft>
              <a:buClrTx/>
              <a:buSzTx/>
              <a:buFont typeface="Arial"/>
              <a:buNone/>
              <a:tabLst/>
              <a:defRPr/>
            </a:pPr>
            <a:endParaRPr kumimoji="0" lang="en-US" sz="2400" b="1" i="0" u="none" strike="noStrike" kern="1200" cap="none" spc="0" normalizeH="0" baseline="0" noProof="0" dirty="0">
              <a:ln>
                <a:noFill/>
              </a:ln>
              <a:solidFill>
                <a:srgbClr val="EAAA00"/>
              </a:solidFill>
              <a:effectLst/>
              <a:uLnTx/>
              <a:uFillTx/>
              <a:latin typeface="Helvetica" charset="0"/>
              <a:cs typeface="Helvetica" charset="0"/>
            </a:endParaRPr>
          </a:p>
          <a:p>
            <a:pPr marL="0" marR="0" lvl="0" indent="0" algn="l" defTabSz="457200" rtl="0" eaLnBrk="1" fontAlgn="auto" latinLnBrk="0" hangingPunct="1">
              <a:lnSpc>
                <a:spcPts val="1400"/>
              </a:lnSpc>
              <a:spcBef>
                <a:spcPct val="20000"/>
              </a:spcBef>
              <a:spcAft>
                <a:spcPts val="0"/>
              </a:spcAft>
              <a:buClrTx/>
              <a:buSzTx/>
              <a:buFont typeface="Arial"/>
              <a:buNone/>
              <a:tabLst/>
              <a:defRPr/>
            </a:pPr>
            <a:r>
              <a:rPr kumimoji="0" lang="en-US" sz="2400" b="1" i="0" u="none" strike="noStrike" kern="1200" cap="none" spc="0" normalizeH="0" baseline="0" noProof="0" dirty="0">
                <a:ln>
                  <a:noFill/>
                </a:ln>
                <a:solidFill>
                  <a:srgbClr val="EAAA00"/>
                </a:solidFill>
                <a:effectLst/>
                <a:uLnTx/>
                <a:uFillTx/>
                <a:latin typeface="Helvetica" charset="0"/>
                <a:cs typeface="Helvetica" charset="0"/>
              </a:rPr>
              <a:t>Nicoleta Serban, Ph.D. </a:t>
            </a:r>
          </a:p>
        </p:txBody>
      </p:sp>
      <p:sp>
        <p:nvSpPr>
          <p:cNvPr id="18" name="Text Placeholder 4"/>
          <p:cNvSpPr>
            <a:spLocks noGrp="1"/>
          </p:cNvSpPr>
          <p:nvPr/>
        </p:nvSpPr>
        <p:spPr>
          <a:xfrm>
            <a:off x="92366" y="2376336"/>
            <a:ext cx="4305091" cy="254281"/>
          </a:xfrm>
          <a:prstGeom prst="rect">
            <a:avLst/>
          </a:prstGeom>
        </p:spPr>
        <p:txBody>
          <a:bodyPr/>
          <a:lstStyle>
            <a:lvl1pPr marL="0" indent="0" algn="l" defTabSz="457200" rtl="0" eaLnBrk="1" latinLnBrk="0" hangingPunct="1">
              <a:spcBef>
                <a:spcPct val="20000"/>
              </a:spcBef>
              <a:buFont typeface="Arial"/>
              <a:buNone/>
              <a:defRPr sz="1600" b="0" i="1"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1600" b="0" i="1" u="none" strike="noStrike" kern="1200" cap="none" spc="0" normalizeH="0" baseline="0" noProof="0" dirty="0">
                <a:ln>
                  <a:noFill/>
                </a:ln>
                <a:solidFill>
                  <a:prstClr val="black"/>
                </a:solidFill>
                <a:effectLst/>
                <a:uLnTx/>
                <a:uFillTx/>
                <a:latin typeface="Helvetica" charset="0"/>
                <a:cs typeface="Helvetica" charset="0"/>
              </a:rPr>
              <a:t>Professor </a:t>
            </a:r>
          </a:p>
        </p:txBody>
      </p:sp>
      <p:sp>
        <p:nvSpPr>
          <p:cNvPr id="10" name="Text Placeholder 2">
            <a:extLst>
              <a:ext uri="{FF2B5EF4-FFF2-40B4-BE49-F238E27FC236}">
                <a16:creationId xmlns="" xmlns:a16="http://schemas.microsoft.com/office/drawing/2014/main" id="{1FFC2AE0-8557-485C-BAF4-734CEE29C594}"/>
              </a:ext>
            </a:extLst>
          </p:cNvPr>
          <p:cNvSpPr>
            <a:spLocks noGrp="1"/>
          </p:cNvSpPr>
          <p:nvPr/>
        </p:nvSpPr>
        <p:spPr>
          <a:xfrm>
            <a:off x="84400" y="636404"/>
            <a:ext cx="5511340" cy="542236"/>
          </a:xfrm>
          <a:prstGeom prst="rect">
            <a:avLst/>
          </a:prstGeom>
        </p:spPr>
        <p:txBody>
          <a:bodyPr/>
          <a:lstStyle>
            <a:lvl1pPr marL="0" indent="0" algn="l" defTabSz="457200" rtl="0" eaLnBrk="1" latinLnBrk="0" hangingPunct="1">
              <a:spcBef>
                <a:spcPct val="20000"/>
              </a:spcBef>
              <a:buFont typeface="Arial"/>
              <a:buNone/>
              <a:defRPr lang="en-US" sz="3000" b="0" i="0" kern="1200" dirty="0">
                <a:solidFill>
                  <a:schemeClr val="tx2"/>
                </a:solidFill>
                <a:latin typeface="Vitesse Medium" charset="0"/>
                <a:ea typeface="Vitesse Medium" charset="0"/>
                <a:cs typeface="Vitesse Medium"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2400" b="0" i="0" u="none" strike="noStrike" kern="1200" cap="none" spc="0" normalizeH="0" baseline="0" noProof="0" dirty="0">
                <a:ln>
                  <a:noFill/>
                </a:ln>
                <a:solidFill>
                  <a:srgbClr val="1F497D"/>
                </a:solidFill>
                <a:effectLst/>
                <a:uLnTx/>
                <a:uFillTx/>
                <a:latin typeface="Vitesse Medium" charset="0"/>
              </a:rPr>
              <a:t>Model Selection</a:t>
            </a:r>
          </a:p>
        </p:txBody>
      </p:sp>
      <p:sp>
        <p:nvSpPr>
          <p:cNvPr id="11" name="Text Placeholder 6">
            <a:extLst>
              <a:ext uri="{FF2B5EF4-FFF2-40B4-BE49-F238E27FC236}">
                <a16:creationId xmlns="" xmlns:a16="http://schemas.microsoft.com/office/drawing/2014/main" id="{96194DD8-166E-44C1-B715-8F6DC720E8C3}"/>
              </a:ext>
            </a:extLst>
          </p:cNvPr>
          <p:cNvSpPr>
            <a:spLocks noGrp="1"/>
          </p:cNvSpPr>
          <p:nvPr/>
        </p:nvSpPr>
        <p:spPr>
          <a:xfrm>
            <a:off x="109567" y="2661666"/>
            <a:ext cx="4305091" cy="322253"/>
          </a:xfrm>
          <a:prstGeom prst="rect">
            <a:avLst/>
          </a:prstGeom>
        </p:spPr>
        <p:txBody>
          <a:bodyPr/>
          <a:lstStyle>
            <a:lvl1pPr marL="0" indent="0" algn="l" defTabSz="457200" rtl="0" eaLnBrk="1" latinLnBrk="0" hangingPunct="1">
              <a:spcBef>
                <a:spcPct val="20000"/>
              </a:spcBef>
              <a:buFont typeface="Arial"/>
              <a:buNone/>
              <a:defRPr sz="1200" b="0" i="0"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1200" b="0" i="0" u="none" strike="noStrike" kern="1200" cap="none" spc="0" normalizeH="0" baseline="0" noProof="0" dirty="0">
                <a:ln>
                  <a:noFill/>
                </a:ln>
                <a:solidFill>
                  <a:prstClr val="black"/>
                </a:solidFill>
                <a:effectLst/>
                <a:uLnTx/>
                <a:uFillTx/>
                <a:latin typeface="Helvetica" charset="0"/>
                <a:cs typeface="Helvetica" charset="0"/>
              </a:rPr>
              <a:t>Stewart School of Industrial and Systems Engineering</a:t>
            </a:r>
          </a:p>
        </p:txBody>
      </p:sp>
      <p:sp>
        <p:nvSpPr>
          <p:cNvPr id="9" name="Text Placeholder 5">
            <a:extLst>
              <a:ext uri="{FF2B5EF4-FFF2-40B4-BE49-F238E27FC236}">
                <a16:creationId xmlns="" xmlns:a16="http://schemas.microsoft.com/office/drawing/2014/main" id="{F39E6AE5-9DE8-4DFA-A6CB-DEBFB78B0BC7}"/>
              </a:ext>
            </a:extLst>
          </p:cNvPr>
          <p:cNvSpPr>
            <a:spLocks noGrp="1"/>
          </p:cNvSpPr>
          <p:nvPr/>
        </p:nvSpPr>
        <p:spPr>
          <a:xfrm>
            <a:off x="101772" y="4102100"/>
            <a:ext cx="4305091" cy="878110"/>
          </a:xfrm>
          <a:prstGeom prst="rect">
            <a:avLst/>
          </a:prstGeom>
        </p:spPr>
        <p:txBody>
          <a:bodyPr/>
          <a:lstStyle>
            <a:lvl1pPr marL="0" indent="0" algn="l" defTabSz="457200" rtl="0" eaLnBrk="1" latinLnBrk="0" hangingPunct="1">
              <a:spcBef>
                <a:spcPct val="20000"/>
              </a:spcBef>
              <a:buFont typeface="Arial"/>
              <a:buNone/>
              <a:defRPr sz="1400" b="0" i="0" kern="1200" baseline="0">
                <a:solidFill>
                  <a:schemeClr val="tx2"/>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dirty="0"/>
              <a:t>Model Search: Data Examples</a:t>
            </a:r>
          </a:p>
        </p:txBody>
      </p:sp>
    </p:spTree>
    <p:custDataLst>
      <p:tags r:id="rId1"/>
    </p:custDataLst>
    <p:extLst>
      <p:ext uri="{BB962C8B-B14F-4D97-AF65-F5344CB8AC3E}">
        <p14:creationId xmlns:p14="http://schemas.microsoft.com/office/powerpoint/2010/main" val="432141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15820" t="7499" r="15454" b="5507"/>
          <a:stretch/>
        </p:blipFill>
        <p:spPr>
          <a:xfrm>
            <a:off x="3422383" y="1074049"/>
            <a:ext cx="2392685" cy="3028613"/>
          </a:xfrm>
          <a:prstGeom prst="rect">
            <a:avLst/>
          </a:prstGeom>
        </p:spPr>
      </p:pic>
      <p:sp>
        <p:nvSpPr>
          <p:cNvPr id="2" name="Text Placeholder 1"/>
          <p:cNvSpPr>
            <a:spLocks noGrp="1"/>
          </p:cNvSpPr>
          <p:nvPr>
            <p:ph type="body" sz="quarter" idx="4294967295"/>
          </p:nvPr>
        </p:nvSpPr>
        <p:spPr>
          <a:xfrm>
            <a:off x="121380" y="154185"/>
            <a:ext cx="4727575" cy="731837"/>
          </a:xfrm>
        </p:spPr>
        <p:txBody>
          <a:bodyPr anchor="t">
            <a:normAutofit/>
          </a:bodyPr>
          <a:lstStyle/>
          <a:p>
            <a:pPr>
              <a:spcBef>
                <a:spcPct val="0"/>
              </a:spcBef>
            </a:pPr>
            <a:r>
              <a:rPr lang="en-US" sz="3600" dirty="0">
                <a:latin typeface="Vitesse" charset="0"/>
                <a:ea typeface="Vitesse" charset="0"/>
                <a:cs typeface="Vitesse" charset="0"/>
              </a:rPr>
              <a:t>About This Lesson</a:t>
            </a:r>
          </a:p>
        </p:txBody>
      </p:sp>
    </p:spTree>
    <p:custDataLst>
      <p:tags r:id="rId1"/>
    </p:custDataLst>
    <p:extLst>
      <p:ext uri="{BB962C8B-B14F-4D97-AF65-F5344CB8AC3E}">
        <p14:creationId xmlns:p14="http://schemas.microsoft.com/office/powerpoint/2010/main" val="2357991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Box 1"/>
          <p:cNvSpPr txBox="1">
            <a:spLocks noChangeArrowheads="1"/>
          </p:cNvSpPr>
          <p:nvPr/>
        </p:nvSpPr>
        <p:spPr bwMode="auto">
          <a:xfrm>
            <a:off x="5394121" y="1062180"/>
            <a:ext cx="3598877" cy="23083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1" u="none" strike="noStrike" kern="1200" cap="none" spc="0" normalizeH="0" baseline="0" noProof="0" dirty="0">
                <a:ln>
                  <a:noFill/>
                </a:ln>
                <a:solidFill>
                  <a:srgbClr val="EEB211"/>
                </a:solidFill>
                <a:effectLst/>
                <a:uLnTx/>
                <a:uFillTx/>
                <a:latin typeface="Helvetica" charset="0"/>
                <a:ea typeface="Helvetica" charset="0"/>
                <a:cs typeface="Helvetica" charset="0"/>
              </a:rPr>
              <a:t>Which variables are associated with state average SAT scores?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1" i="1" u="none" strike="noStrike" kern="1200" cap="none" spc="0" normalizeH="0" baseline="0" noProof="0" dirty="0">
              <a:ln>
                <a:noFill/>
              </a:ln>
              <a:solidFill>
                <a:srgbClr val="EEB211"/>
              </a:solidFill>
              <a:effectLst/>
              <a:uLnTx/>
              <a:uFillTx/>
              <a:latin typeface="Helvetica" charset="0"/>
              <a:ea typeface="Helvetica" charset="0"/>
              <a:cs typeface="Helvetica"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1" u="none" strike="noStrike" kern="1200" cap="none" spc="0" normalizeH="0" baseline="0" noProof="0" dirty="0">
                <a:ln>
                  <a:noFill/>
                </a:ln>
                <a:solidFill>
                  <a:srgbClr val="EEB211"/>
                </a:solidFill>
                <a:effectLst/>
                <a:uLnTx/>
                <a:uFillTx/>
                <a:latin typeface="Helvetica" charset="0"/>
                <a:ea typeface="Helvetica" charset="0"/>
                <a:cs typeface="Helvetica" charset="0"/>
              </a:rPr>
              <a:t>After accounting for selection biases, how do the states rank?</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1" i="1" u="none" strike="noStrike" kern="1200" cap="none" spc="0" normalizeH="0" baseline="0" noProof="0" dirty="0">
              <a:ln>
                <a:noFill/>
              </a:ln>
              <a:solidFill>
                <a:srgbClr val="EEB211"/>
              </a:solidFill>
              <a:effectLst/>
              <a:uLnTx/>
              <a:uFillTx/>
              <a:latin typeface="Helvetica" charset="0"/>
              <a:ea typeface="Helvetica" charset="0"/>
              <a:cs typeface="Helvetica"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1" u="none" strike="noStrike" kern="1200" cap="none" spc="0" normalizeH="0" baseline="0" noProof="0" dirty="0">
                <a:ln>
                  <a:noFill/>
                </a:ln>
                <a:solidFill>
                  <a:srgbClr val="EEB211"/>
                </a:solidFill>
                <a:effectLst/>
                <a:uLnTx/>
                <a:uFillTx/>
                <a:latin typeface="Helvetica" charset="0"/>
                <a:ea typeface="Helvetica" charset="0"/>
                <a:cs typeface="Helvetica" charset="0"/>
              </a:rPr>
              <a:t>Which states perform best for the amount of money they spend?</a:t>
            </a:r>
          </a:p>
        </p:txBody>
      </p:sp>
      <p:sp>
        <p:nvSpPr>
          <p:cNvPr id="2" name="标题 1"/>
          <p:cNvSpPr>
            <a:spLocks noGrp="1"/>
          </p:cNvSpPr>
          <p:nvPr>
            <p:ph type="title"/>
          </p:nvPr>
        </p:nvSpPr>
        <p:spPr>
          <a:xfrm>
            <a:off x="76180" y="157232"/>
            <a:ext cx="8562392" cy="631333"/>
          </a:xfrm>
        </p:spPr>
        <p:txBody>
          <a:bodyPr/>
          <a:lstStyle/>
          <a:p>
            <a:r>
              <a:rPr lang="en-US" altLang="zh-CN" sz="3600" dirty="0">
                <a:latin typeface="Vitesse"/>
              </a:rPr>
              <a:t>Ranking</a:t>
            </a:r>
            <a:r>
              <a:rPr lang="zh-CN" altLang="en-US" sz="3600" dirty="0">
                <a:latin typeface="Vitesse"/>
              </a:rPr>
              <a:t> </a:t>
            </a:r>
            <a:r>
              <a:rPr lang="en-US" altLang="zh-CN" sz="3600" dirty="0">
                <a:latin typeface="Vitesse"/>
              </a:rPr>
              <a:t>States</a:t>
            </a:r>
            <a:r>
              <a:rPr lang="zh-CN" altLang="en-US" sz="3600" dirty="0">
                <a:latin typeface="Vitesse"/>
              </a:rPr>
              <a:t> </a:t>
            </a:r>
            <a:r>
              <a:rPr lang="en-US" altLang="zh-CN" sz="3600" dirty="0">
                <a:latin typeface="Vitesse"/>
              </a:rPr>
              <a:t>by</a:t>
            </a:r>
            <a:r>
              <a:rPr lang="zh-CN" altLang="en-US" sz="3600" dirty="0">
                <a:latin typeface="Vitesse"/>
              </a:rPr>
              <a:t> </a:t>
            </a:r>
            <a:r>
              <a:rPr lang="en-US" altLang="zh-CN" sz="3600" dirty="0">
                <a:latin typeface="Vitesse"/>
              </a:rPr>
              <a:t>SAT</a:t>
            </a:r>
            <a:r>
              <a:rPr lang="zh-CN" altLang="en-US" sz="3600" dirty="0">
                <a:latin typeface="Vitesse"/>
              </a:rPr>
              <a:t> </a:t>
            </a:r>
            <a:r>
              <a:rPr lang="en-US" altLang="zh-CN" sz="3600" dirty="0">
                <a:latin typeface="Vitesse"/>
              </a:rPr>
              <a:t>Performance</a:t>
            </a:r>
            <a:endParaRPr lang="zh-CN" altLang="en-US" sz="3600" dirty="0">
              <a:latin typeface="Vitesse"/>
            </a:endParaRPr>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577" y="1175256"/>
            <a:ext cx="4392305" cy="2994072"/>
          </a:xfrm>
          <a:prstGeom prst="rect">
            <a:avLst/>
          </a:prstGeom>
        </p:spPr>
      </p:pic>
      <p:sp>
        <p:nvSpPr>
          <p:cNvPr id="6" name="Rectangle 5"/>
          <p:cNvSpPr/>
          <p:nvPr/>
        </p:nvSpPr>
        <p:spPr>
          <a:xfrm>
            <a:off x="199577" y="4272771"/>
            <a:ext cx="4372423" cy="523220"/>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Helvetica" panose="020B0604020202020204" pitchFamily="34" charset="0"/>
                <a:ea typeface="Helvetica Neue" charset="0"/>
                <a:cs typeface="Helvetica" panose="020B0604020202020204" pitchFamily="34" charset="0"/>
              </a:rPr>
              <a:t>SAT Mean Score by State – Year 1982</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Helvetica" panose="020B0604020202020204" pitchFamily="34" charset="0"/>
                <a:ea typeface="Helvetica Neue" charset="0"/>
                <a:cs typeface="Helvetica" panose="020B0604020202020204" pitchFamily="34" charset="0"/>
              </a:rPr>
              <a:t>790 (South Carolina) – 1088 (Iowa)</a:t>
            </a:r>
            <a:endParaRPr kumimoji="0" lang="en-US" sz="1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p:txBody>
      </p:sp>
    </p:spTree>
    <p:custDataLst>
      <p:tags r:id="rId1"/>
    </p:custDataLst>
    <p:extLst>
      <p:ext uri="{BB962C8B-B14F-4D97-AF65-F5344CB8AC3E}">
        <p14:creationId xmlns:p14="http://schemas.microsoft.com/office/powerpoint/2010/main" val="168852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03589" y="973409"/>
            <a:ext cx="5010577" cy="3231654"/>
          </a:xfrm>
          <a:prstGeom prst="rect">
            <a:avLst/>
          </a:prstGeom>
          <a:noFill/>
          <a:ln>
            <a:noFill/>
          </a:ln>
          <a:extLst>
            <a:ext uri="{909E8E84-426E-40dd-AFC4-6F175D3DCCD1}"/>
            <a:ext uri="{91240B29-F687-4f45-9708-019B960494DF}"/>
          </a:extLst>
        </p:spPr>
        <p:txBody>
          <a:bodyPr wrap="square" anchor="t">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i="1" dirty="0">
                <a:latin typeface="Helvetica" panose="020B0604020202020204" pitchFamily="34" charset="0"/>
                <a:ea typeface="Helvetica Neue" charset="0"/>
                <a:cs typeface="Helvetica" panose="020B0604020202020204" pitchFamily="34" charset="0"/>
              </a:rPr>
              <a:t>library(leaps)</a:t>
            </a:r>
          </a:p>
          <a:p>
            <a:pPr>
              <a:defRPr/>
            </a:pPr>
            <a:r>
              <a:rPr lang="en-US" sz="1200" i="1" dirty="0">
                <a:latin typeface="Helvetica" panose="020B0604020202020204" pitchFamily="34" charset="0"/>
                <a:ea typeface="Helvetica Neue" charset="0"/>
                <a:cs typeface="Helvetica" panose="020B0604020202020204" pitchFamily="34" charset="0"/>
              </a:rPr>
              <a:t>out = leaps(</a:t>
            </a:r>
            <a:r>
              <a:rPr lang="en-US" sz="1200" i="1" dirty="0" err="1">
                <a:latin typeface="Helvetica" panose="020B0604020202020204" pitchFamily="34" charset="0"/>
                <a:ea typeface="Helvetica Neue" charset="0"/>
                <a:cs typeface="Helvetica" panose="020B0604020202020204" pitchFamily="34" charset="0"/>
              </a:rPr>
              <a:t>datasat</a:t>
            </a:r>
            <a:r>
              <a:rPr lang="en-US" sz="1200" i="1" dirty="0">
                <a:latin typeface="Helvetica" panose="020B0604020202020204" pitchFamily="34" charset="0"/>
                <a:ea typeface="Helvetica Neue" charset="0"/>
                <a:cs typeface="Helvetica" panose="020B0604020202020204" pitchFamily="34" charset="0"/>
              </a:rPr>
              <a:t>[,-c(1,2)], sat, method = "Cp")</a:t>
            </a:r>
          </a:p>
          <a:p>
            <a:pPr>
              <a:defRPr/>
            </a:pPr>
            <a:r>
              <a:rPr lang="en-US" sz="1200" i="1" dirty="0" err="1">
                <a:latin typeface="Helvetica" panose="020B0604020202020204" pitchFamily="34" charset="0"/>
                <a:ea typeface="Helvetica Neue" charset="0"/>
                <a:cs typeface="Helvetica" panose="020B0604020202020204" pitchFamily="34" charset="0"/>
              </a:rPr>
              <a:t>cbind</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as.matrix</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out$which</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out$Cp</a:t>
            </a:r>
            <a:r>
              <a:rPr lang="en-US" sz="1200" i="1" dirty="0">
                <a:latin typeface="Helvetica" panose="020B0604020202020204" pitchFamily="34" charset="0"/>
                <a:ea typeface="Helvetica Neue" charset="0"/>
                <a:cs typeface="Helvetica" panose="020B0604020202020204" pitchFamily="34" charset="0"/>
              </a:rPr>
              <a:t>)</a:t>
            </a:r>
          </a:p>
          <a:p>
            <a:pPr>
              <a:defRPr/>
            </a:pPr>
            <a:r>
              <a:rPr lang="de-DE" sz="1200" dirty="0">
                <a:latin typeface="Helvetica" panose="020B0604020202020204" pitchFamily="34" charset="0"/>
                <a:ea typeface="Helvetica Neue" charset="0"/>
                <a:cs typeface="Helvetica" panose="020B0604020202020204" pitchFamily="34" charset="0"/>
              </a:rPr>
              <a:t>   1 2 3 4 5 6           </a:t>
            </a:r>
          </a:p>
          <a:p>
            <a:pPr>
              <a:defRPr/>
            </a:pPr>
            <a:r>
              <a:rPr lang="de-DE" sz="1200" dirty="0">
                <a:latin typeface="Helvetica" panose="020B0604020202020204" pitchFamily="34" charset="0"/>
                <a:ea typeface="Helvetica Neue" charset="0"/>
                <a:cs typeface="Helvetica" panose="020B0604020202020204" pitchFamily="34" charset="0"/>
              </a:rPr>
              <a:t>1 0 0 0 0 0 1   34.026834</a:t>
            </a:r>
          </a:p>
          <a:p>
            <a:pPr>
              <a:defRPr/>
            </a:pPr>
            <a:r>
              <a:rPr lang="de-DE" sz="1200" dirty="0">
                <a:latin typeface="Helvetica" panose="020B0604020202020204" pitchFamily="34" charset="0"/>
                <a:ea typeface="Helvetica Neue" charset="0"/>
                <a:cs typeface="Helvetica" panose="020B0604020202020204" pitchFamily="34" charset="0"/>
              </a:rPr>
              <a:t>1 1 0 0 0 0 0   47.639512</a:t>
            </a:r>
          </a:p>
          <a:p>
            <a:pPr>
              <a:defRPr/>
            </a:pPr>
            <a:r>
              <a:rPr lang="de-DE" sz="1200" dirty="0">
                <a:latin typeface="Helvetica" panose="020B0604020202020204" pitchFamily="34" charset="0"/>
                <a:ea typeface="Helvetica Neue" charset="0"/>
                <a:cs typeface="Helvetica" panose="020B0604020202020204" pitchFamily="34" charset="0"/>
              </a:rPr>
              <a:t>1 0 1 0 0 0 0 187.387572</a:t>
            </a:r>
          </a:p>
          <a:p>
            <a:pPr>
              <a:defRPr/>
            </a:pPr>
            <a:r>
              <a:rPr lang="de-DE" sz="1200" dirty="0">
                <a:latin typeface="Helvetica" panose="020B0604020202020204" pitchFamily="34" charset="0"/>
                <a:ea typeface="Helvetica Neue" charset="0"/>
                <a:cs typeface="Helvetica" panose="020B0604020202020204" pitchFamily="34" charset="0"/>
              </a:rPr>
              <a:t>1 0 0 1 0 0 0 269.647903</a:t>
            </a:r>
          </a:p>
          <a:p>
            <a:pPr>
              <a:defRPr/>
            </a:pPr>
            <a:r>
              <a:rPr lang="de-DE" sz="1200" dirty="0">
                <a:latin typeface="Helvetica" panose="020B0604020202020204" pitchFamily="34" charset="0"/>
                <a:ea typeface="Helvetica Neue" charset="0"/>
                <a:cs typeface="Helvetica" panose="020B0604020202020204" pitchFamily="34" charset="0"/>
              </a:rPr>
              <a:t>1 0 0 0 1 0 0 306.188562</a:t>
            </a:r>
          </a:p>
          <a:p>
            <a:pPr>
              <a:defRPr/>
            </a:pPr>
            <a:r>
              <a:rPr lang="de-DE" sz="1200" dirty="0">
                <a:latin typeface="Helvetica" panose="020B0604020202020204" pitchFamily="34" charset="0"/>
                <a:ea typeface="Helvetica Neue" charset="0"/>
                <a:cs typeface="Helvetica" panose="020B0604020202020204" pitchFamily="34" charset="0"/>
              </a:rPr>
              <a:t>1 0 0 0 0 1 0 307.076043</a:t>
            </a:r>
          </a:p>
          <a:p>
            <a:pPr>
              <a:defRPr/>
            </a:pPr>
            <a:r>
              <a:rPr lang="de-DE" sz="1200" dirty="0">
                <a:latin typeface="Helvetica" panose="020B0604020202020204" pitchFamily="34" charset="0"/>
                <a:ea typeface="Helvetica Neue" charset="0"/>
                <a:cs typeface="Helvetica" panose="020B0604020202020204" pitchFamily="34" charset="0"/>
              </a:rPr>
              <a:t>⋮</a:t>
            </a:r>
          </a:p>
          <a:p>
            <a:pPr>
              <a:defRPr/>
            </a:pPr>
            <a:r>
              <a:rPr lang="de-DE" sz="1200" dirty="0">
                <a:latin typeface="Helvetica" panose="020B0604020202020204" pitchFamily="34" charset="0"/>
                <a:ea typeface="Helvetica Neue" charset="0"/>
                <a:cs typeface="Helvetica" panose="020B0604020202020204" pitchFamily="34" charset="0"/>
              </a:rPr>
              <a:t>6 1 1 1 1 1 1   7.000000</a:t>
            </a:r>
          </a:p>
          <a:p>
            <a:pPr>
              <a:defRPr/>
            </a:pPr>
            <a:endParaRPr lang="de-DE" sz="1200" dirty="0">
              <a:latin typeface="Helvetica" panose="020B0604020202020204" pitchFamily="34" charset="0"/>
              <a:ea typeface="Helvetica Neue" charset="0"/>
              <a:cs typeface="Helvetica" panose="020B0604020202020204" pitchFamily="34" charset="0"/>
            </a:endParaRPr>
          </a:p>
          <a:p>
            <a:pPr>
              <a:defRPr/>
            </a:pPr>
            <a:r>
              <a:rPr lang="en-US" sz="1200" i="1" dirty="0" err="1">
                <a:latin typeface="Helvetica" panose="020B0604020202020204" pitchFamily="34" charset="0"/>
                <a:ea typeface="Helvetica Neue" charset="0"/>
                <a:cs typeface="Helvetica" panose="020B0604020202020204" pitchFamily="34" charset="0"/>
              </a:rPr>
              <a:t>best.model</a:t>
            </a:r>
            <a:r>
              <a:rPr lang="en-US" sz="1200" i="1" dirty="0">
                <a:latin typeface="Helvetica" panose="020B0604020202020204" pitchFamily="34" charset="0"/>
                <a:ea typeface="Helvetica Neue" charset="0"/>
                <a:cs typeface="Helvetica" panose="020B0604020202020204" pitchFamily="34" charset="0"/>
              </a:rPr>
              <a:t> = which(</a:t>
            </a:r>
            <a:r>
              <a:rPr lang="en-US" sz="1200" i="1" dirty="0" err="1">
                <a:latin typeface="Helvetica" panose="020B0604020202020204" pitchFamily="34" charset="0"/>
                <a:ea typeface="Helvetica Neue" charset="0"/>
                <a:cs typeface="Helvetica" panose="020B0604020202020204" pitchFamily="34" charset="0"/>
              </a:rPr>
              <a:t>out$Cp</a:t>
            </a:r>
            <a:r>
              <a:rPr lang="en-US" sz="1200" i="1" dirty="0">
                <a:latin typeface="Helvetica" panose="020B0604020202020204" pitchFamily="34" charset="0"/>
                <a:ea typeface="Helvetica Neue" charset="0"/>
                <a:cs typeface="Helvetica" panose="020B0604020202020204" pitchFamily="34" charset="0"/>
              </a:rPr>
              <a:t>==min(</a:t>
            </a:r>
            <a:r>
              <a:rPr lang="en-US" sz="1200" i="1" dirty="0" err="1">
                <a:latin typeface="Helvetica" panose="020B0604020202020204" pitchFamily="34" charset="0"/>
                <a:ea typeface="Helvetica Neue" charset="0"/>
                <a:cs typeface="Helvetica" panose="020B0604020202020204" pitchFamily="34" charset="0"/>
              </a:rPr>
              <a:t>out$Cp</a:t>
            </a:r>
            <a:r>
              <a:rPr lang="en-US" sz="1200" i="1" dirty="0">
                <a:latin typeface="Helvetica" panose="020B0604020202020204" pitchFamily="34" charset="0"/>
                <a:ea typeface="Helvetica Neue" charset="0"/>
                <a:cs typeface="Helvetica" panose="020B0604020202020204" pitchFamily="34" charset="0"/>
              </a:rPr>
              <a:t>))</a:t>
            </a:r>
          </a:p>
          <a:p>
            <a:pPr>
              <a:defRPr/>
            </a:pPr>
            <a:r>
              <a:rPr lang="en-US" sz="1200" i="1" dirty="0" err="1">
                <a:latin typeface="Helvetica" panose="020B0604020202020204" pitchFamily="34" charset="0"/>
                <a:ea typeface="Helvetica Neue" charset="0"/>
                <a:cs typeface="Helvetica" panose="020B0604020202020204" pitchFamily="34" charset="0"/>
              </a:rPr>
              <a:t>cbind</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as.matrix</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out$which</a:t>
            </a:r>
            <a:r>
              <a:rPr lang="en-US" sz="1200" i="1" dirty="0">
                <a:latin typeface="Helvetica" panose="020B0604020202020204" pitchFamily="34" charset="0"/>
                <a:ea typeface="Helvetica Neue" charset="0"/>
                <a:cs typeface="Helvetica" panose="020B0604020202020204" pitchFamily="34" charset="0"/>
              </a:rPr>
              <a:t>), </a:t>
            </a:r>
            <a:r>
              <a:rPr lang="en-US" sz="1200" i="1" dirty="0" err="1">
                <a:latin typeface="Helvetica" panose="020B0604020202020204" pitchFamily="34" charset="0"/>
                <a:ea typeface="Helvetica Neue" charset="0"/>
                <a:cs typeface="Helvetica" panose="020B0604020202020204" pitchFamily="34" charset="0"/>
              </a:rPr>
              <a:t>out$Cp</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best.model</a:t>
            </a:r>
            <a:r>
              <a:rPr lang="en-US" sz="1200" i="1" dirty="0">
                <a:latin typeface="Helvetica" panose="020B0604020202020204" pitchFamily="34" charset="0"/>
                <a:ea typeface="Helvetica Neue" charset="0"/>
                <a:cs typeface="Helvetica" panose="020B0604020202020204" pitchFamily="34" charset="0"/>
              </a:rPr>
              <a:t>,]</a:t>
            </a:r>
          </a:p>
          <a:p>
            <a:pPr>
              <a:defRPr/>
            </a:pPr>
            <a:r>
              <a:rPr lang="de-DE" sz="1200" dirty="0">
                <a:latin typeface="Helvetica" panose="020B0604020202020204" pitchFamily="34" charset="0"/>
                <a:ea typeface="Helvetica Neue" charset="0"/>
                <a:cs typeface="Helvetica" panose="020B0604020202020204" pitchFamily="34" charset="0"/>
              </a:rPr>
              <a:t>       	  1              2              3             4      	 5  	      6          </a:t>
            </a:r>
          </a:p>
          <a:p>
            <a:pPr>
              <a:defRPr/>
            </a:pPr>
            <a:r>
              <a:rPr lang="de-DE" sz="1200" dirty="0">
                <a:latin typeface="Helvetica" panose="020B0604020202020204" pitchFamily="34" charset="0"/>
                <a:ea typeface="Helvetica Neue" charset="0"/>
                <a:cs typeface="Helvetica" panose="020B0604020202020204" pitchFamily="34" charset="0"/>
              </a:rPr>
              <a:t>0.000000 0.000000 1.000000 1.000000 1.000000 1.000000 3.581157 </a:t>
            </a:r>
          </a:p>
        </p:txBody>
      </p:sp>
      <p:sp>
        <p:nvSpPr>
          <p:cNvPr id="12" name="Title 1"/>
          <p:cNvSpPr txBox="1">
            <a:spLocks/>
          </p:cNvSpPr>
          <p:nvPr/>
        </p:nvSpPr>
        <p:spPr>
          <a:xfrm>
            <a:off x="97970" y="259566"/>
            <a:ext cx="8382000" cy="544770"/>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Compare All Models</a:t>
            </a:r>
          </a:p>
        </p:txBody>
      </p:sp>
      <p:sp>
        <p:nvSpPr>
          <p:cNvPr id="3" name="TextBox 2">
            <a:extLst>
              <a:ext uri="{FF2B5EF4-FFF2-40B4-BE49-F238E27FC236}">
                <a16:creationId xmlns="" xmlns:a16="http://schemas.microsoft.com/office/drawing/2014/main" id="{A1FC333F-F2A5-4CAE-B10A-BEF25903EC82}"/>
              </a:ext>
            </a:extLst>
          </p:cNvPr>
          <p:cNvSpPr txBox="1"/>
          <p:nvPr/>
        </p:nvSpPr>
        <p:spPr>
          <a:xfrm>
            <a:off x="5486399" y="1042891"/>
            <a:ext cx="3505199" cy="1323439"/>
          </a:xfrm>
          <a:prstGeom prst="rect">
            <a:avLst/>
          </a:prstGeom>
          <a:noFill/>
          <a:ln w="19050">
            <a:solidFill>
              <a:schemeClr val="tx2"/>
            </a:solidFill>
          </a:ln>
        </p:spPr>
        <p:txBody>
          <a:bodyPr wrap="square" rtlCol="0">
            <a:spAutoFit/>
          </a:bodyPr>
          <a:lstStyle/>
          <a:p>
            <a:r>
              <a:rPr lang="en-US" sz="1600" dirty="0">
                <a:latin typeface="Helvetica" charset="0"/>
                <a:ea typeface="Helvetica" charset="0"/>
                <a:cs typeface="Helvetica" charset="0"/>
              </a:rPr>
              <a:t>The output includes all 64 combinations of predictors with specification of which predictors are in the model and the Cp score value for each model. </a:t>
            </a:r>
          </a:p>
        </p:txBody>
      </p:sp>
      <p:sp>
        <p:nvSpPr>
          <p:cNvPr id="4" name="TextBox 3">
            <a:extLst>
              <a:ext uri="{FF2B5EF4-FFF2-40B4-BE49-F238E27FC236}">
                <a16:creationId xmlns="" xmlns:a16="http://schemas.microsoft.com/office/drawing/2014/main" id="{54C860B3-ADD8-4DE0-BC8D-68CF81DB74DF}"/>
              </a:ext>
            </a:extLst>
          </p:cNvPr>
          <p:cNvSpPr txBox="1"/>
          <p:nvPr/>
        </p:nvSpPr>
        <p:spPr>
          <a:xfrm>
            <a:off x="5486398" y="2581144"/>
            <a:ext cx="3505201" cy="1646605"/>
          </a:xfrm>
          <a:prstGeom prst="rect">
            <a:avLst/>
          </a:prstGeom>
          <a:noFill/>
          <a:ln w="19050">
            <a:solidFill>
              <a:schemeClr val="tx2"/>
            </a:solidFill>
          </a:ln>
        </p:spPr>
        <p:txBody>
          <a:bodyPr wrap="square" rtlCol="0">
            <a:spAutoFit/>
          </a:bodyPr>
          <a:lstStyle/>
          <a:p>
            <a:pPr>
              <a:spcAft>
                <a:spcPts val="600"/>
              </a:spcAft>
            </a:pPr>
            <a:r>
              <a:rPr lang="en-US" sz="1600" dirty="0">
                <a:latin typeface="Helvetica" charset="0"/>
                <a:ea typeface="Helvetica" charset="0"/>
                <a:cs typeface="Helvetica" charset="0"/>
              </a:rPr>
              <a:t>The best model with respect to Mallow’s Cp criterion: </a:t>
            </a:r>
            <a:br>
              <a:rPr lang="en-US" sz="1600" dirty="0">
                <a:latin typeface="Helvetica" charset="0"/>
                <a:ea typeface="Helvetica" charset="0"/>
                <a:cs typeface="Helvetica" charset="0"/>
              </a:rPr>
            </a:br>
            <a:r>
              <a:rPr lang="en-US" sz="1600" i="1" dirty="0">
                <a:latin typeface="Helvetica" charset="0"/>
                <a:ea typeface="Helvetica" charset="0"/>
                <a:cs typeface="Helvetica" charset="0"/>
              </a:rPr>
              <a:t>years, public, expend, rank</a:t>
            </a:r>
            <a:r>
              <a:rPr lang="en-US" sz="1600" dirty="0">
                <a:latin typeface="Helvetica" charset="0"/>
                <a:ea typeface="Helvetica" charset="0"/>
                <a:cs typeface="Helvetica" charset="0"/>
              </a:rPr>
              <a:t> (last four predictors in the input dataset)</a:t>
            </a:r>
          </a:p>
          <a:p>
            <a:r>
              <a:rPr lang="en-US" sz="1600" b="1" dirty="0">
                <a:latin typeface="Helvetica" charset="0"/>
                <a:ea typeface="Helvetica" charset="0"/>
                <a:cs typeface="Helvetica" charset="0"/>
              </a:rPr>
              <a:t>Does not allow for specification </a:t>
            </a:r>
            <a:r>
              <a:rPr lang="en-US" sz="1600" b="1">
                <a:latin typeface="Helvetica" charset="0"/>
                <a:ea typeface="Helvetica" charset="0"/>
                <a:cs typeface="Helvetica" charset="0"/>
              </a:rPr>
              <a:t>of </a:t>
            </a:r>
            <a:r>
              <a:rPr lang="en-US" sz="1600" b="1" smtClean="0">
                <a:latin typeface="Helvetica" charset="0"/>
                <a:ea typeface="Helvetica" charset="0"/>
                <a:cs typeface="Helvetica" charset="0"/>
              </a:rPr>
              <a:t>controlling </a:t>
            </a:r>
            <a:r>
              <a:rPr lang="en-US" sz="1600" b="1" dirty="0">
                <a:latin typeface="Helvetica" charset="0"/>
                <a:ea typeface="Helvetica" charset="0"/>
                <a:cs typeface="Helvetica" charset="0"/>
              </a:rPr>
              <a:t>variables!!!</a:t>
            </a:r>
          </a:p>
        </p:txBody>
      </p:sp>
    </p:spTree>
    <p:custDataLst>
      <p:tags r:id="rId1"/>
    </p:custDataLst>
    <p:extLst>
      <p:ext uri="{BB962C8B-B14F-4D97-AF65-F5344CB8AC3E}">
        <p14:creationId xmlns:p14="http://schemas.microsoft.com/office/powerpoint/2010/main" val="1387522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683">
                                            <p:txEl>
                                              <p:pRg st="13" end="1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683">
                                            <p:txEl>
                                              <p:pRg st="14" end="1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683">
                                            <p:txEl>
                                              <p:pRg st="15" end="1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683">
                                            <p:txEl>
                                              <p:pRg st="16" end="1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extLst mod="1">
    <p:ext uri="{6950BFC3-D8DA-4A85-94F7-54DA5524770B}">
      <p188:commentRel xmlns="" xmlns:p188="http://schemas.microsoft.com/office/powerpoint/2018/8/main" r:id="rId4"/>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 xmlns:a16="http://schemas.microsoft.com/office/drawing/2014/main" id="{33193CC1-78EE-4B18-BAF3-1ED3F539583D}"/>
              </a:ext>
            </a:extLst>
          </p:cNvPr>
          <p:cNvGraphicFramePr>
            <a:graphicFrameLocks noGrp="1"/>
          </p:cNvGraphicFramePr>
          <p:nvPr>
            <p:extLst>
              <p:ext uri="{D42A27DB-BD31-4B8C-83A1-F6EECF244321}">
                <p14:modId xmlns:p14="http://schemas.microsoft.com/office/powerpoint/2010/main" val="314553470"/>
              </p:ext>
            </p:extLst>
          </p:nvPr>
        </p:nvGraphicFramePr>
        <p:xfrm>
          <a:off x="125419" y="2165218"/>
          <a:ext cx="3477485" cy="1174242"/>
        </p:xfrm>
        <a:graphic>
          <a:graphicData uri="http://schemas.openxmlformats.org/drawingml/2006/table">
            <a:tbl>
              <a:tblPr firstRow="1" firstCol="1" bandRow="1">
                <a:tableStyleId>{5C22544A-7EE6-4342-B048-85BDC9FD1C3A}</a:tableStyleId>
              </a:tblPr>
              <a:tblGrid>
                <a:gridCol w="815332">
                  <a:extLst>
                    <a:ext uri="{9D8B030D-6E8A-4147-A177-3AD203B41FA5}">
                      <a16:colId xmlns="" xmlns:a16="http://schemas.microsoft.com/office/drawing/2014/main" val="1196518417"/>
                    </a:ext>
                  </a:extLst>
                </a:gridCol>
                <a:gridCol w="409562">
                  <a:extLst>
                    <a:ext uri="{9D8B030D-6E8A-4147-A177-3AD203B41FA5}">
                      <a16:colId xmlns="" xmlns:a16="http://schemas.microsoft.com/office/drawing/2014/main" val="4059550606"/>
                    </a:ext>
                  </a:extLst>
                </a:gridCol>
                <a:gridCol w="887385">
                  <a:extLst>
                    <a:ext uri="{9D8B030D-6E8A-4147-A177-3AD203B41FA5}">
                      <a16:colId xmlns="" xmlns:a16="http://schemas.microsoft.com/office/drawing/2014/main" val="2640600782"/>
                    </a:ext>
                  </a:extLst>
                </a:gridCol>
                <a:gridCol w="682603">
                  <a:extLst>
                    <a:ext uri="{9D8B030D-6E8A-4147-A177-3AD203B41FA5}">
                      <a16:colId xmlns="" xmlns:a16="http://schemas.microsoft.com/office/drawing/2014/main" val="3181929487"/>
                    </a:ext>
                  </a:extLst>
                </a:gridCol>
                <a:gridCol w="682603">
                  <a:extLst>
                    <a:ext uri="{9D8B030D-6E8A-4147-A177-3AD203B41FA5}">
                      <a16:colId xmlns="" xmlns:a16="http://schemas.microsoft.com/office/drawing/2014/main" val="735687666"/>
                    </a:ext>
                  </a:extLst>
                </a:gridCol>
              </a:tblGrid>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Df</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Sum of Sq</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RSS</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AIC</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382161622"/>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expend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13149.5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32380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331.66</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658230389"/>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years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9827.2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35703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336.55</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79037542"/>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&lt;none&gt;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dirty="0">
                          <a:solidFill>
                            <a:schemeClr val="tx1"/>
                          </a:solidFill>
                          <a:effectLst/>
                          <a:latin typeface="Helvetica" panose="020B0604020202020204" pitchFamily="34" charset="0"/>
                          <a:cs typeface="Helvetica" panose="020B0604020202020204" pitchFamily="34" charset="0"/>
                        </a:rPr>
                        <a:t>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45530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346.70</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877828425"/>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income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1305.3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44224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347.25</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4149270801"/>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public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15.9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45514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dirty="0">
                          <a:solidFill>
                            <a:schemeClr val="tx1"/>
                          </a:solidFill>
                          <a:effectLst/>
                          <a:latin typeface="Helvetica" panose="020B0604020202020204" pitchFamily="34" charset="0"/>
                          <a:cs typeface="Helvetica" panose="020B0604020202020204" pitchFamily="34" charset="0"/>
                        </a:rPr>
                        <a:t>348.69</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718558552"/>
                  </a:ext>
                </a:extLst>
              </a:tr>
            </a:tbl>
          </a:graphicData>
        </a:graphic>
      </p:graphicFrame>
      <p:sp>
        <p:nvSpPr>
          <p:cNvPr id="71683" name="Text Box 3"/>
          <p:cNvSpPr txBox="1">
            <a:spLocks noChangeArrowheads="1"/>
          </p:cNvSpPr>
          <p:nvPr/>
        </p:nvSpPr>
        <p:spPr bwMode="auto">
          <a:xfrm>
            <a:off x="119149" y="976246"/>
            <a:ext cx="8438214" cy="646331"/>
          </a:xfrm>
          <a:prstGeom prst="rect">
            <a:avLst/>
          </a:prstGeom>
          <a:noFill/>
          <a:ln>
            <a:noFill/>
          </a:ln>
          <a:extLst>
            <a:ext uri="{909E8E84-426E-40dd-AFC4-6F175D3DCCD1}"/>
            <a:ext uri="{91240B29-F687-4f45-9708-019B960494DF}"/>
          </a:extLst>
        </p:spPr>
        <p:txBody>
          <a:bodyPr wrap="square" anchor="t">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b="1" dirty="0">
                <a:solidFill>
                  <a:srgbClr val="EEB211"/>
                </a:solidFill>
                <a:latin typeface="Helvetica" panose="020B0604020202020204" pitchFamily="34" charset="0"/>
                <a:ea typeface="Source Sans Pro Semibold" panose="020B0603030403020204" pitchFamily="34" charset="0"/>
                <a:cs typeface="Helvetica" panose="020B0604020202020204" pitchFamily="34" charset="0"/>
              </a:rPr>
              <a:t># Forward Stepwise Regression</a:t>
            </a:r>
          </a:p>
          <a:p>
            <a:pPr>
              <a:defRPr/>
            </a:pPr>
            <a:r>
              <a:rPr lang="en-US" sz="1200" i="1" dirty="0">
                <a:latin typeface="Helvetica" panose="020B0604020202020204" pitchFamily="34" charset="0"/>
                <a:ea typeface="Source Sans Pro Semibold"/>
                <a:cs typeface="Helvetica" panose="020B0604020202020204" pitchFamily="34" charset="0"/>
              </a:rPr>
              <a:t>step(</a:t>
            </a:r>
            <a:r>
              <a:rPr lang="en-US" sz="1200" i="1" dirty="0" err="1">
                <a:latin typeface="Helvetica" panose="020B0604020202020204" pitchFamily="34" charset="0"/>
                <a:ea typeface="Source Sans Pro Semibold"/>
                <a:cs typeface="Helvetica" panose="020B0604020202020204" pitchFamily="34" charset="0"/>
              </a:rPr>
              <a:t>lm</a:t>
            </a:r>
            <a:r>
              <a:rPr lang="en-US" sz="1200" i="1" dirty="0">
                <a:latin typeface="Helvetica" panose="020B0604020202020204" pitchFamily="34" charset="0"/>
                <a:ea typeface="Source Sans Pro Semibold"/>
                <a:cs typeface="Helvetica" panose="020B0604020202020204" pitchFamily="34" charset="0"/>
              </a:rPr>
              <a:t>(</a:t>
            </a:r>
            <a:r>
              <a:rPr lang="en-US" sz="1200" i="1" dirty="0" err="1">
                <a:latin typeface="Helvetica" panose="020B0604020202020204" pitchFamily="34" charset="0"/>
                <a:ea typeface="Source Sans Pro Semibold"/>
                <a:cs typeface="Helvetica" panose="020B0604020202020204" pitchFamily="34" charset="0"/>
              </a:rPr>
              <a:t>sat~log</a:t>
            </a:r>
            <a:r>
              <a:rPr lang="en-US" sz="1200" i="1" dirty="0">
                <a:latin typeface="Helvetica" panose="020B0604020202020204" pitchFamily="34" charset="0"/>
                <a:ea typeface="Source Sans Pro Semibold"/>
                <a:cs typeface="Helvetica" panose="020B0604020202020204" pitchFamily="34" charset="0"/>
              </a:rPr>
              <a:t>(takers)+rank), scope=list(lower=</a:t>
            </a:r>
            <a:r>
              <a:rPr lang="en-US" sz="1200" i="1" dirty="0" err="1">
                <a:latin typeface="Helvetica" panose="020B0604020202020204" pitchFamily="34" charset="0"/>
                <a:ea typeface="Source Sans Pro Semibold"/>
                <a:cs typeface="Helvetica" panose="020B0604020202020204" pitchFamily="34" charset="0"/>
              </a:rPr>
              <a:t>sat~log</a:t>
            </a:r>
            <a:r>
              <a:rPr lang="en-US" sz="1200" i="1" dirty="0">
                <a:latin typeface="Helvetica" panose="020B0604020202020204" pitchFamily="34" charset="0"/>
                <a:ea typeface="Source Sans Pro Semibold"/>
                <a:cs typeface="Helvetica" panose="020B0604020202020204" pitchFamily="34" charset="0"/>
              </a:rPr>
              <a:t>(takers)+rank,</a:t>
            </a:r>
          </a:p>
          <a:p>
            <a:pPr>
              <a:defRPr/>
            </a:pPr>
            <a:r>
              <a:rPr lang="en-US" sz="1200" i="1" dirty="0">
                <a:latin typeface="Helvetica" panose="020B0604020202020204" pitchFamily="34" charset="0"/>
                <a:ea typeface="Source Sans Pro Semibold"/>
                <a:cs typeface="Helvetica" panose="020B0604020202020204" pitchFamily="34" charset="0"/>
              </a:rPr>
              <a:t>        upper=</a:t>
            </a:r>
            <a:r>
              <a:rPr lang="en-US" sz="1200" i="1" dirty="0" err="1">
                <a:latin typeface="Helvetica" panose="020B0604020202020204" pitchFamily="34" charset="0"/>
                <a:ea typeface="Source Sans Pro Semibold"/>
                <a:cs typeface="Helvetica" panose="020B0604020202020204" pitchFamily="34" charset="0"/>
              </a:rPr>
              <a:t>sat~log</a:t>
            </a:r>
            <a:r>
              <a:rPr lang="en-US" sz="1200" i="1" dirty="0">
                <a:latin typeface="Helvetica" panose="020B0604020202020204" pitchFamily="34" charset="0"/>
                <a:ea typeface="Source Sans Pro Semibold"/>
                <a:cs typeface="Helvetica" panose="020B0604020202020204" pitchFamily="34" charset="0"/>
              </a:rPr>
              <a:t>(takers)+</a:t>
            </a:r>
            <a:r>
              <a:rPr lang="en-US" sz="1200" i="1" dirty="0" err="1">
                <a:latin typeface="Helvetica" panose="020B0604020202020204" pitchFamily="34" charset="0"/>
                <a:ea typeface="Source Sans Pro Semibold"/>
                <a:cs typeface="Helvetica" panose="020B0604020202020204" pitchFamily="34" charset="0"/>
              </a:rPr>
              <a:t>rank+expend+years+income+public</a:t>
            </a:r>
            <a:r>
              <a:rPr lang="en-US" sz="1200" i="1" dirty="0">
                <a:latin typeface="Helvetica" panose="020B0604020202020204" pitchFamily="34" charset="0"/>
                <a:ea typeface="Source Sans Pro Semibold"/>
                <a:cs typeface="Helvetica" panose="020B0604020202020204" pitchFamily="34" charset="0"/>
              </a:rPr>
              <a:t>), direction="forward")</a:t>
            </a:r>
            <a:r>
              <a:rPr lang="de-DE" sz="1200" i="1" dirty="0">
                <a:latin typeface="Helvetica" panose="020B0604020202020204" pitchFamily="34" charset="0"/>
                <a:ea typeface="Source Sans Pro Semibold"/>
                <a:cs typeface="Helvetica" panose="020B0604020202020204" pitchFamily="34" charset="0"/>
              </a:rPr>
              <a:t>  </a:t>
            </a:r>
            <a:endParaRPr lang="de-DE" sz="1200" i="1" dirty="0">
              <a:latin typeface="Helvetica" panose="020B0604020202020204" pitchFamily="34" charset="0"/>
              <a:ea typeface="Source Sans Pro Semibold" panose="020B0603030403020204" pitchFamily="34" charset="0"/>
              <a:cs typeface="Helvetica" panose="020B0604020202020204" pitchFamily="34" charset="0"/>
            </a:endParaRPr>
          </a:p>
        </p:txBody>
      </p:sp>
      <p:sp>
        <p:nvSpPr>
          <p:cNvPr id="12" name="Title 1"/>
          <p:cNvSpPr txBox="1">
            <a:spLocks/>
          </p:cNvSpPr>
          <p:nvPr/>
        </p:nvSpPr>
        <p:spPr>
          <a:xfrm>
            <a:off x="88531" y="265033"/>
            <a:ext cx="8382000" cy="523781"/>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Stepwise Regression</a:t>
            </a:r>
          </a:p>
        </p:txBody>
      </p:sp>
      <p:sp>
        <p:nvSpPr>
          <p:cNvPr id="2" name="TextBox 1"/>
          <p:cNvSpPr txBox="1"/>
          <p:nvPr/>
        </p:nvSpPr>
        <p:spPr>
          <a:xfrm>
            <a:off x="102965" y="1583433"/>
            <a:ext cx="2897104" cy="2308324"/>
          </a:xfrm>
          <a:prstGeom prst="rect">
            <a:avLst/>
          </a:prstGeom>
          <a:noFill/>
        </p:spPr>
        <p:txBody>
          <a:bodyPr wrap="square" rtlCol="0">
            <a:spAutoFit/>
          </a:bodyPr>
          <a:lstStyle/>
          <a:p>
            <a:pPr lvl="0">
              <a:defRPr/>
            </a:pPr>
            <a:r>
              <a:rPr lang="de-DE" sz="1200" dirty="0">
                <a:solidFill>
                  <a:prstClr val="black"/>
                </a:solidFill>
                <a:latin typeface="Helvetica" panose="020B0604020202020204" pitchFamily="34" charset="0"/>
                <a:ea typeface="Helvetica Neue" charset="0"/>
                <a:cs typeface="Helvetica" panose="020B0604020202020204" pitchFamily="34" charset="0"/>
              </a:rPr>
              <a:t>Start:  AIC=346.7</a:t>
            </a:r>
          </a:p>
          <a:p>
            <a:pPr lvl="0">
              <a:defRPr/>
            </a:pPr>
            <a:r>
              <a:rPr lang="de-DE" sz="1200" dirty="0">
                <a:solidFill>
                  <a:prstClr val="black"/>
                </a:solidFill>
                <a:latin typeface="Helvetica" panose="020B0604020202020204" pitchFamily="34" charset="0"/>
                <a:ea typeface="Helvetica Neue" charset="0"/>
                <a:cs typeface="Helvetica" panose="020B0604020202020204" pitchFamily="34" charset="0"/>
              </a:rPr>
              <a:t>sat ~ log(takers) + rank</a:t>
            </a:r>
          </a:p>
          <a:p>
            <a:pPr lvl="0">
              <a:defRPr/>
            </a:pPr>
            <a:endParaRPr lang="de-DE" sz="12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de-DE" sz="12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de-DE" sz="12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de-DE" sz="12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de-DE" sz="12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de-DE" sz="12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de-DE" sz="12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de-DE" sz="1200" dirty="0">
              <a:solidFill>
                <a:prstClr val="black"/>
              </a:solidFill>
              <a:latin typeface="Helvetica" panose="020B0604020202020204" pitchFamily="34" charset="0"/>
              <a:ea typeface="Helvetica Neue" charset="0"/>
              <a:cs typeface="Helvetica" panose="020B0604020202020204" pitchFamily="34" charset="0"/>
            </a:endParaRPr>
          </a:p>
          <a:p>
            <a:pPr lvl="0">
              <a:defRPr/>
            </a:pPr>
            <a:r>
              <a:rPr lang="de-DE" sz="1200" dirty="0">
                <a:solidFill>
                  <a:prstClr val="black"/>
                </a:solidFill>
                <a:latin typeface="Helvetica" panose="020B0604020202020204" pitchFamily="34" charset="0"/>
                <a:ea typeface="Helvetica Neue" charset="0"/>
                <a:cs typeface="Helvetica" panose="020B0604020202020204" pitchFamily="34" charset="0"/>
              </a:rPr>
              <a:t>Step:  AIC=331.66</a:t>
            </a:r>
          </a:p>
          <a:p>
            <a:pPr lvl="0">
              <a:defRPr/>
            </a:pPr>
            <a:r>
              <a:rPr lang="de-DE" sz="1200" dirty="0">
                <a:solidFill>
                  <a:prstClr val="black"/>
                </a:solidFill>
                <a:latin typeface="Helvetica" panose="020B0604020202020204" pitchFamily="34" charset="0"/>
                <a:ea typeface="Helvetica Neue" charset="0"/>
                <a:cs typeface="Helvetica" panose="020B0604020202020204" pitchFamily="34" charset="0"/>
              </a:rPr>
              <a:t>sat ~ log(takers) + rank + expend</a:t>
            </a:r>
          </a:p>
        </p:txBody>
      </p:sp>
      <p:sp>
        <p:nvSpPr>
          <p:cNvPr id="9" name="TextBox 8"/>
          <p:cNvSpPr txBox="1"/>
          <p:nvPr/>
        </p:nvSpPr>
        <p:spPr>
          <a:xfrm>
            <a:off x="5176009" y="1589021"/>
            <a:ext cx="4419600" cy="2492990"/>
          </a:xfrm>
          <a:prstGeom prst="rect">
            <a:avLst/>
          </a:prstGeom>
          <a:noFill/>
        </p:spPr>
        <p:txBody>
          <a:bodyPr wrap="square" rtlCol="0">
            <a:spAutoFit/>
          </a:bodyPr>
          <a:lstStyle/>
          <a:p>
            <a:pPr lvl="0">
              <a:defRPr/>
            </a:pPr>
            <a:r>
              <a:rPr lang="en-US" sz="1200" dirty="0">
                <a:solidFill>
                  <a:prstClr val="black"/>
                </a:solidFill>
                <a:latin typeface="Helvetica" panose="020B0604020202020204" pitchFamily="34" charset="0"/>
                <a:ea typeface="Helvetica Neue" charset="0"/>
                <a:cs typeface="Helvetica" panose="020B0604020202020204" pitchFamily="34" charset="0"/>
              </a:rPr>
              <a:t>Step:  AIC=323.9</a:t>
            </a:r>
          </a:p>
          <a:p>
            <a:pPr lvl="0">
              <a:defRPr/>
            </a:pPr>
            <a:r>
              <a:rPr lang="en-US" sz="1200" dirty="0">
                <a:solidFill>
                  <a:prstClr val="black"/>
                </a:solidFill>
                <a:latin typeface="Helvetica" panose="020B0604020202020204" pitchFamily="34" charset="0"/>
                <a:ea typeface="Helvetica Neue" charset="0"/>
                <a:cs typeface="Helvetica" panose="020B0604020202020204" pitchFamily="34" charset="0"/>
              </a:rPr>
              <a:t>sat ~ log(takers) + rank + expend + years</a:t>
            </a:r>
          </a:p>
          <a:p>
            <a:pPr lvl="0">
              <a:defRPr/>
            </a:pPr>
            <a:endParaRPr lang="en-US" sz="12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2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2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2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200" dirty="0">
              <a:solidFill>
                <a:prstClr val="black"/>
              </a:solidFill>
              <a:latin typeface="Helvetica" panose="020B0604020202020204" pitchFamily="34" charset="0"/>
              <a:ea typeface="Helvetica Neue" charset="0"/>
              <a:cs typeface="Helvetica" panose="020B0604020202020204" pitchFamily="34" charset="0"/>
            </a:endParaRPr>
          </a:p>
          <a:p>
            <a:pPr lvl="0">
              <a:defRPr/>
            </a:pPr>
            <a:r>
              <a:rPr lang="en-US" sz="1200" dirty="0">
                <a:solidFill>
                  <a:prstClr val="black"/>
                </a:solidFill>
                <a:latin typeface="Helvetica" panose="020B0604020202020204" pitchFamily="34" charset="0"/>
                <a:ea typeface="Helvetica Neue" charset="0"/>
                <a:cs typeface="Helvetica" panose="020B0604020202020204" pitchFamily="34" charset="0"/>
              </a:rPr>
              <a:t>Call:</a:t>
            </a:r>
          </a:p>
          <a:p>
            <a:pPr lvl="0">
              <a:defRPr/>
            </a:pPr>
            <a:r>
              <a:rPr lang="en-US" sz="1200" dirty="0" err="1">
                <a:solidFill>
                  <a:prstClr val="black"/>
                </a:solidFill>
                <a:latin typeface="Helvetica" panose="020B0604020202020204" pitchFamily="34" charset="0"/>
                <a:ea typeface="Helvetica Neue" charset="0"/>
                <a:cs typeface="Helvetica" panose="020B0604020202020204" pitchFamily="34" charset="0"/>
              </a:rPr>
              <a:t>lm</a:t>
            </a:r>
            <a:r>
              <a:rPr lang="en-US" sz="1200" dirty="0">
                <a:solidFill>
                  <a:prstClr val="black"/>
                </a:solidFill>
                <a:latin typeface="Helvetica" panose="020B0604020202020204" pitchFamily="34" charset="0"/>
                <a:ea typeface="Helvetica Neue" charset="0"/>
                <a:cs typeface="Helvetica" panose="020B0604020202020204" pitchFamily="34" charset="0"/>
              </a:rPr>
              <a:t>(formula = sat ~ log(takers) + rank + expend + years)</a:t>
            </a:r>
          </a:p>
          <a:p>
            <a:pPr lvl="0">
              <a:defRPr/>
            </a:pPr>
            <a:endParaRPr lang="en-US" sz="1200" dirty="0">
              <a:solidFill>
                <a:prstClr val="black"/>
              </a:solidFill>
              <a:latin typeface="Helvetica" panose="020B0604020202020204" pitchFamily="34" charset="0"/>
              <a:ea typeface="Helvetica Neue" charset="0"/>
              <a:cs typeface="Helvetica" panose="020B0604020202020204" pitchFamily="34" charset="0"/>
            </a:endParaRPr>
          </a:p>
          <a:p>
            <a:pPr lvl="0">
              <a:defRPr/>
            </a:pPr>
            <a:r>
              <a:rPr lang="en-US" sz="1200" dirty="0">
                <a:solidFill>
                  <a:prstClr val="black"/>
                </a:solidFill>
                <a:latin typeface="Helvetica" panose="020B0604020202020204" pitchFamily="34" charset="0"/>
                <a:ea typeface="Helvetica Neue" charset="0"/>
                <a:cs typeface="Helvetica" panose="020B0604020202020204" pitchFamily="34" charset="0"/>
              </a:rPr>
              <a:t>Coefficients:</a:t>
            </a:r>
          </a:p>
          <a:p>
            <a:pPr lvl="0">
              <a:defRPr/>
            </a:pPr>
            <a:r>
              <a:rPr lang="en-US" sz="1200" dirty="0">
                <a:solidFill>
                  <a:prstClr val="black"/>
                </a:solidFill>
                <a:latin typeface="Helvetica" panose="020B0604020202020204" pitchFamily="34" charset="0"/>
                <a:ea typeface="Helvetica Neue" charset="0"/>
                <a:cs typeface="Helvetica" panose="020B0604020202020204" pitchFamily="34" charset="0"/>
              </a:rPr>
              <a:t>(Intercept)  log(takers)         rank       expend        years  </a:t>
            </a:r>
          </a:p>
          <a:p>
            <a:pPr lvl="0">
              <a:defRPr/>
            </a:pPr>
            <a:r>
              <a:rPr lang="en-US" sz="1200" dirty="0">
                <a:solidFill>
                  <a:prstClr val="black"/>
                </a:solidFill>
                <a:latin typeface="Helvetica" panose="020B0604020202020204" pitchFamily="34" charset="0"/>
                <a:ea typeface="Helvetica Neue" charset="0"/>
                <a:cs typeface="Helvetica" panose="020B0604020202020204" pitchFamily="34" charset="0"/>
              </a:rPr>
              <a:t>    388.425      -38.015        4.004        2.423       17.857 </a:t>
            </a:r>
          </a:p>
        </p:txBody>
      </p:sp>
      <p:sp>
        <p:nvSpPr>
          <p:cNvPr id="6" name="Content Placeholder 2">
            <a:extLst>
              <a:ext uri="{FF2B5EF4-FFF2-40B4-BE49-F238E27FC236}">
                <a16:creationId xmlns="" xmlns:a16="http://schemas.microsoft.com/office/drawing/2014/main" id="{A92064AA-EF64-495E-B3C1-F9A85B6B27EC}"/>
              </a:ext>
            </a:extLst>
          </p:cNvPr>
          <p:cNvSpPr txBox="1">
            <a:spLocks/>
          </p:cNvSpPr>
          <p:nvPr/>
        </p:nvSpPr>
        <p:spPr>
          <a:xfrm>
            <a:off x="5276675" y="4134878"/>
            <a:ext cx="3727541" cy="480131"/>
          </a:xfrm>
          <a:prstGeom prst="rect">
            <a:avLst/>
          </a:prstGeom>
          <a:noFill/>
          <a:ln w="19050">
            <a:solidFill>
              <a:schemeClr val="tx2"/>
            </a:solidFill>
          </a:ln>
          <a:effectLst/>
        </p:spPr>
        <p:txBody>
          <a:bodyPr vert="horz" wrap="square" lIns="182880" tIns="45720" rIns="182880" bIns="45720" rtlCol="0" anchor="ctr" anchorCtr="0">
            <a:spAutoFit/>
          </a:bodyPr>
          <a:lstStyle>
            <a:lvl1pPr marL="457200" indent="-457200" algn="l"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q"/>
              <a:defRPr sz="3200" kern="1200">
                <a:solidFill>
                  <a:schemeClr val="tx1">
                    <a:lumMod val="75000"/>
                    <a:lumOff val="25000"/>
                  </a:schemeClr>
                </a:solidFill>
                <a:latin typeface="+mn-lt"/>
                <a:ea typeface="+mn-ea"/>
                <a:cs typeface="+mn-cs"/>
              </a:defRPr>
            </a:lvl1pPr>
            <a:lvl2pPr marL="658368" indent="-457200" algn="l" defTabSz="914400" rtl="0" eaLnBrk="1" latinLnBrk="0" hangingPunct="1">
              <a:lnSpc>
                <a:spcPct val="90000"/>
              </a:lnSpc>
              <a:spcBef>
                <a:spcPts val="200"/>
              </a:spcBef>
              <a:spcAft>
                <a:spcPts val="400"/>
              </a:spcAft>
              <a:buClr>
                <a:schemeClr val="accent1"/>
              </a:buClr>
              <a:buFont typeface="Calibri" pitchFamily="34" charset="0"/>
              <a:buChar char="−"/>
              <a:defRPr sz="2800" kern="1200">
                <a:solidFill>
                  <a:schemeClr val="tx1">
                    <a:lumMod val="75000"/>
                    <a:lumOff val="25000"/>
                  </a:schemeClr>
                </a:solidFill>
                <a:latin typeface="+mn-lt"/>
                <a:ea typeface="+mn-ea"/>
                <a:cs typeface="+mn-cs"/>
              </a:defRPr>
            </a:lvl2pPr>
            <a:lvl3pPr marL="726948" indent="-342900" algn="l" defTabSz="914400" rtl="0" eaLnBrk="1" latinLnBrk="0" hangingPunct="1">
              <a:lnSpc>
                <a:spcPct val="90000"/>
              </a:lnSpc>
              <a:spcBef>
                <a:spcPts val="200"/>
              </a:spcBef>
              <a:spcAft>
                <a:spcPts val="400"/>
              </a:spcAft>
              <a:buClr>
                <a:schemeClr val="accent1"/>
              </a:buClr>
              <a:buFont typeface="Wingdings" panose="05000000000000000000" pitchFamily="2" charset="2"/>
              <a:buChar char="§"/>
              <a:defRPr sz="2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ClrTx/>
              <a:buNone/>
            </a:pPr>
            <a:r>
              <a:rPr lang="en-US" sz="1400" dirty="0">
                <a:solidFill>
                  <a:prstClr val="black"/>
                </a:solidFill>
                <a:latin typeface="Helvetica" panose="020B0604020202020204" pitchFamily="34" charset="0"/>
                <a:cs typeface="Helvetica" panose="020B0604020202020204" pitchFamily="34" charset="0"/>
              </a:rPr>
              <a:t>Selected model: </a:t>
            </a:r>
            <a:r>
              <a:rPr lang="en-US" sz="1400" i="1" dirty="0">
                <a:solidFill>
                  <a:prstClr val="black"/>
                </a:solidFill>
                <a:latin typeface="Helvetica" panose="020B0604020202020204" pitchFamily="34" charset="0"/>
                <a:cs typeface="Helvetica" panose="020B0604020202020204" pitchFamily="34" charset="0"/>
              </a:rPr>
              <a:t>expend</a:t>
            </a:r>
            <a:r>
              <a:rPr lang="en-US" sz="1400" dirty="0">
                <a:solidFill>
                  <a:prstClr val="black"/>
                </a:solidFill>
                <a:latin typeface="Helvetica" panose="020B0604020202020204" pitchFamily="34" charset="0"/>
                <a:cs typeface="Helvetica" panose="020B0604020202020204" pitchFamily="34" charset="0"/>
              </a:rPr>
              <a:t> and </a:t>
            </a:r>
            <a:r>
              <a:rPr lang="en-US" sz="1400" i="1" dirty="0">
                <a:solidFill>
                  <a:prstClr val="black"/>
                </a:solidFill>
                <a:latin typeface="Helvetica" panose="020B0604020202020204" pitchFamily="34" charset="0"/>
                <a:cs typeface="Helvetica" panose="020B0604020202020204" pitchFamily="34" charset="0"/>
              </a:rPr>
              <a:t>years</a:t>
            </a:r>
            <a:r>
              <a:rPr lang="en-US" sz="1400" dirty="0">
                <a:solidFill>
                  <a:prstClr val="black"/>
                </a:solidFill>
                <a:latin typeface="Helvetica" panose="020B0604020202020204" pitchFamily="34" charset="0"/>
                <a:cs typeface="Helvetica" panose="020B0604020202020204" pitchFamily="34" charset="0"/>
              </a:rPr>
              <a:t>, with confounding variables log(</a:t>
            </a:r>
            <a:r>
              <a:rPr lang="en-US" sz="1400" i="1" dirty="0">
                <a:solidFill>
                  <a:prstClr val="black"/>
                </a:solidFill>
                <a:latin typeface="Helvetica" panose="020B0604020202020204" pitchFamily="34" charset="0"/>
                <a:cs typeface="Helvetica" panose="020B0604020202020204" pitchFamily="34" charset="0"/>
              </a:rPr>
              <a:t>takers</a:t>
            </a:r>
            <a:r>
              <a:rPr lang="en-US" sz="1400" dirty="0">
                <a:solidFill>
                  <a:prstClr val="black"/>
                </a:solidFill>
                <a:latin typeface="Helvetica" panose="020B0604020202020204" pitchFamily="34" charset="0"/>
                <a:cs typeface="Helvetica" panose="020B0604020202020204" pitchFamily="34" charset="0"/>
              </a:rPr>
              <a:t>) and </a:t>
            </a:r>
            <a:r>
              <a:rPr lang="en-US" sz="1400" i="1" dirty="0">
                <a:solidFill>
                  <a:prstClr val="black"/>
                </a:solidFill>
                <a:latin typeface="Helvetica" panose="020B0604020202020204" pitchFamily="34" charset="0"/>
                <a:cs typeface="Helvetica" panose="020B0604020202020204" pitchFamily="34" charset="0"/>
              </a:rPr>
              <a:t>rank</a:t>
            </a:r>
            <a:endParaRPr lang="en-US" sz="1800" i="1" dirty="0">
              <a:latin typeface="Helvetica" panose="020B0604020202020204" pitchFamily="34" charset="0"/>
              <a:cs typeface="Helvetica" panose="020B0604020202020204" pitchFamily="34" charset="0"/>
            </a:endParaRPr>
          </a:p>
        </p:txBody>
      </p:sp>
      <p:graphicFrame>
        <p:nvGraphicFramePr>
          <p:cNvPr id="4" name="Table 3">
            <a:extLst>
              <a:ext uri="{FF2B5EF4-FFF2-40B4-BE49-F238E27FC236}">
                <a16:creationId xmlns="" xmlns:a16="http://schemas.microsoft.com/office/drawing/2014/main" id="{FB32795E-1D7A-451E-A5ED-47AA462AC13E}"/>
              </a:ext>
            </a:extLst>
          </p:cNvPr>
          <p:cNvGraphicFramePr>
            <a:graphicFrameLocks noGrp="1"/>
          </p:cNvGraphicFramePr>
          <p:nvPr>
            <p:extLst>
              <p:ext uri="{D42A27DB-BD31-4B8C-83A1-F6EECF244321}">
                <p14:modId xmlns:p14="http://schemas.microsoft.com/office/powerpoint/2010/main" val="4228024595"/>
              </p:ext>
            </p:extLst>
          </p:nvPr>
        </p:nvGraphicFramePr>
        <p:xfrm>
          <a:off x="122537" y="3967150"/>
          <a:ext cx="3477486" cy="978535"/>
        </p:xfrm>
        <a:graphic>
          <a:graphicData uri="http://schemas.openxmlformats.org/drawingml/2006/table">
            <a:tbl>
              <a:tblPr firstRow="1" firstCol="1" bandRow="1">
                <a:tableStyleId>{5C22544A-7EE6-4342-B048-85BDC9FD1C3A}</a:tableStyleId>
              </a:tblPr>
              <a:tblGrid>
                <a:gridCol w="831657">
                  <a:extLst>
                    <a:ext uri="{9D8B030D-6E8A-4147-A177-3AD203B41FA5}">
                      <a16:colId xmlns="" xmlns:a16="http://schemas.microsoft.com/office/drawing/2014/main" val="1574643600"/>
                    </a:ext>
                  </a:extLst>
                </a:gridCol>
                <a:gridCol w="348135">
                  <a:extLst>
                    <a:ext uri="{9D8B030D-6E8A-4147-A177-3AD203B41FA5}">
                      <a16:colId xmlns="" xmlns:a16="http://schemas.microsoft.com/office/drawing/2014/main" val="955617449"/>
                    </a:ext>
                  </a:extLst>
                </a:gridCol>
                <a:gridCol w="905152">
                  <a:extLst>
                    <a:ext uri="{9D8B030D-6E8A-4147-A177-3AD203B41FA5}">
                      <a16:colId xmlns="" xmlns:a16="http://schemas.microsoft.com/office/drawing/2014/main" val="2296165806"/>
                    </a:ext>
                  </a:extLst>
                </a:gridCol>
                <a:gridCol w="696271">
                  <a:extLst>
                    <a:ext uri="{9D8B030D-6E8A-4147-A177-3AD203B41FA5}">
                      <a16:colId xmlns="" xmlns:a16="http://schemas.microsoft.com/office/drawing/2014/main" val="1229120867"/>
                    </a:ext>
                  </a:extLst>
                </a:gridCol>
                <a:gridCol w="696271">
                  <a:extLst>
                    <a:ext uri="{9D8B030D-6E8A-4147-A177-3AD203B41FA5}">
                      <a16:colId xmlns="" xmlns:a16="http://schemas.microsoft.com/office/drawing/2014/main" val="223292741"/>
                    </a:ext>
                  </a:extLst>
                </a:gridCol>
              </a:tblGrid>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Df</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Sum of Sq</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RSS</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AIC</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4216162223"/>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years</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5743.5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26637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323.90</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824639493"/>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&lt;none&gt;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32380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331.66</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979167531"/>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public</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dirty="0">
                          <a:solidFill>
                            <a:schemeClr val="tx1"/>
                          </a:solidFill>
                          <a:effectLst/>
                          <a:latin typeface="Helvetica" panose="020B0604020202020204" pitchFamily="34" charset="0"/>
                          <a:cs typeface="Helvetica" panose="020B0604020202020204" pitchFamily="34" charset="0"/>
                        </a:rPr>
                        <a:t>1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421.0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31959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333.01</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14577418"/>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income</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317.3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32063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dirty="0">
                          <a:solidFill>
                            <a:schemeClr val="tx1"/>
                          </a:solidFill>
                          <a:effectLst/>
                          <a:latin typeface="Helvetica" panose="020B0604020202020204" pitchFamily="34" charset="0"/>
                          <a:cs typeface="Helvetica" panose="020B0604020202020204" pitchFamily="34" charset="0"/>
                        </a:rPr>
                        <a:t>333.17</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4101950318"/>
                  </a:ext>
                </a:extLst>
              </a:tr>
            </a:tbl>
          </a:graphicData>
        </a:graphic>
      </p:graphicFrame>
      <p:sp>
        <p:nvSpPr>
          <p:cNvPr id="5" name="Rectangle 1">
            <a:extLst>
              <a:ext uri="{FF2B5EF4-FFF2-40B4-BE49-F238E27FC236}">
                <a16:creationId xmlns="" xmlns:a16="http://schemas.microsoft.com/office/drawing/2014/main" id="{BBE7D8FF-C59A-4A64-A382-F104BB00AAD9}"/>
              </a:ext>
            </a:extLst>
          </p:cNvPr>
          <p:cNvSpPr>
            <a:spLocks noChangeArrowheads="1"/>
          </p:cNvSpPr>
          <p:nvPr/>
        </p:nvSpPr>
        <p:spPr bwMode="auto">
          <a:xfrm>
            <a:off x="3144838" y="25733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Table 6">
            <a:extLst>
              <a:ext uri="{FF2B5EF4-FFF2-40B4-BE49-F238E27FC236}">
                <a16:creationId xmlns="" xmlns:a16="http://schemas.microsoft.com/office/drawing/2014/main" id="{3EF0527A-E3B9-4A32-B0DD-525C7BDEFCE5}"/>
              </a:ext>
            </a:extLst>
          </p:cNvPr>
          <p:cNvGraphicFramePr>
            <a:graphicFrameLocks noGrp="1"/>
          </p:cNvGraphicFramePr>
          <p:nvPr>
            <p:extLst>
              <p:ext uri="{D42A27DB-BD31-4B8C-83A1-F6EECF244321}">
                <p14:modId xmlns:p14="http://schemas.microsoft.com/office/powerpoint/2010/main" val="2568880265"/>
              </p:ext>
            </p:extLst>
          </p:nvPr>
        </p:nvGraphicFramePr>
        <p:xfrm>
          <a:off x="5209563" y="2106070"/>
          <a:ext cx="3170020" cy="782828"/>
        </p:xfrm>
        <a:graphic>
          <a:graphicData uri="http://schemas.openxmlformats.org/drawingml/2006/table">
            <a:tbl>
              <a:tblPr firstRow="1" firstCol="1" bandRow="1">
                <a:tableStyleId>{5C22544A-7EE6-4342-B048-85BDC9FD1C3A}</a:tableStyleId>
              </a:tblPr>
              <a:tblGrid>
                <a:gridCol w="787014">
                  <a:extLst>
                    <a:ext uri="{9D8B030D-6E8A-4147-A177-3AD203B41FA5}">
                      <a16:colId xmlns="" xmlns:a16="http://schemas.microsoft.com/office/drawing/2014/main" val="1276588015"/>
                    </a:ext>
                  </a:extLst>
                </a:gridCol>
                <a:gridCol w="329448">
                  <a:extLst>
                    <a:ext uri="{9D8B030D-6E8A-4147-A177-3AD203B41FA5}">
                      <a16:colId xmlns="" xmlns:a16="http://schemas.microsoft.com/office/drawing/2014/main" val="3634074245"/>
                    </a:ext>
                  </a:extLst>
                </a:gridCol>
                <a:gridCol w="856564">
                  <a:extLst>
                    <a:ext uri="{9D8B030D-6E8A-4147-A177-3AD203B41FA5}">
                      <a16:colId xmlns="" xmlns:a16="http://schemas.microsoft.com/office/drawing/2014/main" val="1241531133"/>
                    </a:ext>
                  </a:extLst>
                </a:gridCol>
                <a:gridCol w="593006">
                  <a:extLst>
                    <a:ext uri="{9D8B030D-6E8A-4147-A177-3AD203B41FA5}">
                      <a16:colId xmlns="" xmlns:a16="http://schemas.microsoft.com/office/drawing/2014/main" val="1553278101"/>
                    </a:ext>
                  </a:extLst>
                </a:gridCol>
                <a:gridCol w="603988">
                  <a:extLst>
                    <a:ext uri="{9D8B030D-6E8A-4147-A177-3AD203B41FA5}">
                      <a16:colId xmlns="" xmlns:a16="http://schemas.microsoft.com/office/drawing/2014/main" val="109664683"/>
                    </a:ext>
                  </a:extLst>
                </a:gridCol>
              </a:tblGrid>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Df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Sum of Sq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RSS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AIC</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776221758"/>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&lt;none&gt;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26637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323.90</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988404992"/>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 income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26.6165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dirty="0">
                          <a:solidFill>
                            <a:schemeClr val="tx1"/>
                          </a:solidFill>
                          <a:effectLst/>
                          <a:latin typeface="Helvetica" panose="020B0604020202020204" pitchFamily="34" charset="0"/>
                          <a:cs typeface="Helvetica" panose="020B0604020202020204" pitchFamily="34" charset="0"/>
                        </a:rPr>
                        <a:t>26610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325.85</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660588228"/>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 public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4.5743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26632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dirty="0">
                          <a:solidFill>
                            <a:schemeClr val="tx1"/>
                          </a:solidFill>
                          <a:effectLst/>
                          <a:latin typeface="Helvetica" panose="020B0604020202020204" pitchFamily="34" charset="0"/>
                          <a:cs typeface="Helvetica" panose="020B0604020202020204" pitchFamily="34" charset="0"/>
                        </a:rPr>
                        <a:t>325.89</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287750939"/>
                  </a:ext>
                </a:extLst>
              </a:tr>
            </a:tbl>
          </a:graphicData>
        </a:graphic>
      </p:graphicFrame>
      <p:sp>
        <p:nvSpPr>
          <p:cNvPr id="10" name="Rectangle 2">
            <a:extLst>
              <a:ext uri="{FF2B5EF4-FFF2-40B4-BE49-F238E27FC236}">
                <a16:creationId xmlns="" xmlns:a16="http://schemas.microsoft.com/office/drawing/2014/main" id="{8B7D43EE-53C4-4330-88DB-11CCCC4F5080}"/>
              </a:ext>
            </a:extLst>
          </p:cNvPr>
          <p:cNvSpPr>
            <a:spLocks noChangeArrowheads="1"/>
          </p:cNvSpPr>
          <p:nvPr/>
        </p:nvSpPr>
        <p:spPr bwMode="auto">
          <a:xfrm>
            <a:off x="3197225" y="23891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custDataLst>
      <p:tags r:id="rId1"/>
    </p:custDataLst>
    <p:extLst>
      <p:ext uri="{BB962C8B-B14F-4D97-AF65-F5344CB8AC3E}">
        <p14:creationId xmlns:p14="http://schemas.microsoft.com/office/powerpoint/2010/main" val="2212832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16066" y="975089"/>
            <a:ext cx="5329875" cy="830997"/>
          </a:xfrm>
          <a:prstGeom prst="rect">
            <a:avLst/>
          </a:prstGeom>
          <a:noFill/>
          <a:ln>
            <a:noFill/>
          </a:ln>
          <a:extLst>
            <a:ext uri="{909E8E84-426E-40dd-AFC4-6F175D3DCCD1}"/>
            <a:ext uri="{91240B29-F687-4f45-9708-019B960494DF}"/>
          </a:extLst>
        </p:spPr>
        <p:txBody>
          <a:bodyPr wrap="square" anchor="t">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Backward Stepwise Regression</a:t>
            </a:r>
          </a:p>
          <a:p>
            <a:pPr>
              <a:defRPr/>
            </a:pPr>
            <a:r>
              <a:rPr lang="en-US" sz="1200" i="1" dirty="0">
                <a:latin typeface="Helvetica" panose="020B0604020202020204" pitchFamily="34" charset="0"/>
                <a:ea typeface="Helvetica Neue" charset="0"/>
                <a:cs typeface="Helvetica" panose="020B0604020202020204" pitchFamily="34" charset="0"/>
              </a:rPr>
              <a:t>full = </a:t>
            </a:r>
            <a:r>
              <a:rPr lang="en-US" sz="1200" i="1" dirty="0" err="1">
                <a:latin typeface="Helvetica" panose="020B0604020202020204" pitchFamily="34" charset="0"/>
                <a:ea typeface="Helvetica Neue" charset="0"/>
                <a:cs typeface="Helvetica" panose="020B0604020202020204" pitchFamily="34" charset="0"/>
              </a:rPr>
              <a:t>lm</a:t>
            </a:r>
            <a:r>
              <a:rPr lang="en-US" sz="1200" i="1" dirty="0">
                <a:latin typeface="Helvetica" panose="020B0604020202020204" pitchFamily="34" charset="0"/>
                <a:ea typeface="Helvetica Neue" charset="0"/>
                <a:cs typeface="Helvetica" panose="020B0604020202020204" pitchFamily="34" charset="0"/>
              </a:rPr>
              <a:t>(sat ~ log(takers) + rank + expend + years + income + public)</a:t>
            </a:r>
          </a:p>
          <a:p>
            <a:pPr>
              <a:defRPr/>
            </a:pPr>
            <a:r>
              <a:rPr lang="en-US" sz="1200" i="1" dirty="0">
                <a:latin typeface="Helvetica" panose="020B0604020202020204" pitchFamily="34" charset="0"/>
                <a:ea typeface="Helvetica Neue" charset="0"/>
                <a:cs typeface="Helvetica" panose="020B0604020202020204" pitchFamily="34" charset="0"/>
              </a:rPr>
              <a:t>minimum = </a:t>
            </a:r>
            <a:r>
              <a:rPr lang="en-US" sz="1200" i="1" dirty="0" err="1">
                <a:latin typeface="Helvetica" panose="020B0604020202020204" pitchFamily="34" charset="0"/>
                <a:ea typeface="Helvetica Neue" charset="0"/>
                <a:cs typeface="Helvetica" panose="020B0604020202020204" pitchFamily="34" charset="0"/>
              </a:rPr>
              <a:t>lm</a:t>
            </a:r>
            <a:r>
              <a:rPr lang="en-US" sz="1200" i="1" dirty="0">
                <a:latin typeface="Helvetica" panose="020B0604020202020204" pitchFamily="34" charset="0"/>
                <a:ea typeface="Helvetica Neue" charset="0"/>
                <a:cs typeface="Helvetica" panose="020B0604020202020204" pitchFamily="34" charset="0"/>
              </a:rPr>
              <a:t>(sat ~ log(takers) + rank)</a:t>
            </a:r>
          </a:p>
          <a:p>
            <a:pPr>
              <a:defRPr/>
            </a:pPr>
            <a:r>
              <a:rPr lang="en-US" sz="1200" i="1" dirty="0">
                <a:latin typeface="Helvetica" panose="020B0604020202020204" pitchFamily="34" charset="0"/>
                <a:ea typeface="Helvetica Neue" charset="0"/>
                <a:cs typeface="Helvetica" panose="020B0604020202020204" pitchFamily="34" charset="0"/>
              </a:rPr>
              <a:t>step(full, scope=list(lower=minimum, upper=full), direction="backward")</a:t>
            </a:r>
            <a:endParaRPr lang="de-DE" sz="1200" i="1" dirty="0">
              <a:latin typeface="Helvetica" panose="020B0604020202020204" pitchFamily="34" charset="0"/>
              <a:ea typeface="Helvetica Neue" charset="0"/>
              <a:cs typeface="Helvetica" panose="020B0604020202020204" pitchFamily="34" charset="0"/>
            </a:endParaRPr>
          </a:p>
        </p:txBody>
      </p:sp>
      <p:sp>
        <p:nvSpPr>
          <p:cNvPr id="12" name="Title 1"/>
          <p:cNvSpPr txBox="1">
            <a:spLocks/>
          </p:cNvSpPr>
          <p:nvPr/>
        </p:nvSpPr>
        <p:spPr>
          <a:xfrm>
            <a:off x="88531" y="256941"/>
            <a:ext cx="8382000" cy="443020"/>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Stepwise Regression (cont’d)</a:t>
            </a:r>
          </a:p>
        </p:txBody>
      </p:sp>
      <p:sp>
        <p:nvSpPr>
          <p:cNvPr id="2" name="TextBox 1"/>
          <p:cNvSpPr txBox="1"/>
          <p:nvPr/>
        </p:nvSpPr>
        <p:spPr>
          <a:xfrm>
            <a:off x="116066" y="1806086"/>
            <a:ext cx="4294093" cy="1954381"/>
          </a:xfrm>
          <a:prstGeom prst="rect">
            <a:avLst/>
          </a:prstGeom>
          <a:noFill/>
        </p:spPr>
        <p:txBody>
          <a:bodyPr wrap="square" rtlCol="0">
            <a:spAutoFit/>
          </a:bodyPr>
          <a:lstStyle/>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Start:  AIC=327.8</a:t>
            </a:r>
          </a:p>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sat ~ log(takers) + rank + expend + years + income + public</a:t>
            </a: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Step:  AIC=325.85</a:t>
            </a:r>
          </a:p>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sat ~ log(takers) + rank + expend + years + income</a:t>
            </a:r>
          </a:p>
        </p:txBody>
      </p:sp>
      <p:sp>
        <p:nvSpPr>
          <p:cNvPr id="7" name="TextBox 6"/>
          <p:cNvSpPr txBox="1"/>
          <p:nvPr/>
        </p:nvSpPr>
        <p:spPr>
          <a:xfrm>
            <a:off x="5400519" y="2460428"/>
            <a:ext cx="3676370" cy="2292935"/>
          </a:xfrm>
          <a:prstGeom prst="rect">
            <a:avLst/>
          </a:prstGeom>
          <a:noFill/>
        </p:spPr>
        <p:txBody>
          <a:bodyPr wrap="square" rtlCol="0">
            <a:spAutoFit/>
          </a:bodyPr>
          <a:lstStyle/>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Step:  AIC=323.9</a:t>
            </a:r>
          </a:p>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sat ~ log(takers) + rank + expend + years</a:t>
            </a: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Call:</a:t>
            </a:r>
          </a:p>
          <a:p>
            <a:pPr lvl="0">
              <a:defRPr/>
            </a:pPr>
            <a:r>
              <a:rPr lang="en-US" sz="1100" dirty="0" err="1">
                <a:solidFill>
                  <a:prstClr val="black"/>
                </a:solidFill>
                <a:latin typeface="Helvetica" panose="020B0604020202020204" pitchFamily="34" charset="0"/>
                <a:ea typeface="Helvetica Neue" charset="0"/>
                <a:cs typeface="Helvetica" panose="020B0604020202020204" pitchFamily="34" charset="0"/>
              </a:rPr>
              <a:t>lm</a:t>
            </a:r>
            <a:r>
              <a:rPr lang="en-US" sz="1100" dirty="0">
                <a:solidFill>
                  <a:prstClr val="black"/>
                </a:solidFill>
                <a:latin typeface="Helvetica" panose="020B0604020202020204" pitchFamily="34" charset="0"/>
                <a:ea typeface="Helvetica Neue" charset="0"/>
                <a:cs typeface="Helvetica" panose="020B0604020202020204" pitchFamily="34" charset="0"/>
              </a:rPr>
              <a:t>(formula = sat ~ log(takers) + rank + expend + years)</a:t>
            </a: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Coefficients:</a:t>
            </a:r>
          </a:p>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(Intercept)  log(takers)         rank       expend        years  </a:t>
            </a:r>
          </a:p>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    388.425      -38.015        4.004        2.423       17.857 </a:t>
            </a:r>
          </a:p>
        </p:txBody>
      </p:sp>
      <p:graphicFrame>
        <p:nvGraphicFramePr>
          <p:cNvPr id="4" name="Table 3">
            <a:extLst>
              <a:ext uri="{FF2B5EF4-FFF2-40B4-BE49-F238E27FC236}">
                <a16:creationId xmlns="" xmlns:a16="http://schemas.microsoft.com/office/drawing/2014/main" id="{3E3C0523-7901-49F9-AB0B-838E63DB7132}"/>
              </a:ext>
            </a:extLst>
          </p:cNvPr>
          <p:cNvGraphicFramePr>
            <a:graphicFrameLocks noGrp="1"/>
          </p:cNvGraphicFramePr>
          <p:nvPr>
            <p:extLst>
              <p:ext uri="{D42A27DB-BD31-4B8C-83A1-F6EECF244321}">
                <p14:modId xmlns:p14="http://schemas.microsoft.com/office/powerpoint/2010/main" val="651897372"/>
              </p:ext>
            </p:extLst>
          </p:nvPr>
        </p:nvGraphicFramePr>
        <p:xfrm>
          <a:off x="137755" y="2284215"/>
          <a:ext cx="3326897" cy="1076328"/>
        </p:xfrm>
        <a:graphic>
          <a:graphicData uri="http://schemas.openxmlformats.org/drawingml/2006/table">
            <a:tbl>
              <a:tblPr firstRow="1" firstCol="1" bandRow="1">
                <a:tableStyleId>{5C22544A-7EE6-4342-B048-85BDC9FD1C3A}</a:tableStyleId>
              </a:tblPr>
              <a:tblGrid>
                <a:gridCol w="811899">
                  <a:extLst>
                    <a:ext uri="{9D8B030D-6E8A-4147-A177-3AD203B41FA5}">
                      <a16:colId xmlns="" xmlns:a16="http://schemas.microsoft.com/office/drawing/2014/main" val="2958999496"/>
                    </a:ext>
                  </a:extLst>
                </a:gridCol>
                <a:gridCol w="339865">
                  <a:extLst>
                    <a:ext uri="{9D8B030D-6E8A-4147-A177-3AD203B41FA5}">
                      <a16:colId xmlns="" xmlns:a16="http://schemas.microsoft.com/office/drawing/2014/main" val="2277292964"/>
                    </a:ext>
                  </a:extLst>
                </a:gridCol>
                <a:gridCol w="883648">
                  <a:extLst>
                    <a:ext uri="{9D8B030D-6E8A-4147-A177-3AD203B41FA5}">
                      <a16:colId xmlns="" xmlns:a16="http://schemas.microsoft.com/office/drawing/2014/main" val="542712487"/>
                    </a:ext>
                  </a:extLst>
                </a:gridCol>
                <a:gridCol w="611756">
                  <a:extLst>
                    <a:ext uri="{9D8B030D-6E8A-4147-A177-3AD203B41FA5}">
                      <a16:colId xmlns="" xmlns:a16="http://schemas.microsoft.com/office/drawing/2014/main" val="1122335656"/>
                    </a:ext>
                  </a:extLst>
                </a:gridCol>
                <a:gridCol w="679729">
                  <a:extLst>
                    <a:ext uri="{9D8B030D-6E8A-4147-A177-3AD203B41FA5}">
                      <a16:colId xmlns="" xmlns:a16="http://schemas.microsoft.com/office/drawing/2014/main" val="499418501"/>
                    </a:ext>
                  </a:extLst>
                </a:gridCol>
              </a:tblGrid>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Df</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Sum of Sq</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RSS</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AIC</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716001885"/>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public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25.0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26610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325.85</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464193751"/>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income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47.0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26632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325.89</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846581101"/>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&lt;none&gt;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26585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327.80</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836269448"/>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years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4588.8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31174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333.77</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899697691"/>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expend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6264.4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32850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336.38</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836005382"/>
                  </a:ext>
                </a:extLst>
              </a:tr>
            </a:tbl>
          </a:graphicData>
        </a:graphic>
      </p:graphicFrame>
      <p:sp>
        <p:nvSpPr>
          <p:cNvPr id="5" name="Rectangle 1">
            <a:extLst>
              <a:ext uri="{FF2B5EF4-FFF2-40B4-BE49-F238E27FC236}">
                <a16:creationId xmlns="" xmlns:a16="http://schemas.microsoft.com/office/drawing/2014/main" id="{026507B8-1DC9-427F-83CB-ADB3D93586B6}"/>
              </a:ext>
            </a:extLst>
          </p:cNvPr>
          <p:cNvSpPr>
            <a:spLocks noChangeArrowheads="1"/>
          </p:cNvSpPr>
          <p:nvPr/>
        </p:nvSpPr>
        <p:spPr bwMode="auto">
          <a:xfrm>
            <a:off x="3173413" y="248761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Table 5">
            <a:extLst>
              <a:ext uri="{FF2B5EF4-FFF2-40B4-BE49-F238E27FC236}">
                <a16:creationId xmlns="" xmlns:a16="http://schemas.microsoft.com/office/drawing/2014/main" id="{800D8939-9577-43C1-A481-0D7577755467}"/>
              </a:ext>
            </a:extLst>
          </p:cNvPr>
          <p:cNvGraphicFramePr>
            <a:graphicFrameLocks noGrp="1"/>
          </p:cNvGraphicFramePr>
          <p:nvPr>
            <p:extLst>
              <p:ext uri="{D42A27DB-BD31-4B8C-83A1-F6EECF244321}">
                <p14:modId xmlns:p14="http://schemas.microsoft.com/office/powerpoint/2010/main" val="3786322219"/>
              </p:ext>
            </p:extLst>
          </p:nvPr>
        </p:nvGraphicFramePr>
        <p:xfrm>
          <a:off x="137755" y="3831613"/>
          <a:ext cx="3344834" cy="896940"/>
        </p:xfrm>
        <a:graphic>
          <a:graphicData uri="http://schemas.openxmlformats.org/drawingml/2006/table">
            <a:tbl>
              <a:tblPr firstRow="1" firstCol="1" bandRow="1">
                <a:tableStyleId>{5C22544A-7EE6-4342-B048-85BDC9FD1C3A}</a:tableStyleId>
              </a:tblPr>
              <a:tblGrid>
                <a:gridCol w="816276">
                  <a:extLst>
                    <a:ext uri="{9D8B030D-6E8A-4147-A177-3AD203B41FA5}">
                      <a16:colId xmlns="" xmlns:a16="http://schemas.microsoft.com/office/drawing/2014/main" val="1130010973"/>
                    </a:ext>
                  </a:extLst>
                </a:gridCol>
                <a:gridCol w="341697">
                  <a:extLst>
                    <a:ext uri="{9D8B030D-6E8A-4147-A177-3AD203B41FA5}">
                      <a16:colId xmlns="" xmlns:a16="http://schemas.microsoft.com/office/drawing/2014/main" val="3703912110"/>
                    </a:ext>
                  </a:extLst>
                </a:gridCol>
                <a:gridCol w="888412">
                  <a:extLst>
                    <a:ext uri="{9D8B030D-6E8A-4147-A177-3AD203B41FA5}">
                      <a16:colId xmlns="" xmlns:a16="http://schemas.microsoft.com/office/drawing/2014/main" val="3111278271"/>
                    </a:ext>
                  </a:extLst>
                </a:gridCol>
                <a:gridCol w="615055">
                  <a:extLst>
                    <a:ext uri="{9D8B030D-6E8A-4147-A177-3AD203B41FA5}">
                      <a16:colId xmlns="" xmlns:a16="http://schemas.microsoft.com/office/drawing/2014/main" val="574982182"/>
                    </a:ext>
                  </a:extLst>
                </a:gridCol>
                <a:gridCol w="683394">
                  <a:extLst>
                    <a:ext uri="{9D8B030D-6E8A-4147-A177-3AD203B41FA5}">
                      <a16:colId xmlns="" xmlns:a16="http://schemas.microsoft.com/office/drawing/2014/main" val="505615642"/>
                    </a:ext>
                  </a:extLst>
                </a:gridCol>
              </a:tblGrid>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Df</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Sum of Sq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RSS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AIC</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035321283"/>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income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26.6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26637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323.90</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825055054"/>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&lt;none&gt;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26610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325.85</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571426858"/>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years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5452.8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32063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333.17</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816375255"/>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expend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7430.3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34040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336.16</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236318074"/>
                  </a:ext>
                </a:extLst>
              </a:tr>
            </a:tbl>
          </a:graphicData>
        </a:graphic>
      </p:graphicFrame>
      <p:sp>
        <p:nvSpPr>
          <p:cNvPr id="8" name="Rectangle 2">
            <a:extLst>
              <a:ext uri="{FF2B5EF4-FFF2-40B4-BE49-F238E27FC236}">
                <a16:creationId xmlns="" xmlns:a16="http://schemas.microsoft.com/office/drawing/2014/main" id="{AC2F62AA-397E-41B3-8524-C1746EEDEA60}"/>
              </a:ext>
            </a:extLst>
          </p:cNvPr>
          <p:cNvSpPr>
            <a:spLocks noChangeArrowheads="1"/>
          </p:cNvSpPr>
          <p:nvPr/>
        </p:nvSpPr>
        <p:spPr bwMode="auto">
          <a:xfrm>
            <a:off x="3173413" y="25733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Table 8">
            <a:extLst>
              <a:ext uri="{FF2B5EF4-FFF2-40B4-BE49-F238E27FC236}">
                <a16:creationId xmlns="" xmlns:a16="http://schemas.microsoft.com/office/drawing/2014/main" id="{7D7D8607-BD83-47DB-8036-32CBECB1F89F}"/>
              </a:ext>
            </a:extLst>
          </p:cNvPr>
          <p:cNvGraphicFramePr>
            <a:graphicFrameLocks noGrp="1"/>
          </p:cNvGraphicFramePr>
          <p:nvPr>
            <p:extLst>
              <p:ext uri="{D42A27DB-BD31-4B8C-83A1-F6EECF244321}">
                <p14:modId xmlns:p14="http://schemas.microsoft.com/office/powerpoint/2010/main" val="3848337581"/>
              </p:ext>
            </p:extLst>
          </p:nvPr>
        </p:nvGraphicFramePr>
        <p:xfrm>
          <a:off x="5429163" y="2902412"/>
          <a:ext cx="3318244" cy="717552"/>
        </p:xfrm>
        <a:graphic>
          <a:graphicData uri="http://schemas.openxmlformats.org/drawingml/2006/table">
            <a:tbl>
              <a:tblPr firstRow="1" firstCol="1" bandRow="1">
                <a:tableStyleId>{5C22544A-7EE6-4342-B048-85BDC9FD1C3A}</a:tableStyleId>
              </a:tblPr>
              <a:tblGrid>
                <a:gridCol w="809787">
                  <a:extLst>
                    <a:ext uri="{9D8B030D-6E8A-4147-A177-3AD203B41FA5}">
                      <a16:colId xmlns="" xmlns:a16="http://schemas.microsoft.com/office/drawing/2014/main" val="2998906505"/>
                    </a:ext>
                  </a:extLst>
                </a:gridCol>
                <a:gridCol w="338981">
                  <a:extLst>
                    <a:ext uri="{9D8B030D-6E8A-4147-A177-3AD203B41FA5}">
                      <a16:colId xmlns="" xmlns:a16="http://schemas.microsoft.com/office/drawing/2014/main" val="934024881"/>
                    </a:ext>
                  </a:extLst>
                </a:gridCol>
                <a:gridCol w="881350">
                  <a:extLst>
                    <a:ext uri="{9D8B030D-6E8A-4147-A177-3AD203B41FA5}">
                      <a16:colId xmlns="" xmlns:a16="http://schemas.microsoft.com/office/drawing/2014/main" val="3717313473"/>
                    </a:ext>
                  </a:extLst>
                </a:gridCol>
                <a:gridCol w="610165">
                  <a:extLst>
                    <a:ext uri="{9D8B030D-6E8A-4147-A177-3AD203B41FA5}">
                      <a16:colId xmlns="" xmlns:a16="http://schemas.microsoft.com/office/drawing/2014/main" val="4270774567"/>
                    </a:ext>
                  </a:extLst>
                </a:gridCol>
                <a:gridCol w="677961">
                  <a:extLst>
                    <a:ext uri="{9D8B030D-6E8A-4147-A177-3AD203B41FA5}">
                      <a16:colId xmlns="" xmlns:a16="http://schemas.microsoft.com/office/drawing/2014/main" val="1522504843"/>
                    </a:ext>
                  </a:extLst>
                </a:gridCol>
              </a:tblGrid>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Df</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Sum of Sq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RSS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AIC</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834159433"/>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&lt;none&gt;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26637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323.90</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817738544"/>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years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5743.5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32380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331.66</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636952590"/>
                  </a:ext>
                </a:extLst>
              </a:tr>
              <a:tr h="0">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 expend</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9065.8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35703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336.55</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4004615961"/>
                  </a:ext>
                </a:extLst>
              </a:tr>
            </a:tbl>
          </a:graphicData>
        </a:graphic>
      </p:graphicFrame>
      <p:sp>
        <p:nvSpPr>
          <p:cNvPr id="10" name="Rectangle 3">
            <a:extLst>
              <a:ext uri="{FF2B5EF4-FFF2-40B4-BE49-F238E27FC236}">
                <a16:creationId xmlns="" xmlns:a16="http://schemas.microsoft.com/office/drawing/2014/main" id="{67494AD0-B928-4035-A03A-BB4BF51EEFDC}"/>
              </a:ext>
            </a:extLst>
          </p:cNvPr>
          <p:cNvSpPr>
            <a:spLocks noChangeArrowheads="1"/>
          </p:cNvSpPr>
          <p:nvPr/>
        </p:nvSpPr>
        <p:spPr bwMode="auto">
          <a:xfrm>
            <a:off x="3173413" y="265906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custDataLst>
      <p:tags r:id="rId1"/>
    </p:custDataLst>
    <p:extLst>
      <p:ext uri="{BB962C8B-B14F-4D97-AF65-F5344CB8AC3E}">
        <p14:creationId xmlns:p14="http://schemas.microsoft.com/office/powerpoint/2010/main" val="2489173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16066" y="975089"/>
            <a:ext cx="5329875" cy="830997"/>
          </a:xfrm>
          <a:prstGeom prst="rect">
            <a:avLst/>
          </a:prstGeom>
          <a:noFill/>
          <a:ln>
            <a:noFill/>
          </a:ln>
          <a:extLst>
            <a:ext uri="{909E8E84-426E-40dd-AFC4-6F175D3DCCD1}"/>
            <a:ext uri="{91240B29-F687-4f45-9708-019B960494DF}"/>
          </a:extLst>
        </p:spPr>
        <p:txBody>
          <a:bodyPr wrap="square" anchor="t">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Backward Stepwise Regression</a:t>
            </a:r>
          </a:p>
          <a:p>
            <a:pPr>
              <a:defRPr/>
            </a:pPr>
            <a:r>
              <a:rPr lang="en-US" sz="1200" i="1" dirty="0">
                <a:latin typeface="Helvetica" panose="020B0604020202020204" pitchFamily="34" charset="0"/>
                <a:ea typeface="Helvetica Neue" charset="0"/>
                <a:cs typeface="Helvetica" panose="020B0604020202020204" pitchFamily="34" charset="0"/>
              </a:rPr>
              <a:t>full = </a:t>
            </a:r>
            <a:r>
              <a:rPr lang="en-US" sz="1200" i="1" dirty="0" err="1">
                <a:latin typeface="Helvetica" panose="020B0604020202020204" pitchFamily="34" charset="0"/>
                <a:ea typeface="Helvetica Neue" charset="0"/>
                <a:cs typeface="Helvetica" panose="020B0604020202020204" pitchFamily="34" charset="0"/>
              </a:rPr>
              <a:t>lm</a:t>
            </a:r>
            <a:r>
              <a:rPr lang="en-US" sz="1200" i="1" dirty="0">
                <a:latin typeface="Helvetica" panose="020B0604020202020204" pitchFamily="34" charset="0"/>
                <a:ea typeface="Helvetica Neue" charset="0"/>
                <a:cs typeface="Helvetica" panose="020B0604020202020204" pitchFamily="34" charset="0"/>
              </a:rPr>
              <a:t>(sat ~ log(takers) + rank + expend + years + income + public)</a:t>
            </a:r>
          </a:p>
          <a:p>
            <a:pPr>
              <a:defRPr/>
            </a:pPr>
            <a:r>
              <a:rPr lang="en-US" sz="1200" i="1" dirty="0">
                <a:latin typeface="Helvetica" panose="020B0604020202020204" pitchFamily="34" charset="0"/>
                <a:ea typeface="Helvetica Neue" charset="0"/>
                <a:cs typeface="Helvetica" panose="020B0604020202020204" pitchFamily="34" charset="0"/>
              </a:rPr>
              <a:t>minimum = </a:t>
            </a:r>
            <a:r>
              <a:rPr lang="en-US" sz="1200" i="1" dirty="0" err="1">
                <a:latin typeface="Helvetica" panose="020B0604020202020204" pitchFamily="34" charset="0"/>
                <a:ea typeface="Helvetica Neue" charset="0"/>
                <a:cs typeface="Helvetica" panose="020B0604020202020204" pitchFamily="34" charset="0"/>
              </a:rPr>
              <a:t>lm</a:t>
            </a:r>
            <a:r>
              <a:rPr lang="en-US" sz="1200" i="1" dirty="0">
                <a:latin typeface="Helvetica" panose="020B0604020202020204" pitchFamily="34" charset="0"/>
                <a:ea typeface="Helvetica Neue" charset="0"/>
                <a:cs typeface="Helvetica" panose="020B0604020202020204" pitchFamily="34" charset="0"/>
              </a:rPr>
              <a:t>(sat ~ log(takers) + rank)</a:t>
            </a:r>
          </a:p>
          <a:p>
            <a:pPr>
              <a:defRPr/>
            </a:pPr>
            <a:r>
              <a:rPr lang="en-US" sz="1200" i="1" dirty="0">
                <a:latin typeface="Helvetica" panose="020B0604020202020204" pitchFamily="34" charset="0"/>
                <a:ea typeface="Helvetica Neue" charset="0"/>
                <a:cs typeface="Helvetica" panose="020B0604020202020204" pitchFamily="34" charset="0"/>
              </a:rPr>
              <a:t>step(full, scope=list(lower=minimum, upper=full), direction="backward")</a:t>
            </a:r>
            <a:endParaRPr lang="de-DE" sz="1200" i="1" dirty="0">
              <a:latin typeface="Helvetica" panose="020B0604020202020204" pitchFamily="34" charset="0"/>
              <a:ea typeface="Helvetica Neue" charset="0"/>
              <a:cs typeface="Helvetica" panose="020B0604020202020204" pitchFamily="34" charset="0"/>
            </a:endParaRPr>
          </a:p>
        </p:txBody>
      </p:sp>
      <p:sp>
        <p:nvSpPr>
          <p:cNvPr id="12" name="Title 1"/>
          <p:cNvSpPr txBox="1">
            <a:spLocks/>
          </p:cNvSpPr>
          <p:nvPr/>
        </p:nvSpPr>
        <p:spPr>
          <a:xfrm>
            <a:off x="88531" y="256941"/>
            <a:ext cx="8382000" cy="443020"/>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Stepwise Regression (cont’d)</a:t>
            </a:r>
          </a:p>
        </p:txBody>
      </p:sp>
      <p:sp>
        <p:nvSpPr>
          <p:cNvPr id="2" name="TextBox 1"/>
          <p:cNvSpPr txBox="1"/>
          <p:nvPr/>
        </p:nvSpPr>
        <p:spPr>
          <a:xfrm>
            <a:off x="116066" y="1806086"/>
            <a:ext cx="4294093" cy="1954381"/>
          </a:xfrm>
          <a:prstGeom prst="rect">
            <a:avLst/>
          </a:prstGeom>
          <a:noFill/>
        </p:spPr>
        <p:txBody>
          <a:bodyPr wrap="square" rtlCol="0">
            <a:spAutoFit/>
          </a:bodyPr>
          <a:lstStyle/>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Start:  AIC=327.8</a:t>
            </a:r>
          </a:p>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sat ~ log(takers) + rank + expend + years + income + public</a:t>
            </a: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Step:  AIC=325.85</a:t>
            </a:r>
          </a:p>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sat ~ log(takers) + rank + expend + years + income</a:t>
            </a:r>
          </a:p>
        </p:txBody>
      </p:sp>
      <p:sp>
        <p:nvSpPr>
          <p:cNvPr id="7" name="TextBox 6"/>
          <p:cNvSpPr txBox="1"/>
          <p:nvPr/>
        </p:nvSpPr>
        <p:spPr>
          <a:xfrm>
            <a:off x="5400519" y="2443650"/>
            <a:ext cx="3676370" cy="2292935"/>
          </a:xfrm>
          <a:prstGeom prst="rect">
            <a:avLst/>
          </a:prstGeom>
          <a:noFill/>
        </p:spPr>
        <p:txBody>
          <a:bodyPr wrap="square" rtlCol="0">
            <a:spAutoFit/>
          </a:bodyPr>
          <a:lstStyle/>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Step:  AIC=323.9</a:t>
            </a:r>
          </a:p>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sat ~ log(takers) + rank + expend + years</a:t>
            </a: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Call:</a:t>
            </a:r>
          </a:p>
          <a:p>
            <a:pPr lvl="0">
              <a:defRPr/>
            </a:pPr>
            <a:r>
              <a:rPr lang="en-US" sz="1100" dirty="0" err="1">
                <a:solidFill>
                  <a:prstClr val="black"/>
                </a:solidFill>
                <a:latin typeface="Helvetica" panose="020B0604020202020204" pitchFamily="34" charset="0"/>
                <a:ea typeface="Helvetica Neue" charset="0"/>
                <a:cs typeface="Helvetica" panose="020B0604020202020204" pitchFamily="34" charset="0"/>
              </a:rPr>
              <a:t>lm</a:t>
            </a:r>
            <a:r>
              <a:rPr lang="en-US" sz="1100" dirty="0">
                <a:solidFill>
                  <a:prstClr val="black"/>
                </a:solidFill>
                <a:latin typeface="Helvetica" panose="020B0604020202020204" pitchFamily="34" charset="0"/>
                <a:ea typeface="Helvetica Neue" charset="0"/>
                <a:cs typeface="Helvetica" panose="020B0604020202020204" pitchFamily="34" charset="0"/>
              </a:rPr>
              <a:t>(formula = sat ~ log(takers) + rank + expend + years)</a:t>
            </a:r>
          </a:p>
          <a:p>
            <a:pPr lvl="0">
              <a:defRPr/>
            </a:pPr>
            <a:endParaRPr lang="en-US" sz="1100" dirty="0">
              <a:solidFill>
                <a:prstClr val="black"/>
              </a:solidFill>
              <a:latin typeface="Helvetica" panose="020B0604020202020204" pitchFamily="34" charset="0"/>
              <a:ea typeface="Helvetica Neue" charset="0"/>
              <a:cs typeface="Helvetica" panose="020B0604020202020204" pitchFamily="34" charset="0"/>
            </a:endParaRPr>
          </a:p>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Coefficients:</a:t>
            </a:r>
          </a:p>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(Intercept)  log(takers)         rank       expend        years  </a:t>
            </a:r>
          </a:p>
          <a:p>
            <a:pPr lvl="0">
              <a:defRPr/>
            </a:pPr>
            <a:r>
              <a:rPr lang="en-US" sz="1100" dirty="0">
                <a:solidFill>
                  <a:prstClr val="black"/>
                </a:solidFill>
                <a:latin typeface="Helvetica" panose="020B0604020202020204" pitchFamily="34" charset="0"/>
                <a:ea typeface="Helvetica Neue" charset="0"/>
                <a:cs typeface="Helvetica" panose="020B0604020202020204" pitchFamily="34" charset="0"/>
              </a:rPr>
              <a:t>    388.425      -38.015        4.004        2.423       17.857 </a:t>
            </a:r>
          </a:p>
        </p:txBody>
      </p:sp>
      <p:graphicFrame>
        <p:nvGraphicFramePr>
          <p:cNvPr id="4" name="Table 3">
            <a:extLst>
              <a:ext uri="{FF2B5EF4-FFF2-40B4-BE49-F238E27FC236}">
                <a16:creationId xmlns="" xmlns:a16="http://schemas.microsoft.com/office/drawing/2014/main" id="{3E3C0523-7901-49F9-AB0B-838E63DB7132}"/>
              </a:ext>
            </a:extLst>
          </p:cNvPr>
          <p:cNvGraphicFramePr>
            <a:graphicFrameLocks noGrp="1"/>
          </p:cNvGraphicFramePr>
          <p:nvPr/>
        </p:nvGraphicFramePr>
        <p:xfrm>
          <a:off x="137755" y="2284215"/>
          <a:ext cx="3326897" cy="1076328"/>
        </p:xfrm>
        <a:graphic>
          <a:graphicData uri="http://schemas.openxmlformats.org/drawingml/2006/table">
            <a:tbl>
              <a:tblPr firstRow="1" firstCol="1" bandRow="1">
                <a:tableStyleId>{5C22544A-7EE6-4342-B048-85BDC9FD1C3A}</a:tableStyleId>
              </a:tblPr>
              <a:tblGrid>
                <a:gridCol w="811899">
                  <a:extLst>
                    <a:ext uri="{9D8B030D-6E8A-4147-A177-3AD203B41FA5}">
                      <a16:colId xmlns="" xmlns:a16="http://schemas.microsoft.com/office/drawing/2014/main" val="2958999496"/>
                    </a:ext>
                  </a:extLst>
                </a:gridCol>
                <a:gridCol w="339865">
                  <a:extLst>
                    <a:ext uri="{9D8B030D-6E8A-4147-A177-3AD203B41FA5}">
                      <a16:colId xmlns="" xmlns:a16="http://schemas.microsoft.com/office/drawing/2014/main" val="2277292964"/>
                    </a:ext>
                  </a:extLst>
                </a:gridCol>
                <a:gridCol w="883648">
                  <a:extLst>
                    <a:ext uri="{9D8B030D-6E8A-4147-A177-3AD203B41FA5}">
                      <a16:colId xmlns="" xmlns:a16="http://schemas.microsoft.com/office/drawing/2014/main" val="542712487"/>
                    </a:ext>
                  </a:extLst>
                </a:gridCol>
                <a:gridCol w="611756">
                  <a:extLst>
                    <a:ext uri="{9D8B030D-6E8A-4147-A177-3AD203B41FA5}">
                      <a16:colId xmlns="" xmlns:a16="http://schemas.microsoft.com/office/drawing/2014/main" val="1122335656"/>
                    </a:ext>
                  </a:extLst>
                </a:gridCol>
                <a:gridCol w="679729">
                  <a:extLst>
                    <a:ext uri="{9D8B030D-6E8A-4147-A177-3AD203B41FA5}">
                      <a16:colId xmlns="" xmlns:a16="http://schemas.microsoft.com/office/drawing/2014/main" val="499418501"/>
                    </a:ext>
                  </a:extLst>
                </a:gridCol>
              </a:tblGrid>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Df</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Sum of Sq</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RSS</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AIC</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716001885"/>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public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25.0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26610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325.85</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464193751"/>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income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47.0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26632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325.89</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846581101"/>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&lt;none&gt;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26585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327.80</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836269448"/>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years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4588.8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31174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333.77</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899697691"/>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expend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6264.4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32850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336.38</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836005382"/>
                  </a:ext>
                </a:extLst>
              </a:tr>
            </a:tbl>
          </a:graphicData>
        </a:graphic>
      </p:graphicFrame>
      <p:sp>
        <p:nvSpPr>
          <p:cNvPr id="5" name="Rectangle 1">
            <a:extLst>
              <a:ext uri="{FF2B5EF4-FFF2-40B4-BE49-F238E27FC236}">
                <a16:creationId xmlns="" xmlns:a16="http://schemas.microsoft.com/office/drawing/2014/main" id="{026507B8-1DC9-427F-83CB-ADB3D93586B6}"/>
              </a:ext>
            </a:extLst>
          </p:cNvPr>
          <p:cNvSpPr>
            <a:spLocks noChangeArrowheads="1"/>
          </p:cNvSpPr>
          <p:nvPr/>
        </p:nvSpPr>
        <p:spPr bwMode="auto">
          <a:xfrm>
            <a:off x="3173413" y="248761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Table 5">
            <a:extLst>
              <a:ext uri="{FF2B5EF4-FFF2-40B4-BE49-F238E27FC236}">
                <a16:creationId xmlns="" xmlns:a16="http://schemas.microsoft.com/office/drawing/2014/main" id="{800D8939-9577-43C1-A481-0D7577755467}"/>
              </a:ext>
            </a:extLst>
          </p:cNvPr>
          <p:cNvGraphicFramePr>
            <a:graphicFrameLocks noGrp="1"/>
          </p:cNvGraphicFramePr>
          <p:nvPr/>
        </p:nvGraphicFramePr>
        <p:xfrm>
          <a:off x="137755" y="3831613"/>
          <a:ext cx="3344834" cy="896940"/>
        </p:xfrm>
        <a:graphic>
          <a:graphicData uri="http://schemas.openxmlformats.org/drawingml/2006/table">
            <a:tbl>
              <a:tblPr firstRow="1" firstCol="1" bandRow="1">
                <a:tableStyleId>{5C22544A-7EE6-4342-B048-85BDC9FD1C3A}</a:tableStyleId>
              </a:tblPr>
              <a:tblGrid>
                <a:gridCol w="816276">
                  <a:extLst>
                    <a:ext uri="{9D8B030D-6E8A-4147-A177-3AD203B41FA5}">
                      <a16:colId xmlns="" xmlns:a16="http://schemas.microsoft.com/office/drawing/2014/main" val="1130010973"/>
                    </a:ext>
                  </a:extLst>
                </a:gridCol>
                <a:gridCol w="341697">
                  <a:extLst>
                    <a:ext uri="{9D8B030D-6E8A-4147-A177-3AD203B41FA5}">
                      <a16:colId xmlns="" xmlns:a16="http://schemas.microsoft.com/office/drawing/2014/main" val="3703912110"/>
                    </a:ext>
                  </a:extLst>
                </a:gridCol>
                <a:gridCol w="888412">
                  <a:extLst>
                    <a:ext uri="{9D8B030D-6E8A-4147-A177-3AD203B41FA5}">
                      <a16:colId xmlns="" xmlns:a16="http://schemas.microsoft.com/office/drawing/2014/main" val="3111278271"/>
                    </a:ext>
                  </a:extLst>
                </a:gridCol>
                <a:gridCol w="615055">
                  <a:extLst>
                    <a:ext uri="{9D8B030D-6E8A-4147-A177-3AD203B41FA5}">
                      <a16:colId xmlns="" xmlns:a16="http://schemas.microsoft.com/office/drawing/2014/main" val="574982182"/>
                    </a:ext>
                  </a:extLst>
                </a:gridCol>
                <a:gridCol w="683394">
                  <a:extLst>
                    <a:ext uri="{9D8B030D-6E8A-4147-A177-3AD203B41FA5}">
                      <a16:colId xmlns="" xmlns:a16="http://schemas.microsoft.com/office/drawing/2014/main" val="505615642"/>
                    </a:ext>
                  </a:extLst>
                </a:gridCol>
              </a:tblGrid>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Df</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Sum of Sq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RSS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AIC</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035321283"/>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income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26.6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26637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323.90</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825055054"/>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&lt;none&gt;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26610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325.85</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571426858"/>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years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5452.8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32063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333.17</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816375255"/>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expend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7430.3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34040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336.16</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236318074"/>
                  </a:ext>
                </a:extLst>
              </a:tr>
            </a:tbl>
          </a:graphicData>
        </a:graphic>
      </p:graphicFrame>
      <p:sp>
        <p:nvSpPr>
          <p:cNvPr id="8" name="Rectangle 2">
            <a:extLst>
              <a:ext uri="{FF2B5EF4-FFF2-40B4-BE49-F238E27FC236}">
                <a16:creationId xmlns="" xmlns:a16="http://schemas.microsoft.com/office/drawing/2014/main" id="{AC2F62AA-397E-41B3-8524-C1746EEDEA60}"/>
              </a:ext>
            </a:extLst>
          </p:cNvPr>
          <p:cNvSpPr>
            <a:spLocks noChangeArrowheads="1"/>
          </p:cNvSpPr>
          <p:nvPr/>
        </p:nvSpPr>
        <p:spPr bwMode="auto">
          <a:xfrm>
            <a:off x="3173413" y="25733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Table 8">
            <a:extLst>
              <a:ext uri="{FF2B5EF4-FFF2-40B4-BE49-F238E27FC236}">
                <a16:creationId xmlns="" xmlns:a16="http://schemas.microsoft.com/office/drawing/2014/main" id="{7D7D8607-BD83-47DB-8036-32CBECB1F89F}"/>
              </a:ext>
            </a:extLst>
          </p:cNvPr>
          <p:cNvGraphicFramePr>
            <a:graphicFrameLocks noGrp="1"/>
          </p:cNvGraphicFramePr>
          <p:nvPr>
            <p:extLst>
              <p:ext uri="{D42A27DB-BD31-4B8C-83A1-F6EECF244321}">
                <p14:modId xmlns:p14="http://schemas.microsoft.com/office/powerpoint/2010/main" val="200073764"/>
              </p:ext>
            </p:extLst>
          </p:nvPr>
        </p:nvGraphicFramePr>
        <p:xfrm>
          <a:off x="5429163" y="2885634"/>
          <a:ext cx="3318244" cy="717552"/>
        </p:xfrm>
        <a:graphic>
          <a:graphicData uri="http://schemas.openxmlformats.org/drawingml/2006/table">
            <a:tbl>
              <a:tblPr firstRow="1" firstCol="1" bandRow="1">
                <a:tableStyleId>{5C22544A-7EE6-4342-B048-85BDC9FD1C3A}</a:tableStyleId>
              </a:tblPr>
              <a:tblGrid>
                <a:gridCol w="809787">
                  <a:extLst>
                    <a:ext uri="{9D8B030D-6E8A-4147-A177-3AD203B41FA5}">
                      <a16:colId xmlns="" xmlns:a16="http://schemas.microsoft.com/office/drawing/2014/main" val="2998906505"/>
                    </a:ext>
                  </a:extLst>
                </a:gridCol>
                <a:gridCol w="338981">
                  <a:extLst>
                    <a:ext uri="{9D8B030D-6E8A-4147-A177-3AD203B41FA5}">
                      <a16:colId xmlns="" xmlns:a16="http://schemas.microsoft.com/office/drawing/2014/main" val="934024881"/>
                    </a:ext>
                  </a:extLst>
                </a:gridCol>
                <a:gridCol w="881350">
                  <a:extLst>
                    <a:ext uri="{9D8B030D-6E8A-4147-A177-3AD203B41FA5}">
                      <a16:colId xmlns="" xmlns:a16="http://schemas.microsoft.com/office/drawing/2014/main" val="3717313473"/>
                    </a:ext>
                  </a:extLst>
                </a:gridCol>
                <a:gridCol w="610165">
                  <a:extLst>
                    <a:ext uri="{9D8B030D-6E8A-4147-A177-3AD203B41FA5}">
                      <a16:colId xmlns="" xmlns:a16="http://schemas.microsoft.com/office/drawing/2014/main" val="4270774567"/>
                    </a:ext>
                  </a:extLst>
                </a:gridCol>
                <a:gridCol w="677961">
                  <a:extLst>
                    <a:ext uri="{9D8B030D-6E8A-4147-A177-3AD203B41FA5}">
                      <a16:colId xmlns="" xmlns:a16="http://schemas.microsoft.com/office/drawing/2014/main" val="1522504843"/>
                    </a:ext>
                  </a:extLst>
                </a:gridCol>
              </a:tblGrid>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Df</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Sum of Sq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RSS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AIC</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834159433"/>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&lt;none&gt;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26637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323.90</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817738544"/>
                  </a:ext>
                </a:extLst>
              </a:tr>
              <a:tr h="0">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 years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5743.5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32380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331.66</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636952590"/>
                  </a:ext>
                </a:extLst>
              </a:tr>
              <a:tr h="0">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 expend</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9065.8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a:solidFill>
                            <a:schemeClr val="tx1"/>
                          </a:solidFill>
                          <a:effectLst/>
                          <a:latin typeface="Helvetica" panose="020B0604020202020204" pitchFamily="34" charset="0"/>
                          <a:cs typeface="Helvetica" panose="020B0604020202020204" pitchFamily="34" charset="0"/>
                        </a:rPr>
                        <a:t>35703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100" b="0" dirty="0">
                          <a:solidFill>
                            <a:schemeClr val="tx1"/>
                          </a:solidFill>
                          <a:effectLst/>
                          <a:latin typeface="Helvetica" panose="020B0604020202020204" pitchFamily="34" charset="0"/>
                          <a:cs typeface="Helvetica" panose="020B0604020202020204" pitchFamily="34" charset="0"/>
                        </a:rPr>
                        <a:t>336.55</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4004615961"/>
                  </a:ext>
                </a:extLst>
              </a:tr>
            </a:tbl>
          </a:graphicData>
        </a:graphic>
      </p:graphicFrame>
      <p:sp>
        <p:nvSpPr>
          <p:cNvPr id="10" name="Rectangle 3">
            <a:extLst>
              <a:ext uri="{FF2B5EF4-FFF2-40B4-BE49-F238E27FC236}">
                <a16:creationId xmlns="" xmlns:a16="http://schemas.microsoft.com/office/drawing/2014/main" id="{67494AD0-B928-4035-A03A-BB4BF51EEFDC}"/>
              </a:ext>
            </a:extLst>
          </p:cNvPr>
          <p:cNvSpPr>
            <a:spLocks noChangeArrowheads="1"/>
          </p:cNvSpPr>
          <p:nvPr/>
        </p:nvSpPr>
        <p:spPr bwMode="auto">
          <a:xfrm>
            <a:off x="3173413" y="265906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TextBox 12">
            <a:extLst>
              <a:ext uri="{FF2B5EF4-FFF2-40B4-BE49-F238E27FC236}">
                <a16:creationId xmlns="" xmlns:a16="http://schemas.microsoft.com/office/drawing/2014/main" id="{5EEBC25A-C33C-4264-81A9-2B4A98217BCC}"/>
              </a:ext>
            </a:extLst>
          </p:cNvPr>
          <p:cNvSpPr txBox="1"/>
          <p:nvPr/>
        </p:nvSpPr>
        <p:spPr>
          <a:xfrm>
            <a:off x="5486399" y="1025423"/>
            <a:ext cx="3519845" cy="1415772"/>
          </a:xfrm>
          <a:prstGeom prst="rect">
            <a:avLst/>
          </a:prstGeom>
          <a:noFill/>
          <a:ln w="19050">
            <a:solidFill>
              <a:schemeClr val="tx2"/>
            </a:solidFill>
          </a:ln>
        </p:spPr>
        <p:txBody>
          <a:bodyPr wrap="square" rtlCol="0">
            <a:spAutoFit/>
          </a:bodyPr>
          <a:lstStyle/>
          <a:p>
            <a:pPr marL="168275" indent="-168275">
              <a:buClrTx/>
              <a:buFont typeface="Arial" panose="020B0604020202020204" pitchFamily="34" charset="0"/>
              <a:buChar char="•"/>
            </a:pPr>
            <a:r>
              <a:rPr lang="en-US" sz="1300" dirty="0">
                <a:solidFill>
                  <a:prstClr val="black"/>
                </a:solidFill>
                <a:latin typeface="Helvetica" panose="020B0604020202020204" pitchFamily="34" charset="0"/>
                <a:cs typeface="Helvetica" panose="020B0604020202020204" pitchFamily="34" charset="0"/>
              </a:rPr>
              <a:t>Selected model includes</a:t>
            </a:r>
          </a:p>
          <a:p>
            <a:pPr marL="344488" lvl="1" indent="-174625">
              <a:buClrTx/>
              <a:buFont typeface="Arial" panose="020B0604020202020204" pitchFamily="34" charset="0"/>
              <a:buChar char="•"/>
            </a:pPr>
            <a:r>
              <a:rPr lang="en-US" sz="1100" i="1" dirty="0">
                <a:solidFill>
                  <a:prstClr val="black"/>
                </a:solidFill>
                <a:latin typeface="Helvetica" panose="020B0604020202020204" pitchFamily="34" charset="0"/>
                <a:cs typeface="Helvetica" panose="020B0604020202020204" pitchFamily="34" charset="0"/>
              </a:rPr>
              <a:t>expend</a:t>
            </a:r>
            <a:r>
              <a:rPr lang="en-US" sz="1100" dirty="0">
                <a:solidFill>
                  <a:prstClr val="black"/>
                </a:solidFill>
                <a:latin typeface="Helvetica" panose="020B0604020202020204" pitchFamily="34" charset="0"/>
                <a:cs typeface="Helvetica" panose="020B0604020202020204" pitchFamily="34" charset="0"/>
              </a:rPr>
              <a:t> and </a:t>
            </a:r>
            <a:r>
              <a:rPr lang="en-US" sz="1100" i="1" dirty="0">
                <a:solidFill>
                  <a:prstClr val="black"/>
                </a:solidFill>
                <a:latin typeface="Helvetica" panose="020B0604020202020204" pitchFamily="34" charset="0"/>
                <a:cs typeface="Helvetica" panose="020B0604020202020204" pitchFamily="34" charset="0"/>
              </a:rPr>
              <a:t>years</a:t>
            </a:r>
            <a:r>
              <a:rPr lang="en-US" sz="1100" dirty="0">
                <a:solidFill>
                  <a:prstClr val="black"/>
                </a:solidFill>
                <a:latin typeface="Helvetica" panose="020B0604020202020204" pitchFamily="34" charset="0"/>
                <a:cs typeface="Helvetica" panose="020B0604020202020204" pitchFamily="34" charset="0"/>
              </a:rPr>
              <a:t> </a:t>
            </a:r>
          </a:p>
          <a:p>
            <a:pPr marL="344488" lvl="1" indent="-174625">
              <a:buClrTx/>
              <a:buFont typeface="Arial" panose="020B0604020202020204" pitchFamily="34" charset="0"/>
              <a:buChar char="•"/>
            </a:pPr>
            <a:r>
              <a:rPr lang="en-US" sz="1100" dirty="0">
                <a:solidFill>
                  <a:prstClr val="black"/>
                </a:solidFill>
                <a:latin typeface="Helvetica" panose="020B0604020202020204" pitchFamily="34" charset="0"/>
                <a:cs typeface="Helvetica" panose="020B0604020202020204" pitchFamily="34" charset="0"/>
              </a:rPr>
              <a:t>confounding variables log(</a:t>
            </a:r>
            <a:r>
              <a:rPr lang="en-US" sz="1100" i="1" dirty="0">
                <a:solidFill>
                  <a:prstClr val="black"/>
                </a:solidFill>
                <a:latin typeface="Helvetica" panose="020B0604020202020204" pitchFamily="34" charset="0"/>
                <a:cs typeface="Helvetica" panose="020B0604020202020204" pitchFamily="34" charset="0"/>
              </a:rPr>
              <a:t>takers</a:t>
            </a:r>
            <a:r>
              <a:rPr lang="en-US" sz="1100" dirty="0">
                <a:solidFill>
                  <a:prstClr val="black"/>
                </a:solidFill>
                <a:latin typeface="Helvetica" panose="020B0604020202020204" pitchFamily="34" charset="0"/>
                <a:cs typeface="Helvetica" panose="020B0604020202020204" pitchFamily="34" charset="0"/>
              </a:rPr>
              <a:t>) and </a:t>
            </a:r>
            <a:r>
              <a:rPr lang="en-US" sz="1100" i="1" dirty="0">
                <a:solidFill>
                  <a:prstClr val="black"/>
                </a:solidFill>
                <a:latin typeface="Helvetica" panose="020B0604020202020204" pitchFamily="34" charset="0"/>
                <a:cs typeface="Helvetica" panose="020B0604020202020204" pitchFamily="34" charset="0"/>
              </a:rPr>
              <a:t>rank</a:t>
            </a:r>
          </a:p>
          <a:p>
            <a:pPr marL="168275" indent="-168275">
              <a:buClrTx/>
              <a:buFont typeface="Arial" panose="020B0604020202020204" pitchFamily="34" charset="0"/>
              <a:buChar char="•"/>
            </a:pPr>
            <a:r>
              <a:rPr lang="en-US" sz="1300" dirty="0">
                <a:solidFill>
                  <a:prstClr val="black"/>
                </a:solidFill>
                <a:latin typeface="Helvetica" panose="020B0604020202020204" pitchFamily="34" charset="0"/>
                <a:cs typeface="Helvetica" panose="020B0604020202020204" pitchFamily="34" charset="0"/>
              </a:rPr>
              <a:t>The same model was selected using forward regression</a:t>
            </a:r>
          </a:p>
          <a:p>
            <a:pPr marL="344488" lvl="1" indent="-174625">
              <a:buClrTx/>
              <a:buFont typeface="Arial" panose="020B0604020202020204" pitchFamily="34" charset="0"/>
              <a:buChar char="•"/>
            </a:pPr>
            <a:r>
              <a:rPr lang="en-US" sz="1100" dirty="0">
                <a:solidFill>
                  <a:prstClr val="black"/>
                </a:solidFill>
                <a:latin typeface="Helvetica" panose="020B0604020202020204" pitchFamily="34" charset="0"/>
                <a:cs typeface="Helvetica" panose="020B0604020202020204" pitchFamily="34" charset="0"/>
              </a:rPr>
              <a:t>Generally, for a large number of predictors, the two methods will select different models</a:t>
            </a:r>
          </a:p>
        </p:txBody>
      </p:sp>
    </p:spTree>
    <p:custDataLst>
      <p:tags r:id="rId1"/>
    </p:custDataLst>
    <p:extLst>
      <p:ext uri="{BB962C8B-B14F-4D97-AF65-F5344CB8AC3E}">
        <p14:creationId xmlns:p14="http://schemas.microsoft.com/office/powerpoint/2010/main" val="2273003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4325" y="153298"/>
            <a:ext cx="8562392" cy="634233"/>
          </a:xfrm>
        </p:spPr>
        <p:txBody>
          <a:bodyPr/>
          <a:lstStyle/>
          <a:p>
            <a:r>
              <a:rPr lang="en-US" sz="3600" dirty="0">
                <a:latin typeface="Vitesse"/>
              </a:rPr>
              <a:t>Predicting Bankruptcy</a:t>
            </a:r>
            <a:endParaRPr lang="zh-CN" altLang="en-US" sz="4000" dirty="0">
              <a:latin typeface="Vitesse"/>
            </a:endParaRPr>
          </a:p>
        </p:txBody>
      </p:sp>
      <p:sp>
        <p:nvSpPr>
          <p:cNvPr id="7" name="TextBox 1"/>
          <p:cNvSpPr txBox="1">
            <a:spLocks noChangeArrowheads="1"/>
          </p:cNvSpPr>
          <p:nvPr/>
        </p:nvSpPr>
        <p:spPr bwMode="auto">
          <a:xfrm>
            <a:off x="94091" y="898405"/>
            <a:ext cx="8766688" cy="175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342900" indent="-342900">
              <a:buFont typeface="Arial" panose="020B0604020202020204" pitchFamily="34" charset="0"/>
              <a:buChar char="•"/>
              <a:defRPr/>
            </a:pPr>
            <a:r>
              <a:rPr lang="en-US" dirty="0">
                <a:latin typeface="Helvetica" panose="020B0604020202020204" pitchFamily="34" charset="0"/>
                <a:cs typeface="Helvetica" panose="020B0604020202020204" pitchFamily="34" charset="0"/>
              </a:rPr>
              <a:t>Effective bankruptcy prediction is useful for investors and analysts, allowing for accurate evaluation of a firm’s prospects.</a:t>
            </a:r>
            <a:br>
              <a:rPr lang="en-US" dirty="0">
                <a:latin typeface="Helvetica" panose="020B0604020202020204" pitchFamily="34" charset="0"/>
                <a:cs typeface="Helvetica" panose="020B0604020202020204" pitchFamily="34" charset="0"/>
              </a:rPr>
            </a:br>
            <a:endParaRPr lang="en-US"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defRPr/>
            </a:pPr>
            <a:r>
              <a:rPr lang="en-US" dirty="0">
                <a:latin typeface="Helvetica" panose="020B0604020202020204" pitchFamily="34" charset="0"/>
                <a:cs typeface="Helvetica" panose="020B0604020202020204" pitchFamily="34" charset="0"/>
              </a:rPr>
              <a:t>Roughly 40 years ago, Ed Altman showed that publicly available financial indicators can be used to distinguish between firms that are about to go bankrupt and those that are not.</a:t>
            </a:r>
          </a:p>
        </p:txBody>
      </p:sp>
      <p:sp>
        <p:nvSpPr>
          <p:cNvPr id="8" name="TextBox 7"/>
          <p:cNvSpPr txBox="1"/>
          <p:nvPr/>
        </p:nvSpPr>
        <p:spPr>
          <a:xfrm flipH="1">
            <a:off x="200797" y="4509905"/>
            <a:ext cx="6703222" cy="461665"/>
          </a:xfrm>
          <a:prstGeom prst="rect">
            <a:avLst/>
          </a:prstGeom>
          <a:noFill/>
        </p:spPr>
        <p:txBody>
          <a:bodyPr wrap="square" rtlCol="0">
            <a:spAutoFit/>
          </a:bodyPr>
          <a:lstStyle/>
          <a:p>
            <a:r>
              <a:rPr lang="en-US" sz="1200" i="1" u="sng" dirty="0">
                <a:latin typeface="Helvetica" panose="020B0604020202020204" pitchFamily="34" charset="0"/>
                <a:cs typeface="Helvetica" panose="020B0604020202020204" pitchFamily="34" charset="0"/>
              </a:rPr>
              <a:t>Acknowledgement</a:t>
            </a:r>
            <a:r>
              <a:rPr lang="en-US" sz="1200" i="1" dirty="0">
                <a:latin typeface="Helvetica" panose="020B0604020202020204" pitchFamily="34" charset="0"/>
                <a:cs typeface="Helvetica" panose="020B0604020202020204" pitchFamily="34" charset="0"/>
              </a:rPr>
              <a:t>: This example was provided by Dr. Jeffrey </a:t>
            </a:r>
            <a:r>
              <a:rPr lang="en-US" sz="1200" i="1" dirty="0" err="1">
                <a:latin typeface="Helvetica" panose="020B0604020202020204" pitchFamily="34" charset="0"/>
                <a:cs typeface="Helvetica" panose="020B0604020202020204" pitchFamily="34" charset="0"/>
              </a:rPr>
              <a:t>Simonoff</a:t>
            </a:r>
            <a:r>
              <a:rPr lang="en-US" sz="1200" i="1" dirty="0">
                <a:latin typeface="Helvetica" panose="020B0604020202020204" pitchFamily="34" charset="0"/>
                <a:cs typeface="Helvetica" panose="020B0604020202020204" pitchFamily="34" charset="0"/>
              </a:rPr>
              <a:t> from New York University and was inspired by the honors thesis of Jeffrey Lui.</a:t>
            </a:r>
          </a:p>
        </p:txBody>
      </p:sp>
      <p:sp>
        <p:nvSpPr>
          <p:cNvPr id="3" name="TextBox 2">
            <a:extLst>
              <a:ext uri="{FF2B5EF4-FFF2-40B4-BE49-F238E27FC236}">
                <a16:creationId xmlns="" xmlns:a16="http://schemas.microsoft.com/office/drawing/2014/main" id="{A3093526-C5B0-430A-8F4B-E101BDBB10A3}"/>
              </a:ext>
            </a:extLst>
          </p:cNvPr>
          <p:cNvSpPr txBox="1"/>
          <p:nvPr/>
        </p:nvSpPr>
        <p:spPr>
          <a:xfrm>
            <a:off x="205341" y="2909261"/>
            <a:ext cx="6761901" cy="923330"/>
          </a:xfrm>
          <a:prstGeom prst="rect">
            <a:avLst/>
          </a:prstGeom>
          <a:ln w="19050">
            <a:solidFill>
              <a:schemeClr val="tx2"/>
            </a:solidFill>
          </a:ln>
          <a:effectLst/>
        </p:spPr>
        <p:txBody>
          <a:bodyPr vert="horz" wrap="square" lIns="182880" tIns="182880" rIns="182880" bIns="182880" rtlCol="0" anchor="ctr" anchorCtr="0">
            <a:spAutoFit/>
          </a:bodyPr>
          <a:lstStyle/>
          <a:p>
            <a:pPr>
              <a:defRPr/>
            </a:pPr>
            <a:r>
              <a:rPr lang="en-US" b="1" i="1">
                <a:solidFill>
                  <a:srgbClr val="EEB211"/>
                </a:solidFill>
                <a:latin typeface="Helvetica" panose="020B0604020202020204" pitchFamily="34" charset="0"/>
                <a:cs typeface="Helvetica" panose="020B0604020202020204" pitchFamily="34" charset="0"/>
              </a:rPr>
              <a:t>Which financial indicators are associated with bankruptcy for telecommunications firms? </a:t>
            </a:r>
            <a:endParaRPr lang="en-US">
              <a:solidFill>
                <a:srgbClr val="EEB211"/>
              </a:solidFill>
              <a:latin typeface="Helvetica" panose="020B0604020202020204" pitchFamily="34" charset="0"/>
              <a:cs typeface="Helvetica" panose="020B0604020202020204" pitchFamily="34" charset="0"/>
            </a:endParaRPr>
          </a:p>
        </p:txBody>
      </p:sp>
    </p:spTree>
    <p:custDataLst>
      <p:tags r:id="rId1"/>
    </p:custDataLst>
    <p:extLst>
      <p:ext uri="{BB962C8B-B14F-4D97-AF65-F5344CB8AC3E}">
        <p14:creationId xmlns:p14="http://schemas.microsoft.com/office/powerpoint/2010/main" val="614326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17313" y="977318"/>
            <a:ext cx="4454687" cy="1938992"/>
          </a:xfrm>
          <a:prstGeom prst="rect">
            <a:avLst/>
          </a:prstGeom>
          <a:noFill/>
          <a:ln>
            <a:noFill/>
          </a:ln>
          <a:extLst>
            <a:ext uri="{909E8E84-426E-40dd-AFC4-6F175D3DCCD1}"/>
            <a:ext uri="{91240B29-F687-4f45-9708-019B960494DF}"/>
          </a:extLst>
        </p:spPr>
        <p:txBody>
          <a:bodyPr wrap="square" anchor="t">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i="1" dirty="0">
                <a:latin typeface="Helvetica" panose="020B0604020202020204" pitchFamily="34" charset="0"/>
                <a:ea typeface="Helvetica Neue" charset="0"/>
                <a:cs typeface="Helvetica" panose="020B0604020202020204" pitchFamily="34" charset="0"/>
              </a:rPr>
              <a:t>library(</a:t>
            </a:r>
            <a:r>
              <a:rPr lang="en-US" sz="1200" i="1" dirty="0" err="1">
                <a:latin typeface="Helvetica" panose="020B0604020202020204" pitchFamily="34" charset="0"/>
                <a:ea typeface="Helvetica Neue" charset="0"/>
                <a:cs typeface="Helvetica" panose="020B0604020202020204" pitchFamily="34" charset="0"/>
              </a:rPr>
              <a:t>bestglm</a:t>
            </a:r>
            <a:r>
              <a:rPr lang="en-US" sz="1200" i="1" dirty="0">
                <a:latin typeface="Helvetica" panose="020B0604020202020204" pitchFamily="34" charset="0"/>
                <a:ea typeface="Helvetica Neue" charset="0"/>
                <a:cs typeface="Helvetica" panose="020B0604020202020204" pitchFamily="34" charset="0"/>
              </a:rPr>
              <a:t>)</a:t>
            </a:r>
          </a:p>
          <a:p>
            <a:pPr>
              <a:defRPr/>
            </a:pPr>
            <a:r>
              <a:rPr lang="en-US" sz="1200" i="1" dirty="0" err="1">
                <a:latin typeface="Helvetica" panose="020B0604020202020204" pitchFamily="34" charset="0"/>
                <a:ea typeface="Helvetica Neue" charset="0"/>
                <a:cs typeface="Helvetica" panose="020B0604020202020204" pitchFamily="34" charset="0"/>
              </a:rPr>
              <a:t>input.Xy</a:t>
            </a:r>
            <a:r>
              <a:rPr lang="en-US" sz="1200" i="1" dirty="0">
                <a:latin typeface="Helvetica" panose="020B0604020202020204" pitchFamily="34" charset="0"/>
                <a:ea typeface="Helvetica Neue" charset="0"/>
                <a:cs typeface="Helvetica" panose="020B0604020202020204" pitchFamily="34" charset="0"/>
              </a:rPr>
              <a:t> &lt;- </a:t>
            </a:r>
            <a:r>
              <a:rPr lang="en-US" sz="1200" i="1" dirty="0" err="1">
                <a:latin typeface="Helvetica" panose="020B0604020202020204" pitchFamily="34" charset="0"/>
                <a:ea typeface="Helvetica Neue" charset="0"/>
                <a:cs typeface="Helvetica" panose="020B0604020202020204" pitchFamily="34" charset="0"/>
              </a:rPr>
              <a:t>as.data.frame</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cbind</a:t>
            </a:r>
            <a:r>
              <a:rPr lang="en-US" sz="1200" i="1" dirty="0">
                <a:latin typeface="Helvetica" panose="020B0604020202020204" pitchFamily="34" charset="0"/>
                <a:ea typeface="Helvetica Neue" charset="0"/>
                <a:cs typeface="Helvetica" panose="020B0604020202020204" pitchFamily="34" charset="0"/>
              </a:rPr>
              <a:t>(WC.TA, RE.TA, EBIT.TA, S.TA, </a:t>
            </a:r>
            <a:r>
              <a:rPr lang="en-US" sz="1200" i="1" dirty="0" err="1">
                <a:latin typeface="Helvetica" panose="020B0604020202020204" pitchFamily="34" charset="0"/>
                <a:ea typeface="Helvetica Neue" charset="0"/>
                <a:cs typeface="Helvetica" panose="020B0604020202020204" pitchFamily="34" charset="0"/>
              </a:rPr>
              <a:t>BVE.BVL,Bankrupt</a:t>
            </a:r>
            <a:r>
              <a:rPr lang="en-US" sz="1200" i="1" dirty="0">
                <a:latin typeface="Helvetica" panose="020B0604020202020204" pitchFamily="34" charset="0"/>
                <a:ea typeface="Helvetica Neue" charset="0"/>
                <a:cs typeface="Helvetica" panose="020B0604020202020204" pitchFamily="34" charset="0"/>
              </a:rPr>
              <a:t>))</a:t>
            </a:r>
          </a:p>
          <a:p>
            <a:pPr>
              <a:defRPr/>
            </a:pPr>
            <a:r>
              <a:rPr lang="en-US" sz="1200" i="1" dirty="0" err="1" smtClean="0">
                <a:latin typeface="Helvetica" panose="020B0604020202020204" pitchFamily="34" charset="0"/>
                <a:ea typeface="Helvetica Neue" charset="0"/>
                <a:cs typeface="Helvetica" panose="020B0604020202020204" pitchFamily="34" charset="0"/>
              </a:rPr>
              <a:t>bestBIC</a:t>
            </a:r>
            <a:r>
              <a:rPr lang="en-US" sz="1200" i="1" dirty="0" smtClean="0">
                <a:latin typeface="Helvetica" panose="020B0604020202020204" pitchFamily="34" charset="0"/>
                <a:ea typeface="Helvetica Neue" charset="0"/>
                <a:cs typeface="Helvetica" panose="020B0604020202020204" pitchFamily="34" charset="0"/>
              </a:rPr>
              <a:t> </a:t>
            </a:r>
            <a:r>
              <a:rPr lang="en-US" sz="1200" i="1" dirty="0">
                <a:latin typeface="Helvetica" panose="020B0604020202020204" pitchFamily="34" charset="0"/>
                <a:ea typeface="Helvetica Neue" charset="0"/>
                <a:cs typeface="Helvetica" panose="020B0604020202020204" pitchFamily="34" charset="0"/>
              </a:rPr>
              <a:t>&lt;- </a:t>
            </a:r>
            <a:r>
              <a:rPr lang="en-US" sz="1200" i="1" dirty="0" err="1">
                <a:latin typeface="Helvetica" panose="020B0604020202020204" pitchFamily="34" charset="0"/>
                <a:ea typeface="Helvetica Neue" charset="0"/>
                <a:cs typeface="Helvetica" panose="020B0604020202020204" pitchFamily="34" charset="0"/>
              </a:rPr>
              <a:t>bestglm</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input.Xy</a:t>
            </a:r>
            <a:r>
              <a:rPr lang="en-US" sz="1200" i="1" dirty="0">
                <a:latin typeface="Helvetica" panose="020B0604020202020204" pitchFamily="34" charset="0"/>
                <a:ea typeface="Helvetica Neue" charset="0"/>
                <a:cs typeface="Helvetica" panose="020B0604020202020204" pitchFamily="34" charset="0"/>
              </a:rPr>
              <a:t>, IC</a:t>
            </a:r>
            <a:r>
              <a:rPr lang="en-US" sz="1200" i="1" dirty="0" smtClean="0">
                <a:latin typeface="Helvetica" panose="020B0604020202020204" pitchFamily="34" charset="0"/>
                <a:ea typeface="Helvetica Neue" charset="0"/>
                <a:cs typeface="Helvetica" panose="020B0604020202020204" pitchFamily="34" charset="0"/>
              </a:rPr>
              <a:t>=“BIC</a:t>
            </a:r>
            <a:r>
              <a:rPr lang="en-US" sz="1200" i="1" dirty="0">
                <a:latin typeface="Helvetica" panose="020B0604020202020204" pitchFamily="34" charset="0"/>
                <a:ea typeface="Helvetica Neue" charset="0"/>
                <a:cs typeface="Helvetica" panose="020B0604020202020204" pitchFamily="34" charset="0"/>
              </a:rPr>
              <a:t>“, </a:t>
            </a:r>
            <a:r>
              <a:rPr lang="en-US" sz="1200" i="1" dirty="0" smtClean="0">
                <a:latin typeface="Helvetica" panose="020B0604020202020204" pitchFamily="34" charset="0"/>
                <a:ea typeface="Helvetica Neue" charset="0"/>
                <a:cs typeface="Helvetica" panose="020B0604020202020204" pitchFamily="34" charset="0"/>
              </a:rPr>
              <a:t>family=binomial</a:t>
            </a:r>
            <a:r>
              <a:rPr lang="en-US" sz="1200" i="1" dirty="0">
                <a:latin typeface="Helvetica" panose="020B0604020202020204" pitchFamily="34" charset="0"/>
                <a:ea typeface="Helvetica Neue" charset="0"/>
                <a:cs typeface="Helvetica" panose="020B0604020202020204" pitchFamily="34" charset="0"/>
              </a:rPr>
              <a:t>)</a:t>
            </a:r>
          </a:p>
          <a:p>
            <a:pPr>
              <a:defRPr/>
            </a:pPr>
            <a:endParaRPr lang="en-US" sz="1200" i="1" dirty="0">
              <a:latin typeface="Helvetica" panose="020B0604020202020204" pitchFamily="34" charset="0"/>
              <a:ea typeface="Helvetica Neue" charset="0"/>
              <a:cs typeface="Helvetica" panose="020B0604020202020204" pitchFamily="34" charset="0"/>
            </a:endParaRPr>
          </a:p>
          <a:p>
            <a:pPr>
              <a:defRPr/>
            </a:pPr>
            <a:r>
              <a:rPr lang="en-US" sz="1200" i="1" dirty="0">
                <a:latin typeface="Helvetica" panose="020B0604020202020204" pitchFamily="34" charset="0"/>
                <a:ea typeface="Helvetica Neue" charset="0"/>
                <a:cs typeface="Helvetica" panose="020B0604020202020204" pitchFamily="34" charset="0"/>
              </a:rPr>
              <a:t>bank2 = </a:t>
            </a:r>
            <a:r>
              <a:rPr lang="en-US" sz="1200" i="1" dirty="0" err="1">
                <a:latin typeface="Helvetica" panose="020B0604020202020204" pitchFamily="34" charset="0"/>
                <a:ea typeface="Helvetica Neue" charset="0"/>
                <a:cs typeface="Helvetica" panose="020B0604020202020204" pitchFamily="34" charset="0"/>
              </a:rPr>
              <a:t>glm</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Bankrupt~RE.TA+EBIT.TA+BVE.BVL</a:t>
            </a:r>
            <a:r>
              <a:rPr lang="en-US" sz="1200" i="1" dirty="0">
                <a:latin typeface="Helvetica" panose="020B0604020202020204" pitchFamily="34" charset="0"/>
                <a:ea typeface="Helvetica Neue" charset="0"/>
                <a:cs typeface="Helvetica" panose="020B0604020202020204" pitchFamily="34" charset="0"/>
              </a:rPr>
              <a:t>, family=binomial, epsilon=1e-14, </a:t>
            </a:r>
            <a:r>
              <a:rPr lang="en-US" sz="1200" i="1" dirty="0" err="1">
                <a:latin typeface="Helvetica" panose="020B0604020202020204" pitchFamily="34" charset="0"/>
                <a:ea typeface="Helvetica Neue" charset="0"/>
                <a:cs typeface="Helvetica" panose="020B0604020202020204" pitchFamily="34" charset="0"/>
              </a:rPr>
              <a:t>maxit</a:t>
            </a:r>
            <a:r>
              <a:rPr lang="en-US" sz="1200" i="1" dirty="0">
                <a:latin typeface="Helvetica" panose="020B0604020202020204" pitchFamily="34" charset="0"/>
                <a:ea typeface="Helvetica Neue" charset="0"/>
                <a:cs typeface="Helvetica" panose="020B0604020202020204" pitchFamily="34" charset="0"/>
              </a:rPr>
              <a:t>=500, x=T)</a:t>
            </a:r>
          </a:p>
          <a:p>
            <a:pPr>
              <a:defRPr/>
            </a:pPr>
            <a:r>
              <a:rPr lang="en-US" sz="1200" i="1" dirty="0">
                <a:latin typeface="Helvetica" panose="020B0604020202020204" pitchFamily="34" charset="0"/>
                <a:ea typeface="Helvetica Neue" charset="0"/>
                <a:cs typeface="Helvetica" panose="020B0604020202020204" pitchFamily="34" charset="0"/>
              </a:rPr>
              <a:t>summary(bank2)</a:t>
            </a:r>
          </a:p>
          <a:p>
            <a:pPr>
              <a:defRPr/>
            </a:pPr>
            <a:endParaRPr lang="da-DK" sz="1200" dirty="0">
              <a:latin typeface="Helvetica" panose="020B0604020202020204" pitchFamily="34" charset="0"/>
              <a:ea typeface="Helvetica Neue" charset="0"/>
              <a:cs typeface="Helvetica" panose="020B0604020202020204" pitchFamily="34" charset="0"/>
            </a:endParaRPr>
          </a:p>
          <a:p>
            <a:pPr>
              <a:defRPr/>
            </a:pPr>
            <a:r>
              <a:rPr lang="da-DK" sz="1200" dirty="0">
                <a:latin typeface="Helvetica" panose="020B0604020202020204" pitchFamily="34" charset="0"/>
                <a:ea typeface="Helvetica Neue" charset="0"/>
                <a:cs typeface="Helvetica" panose="020B0604020202020204" pitchFamily="34" charset="0"/>
              </a:rPr>
              <a:t>Coefficients:</a:t>
            </a:r>
          </a:p>
        </p:txBody>
      </p:sp>
      <p:sp>
        <p:nvSpPr>
          <p:cNvPr id="12" name="Title 1"/>
          <p:cNvSpPr txBox="1">
            <a:spLocks/>
          </p:cNvSpPr>
          <p:nvPr/>
        </p:nvSpPr>
        <p:spPr>
          <a:xfrm>
            <a:off x="88531" y="256941"/>
            <a:ext cx="8382000" cy="443507"/>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Compare All Models</a:t>
            </a:r>
          </a:p>
        </p:txBody>
      </p:sp>
      <p:sp>
        <p:nvSpPr>
          <p:cNvPr id="13" name="TextBox 12"/>
          <p:cNvSpPr txBox="1"/>
          <p:nvPr/>
        </p:nvSpPr>
        <p:spPr>
          <a:xfrm>
            <a:off x="5493434" y="939515"/>
            <a:ext cx="2534829" cy="1169551"/>
          </a:xfrm>
          <a:prstGeom prst="rect">
            <a:avLst/>
          </a:prstGeom>
          <a:noFill/>
          <a:ln w="19050">
            <a:solidFill>
              <a:schemeClr val="tx2"/>
            </a:solidFill>
          </a:ln>
        </p:spPr>
        <p:txBody>
          <a:bodyPr wrap="square" tIns="91440" bIns="91440" rtlCol="0" anchor="ctr" anchorCtr="0">
            <a:spAutoFit/>
          </a:bodyPr>
          <a:lstStyle/>
          <a:p>
            <a:r>
              <a:rPr lang="en-US" sz="1600" dirty="0">
                <a:latin typeface="Helvetica" charset="0"/>
                <a:ea typeface="Helvetica" charset="0"/>
                <a:cs typeface="Helvetica" charset="0"/>
              </a:rPr>
              <a:t>The best model  selected with respect to </a:t>
            </a:r>
            <a:r>
              <a:rPr lang="en-US" sz="1600" dirty="0" smtClean="0">
                <a:latin typeface="Helvetica" charset="0"/>
                <a:ea typeface="Helvetica" charset="0"/>
                <a:cs typeface="Helvetica" charset="0"/>
              </a:rPr>
              <a:t>BIC</a:t>
            </a:r>
            <a:r>
              <a:rPr lang="en-US" sz="1600" dirty="0">
                <a:latin typeface="Helvetica" charset="0"/>
                <a:ea typeface="Helvetica" charset="0"/>
                <a:cs typeface="Helvetica" charset="0"/>
              </a:rPr>
              <a:t>: </a:t>
            </a:r>
            <a:br>
              <a:rPr lang="en-US" sz="1600" dirty="0">
                <a:latin typeface="Helvetica" charset="0"/>
                <a:ea typeface="Helvetica" charset="0"/>
                <a:cs typeface="Helvetica" charset="0"/>
              </a:rPr>
            </a:br>
            <a:r>
              <a:rPr lang="en-US" sz="1600" i="1" dirty="0">
                <a:latin typeface="Helvetica" charset="0"/>
                <a:ea typeface="Helvetica" charset="0"/>
                <a:cs typeface="Helvetica" charset="0"/>
              </a:rPr>
              <a:t>RE.TA, EBIT.TA, BVE.BVL</a:t>
            </a:r>
            <a:endParaRPr lang="en-US" sz="1600" b="1" dirty="0">
              <a:latin typeface="Helvetica" charset="0"/>
              <a:ea typeface="Helvetica" charset="0"/>
              <a:cs typeface="Helvetica" charset="0"/>
            </a:endParaRPr>
          </a:p>
        </p:txBody>
      </p:sp>
      <p:sp>
        <p:nvSpPr>
          <p:cNvPr id="20" name="Right Arrow 19"/>
          <p:cNvSpPr/>
          <p:nvPr/>
        </p:nvSpPr>
        <p:spPr>
          <a:xfrm>
            <a:off x="4680120" y="1381020"/>
            <a:ext cx="488131" cy="278612"/>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8" name="Right Arrow 7"/>
          <p:cNvSpPr/>
          <p:nvPr/>
        </p:nvSpPr>
        <p:spPr>
          <a:xfrm>
            <a:off x="4680120" y="2965016"/>
            <a:ext cx="488131" cy="278612"/>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9" name="TextBox 8"/>
          <p:cNvSpPr txBox="1"/>
          <p:nvPr/>
        </p:nvSpPr>
        <p:spPr>
          <a:xfrm>
            <a:off x="5493434" y="2393662"/>
            <a:ext cx="2534830" cy="1523494"/>
          </a:xfrm>
          <a:prstGeom prst="rect">
            <a:avLst/>
          </a:prstGeom>
          <a:noFill/>
          <a:ln w="19050">
            <a:solidFill>
              <a:schemeClr val="tx2"/>
            </a:solidFill>
          </a:ln>
        </p:spPr>
        <p:txBody>
          <a:bodyPr wrap="square" tIns="91440" bIns="91440" rtlCol="0">
            <a:spAutoFit/>
          </a:bodyPr>
          <a:lstStyle/>
          <a:p>
            <a:pPr marL="285750" indent="-285750">
              <a:spcAft>
                <a:spcPts val="600"/>
              </a:spcAft>
              <a:buFont typeface="Arial" panose="020B0604020202020204" pitchFamily="34" charset="0"/>
              <a:buChar char="•"/>
            </a:pPr>
            <a:r>
              <a:rPr lang="en-US" sz="1600" i="1" dirty="0">
                <a:latin typeface="Helvetica" panose="020B0604020202020204" pitchFamily="34" charset="0"/>
                <a:ea typeface="Helvetica" charset="0"/>
                <a:cs typeface="Helvetica" panose="020B0604020202020204" pitchFamily="34" charset="0"/>
              </a:rPr>
              <a:t>RE.TA </a:t>
            </a:r>
            <a:r>
              <a:rPr lang="en-US" sz="1600" dirty="0">
                <a:latin typeface="Helvetica" panose="020B0604020202020204" pitchFamily="34" charset="0"/>
                <a:ea typeface="Helvetica" charset="0"/>
                <a:cs typeface="Helvetica" panose="020B0604020202020204" pitchFamily="34" charset="0"/>
              </a:rPr>
              <a:t>is now statistically significant at </a:t>
            </a:r>
            <a:r>
              <a:rPr lang="en-US" dirty="0">
                <a:latin typeface="Symbol" panose="05050102010706020507" pitchFamily="18" charset="2"/>
                <a:ea typeface="Helvetica" charset="0"/>
                <a:cs typeface="Helvetica" charset="0"/>
              </a:rPr>
              <a:t>a</a:t>
            </a:r>
            <a:r>
              <a:rPr lang="en-US" dirty="0">
                <a:latin typeface="Helvetica Neue"/>
                <a:ea typeface="Helvetica" charset="0"/>
                <a:cs typeface="Helvetica" charset="0"/>
              </a:rPr>
              <a:t> </a:t>
            </a:r>
            <a:r>
              <a:rPr lang="en-US" dirty="0">
                <a:latin typeface="Cambria Math" panose="02040503050406030204" pitchFamily="18" charset="0"/>
                <a:ea typeface="Cambria Math" panose="02040503050406030204" pitchFamily="18" charset="0"/>
                <a:cs typeface="Helvetica" charset="0"/>
              </a:rPr>
              <a:t>= 0.05</a:t>
            </a:r>
          </a:p>
          <a:p>
            <a:pPr marL="285750" indent="-285750">
              <a:buFont typeface="Arial" panose="020B0604020202020204" pitchFamily="34" charset="0"/>
              <a:buChar char="•"/>
            </a:pPr>
            <a:r>
              <a:rPr lang="en-US" sz="1600" dirty="0">
                <a:latin typeface="Helvetica" panose="020B0604020202020204" pitchFamily="34" charset="0"/>
                <a:ea typeface="Helvetica" charset="0"/>
                <a:cs typeface="Helvetica" panose="020B0604020202020204" pitchFamily="34" charset="0"/>
              </a:rPr>
              <a:t>Not all coefficients are statistically significant</a:t>
            </a:r>
          </a:p>
        </p:txBody>
      </p:sp>
      <p:sp>
        <p:nvSpPr>
          <p:cNvPr id="10" name="TextBox 9"/>
          <p:cNvSpPr txBox="1"/>
          <p:nvPr/>
        </p:nvSpPr>
        <p:spPr>
          <a:xfrm>
            <a:off x="1036414" y="4095320"/>
            <a:ext cx="6991849" cy="877163"/>
          </a:xfrm>
          <a:prstGeom prst="rect">
            <a:avLst/>
          </a:prstGeom>
          <a:noFill/>
          <a:ln w="19050">
            <a:solidFill>
              <a:schemeClr val="tx2"/>
            </a:solidFill>
          </a:ln>
        </p:spPr>
        <p:txBody>
          <a:bodyPr wrap="square" tIns="91440" bIns="91440" rtlCol="0">
            <a:spAutoFit/>
          </a:bodyPr>
          <a:lstStyle/>
          <a:p>
            <a:pPr marL="285750" indent="-285750">
              <a:buFont typeface="Arial" panose="020B0604020202020204" pitchFamily="34" charset="0"/>
              <a:buChar char="•"/>
            </a:pPr>
            <a:r>
              <a:rPr lang="en-US" sz="1500" dirty="0">
                <a:latin typeface="Helvetica" panose="020B0604020202020204" pitchFamily="34" charset="0"/>
                <a:cs typeface="Helvetica" panose="020B0604020202020204" pitchFamily="34" charset="0"/>
              </a:rPr>
              <a:t>RE.TA is associated with a decrease in the odds of going bankrupt in the next year by </a:t>
            </a:r>
            <a:r>
              <a:rPr lang="en-US" sz="1500" dirty="0" smtClean="0">
                <a:latin typeface="Helvetica" panose="020B0604020202020204" pitchFamily="34" charset="0"/>
                <a:cs typeface="Helvetica" panose="020B0604020202020204" pitchFamily="34" charset="0"/>
              </a:rPr>
              <a:t>5.5% </a:t>
            </a:r>
            <a:r>
              <a:rPr lang="en-US" sz="1500" dirty="0">
                <a:latin typeface="Helvetica" panose="020B0604020202020204" pitchFamily="34" charset="0"/>
                <a:cs typeface="Helvetica" panose="020B0604020202020204" pitchFamily="34" charset="0"/>
              </a:rPr>
              <a:t>holding all else fixed</a:t>
            </a:r>
          </a:p>
          <a:p>
            <a:pPr marL="285750" indent="-285750">
              <a:buFont typeface="Arial" panose="020B0604020202020204" pitchFamily="34" charset="0"/>
              <a:buChar char="•"/>
            </a:pPr>
            <a:r>
              <a:rPr lang="en-US" sz="1500" dirty="0" smtClean="0">
                <a:latin typeface="Helvetica" panose="020B0604020202020204" pitchFamily="34" charset="0"/>
                <a:cs typeface="Helvetica" panose="020B0604020202020204" pitchFamily="34" charset="0"/>
              </a:rPr>
              <a:t>EBIT.TA </a:t>
            </a:r>
            <a:r>
              <a:rPr lang="en-US" sz="1500" dirty="0">
                <a:latin typeface="Helvetica" panose="020B0604020202020204" pitchFamily="34" charset="0"/>
                <a:cs typeface="Helvetica" panose="020B0604020202020204" pitchFamily="34" charset="0"/>
              </a:rPr>
              <a:t>is associated with a decrease in the odds of going bankrupt by </a:t>
            </a:r>
            <a:r>
              <a:rPr lang="en-US" sz="1500" dirty="0" smtClean="0">
                <a:latin typeface="Helvetica" panose="020B0604020202020204" pitchFamily="34" charset="0"/>
                <a:cs typeface="Helvetica" panose="020B0604020202020204" pitchFamily="34" charset="0"/>
              </a:rPr>
              <a:t>15%</a:t>
            </a:r>
            <a:endParaRPr lang="en-US" sz="1500" dirty="0">
              <a:latin typeface="Helvetica" panose="020B0604020202020204" pitchFamily="34" charset="0"/>
              <a:ea typeface="Helvetica" charset="0"/>
              <a:cs typeface="Helvetica" panose="020B0604020202020204" pitchFamily="34" charset="0"/>
            </a:endParaRPr>
          </a:p>
        </p:txBody>
      </p:sp>
      <p:sp>
        <p:nvSpPr>
          <p:cNvPr id="11" name="Right Arrow 10"/>
          <p:cNvSpPr/>
          <p:nvPr/>
        </p:nvSpPr>
        <p:spPr>
          <a:xfrm>
            <a:off x="204335" y="4464365"/>
            <a:ext cx="488131" cy="278612"/>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graphicFrame>
        <p:nvGraphicFramePr>
          <p:cNvPr id="3" name="Table 2">
            <a:extLst>
              <a:ext uri="{FF2B5EF4-FFF2-40B4-BE49-F238E27FC236}">
                <a16:creationId xmlns="" xmlns:a16="http://schemas.microsoft.com/office/drawing/2014/main" id="{24767132-B86C-41E8-9AFA-1188038C2D4C}"/>
              </a:ext>
            </a:extLst>
          </p:cNvPr>
          <p:cNvGraphicFramePr>
            <a:graphicFrameLocks noGrp="1"/>
          </p:cNvGraphicFramePr>
          <p:nvPr>
            <p:extLst>
              <p:ext uri="{D42A27DB-BD31-4B8C-83A1-F6EECF244321}">
                <p14:modId xmlns:p14="http://schemas.microsoft.com/office/powerpoint/2010/main" val="2042511187"/>
              </p:ext>
            </p:extLst>
          </p:nvPr>
        </p:nvGraphicFramePr>
        <p:xfrm>
          <a:off x="127681" y="2855533"/>
          <a:ext cx="4114224" cy="978535"/>
        </p:xfrm>
        <a:graphic>
          <a:graphicData uri="http://schemas.openxmlformats.org/drawingml/2006/table">
            <a:tbl>
              <a:tblPr firstRow="1" firstCol="1" bandRow="1">
                <a:tableStyleId>{5C22544A-7EE6-4342-B048-85BDC9FD1C3A}</a:tableStyleId>
              </a:tblPr>
              <a:tblGrid>
                <a:gridCol w="949320">
                  <a:extLst>
                    <a:ext uri="{9D8B030D-6E8A-4147-A177-3AD203B41FA5}">
                      <a16:colId xmlns="" xmlns:a16="http://schemas.microsoft.com/office/drawing/2014/main" val="857321874"/>
                    </a:ext>
                  </a:extLst>
                </a:gridCol>
                <a:gridCol w="885023">
                  <a:extLst>
                    <a:ext uri="{9D8B030D-6E8A-4147-A177-3AD203B41FA5}">
                      <a16:colId xmlns="" xmlns:a16="http://schemas.microsoft.com/office/drawing/2014/main" val="2897374475"/>
                    </a:ext>
                  </a:extLst>
                </a:gridCol>
                <a:gridCol w="816945">
                  <a:extLst>
                    <a:ext uri="{9D8B030D-6E8A-4147-A177-3AD203B41FA5}">
                      <a16:colId xmlns="" xmlns:a16="http://schemas.microsoft.com/office/drawing/2014/main" val="3549836577"/>
                    </a:ext>
                  </a:extLst>
                </a:gridCol>
                <a:gridCol w="680787">
                  <a:extLst>
                    <a:ext uri="{9D8B030D-6E8A-4147-A177-3AD203B41FA5}">
                      <a16:colId xmlns="" xmlns:a16="http://schemas.microsoft.com/office/drawing/2014/main" val="1043915239"/>
                    </a:ext>
                  </a:extLst>
                </a:gridCol>
                <a:gridCol w="782149">
                  <a:extLst>
                    <a:ext uri="{9D8B030D-6E8A-4147-A177-3AD203B41FA5}">
                      <a16:colId xmlns="" xmlns:a16="http://schemas.microsoft.com/office/drawing/2014/main" val="530217260"/>
                    </a:ext>
                  </a:extLst>
                </a:gridCol>
              </a:tblGrid>
              <a:tr h="0">
                <a:tc>
                  <a:txBody>
                    <a:bodyPr/>
                    <a:lstStyle/>
                    <a:p>
                      <a:pPr marL="0" marR="0">
                        <a:lnSpc>
                          <a:spcPct val="107000"/>
                        </a:lnSpc>
                        <a:spcBef>
                          <a:spcPts val="0"/>
                        </a:spcBef>
                        <a:spcAft>
                          <a:spcPts val="0"/>
                        </a:spcAft>
                      </a:pPr>
                      <a:r>
                        <a:rPr lang="da-DK" sz="1200" b="0" dirty="0">
                          <a:solidFill>
                            <a:schemeClr val="tx1"/>
                          </a:solidFill>
                          <a:effectLst/>
                          <a:latin typeface="Helvetica" panose="020B0604020202020204" pitchFamily="34" charset="0"/>
                          <a:cs typeface="Helvetica" panose="020B0604020202020204" pitchFamily="34" charset="0"/>
                        </a:rPr>
                        <a:t>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Estimate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Std. Error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z value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Pr(&gt;|z|)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734383910"/>
                  </a:ext>
                </a:extLst>
              </a:tr>
              <a:tr h="0">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(Intercept)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-0.29478   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1.12323 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-0.262  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0.7930  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676661228"/>
                  </a:ext>
                </a:extLst>
              </a:tr>
              <a:tr h="0">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RE.TA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dirty="0">
                          <a:solidFill>
                            <a:schemeClr val="tx1"/>
                          </a:solidFill>
                          <a:effectLst/>
                          <a:latin typeface="Helvetica" panose="020B0604020202020204" pitchFamily="34" charset="0"/>
                          <a:cs typeface="Helvetica" panose="020B0604020202020204" pitchFamily="34" charset="0"/>
                        </a:rPr>
                        <a:t>-0.05627   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0.02745 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-2.050  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0.0404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767046283"/>
                  </a:ext>
                </a:extLst>
              </a:tr>
              <a:tr h="0">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EBIT.TA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dirty="0">
                          <a:solidFill>
                            <a:schemeClr val="tx1"/>
                          </a:solidFill>
                          <a:effectLst/>
                          <a:latin typeface="Helvetica" panose="020B0604020202020204" pitchFamily="34" charset="0"/>
                          <a:cs typeface="Helvetica" panose="020B0604020202020204" pitchFamily="34" charset="0"/>
                        </a:rPr>
                        <a:t>-0.16763   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0.09270 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-1.808  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0.0706 .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638760728"/>
                  </a:ext>
                </a:extLst>
              </a:tr>
              <a:tr h="0">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BVE.BVL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-0.62975   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0.39435 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-1.597  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dirty="0">
                          <a:solidFill>
                            <a:schemeClr val="tx1"/>
                          </a:solidFill>
                          <a:effectLst/>
                          <a:latin typeface="Helvetica" panose="020B0604020202020204" pitchFamily="34" charset="0"/>
                          <a:cs typeface="Helvetica" panose="020B0604020202020204" pitchFamily="34" charset="0"/>
                        </a:rPr>
                        <a:t>0.1103 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411633387"/>
                  </a:ext>
                </a:extLst>
              </a:tr>
            </a:tbl>
          </a:graphicData>
        </a:graphic>
      </p:graphicFrame>
    </p:spTree>
    <p:custDataLst>
      <p:tags r:id="rId1"/>
    </p:custDataLst>
    <p:extLst>
      <p:ext uri="{BB962C8B-B14F-4D97-AF65-F5344CB8AC3E}">
        <p14:creationId xmlns:p14="http://schemas.microsoft.com/office/powerpoint/2010/main" val="54003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68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68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68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0" grpId="0" animBg="1"/>
      <p:bldP spid="8" grpId="0" animBg="1"/>
      <p:bldP spid="9" grpId="0" animBg="1"/>
      <p:bldP spid="10" grpId="0" animBg="1"/>
      <p:bldP spid="11" grpId="0" animBg="1"/>
    </p:bldLst>
  </p:timing>
  <p:extLst mod="1">
    <p:ext uri="{6950BFC3-D8DA-4A85-94F7-54DA5524770B}">
      <p188:commentRel xmlns="" xmlns:p188="http://schemas.microsoft.com/office/powerpoint/2018/8/main" r:id="rId4"/>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15059" y="973553"/>
            <a:ext cx="8622569" cy="1015663"/>
          </a:xfrm>
          <a:prstGeom prst="rect">
            <a:avLst/>
          </a:prstGeom>
          <a:noFill/>
          <a:ln>
            <a:noFill/>
          </a:ln>
          <a:extLst>
            <a:ext uri="{909E8E84-426E-40dd-AFC4-6F175D3DCCD1}"/>
            <a:ext uri="{91240B29-F687-4f45-9708-019B960494DF}"/>
          </a:extLst>
        </p:spPr>
        <p:txBody>
          <a:bodyPr wrap="square" anchor="t">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 Testing for subset of regression coefficients</a:t>
            </a:r>
          </a:p>
          <a:p>
            <a:pPr>
              <a:defRPr/>
            </a:pPr>
            <a:r>
              <a:rPr lang="en-US" sz="1200" i="1" dirty="0" err="1">
                <a:latin typeface="Helvetica" panose="020B0604020202020204" pitchFamily="34" charset="0"/>
                <a:ea typeface="Helvetica Neue" charset="0"/>
                <a:cs typeface="Helvetica" panose="020B0604020202020204" pitchFamily="34" charset="0"/>
              </a:rPr>
              <a:t>gstat</a:t>
            </a:r>
            <a:r>
              <a:rPr lang="en-US" sz="1200" i="1" dirty="0">
                <a:latin typeface="Helvetica" panose="020B0604020202020204" pitchFamily="34" charset="0"/>
                <a:ea typeface="Helvetica Neue" charset="0"/>
                <a:cs typeface="Helvetica" panose="020B0604020202020204" pitchFamily="34" charset="0"/>
              </a:rPr>
              <a:t> = deviance(bank2) - deviance(bank1)</a:t>
            </a:r>
          </a:p>
          <a:p>
            <a:pPr>
              <a:defRPr/>
            </a:pPr>
            <a:r>
              <a:rPr lang="en-US" sz="1200" i="1" dirty="0" err="1">
                <a:latin typeface="Helvetica" panose="020B0604020202020204" pitchFamily="34" charset="0"/>
                <a:ea typeface="Helvetica Neue" charset="0"/>
                <a:cs typeface="Helvetica" panose="020B0604020202020204" pitchFamily="34" charset="0"/>
              </a:rPr>
              <a:t>cbind</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gstat</a:t>
            </a:r>
            <a:r>
              <a:rPr lang="en-US" sz="1200" i="1" dirty="0">
                <a:latin typeface="Helvetica" panose="020B0604020202020204" pitchFamily="34" charset="0"/>
                <a:ea typeface="Helvetica Neue" charset="0"/>
                <a:cs typeface="Helvetica" panose="020B0604020202020204" pitchFamily="34" charset="0"/>
              </a:rPr>
              <a:t>, 1-pchisq(</a:t>
            </a:r>
            <a:r>
              <a:rPr lang="en-US" sz="1200" i="1" dirty="0" err="1">
                <a:latin typeface="Helvetica" panose="020B0604020202020204" pitchFamily="34" charset="0"/>
                <a:ea typeface="Helvetica Neue" charset="0"/>
                <a:cs typeface="Helvetica" panose="020B0604020202020204" pitchFamily="34" charset="0"/>
              </a:rPr>
              <a:t>gstat,length</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coef</a:t>
            </a:r>
            <a:r>
              <a:rPr lang="en-US" sz="1200" i="1" dirty="0">
                <a:latin typeface="Helvetica" panose="020B0604020202020204" pitchFamily="34" charset="0"/>
                <a:ea typeface="Helvetica Neue" charset="0"/>
                <a:cs typeface="Helvetica" panose="020B0604020202020204" pitchFamily="34" charset="0"/>
              </a:rPr>
              <a:t>(bank1))-length(</a:t>
            </a:r>
            <a:r>
              <a:rPr lang="en-US" sz="1200" i="1" dirty="0" err="1">
                <a:latin typeface="Helvetica" panose="020B0604020202020204" pitchFamily="34" charset="0"/>
                <a:ea typeface="Helvetica Neue" charset="0"/>
                <a:cs typeface="Helvetica" panose="020B0604020202020204" pitchFamily="34" charset="0"/>
              </a:rPr>
              <a:t>coef</a:t>
            </a:r>
            <a:r>
              <a:rPr lang="en-US" sz="1200" i="1" dirty="0">
                <a:latin typeface="Helvetica" panose="020B0604020202020204" pitchFamily="34" charset="0"/>
                <a:ea typeface="Helvetica Neue" charset="0"/>
                <a:cs typeface="Helvetica" panose="020B0604020202020204" pitchFamily="34" charset="0"/>
              </a:rPr>
              <a:t>(bank2))))</a:t>
            </a:r>
          </a:p>
          <a:p>
            <a:pPr>
              <a:defRPr/>
            </a:pPr>
            <a:r>
              <a:rPr lang="de-DE" sz="1200" dirty="0">
                <a:latin typeface="Helvetica" panose="020B0604020202020204" pitchFamily="34" charset="0"/>
                <a:ea typeface="Helvetica Neue" charset="0"/>
                <a:cs typeface="Helvetica" panose="020B0604020202020204" pitchFamily="34" charset="0"/>
              </a:rPr>
              <a:t>        gstat          </a:t>
            </a:r>
          </a:p>
          <a:p>
            <a:pPr>
              <a:defRPr/>
            </a:pPr>
            <a:r>
              <a:rPr lang="de-DE" sz="1200" dirty="0">
                <a:latin typeface="Helvetica" panose="020B0604020202020204" pitchFamily="34" charset="0"/>
                <a:ea typeface="Helvetica Neue" charset="0"/>
                <a:cs typeface="Helvetica" panose="020B0604020202020204" pitchFamily="34" charset="0"/>
              </a:rPr>
              <a:t>[1,] 4.040336 0.1326332</a:t>
            </a:r>
          </a:p>
        </p:txBody>
      </p:sp>
      <p:sp>
        <p:nvSpPr>
          <p:cNvPr id="12" name="Title 1"/>
          <p:cNvSpPr txBox="1">
            <a:spLocks/>
          </p:cNvSpPr>
          <p:nvPr/>
        </p:nvSpPr>
        <p:spPr>
          <a:xfrm>
            <a:off x="88531" y="248849"/>
            <a:ext cx="8382000" cy="567992"/>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Compare All Models (cont’d)</a:t>
            </a:r>
          </a:p>
        </p:txBody>
      </p:sp>
      <p:sp>
        <p:nvSpPr>
          <p:cNvPr id="10" name="TextBox 9"/>
          <p:cNvSpPr txBox="1"/>
          <p:nvPr/>
        </p:nvSpPr>
        <p:spPr>
          <a:xfrm>
            <a:off x="1034991" y="2388688"/>
            <a:ext cx="3804047" cy="430887"/>
          </a:xfrm>
          <a:prstGeom prst="rect">
            <a:avLst/>
          </a:prstGeom>
          <a:noFill/>
          <a:ln w="19050">
            <a:solidFill>
              <a:schemeClr val="tx2"/>
            </a:solidFill>
          </a:ln>
        </p:spPr>
        <p:txBody>
          <a:bodyPr wrap="square" tIns="91440" bIns="91440" rtlCol="0">
            <a:spAutoFit/>
          </a:bodyPr>
          <a:lstStyle/>
          <a:p>
            <a:r>
              <a:rPr lang="en-US" sz="1600">
                <a:latin typeface="Helvetica" panose="020B0604020202020204" pitchFamily="34" charset="0"/>
                <a:ea typeface="Helvetica" charset="0"/>
                <a:cs typeface="Helvetica" panose="020B0604020202020204" pitchFamily="34" charset="0"/>
              </a:rPr>
              <a:t>The null (reduced model) is not rejected </a:t>
            </a:r>
          </a:p>
        </p:txBody>
      </p:sp>
      <p:sp>
        <p:nvSpPr>
          <p:cNvPr id="11" name="Right Arrow 10"/>
          <p:cNvSpPr/>
          <p:nvPr/>
        </p:nvSpPr>
        <p:spPr>
          <a:xfrm>
            <a:off x="212568" y="2480215"/>
            <a:ext cx="488131" cy="278612"/>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Tree>
    <p:custDataLst>
      <p:tags r:id="rId1"/>
    </p:custDataLst>
    <p:extLst>
      <p:ext uri="{BB962C8B-B14F-4D97-AF65-F5344CB8AC3E}">
        <p14:creationId xmlns:p14="http://schemas.microsoft.com/office/powerpoint/2010/main" val="4249270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extLst mod="1">
    <p:ext uri="{6950BFC3-D8DA-4A85-94F7-54DA5524770B}">
      <p188:commentRel xmlns="" xmlns:p188="http://schemas.microsoft.com/office/powerpoint/2018/8/main" r:id="rId4"/>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13485" y="974668"/>
            <a:ext cx="4458516" cy="1938992"/>
          </a:xfrm>
          <a:prstGeom prst="rect">
            <a:avLst/>
          </a:prstGeom>
          <a:noFill/>
          <a:ln>
            <a:noFill/>
          </a:ln>
          <a:extLst>
            <a:ext uri="{909E8E84-426E-40dd-AFC4-6F175D3DCCD1}"/>
            <a:ext uri="{91240B29-F687-4f45-9708-019B960494DF}"/>
          </a:extLst>
        </p:spPr>
        <p:txBody>
          <a:bodyPr wrap="square" anchor="t">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i="1" dirty="0">
                <a:latin typeface="Helvetica" panose="020B0604020202020204" pitchFamily="34" charset="0"/>
                <a:ea typeface="Helvetica Neue" charset="0"/>
                <a:cs typeface="Helvetica" panose="020B0604020202020204" pitchFamily="34" charset="0"/>
              </a:rPr>
              <a:t>bankrupt2 = bankruptcy[-1,]</a:t>
            </a:r>
          </a:p>
          <a:p>
            <a:pPr>
              <a:defRPr/>
            </a:pPr>
            <a:r>
              <a:rPr lang="en-US" sz="1200" i="1" dirty="0">
                <a:latin typeface="Helvetica" panose="020B0604020202020204" pitchFamily="34" charset="0"/>
                <a:ea typeface="Helvetica Neue" charset="0"/>
                <a:cs typeface="Helvetica" panose="020B0604020202020204" pitchFamily="34" charset="0"/>
              </a:rPr>
              <a:t>attach(bankrupt2)</a:t>
            </a:r>
          </a:p>
          <a:p>
            <a:pPr>
              <a:defRPr/>
            </a:pPr>
            <a:r>
              <a:rPr lang="en-US" sz="1200" i="1" dirty="0">
                <a:latin typeface="Helvetica" panose="020B0604020202020204" pitchFamily="34" charset="0"/>
                <a:ea typeface="Helvetica Neue" charset="0"/>
                <a:cs typeface="Helvetica" panose="020B0604020202020204" pitchFamily="34" charset="0"/>
              </a:rPr>
              <a:t>bank3 = </a:t>
            </a:r>
            <a:r>
              <a:rPr lang="en-US" sz="1200" i="1" dirty="0" err="1">
                <a:latin typeface="Helvetica" panose="020B0604020202020204" pitchFamily="34" charset="0"/>
                <a:ea typeface="Helvetica Neue" charset="0"/>
                <a:cs typeface="Helvetica" panose="020B0604020202020204" pitchFamily="34" charset="0"/>
              </a:rPr>
              <a:t>glm</a:t>
            </a:r>
            <a:r>
              <a:rPr lang="en-US" sz="1200" i="1" dirty="0">
                <a:latin typeface="Helvetica" panose="020B0604020202020204" pitchFamily="34" charset="0"/>
                <a:ea typeface="Helvetica Neue" charset="0"/>
                <a:cs typeface="Helvetica" panose="020B0604020202020204" pitchFamily="34" charset="0"/>
              </a:rPr>
              <a:t>(Bankrupt ~ WC.TA + RE.TA + EBIT.TA + S.TA + BVE.BVL, family=binomial,</a:t>
            </a:r>
            <a:br>
              <a:rPr lang="en-US" sz="1200" i="1" dirty="0">
                <a:latin typeface="Helvetica" panose="020B0604020202020204" pitchFamily="34" charset="0"/>
                <a:ea typeface="Helvetica Neue" charset="0"/>
                <a:cs typeface="Helvetica" panose="020B0604020202020204" pitchFamily="34" charset="0"/>
              </a:rPr>
            </a:br>
            <a:r>
              <a:rPr lang="en-US" sz="1200" i="1" dirty="0">
                <a:latin typeface="Helvetica" panose="020B0604020202020204" pitchFamily="34" charset="0"/>
                <a:ea typeface="Helvetica Neue" charset="0"/>
                <a:cs typeface="Helvetica" panose="020B0604020202020204" pitchFamily="34" charset="0"/>
              </a:rPr>
              <a:t>            </a:t>
            </a:r>
            <a:r>
              <a:rPr lang="en-US" sz="1200" i="1" dirty="0" err="1">
                <a:latin typeface="Helvetica" panose="020B0604020202020204" pitchFamily="34" charset="0"/>
                <a:ea typeface="Helvetica Neue" charset="0"/>
                <a:cs typeface="Helvetica" panose="020B0604020202020204" pitchFamily="34" charset="0"/>
              </a:rPr>
              <a:t>maxit</a:t>
            </a:r>
            <a:r>
              <a:rPr lang="en-US" sz="1200" i="1" dirty="0">
                <a:latin typeface="Helvetica" panose="020B0604020202020204" pitchFamily="34" charset="0"/>
                <a:ea typeface="Helvetica Neue" charset="0"/>
                <a:cs typeface="Helvetica" panose="020B0604020202020204" pitchFamily="34" charset="0"/>
              </a:rPr>
              <a:t>=500, data=bankrupt2)</a:t>
            </a:r>
          </a:p>
          <a:p>
            <a:pPr>
              <a:defRPr/>
            </a:pPr>
            <a:r>
              <a:rPr lang="en-US" sz="1200" b="1" dirty="0">
                <a:solidFill>
                  <a:srgbClr val="EEB211"/>
                </a:solidFill>
                <a:latin typeface="Helvetica" panose="020B0604020202020204" pitchFamily="34" charset="0"/>
                <a:ea typeface="Helvetica Neue" charset="0"/>
                <a:cs typeface="Helvetica" panose="020B0604020202020204" pitchFamily="34" charset="0"/>
              </a:rPr>
              <a:t>Warning message:</a:t>
            </a:r>
          </a:p>
          <a:p>
            <a:pPr>
              <a:defRPr/>
            </a:pPr>
            <a:r>
              <a:rPr lang="en-US" sz="1200" b="1" dirty="0" err="1">
                <a:solidFill>
                  <a:srgbClr val="EEB211"/>
                </a:solidFill>
                <a:latin typeface="Helvetica" panose="020B0604020202020204" pitchFamily="34" charset="0"/>
                <a:ea typeface="Helvetica Neue" charset="0"/>
                <a:cs typeface="Helvetica" panose="020B0604020202020204" pitchFamily="34" charset="0"/>
              </a:rPr>
              <a:t>glm.fit</a:t>
            </a:r>
            <a:r>
              <a:rPr lang="en-US" sz="1200" b="1" dirty="0">
                <a:solidFill>
                  <a:srgbClr val="EEB211"/>
                </a:solidFill>
                <a:latin typeface="Helvetica" panose="020B0604020202020204" pitchFamily="34" charset="0"/>
                <a:ea typeface="Helvetica Neue" charset="0"/>
                <a:cs typeface="Helvetica" panose="020B0604020202020204" pitchFamily="34" charset="0"/>
              </a:rPr>
              <a:t>: fitted probabilities numerically 0 or 1 occurred </a:t>
            </a:r>
          </a:p>
          <a:p>
            <a:pPr>
              <a:defRPr/>
            </a:pPr>
            <a:endParaRPr lang="en-US" sz="1200" dirty="0">
              <a:solidFill>
                <a:schemeClr val="accent1">
                  <a:lumMod val="75000"/>
                </a:schemeClr>
              </a:solidFill>
              <a:latin typeface="Helvetica" panose="020B0604020202020204" pitchFamily="34" charset="0"/>
              <a:ea typeface="Helvetica Neue" charset="0"/>
              <a:cs typeface="Helvetica" panose="020B0604020202020204" pitchFamily="34" charset="0"/>
            </a:endParaRPr>
          </a:p>
          <a:p>
            <a:pPr>
              <a:defRPr/>
            </a:pPr>
            <a:r>
              <a:rPr lang="en-US" sz="1200" i="1" dirty="0">
                <a:latin typeface="Helvetica" panose="020B0604020202020204" pitchFamily="34" charset="0"/>
                <a:ea typeface="Helvetica Neue" charset="0"/>
                <a:cs typeface="Helvetica" panose="020B0604020202020204" pitchFamily="34" charset="0"/>
              </a:rPr>
              <a:t>summary(bank3)</a:t>
            </a:r>
            <a:r>
              <a:rPr lang="da-DK" sz="1200" i="1" dirty="0">
                <a:latin typeface="Helvetica" panose="020B0604020202020204" pitchFamily="34" charset="0"/>
                <a:ea typeface="Helvetica Neue" charset="0"/>
                <a:cs typeface="Helvetica" panose="020B0604020202020204" pitchFamily="34" charset="0"/>
              </a:rPr>
              <a:t> </a:t>
            </a:r>
          </a:p>
          <a:p>
            <a:pPr>
              <a:defRPr/>
            </a:pPr>
            <a:r>
              <a:rPr lang="da-DK" sz="1200" dirty="0">
                <a:latin typeface="Helvetica" panose="020B0604020202020204" pitchFamily="34" charset="0"/>
                <a:ea typeface="Helvetica Neue" charset="0"/>
                <a:cs typeface="Helvetica" panose="020B0604020202020204" pitchFamily="34" charset="0"/>
              </a:rPr>
              <a:t>Coefficients:</a:t>
            </a:r>
          </a:p>
        </p:txBody>
      </p:sp>
      <p:sp>
        <p:nvSpPr>
          <p:cNvPr id="12" name="Title 1"/>
          <p:cNvSpPr txBox="1">
            <a:spLocks/>
          </p:cNvSpPr>
          <p:nvPr/>
        </p:nvSpPr>
        <p:spPr>
          <a:xfrm>
            <a:off x="72347" y="256941"/>
            <a:ext cx="8382000" cy="523519"/>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Remove Outlier</a:t>
            </a:r>
          </a:p>
        </p:txBody>
      </p:sp>
      <p:sp>
        <p:nvSpPr>
          <p:cNvPr id="5" name="TextBox 4"/>
          <p:cNvSpPr txBox="1"/>
          <p:nvPr/>
        </p:nvSpPr>
        <p:spPr>
          <a:xfrm>
            <a:off x="5494789" y="1166872"/>
            <a:ext cx="3505200" cy="1169551"/>
          </a:xfrm>
          <a:prstGeom prst="rect">
            <a:avLst/>
          </a:prstGeom>
          <a:ln w="19050">
            <a:solidFill>
              <a:srgbClr val="3F6CAF"/>
            </a:solidFill>
          </a:ln>
          <a:effectLst/>
        </p:spPr>
        <p:style>
          <a:lnRef idx="2">
            <a:schemeClr val="accent1"/>
          </a:lnRef>
          <a:fillRef idx="1">
            <a:schemeClr val="lt1"/>
          </a:fillRef>
          <a:effectRef idx="0">
            <a:schemeClr val="accent1"/>
          </a:effectRef>
          <a:fontRef idx="minor">
            <a:schemeClr val="dk1"/>
          </a:fontRef>
        </p:style>
        <p:txBody>
          <a:bodyPr wrap="square" tIns="91440" bIns="91440" rtlCol="0" anchor="ctr" anchorCtr="0">
            <a:spAutoFit/>
          </a:bodyPr>
          <a:lstStyle/>
          <a:p>
            <a:r>
              <a:rPr lang="en-US" sz="1600">
                <a:latin typeface="Helvetica" panose="020B0604020202020204" pitchFamily="34" charset="0"/>
                <a:ea typeface="Helvetica Neue" charset="0"/>
                <a:cs typeface="Helvetica" panose="020B0604020202020204" pitchFamily="34" charset="0"/>
              </a:rPr>
              <a:t>The model fits perfectly. This is complete separation, and the solution is to simplify the model if that is possible.</a:t>
            </a:r>
          </a:p>
        </p:txBody>
      </p:sp>
      <p:graphicFrame>
        <p:nvGraphicFramePr>
          <p:cNvPr id="3" name="Table 2">
            <a:extLst>
              <a:ext uri="{FF2B5EF4-FFF2-40B4-BE49-F238E27FC236}">
                <a16:creationId xmlns="" xmlns:a16="http://schemas.microsoft.com/office/drawing/2014/main" id="{D64F300E-899C-46EC-B9D8-25A15C9078FE}"/>
              </a:ext>
            </a:extLst>
          </p:cNvPr>
          <p:cNvGraphicFramePr>
            <a:graphicFrameLocks noGrp="1"/>
          </p:cNvGraphicFramePr>
          <p:nvPr>
            <p:extLst>
              <p:ext uri="{D42A27DB-BD31-4B8C-83A1-F6EECF244321}">
                <p14:modId xmlns:p14="http://schemas.microsoft.com/office/powerpoint/2010/main" val="4110883624"/>
              </p:ext>
            </p:extLst>
          </p:nvPr>
        </p:nvGraphicFramePr>
        <p:xfrm>
          <a:off x="131777" y="2864515"/>
          <a:ext cx="4016112" cy="1369949"/>
        </p:xfrm>
        <a:graphic>
          <a:graphicData uri="http://schemas.openxmlformats.org/drawingml/2006/table">
            <a:tbl>
              <a:tblPr firstRow="1" firstCol="1" bandRow="1">
                <a:tableStyleId>{5C22544A-7EE6-4342-B048-85BDC9FD1C3A}</a:tableStyleId>
              </a:tblPr>
              <a:tblGrid>
                <a:gridCol w="873197">
                  <a:extLst>
                    <a:ext uri="{9D8B030D-6E8A-4147-A177-3AD203B41FA5}">
                      <a16:colId xmlns="" xmlns:a16="http://schemas.microsoft.com/office/drawing/2014/main" val="142729855"/>
                    </a:ext>
                  </a:extLst>
                </a:gridCol>
                <a:gridCol w="742925">
                  <a:extLst>
                    <a:ext uri="{9D8B030D-6E8A-4147-A177-3AD203B41FA5}">
                      <a16:colId xmlns="" xmlns:a16="http://schemas.microsoft.com/office/drawing/2014/main" val="193958719"/>
                    </a:ext>
                  </a:extLst>
                </a:gridCol>
                <a:gridCol w="1023569">
                  <a:extLst>
                    <a:ext uri="{9D8B030D-6E8A-4147-A177-3AD203B41FA5}">
                      <a16:colId xmlns="" xmlns:a16="http://schemas.microsoft.com/office/drawing/2014/main" val="1646615457"/>
                    </a:ext>
                  </a:extLst>
                </a:gridCol>
                <a:gridCol w="639451">
                  <a:extLst>
                    <a:ext uri="{9D8B030D-6E8A-4147-A177-3AD203B41FA5}">
                      <a16:colId xmlns="" xmlns:a16="http://schemas.microsoft.com/office/drawing/2014/main" val="231849085"/>
                    </a:ext>
                  </a:extLst>
                </a:gridCol>
                <a:gridCol w="736970">
                  <a:extLst>
                    <a:ext uri="{9D8B030D-6E8A-4147-A177-3AD203B41FA5}">
                      <a16:colId xmlns="" xmlns:a16="http://schemas.microsoft.com/office/drawing/2014/main" val="266958952"/>
                    </a:ext>
                  </a:extLst>
                </a:gridCol>
              </a:tblGrid>
              <a:tr h="165425">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Estimate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Std. Error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z value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Pr(&gt;|z|)</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684348755"/>
                  </a:ext>
                </a:extLst>
              </a:tr>
              <a:tr h="165425">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(Intercept)</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265.467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576281.709  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1</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134096046"/>
                  </a:ext>
                </a:extLst>
              </a:tr>
              <a:tr h="165425">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WC.TA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-4.297 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12439.717   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1</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563534375"/>
                  </a:ext>
                </a:extLst>
              </a:tr>
              <a:tr h="165425">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RE.TA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-1.516  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5131.146    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1</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464238599"/>
                  </a:ext>
                </a:extLst>
              </a:tr>
              <a:tr h="165425">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EBIT.TA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-17.043 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35543.170  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1</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911173833"/>
                  </a:ext>
                </a:extLst>
              </a:tr>
              <a:tr h="165425">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S.TA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-2.859  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7408.747 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1</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112416722"/>
                  </a:ext>
                </a:extLst>
              </a:tr>
              <a:tr h="179959">
                <a:tc>
                  <a:txBody>
                    <a:bodyPr/>
                    <a:lstStyle/>
                    <a:p>
                      <a:pPr marL="0" marR="0">
                        <a:lnSpc>
                          <a:spcPct val="107000"/>
                        </a:lnSpc>
                        <a:spcBef>
                          <a:spcPts val="0"/>
                        </a:spcBef>
                        <a:spcAft>
                          <a:spcPts val="0"/>
                        </a:spcAft>
                      </a:pPr>
                      <a:r>
                        <a:rPr lang="da-DK" sz="1200" b="0" dirty="0">
                          <a:solidFill>
                            <a:schemeClr val="tx1"/>
                          </a:solidFill>
                          <a:effectLst/>
                          <a:latin typeface="Helvetica" panose="020B0604020202020204" pitchFamily="34" charset="0"/>
                          <a:cs typeface="Helvetica" panose="020B0604020202020204" pitchFamily="34" charset="0"/>
                        </a:rPr>
                        <a:t>BVE.BVL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-77.540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184903.001  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dirty="0">
                          <a:solidFill>
                            <a:schemeClr val="tx1"/>
                          </a:solidFill>
                          <a:effectLst/>
                          <a:latin typeface="Helvetica" panose="020B0604020202020204" pitchFamily="34" charset="0"/>
                          <a:cs typeface="Helvetica" panose="020B0604020202020204" pitchFamily="34" charset="0"/>
                        </a:rPr>
                        <a:t>1</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673981306"/>
                  </a:ext>
                </a:extLst>
              </a:tr>
            </a:tbl>
          </a:graphicData>
        </a:graphic>
      </p:graphicFrame>
      <p:sp>
        <p:nvSpPr>
          <p:cNvPr id="4" name="Rectangle 1">
            <a:extLst>
              <a:ext uri="{FF2B5EF4-FFF2-40B4-BE49-F238E27FC236}">
                <a16:creationId xmlns="" xmlns:a16="http://schemas.microsoft.com/office/drawing/2014/main" id="{D3B00329-6AE5-4023-A136-741F113402ED}"/>
              </a:ext>
            </a:extLst>
          </p:cNvPr>
          <p:cNvSpPr>
            <a:spLocks noChangeArrowheads="1"/>
          </p:cNvSpPr>
          <p:nvPr/>
        </p:nvSpPr>
        <p:spPr bwMode="auto">
          <a:xfrm>
            <a:off x="2859088" y="222091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custDataLst>
      <p:tags r:id="rId1"/>
    </p:custDataLst>
    <p:extLst>
      <p:ext uri="{BB962C8B-B14F-4D97-AF65-F5344CB8AC3E}">
        <p14:creationId xmlns:p14="http://schemas.microsoft.com/office/powerpoint/2010/main" val="2515695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extLst mod="1">
    <p:ext uri="{6950BFC3-D8DA-4A85-94F7-54DA5524770B}">
      <p188:commentRel xmlns="" xmlns:p188="http://schemas.microsoft.com/office/powerpoint/2018/8/main" r:id="rId4"/>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20898" y="974335"/>
            <a:ext cx="4451102" cy="3970318"/>
          </a:xfrm>
          <a:prstGeom prst="rect">
            <a:avLst/>
          </a:prstGeom>
          <a:noFill/>
          <a:ln>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i="1" dirty="0" err="1">
                <a:latin typeface="Helvetica" panose="020B0604020202020204" pitchFamily="34" charset="0"/>
                <a:ea typeface="Helvetica Neue" charset="0"/>
                <a:cs typeface="Helvetica" panose="020B0604020202020204" pitchFamily="34" charset="0"/>
              </a:rPr>
              <a:t>input.Xy</a:t>
            </a:r>
            <a:r>
              <a:rPr lang="en-US" sz="1200" i="1" dirty="0">
                <a:latin typeface="Helvetica" panose="020B0604020202020204" pitchFamily="34" charset="0"/>
                <a:ea typeface="Helvetica Neue" charset="0"/>
                <a:cs typeface="Helvetica" panose="020B0604020202020204" pitchFamily="34" charset="0"/>
              </a:rPr>
              <a:t> &lt;- </a:t>
            </a:r>
            <a:r>
              <a:rPr lang="en-US" sz="1200" i="1" dirty="0" err="1">
                <a:latin typeface="Helvetica" panose="020B0604020202020204" pitchFamily="34" charset="0"/>
                <a:ea typeface="Helvetica Neue" charset="0"/>
                <a:cs typeface="Helvetica" panose="020B0604020202020204" pitchFamily="34" charset="0"/>
              </a:rPr>
              <a:t>as.data.frame</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cbind</a:t>
            </a:r>
            <a:r>
              <a:rPr lang="en-US" sz="1200" i="1" dirty="0">
                <a:latin typeface="Helvetica" panose="020B0604020202020204" pitchFamily="34" charset="0"/>
                <a:ea typeface="Helvetica Neue" charset="0"/>
                <a:cs typeface="Helvetica" panose="020B0604020202020204" pitchFamily="34" charset="0"/>
              </a:rPr>
              <a:t>(WC.TA, RE.TA, EBIT.TA, S.TA, </a:t>
            </a:r>
            <a:r>
              <a:rPr lang="en-US" sz="1200" i="1" dirty="0" err="1">
                <a:latin typeface="Helvetica" panose="020B0604020202020204" pitchFamily="34" charset="0"/>
                <a:ea typeface="Helvetica Neue" charset="0"/>
                <a:cs typeface="Helvetica" panose="020B0604020202020204" pitchFamily="34" charset="0"/>
              </a:rPr>
              <a:t>BVE.BVL,Bankrupt</a:t>
            </a:r>
            <a:r>
              <a:rPr lang="en-US" sz="1200" i="1" dirty="0">
                <a:latin typeface="Helvetica" panose="020B0604020202020204" pitchFamily="34" charset="0"/>
                <a:ea typeface="Helvetica Neue" charset="0"/>
                <a:cs typeface="Helvetica" panose="020B0604020202020204" pitchFamily="34" charset="0"/>
              </a:rPr>
              <a:t>))</a:t>
            </a:r>
          </a:p>
          <a:p>
            <a:pPr>
              <a:defRPr/>
            </a:pPr>
            <a:r>
              <a:rPr lang="en-US" sz="1200" i="1" dirty="0" err="1" smtClean="0">
                <a:latin typeface="Helvetica" panose="020B0604020202020204" pitchFamily="34" charset="0"/>
                <a:ea typeface="Helvetica Neue" charset="0"/>
                <a:cs typeface="Helvetica" panose="020B0604020202020204" pitchFamily="34" charset="0"/>
              </a:rPr>
              <a:t>bestBIC</a:t>
            </a:r>
            <a:r>
              <a:rPr lang="en-US" sz="1200" i="1" dirty="0" smtClean="0">
                <a:latin typeface="Helvetica" panose="020B0604020202020204" pitchFamily="34" charset="0"/>
                <a:ea typeface="Helvetica Neue" charset="0"/>
                <a:cs typeface="Helvetica" panose="020B0604020202020204" pitchFamily="34" charset="0"/>
              </a:rPr>
              <a:t> </a:t>
            </a:r>
            <a:r>
              <a:rPr lang="en-US" sz="1200" i="1" dirty="0">
                <a:latin typeface="Helvetica" panose="020B0604020202020204" pitchFamily="34" charset="0"/>
                <a:ea typeface="Helvetica Neue" charset="0"/>
                <a:cs typeface="Helvetica" panose="020B0604020202020204" pitchFamily="34" charset="0"/>
              </a:rPr>
              <a:t>&lt;- </a:t>
            </a:r>
            <a:r>
              <a:rPr lang="en-US" sz="1200" i="1" dirty="0" err="1">
                <a:latin typeface="Helvetica" panose="020B0604020202020204" pitchFamily="34" charset="0"/>
                <a:ea typeface="Helvetica Neue" charset="0"/>
                <a:cs typeface="Helvetica" panose="020B0604020202020204" pitchFamily="34" charset="0"/>
              </a:rPr>
              <a:t>bestglm</a:t>
            </a:r>
            <a:r>
              <a:rPr lang="en-US" sz="1200" i="1" dirty="0">
                <a:latin typeface="Helvetica" panose="020B0604020202020204" pitchFamily="34" charset="0"/>
                <a:ea typeface="Helvetica Neue" charset="0"/>
                <a:cs typeface="Helvetica" panose="020B0604020202020204" pitchFamily="34" charset="0"/>
              </a:rPr>
              <a:t>(</a:t>
            </a:r>
            <a:r>
              <a:rPr lang="en-US" sz="1200" i="1" dirty="0" err="1">
                <a:latin typeface="Helvetica" panose="020B0604020202020204" pitchFamily="34" charset="0"/>
                <a:ea typeface="Helvetica Neue" charset="0"/>
                <a:cs typeface="Helvetica" panose="020B0604020202020204" pitchFamily="34" charset="0"/>
              </a:rPr>
              <a:t>input.Xy</a:t>
            </a:r>
            <a:r>
              <a:rPr lang="en-US" sz="1200" i="1" dirty="0">
                <a:latin typeface="Helvetica" panose="020B0604020202020204" pitchFamily="34" charset="0"/>
                <a:ea typeface="Helvetica Neue" charset="0"/>
                <a:cs typeface="Helvetica" panose="020B0604020202020204" pitchFamily="34" charset="0"/>
              </a:rPr>
              <a:t>, IC=“BIC“, family=binomial)</a:t>
            </a:r>
          </a:p>
          <a:p>
            <a:pPr>
              <a:defRPr/>
            </a:pPr>
            <a:endParaRPr lang="en-US" sz="1200" i="1" dirty="0">
              <a:latin typeface="Helvetica" panose="020B0604020202020204" pitchFamily="34" charset="0"/>
              <a:ea typeface="Helvetica Neue" charset="0"/>
              <a:cs typeface="Helvetica" panose="020B0604020202020204" pitchFamily="34" charset="0"/>
            </a:endParaRPr>
          </a:p>
          <a:p>
            <a:pPr>
              <a:defRPr/>
            </a:pPr>
            <a:r>
              <a:rPr lang="en-US" sz="1200" i="1" dirty="0">
                <a:latin typeface="Helvetica" panose="020B0604020202020204" pitchFamily="34" charset="0"/>
                <a:ea typeface="Helvetica Neue" charset="0"/>
                <a:cs typeface="Helvetica" panose="020B0604020202020204" pitchFamily="34" charset="0"/>
              </a:rPr>
              <a:t>bank4 = </a:t>
            </a:r>
            <a:r>
              <a:rPr lang="en-US" sz="1200" i="1" dirty="0" err="1">
                <a:latin typeface="Helvetica" panose="020B0604020202020204" pitchFamily="34" charset="0"/>
                <a:ea typeface="Helvetica Neue" charset="0"/>
                <a:cs typeface="Helvetica" panose="020B0604020202020204" pitchFamily="34" charset="0"/>
              </a:rPr>
              <a:t>glm</a:t>
            </a:r>
            <a:r>
              <a:rPr lang="en-US" sz="1200" i="1" dirty="0">
                <a:latin typeface="Helvetica" panose="020B0604020202020204" pitchFamily="34" charset="0"/>
                <a:ea typeface="Helvetica Neue" charset="0"/>
                <a:cs typeface="Helvetica" panose="020B0604020202020204" pitchFamily="34" charset="0"/>
              </a:rPr>
              <a:t>(Bankrupt ~ RE.TA + EBIT.TA + BVE.BVL, family=binomial, </a:t>
            </a:r>
            <a:r>
              <a:rPr lang="en-US" sz="1200" i="1" dirty="0" err="1">
                <a:latin typeface="Helvetica" panose="020B0604020202020204" pitchFamily="34" charset="0"/>
                <a:ea typeface="Helvetica Neue" charset="0"/>
                <a:cs typeface="Helvetica" panose="020B0604020202020204" pitchFamily="34" charset="0"/>
              </a:rPr>
              <a:t>maxit</a:t>
            </a:r>
            <a:r>
              <a:rPr lang="en-US" sz="1200" i="1" dirty="0">
                <a:latin typeface="Helvetica" panose="020B0604020202020204" pitchFamily="34" charset="0"/>
                <a:ea typeface="Helvetica Neue" charset="0"/>
                <a:cs typeface="Helvetica" panose="020B0604020202020204" pitchFamily="34" charset="0"/>
              </a:rPr>
              <a:t>=500)</a:t>
            </a:r>
          </a:p>
          <a:p>
            <a:pPr>
              <a:defRPr/>
            </a:pPr>
            <a:r>
              <a:rPr lang="en-US" sz="1200" i="1" dirty="0">
                <a:latin typeface="Helvetica" panose="020B0604020202020204" pitchFamily="34" charset="0"/>
                <a:ea typeface="Helvetica Neue" charset="0"/>
                <a:cs typeface="Helvetica" panose="020B0604020202020204" pitchFamily="34" charset="0"/>
              </a:rPr>
              <a:t>summary(bank4)</a:t>
            </a:r>
          </a:p>
          <a:p>
            <a:pPr>
              <a:defRPr/>
            </a:pPr>
            <a:r>
              <a:rPr lang="da-DK" sz="1200" dirty="0">
                <a:latin typeface="Helvetica" panose="020B0604020202020204" pitchFamily="34" charset="0"/>
                <a:ea typeface="Helvetica Neue" charset="0"/>
                <a:cs typeface="Helvetica" panose="020B0604020202020204" pitchFamily="34" charset="0"/>
              </a:rPr>
              <a:t>Coefficients:</a:t>
            </a:r>
          </a:p>
          <a:p>
            <a:pPr>
              <a:defRPr/>
            </a:pPr>
            <a:endParaRPr lang="en-US" sz="1200" dirty="0">
              <a:solidFill>
                <a:srgbClr val="3F6CAF"/>
              </a:solidFill>
              <a:latin typeface="Helvetica" panose="020B0604020202020204" pitchFamily="34" charset="0"/>
              <a:ea typeface="Helvetica Neue" charset="0"/>
              <a:cs typeface="Helvetica" panose="020B0604020202020204" pitchFamily="34" charset="0"/>
            </a:endParaRPr>
          </a:p>
          <a:p>
            <a:pPr>
              <a:defRPr/>
            </a:pPr>
            <a:endParaRPr lang="en-US" sz="1200" dirty="0">
              <a:solidFill>
                <a:srgbClr val="3F6CAF"/>
              </a:solidFill>
              <a:latin typeface="Helvetica" panose="020B0604020202020204" pitchFamily="34" charset="0"/>
              <a:ea typeface="Helvetica Neue" charset="0"/>
              <a:cs typeface="Helvetica" panose="020B0604020202020204" pitchFamily="34" charset="0"/>
            </a:endParaRPr>
          </a:p>
          <a:p>
            <a:pPr>
              <a:defRPr/>
            </a:pPr>
            <a:endParaRPr lang="en-US" sz="1200" dirty="0">
              <a:solidFill>
                <a:srgbClr val="3F6CAF"/>
              </a:solidFill>
              <a:latin typeface="Helvetica" panose="020B0604020202020204" pitchFamily="34" charset="0"/>
              <a:ea typeface="Helvetica Neue" charset="0"/>
              <a:cs typeface="Helvetica" panose="020B0604020202020204" pitchFamily="34" charset="0"/>
            </a:endParaRPr>
          </a:p>
          <a:p>
            <a:pPr>
              <a:defRPr/>
            </a:pPr>
            <a:endParaRPr lang="en-US" sz="1200" dirty="0">
              <a:solidFill>
                <a:srgbClr val="3F6CAF"/>
              </a:solidFill>
              <a:latin typeface="Helvetica" panose="020B0604020202020204" pitchFamily="34" charset="0"/>
              <a:ea typeface="Helvetica Neue" charset="0"/>
              <a:cs typeface="Helvetica" panose="020B0604020202020204" pitchFamily="34" charset="0"/>
            </a:endParaRPr>
          </a:p>
          <a:p>
            <a:pPr>
              <a:defRPr/>
            </a:pPr>
            <a:endParaRPr lang="en-US" sz="1200" dirty="0">
              <a:solidFill>
                <a:srgbClr val="3F6CAF"/>
              </a:solidFill>
              <a:latin typeface="Helvetica" panose="020B0604020202020204" pitchFamily="34" charset="0"/>
              <a:ea typeface="Helvetica Neue" charset="0"/>
              <a:cs typeface="Helvetica" panose="020B0604020202020204" pitchFamily="34" charset="0"/>
            </a:endParaRPr>
          </a:p>
          <a:p>
            <a:pPr>
              <a:defRPr/>
            </a:pPr>
            <a:endParaRPr lang="en-US" sz="1200" dirty="0">
              <a:solidFill>
                <a:srgbClr val="3F6CAF"/>
              </a:solidFill>
              <a:latin typeface="Helvetica" panose="020B0604020202020204" pitchFamily="34" charset="0"/>
              <a:ea typeface="Helvetica Neue" charset="0"/>
              <a:cs typeface="Helvetica" panose="020B0604020202020204" pitchFamily="34" charset="0"/>
            </a:endParaRPr>
          </a:p>
          <a:p>
            <a:pPr>
              <a:defRPr/>
            </a:pPr>
            <a:r>
              <a:rPr lang="en-US" sz="1200" i="1" dirty="0">
                <a:latin typeface="Helvetica" panose="020B0604020202020204" pitchFamily="34" charset="0"/>
                <a:ea typeface="Helvetica Neue" charset="0"/>
                <a:cs typeface="Helvetica" panose="020B0604020202020204" pitchFamily="34" charset="0"/>
              </a:rPr>
              <a:t>exp(</a:t>
            </a:r>
            <a:r>
              <a:rPr lang="en-US" sz="1200" i="1" dirty="0" err="1">
                <a:latin typeface="Helvetica" panose="020B0604020202020204" pitchFamily="34" charset="0"/>
                <a:ea typeface="Helvetica Neue" charset="0"/>
                <a:cs typeface="Helvetica" panose="020B0604020202020204" pitchFamily="34" charset="0"/>
              </a:rPr>
              <a:t>coef</a:t>
            </a:r>
            <a:r>
              <a:rPr lang="en-US" sz="1200" i="1" dirty="0">
                <a:latin typeface="Helvetica" panose="020B0604020202020204" pitchFamily="34" charset="0"/>
                <a:ea typeface="Helvetica Neue" charset="0"/>
                <a:cs typeface="Helvetica" panose="020B0604020202020204" pitchFamily="34" charset="0"/>
              </a:rPr>
              <a:t>(bank2)[-1])</a:t>
            </a:r>
          </a:p>
          <a:p>
            <a:pPr>
              <a:defRPr/>
            </a:pPr>
            <a:r>
              <a:rPr lang="en-US" sz="1200" dirty="0">
                <a:latin typeface="Helvetica" panose="020B0604020202020204" pitchFamily="34" charset="0"/>
                <a:ea typeface="Helvetica Neue" charset="0"/>
                <a:cs typeface="Helvetica" panose="020B0604020202020204" pitchFamily="34" charset="0"/>
              </a:rPr>
              <a:t>      RE.TA     EBIT.TA    BVE.BVL </a:t>
            </a:r>
          </a:p>
          <a:p>
            <a:pPr>
              <a:defRPr/>
            </a:pPr>
            <a:r>
              <a:rPr lang="en-US" sz="1200" dirty="0">
                <a:latin typeface="Helvetica" panose="020B0604020202020204" pitchFamily="34" charset="0"/>
                <a:ea typeface="Helvetica Neue" charset="0"/>
                <a:cs typeface="Helvetica" panose="020B0604020202020204" pitchFamily="34" charset="0"/>
              </a:rPr>
              <a:t>0.9452862 0.8456655 0.5327273 </a:t>
            </a:r>
            <a:endParaRPr lang="en-US" sz="1200" dirty="0">
              <a:solidFill>
                <a:srgbClr val="3F6CAF"/>
              </a:solidFill>
              <a:latin typeface="Helvetica" panose="020B0604020202020204" pitchFamily="34" charset="0"/>
              <a:ea typeface="Helvetica Neue" charset="0"/>
              <a:cs typeface="Helvetica" panose="020B0604020202020204" pitchFamily="34" charset="0"/>
            </a:endParaRPr>
          </a:p>
          <a:p>
            <a:pPr>
              <a:defRPr/>
            </a:pPr>
            <a:endParaRPr lang="en-US" sz="1200" dirty="0">
              <a:solidFill>
                <a:srgbClr val="3F6CAF"/>
              </a:solidFill>
              <a:latin typeface="Helvetica" panose="020B0604020202020204" pitchFamily="34" charset="0"/>
              <a:ea typeface="Helvetica Neue" charset="0"/>
              <a:cs typeface="Helvetica" panose="020B0604020202020204" pitchFamily="34" charset="0"/>
            </a:endParaRPr>
          </a:p>
          <a:p>
            <a:pPr>
              <a:defRPr/>
            </a:pPr>
            <a:r>
              <a:rPr lang="en-US" sz="1200" i="1" dirty="0">
                <a:latin typeface="Helvetica" panose="020B0604020202020204" pitchFamily="34" charset="0"/>
                <a:ea typeface="Helvetica Neue" charset="0"/>
                <a:cs typeface="Helvetica" panose="020B0604020202020204" pitchFamily="34" charset="0"/>
              </a:rPr>
              <a:t>exp(</a:t>
            </a:r>
            <a:r>
              <a:rPr lang="en-US" sz="1200" i="1" dirty="0" err="1">
                <a:latin typeface="Helvetica" panose="020B0604020202020204" pitchFamily="34" charset="0"/>
                <a:ea typeface="Helvetica Neue" charset="0"/>
                <a:cs typeface="Helvetica" panose="020B0604020202020204" pitchFamily="34" charset="0"/>
              </a:rPr>
              <a:t>coef</a:t>
            </a:r>
            <a:r>
              <a:rPr lang="en-US" sz="1200" i="1" dirty="0">
                <a:latin typeface="Helvetica" panose="020B0604020202020204" pitchFamily="34" charset="0"/>
                <a:ea typeface="Helvetica Neue" charset="0"/>
                <a:cs typeface="Helvetica" panose="020B0604020202020204" pitchFamily="34" charset="0"/>
              </a:rPr>
              <a:t>(bank4)[-1])</a:t>
            </a:r>
          </a:p>
          <a:p>
            <a:pPr>
              <a:defRPr/>
            </a:pPr>
            <a:r>
              <a:rPr lang="da-DK" sz="1200" dirty="0">
                <a:latin typeface="Helvetica" panose="020B0604020202020204" pitchFamily="34" charset="0"/>
                <a:ea typeface="Helvetica Neue" charset="0"/>
                <a:cs typeface="Helvetica" panose="020B0604020202020204" pitchFamily="34" charset="0"/>
              </a:rPr>
              <a:t>      RE.TA     EBIT.TA   BVE.BVL </a:t>
            </a:r>
          </a:p>
          <a:p>
            <a:pPr>
              <a:defRPr/>
            </a:pPr>
            <a:r>
              <a:rPr lang="da-DK" sz="1200" dirty="0">
                <a:latin typeface="Helvetica" panose="020B0604020202020204" pitchFamily="34" charset="0"/>
                <a:ea typeface="Helvetica Neue" charset="0"/>
                <a:cs typeface="Helvetica" panose="020B0604020202020204" pitchFamily="34" charset="0"/>
              </a:rPr>
              <a:t>0.9210091 0.7650371 0.2957930 </a:t>
            </a:r>
          </a:p>
        </p:txBody>
      </p:sp>
      <p:sp>
        <p:nvSpPr>
          <p:cNvPr id="12" name="Title 1"/>
          <p:cNvSpPr txBox="1">
            <a:spLocks/>
          </p:cNvSpPr>
          <p:nvPr/>
        </p:nvSpPr>
        <p:spPr>
          <a:xfrm>
            <a:off x="96622" y="256941"/>
            <a:ext cx="8893629" cy="495618"/>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Compare All Models: Without Outlier</a:t>
            </a:r>
          </a:p>
        </p:txBody>
      </p:sp>
      <p:sp>
        <p:nvSpPr>
          <p:cNvPr id="6" name="Right Arrow 19">
            <a:extLst>
              <a:ext uri="{FF2B5EF4-FFF2-40B4-BE49-F238E27FC236}">
                <a16:creationId xmlns="" xmlns:a16="http://schemas.microsoft.com/office/drawing/2014/main" id="{E5179AEA-4431-4D87-BF78-23E80327E14A}"/>
              </a:ext>
            </a:extLst>
          </p:cNvPr>
          <p:cNvSpPr/>
          <p:nvPr/>
        </p:nvSpPr>
        <p:spPr>
          <a:xfrm>
            <a:off x="4572000" y="1414867"/>
            <a:ext cx="517890" cy="292552"/>
          </a:xfrm>
          <a:prstGeom prst="rightArrow">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7" name="TextBox 6">
            <a:extLst>
              <a:ext uri="{FF2B5EF4-FFF2-40B4-BE49-F238E27FC236}">
                <a16:creationId xmlns="" xmlns:a16="http://schemas.microsoft.com/office/drawing/2014/main" id="{55689EB0-1F49-4985-8691-9FD358150875}"/>
              </a:ext>
            </a:extLst>
          </p:cNvPr>
          <p:cNvSpPr txBox="1"/>
          <p:nvPr/>
        </p:nvSpPr>
        <p:spPr>
          <a:xfrm>
            <a:off x="5496199" y="1019679"/>
            <a:ext cx="3494051" cy="923330"/>
          </a:xfrm>
          <a:prstGeom prst="rect">
            <a:avLst/>
          </a:prstGeom>
          <a:noFill/>
          <a:ln w="19050">
            <a:solidFill>
              <a:schemeClr val="tx2"/>
            </a:solidFill>
          </a:ln>
        </p:spPr>
        <p:txBody>
          <a:bodyPr wrap="square" tIns="91440" bIns="91440" rtlCol="0" anchor="ctr" anchorCtr="0">
            <a:spAutoFit/>
          </a:bodyPr>
          <a:lstStyle/>
          <a:p>
            <a:r>
              <a:rPr lang="en-US" sz="1600" dirty="0">
                <a:latin typeface="Helvetica" charset="0"/>
                <a:ea typeface="Helvetica" charset="0"/>
                <a:cs typeface="Helvetica" charset="0"/>
              </a:rPr>
              <a:t>The best model  selected with respect to BIC: </a:t>
            </a:r>
            <a:br>
              <a:rPr lang="en-US" sz="1600" dirty="0">
                <a:latin typeface="Helvetica" charset="0"/>
                <a:ea typeface="Helvetica" charset="0"/>
                <a:cs typeface="Helvetica" charset="0"/>
              </a:rPr>
            </a:br>
            <a:r>
              <a:rPr lang="en-US" sz="1600" dirty="0">
                <a:latin typeface="Helvetica" charset="0"/>
                <a:ea typeface="Helvetica" charset="0"/>
                <a:cs typeface="Helvetica" charset="0"/>
              </a:rPr>
              <a:t>WC.TA, </a:t>
            </a:r>
            <a:r>
              <a:rPr lang="en-US" sz="1600" i="1" dirty="0">
                <a:latin typeface="Helvetica" charset="0"/>
                <a:ea typeface="Helvetica" charset="0"/>
                <a:cs typeface="Helvetica" charset="0"/>
              </a:rPr>
              <a:t>RE.TA, EBIT.TA, BVE.BVL</a:t>
            </a:r>
            <a:endParaRPr lang="en-US" sz="1600" b="1" dirty="0">
              <a:latin typeface="Helvetica" charset="0"/>
              <a:ea typeface="Helvetica" charset="0"/>
              <a:cs typeface="Helvetica" charset="0"/>
            </a:endParaRPr>
          </a:p>
        </p:txBody>
      </p:sp>
      <p:graphicFrame>
        <p:nvGraphicFramePr>
          <p:cNvPr id="3" name="Table 2">
            <a:extLst>
              <a:ext uri="{FF2B5EF4-FFF2-40B4-BE49-F238E27FC236}">
                <a16:creationId xmlns="" xmlns:a16="http://schemas.microsoft.com/office/drawing/2014/main" id="{E8855B73-6242-4C9D-9A6D-FC003C41030A}"/>
              </a:ext>
            </a:extLst>
          </p:cNvPr>
          <p:cNvGraphicFramePr>
            <a:graphicFrameLocks noGrp="1"/>
          </p:cNvGraphicFramePr>
          <p:nvPr>
            <p:extLst>
              <p:ext uri="{D42A27DB-BD31-4B8C-83A1-F6EECF244321}">
                <p14:modId xmlns:p14="http://schemas.microsoft.com/office/powerpoint/2010/main" val="3692351100"/>
              </p:ext>
            </p:extLst>
          </p:nvPr>
        </p:nvGraphicFramePr>
        <p:xfrm>
          <a:off x="128990" y="2555566"/>
          <a:ext cx="3929624" cy="978535"/>
        </p:xfrm>
        <a:graphic>
          <a:graphicData uri="http://schemas.openxmlformats.org/drawingml/2006/table">
            <a:tbl>
              <a:tblPr firstRow="1" firstCol="1" bandRow="1">
                <a:tableStyleId>{5C22544A-7EE6-4342-B048-85BDC9FD1C3A}</a:tableStyleId>
              </a:tblPr>
              <a:tblGrid>
                <a:gridCol w="883883">
                  <a:extLst>
                    <a:ext uri="{9D8B030D-6E8A-4147-A177-3AD203B41FA5}">
                      <a16:colId xmlns="" xmlns:a16="http://schemas.microsoft.com/office/drawing/2014/main" val="154106738"/>
                    </a:ext>
                  </a:extLst>
                </a:gridCol>
                <a:gridCol w="807777">
                  <a:extLst>
                    <a:ext uri="{9D8B030D-6E8A-4147-A177-3AD203B41FA5}">
                      <a16:colId xmlns="" xmlns:a16="http://schemas.microsoft.com/office/drawing/2014/main" val="1949780729"/>
                    </a:ext>
                  </a:extLst>
                </a:gridCol>
                <a:gridCol w="813805">
                  <a:extLst>
                    <a:ext uri="{9D8B030D-6E8A-4147-A177-3AD203B41FA5}">
                      <a16:colId xmlns="" xmlns:a16="http://schemas.microsoft.com/office/drawing/2014/main" val="1020368848"/>
                    </a:ext>
                  </a:extLst>
                </a:gridCol>
                <a:gridCol w="678171">
                  <a:extLst>
                    <a:ext uri="{9D8B030D-6E8A-4147-A177-3AD203B41FA5}">
                      <a16:colId xmlns="" xmlns:a16="http://schemas.microsoft.com/office/drawing/2014/main" val="2968596802"/>
                    </a:ext>
                  </a:extLst>
                </a:gridCol>
                <a:gridCol w="745988">
                  <a:extLst>
                    <a:ext uri="{9D8B030D-6E8A-4147-A177-3AD203B41FA5}">
                      <a16:colId xmlns="" xmlns:a16="http://schemas.microsoft.com/office/drawing/2014/main" val="2705893420"/>
                    </a:ext>
                  </a:extLst>
                </a:gridCol>
              </a:tblGrid>
              <a:tr h="0">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Estimate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Std. Error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z value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Pr(&gt;|z|)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153347946"/>
                  </a:ext>
                </a:extLst>
              </a:tr>
              <a:tr h="0">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(Intercept)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-0.09166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dirty="0">
                          <a:solidFill>
                            <a:schemeClr val="tx1"/>
                          </a:solidFill>
                          <a:effectLst/>
                          <a:latin typeface="Helvetica" panose="020B0604020202020204" pitchFamily="34" charset="0"/>
                          <a:cs typeface="Helvetica" panose="020B0604020202020204" pitchFamily="34" charset="0"/>
                        </a:rPr>
                        <a:t>1.47135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dirty="0">
                          <a:solidFill>
                            <a:schemeClr val="tx1"/>
                          </a:solidFill>
                          <a:effectLst/>
                          <a:latin typeface="Helvetica" panose="020B0604020202020204" pitchFamily="34" charset="0"/>
                          <a:cs typeface="Helvetica" panose="020B0604020202020204" pitchFamily="34" charset="0"/>
                        </a:rPr>
                        <a:t>-0.062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0.9503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027676568"/>
                  </a:ext>
                </a:extLst>
              </a:tr>
              <a:tr h="0">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RE.TA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-0.08229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0.04230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dirty="0">
                          <a:solidFill>
                            <a:schemeClr val="tx1"/>
                          </a:solidFill>
                          <a:effectLst/>
                          <a:latin typeface="Helvetica" panose="020B0604020202020204" pitchFamily="34" charset="0"/>
                          <a:cs typeface="Helvetica" panose="020B0604020202020204" pitchFamily="34" charset="0"/>
                        </a:rPr>
                        <a:t>-1.945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0.0517 .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4192729946"/>
                  </a:ext>
                </a:extLst>
              </a:tr>
              <a:tr h="0">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EBIT.TA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-0.26783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0.15854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dirty="0">
                          <a:solidFill>
                            <a:schemeClr val="tx1"/>
                          </a:solidFill>
                          <a:effectLst/>
                          <a:latin typeface="Helvetica" panose="020B0604020202020204" pitchFamily="34" charset="0"/>
                          <a:cs typeface="Helvetica" panose="020B0604020202020204" pitchFamily="34" charset="0"/>
                        </a:rPr>
                        <a:t>-1.689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dirty="0">
                          <a:solidFill>
                            <a:schemeClr val="tx1"/>
                          </a:solidFill>
                          <a:effectLst/>
                          <a:latin typeface="Helvetica" panose="020B0604020202020204" pitchFamily="34" charset="0"/>
                          <a:cs typeface="Helvetica" panose="020B0604020202020204" pitchFamily="34" charset="0"/>
                        </a:rPr>
                        <a:t>0.0912 .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697244287"/>
                  </a:ext>
                </a:extLst>
              </a:tr>
              <a:tr h="0">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BVE.BVL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-1.21810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0.76536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a:solidFill>
                            <a:schemeClr val="tx1"/>
                          </a:solidFill>
                          <a:effectLst/>
                          <a:latin typeface="Helvetica" panose="020B0604020202020204" pitchFamily="34" charset="0"/>
                          <a:cs typeface="Helvetica" panose="020B0604020202020204" pitchFamily="34" charset="0"/>
                        </a:rPr>
                        <a:t>-1.592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a-DK" sz="1200" b="0" dirty="0">
                          <a:solidFill>
                            <a:schemeClr val="tx1"/>
                          </a:solidFill>
                          <a:effectLst/>
                          <a:latin typeface="Helvetica" panose="020B0604020202020204" pitchFamily="34" charset="0"/>
                          <a:cs typeface="Helvetica" panose="020B0604020202020204" pitchFamily="34" charset="0"/>
                        </a:rPr>
                        <a:t>0.1115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543032203"/>
                  </a:ext>
                </a:extLst>
              </a:tr>
            </a:tbl>
          </a:graphicData>
        </a:graphic>
      </p:graphicFrame>
    </p:spTree>
    <p:custDataLst>
      <p:tags r:id="rId1"/>
    </p:custDataLst>
    <p:extLst>
      <p:ext uri="{BB962C8B-B14F-4D97-AF65-F5344CB8AC3E}">
        <p14:creationId xmlns:p14="http://schemas.microsoft.com/office/powerpoint/2010/main" val="385003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68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68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68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683">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1683">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1683">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1683">
                                            <p:txEl>
                                              <p:pRg st="16" end="1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1683">
                                            <p:txEl>
                                              <p:pRg st="17" end="1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168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extLst mod="1">
    <p:ext uri="{6950BFC3-D8DA-4A85-94F7-54DA5524770B}">
      <p188:commentRel xmlns="" xmlns:p188="http://schemas.microsoft.com/office/powerpoint/2018/8/main" r:id="rId4"/>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Text Box 3"/>
          <p:cNvSpPr txBox="1">
            <a:spLocks noChangeArrowheads="1"/>
          </p:cNvSpPr>
          <p:nvPr/>
        </p:nvSpPr>
        <p:spPr bwMode="auto">
          <a:xfrm>
            <a:off x="103937" y="975625"/>
            <a:ext cx="8059279" cy="461665"/>
          </a:xfrm>
          <a:prstGeom prst="rect">
            <a:avLst/>
          </a:prstGeom>
          <a:noFill/>
          <a:ln>
            <a:noFill/>
          </a:ln>
          <a:extLst>
            <a:ext uri="{909E8E84-426E-40dd-AFC4-6F175D3DCCD1}"/>
            <a:ext uri="{91240B29-F687-4f45-9708-019B960494DF}"/>
          </a:extLst>
        </p:spPr>
        <p:txBody>
          <a:bodyPr wrap="square">
            <a:spAutoFit/>
          </a:bodyPr>
          <a:lstStyle>
            <a:lvl1pPr>
              <a:defRPr>
                <a:solidFill>
                  <a:schemeClr val="tx1"/>
                </a:solidFill>
                <a:latin typeface="Calibri" charset="0"/>
                <a:ea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a:defRPr/>
            </a:pPr>
            <a:r>
              <a:rPr lang="en-US" sz="1200" i="1" dirty="0">
                <a:latin typeface="Helvetica" panose="020B0604020202020204" pitchFamily="34" charset="0"/>
                <a:ea typeface="Helvetica Neue" charset="0"/>
                <a:cs typeface="Helvetica" panose="020B0604020202020204" pitchFamily="34" charset="0"/>
              </a:rPr>
              <a:t>bank3.select=step(bank3, direction="backward")</a:t>
            </a:r>
          </a:p>
          <a:p>
            <a:pPr>
              <a:defRPr/>
            </a:pPr>
            <a:r>
              <a:rPr lang="en-US" sz="1200" i="1" dirty="0">
                <a:latin typeface="Helvetica" panose="020B0604020202020204" pitchFamily="34" charset="0"/>
                <a:ea typeface="Helvetica Neue" charset="0"/>
                <a:cs typeface="Helvetica" panose="020B0604020202020204" pitchFamily="34" charset="0"/>
              </a:rPr>
              <a:t>summary(bank3.select)</a:t>
            </a:r>
            <a:endParaRPr lang="da-DK" sz="1200" i="1" dirty="0">
              <a:latin typeface="Helvetica" panose="020B0604020202020204" pitchFamily="34" charset="0"/>
              <a:ea typeface="Helvetica Neue" charset="0"/>
              <a:cs typeface="Helvetica" panose="020B0604020202020204" pitchFamily="34" charset="0"/>
            </a:endParaRPr>
          </a:p>
        </p:txBody>
      </p:sp>
      <p:sp>
        <p:nvSpPr>
          <p:cNvPr id="12" name="Title 1"/>
          <p:cNvSpPr txBox="1">
            <a:spLocks/>
          </p:cNvSpPr>
          <p:nvPr/>
        </p:nvSpPr>
        <p:spPr>
          <a:xfrm>
            <a:off x="96622" y="256941"/>
            <a:ext cx="8802190" cy="461665"/>
          </a:xfrm>
          <a:prstGeom prst="rect">
            <a:avLst/>
          </a:prstGeom>
        </p:spPr>
        <p:txBody>
          <a:bodyPr/>
          <a:lstStyle>
            <a:lvl1pPr algn="l" defTabSz="457200" rtl="0" eaLnBrk="1" latinLnBrk="0" hangingPunct="1">
              <a:spcBef>
                <a:spcPct val="0"/>
              </a:spcBef>
              <a:buNone/>
              <a:defRPr lang="en-US" sz="4000" kern="1200" dirty="0">
                <a:solidFill>
                  <a:schemeClr val="tx1"/>
                </a:solidFill>
                <a:latin typeface="Vitesse Bold"/>
                <a:ea typeface="+mj-ea"/>
                <a:cs typeface="Vitesse Bold"/>
              </a:defRPr>
            </a:lvl1pPr>
          </a:lstStyle>
          <a:p>
            <a:pPr fontAlgn="auto">
              <a:lnSpc>
                <a:spcPts val="3400"/>
              </a:lnSpc>
              <a:spcAft>
                <a:spcPts val="0"/>
              </a:spcAft>
            </a:pPr>
            <a:r>
              <a:rPr lang="en-US" sz="3600" dirty="0">
                <a:latin typeface="Vitesse"/>
                <a:ea typeface="Vitesse" charset="0"/>
                <a:cs typeface="Vitesse" charset="0"/>
              </a:rPr>
              <a:t>Stepwise Regression: Without Outlier</a:t>
            </a:r>
          </a:p>
        </p:txBody>
      </p:sp>
      <p:sp>
        <p:nvSpPr>
          <p:cNvPr id="4" name="TextBox 3"/>
          <p:cNvSpPr txBox="1"/>
          <p:nvPr/>
        </p:nvSpPr>
        <p:spPr>
          <a:xfrm>
            <a:off x="96622" y="1437290"/>
            <a:ext cx="3417612" cy="646331"/>
          </a:xfrm>
          <a:prstGeom prst="rect">
            <a:avLst/>
          </a:prstGeom>
          <a:noFill/>
        </p:spPr>
        <p:txBody>
          <a:bodyPr wrap="square" rtlCol="0">
            <a:spAutoFit/>
          </a:bodyPr>
          <a:lstStyle/>
          <a:p>
            <a:pPr lvl="0">
              <a:defRPr/>
            </a:pPr>
            <a:r>
              <a:rPr lang="de-DE" sz="1200" dirty="0">
                <a:solidFill>
                  <a:prstClr val="black"/>
                </a:solidFill>
                <a:latin typeface="Helvetica" panose="020B0604020202020204" pitchFamily="34" charset="0"/>
                <a:ea typeface="Helvetica Neue" charset="0"/>
                <a:cs typeface="Helvetica" panose="020B0604020202020204" pitchFamily="34" charset="0"/>
              </a:rPr>
              <a:t>Start:  AIC=12</a:t>
            </a:r>
          </a:p>
          <a:p>
            <a:pPr lvl="0">
              <a:defRPr/>
            </a:pPr>
            <a:r>
              <a:rPr lang="de-DE" sz="1200" dirty="0">
                <a:solidFill>
                  <a:prstClr val="black"/>
                </a:solidFill>
                <a:latin typeface="Helvetica" panose="020B0604020202020204" pitchFamily="34" charset="0"/>
                <a:ea typeface="Helvetica Neue" charset="0"/>
                <a:cs typeface="Helvetica" panose="020B0604020202020204" pitchFamily="34" charset="0"/>
              </a:rPr>
              <a:t>Bankrupt ~ WC.TA + RE.TA + EBIT.TA + S.TA + BVE.BVL</a:t>
            </a:r>
          </a:p>
        </p:txBody>
      </p:sp>
      <p:sp>
        <p:nvSpPr>
          <p:cNvPr id="5" name="TextBox 4"/>
          <p:cNvSpPr txBox="1"/>
          <p:nvPr/>
        </p:nvSpPr>
        <p:spPr>
          <a:xfrm>
            <a:off x="5392188" y="1436206"/>
            <a:ext cx="3417612" cy="646331"/>
          </a:xfrm>
          <a:prstGeom prst="rect">
            <a:avLst/>
          </a:prstGeom>
          <a:noFill/>
        </p:spPr>
        <p:txBody>
          <a:bodyPr wrap="square" rtlCol="0">
            <a:spAutoFit/>
          </a:bodyPr>
          <a:lstStyle/>
          <a:p>
            <a:pPr lvl="0">
              <a:defRPr/>
            </a:pPr>
            <a:r>
              <a:rPr lang="de-DE" sz="1200" dirty="0">
                <a:solidFill>
                  <a:prstClr val="black"/>
                </a:solidFill>
                <a:latin typeface="Helvetica" panose="020B0604020202020204" pitchFamily="34" charset="0"/>
                <a:ea typeface="Helvetica Neue" charset="0"/>
                <a:cs typeface="Helvetica" panose="020B0604020202020204" pitchFamily="34" charset="0"/>
              </a:rPr>
              <a:t>Step:  AIC=10</a:t>
            </a:r>
          </a:p>
          <a:p>
            <a:pPr lvl="0">
              <a:defRPr/>
            </a:pPr>
            <a:r>
              <a:rPr lang="de-DE" sz="1200" dirty="0">
                <a:solidFill>
                  <a:prstClr val="black"/>
                </a:solidFill>
                <a:latin typeface="Helvetica" panose="020B0604020202020204" pitchFamily="34" charset="0"/>
                <a:ea typeface="Helvetica Neue" charset="0"/>
                <a:cs typeface="Helvetica" panose="020B0604020202020204" pitchFamily="34" charset="0"/>
              </a:rPr>
              <a:t>Bankrupt ~ WC.TA + RE.TA + EBIT.TA + BVE.BVL</a:t>
            </a:r>
          </a:p>
        </p:txBody>
      </p:sp>
      <p:sp>
        <p:nvSpPr>
          <p:cNvPr id="7" name="TextBox 6"/>
          <p:cNvSpPr txBox="1"/>
          <p:nvPr/>
        </p:nvSpPr>
        <p:spPr>
          <a:xfrm>
            <a:off x="5486400" y="3340286"/>
            <a:ext cx="3523744" cy="1169551"/>
          </a:xfrm>
          <a:prstGeom prst="rect">
            <a:avLst/>
          </a:prstGeom>
          <a:noFill/>
          <a:ln w="19050">
            <a:solidFill>
              <a:schemeClr val="tx2"/>
            </a:solidFill>
          </a:ln>
          <a:effectLst/>
        </p:spPr>
        <p:style>
          <a:lnRef idx="2">
            <a:schemeClr val="accent1"/>
          </a:lnRef>
          <a:fillRef idx="1">
            <a:schemeClr val="lt1"/>
          </a:fillRef>
          <a:effectRef idx="0">
            <a:schemeClr val="accent1"/>
          </a:effectRef>
          <a:fontRef idx="minor">
            <a:schemeClr val="dk1"/>
          </a:fontRef>
        </p:style>
        <p:txBody>
          <a:bodyPr wrap="square" lIns="91440" tIns="91440" rIns="91440" bIns="91440" rtlCol="0" anchor="ctr" anchorCtr="0">
            <a:spAutoFit/>
          </a:bodyPr>
          <a:lstStyle/>
          <a:p>
            <a:r>
              <a:rPr lang="en-US" sz="1600" dirty="0">
                <a:latin typeface="Helvetica" panose="020B0604020202020204" pitchFamily="34" charset="0"/>
                <a:ea typeface="Helvetica Neue" charset="0"/>
                <a:cs typeface="Helvetica" panose="020B0604020202020204" pitchFamily="34" charset="0"/>
              </a:rPr>
              <a:t>Stepwise regression selects the same four predictors as the best subset selection approach using BIC. </a:t>
            </a:r>
          </a:p>
        </p:txBody>
      </p:sp>
      <p:sp>
        <p:nvSpPr>
          <p:cNvPr id="2" name="TextBox 1">
            <a:extLst>
              <a:ext uri="{FF2B5EF4-FFF2-40B4-BE49-F238E27FC236}">
                <a16:creationId xmlns="" xmlns:a16="http://schemas.microsoft.com/office/drawing/2014/main" id="{259FF5DA-04E0-4AA7-96C8-AC13FAA98D7A}"/>
              </a:ext>
            </a:extLst>
          </p:cNvPr>
          <p:cNvSpPr txBox="1"/>
          <p:nvPr/>
        </p:nvSpPr>
        <p:spPr>
          <a:xfrm>
            <a:off x="198087" y="3560435"/>
            <a:ext cx="1026691" cy="153888"/>
          </a:xfrm>
          <a:prstGeom prst="rect">
            <a:avLst/>
          </a:prstGeom>
          <a:ln w="19050">
            <a:noFill/>
          </a:ln>
        </p:spPr>
        <p:txBody>
          <a:bodyPr vert="horz" wrap="none" lIns="0" tIns="0" rIns="182880" bIns="0" rtlCol="0" anchor="ctr" anchorCtr="0">
            <a:spAutoFit/>
          </a:bodyPr>
          <a:lstStyle/>
          <a:p>
            <a:pPr algn="l">
              <a:lnSpc>
                <a:spcPts val="1200"/>
              </a:lnSpc>
            </a:pPr>
            <a:r>
              <a:rPr lang="en-US" sz="1200" dirty="0">
                <a:solidFill>
                  <a:srgbClr val="000000"/>
                </a:solidFill>
                <a:latin typeface="Helvetica" panose="020B0604020202020204" pitchFamily="34" charset="0"/>
                <a:cs typeface="Helvetica" panose="020B0604020202020204" pitchFamily="34" charset="0"/>
              </a:rPr>
              <a:t>Coefficients:</a:t>
            </a:r>
          </a:p>
        </p:txBody>
      </p:sp>
      <p:graphicFrame>
        <p:nvGraphicFramePr>
          <p:cNvPr id="6" name="Table 5">
            <a:extLst>
              <a:ext uri="{FF2B5EF4-FFF2-40B4-BE49-F238E27FC236}">
                <a16:creationId xmlns="" xmlns:a16="http://schemas.microsoft.com/office/drawing/2014/main" id="{075915B3-C4AC-4717-8120-6C99AE4AC82B}"/>
              </a:ext>
            </a:extLst>
          </p:cNvPr>
          <p:cNvGraphicFramePr>
            <a:graphicFrameLocks noGrp="1"/>
          </p:cNvGraphicFramePr>
          <p:nvPr>
            <p:extLst>
              <p:ext uri="{D42A27DB-BD31-4B8C-83A1-F6EECF244321}">
                <p14:modId xmlns:p14="http://schemas.microsoft.com/office/powerpoint/2010/main" val="1315700562"/>
              </p:ext>
            </p:extLst>
          </p:nvPr>
        </p:nvGraphicFramePr>
        <p:xfrm>
          <a:off x="137130" y="2049211"/>
          <a:ext cx="3158620" cy="1369949"/>
        </p:xfrm>
        <a:graphic>
          <a:graphicData uri="http://schemas.openxmlformats.org/drawingml/2006/table">
            <a:tbl>
              <a:tblPr firstRow="1" firstCol="1" bandRow="1">
                <a:tableStyleId>{5C22544A-7EE6-4342-B048-85BDC9FD1C3A}</a:tableStyleId>
              </a:tblPr>
              <a:tblGrid>
                <a:gridCol w="1023586">
                  <a:extLst>
                    <a:ext uri="{9D8B030D-6E8A-4147-A177-3AD203B41FA5}">
                      <a16:colId xmlns="" xmlns:a16="http://schemas.microsoft.com/office/drawing/2014/main" val="2153288918"/>
                    </a:ext>
                  </a:extLst>
                </a:gridCol>
                <a:gridCol w="395377">
                  <a:extLst>
                    <a:ext uri="{9D8B030D-6E8A-4147-A177-3AD203B41FA5}">
                      <a16:colId xmlns="" xmlns:a16="http://schemas.microsoft.com/office/drawing/2014/main" val="871102428"/>
                    </a:ext>
                  </a:extLst>
                </a:gridCol>
                <a:gridCol w="948904">
                  <a:extLst>
                    <a:ext uri="{9D8B030D-6E8A-4147-A177-3AD203B41FA5}">
                      <a16:colId xmlns="" xmlns:a16="http://schemas.microsoft.com/office/drawing/2014/main" val="2543510956"/>
                    </a:ext>
                  </a:extLst>
                </a:gridCol>
                <a:gridCol w="790753">
                  <a:extLst>
                    <a:ext uri="{9D8B030D-6E8A-4147-A177-3AD203B41FA5}">
                      <a16:colId xmlns="" xmlns:a16="http://schemas.microsoft.com/office/drawing/2014/main" val="1125965527"/>
                    </a:ext>
                  </a:extLst>
                </a:gridCol>
              </a:tblGrid>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Df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Deviance</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AIC</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5567550"/>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S.TA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0.0000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10.000</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823245154"/>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&lt;none&gt;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0.0000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12.000</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132693522"/>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WC.TA</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9.3839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19.384</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93539281"/>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RE.TA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10.7362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20.736</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4057075899"/>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EBIT.TA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14.7992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24.799</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705371330"/>
                  </a:ext>
                </a:extLst>
              </a:tr>
              <a:tr h="0">
                <a:tc>
                  <a:txBody>
                    <a:bodyPr/>
                    <a:lstStyle/>
                    <a:p>
                      <a:pPr marL="0" marR="0">
                        <a:lnSpc>
                          <a:spcPct val="107000"/>
                        </a:lnSpc>
                        <a:spcBef>
                          <a:spcPts val="0"/>
                        </a:spcBef>
                        <a:spcAft>
                          <a:spcPts val="0"/>
                        </a:spcAft>
                      </a:pPr>
                      <a:r>
                        <a:rPr lang="de-DE" sz="1200" b="0" dirty="0">
                          <a:solidFill>
                            <a:schemeClr val="tx1"/>
                          </a:solidFill>
                          <a:effectLst/>
                          <a:latin typeface="Helvetica" panose="020B0604020202020204" pitchFamily="34" charset="0"/>
                          <a:cs typeface="Helvetica" panose="020B0604020202020204" pitchFamily="34" charset="0"/>
                        </a:rPr>
                        <a:t>- BVE.BVL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19.0267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dirty="0">
                          <a:solidFill>
                            <a:schemeClr val="tx1"/>
                          </a:solidFill>
                          <a:effectLst/>
                          <a:latin typeface="Helvetica" panose="020B0604020202020204" pitchFamily="34" charset="0"/>
                          <a:cs typeface="Helvetica" panose="020B0604020202020204" pitchFamily="34" charset="0"/>
                        </a:rPr>
                        <a:t>29.027</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856206614"/>
                  </a:ext>
                </a:extLst>
              </a:tr>
            </a:tbl>
          </a:graphicData>
        </a:graphic>
      </p:graphicFrame>
      <p:graphicFrame>
        <p:nvGraphicFramePr>
          <p:cNvPr id="9" name="Table 8">
            <a:extLst>
              <a:ext uri="{FF2B5EF4-FFF2-40B4-BE49-F238E27FC236}">
                <a16:creationId xmlns="" xmlns:a16="http://schemas.microsoft.com/office/drawing/2014/main" id="{BF54A814-2EC1-4D0A-A083-EB3DF8E20982}"/>
              </a:ext>
            </a:extLst>
          </p:cNvPr>
          <p:cNvGraphicFramePr>
            <a:graphicFrameLocks noGrp="1"/>
          </p:cNvGraphicFramePr>
          <p:nvPr>
            <p:extLst>
              <p:ext uri="{D42A27DB-BD31-4B8C-83A1-F6EECF244321}">
                <p14:modId xmlns:p14="http://schemas.microsoft.com/office/powerpoint/2010/main" val="1771370357"/>
              </p:ext>
            </p:extLst>
          </p:nvPr>
        </p:nvGraphicFramePr>
        <p:xfrm>
          <a:off x="5416465" y="2018719"/>
          <a:ext cx="2902148" cy="1174242"/>
        </p:xfrm>
        <a:graphic>
          <a:graphicData uri="http://schemas.openxmlformats.org/drawingml/2006/table">
            <a:tbl>
              <a:tblPr firstRow="1" firstCol="1" bandRow="1">
                <a:tableStyleId>{5C22544A-7EE6-4342-B048-85BDC9FD1C3A}</a:tableStyleId>
              </a:tblPr>
              <a:tblGrid>
                <a:gridCol w="940473">
                  <a:extLst>
                    <a:ext uri="{9D8B030D-6E8A-4147-A177-3AD203B41FA5}">
                      <a16:colId xmlns="" xmlns:a16="http://schemas.microsoft.com/office/drawing/2014/main" val="2996114145"/>
                    </a:ext>
                  </a:extLst>
                </a:gridCol>
                <a:gridCol w="363274">
                  <a:extLst>
                    <a:ext uri="{9D8B030D-6E8A-4147-A177-3AD203B41FA5}">
                      <a16:colId xmlns="" xmlns:a16="http://schemas.microsoft.com/office/drawing/2014/main" val="949758539"/>
                    </a:ext>
                  </a:extLst>
                </a:gridCol>
                <a:gridCol w="871855">
                  <a:extLst>
                    <a:ext uri="{9D8B030D-6E8A-4147-A177-3AD203B41FA5}">
                      <a16:colId xmlns="" xmlns:a16="http://schemas.microsoft.com/office/drawing/2014/main" val="2470861947"/>
                    </a:ext>
                  </a:extLst>
                </a:gridCol>
                <a:gridCol w="726546">
                  <a:extLst>
                    <a:ext uri="{9D8B030D-6E8A-4147-A177-3AD203B41FA5}">
                      <a16:colId xmlns="" xmlns:a16="http://schemas.microsoft.com/office/drawing/2014/main" val="3335681608"/>
                    </a:ext>
                  </a:extLst>
                </a:gridCol>
              </a:tblGrid>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Df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Deviance</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AIC</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445654752"/>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&lt;none&gt;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0.0000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10.000</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847364294"/>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WC.TA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9.3841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17.384</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962032945"/>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RE.TA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12.8531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20.853</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129012595"/>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EBIT.TA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14.8672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22.867</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322242263"/>
                  </a:ext>
                </a:extLst>
              </a:tr>
              <a:tr h="0">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 BVE.BVL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a:solidFill>
                            <a:schemeClr val="tx1"/>
                          </a:solidFill>
                          <a:effectLst/>
                          <a:latin typeface="Helvetica" panose="020B0604020202020204" pitchFamily="34" charset="0"/>
                          <a:cs typeface="Helvetica" panose="020B0604020202020204" pitchFamily="34" charset="0"/>
                        </a:rPr>
                        <a:t>19.1321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de-DE" sz="1200" b="0" dirty="0">
                          <a:solidFill>
                            <a:schemeClr val="tx1"/>
                          </a:solidFill>
                          <a:effectLst/>
                          <a:latin typeface="Helvetica" panose="020B0604020202020204" pitchFamily="34" charset="0"/>
                          <a:cs typeface="Helvetica" panose="020B0604020202020204" pitchFamily="34" charset="0"/>
                        </a:rPr>
                        <a:t>27.132</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984216372"/>
                  </a:ext>
                </a:extLst>
              </a:tr>
            </a:tbl>
          </a:graphicData>
        </a:graphic>
      </p:graphicFrame>
      <p:graphicFrame>
        <p:nvGraphicFramePr>
          <p:cNvPr id="11" name="Table 10">
            <a:extLst>
              <a:ext uri="{FF2B5EF4-FFF2-40B4-BE49-F238E27FC236}">
                <a16:creationId xmlns="" xmlns:a16="http://schemas.microsoft.com/office/drawing/2014/main" id="{2F307C0B-FF49-48EE-9892-DF042118D55A}"/>
              </a:ext>
            </a:extLst>
          </p:cNvPr>
          <p:cNvGraphicFramePr>
            <a:graphicFrameLocks noGrp="1"/>
          </p:cNvGraphicFramePr>
          <p:nvPr>
            <p:extLst>
              <p:ext uri="{D42A27DB-BD31-4B8C-83A1-F6EECF244321}">
                <p14:modId xmlns:p14="http://schemas.microsoft.com/office/powerpoint/2010/main" val="1907524231"/>
              </p:ext>
            </p:extLst>
          </p:nvPr>
        </p:nvGraphicFramePr>
        <p:xfrm>
          <a:off x="133856" y="3763567"/>
          <a:ext cx="4068201" cy="1174242"/>
        </p:xfrm>
        <a:graphic>
          <a:graphicData uri="http://schemas.openxmlformats.org/drawingml/2006/table">
            <a:tbl>
              <a:tblPr firstRow="1" firstCol="1" bandRow="1">
                <a:tableStyleId>{5C22544A-7EE6-4342-B048-85BDC9FD1C3A}</a:tableStyleId>
              </a:tblPr>
              <a:tblGrid>
                <a:gridCol w="915801">
                  <a:extLst>
                    <a:ext uri="{9D8B030D-6E8A-4147-A177-3AD203B41FA5}">
                      <a16:colId xmlns="" xmlns:a16="http://schemas.microsoft.com/office/drawing/2014/main" val="4011454805"/>
                    </a:ext>
                  </a:extLst>
                </a:gridCol>
                <a:gridCol w="788100">
                  <a:extLst>
                    <a:ext uri="{9D8B030D-6E8A-4147-A177-3AD203B41FA5}">
                      <a16:colId xmlns="" xmlns:a16="http://schemas.microsoft.com/office/drawing/2014/main" val="1960856221"/>
                    </a:ext>
                  </a:extLst>
                </a:gridCol>
                <a:gridCol w="985125">
                  <a:extLst>
                    <a:ext uri="{9D8B030D-6E8A-4147-A177-3AD203B41FA5}">
                      <a16:colId xmlns="" xmlns:a16="http://schemas.microsoft.com/office/drawing/2014/main" val="3676208145"/>
                    </a:ext>
                  </a:extLst>
                </a:gridCol>
                <a:gridCol w="656750">
                  <a:extLst>
                    <a:ext uri="{9D8B030D-6E8A-4147-A177-3AD203B41FA5}">
                      <a16:colId xmlns="" xmlns:a16="http://schemas.microsoft.com/office/drawing/2014/main" val="3124208823"/>
                    </a:ext>
                  </a:extLst>
                </a:gridCol>
                <a:gridCol w="722425">
                  <a:extLst>
                    <a:ext uri="{9D8B030D-6E8A-4147-A177-3AD203B41FA5}">
                      <a16:colId xmlns="" xmlns:a16="http://schemas.microsoft.com/office/drawing/2014/main" val="1525938539"/>
                    </a:ext>
                  </a:extLst>
                </a:gridCol>
              </a:tblGrid>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Estimate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Std. Error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z value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Pr(&gt;|z|)</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3885471422"/>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(Intercept)</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255.413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728539.823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1</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316428015"/>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WC.TA</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-9.542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23920.936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1</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548200862"/>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RE.TA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-5.152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15669.825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1</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348155233"/>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EBIT.TA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-28.983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90578.211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1</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2344097138"/>
                  </a:ext>
                </a:extLst>
              </a:tr>
              <a:tr h="0">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BVE.BVL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-103.614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dirty="0">
                          <a:solidFill>
                            <a:schemeClr val="tx1"/>
                          </a:solidFill>
                          <a:effectLst/>
                          <a:latin typeface="Helvetica" panose="020B0604020202020204" pitchFamily="34" charset="0"/>
                          <a:cs typeface="Helvetica" panose="020B0604020202020204" pitchFamily="34" charset="0"/>
                        </a:rPr>
                        <a:t>225264.760       </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a:solidFill>
                            <a:schemeClr val="tx1"/>
                          </a:solidFill>
                          <a:effectLst/>
                          <a:latin typeface="Helvetica" panose="020B0604020202020204" pitchFamily="34" charset="0"/>
                          <a:cs typeface="Helvetica" panose="020B0604020202020204" pitchFamily="34" charset="0"/>
                        </a:rPr>
                        <a:t>0        </a:t>
                      </a:r>
                      <a:endParaRPr lang="en-US" sz="12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200" b="0" dirty="0">
                          <a:solidFill>
                            <a:schemeClr val="tx1"/>
                          </a:solidFill>
                          <a:effectLst/>
                          <a:latin typeface="Helvetica" panose="020B0604020202020204" pitchFamily="34" charset="0"/>
                          <a:cs typeface="Helvetica" panose="020B0604020202020204" pitchFamily="34" charset="0"/>
                        </a:rPr>
                        <a:t>1</a:t>
                      </a:r>
                      <a:endParaRPr lang="en-US" sz="12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 xmlns:a16="http://schemas.microsoft.com/office/drawing/2014/main" val="1475942935"/>
                  </a:ext>
                </a:extLst>
              </a:tr>
            </a:tbl>
          </a:graphicData>
        </a:graphic>
      </p:graphicFrame>
    </p:spTree>
    <p:custDataLst>
      <p:tags r:id="rId1"/>
    </p:custDataLst>
    <p:extLst>
      <p:ext uri="{BB962C8B-B14F-4D97-AF65-F5344CB8AC3E}">
        <p14:creationId xmlns:p14="http://schemas.microsoft.com/office/powerpoint/2010/main" val="2178660922"/>
      </p:ext>
    </p:extLst>
  </p:cSld>
  <p:clrMapOvr>
    <a:masterClrMapping/>
  </p:clrMapOvr>
  <p:extLst mod="1">
    <p:ext uri="{6950BFC3-D8DA-4A85-94F7-54DA5524770B}">
      <p188:commentRel xmlns="" xmlns:p188="http://schemas.microsoft.com/office/powerpoint/2018/8/main" r:id="rId4"/>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05196" y="147217"/>
            <a:ext cx="4727575" cy="795337"/>
          </a:xfrm>
        </p:spPr>
        <p:txBody>
          <a:bodyPr>
            <a:normAutofit/>
          </a:bodyPr>
          <a:lstStyle/>
          <a:p>
            <a:pPr>
              <a:spcBef>
                <a:spcPct val="0"/>
              </a:spcBef>
            </a:pPr>
            <a:r>
              <a:rPr lang="en-US" sz="3600" dirty="0">
                <a:latin typeface="Vitesse" charset="0"/>
                <a:ea typeface="Vitesse" charset="0"/>
                <a:cs typeface="Vitesse" charset="0"/>
              </a:rPr>
              <a:t>Summary</a:t>
            </a:r>
          </a:p>
        </p:txBody>
      </p:sp>
      <p:pic>
        <p:nvPicPr>
          <p:cNvPr id="3" name="Picture 2"/>
          <p:cNvPicPr>
            <a:picLocks noChangeAspect="1"/>
          </p:cNvPicPr>
          <p:nvPr/>
        </p:nvPicPr>
        <p:blipFill rotWithShape="1">
          <a:blip r:embed="rId3" cstate="print">
            <a:extLst>
              <a:ext uri="{28A0092B-C50C-407E-A947-70E740481C1C}">
                <a14:useLocalDpi xmlns:a14="http://schemas.microsoft.com/office/drawing/2010/main" val="0"/>
              </a:ext>
            </a:extLst>
          </a:blip>
          <a:srcRect l="7759" t="6607" r="13881" b="7744"/>
          <a:stretch/>
        </p:blipFill>
        <p:spPr>
          <a:xfrm>
            <a:off x="3236327" y="1171154"/>
            <a:ext cx="2573755" cy="2813176"/>
          </a:xfrm>
          <a:prstGeom prst="rect">
            <a:avLst/>
          </a:prstGeom>
        </p:spPr>
      </p:pic>
    </p:spTree>
    <p:custDataLst>
      <p:tags r:id="rId1"/>
    </p:custDataLst>
    <p:extLst>
      <p:ext uri="{BB962C8B-B14F-4D97-AF65-F5344CB8AC3E}">
        <p14:creationId xmlns:p14="http://schemas.microsoft.com/office/powerpoint/2010/main" val="3901965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DESIGN_ID_THEMEGTX" val="svH6fsdd"/>
  <p:tag name="ARTICULATE_DESIGN_ID_FULL PAGE LAYOUT" val="DUHUtUSo"/>
  <p:tag name="ARTICULATE_DESIGN_ID_3_OFFICE THEME" val="WDiyYaMt"/>
  <p:tag name="ARTICULATE_DESIGN_ID_2_OFFICE THEME" val="N5HDSX7J"/>
  <p:tag name="ARTICULATE_DESIGN_ID_4_FULL PAGE LAYOUT" val="f1RCcKOy"/>
  <p:tag name="ARTICULATE_DESIGN_ID_1_HALF PAGE SLASH" val="hVnDmasN"/>
  <p:tag name="ARTICULATE_DESIGN_ID_2_HALF PAGE SLASH" val="X0nG4tpI"/>
  <p:tag name="ARTICULATE_DESIGN_ID_1_FULL PAGE LAYOUT" val="4IlP1NrE"/>
  <p:tag name="ARTICULATE_SLIDE_COUNT" val="1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2.xml><?xml version="1.0" encoding="utf-8"?>
<a:theme xmlns:a="http://schemas.openxmlformats.org/drawingml/2006/main" name="2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3.xml><?xml version="1.0" encoding="utf-8"?>
<a:theme xmlns:a="http://schemas.openxmlformats.org/drawingml/2006/main" name="1_Full Page Layou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16D43FDACDF02458C96071D7628C880" ma:contentTypeVersion="4" ma:contentTypeDescription="Create a new document." ma:contentTypeScope="" ma:versionID="93db545676783a71a92c456b471b0a8b">
  <xsd:schema xmlns:xsd="http://www.w3.org/2001/XMLSchema" xmlns:xs="http://www.w3.org/2001/XMLSchema" xmlns:p="http://schemas.microsoft.com/office/2006/metadata/properties" xmlns:ns1="http://schemas.microsoft.com/sharepoint/v3" xmlns:ns2="b057fda7-913b-4ab6-8820-932873bcd66c" targetNamespace="http://schemas.microsoft.com/office/2006/metadata/properties" ma:root="true" ma:fieldsID="1e1586ca1b53aa448b4e9fddfe24baf2" ns1:_="" ns2:_="">
    <xsd:import namespace="http://schemas.microsoft.com/sharepoint/v3"/>
    <xsd:import namespace="b057fda7-913b-4ab6-8820-932873bcd66c"/>
    <xsd:element name="properties">
      <xsd:complexType>
        <xsd:sequence>
          <xsd:element name="documentManagement">
            <xsd:complexType>
              <xsd:all>
                <xsd:element ref="ns1:PublishingStartDate" minOccurs="0"/>
                <xsd:element ref="ns1:PublishingExpirationDate" minOccurs="0"/>
                <xsd:element ref="ns2:SharedWithUsers" minOccurs="0"/>
                <xsd:element ref="ns2:SharingHintHash"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057fda7-913b-4ab6-8820-932873bcd66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11" nillable="true" ma:displayName="Sharing Hint Hash" ma:internalName="SharingHintHash" ma:readOnly="true">
      <xsd:simpleType>
        <xsd:restriction base="dms:Text"/>
      </xsd:simple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066AAC9-B2D0-46BD-87E7-92BBFA7E1062}">
  <ds:schemaRefs>
    <ds:schemaRef ds:uri="b057fda7-913b-4ab6-8820-932873bcd66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0B8D62D-BE99-40AF-BF97-BFAE812B12CE}">
  <ds:schemaRef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http://schemas.microsoft.com/sharepoint/v3"/>
    <ds:schemaRef ds:uri="http://purl.org/dc/terms/"/>
    <ds:schemaRef ds:uri="http://schemas.openxmlformats.org/package/2006/metadata/core-properties"/>
    <ds:schemaRef ds:uri="b057fda7-913b-4ab6-8820-932873bcd66c"/>
    <ds:schemaRef ds:uri="http://www.w3.org/XML/1998/namespace"/>
  </ds:schemaRefs>
</ds:datastoreItem>
</file>

<file path=customXml/itemProps3.xml><?xml version="1.0" encoding="utf-8"?>
<ds:datastoreItem xmlns:ds="http://schemas.openxmlformats.org/officeDocument/2006/customXml" ds:itemID="{F28EF043-B0E6-49AE-B312-D395614284A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489</TotalTime>
  <Words>1488</Words>
  <Application>Microsoft Office PowerPoint</Application>
  <PresentationFormat>On-screen Show (16:9)</PresentationFormat>
  <Paragraphs>601</Paragraphs>
  <Slides>14</Slides>
  <Notes>11</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14</vt:i4>
      </vt:variant>
    </vt:vector>
  </HeadingPairs>
  <TitlesOfParts>
    <vt:vector size="31" baseType="lpstr">
      <vt:lpstr>MS PGothic</vt:lpstr>
      <vt:lpstr>宋体</vt:lpstr>
      <vt:lpstr>Arial</vt:lpstr>
      <vt:lpstr>Calibri</vt:lpstr>
      <vt:lpstr>Cambria Math</vt:lpstr>
      <vt:lpstr>Helvetica</vt:lpstr>
      <vt:lpstr>Helvetica Neue</vt:lpstr>
      <vt:lpstr>Source Sans Pro Semibold</vt:lpstr>
      <vt:lpstr>Symbol</vt:lpstr>
      <vt:lpstr>Vitesse</vt:lpstr>
      <vt:lpstr>Vitesse Bold</vt:lpstr>
      <vt:lpstr>Vitesse Book</vt:lpstr>
      <vt:lpstr>Vitesse Medium</vt:lpstr>
      <vt:lpstr>Wingdings</vt:lpstr>
      <vt:lpstr>1_Half Page Slash</vt:lpstr>
      <vt:lpstr>2_Half Page Slash</vt:lpstr>
      <vt:lpstr>1_Full Page Layout</vt:lpstr>
      <vt:lpstr>PowerPoint Presentation</vt:lpstr>
      <vt:lpstr>PowerPoint Presentation</vt:lpstr>
      <vt:lpstr>Ranking States by SAT Performance</vt:lpstr>
      <vt:lpstr>PowerPoint Presentation</vt:lpstr>
      <vt:lpstr>PowerPoint Presentation</vt:lpstr>
      <vt:lpstr>PowerPoint Presentation</vt:lpstr>
      <vt:lpstr>PowerPoint Presentation</vt:lpstr>
      <vt:lpstr>Predicting Bankruptcy</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Serban, Nicoleta</dc:creator>
  <cp:lastModifiedBy>Aymee Garcia</cp:lastModifiedBy>
  <cp:revision>39</cp:revision>
  <dcterms:modified xsi:type="dcterms:W3CDTF">2021-06-08T06:40:56Z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0x010100E16D43FDACDF02458C96071D7628C880</vt:lpwstr>
  </property>
  <property fmtid="{D5CDD505-2E9C-101B-9397-08002B2CF9AE}" pid="3" name="ArticulateGUID">
    <vt:lpwstr>BC840BA0-6260-4618-9A5E-DE74B42EF63A</vt:lpwstr>
  </property>
  <property fmtid="{D5CDD505-2E9C-101B-9397-08002B2CF9AE}" pid="4" name="ArticulatePath">
    <vt:lpwstr>05-ModSel_Concept-L5_revised v051220</vt:lpwstr>
  </property>
</Properties>
</file>