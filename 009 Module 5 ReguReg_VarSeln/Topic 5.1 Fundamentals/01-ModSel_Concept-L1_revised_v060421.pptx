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heme/theme2.xml" ContentType="application/vnd.openxmlformats-officedocument.theme+xml"/>
  <Override PartName="/ppt/tags/tag11.xml" ContentType="application/vnd.openxmlformats-officedocument.presentationml.tags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heme/theme4.xml" ContentType="application/vnd.openxmlformats-officedocument.theme+xml"/>
  <Override PartName="/ppt/theme/theme5.xml" ContentType="application/vnd.openxmlformats-officedocument.them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1.xml" ContentType="application/vnd.openxmlformats-officedocument.presentationml.notesSlide+xml"/>
  <Override PartName="/ppt/tags/tag22.xml" ContentType="application/vnd.openxmlformats-officedocument.presentationml.tags+xml"/>
  <Override PartName="/ppt/notesSlides/notesSlide2.xml" ContentType="application/vnd.openxmlformats-officedocument.presentationml.notesSlide+xml"/>
  <Override PartName="/ppt/tags/tag23.xml" ContentType="application/vnd.openxmlformats-officedocument.presentationml.tags+xml"/>
  <Override PartName="/ppt/notesSlides/notesSlide3.xml" ContentType="application/vnd.openxmlformats-officedocument.presentationml.notesSlide+xml"/>
  <Override PartName="/ppt/tags/tag24.xml" ContentType="application/vnd.openxmlformats-officedocument.presentationml.tags+xml"/>
  <Override PartName="/ppt/notesSlides/notesSlide4.xml" ContentType="application/vnd.openxmlformats-officedocument.presentationml.notesSlide+xml"/>
  <Override PartName="/ppt/tags/tag2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omments/modernComment_1B7_52661817.xml" ContentType="application/vnd.ms-powerpoint.comment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0" r:id="rId4"/>
    <p:sldMasterId id="2147483718" r:id="rId5"/>
    <p:sldMasterId id="2147483719" r:id="rId6"/>
  </p:sldMasterIdLst>
  <p:notesMasterIdLst>
    <p:notesMasterId r:id="rId14"/>
  </p:notesMasterIdLst>
  <p:handoutMasterIdLst>
    <p:handoutMasterId r:id="rId15"/>
  </p:handoutMasterIdLst>
  <p:sldIdLst>
    <p:sldId id="489" r:id="rId7"/>
    <p:sldId id="498" r:id="rId8"/>
    <p:sldId id="439" r:id="rId9"/>
    <p:sldId id="446" r:id="rId10"/>
    <p:sldId id="471" r:id="rId11"/>
    <p:sldId id="497" r:id="rId12"/>
    <p:sldId id="344" r:id="rId13"/>
  </p:sldIdLst>
  <p:sldSz cx="9144000" cy="5143500" type="screen16x9"/>
  <p:notesSz cx="6858000" cy="9144000"/>
  <p:custDataLst>
    <p:tags r:id="rId16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C567BE6-4E2E-2A45-BD72-59F9659A3211}">
          <p14:sldIdLst>
            <p14:sldId id="489"/>
            <p14:sldId id="498"/>
            <p14:sldId id="439"/>
            <p14:sldId id="446"/>
            <p14:sldId id="471"/>
            <p14:sldId id="497"/>
            <p14:sldId id="34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pos="120" userDrawn="1">
          <p15:clr>
            <a:srgbClr val="A4A3A4"/>
          </p15:clr>
        </p15:guide>
        <p15:guide id="4" pos="312" userDrawn="1">
          <p15:clr>
            <a:srgbClr val="A4A3A4"/>
          </p15:clr>
        </p15:guide>
        <p15:guide id="5" pos="3456" userDrawn="1">
          <p15:clr>
            <a:srgbClr val="A4A3A4"/>
          </p15:clr>
        </p15:guide>
        <p15:guide id="6" pos="5664" userDrawn="1">
          <p15:clr>
            <a:srgbClr val="A4A3A4"/>
          </p15:clr>
        </p15:guide>
        <p15:guide id="7" orient="horz" pos="396" userDrawn="1">
          <p15:clr>
            <a:srgbClr val="A4A3A4"/>
          </p15:clr>
        </p15:guide>
        <p15:guide id="8" orient="horz" pos="732" userDrawn="1">
          <p15:clr>
            <a:srgbClr val="A4A3A4"/>
          </p15:clr>
        </p15:guide>
        <p15:guide id="9" orient="horz" pos="313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E6B6AFC-8BFD-806F-D3AF-75EF9FEA13C7}" name="Richard Levine" initials="RL" userId="Richard Levine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igueroa, Shabana" initials="FS" lastIdx="16" clrIdx="0"/>
  <p:cmAuthor id="2" name="Figueroa, Shabana" initials="FS [2]" lastIdx="1" clrIdx="1"/>
  <p:cmAuthor id="3" name="Serban, Nicoleta" initials="SN" lastIdx="11" clrIdx="2"/>
  <p:cmAuthor id="4" name="Hu, Rui" initials="HR" lastIdx="1" clrIdx="3"/>
  <p:cmAuthor id="5" name="Hu, Rui" initials="HR [2]" lastIdx="1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97D"/>
    <a:srgbClr val="3F6CAF"/>
    <a:srgbClr val="8E4221"/>
    <a:srgbClr val="984807"/>
    <a:srgbClr val="993200"/>
    <a:srgbClr val="F8FFF1"/>
    <a:srgbClr val="EEB211"/>
    <a:srgbClr val="000000"/>
    <a:srgbClr val="F7FFEE"/>
    <a:srgbClr val="F5FC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66" autoAdjust="0"/>
    <p:restoredTop sz="89858" autoAdjust="0"/>
  </p:normalViewPr>
  <p:slideViewPr>
    <p:cSldViewPr snapToGrid="0">
      <p:cViewPr varScale="1">
        <p:scale>
          <a:sx n="101" d="100"/>
          <a:sy n="101" d="100"/>
        </p:scale>
        <p:origin x="1157" y="67"/>
      </p:cViewPr>
      <p:guideLst>
        <p:guide orient="horz" pos="1620"/>
        <p:guide pos="2880"/>
        <p:guide pos="120"/>
        <p:guide pos="312"/>
        <p:guide pos="3456"/>
        <p:guide pos="5664"/>
        <p:guide orient="horz" pos="396"/>
        <p:guide orient="horz" pos="732"/>
        <p:guide orient="horz" pos="313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commentAuthors" Target="commentAuthors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tags" Target="tags/tag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4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notesMaster" Target="notesMasters/notesMaster1.xml"/></Relationships>
</file>

<file path=ppt/comments/modernComment_1B7_5266181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1CC5A33-C765-4E6B-8EEA-F2CAA29401C1}" authorId="{0E6B6AFC-8BFD-806F-D3AF-75EF9FEA13C7}" created="2020-04-23T18:04:59.039">
    <pc:sldMkLst xmlns:pc="http://schemas.microsoft.com/office/powerpoint/2013/main/command">
      <pc:docMk/>
      <pc:sldMk cId="1382422551" sldId="439"/>
    </pc:sldMkLst>
    <p188:txBody>
      <a:bodyPr/>
      <a:lstStyle/>
      <a:p>
        <a:r>
          <a:rPr lang="en-US"/>
          <a:t>The use of "objectives" in three different places (originally) is a bit confusing. The title objectives are addressing the concerns raised in the bullet points, which themselves aren't objedtives. In the third bullet point, objective is either prediction or explanatory. I changed the final "objectives" in the final line to "concerns," but you might consider further changes.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DFD447-ACB1-BC49-B8EF-23729E0A333F}" type="datetimeFigureOut">
              <a:rPr lang="en-US" smtClean="0"/>
              <a:t>6/4/2021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EF598F-7A46-204A-ADDD-A1229C86B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1738FA-185A-CF4F-BD02-7990310E47F3}" type="datetimeFigureOut">
              <a:rPr lang="en-US" smtClean="0"/>
              <a:t>6/4/2021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3F7A93-C87A-E149-BF89-5D793380F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E0AC54-004F-48AD-88CD-0E7DEA96DBE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1122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E0AC54-004F-48AD-88CD-0E7DEA96DBE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8806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E0AC54-004F-48AD-88CD-0E7DEA96DBE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9653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E0AC54-004F-48AD-88CD-0E7DEA96DBE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9208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13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14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15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16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17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1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27462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5520941" cy="993775"/>
          </a:xfrm>
          <a:prstGeom prst="rect">
            <a:avLst/>
          </a:prstGeom>
        </p:spPr>
        <p:txBody>
          <a:bodyPr/>
          <a:lstStyle>
            <a:lvl1pPr algn="l">
              <a:defRPr lang="en-US" sz="44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628649" y="1436688"/>
            <a:ext cx="4375430" cy="2994025"/>
          </a:xfrm>
          <a:prstGeom prst="rect">
            <a:avLst/>
          </a:prstGeom>
        </p:spPr>
        <p:txBody>
          <a:bodyPr/>
          <a:lstStyle>
            <a:lvl1pPr>
              <a:defRPr>
                <a:latin typeface="Vitesse Book" charset="0"/>
                <a:ea typeface="Vitesse Book" charset="0"/>
                <a:cs typeface="Vitesse Book" charset="0"/>
              </a:defRPr>
            </a:lvl1pPr>
            <a:lvl2pPr>
              <a:defRPr>
                <a:latin typeface="Vitesse Book" charset="0"/>
                <a:ea typeface="Vitesse Book" charset="0"/>
                <a:cs typeface="Vitesse Book" charset="0"/>
              </a:defRPr>
            </a:lvl2pPr>
            <a:lvl3pPr>
              <a:defRPr>
                <a:latin typeface="Vitesse Book" charset="0"/>
                <a:ea typeface="Vitesse Book" charset="0"/>
                <a:cs typeface="Vitesse Book" charset="0"/>
              </a:defRPr>
            </a:lvl3pPr>
            <a:lvl4pPr>
              <a:defRPr>
                <a:latin typeface="Vitesse Book" charset="0"/>
                <a:ea typeface="Vitesse Book" charset="0"/>
                <a:cs typeface="Vitesse Book" charset="0"/>
              </a:defRPr>
            </a:lvl4pPr>
            <a:lvl5pPr>
              <a:defRPr>
                <a:latin typeface="Vitesse Book" charset="0"/>
                <a:ea typeface="Vitesse Book" charset="0"/>
                <a:cs typeface="Vitesse Book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917376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002E78-3C88-9A40-B579-FA4DB2691E4F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rPr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17558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9781188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34F0668-60AC-E24C-8E50-B74DE0FA4F02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rPr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69878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9" y="274679"/>
            <a:ext cx="6182318" cy="993775"/>
          </a:xfrm>
          <a:prstGeom prst="rect">
            <a:avLst/>
          </a:prstGeom>
        </p:spPr>
        <p:txBody>
          <a:bodyPr/>
          <a:lstStyle>
            <a:lvl1pPr algn="l">
              <a:defRPr lang="en-US" sz="3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35164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56347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Full P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52347" y="1268453"/>
            <a:ext cx="8449503" cy="3286125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 </a:t>
            </a:r>
          </a:p>
          <a:p>
            <a:r>
              <a:rPr lang="en-US" sz="1800" dirty="0"/>
              <a:t>of the printing and typesetting industry. </a:t>
            </a:r>
            <a:r>
              <a:rPr lang="en-US" sz="1800" dirty="0" err="1"/>
              <a:t>Lorem</a:t>
            </a:r>
            <a:r>
              <a:rPr lang="en-US" sz="1800" dirty="0"/>
              <a:t> </a:t>
            </a:r>
            <a:r>
              <a:rPr lang="en-US" sz="1800" dirty="0" err="1"/>
              <a:t>Ipsum</a:t>
            </a:r>
            <a:r>
              <a:rPr lang="en-US" sz="1800" dirty="0"/>
              <a:t> has been the industry's standard dummy text ever since the 1500s, when an unknown printer took a galley of type and scrambled it to make a type specimen book. 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449503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73911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38503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5"/>
          <p:cNvSpPr>
            <a:spLocks noGrp="1"/>
          </p:cNvSpPr>
          <p:nvPr>
            <p:ph sz="quarter" idx="10"/>
          </p:nvPr>
        </p:nvSpPr>
        <p:spPr>
          <a:xfrm>
            <a:off x="252349" y="1268453"/>
            <a:ext cx="8280166" cy="351991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Helvetica" charset="0"/>
                <a:ea typeface="Helvetica" charset="0"/>
                <a:cs typeface="Helvetica" charset="0"/>
              </a:defRPr>
            </a:lvl1pPr>
            <a:lvl2pPr>
              <a:defRPr sz="1800">
                <a:latin typeface="Helvetica" charset="0"/>
                <a:ea typeface="Helvetica" charset="0"/>
                <a:cs typeface="Helvetica" charset="0"/>
              </a:defRPr>
            </a:lvl2pPr>
            <a:lvl3pPr>
              <a:defRPr sz="1800">
                <a:latin typeface="Helvetica" charset="0"/>
                <a:ea typeface="Helvetica" charset="0"/>
                <a:cs typeface="Helvetica" charset="0"/>
              </a:defRPr>
            </a:lvl3pPr>
            <a:lvl4pPr>
              <a:defRPr sz="1800">
                <a:latin typeface="Helvetica" charset="0"/>
                <a:ea typeface="Helvetica" charset="0"/>
                <a:cs typeface="Helvetica" charset="0"/>
              </a:defRPr>
            </a:lvl4pPr>
            <a:lvl5pPr>
              <a:defRPr sz="1800"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280166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37926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52347" y="1268453"/>
            <a:ext cx="8449503" cy="3286125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 </a:t>
            </a:r>
          </a:p>
          <a:p>
            <a:r>
              <a:rPr lang="en-US" sz="1800" dirty="0"/>
              <a:t>of the printing and typesetting industry. </a:t>
            </a:r>
            <a:r>
              <a:rPr lang="en-US" sz="1800" dirty="0" err="1"/>
              <a:t>Lorem</a:t>
            </a:r>
            <a:r>
              <a:rPr lang="en-US" sz="1800" dirty="0"/>
              <a:t> </a:t>
            </a:r>
            <a:r>
              <a:rPr lang="en-US" sz="1800" dirty="0" err="1"/>
              <a:t>Ipsum</a:t>
            </a:r>
            <a:r>
              <a:rPr lang="en-US" sz="1800" dirty="0"/>
              <a:t> has been the industry's standard dummy text ever since the 1500s, when an unknown printer took a galley of type and scrambled it to make a type specimen book. 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449503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529381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 +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33538" y="1110075"/>
            <a:ext cx="3595277" cy="3612444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text.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6" name="Chart Placeholder 3"/>
          <p:cNvSpPr>
            <a:spLocks noGrp="1"/>
          </p:cNvSpPr>
          <p:nvPr>
            <p:ph type="chart" sz="quarter" idx="11"/>
          </p:nvPr>
        </p:nvSpPr>
        <p:spPr>
          <a:xfrm>
            <a:off x="3828815" y="1110075"/>
            <a:ext cx="4948296" cy="36124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445577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252349" y="1268453"/>
            <a:ext cx="8110832" cy="35643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594646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9" y="274679"/>
            <a:ext cx="6182318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2134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2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ags" Target="../tags/tag11.xml"/><Relationship Id="rId1" Type="http://schemas.openxmlformats.org/officeDocument/2006/relationships/theme" Target="../theme/theme2.xml"/><Relationship Id="rId6" Type="http://schemas.openxmlformats.org/officeDocument/2006/relationships/image" Target="../media/image1.jp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ags" Target="../tags/tag12.xml"/><Relationship Id="rId3" Type="http://schemas.openxmlformats.org/officeDocument/2006/relationships/slideLayout" Target="../slideLayouts/slideLayout11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image" Target="../media/image4.png"/><Relationship Id="rId5" Type="http://schemas.openxmlformats.org/officeDocument/2006/relationships/slideLayout" Target="../slideLayouts/slideLayout13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12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custDataLst>
      <p:tags r:id="rId10"/>
    </p:custDataLst>
    <p:extLst>
      <p:ext uri="{BB962C8B-B14F-4D97-AF65-F5344CB8AC3E}">
        <p14:creationId xmlns:p14="http://schemas.microsoft.com/office/powerpoint/2010/main" val="3427332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27" r:id="rId8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5" name="Picture 4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="" xmlns:a16="http://schemas.microsoft.com/office/drawing/2014/main" id="{5BC3A035-B0EE-3A43-AADA-02BA46FB0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1480674199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4" name="Picture 3"/>
            <p:cNvPicPr>
              <a:picLocks noChangeAspect="1"/>
            </p:cNvPicPr>
            <p:nvPr userDrawn="1"/>
          </p:nvPicPr>
          <p:blipFill>
            <a:blip r:embed="rId9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="" xmlns:a16="http://schemas.microsoft.com/office/drawing/2014/main" id="{5BC3A035-B0EE-3A43-AADA-02BA46FB0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11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</p:spTree>
    <p:custDataLst>
      <p:tags r:id="rId8"/>
    </p:custDataLst>
    <p:extLst>
      <p:ext uri="{BB962C8B-B14F-4D97-AF65-F5344CB8AC3E}">
        <p14:creationId xmlns:p14="http://schemas.microsoft.com/office/powerpoint/2010/main" val="1084155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/>
        <a:buNone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tags" Target="../tags/tag1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1.xml"/><Relationship Id="rId4" Type="http://schemas.microsoft.com/office/2018/10/relationships/comments" Target="../comments/modernComment_1B7_526618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4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/>
        </p:nvSpPr>
        <p:spPr>
          <a:xfrm>
            <a:off x="72284" y="155460"/>
            <a:ext cx="6173436" cy="534636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b="0" i="0" kern="1200" dirty="0">
                <a:solidFill>
                  <a:schemeClr val="tx1"/>
                </a:solidFill>
                <a:latin typeface="Vitesse Bold"/>
                <a:ea typeface="Vitesse" charset="0"/>
                <a:cs typeface="Vitesse Bold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itesse" charset="0"/>
                <a:cs typeface="Vitesse" charset="0"/>
              </a:rPr>
              <a:t>Regression Analysis</a:t>
            </a:r>
          </a:p>
        </p:txBody>
      </p:sp>
      <p:sp>
        <p:nvSpPr>
          <p:cNvPr id="17" name="Text Placeholder 3"/>
          <p:cNvSpPr>
            <a:spLocks noGrp="1"/>
          </p:cNvSpPr>
          <p:nvPr/>
        </p:nvSpPr>
        <p:spPr>
          <a:xfrm>
            <a:off x="85589" y="2018346"/>
            <a:ext cx="4305091" cy="432669"/>
          </a:xfrm>
          <a:prstGeom prst="rect">
            <a:avLst/>
          </a:prstGeom>
        </p:spPr>
        <p:txBody>
          <a:bodyPr anchor="ctr"/>
          <a:lstStyle>
            <a:lvl1pPr marL="0" indent="0" algn="l" defTabSz="457200" rtl="0" eaLnBrk="1" latinLnBrk="0" hangingPunct="1">
              <a:lnSpc>
                <a:spcPts val="1400"/>
              </a:lnSpc>
              <a:spcBef>
                <a:spcPct val="20000"/>
              </a:spcBef>
              <a:buFont typeface="Arial"/>
              <a:buNone/>
              <a:defRPr lang="en-US" sz="2400" b="1" kern="1200" baseline="0" dirty="0">
                <a:solidFill>
                  <a:srgbClr val="EEB21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EAAA00"/>
              </a:solidFill>
              <a:effectLst/>
              <a:uLnTx/>
              <a:uFillTx/>
              <a:latin typeface="Helvetica" charset="0"/>
              <a:cs typeface="Helvetica" charset="0"/>
            </a:endParaRPr>
          </a:p>
          <a:p>
            <a:pPr marL="0" marR="0" lvl="0" indent="0" algn="l" defTabSz="457200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AAA00"/>
                </a:solidFill>
                <a:effectLst/>
                <a:uLnTx/>
                <a:uFillTx/>
                <a:latin typeface="Helvetica" charset="0"/>
                <a:cs typeface="Helvetica" charset="0"/>
              </a:rPr>
              <a:t>Nicoleta Serban, Ph.D. </a:t>
            </a:r>
          </a:p>
        </p:txBody>
      </p:sp>
      <p:sp>
        <p:nvSpPr>
          <p:cNvPr id="18" name="Text Placeholder 4"/>
          <p:cNvSpPr>
            <a:spLocks noGrp="1"/>
          </p:cNvSpPr>
          <p:nvPr/>
        </p:nvSpPr>
        <p:spPr>
          <a:xfrm>
            <a:off x="92366" y="2376336"/>
            <a:ext cx="4305091" cy="254281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0" i="1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charset="0"/>
                <a:cs typeface="Helvetica" charset="0"/>
              </a:rPr>
              <a:t>Professor 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="" xmlns:a16="http://schemas.microsoft.com/office/drawing/2014/main" id="{1FFC2AE0-8557-485C-BAF4-734CEE29C594}"/>
              </a:ext>
            </a:extLst>
          </p:cNvPr>
          <p:cNvSpPr>
            <a:spLocks noGrp="1"/>
          </p:cNvSpPr>
          <p:nvPr/>
        </p:nvSpPr>
        <p:spPr>
          <a:xfrm>
            <a:off x="84400" y="636404"/>
            <a:ext cx="5511340" cy="542236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lang="en-US" sz="3000" b="0" i="0" kern="1200" dirty="0">
                <a:solidFill>
                  <a:schemeClr val="tx2"/>
                </a:solidFill>
                <a:latin typeface="Vitesse Medium" charset="0"/>
                <a:ea typeface="Vitesse Medium" charset="0"/>
                <a:cs typeface="Vitesse Medium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Model Selection</a:t>
            </a:r>
            <a:endParaRPr lang="en-US" sz="2400" dirty="0">
              <a:solidFill>
                <a:schemeClr val="tx2"/>
              </a:solidFill>
            </a:endParaRPr>
          </a:p>
        </p:txBody>
      </p:sp>
      <p:sp>
        <p:nvSpPr>
          <p:cNvPr id="11" name="Text Placeholder 6">
            <a:extLst>
              <a:ext uri="{FF2B5EF4-FFF2-40B4-BE49-F238E27FC236}">
                <a16:creationId xmlns="" xmlns:a16="http://schemas.microsoft.com/office/drawing/2014/main" id="{96194DD8-166E-44C1-B715-8F6DC720E8C3}"/>
              </a:ext>
            </a:extLst>
          </p:cNvPr>
          <p:cNvSpPr>
            <a:spLocks noGrp="1"/>
          </p:cNvSpPr>
          <p:nvPr/>
        </p:nvSpPr>
        <p:spPr>
          <a:xfrm>
            <a:off x="109567" y="2661666"/>
            <a:ext cx="4305091" cy="322253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200" b="0" i="0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Stewart School of Industrial and Systems Engineering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="" xmlns:a16="http://schemas.microsoft.com/office/drawing/2014/main" id="{3E639068-6541-429C-8CA2-8AFA66A5FBD3}"/>
              </a:ext>
            </a:extLst>
          </p:cNvPr>
          <p:cNvSpPr>
            <a:spLocks noGrp="1"/>
          </p:cNvSpPr>
          <p:nvPr/>
        </p:nvSpPr>
        <p:spPr>
          <a:xfrm>
            <a:off x="92789" y="4102100"/>
            <a:ext cx="4305091" cy="878110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400" b="0" i="0" kern="1200" baseline="0">
                <a:solidFill>
                  <a:schemeClr val="tx2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Introduction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321412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20" t="7499" r="15454" b="5507"/>
          <a:stretch/>
        </p:blipFill>
        <p:spPr>
          <a:xfrm>
            <a:off x="3422383" y="1074049"/>
            <a:ext cx="2392685" cy="3028613"/>
          </a:xfrm>
          <a:prstGeom prst="rect">
            <a:avLst/>
          </a:prstGeom>
        </p:spPr>
      </p:pic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121380" y="154185"/>
            <a:ext cx="4727575" cy="731837"/>
          </a:xfrm>
        </p:spPr>
        <p:txBody>
          <a:bodyPr anchor="t"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About This Lesson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57991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69" y="157232"/>
            <a:ext cx="8562392" cy="648111"/>
          </a:xfrm>
        </p:spPr>
        <p:txBody>
          <a:bodyPr/>
          <a:lstStyle/>
          <a:p>
            <a:pPr algn="l"/>
            <a:r>
              <a:rPr lang="en-US" sz="3600" dirty="0">
                <a:latin typeface="Vitesse"/>
              </a:rPr>
              <a:t>Objectives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4294967295"/>
          </p:nvPr>
        </p:nvSpPr>
        <p:spPr>
          <a:xfrm>
            <a:off x="100668" y="903987"/>
            <a:ext cx="8264525" cy="4164012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85750" indent="-285750">
              <a:spcBef>
                <a:spcPts val="0"/>
              </a:spcBef>
              <a:spcAft>
                <a:spcPts val="1800"/>
              </a:spcAft>
              <a:buFont typeface="Arial" charset="0"/>
              <a:buChar char="•"/>
            </a:pPr>
            <a:r>
              <a:rPr lang="en-US" sz="1800" b="1" dirty="0">
                <a:latin typeface="Helvetica" panose="020B0604020202020204" pitchFamily="34" charset="0"/>
                <a:cs typeface="Helvetica" panose="020B0604020202020204" pitchFamily="34" charset="0"/>
              </a:rPr>
              <a:t>High Dimensionality:</a:t>
            </a:r>
            <a: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  <a:t> When we have a very large number of predicting variables to consider, it can be difficult to interpret and work with the fitted model.</a:t>
            </a:r>
          </a:p>
          <a:p>
            <a:pPr marL="285750" indent="-285750">
              <a:spcBef>
                <a:spcPts val="0"/>
              </a:spcBef>
              <a:spcAft>
                <a:spcPts val="1800"/>
              </a:spcAft>
              <a:buFont typeface="Arial" charset="0"/>
              <a:buChar char="•"/>
            </a:pPr>
            <a:r>
              <a:rPr lang="en-US" sz="1800" b="1" dirty="0" smtClean="0">
                <a:latin typeface="Helvetica" panose="020B0604020202020204" pitchFamily="34" charset="0"/>
                <a:cs typeface="Helvetica" panose="020B0604020202020204" pitchFamily="34" charset="0"/>
              </a:rPr>
              <a:t>Multicollinearity:</a:t>
            </a:r>
            <a:r>
              <a:rPr lang="en-US" sz="18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  <a:t>When the predicting variables are correlated, it is important to select variables in such a way that the impact of </a:t>
            </a:r>
            <a:r>
              <a:rPr lang="en-US" sz="18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multicollinearity </a:t>
            </a:r>
            <a: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  <a:t>is minimized.</a:t>
            </a:r>
          </a:p>
          <a:p>
            <a:pPr marL="285750" indent="-285750">
              <a:spcBef>
                <a:spcPts val="0"/>
              </a:spcBef>
              <a:spcAft>
                <a:spcPts val="1800"/>
              </a:spcAft>
              <a:buFont typeface="Arial" charset="0"/>
              <a:buChar char="•"/>
            </a:pPr>
            <a:r>
              <a:rPr lang="en-US" sz="1800" b="1" dirty="0">
                <a:latin typeface="Helvetica" panose="020B0604020202020204" pitchFamily="34" charset="0"/>
                <a:cs typeface="Helvetica" panose="020B0604020202020204" pitchFamily="34" charset="0"/>
              </a:rPr>
              <a:t>Prediction vs Explanatory Objective:</a:t>
            </a:r>
            <a: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  <a:t> The variables selected for the two objectives will most often be different.</a:t>
            </a:r>
          </a:p>
          <a:p>
            <a:r>
              <a:rPr lang="en-US" sz="1800" dirty="0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 </a:t>
            </a:r>
            <a:r>
              <a:rPr lang="en-US" sz="1800" b="1" dirty="0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Variable Selection </a:t>
            </a:r>
            <a: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addresses all these concerns.</a:t>
            </a:r>
            <a:endParaRPr lang="en-US" sz="18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82422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 mod="1">
    <p:ext uri="{6950BFC3-D8DA-4A85-94F7-54DA5524770B}">
      <p188:commentRel xmlns="" xmlns:p188="http://schemas.microsoft.com/office/powerpoint/2018/8/main" r:id="rId4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91" y="157232"/>
            <a:ext cx="8562392" cy="698445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latin typeface="Vitesse"/>
              </a:rPr>
              <a:t>Implications and Words of Caution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4294967295"/>
          </p:nvPr>
        </p:nvSpPr>
        <p:spPr>
          <a:xfrm>
            <a:off x="100668" y="879985"/>
            <a:ext cx="8054975" cy="3548062"/>
          </a:xfrm>
          <a:prstGeom prst="rect">
            <a:avLst/>
          </a:prstGeom>
        </p:spPr>
        <p:txBody>
          <a:bodyPr>
            <a:noAutofit/>
          </a:bodyPr>
          <a:lstStyle/>
          <a:p>
            <a:pPr marL="285750" indent="-285750">
              <a:lnSpc>
                <a:spcPct val="120000"/>
              </a:lnSpc>
              <a:spcBef>
                <a:spcPts val="0"/>
              </a:spcBef>
              <a:buFont typeface="Arial" charset="0"/>
              <a:buChar char="•"/>
            </a:pPr>
            <a:r>
              <a:rPr lang="en-US" sz="1800" b="1" dirty="0" smtClean="0">
                <a:latin typeface="Helvetica" panose="020B0604020202020204" pitchFamily="34" charset="0"/>
                <a:cs typeface="Helvetica" panose="020B0604020202020204" pitchFamily="34" charset="0"/>
              </a:rPr>
              <a:t>Controlling </a:t>
            </a:r>
            <a:r>
              <a:rPr lang="en-US" sz="1800" b="1" dirty="0">
                <a:latin typeface="Helvetica" panose="020B0604020202020204" pitchFamily="34" charset="0"/>
                <a:cs typeface="Helvetica" panose="020B0604020202020204" pitchFamily="34" charset="0"/>
              </a:rPr>
              <a:t>vs. Explanatory Variables</a:t>
            </a:r>
          </a:p>
          <a:p>
            <a:pPr marL="628650" lvl="1" indent="-342900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Arial" charset="0"/>
              <a:buChar char="•"/>
            </a:pPr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Consider research hypothesis as well as potential </a:t>
            </a:r>
            <a:r>
              <a:rPr lang="en-US" sz="16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controlling </a:t>
            </a:r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variables</a:t>
            </a:r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buFont typeface="Arial" charset="0"/>
              <a:buChar char="•"/>
            </a:pPr>
            <a:r>
              <a:rPr lang="en-US" sz="1800" b="1" dirty="0">
                <a:latin typeface="Helvetica" panose="020B0604020202020204" pitchFamily="34" charset="0"/>
                <a:cs typeface="Helvetica" panose="020B0604020202020204" pitchFamily="34" charset="0"/>
              </a:rPr>
              <a:t>Targeted Predicting Variables</a:t>
            </a:r>
          </a:p>
          <a:p>
            <a:pPr marL="628650" lvl="1" indent="-342900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Arial" charset="0"/>
              <a:buChar char="•"/>
            </a:pPr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Include target variable in model if specified by research hypothesis</a:t>
            </a:r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buFont typeface="Arial" charset="0"/>
              <a:buChar char="•"/>
            </a:pPr>
            <a:r>
              <a:rPr lang="en-US" sz="1800" b="1" dirty="0">
                <a:latin typeface="Helvetica" panose="020B0604020202020204" pitchFamily="34" charset="0"/>
                <a:cs typeface="Helvetica" panose="020B0604020202020204" pitchFamily="34" charset="0"/>
              </a:rPr>
              <a:t>Over-Interpretation</a:t>
            </a:r>
          </a:p>
          <a:p>
            <a:pPr marL="628650" lvl="1" indent="-342900">
              <a:lnSpc>
                <a:spcPct val="120000"/>
              </a:lnSpc>
              <a:spcBef>
                <a:spcPts val="0"/>
              </a:spcBef>
              <a:buFont typeface="Arial" charset="0"/>
              <a:buChar char="•"/>
            </a:pPr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Selected variables are not necessarily special!</a:t>
            </a:r>
          </a:p>
          <a:p>
            <a:pPr marL="973138" lvl="1" indent="-34290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Helvetica" panose="020B0604020202020204" pitchFamily="34" charset="0"/>
                <a:cs typeface="Helvetica" panose="020B0604020202020204" pitchFamily="34" charset="0"/>
              </a:rPr>
              <a:t>Highly influenced by correlations between variables</a:t>
            </a:r>
          </a:p>
          <a:p>
            <a:pPr marL="973138" lvl="1" indent="-34290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Helvetica" panose="020B0604020202020204" pitchFamily="34" charset="0"/>
                <a:cs typeface="Helvetica" panose="020B0604020202020204" pitchFamily="34" charset="0"/>
              </a:rPr>
              <a:t>Interpretation of regression coefficients</a:t>
            </a:r>
          </a:p>
          <a:p>
            <a:pPr marL="973138" lvl="1" indent="-34290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Helvetica" panose="020B0604020202020204" pitchFamily="34" charset="0"/>
                <a:cs typeface="Helvetica" panose="020B0604020202020204" pitchFamily="34" charset="0"/>
              </a:rPr>
              <a:t>Causality vs. Association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44981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80" y="157232"/>
            <a:ext cx="8562392" cy="664889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latin typeface="Vitesse"/>
              </a:rPr>
              <a:t>No Magic Bullet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4294967295"/>
          </p:nvPr>
        </p:nvSpPr>
        <p:spPr>
          <a:xfrm>
            <a:off x="94887" y="891105"/>
            <a:ext cx="7667625" cy="394017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84163" indent="-284163">
              <a:spcBef>
                <a:spcPts val="0"/>
              </a:spcBef>
              <a:spcAft>
                <a:spcPts val="1800"/>
              </a:spcAft>
              <a:buFont typeface="Arial" charset="0"/>
              <a:buChar char="•"/>
            </a:pPr>
            <a: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  <a:t>Variable selection for large number of predicting variables is an “unsolved” problem in statistics</a:t>
            </a:r>
          </a:p>
          <a:p>
            <a:pPr marL="284163" indent="-284163">
              <a:spcBef>
                <a:spcPts val="0"/>
              </a:spcBef>
              <a:spcAft>
                <a:spcPts val="1800"/>
              </a:spcAft>
              <a:buFont typeface="Arial" charset="0"/>
              <a:buChar char="•"/>
            </a:pPr>
            <a: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  <a:t>In some sense, model selection is “data mining”</a:t>
            </a:r>
          </a:p>
          <a:p>
            <a:pPr marL="284163" indent="-284163">
              <a:spcBef>
                <a:spcPts val="0"/>
              </a:spcBef>
              <a:spcAft>
                <a:spcPts val="1800"/>
              </a:spcAft>
              <a:buFont typeface="Arial" charset="0"/>
              <a:buChar char="•"/>
            </a:pPr>
            <a: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  <a:t>Data miners / machine learners often work with many predictors</a:t>
            </a:r>
          </a:p>
          <a:p>
            <a:pPr marL="284163" indent="-284163">
              <a:buFont typeface="Arial" charset="0"/>
              <a:buChar char="•"/>
            </a:pPr>
            <a: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  <a:t>There are no magic procedures to get you the “best model”</a:t>
            </a:r>
          </a:p>
          <a:p>
            <a:pPr marL="342900" indent="-342900">
              <a:buFont typeface="Arial" charset="0"/>
              <a:buChar char="•"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2000" i="1" dirty="0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“All models are wrong, but some are useful</a:t>
            </a:r>
            <a:r>
              <a:rPr lang="en-US" altLang="ja-JP" sz="2000" dirty="0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  <a:r>
              <a:rPr lang="en-US" altLang="ja-JP" sz="2000" i="1" dirty="0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”</a:t>
            </a:r>
            <a:r>
              <a:rPr lang="en-US" altLang="ja-JP" sz="2000" dirty="0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―George Box</a:t>
            </a:r>
          </a:p>
          <a:p>
            <a:endParaRPr lang="en-US" sz="2400" dirty="0">
              <a:latin typeface="Helvetica Neue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917029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203" y="153914"/>
            <a:ext cx="8562392" cy="720685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latin typeface="Vitesse"/>
              </a:rPr>
              <a:t>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/>
              <p:cNvSpPr>
                <a:spLocks noGrp="1"/>
              </p:cNvSpPr>
              <p:nvPr>
                <p:ph sz="quarter" idx="4294967295"/>
              </p:nvPr>
            </p:nvSpPr>
            <p:spPr>
              <a:xfrm>
                <a:off x="103512" y="883225"/>
                <a:ext cx="7924800" cy="3727450"/>
              </a:xfrm>
              <a:prstGeom prst="rect">
                <a:avLst/>
              </a:prstGeom>
              <a:solidFill>
                <a:schemeClr val="bg1">
                  <a:alpha val="0"/>
                </a:schemeClr>
              </a:solidFill>
            </p:spPr>
            <p:txBody>
              <a:bodyPr>
                <a:normAutofit/>
              </a:bodyPr>
              <a:lstStyle/>
              <a:p>
                <a:pPr>
                  <a:spcBef>
                    <a:spcPts val="0"/>
                  </a:spcBef>
                </a:pP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Given </a:t>
                </a:r>
              </a:p>
              <a:p>
                <a:pPr marL="630238">
                  <a:spcBef>
                    <a:spcPts val="0"/>
                  </a:spcBef>
                </a:pPr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S </a:t>
                </a:r>
                <a14:m>
                  <m:oMath xmlns:m="http://schemas.openxmlformats.org/officeDocument/2006/math">
                    <m:r>
                      <a:rPr lang="en-US" sz="180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⊂</m:t>
                    </m:r>
                    <m:d>
                      <m:dPr>
                        <m:begChr m:val="{"/>
                        <m:endChr m:val="}"/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</m:ctrlPr>
                      </m:dPr>
                      <m:e>
                        <m:r>
                          <a:rPr lang="en-US" sz="18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1,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…</m:t>
                        </m:r>
                        <m:r>
                          <a:rPr lang="en-US" sz="18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,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en-US" sz="1800" b="0" i="0" dirty="0">
                    <a:latin typeface="Helvetica" panose="020B0604020202020204" pitchFamily="34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 a subset of indices </a:t>
                </a:r>
              </a:p>
              <a:p>
                <a:pPr>
                  <a:spcBef>
                    <a:spcPts val="0"/>
                  </a:spcBef>
                </a:pPr>
                <a:r>
                  <a:rPr lang="en-US" sz="1800" b="0" i="0" dirty="0">
                    <a:latin typeface="Helvetica" panose="020B0604020202020204" pitchFamily="34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and </a:t>
                </a:r>
              </a:p>
              <a:p>
                <a:pPr marL="630238">
                  <a:spcBef>
                    <a:spcPts val="0"/>
                  </a:spcBef>
                  <a:spcAft>
                    <a:spcPts val="1800"/>
                  </a:spcAft>
                </a:pPr>
                <a:r>
                  <a:rPr lang="en-US" sz="1800" dirty="0">
                    <a:latin typeface="Helvetica" panose="020B0604020202020204" pitchFamily="34" charset="0"/>
                    <a:ea typeface="Cambria Math" charset="0"/>
                    <a:cs typeface="Helvetica" panose="020B0604020202020204" pitchFamily="34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80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j</m:t>
                        </m:r>
                      </m:sub>
                    </m:sSub>
                  </m:oMath>
                </a14:m>
                <a:r>
                  <a:rPr lang="en-US" sz="1800" dirty="0">
                    <a:latin typeface="Helvetica" panose="020B0604020202020204" pitchFamily="34" charset="0"/>
                    <a:ea typeface="Cambria Math" charset="0"/>
                    <a:cs typeface="Helvetica" panose="020B0604020202020204" pitchFamily="34" charset="0"/>
                  </a:rPr>
                  <a:t> for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charset="0"/>
                        <a:ea typeface="Cambria Math" charset="0"/>
                        <a:cs typeface="Cambria Math" charset="0"/>
                      </a:rPr>
                      <m:t>𝑗</m:t>
                    </m:r>
                    <m:r>
                      <a:rPr lang="en-US" sz="1800">
                        <a:latin typeface="Cambria Math" charset="0"/>
                        <a:ea typeface="Cambria Math" charset="0"/>
                        <a:cs typeface="Cambria Math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sz="1800">
                        <a:latin typeface="Cambria Math" charset="0"/>
                        <a:ea typeface="Cambria Math" charset="0"/>
                        <a:cs typeface="Cambria Math" charset="0"/>
                      </a:rPr>
                      <m:t>S</m:t>
                    </m:r>
                  </m:oMath>
                </a14:m>
                <a:r>
                  <a:rPr lang="en-US" sz="1800" dirty="0">
                    <a:latin typeface="Helvetica" panose="020B0604020202020204" pitchFamily="34" charset="0"/>
                    <a:ea typeface="Cambria Math" charset="0"/>
                    <a:cs typeface="Helvetica" panose="020B0604020202020204" pitchFamily="34" charset="0"/>
                  </a:rPr>
                  <a:t>)</a:t>
                </a: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the subset of predicting variables with indices in </a:t>
                </a:r>
                <a:r>
                  <a:rPr lang="en-US" sz="1800" dirty="0">
                    <a:latin typeface="Helvetica" panose="020B0604020202020204" pitchFamily="34" charset="0"/>
                    <a:ea typeface="Cambria Math" charset="0"/>
                    <a:cs typeface="Helvetica" panose="020B0604020202020204" pitchFamily="34" charset="0"/>
                  </a:rPr>
                  <a:t>S</a:t>
                </a:r>
                <a:r>
                  <a:rPr lang="en-US" sz="1800" b="0" i="0" dirty="0">
                    <a:latin typeface="Helvetica" panose="020B0604020202020204" pitchFamily="34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:</a:t>
                </a:r>
              </a:p>
              <a:p>
                <a:pPr marL="284163" indent="-284163">
                  <a:spcBef>
                    <a:spcPts val="0"/>
                  </a:spcBef>
                  <a:spcAft>
                    <a:spcPts val="18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800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</m:acc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800" b="0" i="0" smtClean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</m:d>
                  </m:oMath>
                </a14:m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is the vector of estimated regression coefficients for the </a:t>
                </a:r>
                <a:r>
                  <a:rPr lang="en-US" sz="1800" dirty="0" err="1">
                    <a:latin typeface="Helvetica" panose="020B0604020202020204" pitchFamily="34" charset="0"/>
                    <a:cs typeface="Helvetica" panose="020B0604020202020204" pitchFamily="34" charset="0"/>
                  </a:rPr>
                  <a:t>submodel</a:t>
                </a: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with</a:t>
                </a:r>
                <a14:m>
                  <m:oMath xmlns:m="http://schemas.openxmlformats.org/officeDocument/2006/math">
                    <m:r>
                      <a:rPr lang="en-US" sz="1800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800" b="0" i="0" smtClean="0"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  <m:r>
                      <a:rPr lang="en-US" sz="18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 </m:t>
                    </m:r>
                  </m:oMath>
                </a14:m>
                <a:r>
                  <a:rPr lang="en-US" sz="1800" dirty="0">
                    <a:latin typeface="Helvetica" panose="020B0604020202020204" pitchFamily="34" charset="0"/>
                    <a:ea typeface="Cambria Math" charset="0"/>
                    <a:cs typeface="Helvetica" panose="020B0604020202020204" pitchFamily="34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80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j</m:t>
                        </m:r>
                      </m:sub>
                    </m:sSub>
                  </m:oMath>
                </a14:m>
                <a:r>
                  <a:rPr lang="en-US" sz="1800" dirty="0">
                    <a:latin typeface="Helvetica" panose="020B0604020202020204" pitchFamily="34" charset="0"/>
                    <a:ea typeface="Cambria Math" charset="0"/>
                    <a:cs typeface="Helvetica" panose="020B0604020202020204" pitchFamily="34" charset="0"/>
                  </a:rPr>
                  <a:t> for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charset="0"/>
                        <a:ea typeface="Cambria Math" charset="0"/>
                        <a:cs typeface="Cambria Math" charset="0"/>
                      </a:rPr>
                      <m:t>𝑗</m:t>
                    </m:r>
                    <m:r>
                      <a:rPr lang="en-US" sz="1800">
                        <a:latin typeface="Cambria Math" charset="0"/>
                        <a:ea typeface="Cambria Math" charset="0"/>
                        <a:cs typeface="Cambria Math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sz="1800">
                        <a:latin typeface="Cambria Math" charset="0"/>
                        <a:ea typeface="Cambria Math" charset="0"/>
                        <a:cs typeface="Cambria Math" charset="0"/>
                      </a:rPr>
                      <m:t>S</m:t>
                    </m:r>
                  </m:oMath>
                </a14:m>
                <a:r>
                  <a:rPr lang="en-US" sz="1800" dirty="0">
                    <a:latin typeface="Helvetica" panose="020B0604020202020204" pitchFamily="34" charset="0"/>
                    <a:ea typeface="Cambria Math" charset="0"/>
                    <a:cs typeface="Helvetica" panose="020B0604020202020204" pitchFamily="34" charset="0"/>
                  </a:rPr>
                  <a:t>)</a:t>
                </a: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predicting variables</a:t>
                </a:r>
              </a:p>
              <a:p>
                <a:pPr marL="284163" indent="-284163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8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</m:acc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800" i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</m:d>
                    <m:r>
                      <a:rPr lang="en-US" sz="18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is the vector of fitted values for the </a:t>
                </a:r>
                <a:r>
                  <a:rPr lang="en-US" sz="1800" dirty="0" err="1">
                    <a:latin typeface="Helvetica" panose="020B0604020202020204" pitchFamily="34" charset="0"/>
                    <a:cs typeface="Helvetica" panose="020B0604020202020204" pitchFamily="34" charset="0"/>
                  </a:rPr>
                  <a:t>submodel</a:t>
                </a: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sz="1800" b="1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𝑿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800" i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S</m:t>
                        </m:r>
                      </m:sub>
                    </m:sSub>
                    <m:r>
                      <a:rPr lang="en-US" sz="1800" i="1">
                        <a:latin typeface="Cambria Math" charset="0"/>
                        <a:ea typeface="Cambria Math" charset="0"/>
                        <a:cs typeface="Cambria Math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 </m:t>
                    </m:r>
                  </m:oMath>
                </a14:m>
                <a:r>
                  <a:rPr lang="en-US" sz="1800" dirty="0">
                    <a:latin typeface="Helvetica" panose="020B0604020202020204" pitchFamily="34" charset="0"/>
                    <a:ea typeface="Cambria Math" charset="0"/>
                    <a:cs typeface="Helvetica" panose="020B0604020202020204" pitchFamily="34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80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j</m:t>
                        </m:r>
                      </m:sub>
                    </m:sSub>
                  </m:oMath>
                </a14:m>
                <a:r>
                  <a:rPr lang="en-US" sz="1800" dirty="0">
                    <a:latin typeface="Helvetica" panose="020B0604020202020204" pitchFamily="34" charset="0"/>
                    <a:ea typeface="Cambria Math" charset="0"/>
                    <a:cs typeface="Helvetica" panose="020B0604020202020204" pitchFamily="34" charset="0"/>
                  </a:rPr>
                  <a:t> for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charset="0"/>
                        <a:ea typeface="Cambria Math" charset="0"/>
                        <a:cs typeface="Cambria Math" charset="0"/>
                      </a:rPr>
                      <m:t>𝑗</m:t>
                    </m:r>
                    <m:r>
                      <a:rPr lang="en-US" sz="1800">
                        <a:latin typeface="Cambria Math" charset="0"/>
                        <a:ea typeface="Cambria Math" charset="0"/>
                        <a:cs typeface="Cambria Math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sz="1800">
                        <a:latin typeface="Cambria Math" charset="0"/>
                        <a:ea typeface="Cambria Math" charset="0"/>
                        <a:cs typeface="Cambria Math" charset="0"/>
                      </a:rPr>
                      <m:t>S</m:t>
                    </m:r>
                  </m:oMath>
                </a14:m>
                <a:r>
                  <a:rPr lang="en-US" sz="1800" dirty="0">
                    <a:latin typeface="Helvetica" panose="020B0604020202020204" pitchFamily="34" charset="0"/>
                    <a:ea typeface="Cambria Math" charset="0"/>
                    <a:cs typeface="Helvetica" panose="020B0604020202020204" pitchFamily="34" charset="0"/>
                  </a:rPr>
                  <a:t>)  </a:t>
                </a: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predicting variables</a:t>
                </a:r>
              </a:p>
              <a:p>
                <a:pPr marL="630238" lvl="1" indent="-342900">
                  <a:spcBef>
                    <a:spcPts val="0"/>
                  </a:spcBef>
                  <a:spcAft>
                    <a:spcPts val="1800"/>
                  </a:spcAft>
                  <a:buFont typeface="Arial" panose="020B0604020202020204" pitchFamily="34" charset="0"/>
                  <a:buChar char="•"/>
                </a:pPr>
                <a:r>
                  <a:rPr lang="en-US" sz="19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E.g., for regression assuming normality,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900" b="1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accPr>
                      <m:e>
                        <m:r>
                          <a:rPr lang="en-US" sz="1900" b="1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𝒀</m:t>
                        </m:r>
                      </m:e>
                    </m:acc>
                    <m:d>
                      <m:dPr>
                        <m:ctrlPr>
                          <a:rPr lang="en-US" sz="19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900" i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S</m:t>
                        </m:r>
                      </m:e>
                    </m:d>
                  </m:oMath>
                </a14:m>
                <a:r>
                  <a:rPr lang="en-US" sz="1900" dirty="0">
                    <a:latin typeface="Helvetica" panose="020B0604020202020204" pitchFamily="34" charset="0"/>
                    <a:ea typeface="Cambria Math" charset="0"/>
                    <a:cs typeface="Helvetica" panose="020B0604020202020204" pitchFamily="34" charset="0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sz="1900" b="1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𝑿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900" i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S</m:t>
                        </m:r>
                      </m:sub>
                    </m:sSub>
                    <m:acc>
                      <m:accPr>
                        <m:chr m:val="̂"/>
                        <m:ctrlPr>
                          <a:rPr lang="en-US" sz="1900" b="1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accPr>
                      <m:e>
                        <m:r>
                          <a:rPr lang="en-US" sz="1900" b="1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𝜷</m:t>
                        </m:r>
                      </m:e>
                    </m:acc>
                    <m:d>
                      <m:dPr>
                        <m:ctrlPr>
                          <a:rPr lang="en-US" sz="19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900" i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S</m:t>
                        </m:r>
                      </m:e>
                    </m:d>
                  </m:oMath>
                </a14:m>
                <a:endParaRPr lang="en-US" sz="190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r>
                  <a:rPr lang="en-US" sz="1800" dirty="0">
                    <a:solidFill>
                      <a:schemeClr val="tx2"/>
                    </a:solidFill>
                    <a:latin typeface="Helvetica" panose="020B0604020202020204" pitchFamily="34" charset="0"/>
                    <a:cs typeface="Helvetica" panose="020B0604020202020204" pitchFamily="34" charset="0"/>
                    <a:sym typeface="Wingdings" panose="05000000000000000000" pitchFamily="2" charset="2"/>
                  </a:rPr>
                  <a:t></a:t>
                </a: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  <a:sym typeface="Wingdings" panose="05000000000000000000" pitchFamily="2" charset="2"/>
                  </a:rPr>
                  <a:t> I will refer to this model as the </a:t>
                </a:r>
                <a:r>
                  <a:rPr lang="en-US" sz="1800" b="1" dirty="0">
                    <a:solidFill>
                      <a:schemeClr val="tx2"/>
                    </a:solidFill>
                    <a:latin typeface="Helvetica" panose="020B0604020202020204" pitchFamily="34" charset="0"/>
                    <a:cs typeface="Helvetica" panose="020B0604020202020204" pitchFamily="34" charset="0"/>
                    <a:sym typeface="Wingdings" panose="05000000000000000000" pitchFamily="2" charset="2"/>
                  </a:rPr>
                  <a:t>S </a:t>
                </a:r>
                <a:r>
                  <a:rPr lang="en-US" sz="1800" b="1" dirty="0" err="1">
                    <a:solidFill>
                      <a:schemeClr val="tx2"/>
                    </a:solidFill>
                    <a:latin typeface="Helvetica" panose="020B0604020202020204" pitchFamily="34" charset="0"/>
                    <a:cs typeface="Helvetica" panose="020B0604020202020204" pitchFamily="34" charset="0"/>
                    <a:sym typeface="Wingdings" panose="05000000000000000000" pitchFamily="2" charset="2"/>
                  </a:rPr>
                  <a:t>submodel</a:t>
                </a:r>
                <a:r>
                  <a:rPr lang="en-US" sz="1800" dirty="0">
                    <a:solidFill>
                      <a:schemeClr val="tx2"/>
                    </a:solidFill>
                    <a:latin typeface="Helvetica" panose="020B0604020202020204" pitchFamily="34" charset="0"/>
                    <a:cs typeface="Helvetica" panose="020B0604020202020204" pitchFamily="34" charset="0"/>
                    <a:sym typeface="Wingdings" panose="05000000000000000000" pitchFamily="2" charset="2"/>
                  </a:rPr>
                  <a:t>.</a:t>
                </a:r>
                <a:endParaRPr lang="en-US" sz="1800" b="1" dirty="0">
                  <a:solidFill>
                    <a:schemeClr val="tx2"/>
                  </a:solidFill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294967295"/>
              </p:nvPr>
            </p:nvSpPr>
            <p:spPr>
              <a:xfrm>
                <a:off x="103512" y="883225"/>
                <a:ext cx="7924800" cy="3727450"/>
              </a:xfrm>
              <a:prstGeom prst="rect">
                <a:avLst/>
              </a:prstGeom>
              <a:blipFill>
                <a:blip r:embed="rId4"/>
                <a:stretch>
                  <a:fillRect l="-692" t="-982" r="-462" b="-19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791889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105196" y="147217"/>
            <a:ext cx="4727575" cy="795337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Summary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59" t="6607" r="13881" b="7744"/>
          <a:stretch/>
        </p:blipFill>
        <p:spPr>
          <a:xfrm>
            <a:off x="3236327" y="1171154"/>
            <a:ext cx="2573755" cy="281317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019656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DESIGN_ID_THEMEGTX" val="1t7Ldr8o"/>
  <p:tag name="ARTICULATE_DESIGN_ID_4_FULL PAGE LAYOUT" val="6sVEw0LE"/>
  <p:tag name="ARTICULATE_DESIGN_ID_1_OFFICE THEME" val="6ULC1LBk"/>
  <p:tag name="ARTICULATE_DESIGN_ID_FULL PAGE LAYOUT" val="dtf761pB"/>
  <p:tag name="ARTICULATE_DESIGN_ID_HALF PAGE SLASH" val="OsLcTujH"/>
  <p:tag name="ARTICULATE_DESIGN_ID_3_OFFICE THEME" val="9N2TddOC"/>
  <p:tag name="ARTICULATE_DESIGN_ID_2_OFFICE THEME" val="GLj4IuNU"/>
  <p:tag name="ARTICULATE_DESIGN_ID_1_HALF PAGE SLASH" val="OhzvJV1g"/>
  <p:tag name="ARTICULATE_DESIGN_ID_2_HALF PAGE SLASH" val="Rvbd44IN"/>
  <p:tag name="ARTICULATE_DESIGN_ID_1_FULL PAGE LAYOUT" val="Ns6bC8Oq"/>
  <p:tag name="ARTICULATE_SLIDE_COUNT" val="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1_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2_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1_Full Page Layou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16D43FDACDF02458C96071D7628C880" ma:contentTypeVersion="4" ma:contentTypeDescription="Create a new document." ma:contentTypeScope="" ma:versionID="93db545676783a71a92c456b471b0a8b">
  <xsd:schema xmlns:xsd="http://www.w3.org/2001/XMLSchema" xmlns:xs="http://www.w3.org/2001/XMLSchema" xmlns:p="http://schemas.microsoft.com/office/2006/metadata/properties" xmlns:ns1="http://schemas.microsoft.com/sharepoint/v3" xmlns:ns2="b057fda7-913b-4ab6-8820-932873bcd66c" targetNamespace="http://schemas.microsoft.com/office/2006/metadata/properties" ma:root="true" ma:fieldsID="1e1586ca1b53aa448b4e9fddfe24baf2" ns1:_="" ns2:_="">
    <xsd:import namespace="http://schemas.microsoft.com/sharepoint/v3"/>
    <xsd:import namespace="b057fda7-913b-4ab6-8820-932873bcd66c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  <xsd:element ref="ns2:SharedWithUsers" minOccurs="0"/>
                <xsd:element ref="ns2:SharingHintHash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57fda7-913b-4ab6-8820-932873bcd66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ingHintHash" ma:index="11" nillable="true" ma:displayName="Sharing Hint Hash" ma:internalName="SharingHintHash" ma:readOnly="true">
      <xsd:simpleType>
        <xsd:restriction base="dms:Text"/>
      </xsd:simple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E066AAC9-B2D0-46BD-87E7-92BBFA7E10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b057fda7-913b-4ab6-8820-932873bcd66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28EF043-B0E6-49AE-B312-D395614284A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0B8D62D-BE99-40AF-BF97-BFAE812B12CE}">
  <ds:schemaRefs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microsoft.com/sharepoint/v3"/>
    <ds:schemaRef ds:uri="http://purl.org/dc/terms/"/>
    <ds:schemaRef ds:uri="b057fda7-913b-4ab6-8820-932873bcd66c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16871</TotalTime>
  <Words>234</Words>
  <Application>Microsoft Office PowerPoint</Application>
  <PresentationFormat>On-screen Show (16:9)</PresentationFormat>
  <Paragraphs>44</Paragraphs>
  <Slides>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7</vt:i4>
      </vt:variant>
    </vt:vector>
  </HeadingPairs>
  <TitlesOfParts>
    <vt:vector size="23" baseType="lpstr">
      <vt:lpstr>MS PGothic</vt:lpstr>
      <vt:lpstr>MS PGothic</vt:lpstr>
      <vt:lpstr>Arial</vt:lpstr>
      <vt:lpstr>Calibri</vt:lpstr>
      <vt:lpstr>Cambria Math</vt:lpstr>
      <vt:lpstr>Helvetica</vt:lpstr>
      <vt:lpstr>Helvetica Neue</vt:lpstr>
      <vt:lpstr>Times New Roman</vt:lpstr>
      <vt:lpstr>Vitesse</vt:lpstr>
      <vt:lpstr>Vitesse Bold</vt:lpstr>
      <vt:lpstr>Vitesse Book</vt:lpstr>
      <vt:lpstr>Vitesse Medium</vt:lpstr>
      <vt:lpstr>Wingdings</vt:lpstr>
      <vt:lpstr>1_Half Page Slash</vt:lpstr>
      <vt:lpstr>2_Half Page Slash</vt:lpstr>
      <vt:lpstr>1_Full Page Layout</vt:lpstr>
      <vt:lpstr>PowerPoint Presentation</vt:lpstr>
      <vt:lpstr>PowerPoint Presentation</vt:lpstr>
      <vt:lpstr>Objectives</vt:lpstr>
      <vt:lpstr>Implications and Words of Caution</vt:lpstr>
      <vt:lpstr>No Magic Bullet</vt:lpstr>
      <vt:lpstr>Notation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Serban, Nicoleta</dc:creator>
  <cp:lastModifiedBy>Aymee Garcia</cp:lastModifiedBy>
  <cp:revision>782</cp:revision>
  <dcterms:modified xsi:type="dcterms:W3CDTF">2021-06-04T14:14:13Z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0x010100E16D43FDACDF02458C96071D7628C880</vt:lpwstr>
  </property>
  <property fmtid="{D5CDD505-2E9C-101B-9397-08002B2CF9AE}" pid="3" name="ArticulateGUID">
    <vt:lpwstr>21AAAD43-917C-456B-A8E6-0989D909B622</vt:lpwstr>
  </property>
  <property fmtid="{D5CDD505-2E9C-101B-9397-08002B2CF9AE}" pid="4" name="ArticulatePath">
    <vt:lpwstr>01-ModSel_Concept-L1_revised v050820</vt:lpwstr>
  </property>
</Properties>
</file>