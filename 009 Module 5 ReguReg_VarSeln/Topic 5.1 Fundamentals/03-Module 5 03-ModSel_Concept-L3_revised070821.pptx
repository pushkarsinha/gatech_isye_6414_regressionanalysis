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4"/>
    <p:sldMasterId id="2147483712" r:id="rId5"/>
    <p:sldMasterId id="2147483713" r:id="rId6"/>
  </p:sldMasterIdLst>
  <p:notesMasterIdLst>
    <p:notesMasterId r:id="rId18"/>
  </p:notesMasterIdLst>
  <p:handoutMasterIdLst>
    <p:handoutMasterId r:id="rId19"/>
  </p:handoutMasterIdLst>
  <p:sldIdLst>
    <p:sldId id="489" r:id="rId7"/>
    <p:sldId id="498" r:id="rId8"/>
    <p:sldId id="477" r:id="rId9"/>
    <p:sldId id="528" r:id="rId10"/>
    <p:sldId id="530" r:id="rId11"/>
    <p:sldId id="531" r:id="rId12"/>
    <p:sldId id="479" r:id="rId13"/>
    <p:sldId id="532" r:id="rId14"/>
    <p:sldId id="519" r:id="rId15"/>
    <p:sldId id="527" r:id="rId16"/>
    <p:sldId id="344" r:id="rId17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89"/>
            <p14:sldId id="498"/>
            <p14:sldId id="477"/>
            <p14:sldId id="528"/>
            <p14:sldId id="530"/>
            <p14:sldId id="531"/>
            <p14:sldId id="479"/>
            <p14:sldId id="532"/>
            <p14:sldId id="519"/>
            <p14:sldId id="527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32" userDrawn="1">
          <p15:clr>
            <a:srgbClr val="A4A3A4"/>
          </p15:clr>
        </p15:guide>
        <p15:guide id="9" orient="horz" pos="3132" userDrawn="1">
          <p15:clr>
            <a:srgbClr val="A4A3A4"/>
          </p15:clr>
        </p15:guide>
        <p15:guide id="10" orient="horz" pos="21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3285FC2-DE5F-6427-D8EA-3EC329C72E3D}" name="Rodriguez, Ramon S" initials="RRS" userId="S::rbehndleman3@gatech.edu::2fd46b25-7eaa-49e2-87fd-bd0e69daa70a" providerId="AD"/>
  <p188:author id="{0E6B6AFC-8BFD-806F-D3AF-75EF9FEA13C7}" name="Richard Levine" initials="RL" userId="Richard Levin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6CAF"/>
    <a:srgbClr val="EEB211"/>
    <a:srgbClr val="8E4221"/>
    <a:srgbClr val="1F497D"/>
    <a:srgbClr val="984807"/>
    <a:srgbClr val="993200"/>
    <a:srgbClr val="F8FFF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19" autoAdjust="0"/>
    <p:restoredTop sz="89880" autoAdjust="0"/>
  </p:normalViewPr>
  <p:slideViewPr>
    <p:cSldViewPr snapToGrid="0">
      <p:cViewPr varScale="1">
        <p:scale>
          <a:sx n="106" d="100"/>
          <a:sy n="106" d="100"/>
        </p:scale>
        <p:origin x="1027" y="67"/>
      </p:cViewPr>
      <p:guideLst>
        <p:guide orient="horz" pos="1620"/>
        <p:guide pos="2880"/>
        <p:guide pos="120"/>
        <p:guide pos="336"/>
        <p:guide pos="3456"/>
        <p:guide pos="5664"/>
        <p:guide orient="horz" pos="396"/>
        <p:guide orient="horz" pos="732"/>
        <p:guide orient="horz" pos="3132"/>
        <p:guide orient="horz" pos="21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5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91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47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2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86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82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39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455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983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295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16904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395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6864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755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222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312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541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135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666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1573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2883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heme" Target="../theme/theme2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144704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880081947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custDataLst>
      <p:tags r:id="rId8"/>
    </p:custDataLst>
    <p:extLst>
      <p:ext uri="{BB962C8B-B14F-4D97-AF65-F5344CB8AC3E}">
        <p14:creationId xmlns:p14="http://schemas.microsoft.com/office/powerpoint/2010/main" val="138445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6" Type="http://schemas.openxmlformats.org/officeDocument/2006/relationships/image" Target="../media/image7.png"/><Relationship Id="rId5" Type="http://schemas.openxmlformats.org/officeDocument/2006/relationships/image" Target="../media/image6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2284" y="15546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="" xmlns:a16="http://schemas.microsoft.com/office/drawing/2014/main" id="{1FFC2AE0-8557-485C-BAF4-734CEE29C594}"/>
              </a:ext>
            </a:extLst>
          </p:cNvPr>
          <p:cNvSpPr>
            <a:spLocks noGrp="1"/>
          </p:cNvSpPr>
          <p:nvPr/>
        </p:nvSpPr>
        <p:spPr>
          <a:xfrm>
            <a:off x="84400" y="636404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 charset="0"/>
              </a:rPr>
              <a:t>Model Selection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="" xmlns:a16="http://schemas.microsoft.com/office/drawing/2014/main" id="{96194DD8-166E-44C1-B715-8F6DC720E8C3}"/>
              </a:ext>
            </a:extLst>
          </p:cNvPr>
          <p:cNvSpPr>
            <a:spLocks noGrp="1"/>
          </p:cNvSpPr>
          <p:nvPr/>
        </p:nvSpPr>
        <p:spPr>
          <a:xfrm>
            <a:off x="109567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="" xmlns:a16="http://schemas.microsoft.com/office/drawing/2014/main" id="{3991E73E-C815-4FA0-832B-EB68DDE0A519}"/>
              </a:ext>
            </a:extLst>
          </p:cNvPr>
          <p:cNvSpPr>
            <a:spLocks noGrp="1"/>
          </p:cNvSpPr>
          <p:nvPr/>
        </p:nvSpPr>
        <p:spPr>
          <a:xfrm>
            <a:off x="92789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Prediction Risk Estimation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597777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Bias-Variance Tradeoff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92992" y="901045"/>
                <a:ext cx="4789401" cy="373856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342900" indent="-342900">
                  <a:buFont typeface="Arial" charset="0"/>
                  <a:buChar char="•"/>
                </a:pP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Variable Selection: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Bias vs. Variance</a:t>
                </a:r>
              </a:p>
              <a:p>
                <a:pPr marL="687388" lvl="1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Many covariates</a:t>
                </a:r>
              </a:p>
              <a:p>
                <a:pPr marL="1031875" lvl="2" indent="-34290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Low bias, high variance</a:t>
                </a:r>
              </a:p>
              <a:p>
                <a:pPr marL="687388" lvl="1" indent="-34290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Few covariates</a:t>
                </a:r>
              </a:p>
              <a:p>
                <a:pPr marL="1031875" lvl="2" indent="-34290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High bias, low </a:t>
                </a:r>
                <a:r>
                  <a:rPr lang="en-US" sz="1500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variance</a:t>
                </a:r>
              </a:p>
              <a:p>
                <a:pPr marL="1031875" lvl="2" indent="-342900">
                  <a:buFont typeface="Arial" panose="020B0604020202020204" pitchFamily="34" charset="0"/>
                  <a:buChar char="•"/>
                </a:pPr>
                <a:endParaRPr lang="en-US" sz="1800" i="1" u="sng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buFont typeface="Arial" charset="0"/>
                  <a:buChar char="•"/>
                </a:pPr>
                <a:r>
                  <a:rPr lang="en-US" sz="1800" b="1" dirty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Prediction </a:t>
                </a: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Risk: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Measure of the Bias-Variance Tradeoff</a:t>
                </a:r>
              </a:p>
              <a:p>
                <a:pPr marL="6873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/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i="0">
                        <a:latin typeface="Cambria Math" charset="0"/>
                        <a:ea typeface="Cambria Math" charset="0"/>
                        <a:cs typeface="Cambria Math" charset="0"/>
                      </a:rPr>
                      <m:t>S</m:t>
                    </m:r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fitted response for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S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the future observation</a:t>
                </a:r>
              </a:p>
              <a:p>
                <a:pPr lvl="1" indent="0">
                  <a:buNone/>
                </a:pPr>
                <a:endParaRPr lang="en-US" sz="22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 indent="0">
                  <a:buNone/>
                </a:pPr>
                <a:endParaRPr lang="en-US" sz="2000" i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 indent="0">
                  <a:buNone/>
                </a:pPr>
                <a:endParaRPr lang="en-US" sz="22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92992" y="901045"/>
                <a:ext cx="4789401" cy="3738562"/>
              </a:xfrm>
              <a:prstGeom prst="rect">
                <a:avLst/>
              </a:prstGeom>
              <a:blipFill rotWithShape="0">
                <a:blip r:embed="rId4"/>
                <a:stretch>
                  <a:fillRect l="-763" t="-979" r="-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6E74FE2F-5956-4BEB-8F00-5E1D3C79BBA1}"/>
              </a:ext>
            </a:extLst>
          </p:cNvPr>
          <p:cNvSpPr txBox="1">
            <a:spLocks/>
          </p:cNvSpPr>
          <p:nvPr/>
        </p:nvSpPr>
        <p:spPr>
          <a:xfrm>
            <a:off x="5496516" y="1168788"/>
            <a:ext cx="3495083" cy="170354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vert="horz" wrap="square" lIns="182880" tIns="182880" rIns="182880" bIns="182880" rtlCol="0" anchor="ctr" anchorCtr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We cannot obtain the prediction risk because we do not have the future observations.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How to estimate?</a:t>
            </a:r>
            <a:endParaRPr lang="en-US" sz="1600" b="1" dirty="0">
              <a:solidFill>
                <a:srgbClr val="EEB21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922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57233"/>
            <a:ext cx="8562392" cy="606166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Training Risk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92279" y="896049"/>
                <a:ext cx="8264525" cy="40481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10000"/>
                  </a:lnSpc>
                  <a:buFont typeface="Arial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Replace future observations with actual observations</a:t>
                </a:r>
              </a:p>
              <a:p>
                <a:pPr marL="746125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39725">
                  <a:lnSpc>
                    <a:spcPct val="110000"/>
                  </a:lnSpc>
                  <a:spcAft>
                    <a:spcPts val="1800"/>
                  </a:spcAft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i="0">
                        <a:latin typeface="Cambria Math" charset="0"/>
                        <a:ea typeface="Cambria Math" charset="0"/>
                        <a:cs typeface="Cambria Math" charset="0"/>
                      </a:rPr>
                      <m:t>S</m:t>
                    </m:r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fitted response for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the actual observation </a:t>
                </a:r>
              </a:p>
              <a:p>
                <a:pPr marL="342900" indent="-342900">
                  <a:lnSpc>
                    <a:spcPct val="110000"/>
                  </a:lnSpc>
                  <a:spcBef>
                    <a:spcPts val="0"/>
                  </a:spcBef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Uses data twice (data snooping): downward bias in prediction risk estimate</a:t>
                </a:r>
              </a:p>
              <a:p>
                <a:pPr marL="342900" indent="-342900">
                  <a:lnSpc>
                    <a:spcPct val="110000"/>
                  </a:lnSpc>
                  <a:spcBef>
                    <a:spcPts val="0"/>
                  </a:spcBef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Always prefers/selects larger/more complex model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800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  </a:t>
                </a:r>
                <a:r>
                  <a:rPr lang="en-US" sz="1800" b="1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Correcting for the bias</a:t>
                </a:r>
                <a:endParaRPr lang="en-US" sz="1800" dirty="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tr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𝐶𝑜𝑚𝑝𝑙𝑒𝑥𝑖𝑡𝑦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𝑃𝑒𝑛𝑎𝑙𝑡𝑦</m:t>
                      </m:r>
                    </m:oMath>
                  </m:oMathPara>
                </a14:m>
                <a:endParaRPr lang="en-US" sz="18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92279" y="896049"/>
                <a:ext cx="8264525" cy="4048125"/>
              </a:xfrm>
              <a:prstGeom prst="rect">
                <a:avLst/>
              </a:prstGeom>
              <a:blipFill rotWithShape="0">
                <a:blip r:embed="rId4"/>
                <a:stretch>
                  <a:fillRect l="-590" t="-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4883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7" y="157233"/>
            <a:ext cx="8562392" cy="679704"/>
          </a:xfrm>
        </p:spPr>
        <p:txBody>
          <a:bodyPr/>
          <a:lstStyle/>
          <a:p>
            <a:pPr algn="l"/>
            <a:r>
              <a:rPr lang="en-US" sz="3600" dirty="0"/>
              <a:t>Variable Selection Criteria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0" y="769078"/>
                <a:ext cx="8264525" cy="2905125"/>
              </a:xfrm>
              <a:prstGeom prst="rect">
                <a:avLst/>
              </a:prstGeom>
            </p:spPr>
            <p:txBody>
              <a:bodyPr lIns="182880" tIns="182880" rIns="182880" bIns="182880">
                <a:normAutofit fontScale="92500" lnSpcReduction="10000"/>
              </a:bodyPr>
              <a:lstStyle/>
              <a:p>
                <a:pPr marL="285750" indent="-285750">
                  <a:lnSpc>
                    <a:spcPct val="11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è"/>
                </a:pPr>
                <a:r>
                  <a:rPr lang="en-US" sz="1800" b="1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Correcting for the bias: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tr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𝐶𝑜𝑚𝑝𝑙𝑒𝑥𝑖𝑡𝑦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𝑃𝑒𝑛𝑎𝑙𝑡𝑦</m:t>
                    </m:r>
                  </m:oMath>
                </a14:m>
                <a:r>
                  <a:rPr lang="en-US" sz="1800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 </a:t>
                </a:r>
              </a:p>
              <a:p>
                <a:pPr marL="285750" indent="-285750">
                  <a:lnSpc>
                    <a:spcPct val="110000"/>
                  </a:lnSpc>
                  <a:spcBef>
                    <a:spcPts val="0"/>
                  </a:spcBef>
                  <a:buFont typeface="Wingdings" panose="05000000000000000000" pitchFamily="2" charset="2"/>
                  <a:buChar char="è"/>
                </a:pPr>
                <a:r>
                  <a:rPr lang="en-US" sz="1800" b="1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Selection criteria </a:t>
                </a:r>
                <a:r>
                  <a:rPr lang="en-US" sz="1800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differ through the complexity penalty as follows</a:t>
                </a:r>
                <a:r>
                  <a:rPr lang="en-US" sz="1800" b="1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: </a:t>
                </a:r>
                <a:endParaRPr lang="en-US" sz="1800" i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Mallow’s Cp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with</a:t>
                </a: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𝐶𝑜𝑚𝑝𝑙𝑒𝑥𝑖𝑡𝑦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𝑃𝑒𝑛𝑎𝑙𝑡𝑦</m:t>
                    </m:r>
                  </m:oMath>
                </a14:m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=</a:t>
                </a:r>
              </a:p>
              <a:p>
                <a:pPr marL="344488"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where |S| is the model size (number of predictors) 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is the estimated variance based on the full model.</a:t>
                </a:r>
              </a:p>
              <a:p>
                <a:pPr marL="344488">
                  <a:lnSpc>
                    <a:spcPct val="110000"/>
                  </a:lnSpc>
                  <a:spcBef>
                    <a:spcPts val="0"/>
                  </a:spcBef>
                </a:pP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lnSpc>
                    <a:spcPct val="11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Akaike Information Criterion (AIC)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𝐶𝑜𝑚𝑝𝑙𝑒𝑥𝑖𝑡𝑦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𝑃𝑒𝑛𝑎𝑙𝑡𝑦</m:t>
                    </m:r>
                  </m:oMath>
                </a14:m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=  </a:t>
                </a:r>
                <a:b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</a:b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where |S| is the model size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is the true variance.</a:t>
                </a:r>
              </a:p>
              <a:p>
                <a:pPr marL="0" lvl="1" indent="0">
                  <a:buNone/>
                </a:pPr>
                <a:endParaRPr lang="en-US" sz="22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0" y="769078"/>
                <a:ext cx="8264525" cy="2905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462046" y="1516471"/>
                <a:ext cx="710451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2|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046" y="1516471"/>
                <a:ext cx="710451" cy="5557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651150" y="2744303"/>
                <a:ext cx="710451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2|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150" y="2744303"/>
                <a:ext cx="710451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325236" y="3674203"/>
                <a:ext cx="5541143" cy="92879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</a:ln>
              <a:effectLst/>
            </p:spPr>
            <p:txBody>
              <a:bodyPr vert="horz" lIns="182880" tIns="182880" rIns="182880" bIns="182880" rtlCol="0" anchor="ctr" anchorCtr="0">
                <a:normAutofit lnSpcReduction="10000"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27013" indent="-227013">
                  <a:lnSpc>
                    <a:spcPct val="120000"/>
                  </a:lnSpc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For AIC, we need to replace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with an estimate (from the full model or from the S </a:t>
                </a:r>
                <a:r>
                  <a:rPr lang="en-US" sz="16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36" y="3674203"/>
                <a:ext cx="5541143" cy="92879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4505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47" y="157233"/>
            <a:ext cx="8562392" cy="68576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Variable Selection Criteria (cont’d)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0" y="767492"/>
                <a:ext cx="8262938" cy="2544508"/>
              </a:xfrm>
              <a:prstGeom prst="rect">
                <a:avLst/>
              </a:prstGeom>
            </p:spPr>
            <p:txBody>
              <a:bodyPr lIns="182880" tIns="182880" rIns="182880" bIns="182880">
                <a:normAutofit fontScale="92500" lnSpcReduction="20000"/>
              </a:bodyPr>
              <a:lstStyle/>
              <a:p>
                <a:pPr marL="285750" indent="-285750">
                  <a:spcBef>
                    <a:spcPts val="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è"/>
                </a:pPr>
                <a:r>
                  <a:rPr lang="en-US" sz="1800" b="1" dirty="0" smtClean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Correcting </a:t>
                </a:r>
                <a:r>
                  <a:rPr lang="en-US" sz="1800" b="1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for the bias: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tr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𝐶𝑜𝑚𝑝𝑙𝑒𝑥𝑖𝑡𝑦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𝑃𝑒𝑛𝑎𝑙𝑡𝑦</m:t>
                    </m:r>
                  </m:oMath>
                </a14:m>
                <a:endParaRPr lang="en-US" sz="1800" dirty="0" smtClean="0">
                  <a:latin typeface="Helvetica" panose="020B0604020202020204" pitchFamily="34" charset="0"/>
                </a:endParaRPr>
              </a:p>
              <a:p>
                <a:pPr marL="285750" indent="-285750">
                  <a:spcBef>
                    <a:spcPts val="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è"/>
                </a:pPr>
                <a:r>
                  <a:rPr lang="en-US" sz="1800" b="1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Selection criteria </a:t>
                </a:r>
                <a:r>
                  <a:rPr lang="en-US" sz="1800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differ through the complexity penalty as follows</a:t>
                </a:r>
                <a:r>
                  <a:rPr lang="en-US" sz="1800" b="1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: </a:t>
                </a: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Bayesian Information Criterion (BIC)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with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endParaRPr lang="en-US" sz="1800" b="1" i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687388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𝐶𝑜𝑚𝑝𝑙𝑒𝑥𝑖𝑡𝑦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𝑃𝑒𝑛𝑎𝑙𝑡𝑦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39725">
                  <a:spcBef>
                    <a:spcPts val="0"/>
                  </a:spcBef>
                </a:pP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>
                  <a:spcBef>
                    <a:spcPts val="0"/>
                  </a:spcBef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where |S| is the model size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is the true variance</a:t>
                </a:r>
              </a:p>
              <a:p>
                <a:pPr lvl="1" indent="0">
                  <a:buNone/>
                </a:pP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0" y="767492"/>
                <a:ext cx="8262938" cy="254450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190500" y="3454168"/>
                <a:ext cx="5547570" cy="147732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</a:ln>
              <a:effectLst/>
            </p:spPr>
            <p:txBody>
              <a:bodyPr vert="horz" wrap="square" lIns="182880" tIns="182880" rIns="182880" bIns="182880" rtlCol="0" anchor="ctr" anchorCtr="0">
                <a:sp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27013" indent="-227013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For BIC, we need to replace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with an estimate (from the full model or from the S </a:t>
                </a:r>
                <a:r>
                  <a:rPr lang="en-US" sz="16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</a:t>
                </a:r>
              </a:p>
              <a:p>
                <a:pPr marL="227013" indent="-227013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BIC penalizes complexity more than other approaches</a:t>
                </a:r>
              </a:p>
              <a:p>
                <a:pPr marL="461963" lvl="1" indent="-261938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Preferred in model selection for prediction</a:t>
                </a:r>
                <a:endParaRPr lang="en-US" sz="1400" i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3454168"/>
                <a:ext cx="5547570" cy="1477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852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0" y="792658"/>
                <a:ext cx="8262938" cy="3940175"/>
              </a:xfrm>
              <a:prstGeom prst="rect">
                <a:avLst/>
              </a:prstGeom>
            </p:spPr>
            <p:txBody>
              <a:bodyPr lIns="182880" tIns="182880" rIns="182880" bIns="182880"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1800" dirty="0">
                    <a:solidFill>
                      <a:schemeClr val="tx2"/>
                    </a:solidFill>
                    <a:latin typeface="Helvetica Neue"/>
                    <a:sym typeface="Wingdings" panose="05000000000000000000" pitchFamily="2" charset="2"/>
                  </a:rPr>
                  <a:t>  </a:t>
                </a:r>
                <a:r>
                  <a:rPr lang="en-US" sz="1800" b="1" dirty="0">
                    <a:solidFill>
                      <a:schemeClr val="tx2"/>
                    </a:solidFill>
                    <a:latin typeface="Helvetica Neue"/>
                    <a:sym typeface="Wingdings" panose="05000000000000000000" pitchFamily="2" charset="2"/>
                  </a:rPr>
                  <a:t>Correcting for the bias:</a:t>
                </a:r>
                <a:r>
                  <a:rPr lang="en-US" sz="1800" b="1" dirty="0">
                    <a:solidFill>
                      <a:schemeClr val="accent1"/>
                    </a:solidFill>
                    <a:latin typeface="Helvetica Neue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tr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𝐶𝑜𝑚𝑝𝑙𝑒𝑥𝑖𝑡𝑦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𝑃𝑒𝑛𝑎𝑙𝑡𝑦</m:t>
                    </m:r>
                  </m:oMath>
                </a14:m>
                <a:endParaRPr lang="en-US" sz="1800" dirty="0">
                  <a:latin typeface="Helvetica Neue"/>
                </a:endParaRP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Helvetica Neue"/>
                  </a:rPr>
                  <a:t>Leave-one-out Cross Validation</a:t>
                </a:r>
              </a:p>
              <a:p>
                <a:pPr marL="7461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CV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8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1" i="1"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</m:acc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</m:d>
                                  <m:r>
                                    <a:rPr lang="en-US" sz="18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i="1" dirty="0">
                  <a:latin typeface="Helvetica Neue"/>
                </a:endParaRPr>
              </a:p>
              <a:p>
                <a:pPr marL="341313"/>
                <a:r>
                  <a:rPr lang="en-US" sz="1800" dirty="0">
                    <a:latin typeface="Helvetica Neue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</m:oMath>
                </a14:m>
                <a:r>
                  <a:rPr lang="en-US" sz="1800" dirty="0">
                    <a:latin typeface="Helvetica Neue"/>
                  </a:rPr>
                  <a:t> is the </a:t>
                </a:r>
                <a14:m>
                  <m:oMath xmlns:m="http://schemas.openxmlformats.org/officeDocument/2006/math">
                    <m:r>
                      <m:rPr>
                        <m:brk m:alnAt="25"/>
                      </m:rP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latin typeface="Helvetica Neue"/>
                  </a:rPr>
                  <a:t>-</a:t>
                </a:r>
                <a:r>
                  <a:rPr lang="en-US" sz="1800" dirty="0" err="1">
                    <a:latin typeface="Helvetica Neue"/>
                  </a:rPr>
                  <a:t>th</a:t>
                </a:r>
                <a:r>
                  <a:rPr lang="en-US" sz="1800" dirty="0">
                    <a:latin typeface="Helvetica Neue"/>
                  </a:rPr>
                  <a:t> predicted value from the S </a:t>
                </a:r>
                <a:r>
                  <a:rPr lang="en-US" sz="1800" dirty="0" err="1">
                    <a:latin typeface="Helvetica Neue"/>
                  </a:rPr>
                  <a:t>submodel</a:t>
                </a:r>
                <a:r>
                  <a:rPr lang="en-US" sz="1800" dirty="0">
                    <a:latin typeface="Helvetica Neue"/>
                  </a:rPr>
                  <a:t> without the </a:t>
                </a:r>
                <a:r>
                  <a:rPr lang="en-US" sz="1800" b="0" i="1" dirty="0">
                    <a:latin typeface="Cambria Math" panose="02040503050406030204" pitchFamily="18" charset="0"/>
                  </a:rPr>
                  <a:t/>
                </a:r>
                <a:br>
                  <a:rPr lang="en-US" sz="18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brk m:alnAt="25"/>
                      </m:rPr>
                      <a:rPr lang="en-US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>
                    <a:latin typeface="Helvetica Neue"/>
                  </a:rPr>
                  <a:t>-</a:t>
                </a:r>
                <a:r>
                  <a:rPr lang="en-US" sz="1800" dirty="0" err="1">
                    <a:latin typeface="Helvetica Neue"/>
                  </a:rPr>
                  <a:t>th</a:t>
                </a:r>
                <a:r>
                  <a:rPr lang="en-US" sz="1800" dirty="0">
                    <a:latin typeface="Helvetica Neue"/>
                  </a:rPr>
                  <a:t> observation</a:t>
                </a:r>
              </a:p>
              <a:p>
                <a:endParaRPr lang="en-US" sz="1800" dirty="0">
                  <a:latin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Helvetica Neue"/>
                  </a:rPr>
                  <a:t>Leave-one-out Cross Validation Approximation</a:t>
                </a:r>
              </a:p>
              <a:p>
                <a:pPr marL="746125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CV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tr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1800" dirty="0"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2|</m:t>
                        </m:r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r>
                  <a:rPr lang="en-US" sz="1800" dirty="0">
                    <a:latin typeface="Helvetica Neue" charset="0"/>
                    <a:ea typeface="Helvetica Neue" charset="0"/>
                    <a:cs typeface="Helvetica Neue" charset="0"/>
                  </a:rPr>
                  <a:t>      where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Helvetica Neue"/>
                  </a:rPr>
                  <a:t> </a:t>
                </a:r>
                <a:r>
                  <a:rPr lang="en-US" sz="1800" dirty="0">
                    <a:latin typeface="Helvetica Neue" charset="0"/>
                    <a:ea typeface="Helvetica Neue" charset="0"/>
                    <a:cs typeface="Helvetica Neue" charset="0"/>
                  </a:rPr>
                  <a:t>is the estimated variance based on the S </a:t>
                </a:r>
                <a:r>
                  <a:rPr lang="en-US" sz="1800" dirty="0" err="1">
                    <a:latin typeface="Helvetica Neue" charset="0"/>
                    <a:ea typeface="Helvetica Neue" charset="0"/>
                    <a:cs typeface="Helvetica Neue" charset="0"/>
                  </a:rPr>
                  <a:t>submodel</a:t>
                </a:r>
                <a:r>
                  <a:rPr lang="en-US" sz="1800" dirty="0">
                    <a:latin typeface="Helvetica Neue" charset="0"/>
                    <a:ea typeface="Helvetica Neue" charset="0"/>
                    <a:cs typeface="Helvetica Neue" charset="0"/>
                  </a:rPr>
                  <a:t>.</a:t>
                </a:r>
              </a:p>
              <a:p>
                <a:endParaRPr lang="en-US" sz="20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0" y="792658"/>
                <a:ext cx="8262938" cy="3940175"/>
              </a:xfrm>
              <a:prstGeom prst="rect">
                <a:avLst/>
              </a:prstGeom>
              <a:blipFill>
                <a:blip r:embed="rId4"/>
                <a:stretch>
                  <a:fillRect b="-1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="" xmlns:a16="http://schemas.microsoft.com/office/drawing/2014/main" id="{DCB1F9CB-CA80-478F-AE14-1DB7748C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47" y="157233"/>
            <a:ext cx="8562392" cy="685760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Variable Selection Criteria (cont’d)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4093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58" y="157233"/>
            <a:ext cx="8562392" cy="606166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Generalized 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00668" y="902894"/>
                <a:ext cx="8083550" cy="393858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Training Risk for Generalized Linear Models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(including for logistic regression and Poisson regression)</a:t>
                </a:r>
              </a:p>
              <a:p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6873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tr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S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log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⁡[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alt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]+2(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log</m:t>
                          </m:r>
                          <m:r>
                            <a:rPr lang="en-US" alt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⁡[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(</m:t>
                              </m:r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altLang="en-US" sz="1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8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  <m:r>
                            <a:rPr lang="en-US" alt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])</m:t>
                          </m:r>
                        </m:e>
                      </m:nary>
                    </m:oMath>
                  </m:oMathPara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>
                  <a:tabLst>
                    <a:tab pos="460375" algn="l"/>
                  </a:tabLst>
                </a:pPr>
                <a:endParaRPr lang="en-US" sz="1800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>
                  <a:tabLst>
                    <a:tab pos="460375" algn="l"/>
                  </a:tabLst>
                </a:pPr>
                <a:r>
                  <a:rPr 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fitted response for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the actual observation</a:t>
                </a:r>
              </a:p>
              <a:p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1800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  </a:t>
                </a:r>
                <a:r>
                  <a:rPr lang="en-US" sz="1800" b="1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  <a:sym typeface="Wingdings" panose="05000000000000000000" pitchFamily="2" charset="2"/>
                  </a:rPr>
                  <a:t>Correcting for the bias: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tr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𝐶𝑜𝑚𝑝𝑙𝑒𝑥𝑖𝑡𝑦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𝑃𝑒𝑛𝑎𝑙𝑡𝑦</m:t>
                    </m:r>
                  </m:oMath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AIC &amp; BIC are commonly used for model selection for GLMs</a:t>
                </a:r>
              </a:p>
              <a:p>
                <a:pPr lvl="1" indent="0">
                  <a:buNone/>
                </a:pPr>
                <a:endParaRPr lang="en-US" sz="22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00668" y="902894"/>
                <a:ext cx="8083550" cy="3938588"/>
              </a:xfrm>
              <a:prstGeom prst="rect">
                <a:avLst/>
              </a:prstGeom>
              <a:blipFill rotWithShape="0">
                <a:blip r:embed="rId4"/>
                <a:stretch>
                  <a:fillRect l="-679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9097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5394121" y="1062180"/>
            <a:ext cx="359887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b="1" i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Which variables are associated with state average SAT scores?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b="1" i="1" dirty="0">
              <a:solidFill>
                <a:srgbClr val="EEB211"/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b="1" i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After accounting for selection biases, how do the states rank?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1600" b="1" i="1" dirty="0">
              <a:solidFill>
                <a:srgbClr val="EEB211"/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b="1" i="1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rPr>
              <a:t>Which states perform best for the amount of money they spend?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631333"/>
          </a:xfrm>
        </p:spPr>
        <p:txBody>
          <a:bodyPr/>
          <a:lstStyle/>
          <a:p>
            <a:r>
              <a:rPr lang="en-US" altLang="zh-CN" sz="3600" dirty="0">
                <a:latin typeface="Vitesse"/>
              </a:rPr>
              <a:t>Ranking</a:t>
            </a:r>
            <a:r>
              <a:rPr lang="zh-CN" altLang="en-US" sz="3600" dirty="0">
                <a:latin typeface="Vitesse"/>
              </a:rPr>
              <a:t> </a:t>
            </a:r>
            <a:r>
              <a:rPr lang="en-US" altLang="zh-CN" sz="3600" dirty="0">
                <a:latin typeface="Vitesse"/>
              </a:rPr>
              <a:t>States</a:t>
            </a:r>
            <a:r>
              <a:rPr lang="zh-CN" altLang="en-US" sz="3600" dirty="0">
                <a:latin typeface="Vitesse"/>
              </a:rPr>
              <a:t> </a:t>
            </a:r>
            <a:r>
              <a:rPr lang="en-US" altLang="zh-CN" sz="3600" dirty="0">
                <a:latin typeface="Vitesse"/>
              </a:rPr>
              <a:t>by</a:t>
            </a:r>
            <a:r>
              <a:rPr lang="zh-CN" altLang="en-US" sz="3600" dirty="0">
                <a:latin typeface="Vitesse"/>
              </a:rPr>
              <a:t> </a:t>
            </a:r>
            <a:r>
              <a:rPr lang="en-US" altLang="zh-CN" sz="3600" dirty="0">
                <a:latin typeface="Vitesse"/>
              </a:rPr>
              <a:t>SAT</a:t>
            </a:r>
            <a:r>
              <a:rPr lang="zh-CN" altLang="en-US" sz="3600" dirty="0">
                <a:latin typeface="Vitesse"/>
              </a:rPr>
              <a:t> </a:t>
            </a:r>
            <a:r>
              <a:rPr lang="en-US" altLang="zh-CN" sz="3600" dirty="0">
                <a:latin typeface="Vitesse"/>
              </a:rPr>
              <a:t>Performance</a:t>
            </a:r>
            <a:endParaRPr lang="zh-CN" altLang="en-US" sz="3600" dirty="0">
              <a:latin typeface="Vitess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77" y="1175256"/>
            <a:ext cx="4392305" cy="29940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9577" y="4272771"/>
            <a:ext cx="43724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SAT Mean Score by State – Year 1982</a:t>
            </a:r>
          </a:p>
          <a:p>
            <a:pPr algn="ctr"/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790 (South Carolina) – 1088 (Iowa)</a:t>
            </a:r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578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115761" y="977900"/>
            <a:ext cx="445623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library(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CombMSC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 =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nrow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datasat</a:t>
            </a: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>
              <a:defRPr/>
            </a:pPr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full model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c(Cp(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regression.line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S2=summary(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regression.line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)$sigma^2), 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AIC(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regression.line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k=2), AIC(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regression.line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k=log(n)))</a:t>
            </a:r>
          </a:p>
          <a:p>
            <a:pPr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  7.016756 471.698197 486.994381</a:t>
            </a:r>
          </a:p>
          <a:p>
            <a:pPr>
              <a:defRPr/>
            </a:pPr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reduced model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c(Cp(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regression.red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S2=summary(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regression.line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)$sigma^2), 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AIC(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regression.red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k=2), AIC(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regression.red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k=log(n)))</a:t>
            </a:r>
            <a:endParaRPr lang="de-DE" sz="12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de-DE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 29.67045 490.59880 498.24689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94222" y="915216"/>
                <a:ext cx="3505199" cy="3524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Mallow’s </a:t>
                </a:r>
                <a:r>
                  <a:rPr lang="en-US" sz="16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Cp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= 24.86 is the estimated standard deviation for the full model</a:t>
                </a:r>
              </a:p>
              <a:p>
                <a:pPr marL="742950" lvl="1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Use the estimated variance,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^2, as the S2 parameter value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BIC: Similar to AIC, but the AIC complexity is further penalized by </a:t>
                </a:r>
                <a:r>
                  <a:rPr lang="en-US" sz="160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log(n</a:t>
                </a:r>
                <a:r>
                  <a:rPr lang="en-US" sz="160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)   </a:t>
                </a:r>
                <a:endParaRPr 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values of the three criteria are different and not comparable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full model is better according to all three criteria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222" y="915216"/>
                <a:ext cx="3505199" cy="3524042"/>
              </a:xfrm>
              <a:prstGeom prst="rect">
                <a:avLst/>
              </a:prstGeom>
              <a:blipFill rotWithShape="0">
                <a:blip r:embed="rId3"/>
                <a:stretch>
                  <a:fillRect l="-696" t="-519" r="-1565" b="-1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/>
          <p:cNvSpPr txBox="1">
            <a:spLocks/>
          </p:cNvSpPr>
          <p:nvPr/>
        </p:nvSpPr>
        <p:spPr>
          <a:xfrm>
            <a:off x="78996" y="250405"/>
            <a:ext cx="8382000" cy="60166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latin typeface="Vitesse"/>
                <a:ea typeface="Vitesse" charset="0"/>
                <a:cs typeface="Vitesse" charset="0"/>
              </a:rPr>
              <a:t>Model Selection Criteria Using R</a:t>
            </a:r>
          </a:p>
        </p:txBody>
      </p:sp>
      <p:sp>
        <p:nvSpPr>
          <p:cNvPr id="10" name="Oval 9"/>
          <p:cNvSpPr/>
          <p:nvPr/>
        </p:nvSpPr>
        <p:spPr>
          <a:xfrm>
            <a:off x="7277503" y="949705"/>
            <a:ext cx="624926" cy="283478"/>
          </a:xfrm>
          <a:prstGeom prst="ellipse">
            <a:avLst/>
          </a:prstGeom>
          <a:noFill/>
          <a:ln w="19050">
            <a:solidFill>
              <a:srgbClr val="3F6C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573655" y="1711409"/>
            <a:ext cx="2931234" cy="274065"/>
          </a:xfrm>
          <a:prstGeom prst="ellipse">
            <a:avLst/>
          </a:prstGeom>
          <a:noFill/>
          <a:ln w="19050">
            <a:solidFill>
              <a:srgbClr val="3F6C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556878" y="2632667"/>
            <a:ext cx="2931234" cy="269615"/>
          </a:xfrm>
          <a:prstGeom prst="ellipse">
            <a:avLst/>
          </a:prstGeom>
          <a:noFill/>
          <a:ln w="19050">
            <a:solidFill>
              <a:srgbClr val="3F6CA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268906" y="1945096"/>
            <a:ext cx="850088" cy="20248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246503" y="2856685"/>
            <a:ext cx="797092" cy="21040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="" xmlns:a16="http://schemas.microsoft.com/office/drawing/2014/main" id="{AA8364FC-E459-4AEA-A240-55144A87B7FA}"/>
              </a:ext>
            </a:extLst>
          </p:cNvPr>
          <p:cNvSpPr/>
          <p:nvPr/>
        </p:nvSpPr>
        <p:spPr>
          <a:xfrm>
            <a:off x="1523320" y="2850051"/>
            <a:ext cx="380982" cy="210400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EB21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="" xmlns:a16="http://schemas.microsoft.com/office/drawing/2014/main" id="{D93003E9-4993-47EE-9069-35566A4A93E3}"/>
              </a:ext>
            </a:extLst>
          </p:cNvPr>
          <p:cNvSpPr/>
          <p:nvPr/>
        </p:nvSpPr>
        <p:spPr>
          <a:xfrm>
            <a:off x="1540097" y="1937182"/>
            <a:ext cx="372593" cy="210400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EB21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C5BDEE91-04F6-4D79-B7C6-66C9BF6AB48C}"/>
              </a:ext>
            </a:extLst>
          </p:cNvPr>
          <p:cNvSpPr/>
          <p:nvPr/>
        </p:nvSpPr>
        <p:spPr>
          <a:xfrm>
            <a:off x="5716279" y="2503759"/>
            <a:ext cx="476738" cy="24473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A0282340-4248-4EBB-8DC0-7F1CB4B136C3}"/>
              </a:ext>
            </a:extLst>
          </p:cNvPr>
          <p:cNvSpPr/>
          <p:nvPr/>
        </p:nvSpPr>
        <p:spPr>
          <a:xfrm>
            <a:off x="7046860" y="2481797"/>
            <a:ext cx="476738" cy="283478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EB21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030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6" grpId="0" animBg="1"/>
      <p:bldP spid="2" grpId="0" animBg="1"/>
      <p:bldP spid="3" grpId="0" animBg="1"/>
      <p:bldP spid="18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THEMEGTX" val="C6KI8G8E"/>
  <p:tag name="ARTICULATE_DESIGN_ID_4_FULL PAGE LAYOUT" val="UuIZA2fa"/>
  <p:tag name="ARTICULATE_DESIGN_ID_FULL PAGE LAYOUT" val="bwhTdg5i"/>
  <p:tag name="ARTICULATE_DESIGN_ID_2_OFFICE THEME" val="0xK1EcdR"/>
  <p:tag name="ARTICULATE_DESIGN_ID_3_OFFICE THEME" val="V5ceKshG"/>
  <p:tag name="ARTICULATE_DESIGN_ID_1_HALF PAGE SLASH" val="QoPomD5O"/>
  <p:tag name="ARTICULATE_DESIGN_ID_2_HALF PAGE SLASH" val="HHVX1gag"/>
  <p:tag name="ARTICULATE_DESIGN_ID_1_FULL PAGE LAYOUT" val="CE0V9jg9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B8D62D-BE99-40AF-BF97-BFAE812B12CE}">
  <ds:schemaRefs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b057fda7-913b-4ab6-8820-932873bcd66c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17321</TotalTime>
  <Words>270</Words>
  <Application>Microsoft Office PowerPoint</Application>
  <PresentationFormat>On-screen Show (16:9)</PresentationFormat>
  <Paragraphs>103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MS PGothic</vt:lpstr>
      <vt:lpstr>宋体</vt:lpstr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Wingdings</vt:lpstr>
      <vt:lpstr>1_Half Page Slash</vt:lpstr>
      <vt:lpstr>2_Half Page Slash</vt:lpstr>
      <vt:lpstr>1_Full Page Layout</vt:lpstr>
      <vt:lpstr>PowerPoint Presentation</vt:lpstr>
      <vt:lpstr>PowerPoint Presentation</vt:lpstr>
      <vt:lpstr>Bias-Variance Tradeoff</vt:lpstr>
      <vt:lpstr>Training Risk</vt:lpstr>
      <vt:lpstr>Variable Selection Criteria</vt:lpstr>
      <vt:lpstr>Variable Selection Criteria (cont’d) </vt:lpstr>
      <vt:lpstr>Variable Selection Criteria (cont’d) </vt:lpstr>
      <vt:lpstr>Generalized Linear Models</vt:lpstr>
      <vt:lpstr>Ranking States by SAT Performance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806</cp:revision>
  <dcterms:modified xsi:type="dcterms:W3CDTF">2021-06-07T09:47:55Z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98B57BB1-46AB-41DD-9BF9-BD5DA699E1BF</vt:lpwstr>
  </property>
  <property fmtid="{D5CDD505-2E9C-101B-9397-08002B2CF9AE}" pid="4" name="ArticulatePath">
    <vt:lpwstr>03-ModSel_Concept-L3_revised v050820</vt:lpwstr>
  </property>
</Properties>
</file>