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E5_1AC6AB03.xml" ContentType="application/vnd.ms-powerpoint.comments+xml"/>
  <Override PartName="/ppt/comments/modernComment_1E3_B087F921.xml" ContentType="application/vnd.ms-powerpoint.comments+xml"/>
  <Override PartName="/ppt/comments/modernComment_1EC_CEDBE025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4"/>
    <p:sldMasterId id="2147483715" r:id="rId5"/>
    <p:sldMasterId id="2147483716" r:id="rId6"/>
  </p:sldMasterIdLst>
  <p:notesMasterIdLst>
    <p:notesMasterId r:id="rId16"/>
  </p:notesMasterIdLst>
  <p:handoutMasterIdLst>
    <p:handoutMasterId r:id="rId17"/>
  </p:handoutMasterIdLst>
  <p:sldIdLst>
    <p:sldId id="496" r:id="rId7"/>
    <p:sldId id="498" r:id="rId8"/>
    <p:sldId id="485" r:id="rId9"/>
    <p:sldId id="482" r:id="rId10"/>
    <p:sldId id="489" r:id="rId11"/>
    <p:sldId id="483" r:id="rId12"/>
    <p:sldId id="492" r:id="rId13"/>
    <p:sldId id="495" r:id="rId14"/>
    <p:sldId id="344" r:id="rId15"/>
  </p:sldIdLst>
  <p:sldSz cx="9144000" cy="5143500" type="screen16x9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96"/>
            <p14:sldId id="498"/>
            <p14:sldId id="485"/>
            <p14:sldId id="482"/>
            <p14:sldId id="489"/>
            <p14:sldId id="483"/>
            <p14:sldId id="492"/>
            <p14:sldId id="495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732" userDrawn="1">
          <p15:clr>
            <a:srgbClr val="A4A3A4"/>
          </p15:clr>
        </p15:guide>
        <p15:guide id="8" orient="horz" pos="3132" userDrawn="1">
          <p15:clr>
            <a:srgbClr val="A4A3A4"/>
          </p15:clr>
        </p15:guide>
        <p15:guide id="9" orient="horz" pos="396" userDrawn="1">
          <p15:clr>
            <a:srgbClr val="A4A3A4"/>
          </p15:clr>
        </p15:guide>
        <p15:guide id="10" pos="5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1F497D"/>
    <a:srgbClr val="3F6CAF"/>
    <a:srgbClr val="8E4221"/>
    <a:srgbClr val="984807"/>
    <a:srgbClr val="993200"/>
    <a:srgbClr val="F8FFF1"/>
    <a:srgbClr val="EEB21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03" autoAdjust="0"/>
    <p:restoredTop sz="89904" autoAdjust="0"/>
  </p:normalViewPr>
  <p:slideViewPr>
    <p:cSldViewPr snapToGrid="0">
      <p:cViewPr varScale="1">
        <p:scale>
          <a:sx n="78" d="100"/>
          <a:sy n="78" d="100"/>
        </p:scale>
        <p:origin x="1076" y="44"/>
      </p:cViewPr>
      <p:guideLst>
        <p:guide orient="horz" pos="1620"/>
        <p:guide pos="2880"/>
        <p:guide pos="120"/>
        <p:guide pos="336"/>
        <p:guide pos="3456"/>
        <p:guide pos="5664"/>
        <p:guide orient="horz" pos="732"/>
        <p:guide orient="horz" pos="3132"/>
        <p:guide orient="horz" pos="396"/>
        <p:guide pos="5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28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omments/modernComment_1E3_B087F92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B49CC5-9E72-4D21-B54A-B3663247C390}" authorId="{0E6B6AFC-8BFD-806F-D3AF-75EF9FEA13C7}" created="2020-04-25T00:04:30.359">
    <pc:sldMkLst xmlns:pc="http://schemas.microsoft.com/office/powerpoint/2013/main/command">
      <pc:docMk/>
      <pc:sldMk cId="2961701153" sldId="483"/>
    </pc:sldMkLst>
    <p188:txBody>
      <a:bodyPr/>
      <a:lstStyle/>
      <a:p>
        <a:r>
          <a:rPr lang="en-US"/>
          <a:t>I've changed this slide significantly. Please check.</a:t>
        </a:r>
      </a:p>
    </p188:txBody>
  </p188:cm>
</p188:cmLst>
</file>

<file path=ppt/comments/modernComment_1E5_1AC6AB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B887FF-A2E3-4272-B90E-BF3F277ABE55}" authorId="{0E6B6AFC-8BFD-806F-D3AF-75EF9FEA13C7}" created="2020-04-24T23:22:28.054">
    <pc:sldMkLst xmlns:pc="http://schemas.microsoft.com/office/powerpoint/2013/main/command">
      <pc:docMk/>
      <pc:sldMk cId="449227523" sldId="485"/>
    </pc:sldMkLst>
    <p188:txBody>
      <a:bodyPr/>
      <a:lstStyle/>
      <a:p>
        <a:r>
          <a:rPr lang="en-US"/>
          <a:t>As in the previous lecture, there are two versions of this slide. I have provided two versions of both this slide and the next. One set should be deleted.</a:t>
        </a:r>
      </a:p>
    </p188:txBody>
  </p188:cm>
</p188:cmLst>
</file>

<file path=ppt/comments/modernComment_1EC_CEDBE0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F2F2B2-77DF-4487-842E-603114FC071A}" authorId="{0E6B6AFC-8BFD-806F-D3AF-75EF9FEA13C7}" created="2020-04-25T04:40:05.604">
    <pc:sldMkLst xmlns:pc="http://schemas.microsoft.com/office/powerpoint/2013/main/command">
      <pc:docMk/>
      <pc:sldMk cId="3470516261" sldId="492"/>
    </pc:sldMkLst>
    <p188:txBody>
      <a:bodyPr/>
      <a:lstStyle/>
      <a:p>
        <a:r>
          <a:rPr lang="en-US"/>
          <a:t>I have changed this slide significantly. Please check.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05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13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14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5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031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968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655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77952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230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370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0476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08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310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159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2137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1452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7118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1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123488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46444743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167236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5" Type="http://schemas.microsoft.com/office/2018/10/relationships/comments" Target="../comments/modernComment_1E5_1AC6AB0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5" Type="http://schemas.microsoft.com/office/2018/10/relationships/comments" Target="../comments/modernComment_1E3_B087F92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5" Type="http://schemas.microsoft.com/office/2018/10/relationships/comments" Target="../comments/modernComment_1EC_CEDBE02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5546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FFC2AE0-8557-485C-BAF4-734CEE29C594}"/>
              </a:ext>
            </a:extLst>
          </p:cNvPr>
          <p:cNvSpPr>
            <a:spLocks noGrp="1"/>
          </p:cNvSpPr>
          <p:nvPr/>
        </p:nvSpPr>
        <p:spPr>
          <a:xfrm>
            <a:off x="84400" y="636404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 charset="0"/>
              </a:rPr>
              <a:t>Model Selection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31F23D3-5816-48AC-8D0D-C0F8D33AF991}"/>
              </a:ext>
            </a:extLst>
          </p:cNvPr>
          <p:cNvSpPr>
            <a:spLocks noGrp="1"/>
          </p:cNvSpPr>
          <p:nvPr/>
        </p:nvSpPr>
        <p:spPr>
          <a:xfrm>
            <a:off x="92789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1F497D"/>
                </a:solidFill>
              </a:rPr>
              <a:t>Model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65622"/>
            <a:ext cx="8562392" cy="622944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Bias-Variance Tradeoff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06610" y="901045"/>
                <a:ext cx="4780637" cy="373856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Variable Selection: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Bias vs. Variance</a:t>
                </a: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Many covariates</a:t>
                </a:r>
              </a:p>
              <a:p>
                <a:pPr marL="1031875" lvl="2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Low bias, high variance</a:t>
                </a: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Few covariates</a:t>
                </a:r>
              </a:p>
              <a:p>
                <a:pPr marL="1031875" lvl="2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High bias, low variance</a:t>
                </a:r>
                <a:endParaRPr lang="en-US" sz="1600" i="1" u="sng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Too few covariates</a:t>
                </a:r>
              </a:p>
              <a:p>
                <a:pPr marL="1031875" lvl="2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High bias, high variance</a:t>
                </a:r>
                <a:endParaRPr lang="en-US" sz="2000" i="1" u="sng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Prediction Risk: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Measure of the Bias-Variance Tradeoff</a:t>
                </a:r>
              </a:p>
              <a:p>
                <a:pPr marL="6873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/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S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fitted response for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S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future observation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06610" y="901045"/>
                <a:ext cx="4780637" cy="3738562"/>
              </a:xfrm>
              <a:prstGeom prst="rect">
                <a:avLst/>
              </a:prstGeom>
              <a:blipFill>
                <a:blip r:embed="rId4"/>
                <a:stretch>
                  <a:fillRect l="-764" t="-979" b="-9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A3740E-9F65-4B06-BF0B-87CF0871F118}"/>
              </a:ext>
            </a:extLst>
          </p:cNvPr>
          <p:cNvSpPr txBox="1">
            <a:spLocks/>
          </p:cNvSpPr>
          <p:nvPr/>
        </p:nvSpPr>
        <p:spPr>
          <a:xfrm>
            <a:off x="5486400" y="990349"/>
            <a:ext cx="3505199" cy="19451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lIns="182880" tIns="182880" rIns="182880" bIns="182880" rtlCol="0" anchor="ctr" anchorCtr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Given an estimate of the prediction risk for a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submodel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S, choose the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submodel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with the smallest prediction risk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è"/>
            </a:pPr>
            <a:r>
              <a:rPr lang="en-US" sz="1600" b="1" i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How to search over all </a:t>
            </a:r>
            <a:r>
              <a:rPr lang="en-US" sz="1600" b="1" i="1" dirty="0" err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submodels</a:t>
            </a:r>
            <a:r>
              <a:rPr lang="en-US" sz="1600" b="1" i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n-US" sz="1600" b="1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922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  <p:extLst mod="1">
    <p:ext uri="{6950BFC3-D8DA-4A85-94F7-54DA5524770B}">
      <p188:commentRel xmlns:p188="http://schemas.microsoft.com/office/powerpoint/2018/8/main" xmlns="" r:id="rId5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622944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Search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9007" y="904438"/>
            <a:ext cx="8524875" cy="393858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is the number of predicting variables, there are </a:t>
            </a: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2</a:t>
            </a:r>
            <a:r>
              <a:rPr lang="en-US" sz="1800" b="1" i="1" baseline="40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possible </a:t>
            </a:r>
            <a:r>
              <a:rPr lang="en-US" sz="1800" dirty="0" err="1">
                <a:latin typeface="Helvetica" panose="020B0604020202020204" pitchFamily="34" charset="0"/>
                <a:cs typeface="Helvetica" panose="020B0604020202020204" pitchFamily="34" charset="0"/>
              </a:rPr>
              <a:t>submodels</a:t>
            </a: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7388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is small</a:t>
            </a:r>
          </a:p>
          <a:p>
            <a:pPr marL="1031875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Fit all </a:t>
            </a:r>
            <a:r>
              <a:rPr 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submodels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7388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If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is large</a:t>
            </a:r>
          </a:p>
          <a:p>
            <a:pPr marL="1031875" lvl="2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Search using heuristics/greedy search</a:t>
            </a:r>
          </a:p>
          <a:p>
            <a:pPr marL="342900" indent="-342900">
              <a:buFont typeface="Arial" charset="0"/>
              <a:buChar char="•"/>
            </a:pP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Stepwise Regression</a:t>
            </a: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7388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Forward</a:t>
            </a:r>
          </a:p>
          <a:p>
            <a:pPr marL="1031875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Start with no predictors, add one at a time</a:t>
            </a:r>
          </a:p>
          <a:p>
            <a:pPr marL="687388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Backward</a:t>
            </a:r>
          </a:p>
          <a:p>
            <a:pPr marL="1031875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Start with all predictors, drop one at a time</a:t>
            </a:r>
          </a:p>
          <a:p>
            <a:pPr marL="687388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Forward-Backward</a:t>
            </a:r>
          </a:p>
          <a:p>
            <a:pPr marL="1031875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Add and drop one variable at a time iteratively</a:t>
            </a:r>
            <a:endParaRPr lang="en-US" sz="18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607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2CEC79-CF6A-4053-BD3E-9C0B16519A6D}"/>
              </a:ext>
            </a:extLst>
          </p:cNvPr>
          <p:cNvSpPr txBox="1">
            <a:spLocks/>
          </p:cNvSpPr>
          <p:nvPr/>
        </p:nvSpPr>
        <p:spPr>
          <a:xfrm>
            <a:off x="201413" y="1177336"/>
            <a:ext cx="6937618" cy="2637826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 vert="horz" lIns="182880" tIns="182880" rIns="182880" bIns="182880" rtlCol="0" anchor="ctr" anchorCtr="0"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175" indent="-3937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Stepwise regression is a greedy algorithm. It does not guarantee to find the model with the best score.</a:t>
            </a:r>
          </a:p>
          <a:p>
            <a:pPr marL="511175" indent="-3937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Forward stepwise regression is preferable to backward stepwise regression.</a:t>
            </a:r>
          </a:p>
          <a:p>
            <a:pPr marL="511175" indent="-3937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Forward stepwise regression does not necessarily select the same model as the one selected using backward stepwise regression.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788D7C-32B0-4306-9B31-19982397CF63}"/>
              </a:ext>
            </a:extLst>
          </p:cNvPr>
          <p:cNvSpPr txBox="1">
            <a:spLocks/>
          </p:cNvSpPr>
          <p:nvPr/>
        </p:nvSpPr>
        <p:spPr>
          <a:xfrm>
            <a:off x="76180" y="157233"/>
            <a:ext cx="8562392" cy="62294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>
                <a:latin typeface="Vitesse"/>
              </a:rPr>
              <a:t>Model 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169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665122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Forward Stepwise Regression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200127" y="948189"/>
                <a:ext cx="8532812" cy="4033838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Select criterion for model selection (e.g., AIC)</a:t>
                </a:r>
              </a:p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Establish minimum model, and compute its criterion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</a:p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Fit</a:t>
                </a:r>
                <a:r>
                  <a:rPr lang="en-US" sz="16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marginal regressions for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predictors,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=1,⋯,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),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that are not in minimum model</a:t>
                </a:r>
                <a:endParaRPr lang="en-US" sz="16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the criterion value for the model that includes the </a:t>
                </a:r>
                <a:r>
                  <a:rPr lang="en-US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j</a:t>
                </a:r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</a:t>
                </a:r>
                <a:r>
                  <a:rPr lang="en-US" sz="14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th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predictor,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possible, select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whose inclusion yields the </a:t>
                </a:r>
                <a:r>
                  <a:rPr lang="en-US" sz="1400" u="sng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smallest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criterion value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here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exists, add it to the minimum model and continue; otherwise, stop</a:t>
                </a:r>
              </a:p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Fit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-1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regressions, and use the same method to test if another predictor should be added</a:t>
                </a: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tabLst>
                    <a:tab pos="744538" algn="l"/>
                  </a:tabLst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Regressions will now be based on models with the previous predictors, including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and with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additionally included one at a time, for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=1,⋯,(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−1), (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+1),⋯,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tabLst>
                    <a:tab pos="744538" algn="l"/>
                  </a:tabLst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possible, select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whose inclusion yields the </a:t>
                </a:r>
                <a:r>
                  <a:rPr lang="en-US" sz="1400" u="sng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smallest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criterion value where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1082675" lvl="2" indent="-395288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based on the current regressions;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based on the regressions from the previous step</a:t>
                </a: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exists, add it to the model and continue; otherwise, stop</a:t>
                </a:r>
              </a:p>
              <a:p>
                <a:pPr marL="344488" lvl="0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6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Continue adding predictors one at a time until the criterion does not improve</a:t>
                </a:r>
                <a:endParaRPr lang="en-US" sz="16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200127" y="948189"/>
                <a:ext cx="8532812" cy="4033838"/>
              </a:xfrm>
              <a:prstGeom prst="rect">
                <a:avLst/>
              </a:prstGeom>
              <a:blipFill>
                <a:blip r:embed="rId4"/>
                <a:stretch>
                  <a:fillRect l="-1357" t="-1059" r="-357" b="-2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6170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6950BFC3-D8DA-4A85-94F7-54DA5524770B}">
      <p188:commentRel xmlns:p188="http://schemas.microsoft.com/office/powerpoint/2018/8/main" xmlns="" r:id="rId5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639722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Backward Stepwise Regression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201336" y="981236"/>
                <a:ext cx="8790264" cy="4386262"/>
              </a:xfrm>
              <a:prstGeom prst="rect">
                <a:avLst/>
              </a:prstGeom>
            </p:spPr>
            <p:txBody>
              <a:bodyPr wrap="square" lIns="0" tIns="0" rIns="0" bIns="0">
                <a:noAutofit/>
              </a:bodyPr>
              <a:lstStyle/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Select criterion for model selection (e.g., AIC)</a:t>
                </a:r>
              </a:p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Establish the minimum model and the predictors that must be included</a:t>
                </a:r>
              </a:p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Fit full model with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additional predictors not in the minimum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=1,⋯,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), 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and compute its criterion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Fit</a:t>
                </a:r>
                <a:r>
                  <a:rPr lang="en-US" sz="14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regressions, 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removing one predictor,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=1,⋯,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), 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each time</a:t>
                </a:r>
                <a:endParaRPr lang="en-US" sz="14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the criterion value for the model that excludes the </a:t>
                </a:r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j</a:t>
                </a:r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</a:t>
                </a:r>
                <a:r>
                  <a:rPr lang="en-US" sz="12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th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predictor</a:t>
                </a:r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12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possible, select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whose removal yields the </a:t>
                </a:r>
                <a:r>
                  <a:rPr lang="en-US" sz="1200" u="sng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smallest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criterion value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here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endParaRPr lang="en-US" sz="12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exists, remove it from the full model and continue; otherwise, stop</a:t>
                </a:r>
              </a:p>
              <a:p>
                <a:pPr marL="344488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Fit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-1</a:t>
                </a: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regressions, and use the same method to test if another predictor should be removed</a:t>
                </a: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tabLst>
                    <a:tab pos="744538" algn="l"/>
                  </a:tabLst>
                </a:pP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Regressions will now be based on models with the previous predictors, excluding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and with each remaining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removed one at a time, for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=1,⋯,(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−1), (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+1),⋯,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tabLst>
                    <a:tab pos="744538" algn="l"/>
                  </a:tabLst>
                </a:pP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possible,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whose removal yields the </a:t>
                </a:r>
                <a:r>
                  <a:rPr lang="en-US" sz="1200" u="sng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smallest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criterion value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1082675" lvl="2" indent="-395288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based on the current regressions;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based on the regressions from the previous step</a:t>
                </a:r>
                <a:endParaRPr lang="en-US" sz="15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7388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exists, remove it from the model and continue; otherwise, stop</a:t>
                </a:r>
              </a:p>
              <a:p>
                <a:pPr marL="344488" lvl="0" indent="-344488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14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Continue discarding predictors one at a time until the criterion does not improve</a:t>
                </a:r>
                <a:endParaRPr lang="en-US" sz="14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201336" y="981236"/>
                <a:ext cx="8790264" cy="4386262"/>
              </a:xfrm>
              <a:prstGeom prst="rect">
                <a:avLst/>
              </a:prstGeom>
              <a:blipFill>
                <a:blip r:embed="rId4"/>
                <a:stretch>
                  <a:fillRect l="-1110" t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7051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6950BFC3-D8DA-4A85-94F7-54DA5524770B}">
      <p188:commentRel xmlns:p188="http://schemas.microsoft.com/office/powerpoint/2018/8/main" xmlns="" r:id="rId5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81725"/>
            <a:ext cx="8562392" cy="639722"/>
          </a:xfrm>
        </p:spPr>
        <p:txBody>
          <a:bodyPr/>
          <a:lstStyle/>
          <a:p>
            <a:pPr algn="l"/>
            <a:r>
              <a:rPr lang="en-US" dirty="0">
                <a:latin typeface="Vitesse"/>
              </a:rPr>
              <a:t>Forward vs Backward Stepwise Regression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378EC0-F61C-464D-B69C-F6846F7122AB}"/>
              </a:ext>
            </a:extLst>
          </p:cNvPr>
          <p:cNvSpPr txBox="1">
            <a:spLocks/>
          </p:cNvSpPr>
          <p:nvPr/>
        </p:nvSpPr>
        <p:spPr>
          <a:xfrm>
            <a:off x="203026" y="1173089"/>
            <a:ext cx="6902450" cy="2643902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 vert="horz" lIns="182880" tIns="182880" rIns="182880" bIns="182880" rtlCol="0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175" indent="-393700">
              <a:lnSpc>
                <a:spcPct val="100000"/>
              </a:lnSpc>
              <a:buNone/>
            </a:pP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Backward stepwise regression:</a:t>
            </a:r>
          </a:p>
          <a:p>
            <a:pPr marL="511175" indent="-3937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Cannot be performed if there are more predictors than the sample size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(p &gt; n)</a:t>
            </a:r>
          </a:p>
          <a:p>
            <a:pPr marL="511175" indent="-3937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Is more computationally expensive than forward stepwise regression</a:t>
            </a:r>
          </a:p>
          <a:p>
            <a:pPr marL="511175" indent="-3937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Will select larger models if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is large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3758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STfrcIc2"/>
  <p:tag name="ARTICULATE_DESIGN_ID_4_FULL PAGE LAYOUT" val="PgKTVuUk"/>
  <p:tag name="ARTICULATE_DESIGN_ID_FULL PAGE LAYOUT" val="yNcyKy3D"/>
  <p:tag name="ARTICULATE_DESIGN_ID_2_OFFICE THEME" val="Am0Zp92F"/>
  <p:tag name="ARTICULATE_DESIGN_ID_3_OFFICE THEME" val="ZWRkQT9A"/>
  <p:tag name="ARTICULATE_DESIGN_ID_1_HALF PAGE SLASH" val="uo9QNB16"/>
  <p:tag name="ARTICULATE_DESIGN_ID_2_HALF PAGE SLASH" val="4HKey2vP"/>
  <p:tag name="ARTICULATE_DESIGN_ID_1_FULL PAGE LAYOUT" val="jofJWMZ9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057fda7-913b-4ab6-8820-932873bcd66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16805</TotalTime>
  <Words>973</Words>
  <Application>Microsoft Office PowerPoint</Application>
  <PresentationFormat>On-screen Show (16:9)</PresentationFormat>
  <Paragraphs>77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MS PGothic</vt:lpstr>
      <vt:lpstr>Arial</vt:lpstr>
      <vt:lpstr>Calibri</vt:lpstr>
      <vt:lpstr>Cambria Math</vt:lpstr>
      <vt:lpstr>Helvetica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PowerPoint Presentation</vt:lpstr>
      <vt:lpstr>PowerPoint Presentation</vt:lpstr>
      <vt:lpstr>Bias-Variance Tradeoff</vt:lpstr>
      <vt:lpstr>Model Search</vt:lpstr>
      <vt:lpstr>PowerPoint Presentation</vt:lpstr>
      <vt:lpstr>Forward Stepwise Regression </vt:lpstr>
      <vt:lpstr>Backward Stepwise Regression </vt:lpstr>
      <vt:lpstr>Forward vs Backward Stepwise Regression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793</cp:revision>
  <dcterms:modified xsi:type="dcterms:W3CDTF">2020-06-11T16:44:36Z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1C9B2C5B-0B1B-49E9-AA40-301DC663D6C4</vt:lpwstr>
  </property>
  <property fmtid="{D5CDD505-2E9C-101B-9397-08002B2CF9AE}" pid="4" name="ArticulatePath">
    <vt:lpwstr>04-ModSel_Concept-L4_revised v051220</vt:lpwstr>
  </property>
</Properties>
</file>