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6"/>
  </p:notesMasterIdLst>
  <p:sldIdLst>
    <p:sldId id="489" r:id="rId4"/>
    <p:sldId id="343" r:id="rId5"/>
    <p:sldId id="499" r:id="rId6"/>
    <p:sldId id="510" r:id="rId7"/>
    <p:sldId id="504" r:id="rId8"/>
    <p:sldId id="502" r:id="rId9"/>
    <p:sldId id="505" r:id="rId10"/>
    <p:sldId id="511" r:id="rId11"/>
    <p:sldId id="507" r:id="rId12"/>
    <p:sldId id="508" r:id="rId13"/>
    <p:sldId id="512" r:id="rId14"/>
    <p:sldId id="344" r:id="rId15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52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pos="5616" userDrawn="1">
          <p15:clr>
            <a:srgbClr val="A4A3A4"/>
          </p15:clr>
        </p15:guide>
        <p15:guide id="8" orient="horz" pos="636" userDrawn="1">
          <p15:clr>
            <a:srgbClr val="A4A3A4"/>
          </p15:clr>
        </p15:guide>
        <p15:guide id="9" orient="horz" pos="396" userDrawn="1">
          <p15:clr>
            <a:srgbClr val="A4A3A4"/>
          </p15:clr>
        </p15:guide>
        <p15:guide id="10" orient="horz" pos="3108" userDrawn="1">
          <p15:clr>
            <a:srgbClr val="A4A3A4"/>
          </p15:clr>
        </p15:guide>
        <p15:guide id="11" orient="horz" pos="7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003366"/>
    <a:srgbClr val="F6F7F9"/>
    <a:srgbClr val="F2F6F7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 autoAdjust="0"/>
    <p:restoredTop sz="93580" autoAdjust="0"/>
  </p:normalViewPr>
  <p:slideViewPr>
    <p:cSldViewPr snapToGrid="0">
      <p:cViewPr varScale="1">
        <p:scale>
          <a:sx n="142" d="100"/>
          <a:sy n="142" d="100"/>
        </p:scale>
        <p:origin x="896" y="76"/>
      </p:cViewPr>
      <p:guideLst>
        <p:guide orient="horz" pos="1620"/>
        <p:guide pos="2880"/>
        <p:guide pos="120"/>
        <p:guide pos="336"/>
        <p:guide pos="552"/>
        <p:guide pos="3456"/>
        <p:guide pos="5616"/>
        <p:guide orient="horz" pos="636"/>
        <p:guide orient="horz" pos="396"/>
        <p:guide orient="horz" pos="3108"/>
        <p:guide orient="horz" pos="7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80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65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3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47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52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29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94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3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60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1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58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37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421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0024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8184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1791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116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8676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6815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6420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022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5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0617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422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47368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92366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Regression Analysis in Practice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01772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B0BD2DC8-1161-4EB9-AB7F-D7AA5F4350EE}"/>
              </a:ext>
            </a:extLst>
          </p:cNvPr>
          <p:cNvSpPr txBox="1">
            <a:spLocks/>
          </p:cNvSpPr>
          <p:nvPr/>
        </p:nvSpPr>
        <p:spPr>
          <a:xfrm>
            <a:off x="88438" y="4026838"/>
            <a:ext cx="3391137" cy="6810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Predicting Customer Churn </a:t>
            </a:r>
            <a:endParaRPr kumimoji="1" lang="zh-CN" alt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3358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 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75ACC-AD3C-4512-88B9-14975A2D3D52}"/>
              </a:ext>
            </a:extLst>
          </p:cNvPr>
          <p:cNvSpPr txBox="1"/>
          <p:nvPr/>
        </p:nvSpPr>
        <p:spPr>
          <a:xfrm>
            <a:off x="113038" y="970476"/>
            <a:ext cx="44589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full model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pred.full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full.model.red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test.reduced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type = "response")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model from stepwise selection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Variables not selected : Gender, Senior Citizen, Online Backup and Device Protection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pred.step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step.model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test.reduced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type = "response")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model from LASSO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Variables not selected : Online Backup and Payment Method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pred.lasso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lasso.retrained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as.data.frame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new_test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 type = "response")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model from Elastic Net (All selected)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pred.elnet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as.vector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elnet.model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newx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x.test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type = "response", s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cv.elnet$lambda.min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BA010-2FAB-4D86-9F0C-F6BA2E84699A}"/>
              </a:ext>
            </a:extLst>
          </p:cNvPr>
          <p:cNvSpPr/>
          <p:nvPr/>
        </p:nvSpPr>
        <p:spPr>
          <a:xfrm>
            <a:off x="198592" y="4318965"/>
            <a:ext cx="1743496" cy="6155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Use classification threshold = 0.5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02293198-B1DC-6346-9229-4626C07C8458}"/>
              </a:ext>
            </a:extLst>
          </p:cNvPr>
          <p:cNvSpPr/>
          <p:nvPr/>
        </p:nvSpPr>
        <p:spPr>
          <a:xfrm>
            <a:off x="2140217" y="4482675"/>
            <a:ext cx="368314" cy="299717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F72642-B99C-B649-B8A9-2000538B7FE4}"/>
              </a:ext>
            </a:extLst>
          </p:cNvPr>
          <p:cNvSpPr/>
          <p:nvPr/>
        </p:nvSpPr>
        <p:spPr>
          <a:xfrm>
            <a:off x="2714757" y="4318965"/>
            <a:ext cx="4657091" cy="61555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Predicted churn probability &lt; 0.5 =&gt; Churn prediction = 0</a:t>
            </a:r>
          </a:p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Predicted churn probability &gt; 0.5 =&gt; Churn prediction =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562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 (cont’d) 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75ACC-AD3C-4512-88B9-14975A2D3D52}"/>
              </a:ext>
            </a:extLst>
          </p:cNvPr>
          <p:cNvSpPr txBox="1"/>
          <p:nvPr/>
        </p:nvSpPr>
        <p:spPr>
          <a:xfrm>
            <a:off x="113038" y="970476"/>
            <a:ext cx="44589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full model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pred.full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full.model.red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test.reduced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type = "response")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model from stepwise selection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Variables not selected : Gender, Senior Citizen, Online Backup and Device Protection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pred.step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step.model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test.reduced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type = "response")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model from LASSO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Variables not selected : Online Backup and Payment Method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pred.lasso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lasso.retrained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newdata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as.data.frame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new_test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), type = "response")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Using the model from Elastic Net (All selected)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pred.elnet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as.vector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(predict(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elnet.model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newx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x.test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type = "response", s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cv.elnet$lambda.min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BA010-2FAB-4D86-9F0C-F6BA2E84699A}"/>
              </a:ext>
            </a:extLst>
          </p:cNvPr>
          <p:cNvSpPr/>
          <p:nvPr/>
        </p:nvSpPr>
        <p:spPr>
          <a:xfrm>
            <a:off x="198592" y="4318965"/>
            <a:ext cx="1743496" cy="6155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Use classification threshold = 0.5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02293198-B1DC-6346-9229-4626C07C8458}"/>
              </a:ext>
            </a:extLst>
          </p:cNvPr>
          <p:cNvSpPr/>
          <p:nvPr/>
        </p:nvSpPr>
        <p:spPr>
          <a:xfrm>
            <a:off x="2140217" y="4482675"/>
            <a:ext cx="368314" cy="299717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F72642-B99C-B649-B8A9-2000538B7FE4}"/>
              </a:ext>
            </a:extLst>
          </p:cNvPr>
          <p:cNvSpPr/>
          <p:nvPr/>
        </p:nvSpPr>
        <p:spPr>
          <a:xfrm>
            <a:off x="2714757" y="4318965"/>
            <a:ext cx="4657091" cy="61555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Predicted churn probability &lt; 0.5 =&gt; Churn prediction = 0</a:t>
            </a:r>
          </a:p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Predicted churn probability &gt; 0.5 =&gt; Churn prediction = 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67F4E1C-531D-4D3F-B570-F34CC57F0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43636"/>
              </p:ext>
            </p:extLst>
          </p:nvPr>
        </p:nvGraphicFramePr>
        <p:xfrm>
          <a:off x="5062394" y="1005215"/>
          <a:ext cx="3862417" cy="3058419"/>
        </p:xfrm>
        <a:graphic>
          <a:graphicData uri="http://schemas.openxmlformats.org/drawingml/2006/table">
            <a:tbl>
              <a:tblPr/>
              <a:tblGrid>
                <a:gridCol w="687824">
                  <a:extLst>
                    <a:ext uri="{9D8B030D-6E8A-4147-A177-3AD203B41FA5}">
                      <a16:colId xmlns:a16="http://schemas.microsoft.com/office/drawing/2014/main" val="1500876074"/>
                    </a:ext>
                  </a:extLst>
                </a:gridCol>
                <a:gridCol w="550258">
                  <a:extLst>
                    <a:ext uri="{9D8B030D-6E8A-4147-A177-3AD203B41FA5}">
                      <a16:colId xmlns:a16="http://schemas.microsoft.com/office/drawing/2014/main" val="1783265992"/>
                    </a:ext>
                  </a:extLst>
                </a:gridCol>
                <a:gridCol w="671639">
                  <a:extLst>
                    <a:ext uri="{9D8B030D-6E8A-4147-A177-3AD203B41FA5}">
                      <a16:colId xmlns:a16="http://schemas.microsoft.com/office/drawing/2014/main" val="4058498664"/>
                    </a:ext>
                  </a:extLst>
                </a:gridCol>
                <a:gridCol w="663547">
                  <a:extLst>
                    <a:ext uri="{9D8B030D-6E8A-4147-A177-3AD203B41FA5}">
                      <a16:colId xmlns:a16="http://schemas.microsoft.com/office/drawing/2014/main" val="4150549206"/>
                    </a:ext>
                  </a:extLst>
                </a:gridCol>
                <a:gridCol w="582627">
                  <a:extLst>
                    <a:ext uri="{9D8B030D-6E8A-4147-A177-3AD203B41FA5}">
                      <a16:colId xmlns:a16="http://schemas.microsoft.com/office/drawing/2014/main" val="3046697827"/>
                    </a:ext>
                  </a:extLst>
                </a:gridCol>
                <a:gridCol w="706522">
                  <a:extLst>
                    <a:ext uri="{9D8B030D-6E8A-4147-A177-3AD203B41FA5}">
                      <a16:colId xmlns:a16="http://schemas.microsoft.com/office/drawing/2014/main" val="3815325652"/>
                    </a:ext>
                  </a:extLst>
                </a:gridCol>
              </a:tblGrid>
              <a:tr h="174325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Prediction Output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517029"/>
                  </a:ext>
                </a:extLst>
              </a:tr>
              <a:tr h="416246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Customers in Test Data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Actual Churn Value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predClass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.</a:t>
                      </a:r>
                    </a:p>
                    <a:p>
                      <a:pPr algn="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full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predClass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.</a:t>
                      </a:r>
                    </a:p>
                    <a:p>
                      <a:pPr algn="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step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predClas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.</a:t>
                      </a:r>
                    </a:p>
                    <a:p>
                      <a:pPr algn="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lasso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predClass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.</a:t>
                      </a:r>
                    </a:p>
                    <a:p>
                      <a:pPr algn="r" fontAlgn="b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elnet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720889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860218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122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301982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139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60301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257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985959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522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47441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594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107029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733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095719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951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278180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982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02352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1078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717571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1091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448012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1094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19461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1123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84500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1161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879960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1249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059935"/>
                  </a:ext>
                </a:extLst>
              </a:tr>
              <a:tr h="153972"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1429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T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</a:p>
                  </a:txBody>
                  <a:tcPr marL="9062" marR="9062" marT="90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94664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8545000-DFEE-4112-B570-48539B4F3D4F}"/>
              </a:ext>
            </a:extLst>
          </p:cNvPr>
          <p:cNvSpPr/>
          <p:nvPr/>
        </p:nvSpPr>
        <p:spPr>
          <a:xfrm>
            <a:off x="5071358" y="1010651"/>
            <a:ext cx="3883476" cy="316083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298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509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Classification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Accuracy</a:t>
            </a:r>
            <a:endParaRPr kumimoji="1" lang="zh-CN" alt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F77EB1-FB9E-4427-9888-A25EBC57D4F1}"/>
                  </a:ext>
                </a:extLst>
              </p:cNvPr>
              <p:cNvSpPr txBox="1"/>
              <p:nvPr/>
            </p:nvSpPr>
            <p:spPr>
              <a:xfrm>
                <a:off x="5853" y="764454"/>
                <a:ext cx="4566147" cy="412202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182880" tIns="182880" rIns="182880" bIns="182880" rtlCol="0">
                <a:spAutoFit/>
              </a:bodyPr>
              <a:lstStyle/>
              <a:p>
                <a:r>
                  <a:rPr lang="en-US" sz="1800" b="1" dirty="0">
                    <a:latin typeface="Helvetica" charset="0"/>
                    <a:ea typeface="Helvetica" charset="0"/>
                    <a:cs typeface="Helvetica" charset="0"/>
                  </a:rPr>
                  <a:t>Classification Evaluation Metrics</a:t>
                </a:r>
              </a:p>
              <a:p>
                <a:pPr marL="339725" indent="-339725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Accuracy:</a:t>
                </a:r>
              </a:p>
              <a:p>
                <a:pPr marL="687388" indent="-687388"/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	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Proportion of response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(churn value) predicted correctly</a:t>
                </a:r>
                <a:endParaRPr lang="en-US" sz="18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Sensitivity (True Positive Rate):</a:t>
                </a:r>
              </a:p>
              <a:p>
                <a:pPr marL="687388" indent="-687388">
                  <a:lnSpc>
                    <a:spcPct val="114000"/>
                  </a:lnSpc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	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Proportion of responses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= 1 (customers who left the company) predicted correctly</a:t>
                </a:r>
                <a:endParaRPr lang="en-US" sz="18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 marL="339725" indent="-339725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Specificity (True Negative Rate):</a:t>
                </a:r>
              </a:p>
              <a:p>
                <a:pPr marL="687388" lvl="1" indent="-344488">
                  <a:lnSpc>
                    <a:spcPct val="114000"/>
                  </a:lnSpc>
                </a:pPr>
                <a:r>
                  <a:rPr lang="en-US" sz="1800" dirty="0">
                    <a:latin typeface="Helvetica" charset="0"/>
                    <a:ea typeface="Helvetica" charset="0"/>
                    <a:cs typeface="Helvetica" charset="0"/>
                  </a:rPr>
                  <a:t>	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Proportion of responses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= 0 (customers who remained with the company) predicted correctly </a:t>
                </a:r>
              </a:p>
              <a:p>
                <a:pPr lvl="1">
                  <a:lnSpc>
                    <a:spcPct val="114000"/>
                  </a:lnSpc>
                </a:pPr>
                <a:endParaRPr lang="en-US" sz="18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F77EB1-FB9E-4427-9888-A25EBC57D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" y="764454"/>
                <a:ext cx="4566147" cy="41220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E6D11F-E5F4-2C47-812D-DAC548112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879835"/>
              </p:ext>
            </p:extLst>
          </p:nvPr>
        </p:nvGraphicFramePr>
        <p:xfrm>
          <a:off x="5494493" y="1019596"/>
          <a:ext cx="3420907" cy="1505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0829">
                  <a:extLst>
                    <a:ext uri="{9D8B030D-6E8A-4147-A177-3AD203B41FA5}">
                      <a16:colId xmlns:a16="http://schemas.microsoft.com/office/drawing/2014/main" val="2868584251"/>
                    </a:ext>
                  </a:extLst>
                </a:gridCol>
                <a:gridCol w="1281715">
                  <a:extLst>
                    <a:ext uri="{9D8B030D-6E8A-4147-A177-3AD203B41FA5}">
                      <a16:colId xmlns:a16="http://schemas.microsoft.com/office/drawing/2014/main" val="1977595028"/>
                    </a:ext>
                  </a:extLst>
                </a:gridCol>
                <a:gridCol w="1128363">
                  <a:extLst>
                    <a:ext uri="{9D8B030D-6E8A-4147-A177-3AD203B41FA5}">
                      <a16:colId xmlns:a16="http://schemas.microsoft.com/office/drawing/2014/main" val="4273219070"/>
                    </a:ext>
                  </a:extLst>
                </a:gridCol>
              </a:tblGrid>
              <a:tr h="579672">
                <a:tc>
                  <a:txBody>
                    <a:bodyPr/>
                    <a:lstStyle/>
                    <a:p>
                      <a:pPr algn="l" fontAlgn="b"/>
                      <a:endParaRPr lang="en-TR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Person who left the company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Person who remained with the company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237230"/>
                  </a:ext>
                </a:extLst>
              </a:tr>
              <a:tr h="46658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Classified as churned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True Positive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False Positive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032826"/>
                  </a:ext>
                </a:extLst>
              </a:tr>
              <a:tr h="458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Classified as not churned 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False Negative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True Negative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3114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7409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32" y="226126"/>
            <a:ext cx="8849167" cy="631629"/>
          </a:xfrm>
        </p:spPr>
        <p:txBody>
          <a:bodyPr/>
          <a:lstStyle/>
          <a:p>
            <a:r>
              <a:rPr kumimoji="1" lang="en-US" altLang="zh-CN" sz="2800" dirty="0">
                <a:latin typeface="Vitesse"/>
              </a:rPr>
              <a:t>Model </a:t>
            </a:r>
            <a:r>
              <a:rPr kumimoji="1" lang="en-US" altLang="zh-CN" sz="2600" dirty="0">
                <a:latin typeface="Vitesse"/>
              </a:rPr>
              <a:t>Comparison</a:t>
            </a:r>
            <a:r>
              <a:rPr kumimoji="1" lang="en-US" altLang="zh-CN" sz="2800" dirty="0">
                <a:latin typeface="Vitesse"/>
              </a:rPr>
              <a:t> via Classification Evaluation Metrics </a:t>
            </a:r>
            <a:r>
              <a:rPr lang="en-US" sz="2800" b="1" dirty="0">
                <a:latin typeface="Vitesse"/>
                <a:ea typeface="Helvetica" charset="0"/>
                <a:cs typeface="Helvetica" charset="0"/>
              </a:rPr>
              <a:t/>
            </a:r>
            <a:br>
              <a:rPr lang="en-US" sz="2800" b="1" dirty="0">
                <a:latin typeface="Vitesse"/>
                <a:ea typeface="Helvetica" charset="0"/>
                <a:cs typeface="Helvetica" charset="0"/>
              </a:rPr>
            </a:br>
            <a:endParaRPr kumimoji="1" lang="zh-CN" altLang="en-US" sz="2800" dirty="0">
              <a:latin typeface="Vitess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B8B3A-D84E-6F4E-9556-65165179FF40}"/>
              </a:ext>
            </a:extLst>
          </p:cNvPr>
          <p:cNvSpPr/>
          <p:nvPr/>
        </p:nvSpPr>
        <p:spPr>
          <a:xfrm>
            <a:off x="122876" y="974570"/>
            <a:ext cx="57438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Calculate the Accuracy, the Sensitivity and the Specificity metrics to evaluate these models at 0.5 threshold 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pred_metrics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function(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modelName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actualClass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predClass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 {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cat(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modelName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'\n')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conmat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confusionMatrix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(table(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actualClass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predClass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c(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conmat$overall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["Accuracy"],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conmat$byClass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["Sensitivity"],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conmat$byClass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["Specificity"])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}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##Full model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pred_metrics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("Full Model",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test$Churn.Value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predClass.full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##Stepwise selection model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pred_metrics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("Stepwise Regression Model",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test$Churn.Value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predClass.step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##Lasso model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pred_metrics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("Lasso Regression Model",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test$Churn.Value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predClass.lasso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##Elastic Net model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pred_metrics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("Elastic Regression Model",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test$Churn.Value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predClass.elnet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995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2B35F1-C673-AE4B-A8E3-4E2663AA3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872916"/>
              </p:ext>
            </p:extLst>
          </p:nvPr>
        </p:nvGraphicFramePr>
        <p:xfrm>
          <a:off x="192680" y="1162050"/>
          <a:ext cx="3424461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87">
                  <a:extLst>
                    <a:ext uri="{9D8B030D-6E8A-4147-A177-3AD203B41FA5}">
                      <a16:colId xmlns:a16="http://schemas.microsoft.com/office/drawing/2014/main" val="3523117958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2193369754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3514129880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Full Model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245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Sensitivity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Specificity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16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0.81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80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0.85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77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832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5879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B756C3-C207-E64B-A422-81BC2690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056675"/>
              </p:ext>
            </p:extLst>
          </p:nvPr>
        </p:nvGraphicFramePr>
        <p:xfrm>
          <a:off x="192680" y="2009167"/>
          <a:ext cx="3424461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87">
                  <a:extLst>
                    <a:ext uri="{9D8B030D-6E8A-4147-A177-3AD203B41FA5}">
                      <a16:colId xmlns:a16="http://schemas.microsoft.com/office/drawing/2014/main" val="3051738626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1659558067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2357064126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Stepwise Regression Model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018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Sensitivity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Specificity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3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0.81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74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0.85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82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807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9099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E57F49-4017-DF4C-9A86-FA65528F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94691"/>
              </p:ext>
            </p:extLst>
          </p:nvPr>
        </p:nvGraphicFramePr>
        <p:xfrm>
          <a:off x="192680" y="2923278"/>
          <a:ext cx="3424461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87">
                  <a:extLst>
                    <a:ext uri="{9D8B030D-6E8A-4147-A177-3AD203B41FA5}">
                      <a16:colId xmlns:a16="http://schemas.microsoft.com/office/drawing/2014/main" val="1669022305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1894495122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3640840059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Lasso Regression Model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94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Sensitivity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Specificity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9237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168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0.85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76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799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038971"/>
                  </a:ext>
                </a:extLst>
              </a:tr>
            </a:tbl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871295BD-4FC7-4FCE-8E3D-8F2DB2D0D5A8}"/>
              </a:ext>
            </a:extLst>
          </p:cNvPr>
          <p:cNvSpPr txBox="1">
            <a:spLocks/>
          </p:cNvSpPr>
          <p:nvPr/>
        </p:nvSpPr>
        <p:spPr>
          <a:xfrm>
            <a:off x="66232" y="226126"/>
            <a:ext cx="8849167" cy="63162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2600" dirty="0">
                <a:latin typeface="Vitesse"/>
              </a:rPr>
              <a:t>Model Comparison via Classification Evaluation Metrics </a:t>
            </a:r>
            <a:r>
              <a:rPr lang="en-US" sz="2600" b="1" dirty="0">
                <a:latin typeface="Vitesse"/>
                <a:ea typeface="Helvetica" charset="0"/>
                <a:cs typeface="Helvetica" charset="0"/>
              </a:rPr>
              <a:t/>
            </a:r>
            <a:br>
              <a:rPr lang="en-US" sz="2600" b="1" dirty="0">
                <a:latin typeface="Vitesse"/>
                <a:ea typeface="Helvetica" charset="0"/>
                <a:cs typeface="Helvetica" charset="0"/>
              </a:rPr>
            </a:br>
            <a:endParaRPr kumimoji="1" lang="en-US" altLang="zh-CN" sz="2600" dirty="0">
              <a:latin typeface="Vitess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3EFE11-011C-4A1D-9324-B9E5C2D7B436}"/>
              </a:ext>
            </a:extLst>
          </p:cNvPr>
          <p:cNvSpPr txBox="1"/>
          <p:nvPr/>
        </p:nvSpPr>
        <p:spPr>
          <a:xfrm>
            <a:off x="5493619" y="1171840"/>
            <a:ext cx="3424461" cy="206210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CA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Threshold value: 0.5</a:t>
            </a:r>
            <a:endParaRPr lang="en-CA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CA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CA" sz="1600" dirty="0">
                <a:latin typeface="Helvetica" panose="020B0604020202020204" pitchFamily="34" charset="0"/>
                <a:cs typeface="Helvetica" panose="020B0604020202020204" pitchFamily="34" charset="0"/>
              </a:rPr>
              <a:t>All models have very similar prediction metrics. In this case, correctly identifying positives is more important for us. Therefore, we should choose a model with higher Sensitivity.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445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2B35F1-C673-AE4B-A8E3-4E2663AA3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0965"/>
              </p:ext>
            </p:extLst>
          </p:nvPr>
        </p:nvGraphicFramePr>
        <p:xfrm>
          <a:off x="192680" y="1162050"/>
          <a:ext cx="3424461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87">
                  <a:extLst>
                    <a:ext uri="{9D8B030D-6E8A-4147-A177-3AD203B41FA5}">
                      <a16:colId xmlns:a16="http://schemas.microsoft.com/office/drawing/2014/main" val="3523117958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2193369754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3514129880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Full Model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245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Sensitivity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Specificity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316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7742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9116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5521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5879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B756C3-C207-E64B-A422-81BC2690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821804"/>
              </p:ext>
            </p:extLst>
          </p:nvPr>
        </p:nvGraphicFramePr>
        <p:xfrm>
          <a:off x="192680" y="2009167"/>
          <a:ext cx="3424461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87">
                  <a:extLst>
                    <a:ext uri="{9D8B030D-6E8A-4147-A177-3AD203B41FA5}">
                      <a16:colId xmlns:a16="http://schemas.microsoft.com/office/drawing/2014/main" val="3051738626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1659558067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2357064126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Stepwise Regression Model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018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Sensitivity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Specificity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3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7776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9136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5567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9099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E57F49-4017-DF4C-9A86-FA65528F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63014"/>
              </p:ext>
            </p:extLst>
          </p:nvPr>
        </p:nvGraphicFramePr>
        <p:xfrm>
          <a:off x="192680" y="2923278"/>
          <a:ext cx="3424461" cy="6686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487">
                  <a:extLst>
                    <a:ext uri="{9D8B030D-6E8A-4147-A177-3AD203B41FA5}">
                      <a16:colId xmlns:a16="http://schemas.microsoft.com/office/drawing/2014/main" val="1669022305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1894495122"/>
                    </a:ext>
                  </a:extLst>
                </a:gridCol>
                <a:gridCol w="1141487">
                  <a:extLst>
                    <a:ext uri="{9D8B030D-6E8A-4147-A177-3AD203B41FA5}">
                      <a16:colId xmlns:a16="http://schemas.microsoft.com/office/drawing/2014/main" val="3640840059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Lasso Regression Model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94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Sensitivity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Specificity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9237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7759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9111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</a:t>
                      </a:r>
                      <a:r>
                        <a:rPr lang="en-US" sz="1400" u="none" strike="noStrike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5547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038971"/>
                  </a:ext>
                </a:extLst>
              </a:tr>
            </a:tbl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871295BD-4FC7-4FCE-8E3D-8F2DB2D0D5A8}"/>
              </a:ext>
            </a:extLst>
          </p:cNvPr>
          <p:cNvSpPr txBox="1">
            <a:spLocks/>
          </p:cNvSpPr>
          <p:nvPr/>
        </p:nvSpPr>
        <p:spPr>
          <a:xfrm>
            <a:off x="66232" y="226126"/>
            <a:ext cx="8849167" cy="63162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2600" dirty="0">
                <a:latin typeface="Vitesse"/>
              </a:rPr>
              <a:t>Classification Evaluation Metrics: Different Threshold </a:t>
            </a:r>
            <a:r>
              <a:rPr lang="en-US" sz="2600" b="1" dirty="0">
                <a:latin typeface="Vitesse"/>
                <a:ea typeface="Helvetica" charset="0"/>
                <a:cs typeface="Helvetica" charset="0"/>
              </a:rPr>
              <a:t/>
            </a:r>
            <a:br>
              <a:rPr lang="en-US" sz="2600" b="1" dirty="0">
                <a:latin typeface="Vitesse"/>
                <a:ea typeface="Helvetica" charset="0"/>
                <a:cs typeface="Helvetica" charset="0"/>
              </a:rPr>
            </a:br>
            <a:endParaRPr kumimoji="1" lang="en-US" altLang="zh-CN" sz="2600" dirty="0">
              <a:latin typeface="Vitess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3EFE11-011C-4A1D-9324-B9E5C2D7B436}"/>
              </a:ext>
            </a:extLst>
          </p:cNvPr>
          <p:cNvSpPr txBox="1"/>
          <p:nvPr/>
        </p:nvSpPr>
        <p:spPr>
          <a:xfrm>
            <a:off x="5502583" y="1171840"/>
            <a:ext cx="3424461" cy="181588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CA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Threshold value: 0.3</a:t>
            </a:r>
          </a:p>
          <a:p>
            <a:endParaRPr lang="en-CA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CA" sz="1600" dirty="0">
                <a:latin typeface="Helvetica" panose="020B0604020202020204" pitchFamily="34" charset="0"/>
                <a:cs typeface="Helvetica" panose="020B0604020202020204" pitchFamily="34" charset="0"/>
              </a:rPr>
              <a:t>All models have very similar prediction metrics. Sensitivity has improved while the specificity has decreased as well as the overall accuracy.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4945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BC4CC6ED-F599-A746-AAC4-38442872D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Goodness of fit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4A913007-A855-4281-9DE5-256988D7D341}"/>
              </a:ext>
            </a:extLst>
          </p:cNvPr>
          <p:cNvSpPr txBox="1">
            <a:spLocks/>
          </p:cNvSpPr>
          <p:nvPr/>
        </p:nvSpPr>
        <p:spPr>
          <a:xfrm>
            <a:off x="98601" y="978986"/>
            <a:ext cx="6454599" cy="351991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Measure how well the Logistic Regression model (after variable selection through Stepwise Selection) fits on the training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Removing variables not selected by stepwise regression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step.predictors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&lt;-  names(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coef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full.model.red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)[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index.step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])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as.data.frame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train.final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[, - which(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colnames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 %in%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step.predictors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)]</a:t>
            </a:r>
          </a:p>
          <a:p>
            <a:endParaRPr lang="en-US" sz="1200" b="1" i="1" dirty="0">
              <a:solidFill>
                <a:srgbClr val="EAAA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Aggregating the data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obdata.agg.n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aggregate(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~ . , data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train.final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FUN = length)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obdata.agg.y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aggregate(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~ . , data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train.final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FUN = sum)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dat.aggr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&lt;-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cbind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obdata.agg.y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total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obdata.agg.n$y.train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sz="1200" b="1" i="1" dirty="0">
              <a:solidFill>
                <a:srgbClr val="EAAA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Fitting the model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mod.aggr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y.train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/ total ~ . , data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dat.aggr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weight = total, family = binomial)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mod.aggr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253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9C474-AB48-C540-992F-87E37A4911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693" y="972988"/>
            <a:ext cx="4319651" cy="1135384"/>
          </a:xfrm>
        </p:spPr>
        <p:txBody>
          <a:bodyPr/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Find the Chi-square test statistics and the corresponding p-value to test the given null hypothesis.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res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mod.aggr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type="deviance")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cbind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(statistic = sum(res^2),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pvalue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1-pchisq(sum(res^2),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mod.aggr$df.resid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  <a:p>
            <a:endParaRPr lang="en-CA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DC881B-3290-3841-B23C-110306853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27243"/>
              </p:ext>
            </p:extLst>
          </p:nvPr>
        </p:nvGraphicFramePr>
        <p:xfrm>
          <a:off x="5486400" y="2575571"/>
          <a:ext cx="3438068" cy="44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2021">
                  <a:extLst>
                    <a:ext uri="{9D8B030D-6E8A-4147-A177-3AD203B41FA5}">
                      <a16:colId xmlns:a16="http://schemas.microsoft.com/office/drawing/2014/main" val="3008776811"/>
                    </a:ext>
                  </a:extLst>
                </a:gridCol>
                <a:gridCol w="1326047">
                  <a:extLst>
                    <a:ext uri="{9D8B030D-6E8A-4147-A177-3AD203B41FA5}">
                      <a16:colId xmlns:a16="http://schemas.microsoft.com/office/drawing/2014/main" val="179807577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itchFamily="2" charset="0"/>
                        </a:rPr>
                        <a:t>Chi-Square Test Statistics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Helvetica" pitchFamily="2" charset="0"/>
                        </a:rPr>
                        <a:t>P-value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9599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4180.503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TR" sz="1400" u="none" strike="noStrike" dirty="0">
                          <a:effectLst/>
                          <a:latin typeface="Helvetica" pitchFamily="2" charset="0"/>
                        </a:rPr>
                        <a:t>1</a:t>
                      </a:r>
                      <a:endParaRPr lang="en-TR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6581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41A6A9-1EAF-C348-B45A-D73A4C8130E9}"/>
                  </a:ext>
                </a:extLst>
              </p:cNvPr>
              <p:cNvSpPr txBox="1"/>
              <p:nvPr/>
            </p:nvSpPr>
            <p:spPr>
              <a:xfrm>
                <a:off x="203797" y="2405153"/>
                <a:ext cx="4423712" cy="84645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𝑇𝑒𝑠𝑡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𝑠𝑡𝑎𝑡𝑖𝑠𝑡𝑖𝑐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CA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CA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CA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CA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𝑤𝑖𝑡h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𝑑𝑜𝑓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CA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41A6A9-1EAF-C348-B45A-D73A4C813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97" y="2405153"/>
                <a:ext cx="4423712" cy="846450"/>
              </a:xfrm>
              <a:prstGeom prst="rect">
                <a:avLst/>
              </a:prstGeom>
              <a:blipFill>
                <a:blip r:embed="rId4"/>
                <a:stretch>
                  <a:fillRect b="-3546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BA123A-B23A-1942-9206-090562E93404}"/>
              </a:ext>
            </a:extLst>
          </p:cNvPr>
          <p:cNvCxnSpPr>
            <a:cxnSpLocks/>
          </p:cNvCxnSpPr>
          <p:nvPr/>
        </p:nvCxnSpPr>
        <p:spPr>
          <a:xfrm>
            <a:off x="4889311" y="2767976"/>
            <a:ext cx="36414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A5F4440-D7B8-B646-88B9-6A4C64D48EDF}"/>
              </a:ext>
            </a:extLst>
          </p:cNvPr>
          <p:cNvSpPr/>
          <p:nvPr/>
        </p:nvSpPr>
        <p:spPr>
          <a:xfrm>
            <a:off x="5486400" y="3545524"/>
            <a:ext cx="3438068" cy="523220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CA" sz="1400" dirty="0">
                <a:latin typeface="Helvetica" pitchFamily="2" charset="0"/>
              </a:rPr>
              <a:t>P-value is equal to 1, so our model reasonably fits the training data.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BC55EA6-143A-8B4C-9D3F-7BA1171D6BCA}"/>
              </a:ext>
            </a:extLst>
          </p:cNvPr>
          <p:cNvCxnSpPr>
            <a:cxnSpLocks/>
          </p:cNvCxnSpPr>
          <p:nvPr/>
        </p:nvCxnSpPr>
        <p:spPr>
          <a:xfrm>
            <a:off x="7169991" y="3090620"/>
            <a:ext cx="0" cy="34848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标题 1">
            <a:extLst>
              <a:ext uri="{FF2B5EF4-FFF2-40B4-BE49-F238E27FC236}">
                <a16:creationId xmlns:a16="http://schemas.microsoft.com/office/drawing/2014/main" id="{E14F8E1A-86D8-5E4C-9F8F-F05D1A68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Goodness of fit (cont’d)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205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9C474-AB48-C540-992F-87E37A4911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8925" y="965140"/>
            <a:ext cx="4534804" cy="1135384"/>
          </a:xfrm>
        </p:spPr>
        <p:txBody>
          <a:bodyPr/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Checking the normality of deviance residuals assumption</a:t>
            </a:r>
          </a:p>
          <a:p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hist(res, main="Histogram of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deviances",breaks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8,xlab = "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r_i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")</a:t>
            </a:r>
          </a:p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qqnorm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(res)</a:t>
            </a:r>
            <a:endParaRPr lang="en-CA" i="1" dirty="0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E14F8E1A-86D8-5E4C-9F8F-F05D1A68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" y="145206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Goodness of fit (cont’d)</a:t>
            </a:r>
            <a:endParaRPr kumimoji="1" lang="zh-CN" altLang="en-US" sz="3600" dirty="0">
              <a:latin typeface="Vitesse"/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099AC25-C37D-BA40-A552-AB5191785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805" y="1996596"/>
            <a:ext cx="3132000" cy="2546541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41068D-4E7A-6E41-B20E-F3BAB8F2FE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01" y="1996596"/>
            <a:ext cx="3131999" cy="2547305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F7234F-E4A0-B54C-AD78-5CD008F584BD}"/>
              </a:ext>
            </a:extLst>
          </p:cNvPr>
          <p:cNvSpPr/>
          <p:nvPr/>
        </p:nvSpPr>
        <p:spPr>
          <a:xfrm>
            <a:off x="5486042" y="1022564"/>
            <a:ext cx="3142583" cy="461665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CA" sz="1200" dirty="0">
                <a:latin typeface="Helvetica" pitchFamily="2" charset="0"/>
              </a:rPr>
              <a:t>Normality assumption seems to be violated due to bi-modality in the data. </a:t>
            </a:r>
          </a:p>
        </p:txBody>
      </p:sp>
    </p:spTree>
    <p:extLst>
      <p:ext uri="{BB962C8B-B14F-4D97-AF65-F5344CB8AC3E}">
        <p14:creationId xmlns:p14="http://schemas.microsoft.com/office/powerpoint/2010/main" val="4152127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025498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  <p:tag name="ARTICULATE_DESIGN_ID_1_FULL PAGE LAYOUT" val="k3iO2vz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17343</TotalTime>
  <Words>1092</Words>
  <Application>Microsoft Office PowerPoint</Application>
  <PresentationFormat>On-screen Show (16:9)</PresentationFormat>
  <Paragraphs>273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MS PGothic</vt:lpstr>
      <vt:lpstr>宋体</vt:lpstr>
      <vt:lpstr>Arial</vt:lpstr>
      <vt:lpstr>Calibri</vt:lpstr>
      <vt:lpstr>Cambria</vt:lpstr>
      <vt:lpstr>Cambria Math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Prediction </vt:lpstr>
      <vt:lpstr>Prediction (cont’d) </vt:lpstr>
      <vt:lpstr>Classification Accuracy</vt:lpstr>
      <vt:lpstr>Model Comparison via Classification Evaluation Metrics  </vt:lpstr>
      <vt:lpstr>PowerPoint Presentation</vt:lpstr>
      <vt:lpstr>PowerPoint Presentation</vt:lpstr>
      <vt:lpstr>Goodness of fit</vt:lpstr>
      <vt:lpstr>Goodness of fit (cont’d)</vt:lpstr>
      <vt:lpstr>Goodness of fit (cont’d)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559</cp:revision>
  <dcterms:created xsi:type="dcterms:W3CDTF">2017-01-02T15:06:50Z</dcterms:created>
  <dcterms:modified xsi:type="dcterms:W3CDTF">2020-06-12T17:17:01Z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AB437D50-96F6-4D63-AA0E-DBCE9723E228</vt:lpwstr>
  </property>
  <property fmtid="{D5CDD505-2E9C-101B-9397-08002B2CF9AE}" pid="3" name="ArticulatePath">
    <vt:lpwstr>16-Data Analysis II-L3</vt:lpwstr>
  </property>
</Properties>
</file>