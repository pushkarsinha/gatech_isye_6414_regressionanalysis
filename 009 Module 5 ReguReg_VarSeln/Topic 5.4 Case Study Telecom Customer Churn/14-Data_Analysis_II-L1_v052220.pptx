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  <p:sldMasterId id="2147483717" r:id="rId2"/>
    <p:sldMasterId id="2147483718" r:id="rId3"/>
  </p:sldMasterIdLst>
  <p:notesMasterIdLst>
    <p:notesMasterId r:id="rId15"/>
  </p:notesMasterIdLst>
  <p:sldIdLst>
    <p:sldId id="489" r:id="rId4"/>
    <p:sldId id="343" r:id="rId5"/>
    <p:sldId id="491" r:id="rId6"/>
    <p:sldId id="492" r:id="rId7"/>
    <p:sldId id="490" r:id="rId8"/>
    <p:sldId id="494" r:id="rId9"/>
    <p:sldId id="495" r:id="rId10"/>
    <p:sldId id="498" r:id="rId11"/>
    <p:sldId id="496" r:id="rId12"/>
    <p:sldId id="497" r:id="rId13"/>
    <p:sldId id="344" r:id="rId14"/>
  </p:sldIdLst>
  <p:sldSz cx="9144000" cy="5143500" type="screen16x9"/>
  <p:notesSz cx="6858000" cy="9144000"/>
  <p:custDataLst>
    <p:tags r:id="rId16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20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552" userDrawn="1">
          <p15:clr>
            <a:srgbClr val="A4A3A4"/>
          </p15:clr>
        </p15:guide>
        <p15:guide id="6" pos="3456" userDrawn="1">
          <p15:clr>
            <a:srgbClr val="A4A3A4"/>
          </p15:clr>
        </p15:guide>
        <p15:guide id="7" orient="horz" pos="396" userDrawn="1">
          <p15:clr>
            <a:srgbClr val="A4A3A4"/>
          </p15:clr>
        </p15:guide>
        <p15:guide id="8" orient="horz" pos="780" userDrawn="1">
          <p15:clr>
            <a:srgbClr val="A4A3A4"/>
          </p15:clr>
        </p15:guide>
        <p15:guide id="9" orient="horz" pos="2772" userDrawn="1">
          <p15:clr>
            <a:srgbClr val="A4A3A4"/>
          </p15:clr>
        </p15:guide>
        <p15:guide id="10" pos="5640" userDrawn="1">
          <p15:clr>
            <a:srgbClr val="A4A3A4"/>
          </p15:clr>
        </p15:guide>
        <p15:guide id="11" orient="horz" pos="3060" userDrawn="1">
          <p15:clr>
            <a:srgbClr val="A4A3A4"/>
          </p15:clr>
        </p15:guide>
        <p15:guide id="12" orient="horz" pos="6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EAAA00"/>
    <a:srgbClr val="F6F7F9"/>
    <a:srgbClr val="1F497D"/>
    <a:srgbClr val="8E4221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673" autoAdjust="0"/>
  </p:normalViewPr>
  <p:slideViewPr>
    <p:cSldViewPr snapToGrid="0">
      <p:cViewPr varScale="1">
        <p:scale>
          <a:sx n="152" d="100"/>
          <a:sy n="152" d="100"/>
        </p:scale>
        <p:origin x="404" y="88"/>
      </p:cViewPr>
      <p:guideLst>
        <p:guide orient="horz" pos="1620"/>
        <p:guide pos="2880"/>
        <p:guide pos="120"/>
        <p:guide pos="336"/>
        <p:guide pos="552"/>
        <p:guide pos="3456"/>
        <p:guide orient="horz" pos="396"/>
        <p:guide orient="horz" pos="780"/>
        <p:guide orient="horz" pos="2772"/>
        <p:guide pos="5640"/>
        <p:guide orient="horz" pos="3060"/>
        <p:guide orient="horz" pos="6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358C8-D37B-4DB3-A032-059E1BD5A650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3481-38DB-434B-B170-CFE83842A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9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73F899DE-00F9-44EC-A3AD-B3E74958BD84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3862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88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01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03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38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6014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985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2504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308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7902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676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554199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350852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52272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15075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132512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11076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8238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68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62486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7359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64789" y="164149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4" name="Text Placeholder 2"/>
          <p:cNvSpPr>
            <a:spLocks noGrp="1"/>
          </p:cNvSpPr>
          <p:nvPr/>
        </p:nvSpPr>
        <p:spPr>
          <a:xfrm>
            <a:off x="77376" y="685716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Regression Analysis in Practice</a:t>
            </a:r>
            <a:endParaRPr lang="en-US" sz="2400" dirty="0"/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85589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EAAA00"/>
              </a:solidFill>
            </a:endParaRPr>
          </a:p>
          <a:p>
            <a:r>
              <a:rPr lang="en-US" dirty="0" err="1">
                <a:solidFill>
                  <a:srgbClr val="EAAA00"/>
                </a:solidFill>
              </a:rPr>
              <a:t>Nicoleta</a:t>
            </a:r>
            <a:r>
              <a:rPr lang="en-US" dirty="0">
                <a:solidFill>
                  <a:srgbClr val="EAAA00"/>
                </a:solidFill>
              </a:rPr>
              <a:t> </a:t>
            </a:r>
            <a:r>
              <a:rPr lang="en-US" dirty="0" err="1">
                <a:solidFill>
                  <a:srgbClr val="EAAA00"/>
                </a:solidFill>
              </a:rPr>
              <a:t>Serban</a:t>
            </a:r>
            <a:r>
              <a:rPr lang="en-US" dirty="0">
                <a:solidFill>
                  <a:srgbClr val="EAAA00"/>
                </a:solidFill>
              </a:rPr>
              <a:t>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92366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20" name="Text Placeholder 6"/>
          <p:cNvSpPr>
            <a:spLocks noGrp="1"/>
          </p:cNvSpPr>
          <p:nvPr/>
        </p:nvSpPr>
        <p:spPr>
          <a:xfrm>
            <a:off x="101772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  <p:sp>
        <p:nvSpPr>
          <p:cNvPr id="8" name="文本占位符 5">
            <a:extLst>
              <a:ext uri="{FF2B5EF4-FFF2-40B4-BE49-F238E27FC236}">
                <a16:creationId xmlns:a16="http://schemas.microsoft.com/office/drawing/2014/main" id="{E10AF41C-D281-4182-A746-53E53C70D8B1}"/>
              </a:ext>
            </a:extLst>
          </p:cNvPr>
          <p:cNvSpPr txBox="1">
            <a:spLocks/>
          </p:cNvSpPr>
          <p:nvPr/>
        </p:nvSpPr>
        <p:spPr>
          <a:xfrm>
            <a:off x="94277" y="4151850"/>
            <a:ext cx="4057314" cy="68103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Customer Churn Analysis in the Telecom Sector</a:t>
            </a:r>
            <a:endParaRPr kumimoji="1" lang="zh-CN" altLang="en-US" sz="2000" dirty="0">
              <a:solidFill>
                <a:schemeClr val="tx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27634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98895" y="146690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5241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92315F-BECE-4D34-86FD-7B1A1B08B0CE}"/>
              </a:ext>
            </a:extLst>
          </p:cNvPr>
          <p:cNvSpPr/>
          <p:nvPr/>
        </p:nvSpPr>
        <p:spPr>
          <a:xfrm>
            <a:off x="5396566" y="982411"/>
            <a:ext cx="3429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Customer Churn is of great interest in industries where revenues are heavily dependent on subscriptions.</a:t>
            </a:r>
          </a:p>
          <a:p>
            <a:endParaRPr lang="en-U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Dataset: 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Customer data for 7,043 telecom clients, all located in CA, USA.</a:t>
            </a:r>
          </a:p>
          <a:p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Data Source: 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IBM Business Analytics Community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3F6E2-63A0-4BF8-8305-43DB049BB4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36" y="1112274"/>
            <a:ext cx="4378364" cy="2506134"/>
          </a:xfrm>
          <a:prstGeom prst="rect">
            <a:avLst/>
          </a:prstGeom>
        </p:spPr>
      </p:pic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79964" y="147263"/>
            <a:ext cx="8280166" cy="519801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Customer Churn Analysis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773B9C-7E5F-42BD-9371-4E936A846258}"/>
              </a:ext>
            </a:extLst>
          </p:cNvPr>
          <p:cNvSpPr txBox="1"/>
          <p:nvPr/>
        </p:nvSpPr>
        <p:spPr>
          <a:xfrm>
            <a:off x="109944" y="4503624"/>
            <a:ext cx="75796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Helvetica" panose="020B0604020202020204" pitchFamily="34" charset="0"/>
                <a:cs typeface="Helvetica" panose="020B0604020202020204" pitchFamily="34" charset="0"/>
              </a:rPr>
              <a:t>Acknowledgement</a:t>
            </a:r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n-US" sz="1100" i="1" dirty="0">
                <a:latin typeface="Helvetica" panose="020B0604020202020204" pitchFamily="34" charset="0"/>
                <a:cs typeface="Helvetica" panose="020B0604020202020204" pitchFamily="34" charset="0"/>
              </a:rPr>
              <a:t>This example was prepared with support from students in the  Masters of Analytics program, including Jared Babcock, Rishi </a:t>
            </a:r>
            <a:r>
              <a:rPr lang="en-US" sz="11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Bubna</a:t>
            </a:r>
            <a:r>
              <a:rPr lang="en-US" sz="1100" i="1" dirty="0">
                <a:latin typeface="Helvetica" panose="020B0604020202020204" pitchFamily="34" charset="0"/>
                <a:cs typeface="Helvetica" panose="020B0604020202020204" pitchFamily="34" charset="0"/>
              </a:rPr>
              <a:t>, Marta Bras, Aymee Garcia Lopez Gavilan, and Artur Bessa Cabral.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356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94954" y="998633"/>
            <a:ext cx="8280166" cy="3562747"/>
          </a:xfrm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Response variables: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46075" algn="l"/>
              </a:tabLst>
            </a:pP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Churn Value: </a:t>
            </a:r>
            <a:r>
              <a:rPr lang="en-US" altLang="en-US" sz="1600" dirty="0"/>
              <a:t>1 = the customer left the company. 0 = the customer remained with the company.</a:t>
            </a:r>
          </a:p>
          <a:p>
            <a:pPr>
              <a:buClr>
                <a:srgbClr val="EAAA00"/>
              </a:buClr>
              <a:tabLst>
                <a:tab pos="346075" algn="l"/>
              </a:tabLst>
            </a:pPr>
            <a:endParaRPr lang="en-US" altLang="en-US" sz="16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altLang="en-US" sz="16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Predicting variables:</a:t>
            </a:r>
          </a:p>
          <a:p>
            <a:pPr marL="344488" indent="-344488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b="1" dirty="0"/>
              <a:t>Demographics: </a:t>
            </a:r>
            <a:r>
              <a:rPr lang="en-US" altLang="en-US" sz="1600" dirty="0"/>
              <a:t>4 variables including customer’s gender (</a:t>
            </a:r>
            <a:r>
              <a:rPr lang="en-US" altLang="en-US" sz="1600" i="1" dirty="0"/>
              <a:t>Gender</a:t>
            </a:r>
            <a:r>
              <a:rPr lang="en-US" altLang="en-US" sz="1600" dirty="0"/>
              <a:t>), marital status (</a:t>
            </a:r>
            <a:r>
              <a:rPr lang="en-US" altLang="en-US" sz="1600" i="1" dirty="0"/>
              <a:t>Partner</a:t>
            </a:r>
            <a:r>
              <a:rPr lang="en-US" altLang="en-US" sz="1600" dirty="0"/>
              <a:t>) among others.</a:t>
            </a:r>
          </a:p>
          <a:p>
            <a:pPr marL="344488" indent="-344488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b="1" dirty="0"/>
              <a:t>Location: </a:t>
            </a:r>
            <a:r>
              <a:rPr lang="en-US" altLang="en-US" sz="1600" dirty="0"/>
              <a:t>7 variables including customer’s primary residence ZIP Code (</a:t>
            </a:r>
            <a:r>
              <a:rPr lang="en-US" altLang="en-US" sz="1600" i="1" dirty="0"/>
              <a:t>Zip Code</a:t>
            </a:r>
            <a:r>
              <a:rPr lang="en-US" altLang="en-US" sz="1600" dirty="0"/>
              <a:t>), latitude (</a:t>
            </a:r>
            <a:r>
              <a:rPr lang="en-US" altLang="en-US" sz="1600" i="1" dirty="0"/>
              <a:t>Latitude</a:t>
            </a:r>
            <a:r>
              <a:rPr lang="en-US" altLang="en-US" sz="1600" dirty="0"/>
              <a:t>) among others.</a:t>
            </a:r>
            <a:endParaRPr lang="en-US" sz="1600" dirty="0"/>
          </a:p>
          <a:p>
            <a:pPr marL="344488" indent="-344488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b="1" dirty="0"/>
              <a:t>Services: </a:t>
            </a:r>
            <a:r>
              <a:rPr lang="en-US" altLang="en-US" sz="1600" dirty="0"/>
              <a:t>15 variables including customer’s subscriptions to home phone (</a:t>
            </a:r>
            <a:r>
              <a:rPr lang="en-US" altLang="en-US" sz="1600" i="1" dirty="0"/>
              <a:t>Phone Services</a:t>
            </a:r>
            <a:r>
              <a:rPr lang="en-US" altLang="en-US" sz="1600" dirty="0"/>
              <a:t>), internet (</a:t>
            </a:r>
            <a:r>
              <a:rPr lang="en-US" altLang="en-US" sz="1600" i="1" dirty="0"/>
              <a:t>Internet services</a:t>
            </a:r>
            <a:r>
              <a:rPr lang="en-US" altLang="en-US" sz="1600" dirty="0"/>
              <a:t>), tech support (</a:t>
            </a:r>
            <a:r>
              <a:rPr lang="en-US" altLang="en-US" sz="1600" i="1" dirty="0"/>
              <a:t>Tech Support</a:t>
            </a:r>
            <a:r>
              <a:rPr lang="en-US" altLang="en-US" sz="1600" dirty="0"/>
              <a:t>) among others services.</a:t>
            </a:r>
          </a:p>
          <a:p>
            <a:pPr marL="344488" indent="-344488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b="1" dirty="0"/>
              <a:t>Status:</a:t>
            </a:r>
            <a:r>
              <a:rPr lang="en-US" altLang="en-US" sz="1600" dirty="0"/>
              <a:t> 6 variables including customer’s ID (</a:t>
            </a:r>
            <a:r>
              <a:rPr lang="en-US" altLang="en-US" sz="1600" i="1" dirty="0" err="1"/>
              <a:t>CustomerID</a:t>
            </a:r>
            <a:r>
              <a:rPr lang="en-US" altLang="en-US" sz="1600" dirty="0"/>
              <a:t>), reason for leaving the company (</a:t>
            </a:r>
            <a:r>
              <a:rPr lang="en-US" altLang="en-US" sz="1600" i="1" dirty="0"/>
              <a:t>Churn Reason</a:t>
            </a:r>
            <a:r>
              <a:rPr lang="en-US" altLang="en-US" sz="1600" dirty="0"/>
              <a:t>), customer’s lifetime value (CLTV) among others.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4974" y="147264"/>
            <a:ext cx="8280166" cy="557276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Response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&amp;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Predicting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Variables</a:t>
            </a:r>
            <a:endParaRPr lang="en-US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6486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94954" y="878710"/>
            <a:ext cx="8280166" cy="3519917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Predict which customers are likely to churn.</a:t>
            </a:r>
          </a:p>
          <a:p>
            <a:pPr marL="688975" indent="-344488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Logistic Regression</a:t>
            </a:r>
          </a:p>
          <a:p>
            <a:pPr marL="688975" indent="-344488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K Nearest Neighbors </a:t>
            </a:r>
          </a:p>
          <a:p>
            <a:pPr marL="688975" indent="-344488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Decision Tree</a:t>
            </a:r>
          </a:p>
          <a:p>
            <a:pPr marL="688975" indent="-344488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Random Forest</a:t>
            </a:r>
          </a:p>
          <a:p>
            <a:pPr>
              <a:lnSpc>
                <a:spcPct val="150000"/>
              </a:lnSpc>
              <a:buClr>
                <a:srgbClr val="EAAA00"/>
              </a:buClr>
            </a:pPr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sz="1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7459" y="147264"/>
            <a:ext cx="8280166" cy="587256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Objective and Methods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1605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48" t="202" r="13279"/>
          <a:stretch/>
        </p:blipFill>
        <p:spPr>
          <a:xfrm>
            <a:off x="5463917" y="1043603"/>
            <a:ext cx="2765683" cy="2470276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109944" y="1043603"/>
            <a:ext cx="4462056" cy="3519917"/>
          </a:xfrm>
        </p:spPr>
        <p:txBody>
          <a:bodyPr/>
          <a:lstStyle/>
          <a:p>
            <a:pPr lvl="0" defTabSz="685800"/>
            <a:r>
              <a:rPr lang="en-US" sz="1200" b="1" dirty="0" smtClean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</a:t>
            </a: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Correlation among the numeric variables</a:t>
            </a:r>
          </a:p>
          <a:p>
            <a:pPr lvl="0" defTabSz="685800"/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# Select numerical variables</a:t>
            </a:r>
          </a:p>
          <a:p>
            <a:pPr lvl="0" defTabSz="685800"/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dat.num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&lt;-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na.omit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 , which(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sapply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is.numeric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))])</a:t>
            </a:r>
          </a:p>
          <a:p>
            <a:pPr lvl="0" defTabSz="685800"/>
            <a:endParaRPr lang="en-US" sz="1200" i="1" dirty="0">
              <a:solidFill>
                <a:prstClr val="black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vl="0" defTabSz="685800"/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# Create correlation matrix</a:t>
            </a:r>
          </a:p>
          <a:p>
            <a:pPr lvl="0" defTabSz="685800"/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corr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&lt;-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cor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dat.num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  <a:p>
            <a:pPr lvl="0" defTabSz="685800"/>
            <a:endParaRPr lang="en-US" sz="1200" i="1" dirty="0">
              <a:solidFill>
                <a:prstClr val="black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vl="0" defTabSz="685800"/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# Create correlation plot</a:t>
            </a:r>
          </a:p>
          <a:p>
            <a:pPr lvl="0" defTabSz="685800"/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col &lt;-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colorRampPalette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(c(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buzzgold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,"white",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gtblue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))(10)</a:t>
            </a:r>
          </a:p>
          <a:p>
            <a:pPr lvl="0" defTabSz="685800"/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corrplot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corr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method = "number", type = "upper", </a:t>
            </a:r>
          </a:p>
          <a:p>
            <a:pPr lvl="0" defTabSz="685800"/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     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tl.col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="black", col = col)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4974" y="147263"/>
            <a:ext cx="8280166" cy="549781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Exploratory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Data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Analysis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in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R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9F5B6-CE60-4444-94A7-71B66691C730}"/>
              </a:ext>
            </a:extLst>
          </p:cNvPr>
          <p:cNvSpPr txBox="1"/>
          <p:nvPr/>
        </p:nvSpPr>
        <p:spPr>
          <a:xfrm>
            <a:off x="5486400" y="3565850"/>
            <a:ext cx="2638269" cy="83099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There appears to be strong correlation among some of the predicting variables.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367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defTabSz="685800"/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defTabSz="685800"/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4974" y="147264"/>
            <a:ext cx="8280166" cy="639722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Exploratory Data Analysis in R (cont’d) 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968" y="1041541"/>
            <a:ext cx="792038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Relationship between binary response and numerical variables</a:t>
            </a:r>
          </a:p>
          <a:p>
            <a:pPr lvl="0"/>
            <a:endParaRPr lang="en-US" sz="1200" b="1" dirty="0">
              <a:solidFill>
                <a:srgbClr val="EAAA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par(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mfrow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=c(2,2))</a:t>
            </a:r>
          </a:p>
          <a:p>
            <a:r>
              <a:rPr lang="en-US" sz="1200" b="1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boxplot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Total.Charges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~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Churn.Value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main="",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="Churn Value",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ylab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="Total Charges", col=c(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techgold,buzzgold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), data=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  <a:p>
            <a:endParaRPr lang="en-US" sz="1200" i="1" dirty="0">
              <a:solidFill>
                <a:prstClr val="black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b="1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boxplot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Monthly.Charges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~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Churn.Value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main="",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="Churn Value",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ylab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="Monthly Charges", col=c(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techgold,buzzgold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), data=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  <a:p>
            <a:endParaRPr lang="en-US" sz="1200" i="1" dirty="0">
              <a:solidFill>
                <a:prstClr val="black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b="1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boxplot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Tenure.Months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~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Churn.Value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main="",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="Churn Value",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ylab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="Tenure Months", col=c(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techgold,buzzgold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), data=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  <a:p>
            <a:endParaRPr lang="en-US" sz="1200" i="1" dirty="0">
              <a:solidFill>
                <a:prstClr val="black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2876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defTabSz="685800"/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defTabSz="685800"/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t="5351" r="4794" b="1275"/>
          <a:stretch/>
        </p:blipFill>
        <p:spPr>
          <a:xfrm>
            <a:off x="182503" y="1139772"/>
            <a:ext cx="2674004" cy="24790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t="5861" r="3707"/>
          <a:stretch/>
        </p:blipFill>
        <p:spPr>
          <a:xfrm>
            <a:off x="3249613" y="1158244"/>
            <a:ext cx="2674004" cy="247347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/>
          <a:srcRect t="7203" r="4036"/>
          <a:stretch/>
        </p:blipFill>
        <p:spPr>
          <a:xfrm>
            <a:off x="6212823" y="1184705"/>
            <a:ext cx="2788878" cy="2447637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B9AA194A-AD03-4893-B3FC-62DFDEAA91D4}"/>
              </a:ext>
            </a:extLst>
          </p:cNvPr>
          <p:cNvSpPr txBox="1">
            <a:spLocks/>
          </p:cNvSpPr>
          <p:nvPr/>
        </p:nvSpPr>
        <p:spPr>
          <a:xfrm>
            <a:off x="64974" y="147264"/>
            <a:ext cx="8280166" cy="63972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Exploratory Data Analysis in R (cont’d)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CEDB26-342E-4F69-BE3B-E76AF58BD69A}"/>
              </a:ext>
            </a:extLst>
          </p:cNvPr>
          <p:cNvSpPr txBox="1"/>
          <p:nvPr/>
        </p:nvSpPr>
        <p:spPr>
          <a:xfrm>
            <a:off x="197995" y="3815087"/>
            <a:ext cx="8280166" cy="584775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Customers that remain with the company appear to have higher total charges and tenure months but lower monthly charges than customers that have churned.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477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3808" y="1046785"/>
            <a:ext cx="81932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Relationship between binary response and categorical variables</a:t>
            </a:r>
          </a:p>
          <a:p>
            <a:pPr lvl="0"/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par(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mfrow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=c(1,3))</a:t>
            </a:r>
          </a:p>
          <a:p>
            <a:pPr lvl="0"/>
            <a:endParaRPr lang="en-US" sz="1200" i="1" dirty="0">
              <a:solidFill>
                <a:prstClr val="black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vl="0"/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tb_obgender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b="1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xtabs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(~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dat$Churn.Value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+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dat$Gender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  <a:p>
            <a:pPr lvl="0"/>
            <a:r>
              <a:rPr lang="en-US" sz="1200" b="1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barplot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prop.table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tb_obgender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),axes=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T,space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=0.3, 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cex.axis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=1.5,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cex.names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=1.5,</a:t>
            </a:r>
          </a:p>
          <a:p>
            <a:pPr lvl="0"/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    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="Proportion of churn vs not churn",</a:t>
            </a:r>
          </a:p>
          <a:p>
            <a:pPr lvl="0"/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    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horiz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=T, col=c(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gtblue,buzzgold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),main="Churn by Gender")</a:t>
            </a:r>
          </a:p>
          <a:p>
            <a:pPr lvl="0"/>
            <a:endParaRPr lang="en-US" sz="1200" i="1" dirty="0">
              <a:solidFill>
                <a:prstClr val="black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vl="0"/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tb_citizen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b="1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xtabs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(~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dat$Churn.Value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+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dat$Senior.Citizen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  <a:p>
            <a:pPr lvl="0"/>
            <a:r>
              <a:rPr lang="en-US" sz="1200" b="1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barplot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prop.table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tb_citizen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),axes=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T,space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=0.3,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cex.axis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=1.5,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cex.names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=1.5,</a:t>
            </a:r>
          </a:p>
          <a:p>
            <a:pPr lvl="0"/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    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="Proportion of churn vs not churn",</a:t>
            </a:r>
          </a:p>
          <a:p>
            <a:pPr lvl="0"/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    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horiz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=T, col=c(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gtblue,buzzgold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),main="Churn by Senior citizen (Y/N)")</a:t>
            </a:r>
          </a:p>
          <a:p>
            <a:pPr lvl="0"/>
            <a:endParaRPr lang="en-US" sz="1200" i="1" dirty="0">
              <a:solidFill>
                <a:prstClr val="black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vl="0"/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tb_Dependents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b="1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xtabs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(~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dat$Churn.Value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+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dat$Dependents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  <a:p>
            <a:pPr lvl="0"/>
            <a:r>
              <a:rPr lang="en-US" sz="1200" b="1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barplot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prop.table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tb_Dependents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),axes=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T,space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=0.3,cex.axis=1.5,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cex.names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=1.5,</a:t>
            </a:r>
          </a:p>
          <a:p>
            <a:pPr lvl="0"/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    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="Proportion of churn vs not churn ",</a:t>
            </a:r>
          </a:p>
          <a:p>
            <a:pPr lvl="0"/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   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horiz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=T, col=c(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gtblue,buzzgold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),main="Churn by dependents (Y/N)",</a:t>
            </a:r>
          </a:p>
          <a:p>
            <a:pPr lvl="0"/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   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legend.text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c("No", "Yes"))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CC19C2DB-3D82-4120-A72D-9A6D500C6D11}"/>
              </a:ext>
            </a:extLst>
          </p:cNvPr>
          <p:cNvSpPr txBox="1">
            <a:spLocks/>
          </p:cNvSpPr>
          <p:nvPr/>
        </p:nvSpPr>
        <p:spPr>
          <a:xfrm>
            <a:off x="64974" y="147264"/>
            <a:ext cx="8280166" cy="63972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Exploratory Data Analysis in R (cont’d)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1487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2348" y="1268453"/>
            <a:ext cx="819325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sz="1200" i="1" dirty="0">
              <a:solidFill>
                <a:prstClr val="black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2" r="2440"/>
          <a:stretch/>
        </p:blipFill>
        <p:spPr>
          <a:xfrm>
            <a:off x="197892" y="1193503"/>
            <a:ext cx="5370953" cy="2728110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6B4BA439-4880-475A-91B2-2BF9ED007513}"/>
              </a:ext>
            </a:extLst>
          </p:cNvPr>
          <p:cNvSpPr txBox="1">
            <a:spLocks/>
          </p:cNvSpPr>
          <p:nvPr/>
        </p:nvSpPr>
        <p:spPr>
          <a:xfrm>
            <a:off x="64974" y="147264"/>
            <a:ext cx="8280166" cy="63972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Exploratory Data Analysis in R (cont’d)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FCB3F8-111E-4996-BBAB-4F2F13535D6F}"/>
              </a:ext>
            </a:extLst>
          </p:cNvPr>
          <p:cNvSpPr txBox="1"/>
          <p:nvPr/>
        </p:nvSpPr>
        <p:spPr>
          <a:xfrm>
            <a:off x="197893" y="4028989"/>
            <a:ext cx="5288507" cy="83099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There seems to exist significant differences in the proportions for each group in the predicting variables </a:t>
            </a:r>
            <a:r>
              <a:rPr lang="en-US" sz="16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Senior Citizen</a:t>
            </a: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and </a:t>
            </a:r>
            <a:r>
              <a:rPr lang="en-US" sz="16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Dependents</a:t>
            </a: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725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92594" y="147814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68695" y="1276350"/>
            <a:ext cx="2573755" cy="2813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DESIGN_ID_1_HALF PAGE SLASH" val="8pVai5tC"/>
  <p:tag name="ARTICULATE_DESIGN_ID_1_FULL PAGE LAYOUT" val="ZOdDEs0t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22685</TotalTime>
  <Words>621</Words>
  <Application>Microsoft Office PowerPoint</Application>
  <PresentationFormat>On-screen Show (16:9)</PresentationFormat>
  <Paragraphs>81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5" baseType="lpstr">
      <vt:lpstr>MS PGothic</vt:lpstr>
      <vt:lpstr>宋体</vt:lpstr>
      <vt:lpstr>Arial</vt:lpstr>
      <vt:lpstr>Calibri</vt:lpstr>
      <vt:lpstr>Cambria</vt:lpstr>
      <vt:lpstr>Helvetica</vt:lpstr>
      <vt:lpstr>Helvetica Neue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PowerPoint Presentation</vt:lpstr>
      <vt:lpstr>PowerPoint Presentation</vt:lpstr>
      <vt:lpstr>Customer Churn Analysis</vt:lpstr>
      <vt:lpstr>Response &amp; Predicting Variables</vt:lpstr>
      <vt:lpstr>Objective and Methods</vt:lpstr>
      <vt:lpstr>Exploratory Data Analysis in R</vt:lpstr>
      <vt:lpstr>Exploratory Data Analysis in R (cont’d) </vt:lpstr>
      <vt:lpstr>PowerPoint Presentation</vt:lpstr>
      <vt:lpstr>PowerPoint Presentation</vt:lpstr>
      <vt:lpstr>PowerPoint Presentation</vt:lpstr>
      <vt:lpstr>PowerPoint Presentation</vt:lpstr>
    </vt:vector>
  </TitlesOfParts>
  <Company>gt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Linear Regression R Examples</dc:title>
  <dc:creator>Serban, Nicoleta</dc:creator>
  <cp:lastModifiedBy>Rodriguez, Ramon S</cp:lastModifiedBy>
  <cp:revision>607</cp:revision>
  <dcterms:created xsi:type="dcterms:W3CDTF">2017-01-02T15:06:50Z</dcterms:created>
  <dcterms:modified xsi:type="dcterms:W3CDTF">2020-06-12T16:20:26Z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F2FCE88F-5DD6-4D14-A262-120F60542560</vt:lpwstr>
  </property>
  <property fmtid="{D5CDD505-2E9C-101B-9397-08002B2CF9AE}" pid="3" name="ArticulatePath">
    <vt:lpwstr>14-Data_Analysis II-L1 v052220</vt:lpwstr>
  </property>
</Properties>
</file>