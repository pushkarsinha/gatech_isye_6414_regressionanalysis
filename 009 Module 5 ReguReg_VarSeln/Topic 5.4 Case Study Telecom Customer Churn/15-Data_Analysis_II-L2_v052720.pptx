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2"/>
  </p:notesMasterIdLst>
  <p:sldIdLst>
    <p:sldId id="489" r:id="rId4"/>
    <p:sldId id="343" r:id="rId5"/>
    <p:sldId id="513" r:id="rId6"/>
    <p:sldId id="514" r:id="rId7"/>
    <p:sldId id="512" r:id="rId8"/>
    <p:sldId id="499" r:id="rId9"/>
    <p:sldId id="515" r:id="rId10"/>
    <p:sldId id="344" r:id="rId11"/>
  </p:sldIdLst>
  <p:sldSz cx="9144000" cy="5143500" type="screen16x9"/>
  <p:notesSz cx="6858000" cy="9144000"/>
  <p:custDataLst>
    <p:tags r:id="rId13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5616" userDrawn="1">
          <p15:clr>
            <a:srgbClr val="A4A3A4"/>
          </p15:clr>
        </p15:guide>
        <p15:guide id="8" orient="horz" pos="636" userDrawn="1">
          <p15:clr>
            <a:srgbClr val="A4A3A4"/>
          </p15:clr>
        </p15:guide>
        <p15:guide id="9" orient="horz" pos="396" userDrawn="1">
          <p15:clr>
            <a:srgbClr val="A4A3A4"/>
          </p15:clr>
        </p15:guide>
        <p15:guide id="10" orient="horz" pos="3108" userDrawn="1">
          <p15:clr>
            <a:srgbClr val="A4A3A4"/>
          </p15:clr>
        </p15:guide>
        <p15:guide id="11" orient="horz" pos="7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EAAA00"/>
    <a:srgbClr val="F6F7F9"/>
    <a:srgbClr val="F2F6F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93580" autoAdjust="0"/>
  </p:normalViewPr>
  <p:slideViewPr>
    <p:cSldViewPr snapToGrid="0">
      <p:cViewPr varScale="1">
        <p:scale>
          <a:sx n="79" d="100"/>
          <a:sy n="79" d="100"/>
        </p:scale>
        <p:origin x="556" y="52"/>
      </p:cViewPr>
      <p:guideLst>
        <p:guide orient="horz" pos="1620"/>
        <p:guide pos="2880"/>
        <p:guide pos="120"/>
        <p:guide pos="336"/>
        <p:guide pos="552"/>
        <p:guide pos="3456"/>
        <p:guide pos="5616"/>
        <p:guide orient="horz" pos="636"/>
        <p:guide orient="horz" pos="396"/>
        <p:guide orient="horz" pos="3108"/>
        <p:guide orient="horz" pos="7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5/27/2020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5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38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35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80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1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60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1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58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7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21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024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8184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791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116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867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6815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6420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022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0617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422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47368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92366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Regression Analysis in Practice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B0BD2DC8-1161-4EB9-AB7F-D7AA5F4350EE}"/>
              </a:ext>
            </a:extLst>
          </p:cNvPr>
          <p:cNvSpPr txBox="1">
            <a:spLocks/>
          </p:cNvSpPr>
          <p:nvPr/>
        </p:nvSpPr>
        <p:spPr>
          <a:xfrm>
            <a:off x="88438" y="4026838"/>
            <a:ext cx="3453048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Predicting Churn Values of Customers: Regression &amp; Variable Selection 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3358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F52B85-61A7-BF40-809D-C54B8D2464F6}"/>
              </a:ext>
            </a:extLst>
          </p:cNvPr>
          <p:cNvSpPr txBox="1"/>
          <p:nvPr/>
        </p:nvSpPr>
        <p:spPr>
          <a:xfrm>
            <a:off x="120040" y="1008469"/>
            <a:ext cx="45409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Create full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 ., family = "binomial", data = train)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Finding insignificant variables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which(summary(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)$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coeff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[,4]&gt;0.05)</a:t>
            </a:r>
          </a:p>
          <a:p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The overall regression seems to have explanatory power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Model Assessment: Multicollinearity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vifs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vif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85051CC-A794-D143-84F8-AC552151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Logistic Regression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06374-620F-41EA-B764-6C4C5AB2EC64}"/>
              </a:ext>
            </a:extLst>
          </p:cNvPr>
          <p:cNvSpPr txBox="1"/>
          <p:nvPr/>
        </p:nvSpPr>
        <p:spPr>
          <a:xfrm>
            <a:off x="5486399" y="1052220"/>
            <a:ext cx="3434555" cy="230832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Not statistically significant in the full model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</a:p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Gender, Senior Citizen, Phone Service, Multiple Lines, Internet Service, Online Security, Online Backup, Device Protection, Tech Support, Streaming TV, Streaming Movies, Payment Method, Monthly Charges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876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485051CC-A794-D143-84F8-AC552151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Logistic Regression (cont’d)</a:t>
            </a:r>
            <a:endParaRPr kumimoji="1" lang="zh-CN" altLang="en-US" sz="3600" dirty="0">
              <a:latin typeface="Vitesse"/>
            </a:endParaRPr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36BF2535-1BCE-4381-AE5F-B900D16D26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5" r="11124" b="4935"/>
          <a:stretch/>
        </p:blipFill>
        <p:spPr>
          <a:xfrm>
            <a:off x="5454032" y="993465"/>
            <a:ext cx="3503848" cy="3223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9DC616-0135-4D9C-B2A2-F8707960FCA9}"/>
              </a:ext>
            </a:extLst>
          </p:cNvPr>
          <p:cNvSpPr txBox="1"/>
          <p:nvPr/>
        </p:nvSpPr>
        <p:spPr>
          <a:xfrm>
            <a:off x="120040" y="1008469"/>
            <a:ext cx="45409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Create full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 ., family = "binomial", data = train)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Finding insignificant variables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which(summary(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)$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coeff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[,4]&gt;0.05)</a:t>
            </a:r>
          </a:p>
          <a:p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The overall regression seems to have explanatory power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Model Assessment: Multicollinearity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vifs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vif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356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601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Variable Selection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5CB3F-C677-4EC1-9563-1709E77FCF5F}"/>
              </a:ext>
            </a:extLst>
          </p:cNvPr>
          <p:cNvSpPr txBox="1"/>
          <p:nvPr/>
        </p:nvSpPr>
        <p:spPr>
          <a:xfrm>
            <a:off x="-26312" y="914399"/>
            <a:ext cx="6400801" cy="2592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1963" lvl="1" indent="-342900">
              <a:lnSpc>
                <a:spcPct val="114000"/>
              </a:lnSpc>
            </a:pPr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Reduce the number of factors in the model</a:t>
            </a:r>
          </a:p>
          <a:p>
            <a:pPr marL="461963" lvl="1" indent="-342900">
              <a:lnSpc>
                <a:spcPct val="114000"/>
              </a:lnSpc>
              <a:buAutoNum type="arabicPeriod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Overfitting</a:t>
            </a:r>
          </a:p>
          <a:p>
            <a:pPr marL="801688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Model with large # of factors can fit too closely, cause random effects</a:t>
            </a:r>
          </a:p>
          <a:p>
            <a:pPr marL="801688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It can cause bad estimates</a:t>
            </a:r>
          </a:p>
          <a:p>
            <a:pPr marL="461963" lvl="1" indent="-342900">
              <a:lnSpc>
                <a:spcPct val="114000"/>
              </a:lnSpc>
              <a:buAutoNum type="arabicPeriod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Simplicity</a:t>
            </a:r>
          </a:p>
          <a:p>
            <a:pPr marL="801688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Less chance of insignificant factors</a:t>
            </a:r>
          </a:p>
          <a:p>
            <a:pPr marL="801688" lvl="2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Easier to interpret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74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5">
            <a:extLst>
              <a:ext uri="{FF2B5EF4-FFF2-40B4-BE49-F238E27FC236}">
                <a16:creationId xmlns:a16="http://schemas.microsoft.com/office/drawing/2014/main" id="{B7E9E799-99DB-47A4-8F9F-30BCB8361CE3}"/>
              </a:ext>
            </a:extLst>
          </p:cNvPr>
          <p:cNvSpPr txBox="1"/>
          <p:nvPr/>
        </p:nvSpPr>
        <p:spPr>
          <a:xfrm>
            <a:off x="9592" y="777825"/>
            <a:ext cx="6116018" cy="1720151"/>
          </a:xfrm>
          <a:prstGeom prst="rect">
            <a:avLst/>
          </a:prstGeom>
          <a:noFill/>
          <a:ln w="19050">
            <a:noFill/>
          </a:ln>
        </p:spPr>
        <p:txBody>
          <a:bodyPr wrap="square" lIns="182880" tIns="182880" rIns="182880" bIns="182880" rtlCol="0">
            <a:spAutoFit/>
          </a:bodyPr>
          <a:lstStyle/>
          <a:p>
            <a:pPr marL="339725" lvl="1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Forward-Backward Stepwise Regression</a:t>
            </a: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Create minimum model including an intercept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min.model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~ 1, family = "binomial", data = train)</a:t>
            </a:r>
            <a:endParaRPr lang="en-US" sz="1200" dirty="0">
              <a:latin typeface="Helvetica" charset="0"/>
              <a:ea typeface="Helvetica" charset="0"/>
              <a:cs typeface="Helvetica" charset="0"/>
            </a:endParaRP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Perform stepwise regression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step.model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step(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min.model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scope = list(lower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min.model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upper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      direction = "both", trace = FALSE)</a:t>
            </a:r>
            <a:endParaRPr lang="en-US" sz="1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E552B-CA56-4D9E-B4ED-124E0A71881B}"/>
              </a:ext>
            </a:extLst>
          </p:cNvPr>
          <p:cNvSpPr/>
          <p:nvPr/>
        </p:nvSpPr>
        <p:spPr>
          <a:xfrm>
            <a:off x="205200" y="3238543"/>
            <a:ext cx="5281200" cy="1077218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Not selected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 Gender, Senior Citizen, Online Backup, Device Protection, Monthly Charges</a:t>
            </a:r>
          </a:p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Not statistically significant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 Payment Method by Mailed check and by Credit Card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2B5F6E5-1519-4A62-B72B-12ACA2FFA831}"/>
              </a:ext>
            </a:extLst>
          </p:cNvPr>
          <p:cNvSpPr txBox="1">
            <a:spLocks/>
          </p:cNvSpPr>
          <p:nvPr/>
        </p:nvSpPr>
        <p:spPr>
          <a:xfrm>
            <a:off x="98601" y="153298"/>
            <a:ext cx="8562392" cy="59926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Variable Selection (cont’d)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62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5">
            <a:extLst>
              <a:ext uri="{FF2B5EF4-FFF2-40B4-BE49-F238E27FC236}">
                <a16:creationId xmlns:a16="http://schemas.microsoft.com/office/drawing/2014/main" id="{B7E9E799-99DB-47A4-8F9F-30BCB8361CE3}"/>
              </a:ext>
            </a:extLst>
          </p:cNvPr>
          <p:cNvSpPr txBox="1"/>
          <p:nvPr/>
        </p:nvSpPr>
        <p:spPr>
          <a:xfrm>
            <a:off x="9589" y="776266"/>
            <a:ext cx="5476811" cy="3930500"/>
          </a:xfrm>
          <a:prstGeom prst="rect">
            <a:avLst/>
          </a:prstGeom>
          <a:noFill/>
          <a:ln w="19050">
            <a:noFill/>
          </a:ln>
        </p:spPr>
        <p:txBody>
          <a:bodyPr wrap="square" lIns="182880" tIns="182880" rIns="182880" bIns="182880" rtlCol="0">
            <a:spAutoFit/>
          </a:bodyPr>
          <a:lstStyle/>
          <a:p>
            <a:pPr marL="339725" lvl="1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LASSO Regression</a:t>
            </a: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Set predictors and response to correct format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model.matrix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Churn.Value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~ ., train)[,-1]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train$Churn.Value</a:t>
            </a:r>
            <a:endParaRPr lang="en-US" sz="1200" dirty="0">
              <a:latin typeface="Helvetica" charset="0"/>
              <a:ea typeface="Helvetica" charset="0"/>
              <a:cs typeface="Helvetica" charset="0"/>
            </a:endParaRP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Use cross validation to find optimal lambda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cv.lasso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cv.glmnet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alpha = 1, family = "binomial")</a:t>
            </a:r>
            <a:endParaRPr lang="en-US" sz="1200" dirty="0">
              <a:latin typeface="Helvetica" charset="0"/>
              <a:ea typeface="Helvetica" charset="0"/>
              <a:cs typeface="Helvetica" charset="0"/>
            </a:endParaRP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Train Lasso and display coefficients with optimal lambda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lasso.model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glmnet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alpha = 1, family = "binomial")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lasso.model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cv.lasso$lambda.min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pPr marL="0" lvl="1">
              <a:lnSpc>
                <a:spcPct val="114000"/>
              </a:lnSpc>
            </a:pPr>
            <a:endParaRPr lang="en-US" sz="1200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marL="339725" lvl="1" indent="-33972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black"/>
                </a:solidFill>
                <a:latin typeface="Helvetica" charset="0"/>
                <a:ea typeface="Helvetica" charset="0"/>
                <a:cs typeface="Helvetica" charset="0"/>
              </a:rPr>
              <a:t>Elastic Net Regression</a:t>
            </a: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Use cross validation to find optimal lambda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cv.elnet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cv.glmnet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alpha = 0.5, family = "binomial")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lvl="1">
              <a:lnSpc>
                <a:spcPct val="1140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Train Elastic Net and display coefficients with optimal lambda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elnet.model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glmnet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alpha = 0.5, family = "binomial")</a:t>
            </a:r>
          </a:p>
          <a:p>
            <a:pPr marL="0" lvl="1">
              <a:lnSpc>
                <a:spcPct val="114000"/>
              </a:lnSpc>
            </a:pP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elnet.model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cv.elnet$lambda.min</a:t>
            </a:r>
            <a:r>
              <a:rPr lang="en-US" sz="1200" i="1" dirty="0">
                <a:solidFill>
                  <a:prstClr val="black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6544EB-D5B5-4CB4-9A0D-44871F45D004}"/>
              </a:ext>
            </a:extLst>
          </p:cNvPr>
          <p:cNvSpPr/>
          <p:nvPr/>
        </p:nvSpPr>
        <p:spPr>
          <a:xfrm>
            <a:off x="5486400" y="1016714"/>
            <a:ext cx="3428999" cy="584775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Not selected for both models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  Monthly Charges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9D9EFEF-1C67-4675-9C54-E5FD3B07E994}"/>
              </a:ext>
            </a:extLst>
          </p:cNvPr>
          <p:cNvSpPr txBox="1">
            <a:spLocks/>
          </p:cNvSpPr>
          <p:nvPr/>
        </p:nvSpPr>
        <p:spPr>
          <a:xfrm>
            <a:off x="98601" y="153298"/>
            <a:ext cx="8562392" cy="59926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Variable Selection (cont’d)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722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025498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  <p:tag name="ARTICULATE_DESIGN_ID_1_HALF PAGE SLASH" val="eZKx2rSr"/>
  <p:tag name="ARTICULATE_DESIGN_ID_1_FULL PAGE LAYOUT" val="a2fFrpj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17932</TotalTime>
  <Words>586</Words>
  <Application>Microsoft Office PowerPoint</Application>
  <PresentationFormat>On-screen Show (16:9)</PresentationFormat>
  <Paragraphs>71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Logistic Regression</vt:lpstr>
      <vt:lpstr>Logistic Regression (cont’d)</vt:lpstr>
      <vt:lpstr>Variable Selection</vt:lpstr>
      <vt:lpstr>PowerPoint Presentation</vt:lpstr>
      <vt:lpstr>PowerPoint Presentation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551</cp:revision>
  <dcterms:created xsi:type="dcterms:W3CDTF">2017-01-02T15:06:50Z</dcterms:created>
  <dcterms:modified xsi:type="dcterms:W3CDTF">2020-05-27T19:30:25Z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98F9E98F-3995-4652-921B-90C820E9BA5E</vt:lpwstr>
  </property>
  <property fmtid="{D5CDD505-2E9C-101B-9397-08002B2CF9AE}" pid="3" name="ArticulatePath">
    <vt:lpwstr>15-Data Analysis II-L2 v052720</vt:lpwstr>
  </property>
</Properties>
</file>