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 id="2147483717" r:id="rId2"/>
    <p:sldMasterId id="2147483718" r:id="rId3"/>
  </p:sldMasterIdLst>
  <p:notesMasterIdLst>
    <p:notesMasterId r:id="rId18"/>
  </p:notesMasterIdLst>
  <p:sldIdLst>
    <p:sldId id="489" r:id="rId4"/>
    <p:sldId id="343" r:id="rId5"/>
    <p:sldId id="337" r:id="rId6"/>
    <p:sldId id="514" r:id="rId7"/>
    <p:sldId id="499" r:id="rId8"/>
    <p:sldId id="510" r:id="rId9"/>
    <p:sldId id="501" r:id="rId10"/>
    <p:sldId id="504" r:id="rId11"/>
    <p:sldId id="512" r:id="rId12"/>
    <p:sldId id="513" r:id="rId13"/>
    <p:sldId id="502" r:id="rId14"/>
    <p:sldId id="505" r:id="rId15"/>
    <p:sldId id="508" r:id="rId16"/>
    <p:sldId id="344" r:id="rId17"/>
  </p:sldIdLst>
  <p:sldSz cx="9144000" cy="5143500" type="screen16x9"/>
  <p:notesSz cx="6858000" cy="9144000"/>
  <p:custDataLst>
    <p:tags r:id="rId19"/>
  </p:custData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pos="120" userDrawn="1">
          <p15:clr>
            <a:srgbClr val="A4A3A4"/>
          </p15:clr>
        </p15:guide>
        <p15:guide id="4" pos="336" userDrawn="1">
          <p15:clr>
            <a:srgbClr val="A4A3A4"/>
          </p15:clr>
        </p15:guide>
        <p15:guide id="5" pos="552" userDrawn="1">
          <p15:clr>
            <a:srgbClr val="A4A3A4"/>
          </p15:clr>
        </p15:guide>
        <p15:guide id="6" pos="3240" userDrawn="1">
          <p15:clr>
            <a:srgbClr val="A4A3A4"/>
          </p15:clr>
        </p15:guide>
        <p15:guide id="7" pos="5616" userDrawn="1">
          <p15:clr>
            <a:srgbClr val="A4A3A4"/>
          </p15:clr>
        </p15:guide>
        <p15:guide id="8" orient="horz" pos="636" userDrawn="1">
          <p15:clr>
            <a:srgbClr val="A4A3A4"/>
          </p15:clr>
        </p15:guide>
        <p15:guide id="9" orient="horz" pos="396" userDrawn="1">
          <p15:clr>
            <a:srgbClr val="A4A3A4"/>
          </p15:clr>
        </p15:guide>
        <p15:guide id="10" orient="horz" pos="31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AA00"/>
    <a:srgbClr val="0038AE"/>
    <a:srgbClr val="003366"/>
    <a:srgbClr val="F6F7F9"/>
    <a:srgbClr val="F2F6F7"/>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32" autoAdjust="0"/>
    <p:restoredTop sz="93570" autoAdjust="0"/>
  </p:normalViewPr>
  <p:slideViewPr>
    <p:cSldViewPr snapToGrid="0">
      <p:cViewPr varScale="1">
        <p:scale>
          <a:sx n="110" d="100"/>
          <a:sy n="110" d="100"/>
        </p:scale>
        <p:origin x="854" y="72"/>
      </p:cViewPr>
      <p:guideLst>
        <p:guide orient="horz" pos="1620"/>
        <p:guide pos="2880"/>
        <p:guide pos="120"/>
        <p:guide pos="336"/>
        <p:guide pos="552"/>
        <p:guide pos="3240"/>
        <p:guide pos="5616"/>
        <p:guide orient="horz" pos="636"/>
        <p:guide orient="horz" pos="396"/>
        <p:guide orient="horz" pos="3132"/>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C358C8-D37B-4DB3-A032-059E1BD5A650}" type="datetimeFigureOut">
              <a:rPr lang="en-US" smtClean="0"/>
              <a:t>6/4/2021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E3481-38DB-434B-B170-CFE83842A57C}" type="slidenum">
              <a:rPr lang="en-US" smtClean="0"/>
              <a:t>‹#›</a:t>
            </a:fld>
            <a:endParaRPr lang="en-US"/>
          </a:p>
        </p:txBody>
      </p:sp>
    </p:spTree>
    <p:extLst>
      <p:ext uri="{BB962C8B-B14F-4D97-AF65-F5344CB8AC3E}">
        <p14:creationId xmlns:p14="http://schemas.microsoft.com/office/powerpoint/2010/main" val="274139800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3</a:t>
            </a:fld>
            <a:endParaRPr lang="en-US"/>
          </a:p>
        </p:txBody>
      </p:sp>
    </p:spTree>
    <p:extLst>
      <p:ext uri="{BB962C8B-B14F-4D97-AF65-F5344CB8AC3E}">
        <p14:creationId xmlns:p14="http://schemas.microsoft.com/office/powerpoint/2010/main" val="2599768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4</a:t>
            </a:fld>
            <a:endParaRPr lang="en-US"/>
          </a:p>
        </p:txBody>
      </p:sp>
    </p:spTree>
    <p:extLst>
      <p:ext uri="{BB962C8B-B14F-4D97-AF65-F5344CB8AC3E}">
        <p14:creationId xmlns:p14="http://schemas.microsoft.com/office/powerpoint/2010/main" val="103409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5</a:t>
            </a:fld>
            <a:endParaRPr lang="en-US"/>
          </a:p>
        </p:txBody>
      </p:sp>
    </p:spTree>
    <p:extLst>
      <p:ext uri="{BB962C8B-B14F-4D97-AF65-F5344CB8AC3E}">
        <p14:creationId xmlns:p14="http://schemas.microsoft.com/office/powerpoint/2010/main" val="3273580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6</a:t>
            </a:fld>
            <a:endParaRPr lang="en-US"/>
          </a:p>
        </p:txBody>
      </p:sp>
    </p:spTree>
    <p:extLst>
      <p:ext uri="{BB962C8B-B14F-4D97-AF65-F5344CB8AC3E}">
        <p14:creationId xmlns:p14="http://schemas.microsoft.com/office/powerpoint/2010/main" val="1935640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99BE3481-38DB-434B-B170-CFE83842A57C}" type="slidenum">
              <a:rPr lang="en-US" smtClean="0"/>
              <a:t>7</a:t>
            </a:fld>
            <a:endParaRPr lang="en-US"/>
          </a:p>
        </p:txBody>
      </p:sp>
    </p:spTree>
    <p:extLst>
      <p:ext uri="{BB962C8B-B14F-4D97-AF65-F5344CB8AC3E}">
        <p14:creationId xmlns:p14="http://schemas.microsoft.com/office/powerpoint/2010/main" val="2559714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99BE3481-38DB-434B-B170-CFE83842A57C}" type="slidenum">
              <a:rPr lang="en-US" smtClean="0"/>
              <a:t>8</a:t>
            </a:fld>
            <a:endParaRPr lang="en-US"/>
          </a:p>
        </p:txBody>
      </p:sp>
    </p:spTree>
    <p:extLst>
      <p:ext uri="{BB962C8B-B14F-4D97-AF65-F5344CB8AC3E}">
        <p14:creationId xmlns:p14="http://schemas.microsoft.com/office/powerpoint/2010/main" val="1619253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99BE3481-38DB-434B-B170-CFE83842A57C}" type="slidenum">
              <a:rPr lang="en-US" smtClean="0"/>
              <a:t>9</a:t>
            </a:fld>
            <a:endParaRPr lang="en-US"/>
          </a:p>
        </p:txBody>
      </p:sp>
    </p:spTree>
    <p:extLst>
      <p:ext uri="{BB962C8B-B14F-4D97-AF65-F5344CB8AC3E}">
        <p14:creationId xmlns:p14="http://schemas.microsoft.com/office/powerpoint/2010/main" val="307175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99BE3481-38DB-434B-B170-CFE83842A57C}" type="slidenum">
              <a:rPr lang="en-US" smtClean="0"/>
              <a:t>10</a:t>
            </a:fld>
            <a:endParaRPr lang="en-US"/>
          </a:p>
        </p:txBody>
      </p:sp>
    </p:spTree>
    <p:extLst>
      <p:ext uri="{BB962C8B-B14F-4D97-AF65-F5344CB8AC3E}">
        <p14:creationId xmlns:p14="http://schemas.microsoft.com/office/powerpoint/2010/main" val="177645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99BE3481-38DB-434B-B170-CFE83842A57C}" type="slidenum">
              <a:rPr lang="en-US" smtClean="0"/>
              <a:t>11</a:t>
            </a:fld>
            <a:endParaRPr lang="en-US"/>
          </a:p>
        </p:txBody>
      </p:sp>
    </p:spTree>
    <p:extLst>
      <p:ext uri="{BB962C8B-B14F-4D97-AF65-F5344CB8AC3E}">
        <p14:creationId xmlns:p14="http://schemas.microsoft.com/office/powerpoint/2010/main" val="819147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99BE3481-38DB-434B-B170-CFE83842A57C}" type="slidenum">
              <a:rPr lang="en-US" smtClean="0"/>
              <a:t>12</a:t>
            </a:fld>
            <a:endParaRPr lang="en-US"/>
          </a:p>
        </p:txBody>
      </p:sp>
    </p:spTree>
    <p:extLst>
      <p:ext uri="{BB962C8B-B14F-4D97-AF65-F5344CB8AC3E}">
        <p14:creationId xmlns:p14="http://schemas.microsoft.com/office/powerpoint/2010/main" val="3484652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9BE3481-38DB-434B-B170-CFE83842A57C}" type="slidenum">
              <a:rPr lang="en-US" smtClean="0"/>
              <a:t>13</a:t>
            </a:fld>
            <a:endParaRPr lang="en-US"/>
          </a:p>
        </p:txBody>
      </p:sp>
    </p:spTree>
    <p:extLst>
      <p:ext uri="{BB962C8B-B14F-4D97-AF65-F5344CB8AC3E}">
        <p14:creationId xmlns:p14="http://schemas.microsoft.com/office/powerpoint/2010/main" val="3701694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3107606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712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A2002E78-3C88-9A40-B579-FA4DB2691E4F}"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extLst>
      <p:ext uri="{BB962C8B-B14F-4D97-AF65-F5344CB8AC3E}">
        <p14:creationId xmlns:p14="http://schemas.microsoft.com/office/powerpoint/2010/main" val="1166588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37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134F0668-60AC-E24C-8E50-B74DE0FA4F02}"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extLst>
      <p:ext uri="{BB962C8B-B14F-4D97-AF65-F5344CB8AC3E}">
        <p14:creationId xmlns:p14="http://schemas.microsoft.com/office/powerpoint/2010/main" val="2054212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3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1500246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281846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817910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01167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086762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56815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564202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802276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 Id="rId5" Type="http://schemas.openxmlformats.org/officeDocument/2006/relationships/image" Target="../media/image1.jp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0.xml"/><Relationship Id="rId7"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image" Target="../media/image4.png"/><Relationship Id="rId4" Type="http://schemas.openxmlformats.org/officeDocument/2006/relationships/slideLayout" Target="../slideLayouts/slideLayout11.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13BCFA4D-1CC5-4243-98FC-591DF878C6E5}"/>
              </a:ext>
            </a:extLst>
          </p:cNvPr>
          <p:cNvPicPr>
            <a:picLocks noChangeAspect="1"/>
          </p:cNvPicPr>
          <p:nvPr userDrawn="1"/>
        </p:nvPicPr>
        <p:blipFill>
          <a:blip r:embed="rId9"/>
          <a:stretch>
            <a:fillRect/>
          </a:stretch>
        </p:blipFill>
        <p:spPr>
          <a:xfrm>
            <a:off x="0" y="0"/>
            <a:ext cx="9144000" cy="5143500"/>
          </a:xfrm>
          <a:prstGeom prst="rect">
            <a:avLst/>
          </a:prstGeom>
        </p:spPr>
      </p:pic>
    </p:spTree>
    <p:extLst>
      <p:ext uri="{BB962C8B-B14F-4D97-AF65-F5344CB8AC3E}">
        <p14:creationId xmlns:p14="http://schemas.microsoft.com/office/powerpoint/2010/main" val="291015602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2"/>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xmlns="" id="{5BC3A035-B0EE-3A43-AADA-02BA46FB0931}"/>
                </a:ext>
              </a:extLst>
            </p:cNvPr>
            <p:cNvPicPr>
              <a:picLocks noChangeAspect="1"/>
            </p:cNvPicPr>
            <p:nvPr userDrawn="1"/>
          </p:nvPicPr>
          <p:blipFill>
            <a:blip r:embed="rId3"/>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4"/>
            <a:stretch>
              <a:fillRect/>
            </a:stretch>
          </p:blipFill>
          <p:spPr>
            <a:xfrm>
              <a:off x="0" y="0"/>
              <a:ext cx="3719590" cy="2933934"/>
            </a:xfrm>
            <a:prstGeom prst="rect">
              <a:avLst/>
            </a:prstGeom>
          </p:spPr>
        </p:pic>
      </p:grpSp>
      <p:pic>
        <p:nvPicPr>
          <p:cNvPr id="8" name="Picture 7">
            <a:extLst>
              <a:ext uri="{FF2B5EF4-FFF2-40B4-BE49-F238E27FC236}">
                <a16:creationId xmlns:a16="http://schemas.microsoft.com/office/drawing/2014/main" xmlns="" id="{13BCFA4D-1CC5-4243-98FC-591DF878C6E5}"/>
              </a:ext>
            </a:extLst>
          </p:cNvPr>
          <p:cNvPicPr>
            <a:picLocks noChangeAspect="1"/>
          </p:cNvPicPr>
          <p:nvPr userDrawn="1"/>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3371306178"/>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8"/>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xmlns="" id="{5BC3A035-B0EE-3A43-AADA-02BA46FB0931}"/>
                </a:ext>
              </a:extLst>
            </p:cNvPr>
            <p:cNvPicPr>
              <a:picLocks noChangeAspect="1"/>
            </p:cNvPicPr>
            <p:nvPr userDrawn="1"/>
          </p:nvPicPr>
          <p:blipFill>
            <a:blip r:embed="rId9"/>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10"/>
            <a:stretch>
              <a:fillRect/>
            </a:stretch>
          </p:blipFill>
          <p:spPr>
            <a:xfrm>
              <a:off x="0" y="0"/>
              <a:ext cx="3719590" cy="2933934"/>
            </a:xfrm>
            <a:prstGeom prst="rect">
              <a:avLst/>
            </a:prstGeom>
          </p:spPr>
        </p:pic>
      </p:grpSp>
    </p:spTree>
    <p:extLst>
      <p:ext uri="{BB962C8B-B14F-4D97-AF65-F5344CB8AC3E}">
        <p14:creationId xmlns:p14="http://schemas.microsoft.com/office/powerpoint/2010/main" val="2054225835"/>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4.xml"/><Relationship Id="rId4" Type="http://schemas.openxmlformats.org/officeDocument/2006/relationships/image" Target="../media/image6.tif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5.xml"/><Relationship Id="rId5" Type="http://schemas.openxmlformats.org/officeDocument/2006/relationships/image" Target="../media/image6.tiff"/><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6.xml"/><Relationship Id="rId4" Type="http://schemas.openxmlformats.org/officeDocument/2006/relationships/image" Target="../media/image8.tif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tags" Target="../tags/tag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10.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1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1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8.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nvSpPr>
        <p:spPr>
          <a:xfrm>
            <a:off x="72284" y="147368"/>
            <a:ext cx="6173436" cy="534636"/>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r>
              <a:rPr lang="en-US" sz="3600" dirty="0">
                <a:latin typeface="Vitesse" charset="0"/>
                <a:cs typeface="Vitesse" charset="0"/>
              </a:rPr>
              <a:t>Regression Analysis</a:t>
            </a:r>
          </a:p>
        </p:txBody>
      </p:sp>
      <p:sp>
        <p:nvSpPr>
          <p:cNvPr id="4" name="Text Placeholder 2"/>
          <p:cNvSpPr>
            <a:spLocks noGrp="1"/>
          </p:cNvSpPr>
          <p:nvPr/>
        </p:nvSpPr>
        <p:spPr>
          <a:xfrm>
            <a:off x="92366" y="685716"/>
            <a:ext cx="6368450" cy="1024985"/>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zh-CN" sz="2400" dirty="0"/>
              <a:t>Regression Analysis in Practice</a:t>
            </a:r>
            <a:endParaRPr lang="en-US" sz="2400" dirty="0"/>
          </a:p>
          <a:p>
            <a:endParaRPr lang="en-US" sz="2400" dirty="0"/>
          </a:p>
        </p:txBody>
      </p:sp>
      <p:sp>
        <p:nvSpPr>
          <p:cNvPr id="17" name="Text Placeholder 3"/>
          <p:cNvSpPr>
            <a:spLocks noGrp="1"/>
          </p:cNvSpPr>
          <p:nvPr/>
        </p:nvSpPr>
        <p:spPr>
          <a:xfrm>
            <a:off x="85589"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solidFill>
                <a:srgbClr val="EAAA00"/>
              </a:solidFill>
            </a:endParaRPr>
          </a:p>
          <a:p>
            <a:r>
              <a:rPr lang="en-US" dirty="0" err="1">
                <a:solidFill>
                  <a:srgbClr val="EAAA00"/>
                </a:solidFill>
              </a:rPr>
              <a:t>Nicoleta</a:t>
            </a:r>
            <a:r>
              <a:rPr lang="en-US" dirty="0">
                <a:solidFill>
                  <a:srgbClr val="EAAA00"/>
                </a:solidFill>
              </a:rPr>
              <a:t> </a:t>
            </a:r>
            <a:r>
              <a:rPr lang="en-US" dirty="0" err="1">
                <a:solidFill>
                  <a:srgbClr val="EAAA00"/>
                </a:solidFill>
              </a:rPr>
              <a:t>Serban</a:t>
            </a:r>
            <a:r>
              <a:rPr lang="en-US" dirty="0">
                <a:solidFill>
                  <a:srgbClr val="EAAA00"/>
                </a:solidFill>
              </a:rPr>
              <a:t>, Ph.D. </a:t>
            </a:r>
          </a:p>
        </p:txBody>
      </p:sp>
      <p:sp>
        <p:nvSpPr>
          <p:cNvPr id="18" name="Text Placeholder 4"/>
          <p:cNvSpPr>
            <a:spLocks noGrp="1"/>
          </p:cNvSpPr>
          <p:nvPr/>
        </p:nvSpPr>
        <p:spPr>
          <a:xfrm>
            <a:off x="92366"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Professor </a:t>
            </a:r>
          </a:p>
        </p:txBody>
      </p:sp>
      <p:sp>
        <p:nvSpPr>
          <p:cNvPr id="20" name="Text Placeholder 6"/>
          <p:cNvSpPr>
            <a:spLocks noGrp="1"/>
          </p:cNvSpPr>
          <p:nvPr/>
        </p:nvSpPr>
        <p:spPr>
          <a:xfrm>
            <a:off x="101772"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School of Industrial and Systems Engineering</a:t>
            </a:r>
          </a:p>
        </p:txBody>
      </p:sp>
      <p:sp>
        <p:nvSpPr>
          <p:cNvPr id="8" name="文本占位符 5">
            <a:extLst>
              <a:ext uri="{FF2B5EF4-FFF2-40B4-BE49-F238E27FC236}">
                <a16:creationId xmlns:a16="http://schemas.microsoft.com/office/drawing/2014/main" xmlns="" id="{B0BD2DC8-1161-4EB9-AB7F-D7AA5F4350EE}"/>
              </a:ext>
            </a:extLst>
          </p:cNvPr>
          <p:cNvSpPr txBox="1">
            <a:spLocks/>
          </p:cNvSpPr>
          <p:nvPr/>
        </p:nvSpPr>
        <p:spPr>
          <a:xfrm>
            <a:off x="92366" y="3881695"/>
            <a:ext cx="4034572" cy="681037"/>
          </a:xfrm>
          <a:prstGeom prst="rect">
            <a:avLst/>
          </a:prstGeom>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2000" dirty="0">
                <a:solidFill>
                  <a:schemeClr val="tx2"/>
                </a:solidFill>
                <a:latin typeface="Helvetica" panose="020B0604020202020204" pitchFamily="34" charset="0"/>
                <a:cs typeface="Helvetica" panose="020B0604020202020204" pitchFamily="34" charset="0"/>
              </a:rPr>
              <a:t>Predicting Customer Churn using Other Modeling Techniques</a:t>
            </a:r>
            <a:endParaRPr kumimoji="1" lang="zh-CN" altLang="en-US" sz="2000" dirty="0">
              <a:solidFill>
                <a:schemeClr val="tx2"/>
              </a:solidFill>
              <a:latin typeface="Helvetica" panose="020B0604020202020204" pitchFamily="34" charset="0"/>
              <a:cs typeface="Helvetica" panose="020B0604020202020204" pitchFamily="34" charset="0"/>
            </a:endParaRPr>
          </a:p>
        </p:txBody>
      </p:sp>
    </p:spTree>
    <p:custDataLst>
      <p:tags r:id="rId1"/>
    </p:custDataLst>
    <p:extLst>
      <p:ext uri="{BB962C8B-B14F-4D97-AF65-F5344CB8AC3E}">
        <p14:creationId xmlns:p14="http://schemas.microsoft.com/office/powerpoint/2010/main" val="432141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5820" t="7499" r="15454" b="5507"/>
          <a:stretch/>
        </p:blipFill>
        <p:spPr>
          <a:xfrm>
            <a:off x="3422383" y="1033589"/>
            <a:ext cx="2392685" cy="3028613"/>
          </a:xfrm>
          <a:prstGeom prst="rect">
            <a:avLst/>
          </a:prstGeom>
        </p:spPr>
      </p:pic>
      <p:sp>
        <p:nvSpPr>
          <p:cNvPr id="2" name="Text Placeholder 1"/>
          <p:cNvSpPr>
            <a:spLocks noGrp="1"/>
          </p:cNvSpPr>
          <p:nvPr>
            <p:ph type="body" sz="quarter" idx="4294967295"/>
          </p:nvPr>
        </p:nvSpPr>
        <p:spPr>
          <a:xfrm>
            <a:off x="121380" y="154185"/>
            <a:ext cx="4727575" cy="731837"/>
          </a:xfrm>
        </p:spPr>
        <p:txBody>
          <a:bodyPr anchor="t">
            <a:normAutofit/>
          </a:bodyPr>
          <a:lstStyle/>
          <a:p>
            <a:pPr>
              <a:spcBef>
                <a:spcPct val="0"/>
              </a:spcBef>
            </a:pPr>
            <a:r>
              <a:rPr lang="en-US" sz="3600" dirty="0">
                <a:latin typeface="Vitesse" charset="0"/>
                <a:ea typeface="Vitesse" charset="0"/>
                <a:cs typeface="Vitesse" charset="0"/>
              </a:rPr>
              <a:t>About This Lesson</a:t>
            </a:r>
          </a:p>
        </p:txBody>
      </p:sp>
    </p:spTree>
    <p:custDataLst>
      <p:tags r:id="rId1"/>
    </p:custDataLst>
    <p:extLst>
      <p:ext uri="{BB962C8B-B14F-4D97-AF65-F5344CB8AC3E}">
        <p14:creationId xmlns:p14="http://schemas.microsoft.com/office/powerpoint/2010/main" val="2065241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xmlns="" id="{485051CC-A794-D143-84F8-AC5521519662}"/>
              </a:ext>
            </a:extLst>
          </p:cNvPr>
          <p:cNvSpPr>
            <a:spLocks noGrp="1"/>
          </p:cNvSpPr>
          <p:nvPr>
            <p:ph type="title"/>
          </p:nvPr>
        </p:nvSpPr>
        <p:spPr>
          <a:xfrm>
            <a:off x="74325" y="153298"/>
            <a:ext cx="8562392" cy="599261"/>
          </a:xfrm>
        </p:spPr>
        <p:txBody>
          <a:bodyPr/>
          <a:lstStyle/>
          <a:p>
            <a:r>
              <a:rPr kumimoji="1" lang="en-US" altLang="zh-CN" sz="3600" dirty="0">
                <a:latin typeface="Vitesse"/>
              </a:rPr>
              <a:t>K Nearest Neighbors (KNN): Introduction</a:t>
            </a:r>
            <a:endParaRPr kumimoji="1" lang="zh-CN" altLang="en-US" sz="3600" dirty="0">
              <a:latin typeface="Vitesse"/>
            </a:endParaRPr>
          </a:p>
        </p:txBody>
      </p:sp>
      <p:grpSp>
        <p:nvGrpSpPr>
          <p:cNvPr id="4" name="Group 3">
            <a:extLst>
              <a:ext uri="{FF2B5EF4-FFF2-40B4-BE49-F238E27FC236}">
                <a16:creationId xmlns:a16="http://schemas.microsoft.com/office/drawing/2014/main" xmlns="" id="{B2A5B579-97E9-43BD-8585-88E4A7615A84}"/>
              </a:ext>
            </a:extLst>
          </p:cNvPr>
          <p:cNvGrpSpPr/>
          <p:nvPr/>
        </p:nvGrpSpPr>
        <p:grpSpPr>
          <a:xfrm>
            <a:off x="830192" y="2300283"/>
            <a:ext cx="2797962" cy="2732039"/>
            <a:chOff x="619800" y="2300283"/>
            <a:chExt cx="2797962" cy="2732039"/>
          </a:xfrm>
        </p:grpSpPr>
        <p:sp>
          <p:nvSpPr>
            <p:cNvPr id="18" name="Triangle 17">
              <a:extLst>
                <a:ext uri="{FF2B5EF4-FFF2-40B4-BE49-F238E27FC236}">
                  <a16:creationId xmlns:a16="http://schemas.microsoft.com/office/drawing/2014/main" xmlns="" id="{0D3A882A-4BA3-9D4C-B571-C787F5A1FE8E}"/>
                </a:ext>
              </a:extLst>
            </p:cNvPr>
            <p:cNvSpPr/>
            <p:nvPr/>
          </p:nvSpPr>
          <p:spPr>
            <a:xfrm>
              <a:off x="811463" y="4566118"/>
              <a:ext cx="138285" cy="125752"/>
            </a:xfrm>
            <a:prstGeom prst="triangle">
              <a:avLst/>
            </a:prstGeom>
            <a:solidFill>
              <a:srgbClr val="FF0000"/>
            </a:solidFill>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xmlns="" id="{49B098E2-852D-A04F-AE28-9BBE503BF35C}"/>
                </a:ext>
              </a:extLst>
            </p:cNvPr>
            <p:cNvSpPr txBox="1"/>
            <p:nvPr/>
          </p:nvSpPr>
          <p:spPr>
            <a:xfrm>
              <a:off x="900280" y="4490494"/>
              <a:ext cx="2517482" cy="276999"/>
            </a:xfrm>
            <a:prstGeom prst="rect">
              <a:avLst/>
            </a:prstGeom>
            <a:noFill/>
          </p:spPr>
          <p:txBody>
            <a:bodyPr wrap="square" rtlCol="0">
              <a:spAutoFit/>
            </a:bodyPr>
            <a:lstStyle/>
            <a:p>
              <a:r>
                <a:rPr lang="en-CA" sz="1200" dirty="0">
                  <a:latin typeface="Helvetica" pitchFamily="2" charset="0"/>
                </a:rPr>
                <a:t>: Customers who do churn</a:t>
              </a:r>
            </a:p>
          </p:txBody>
        </p:sp>
        <p:sp>
          <p:nvSpPr>
            <p:cNvPr id="20" name="Rectangle 19">
              <a:extLst>
                <a:ext uri="{FF2B5EF4-FFF2-40B4-BE49-F238E27FC236}">
                  <a16:creationId xmlns:a16="http://schemas.microsoft.com/office/drawing/2014/main" xmlns="" id="{0446C3D6-1946-E244-98A3-BD72141AE7CF}"/>
                </a:ext>
              </a:extLst>
            </p:cNvPr>
            <p:cNvSpPr/>
            <p:nvPr/>
          </p:nvSpPr>
          <p:spPr>
            <a:xfrm>
              <a:off x="829392" y="4837195"/>
              <a:ext cx="111391" cy="113257"/>
            </a:xfrm>
            <a:prstGeom prst="rect">
              <a:avLst/>
            </a:prstGeom>
            <a:solidFill>
              <a:srgbClr val="0038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21" name="Rectangle 20">
              <a:extLst>
                <a:ext uri="{FF2B5EF4-FFF2-40B4-BE49-F238E27FC236}">
                  <a16:creationId xmlns:a16="http://schemas.microsoft.com/office/drawing/2014/main" xmlns="" id="{2F157815-0334-FC4E-B7BD-BE8A6B4269FF}"/>
                </a:ext>
              </a:extLst>
            </p:cNvPr>
            <p:cNvSpPr/>
            <p:nvPr/>
          </p:nvSpPr>
          <p:spPr>
            <a:xfrm>
              <a:off x="880605" y="4755323"/>
              <a:ext cx="2156360" cy="276999"/>
            </a:xfrm>
            <a:prstGeom prst="rect">
              <a:avLst/>
            </a:prstGeom>
          </p:spPr>
          <p:txBody>
            <a:bodyPr wrap="none">
              <a:spAutoFit/>
            </a:bodyPr>
            <a:lstStyle/>
            <a:p>
              <a:r>
                <a:rPr lang="en-CA" sz="1200" dirty="0">
                  <a:latin typeface="Helvetica" pitchFamily="2" charset="0"/>
                </a:rPr>
                <a:t>: Customer who do not churn</a:t>
              </a:r>
            </a:p>
          </p:txBody>
        </p:sp>
        <p:pic>
          <p:nvPicPr>
            <p:cNvPr id="2" name="Picture 1">
              <a:extLst>
                <a:ext uri="{FF2B5EF4-FFF2-40B4-BE49-F238E27FC236}">
                  <a16:creationId xmlns:a16="http://schemas.microsoft.com/office/drawing/2014/main" xmlns="" id="{DFA0EF17-BB52-EF44-A862-18EE912EFACC}"/>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961869" y="2340040"/>
              <a:ext cx="2103821" cy="1900013"/>
            </a:xfrm>
            <a:prstGeom prst="rect">
              <a:avLst/>
            </a:prstGeom>
          </p:spPr>
        </p:pic>
        <p:cxnSp>
          <p:nvCxnSpPr>
            <p:cNvPr id="5" name="Straight Arrow Connector 4">
              <a:extLst>
                <a:ext uri="{FF2B5EF4-FFF2-40B4-BE49-F238E27FC236}">
                  <a16:creationId xmlns:a16="http://schemas.microsoft.com/office/drawing/2014/main" xmlns="" id="{93912480-260B-9542-9B6D-07E720E6E4E8}"/>
                </a:ext>
              </a:extLst>
            </p:cNvPr>
            <p:cNvCxnSpPr>
              <a:cxnSpLocks/>
            </p:cNvCxnSpPr>
            <p:nvPr/>
          </p:nvCxnSpPr>
          <p:spPr>
            <a:xfrm flipV="1">
              <a:off x="654186" y="2300283"/>
              <a:ext cx="0" cy="2079811"/>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xmlns="" id="{AC0B28EE-01E1-9447-B976-B1C33942949A}"/>
                </a:ext>
              </a:extLst>
            </p:cNvPr>
            <p:cNvCxnSpPr>
              <a:cxnSpLocks/>
            </p:cNvCxnSpPr>
            <p:nvPr/>
          </p:nvCxnSpPr>
          <p:spPr>
            <a:xfrm flipV="1">
              <a:off x="619800" y="4387471"/>
              <a:ext cx="2719188" cy="10418"/>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xmlns="" id="{76727F6C-AB0E-534F-ABAD-99AA5E44C4A4}"/>
                </a:ext>
              </a:extLst>
            </p:cNvPr>
            <p:cNvSpPr/>
            <p:nvPr/>
          </p:nvSpPr>
          <p:spPr>
            <a:xfrm>
              <a:off x="658452" y="4485752"/>
              <a:ext cx="2680535" cy="539141"/>
            </a:xfrm>
            <a:prstGeom prst="rect">
              <a:avLst/>
            </a:prstGeom>
            <a:noFill/>
            <a:ln w="19050">
              <a:solidFill>
                <a:schemeClr val="tx2"/>
              </a:solidFill>
            </a:ln>
          </p:spPr>
          <p:txBody>
            <a:bodyPr wrap="square" tIns="91440" bIns="91440">
              <a:spAutoFit/>
            </a:bodyPr>
            <a:lstStyle/>
            <a:p>
              <a:endParaRPr lang="en-US" sz="1400" dirty="0">
                <a:latin typeface="Helvetica" charset="0"/>
                <a:ea typeface="Helvetica" charset="0"/>
                <a:cs typeface="Helvetica" charset="0"/>
              </a:endParaRPr>
            </a:p>
          </p:txBody>
        </p:sp>
      </p:grpSp>
      <p:sp>
        <p:nvSpPr>
          <p:cNvPr id="27" name="TextBox 26">
            <a:extLst>
              <a:ext uri="{FF2B5EF4-FFF2-40B4-BE49-F238E27FC236}">
                <a16:creationId xmlns:a16="http://schemas.microsoft.com/office/drawing/2014/main" xmlns="" id="{CF85B64B-1D33-054F-85AE-FFD7F63617BD}"/>
              </a:ext>
            </a:extLst>
          </p:cNvPr>
          <p:cNvSpPr txBox="1"/>
          <p:nvPr/>
        </p:nvSpPr>
        <p:spPr>
          <a:xfrm>
            <a:off x="5143500" y="2576977"/>
            <a:ext cx="3777623" cy="1600438"/>
          </a:xfrm>
          <a:prstGeom prst="rect">
            <a:avLst/>
          </a:prstGeom>
          <a:noFill/>
          <a:ln w="19050">
            <a:solidFill>
              <a:schemeClr val="tx2"/>
            </a:solidFill>
          </a:ln>
        </p:spPr>
        <p:txBody>
          <a:bodyPr wrap="square" rtlCol="0">
            <a:spAutoFit/>
          </a:bodyPr>
          <a:lstStyle/>
          <a:p>
            <a:r>
              <a:rPr lang="en-CA" sz="1400" dirty="0">
                <a:latin typeface="Helvetica" pitchFamily="2" charset="0"/>
              </a:rPr>
              <a:t>Assume the green dot represents the new customer and the contour lines represent the equal distance </a:t>
            </a:r>
          </a:p>
          <a:p>
            <a:r>
              <a:rPr lang="en-CA" sz="1400" dirty="0">
                <a:latin typeface="Helvetica" pitchFamily="2" charset="0"/>
              </a:rPr>
              <a:t>from the green dot.</a:t>
            </a:r>
          </a:p>
          <a:p>
            <a:r>
              <a:rPr lang="en-CA" sz="1400" dirty="0">
                <a:latin typeface="Helvetica" pitchFamily="2" charset="0"/>
              </a:rPr>
              <a:t>How do we classify the new customer if</a:t>
            </a:r>
          </a:p>
          <a:p>
            <a:pPr marL="227013" indent="-227013">
              <a:buFont typeface="Arial" panose="020B0604020202020204" pitchFamily="34" charset="0"/>
              <a:buChar char="•"/>
            </a:pPr>
            <a:r>
              <a:rPr lang="en-CA" sz="1400" dirty="0">
                <a:latin typeface="Helvetica" pitchFamily="2" charset="0"/>
              </a:rPr>
              <a:t>K = 3?</a:t>
            </a:r>
          </a:p>
          <a:p>
            <a:pPr marL="227013" indent="-227013">
              <a:buFont typeface="Arial" panose="020B0604020202020204" pitchFamily="34" charset="0"/>
              <a:buChar char="•"/>
            </a:pPr>
            <a:r>
              <a:rPr lang="en-CA" sz="1400" dirty="0">
                <a:latin typeface="Helvetica" pitchFamily="2" charset="0"/>
              </a:rPr>
              <a:t>K = 5?</a:t>
            </a:r>
          </a:p>
        </p:txBody>
      </p:sp>
      <p:sp>
        <p:nvSpPr>
          <p:cNvPr id="29" name="TextBox 28">
            <a:extLst>
              <a:ext uri="{FF2B5EF4-FFF2-40B4-BE49-F238E27FC236}">
                <a16:creationId xmlns:a16="http://schemas.microsoft.com/office/drawing/2014/main" xmlns="" id="{6B85EF09-1432-8D4F-96BC-15501C1BA756}"/>
              </a:ext>
            </a:extLst>
          </p:cNvPr>
          <p:cNvSpPr txBox="1"/>
          <p:nvPr/>
        </p:nvSpPr>
        <p:spPr>
          <a:xfrm>
            <a:off x="5143500" y="889138"/>
            <a:ext cx="3771900" cy="1169551"/>
          </a:xfrm>
          <a:prstGeom prst="rect">
            <a:avLst/>
          </a:prstGeom>
          <a:noFill/>
          <a:ln w="19050">
            <a:solidFill>
              <a:schemeClr val="tx2"/>
            </a:solidFill>
          </a:ln>
        </p:spPr>
        <p:txBody>
          <a:bodyPr wrap="square" rtlCol="0">
            <a:spAutoFit/>
          </a:bodyPr>
          <a:lstStyle/>
          <a:p>
            <a:r>
              <a:rPr lang="en-CA" sz="1400" dirty="0">
                <a:latin typeface="Helvetica" pitchFamily="2" charset="0"/>
              </a:rPr>
              <a:t>Assume that we have only two continuous features for the churn dataset. The plot represents the customer with known labels and a new customer with no information on customer’s churn value  </a:t>
            </a:r>
          </a:p>
        </p:txBody>
      </p:sp>
      <p:sp>
        <p:nvSpPr>
          <p:cNvPr id="30" name="TextBox 29">
            <a:extLst>
              <a:ext uri="{FF2B5EF4-FFF2-40B4-BE49-F238E27FC236}">
                <a16:creationId xmlns:a16="http://schemas.microsoft.com/office/drawing/2014/main" xmlns="" id="{51020175-0E9A-A042-831F-3EC6AAAA12AA}"/>
              </a:ext>
            </a:extLst>
          </p:cNvPr>
          <p:cNvSpPr txBox="1"/>
          <p:nvPr/>
        </p:nvSpPr>
        <p:spPr>
          <a:xfrm>
            <a:off x="104979" y="820050"/>
            <a:ext cx="4458961" cy="1384995"/>
          </a:xfrm>
          <a:prstGeom prst="rect">
            <a:avLst/>
          </a:prstGeom>
          <a:noFill/>
        </p:spPr>
        <p:txBody>
          <a:bodyPr wrap="square" rtlCol="0">
            <a:spAutoFit/>
          </a:bodyPr>
          <a:lstStyle/>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Classify new observations, in this case customers, according to K most similar observations.</a:t>
            </a:r>
          </a:p>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Class of the new observations = most found class among K nearest observations</a:t>
            </a:r>
          </a:p>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Supervised Learning: The labels of some observations (churn values for some customers) are known.</a:t>
            </a:r>
          </a:p>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Requires definition of a similarity measure (distance).</a:t>
            </a:r>
          </a:p>
        </p:txBody>
      </p:sp>
    </p:spTree>
    <p:custDataLst>
      <p:tags r:id="rId1"/>
    </p:custDataLst>
    <p:extLst>
      <p:ext uri="{BB962C8B-B14F-4D97-AF65-F5344CB8AC3E}">
        <p14:creationId xmlns:p14="http://schemas.microsoft.com/office/powerpoint/2010/main" val="2985515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xmlns="" id="{485051CC-A794-D143-84F8-AC5521519662}"/>
              </a:ext>
            </a:extLst>
          </p:cNvPr>
          <p:cNvSpPr>
            <a:spLocks noGrp="1"/>
          </p:cNvSpPr>
          <p:nvPr>
            <p:ph type="title"/>
          </p:nvPr>
        </p:nvSpPr>
        <p:spPr>
          <a:xfrm>
            <a:off x="74325" y="153298"/>
            <a:ext cx="8562392" cy="599261"/>
          </a:xfrm>
        </p:spPr>
        <p:txBody>
          <a:bodyPr/>
          <a:lstStyle/>
          <a:p>
            <a:r>
              <a:rPr kumimoji="1" lang="en-US" altLang="zh-CN" sz="3600" dirty="0">
                <a:latin typeface="Vitesse"/>
              </a:rPr>
              <a:t>K Nearest Neighbors (KNN): Introduction </a:t>
            </a:r>
            <a:endParaRPr kumimoji="1" lang="zh-CN" altLang="en-US" sz="3600" dirty="0">
              <a:latin typeface="Vitesse"/>
            </a:endParaRP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xmlns="" id="{271D60AC-FCEC-4679-B9FA-0D92AAA586AE}"/>
                  </a:ext>
                </a:extLst>
              </p:cNvPr>
              <p:cNvSpPr txBox="1"/>
              <p:nvPr/>
            </p:nvSpPr>
            <p:spPr>
              <a:xfrm>
                <a:off x="5072104" y="817295"/>
                <a:ext cx="3843296" cy="3794052"/>
              </a:xfrm>
              <a:prstGeom prst="rect">
                <a:avLst/>
              </a:prstGeom>
              <a:noFill/>
            </p:spPr>
            <p:txBody>
              <a:bodyPr wrap="square" rtlCol="0">
                <a:noAutofit/>
              </a:bodyPr>
              <a:lstStyle/>
              <a:p>
                <a:r>
                  <a:rPr lang="en-US" sz="1200" b="1" dirty="0" smtClean="0">
                    <a:solidFill>
                      <a:srgbClr val="EAAA00"/>
                    </a:solidFill>
                    <a:latin typeface="Helvetica" panose="020B0604020202020204" pitchFamily="34" charset="0"/>
                    <a:ea typeface="Helvetica" charset="0"/>
                    <a:cs typeface="Helvetica" panose="020B0604020202020204" pitchFamily="34" charset="0"/>
                  </a:rPr>
                  <a:t>Defining Similarity</a:t>
                </a:r>
                <a:endParaRPr lang="en-US" sz="1200" dirty="0">
                  <a:latin typeface="Helvetica" panose="020B0604020202020204" pitchFamily="34" charset="0"/>
                  <a:ea typeface="Helvetica" charset="0"/>
                  <a:cs typeface="Helvetica" panose="020B0604020202020204" pitchFamily="34" charset="0"/>
                </a:endParaRPr>
              </a:p>
              <a:p>
                <a:r>
                  <a:rPr lang="en-US" sz="1200" dirty="0">
                    <a:latin typeface="Helvetica" panose="020B0604020202020204" pitchFamily="34" charset="0"/>
                    <a:ea typeface="Helvetica" charset="0"/>
                    <a:cs typeface="Helvetica" panose="020B0604020202020204" pitchFamily="34" charset="0"/>
                  </a:rPr>
                  <a:t>Assuming all features are continuous variables, let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𝑋</m:t>
                        </m:r>
                      </m:e>
                      <m:sub>
                        <m:r>
                          <a:rPr lang="en-US" sz="1200" i="1">
                            <a:latin typeface="Cambria Math" panose="02040503050406030204" pitchFamily="18" charset="0"/>
                          </a:rPr>
                          <m:t>𝑛𝑒𝑤</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ℝ</m:t>
                        </m:r>
                      </m:e>
                      <m:sup>
                        <m:r>
                          <a:rPr lang="en-US" sz="1200" i="1">
                            <a:latin typeface="Cambria Math" panose="02040503050406030204" pitchFamily="18" charset="0"/>
                            <a:ea typeface="Cambria Math" panose="02040503050406030204" pitchFamily="18" charset="0"/>
                          </a:rPr>
                          <m:t>𝑝</m:t>
                        </m:r>
                      </m:sup>
                    </m:sSup>
                  </m:oMath>
                </a14:m>
                <a:r>
                  <a:rPr lang="en-US" sz="1200" dirty="0">
                    <a:latin typeface="Helvetica" panose="020B0604020202020204" pitchFamily="34" charset="0"/>
                    <a:ea typeface="Helvetica" charset="0"/>
                    <a:cs typeface="Helvetica" panose="020B0604020202020204" pitchFamily="34" charset="0"/>
                  </a:rPr>
                  <a:t> define the feature vector of new observation and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𝑋</m:t>
                        </m:r>
                      </m:e>
                      <m:sub>
                        <m:r>
                          <a:rPr lang="en-US" sz="1200" i="1">
                            <a:latin typeface="Cambria Math" panose="02040503050406030204" pitchFamily="18" charset="0"/>
                          </a:rPr>
                          <m:t>𝑖</m:t>
                        </m:r>
                      </m:sub>
                    </m:sSub>
                  </m:oMath>
                </a14:m>
                <a:r>
                  <a:rPr lang="en-US" sz="1200" dirty="0">
                    <a:latin typeface="Helvetica" panose="020B0604020202020204" pitchFamily="34" charset="0"/>
                    <a:ea typeface="Helvetica" charset="0"/>
                    <a:cs typeface="Helvetica" panose="020B0604020202020204" pitchFamily="34" charset="0"/>
                  </a:rPr>
                  <a:t> define the feature vectors of all available data where </a:t>
                </a:r>
                <a14:m>
                  <m:oMath xmlns:m="http://schemas.openxmlformats.org/officeDocument/2006/math">
                    <m:r>
                      <a:rPr lang="en-US" sz="1200" i="1">
                        <a:latin typeface="Cambria Math" panose="02040503050406030204" pitchFamily="18" charset="0"/>
                        <a:ea typeface="Helvetica" charset="0"/>
                        <a:cs typeface="Helvetica" panose="020B0604020202020204" pitchFamily="34" charset="0"/>
                      </a:rPr>
                      <m:t>𝑖</m:t>
                    </m:r>
                    <m:r>
                      <a:rPr lang="en-US" sz="1200" i="1">
                        <a:latin typeface="Cambria Math" panose="02040503050406030204" pitchFamily="18" charset="0"/>
                        <a:ea typeface="Cambria Math" panose="02040503050406030204" pitchFamily="18" charset="0"/>
                        <a:cs typeface="Helvetica" panose="020B0604020202020204" pitchFamily="34" charset="0"/>
                      </a:rPr>
                      <m:t>∈</m:t>
                    </m:r>
                    <m:d>
                      <m:dPr>
                        <m:begChr m:val="{"/>
                        <m:endChr m:val="}"/>
                        <m:ctrlPr>
                          <a:rPr lang="en-US" sz="1200" i="1">
                            <a:latin typeface="Cambria Math" panose="02040503050406030204" pitchFamily="18" charset="0"/>
                            <a:ea typeface="Cambria Math" panose="02040503050406030204" pitchFamily="18" charset="0"/>
                            <a:cs typeface="Helvetica" panose="020B0604020202020204" pitchFamily="34" charset="0"/>
                          </a:rPr>
                        </m:ctrlPr>
                      </m:dPr>
                      <m:e>
                        <m:r>
                          <a:rPr lang="en-US" sz="1200" i="1">
                            <a:latin typeface="Cambria Math" panose="02040503050406030204" pitchFamily="18" charset="0"/>
                            <a:ea typeface="Cambria Math" panose="02040503050406030204" pitchFamily="18" charset="0"/>
                            <a:cs typeface="Helvetica" panose="020B0604020202020204" pitchFamily="34" charset="0"/>
                          </a:rPr>
                          <m:t>1,2,…,</m:t>
                        </m:r>
                        <m:r>
                          <a:rPr lang="en-US" sz="1200" i="1">
                            <a:latin typeface="Cambria Math" panose="02040503050406030204" pitchFamily="18" charset="0"/>
                            <a:ea typeface="Cambria Math" panose="02040503050406030204" pitchFamily="18" charset="0"/>
                            <a:cs typeface="Helvetica" panose="020B0604020202020204" pitchFamily="34" charset="0"/>
                          </a:rPr>
                          <m:t>𝑁</m:t>
                        </m:r>
                      </m:e>
                    </m:d>
                    <m:r>
                      <a:rPr lang="en-US" sz="1200" i="1">
                        <a:latin typeface="Cambria Math" panose="02040503050406030204" pitchFamily="18" charset="0"/>
                        <a:ea typeface="Cambria Math" panose="02040503050406030204" pitchFamily="18" charset="0"/>
                        <a:cs typeface="Helvetica" panose="020B0604020202020204" pitchFamily="34" charset="0"/>
                      </a:rPr>
                      <m:t>.</m:t>
                    </m:r>
                  </m:oMath>
                </a14:m>
                <a:r>
                  <a:rPr lang="en-US" sz="1200" dirty="0">
                    <a:latin typeface="Helvetica" panose="020B0604020202020204" pitchFamily="34" charset="0"/>
                    <a:ea typeface="Helvetica" charset="0"/>
                    <a:cs typeface="Helvetica" panose="020B0604020202020204" pitchFamily="34" charset="0"/>
                  </a:rPr>
                  <a:t> We find the similarity between observations (customers) using </a:t>
                </a:r>
              </a:p>
              <a:p>
                <a:pPr/>
                <a14:m>
                  <m:oMathPara xmlns:m="http://schemas.openxmlformats.org/officeDocument/2006/math">
                    <m:oMathParaPr>
                      <m:jc m:val="center"/>
                    </m:oMathParaPr>
                    <m:oMath xmlns:m="http://schemas.openxmlformats.org/officeDocument/2006/math">
                      <m:r>
                        <a:rPr lang="en-US" sz="1200" i="1">
                          <a:latin typeface="Cambria Math" panose="02040503050406030204" pitchFamily="18" charset="0"/>
                        </a:rPr>
                        <m:t>𝑆𝑖𝑚𝑖𝑙𝑎𝑟𝑖𝑡𝑦</m:t>
                      </m:r>
                      <m:r>
                        <a:rPr lang="en-US" sz="1200" i="1">
                          <a:latin typeface="Cambria Math" panose="02040503050406030204" pitchFamily="18" charset="0"/>
                        </a:rPr>
                        <m:t> </m:t>
                      </m:r>
                      <m:r>
                        <a:rPr lang="en-US" sz="1200" i="1">
                          <a:latin typeface="Cambria Math" panose="02040503050406030204" pitchFamily="18" charset="0"/>
                        </a:rPr>
                        <m:t>𝑏𝑒𝑡𝑤𝑒𝑒𝑛</m:t>
                      </m:r>
                      <m:r>
                        <a:rPr lang="en-US" sz="1200" i="1">
                          <a:latin typeface="Cambria Math" panose="02040503050406030204" pitchFamily="18" charset="0"/>
                        </a:rPr>
                        <m:t> </m:t>
                      </m:r>
                      <m:r>
                        <a:rPr lang="en-US" sz="1200" i="1">
                          <a:latin typeface="Cambria Math" panose="02040503050406030204" pitchFamily="18" charset="0"/>
                        </a:rPr>
                        <m:t>𝑡h𝑒</m:t>
                      </m:r>
                      <m:r>
                        <a:rPr lang="en-US" sz="1200" i="1">
                          <a:latin typeface="Cambria Math" panose="02040503050406030204" pitchFamily="18" charset="0"/>
                        </a:rPr>
                        <m:t> </m:t>
                      </m:r>
                      <m:r>
                        <a:rPr lang="en-US" sz="1200" i="1">
                          <a:latin typeface="Cambria Math" panose="02040503050406030204" pitchFamily="18" charset="0"/>
                        </a:rPr>
                        <m:t>𝑛𝑒𝑤</m:t>
                      </m:r>
                      <m:r>
                        <a:rPr lang="en-US" sz="1200" i="1">
                          <a:latin typeface="Cambria Math" panose="02040503050406030204" pitchFamily="18" charset="0"/>
                        </a:rPr>
                        <m:t> </m:t>
                      </m:r>
                      <m:r>
                        <a:rPr lang="en-US" sz="1200" i="1">
                          <a:latin typeface="Cambria Math" panose="02040503050406030204" pitchFamily="18" charset="0"/>
                        </a:rPr>
                        <m:t>𝑐𝑢𝑠𝑡𝑜𝑚𝑒𝑟</m:t>
                      </m:r>
                      <m:r>
                        <a:rPr lang="en-US" sz="1200" i="1">
                          <a:latin typeface="Cambria Math" panose="02040503050406030204" pitchFamily="18" charset="0"/>
                        </a:rPr>
                        <m:t> </m:t>
                      </m:r>
                      <m:r>
                        <a:rPr lang="en-US" sz="1200" i="1">
                          <a:latin typeface="Cambria Math" panose="02040503050406030204" pitchFamily="18" charset="0"/>
                        </a:rPr>
                        <m:t>𝑎𝑛𝑑</m:t>
                      </m:r>
                      <m:r>
                        <a:rPr lang="en-US" sz="1200" i="1">
                          <a:latin typeface="Cambria Math" panose="02040503050406030204" pitchFamily="18" charset="0"/>
                        </a:rPr>
                        <m:t> </m:t>
                      </m:r>
                      <m:sSup>
                        <m:sSupPr>
                          <m:ctrlPr>
                            <a:rPr lang="en-US" sz="1200" i="1">
                              <a:latin typeface="Cambria Math" panose="02040503050406030204" pitchFamily="18" charset="0"/>
                            </a:rPr>
                          </m:ctrlPr>
                        </m:sSupPr>
                        <m:e>
                          <m:r>
                            <a:rPr lang="en-US" sz="1200" i="1">
                              <a:latin typeface="Cambria Math" panose="02040503050406030204" pitchFamily="18" charset="0"/>
                            </a:rPr>
                            <m:t>𝑖</m:t>
                          </m:r>
                        </m:e>
                        <m:sup>
                          <m:r>
                            <a:rPr lang="en-US" sz="1200" i="1">
                              <a:latin typeface="Cambria Math" panose="02040503050406030204" pitchFamily="18" charset="0"/>
                            </a:rPr>
                            <m:t>𝑡h</m:t>
                          </m:r>
                        </m:sup>
                      </m:sSup>
                      <m:r>
                        <a:rPr lang="en-US" sz="1200" i="1">
                          <a:latin typeface="Cambria Math" panose="02040503050406030204" pitchFamily="18" charset="0"/>
                        </a:rPr>
                        <m:t> </m:t>
                      </m:r>
                      <m:r>
                        <a:rPr lang="en-US" sz="1200" i="1">
                          <a:latin typeface="Cambria Math" panose="02040503050406030204" pitchFamily="18" charset="0"/>
                        </a:rPr>
                        <m:t>𝑐𝑢𝑠𝑡𝑜𝑚𝑒𝑟</m:t>
                      </m:r>
                      <m:r>
                        <a:rPr lang="en-US" sz="1200" b="0" i="1" smtClean="0">
                          <a:latin typeface="Cambria Math" panose="02040503050406030204" pitchFamily="18" charset="0"/>
                        </a:rPr>
                        <m:t>    </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ea typeface="Helvetica" charset="0"/>
                              <a:cs typeface="Helvetica" panose="020B0604020202020204" pitchFamily="34" charset="0"/>
                            </a:rPr>
                            <m:t>(</m:t>
                          </m:r>
                          <m:nary>
                            <m:naryPr>
                              <m:chr m:val="∑"/>
                              <m:ctrlPr>
                                <a:rPr lang="en-US" sz="1200" i="1">
                                  <a:latin typeface="Cambria Math" panose="02040503050406030204" pitchFamily="18" charset="0"/>
                                </a:rPr>
                              </m:ctrlPr>
                            </m:naryPr>
                            <m:sub>
                              <m:r>
                                <m:rPr>
                                  <m:brk m:alnAt="23"/>
                                </m:rPr>
                                <a:rPr lang="en-US" sz="1200" i="1">
                                  <a:latin typeface="Cambria Math" panose="02040503050406030204" pitchFamily="18" charset="0"/>
                                </a:rPr>
                                <m:t>𝑘</m:t>
                              </m:r>
                              <m:r>
                                <a:rPr lang="en-US" sz="1200" i="1">
                                  <a:latin typeface="Cambria Math" panose="02040503050406030204" pitchFamily="18" charset="0"/>
                                </a:rPr>
                                <m:t>=1</m:t>
                              </m:r>
                            </m:sub>
                            <m:sup>
                              <m:r>
                                <a:rPr lang="en-US" sz="1200" i="1">
                                  <a:latin typeface="Cambria Math" panose="02040503050406030204" pitchFamily="18" charset="0"/>
                                </a:rPr>
                                <m:t>𝑝</m:t>
                              </m:r>
                            </m:sup>
                            <m:e>
                              <m:sSup>
                                <m:sSupPr>
                                  <m:ctrlPr>
                                    <a:rPr lang="en-US" sz="1200" i="1">
                                      <a:latin typeface="Cambria Math" panose="02040503050406030204" pitchFamily="18" charset="0"/>
                                    </a:rPr>
                                  </m:ctrlPr>
                                </m:sSupPr>
                                <m:e>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𝑋</m:t>
                                      </m:r>
                                    </m:e>
                                    <m:sub>
                                      <m:r>
                                        <a:rPr lang="en-US" sz="1200" i="1">
                                          <a:latin typeface="Cambria Math" panose="02040503050406030204" pitchFamily="18" charset="0"/>
                                        </a:rPr>
                                        <m:t>𝑛𝑒𝑤</m:t>
                                      </m:r>
                                    </m:sub>
                                    <m:sup>
                                      <m:r>
                                        <a:rPr lang="en-US" sz="1200" i="1">
                                          <a:latin typeface="Cambria Math" panose="02040503050406030204" pitchFamily="18" charset="0"/>
                                        </a:rPr>
                                        <m:t>𝑘</m:t>
                                      </m:r>
                                    </m:sup>
                                  </m:sSubSup>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𝑋</m:t>
                                      </m:r>
                                    </m:e>
                                    <m:sub>
                                      <m:r>
                                        <a:rPr lang="en-US" sz="1200" i="1">
                                          <a:latin typeface="Cambria Math" panose="02040503050406030204" pitchFamily="18" charset="0"/>
                                        </a:rPr>
                                        <m:t>𝑖</m:t>
                                      </m:r>
                                    </m:sub>
                                    <m:sup>
                                      <m:r>
                                        <a:rPr lang="en-US" sz="1200" i="1">
                                          <a:latin typeface="Cambria Math" panose="02040503050406030204" pitchFamily="18" charset="0"/>
                                        </a:rPr>
                                        <m:t>𝑘</m:t>
                                      </m:r>
                                    </m:sup>
                                  </m:sSubSup>
                                  <m:r>
                                    <a:rPr lang="en-US" sz="1200" i="1">
                                      <a:latin typeface="Cambria Math" panose="02040503050406030204" pitchFamily="18" charset="0"/>
                                    </a:rPr>
                                    <m:t>|)</m:t>
                                  </m:r>
                                </m:e>
                                <m:sup>
                                  <m:r>
                                    <a:rPr lang="en-US" sz="1200" i="1">
                                      <a:latin typeface="Cambria Math" panose="02040503050406030204" pitchFamily="18" charset="0"/>
                                    </a:rPr>
                                    <m:t>𝑞</m:t>
                                  </m:r>
                                </m:sup>
                              </m:sSup>
                            </m:e>
                          </m:nary>
                          <m:r>
                            <a:rPr lang="en-US" sz="1200" i="1">
                              <a:latin typeface="Cambria Math" panose="02040503050406030204" pitchFamily="18" charset="0"/>
                              <a:ea typeface="Helvetica" charset="0"/>
                              <a:cs typeface="Helvetica" panose="020B0604020202020204" pitchFamily="34" charset="0"/>
                            </a:rPr>
                            <m:t>)</m:t>
                          </m:r>
                        </m:e>
                        <m:sup>
                          <m:r>
                            <a:rPr lang="en-US" sz="1200" i="1">
                              <a:latin typeface="Cambria Math" panose="02040503050406030204" pitchFamily="18" charset="0"/>
                            </a:rPr>
                            <m:t>1/</m:t>
                          </m:r>
                          <m:r>
                            <a:rPr lang="en-US" sz="1200" i="1">
                              <a:latin typeface="Cambria Math" panose="02040503050406030204" pitchFamily="18" charset="0"/>
                            </a:rPr>
                            <m:t>𝑞</m:t>
                          </m:r>
                        </m:sup>
                      </m:sSup>
                    </m:oMath>
                  </m:oMathPara>
                </a14:m>
                <a:endParaRPr lang="en-US" sz="1200" b="1" dirty="0">
                  <a:solidFill>
                    <a:srgbClr val="EAAA00"/>
                  </a:solidFill>
                  <a:latin typeface="Helvetica" panose="020B0604020202020204" pitchFamily="34" charset="0"/>
                  <a:ea typeface="Helvetica" charset="0"/>
                  <a:cs typeface="Helvetica" panose="020B0604020202020204" pitchFamily="34" charset="0"/>
                </a:endParaRPr>
              </a:p>
              <a:p>
                <a:r>
                  <a:rPr lang="en-US" sz="1200" dirty="0">
                    <a:latin typeface="Helvetica" panose="020B0604020202020204" pitchFamily="34" charset="0"/>
                    <a:ea typeface="Helvetica" charset="0"/>
                    <a:cs typeface="Helvetica" panose="020B0604020202020204" pitchFamily="34" charset="0"/>
                  </a:rPr>
                  <a:t>If </a:t>
                </a:r>
              </a:p>
              <a:p>
                <a:pPr marL="227013" indent="-227013">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q = 1 =&gt; Manhattan distance</a:t>
                </a:r>
              </a:p>
              <a:p>
                <a:pPr marL="227013" indent="-227013">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q = 2 =&gt; Euclidean distance</a:t>
                </a:r>
              </a:p>
              <a:p>
                <a:pPr marL="227013" indent="-227013">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q </a:t>
                </a:r>
                <a14:m>
                  <m:oMath xmlns:m="http://schemas.openxmlformats.org/officeDocument/2006/math">
                    <m:r>
                      <a:rPr lang="en-US" sz="1200" i="1">
                        <a:latin typeface="Cambria Math" panose="02040503050406030204" pitchFamily="18" charset="0"/>
                        <a:ea typeface="Cambria Math" panose="02040503050406030204" pitchFamily="18" charset="0"/>
                        <a:cs typeface="Helvetica" panose="020B0604020202020204" pitchFamily="34" charset="0"/>
                      </a:rPr>
                      <m:t>∈ </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ℝ</m:t>
                        </m:r>
                      </m:e>
                      <m:sup>
                        <m:r>
                          <a:rPr lang="en-US" sz="1200" i="1">
                            <a:latin typeface="Cambria Math" panose="02040503050406030204" pitchFamily="18" charset="0"/>
                            <a:ea typeface="Cambria Math" panose="02040503050406030204" pitchFamily="18" charset="0"/>
                          </a:rPr>
                          <m:t>+</m:t>
                        </m:r>
                      </m:sup>
                    </m:sSup>
                    <m:r>
                      <a:rPr lang="en-US" sz="1200" i="1">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0</m:t>
                        </m:r>
                      </m:e>
                    </m:d>
                  </m:oMath>
                </a14:m>
                <a:r>
                  <a:rPr lang="en-US" sz="1200" dirty="0">
                    <a:latin typeface="Helvetica" panose="020B0604020202020204" pitchFamily="34" charset="0"/>
                    <a:ea typeface="Helvetica" charset="0"/>
                    <a:cs typeface="Helvetica" panose="020B0604020202020204" pitchFamily="34" charset="0"/>
                  </a:rPr>
                  <a:t> =&gt; </a:t>
                </a:r>
                <a:r>
                  <a:rPr lang="en-US" sz="1200" dirty="0" err="1">
                    <a:latin typeface="Helvetica" panose="020B0604020202020204" pitchFamily="34" charset="0"/>
                    <a:ea typeface="Helvetica" charset="0"/>
                    <a:cs typeface="Helvetica" panose="020B0604020202020204" pitchFamily="34" charset="0"/>
                  </a:rPr>
                  <a:t>Minkowski</a:t>
                </a:r>
                <a:r>
                  <a:rPr lang="en-US" sz="1200" dirty="0">
                    <a:latin typeface="Helvetica" panose="020B0604020202020204" pitchFamily="34" charset="0"/>
                    <a:ea typeface="Helvetica" charset="0"/>
                    <a:cs typeface="Helvetica" panose="020B0604020202020204" pitchFamily="34" charset="0"/>
                  </a:rPr>
                  <a:t> distance</a:t>
                </a:r>
              </a:p>
              <a:p>
                <a:endParaRPr lang="en-US" sz="1200" dirty="0">
                  <a:latin typeface="Helvetica" panose="020B0604020202020204" pitchFamily="34" charset="0"/>
                  <a:ea typeface="Helvetica" charset="0"/>
                  <a:cs typeface="Helvetica" panose="020B0604020202020204" pitchFamily="34" charset="0"/>
                </a:endParaRPr>
              </a:p>
              <a:p>
                <a:r>
                  <a:rPr lang="en-US" sz="1200" dirty="0">
                    <a:latin typeface="Helvetica" panose="020B0604020202020204" pitchFamily="34" charset="0"/>
                    <a:ea typeface="Helvetica" charset="0"/>
                    <a:cs typeface="Helvetica" panose="020B0604020202020204" pitchFamily="34" charset="0"/>
                  </a:rPr>
                  <a:t>If features are categorical, </a:t>
                </a:r>
              </a:p>
              <a:p>
                <a:pPr/>
                <a14:m>
                  <m:oMathPara xmlns:m="http://schemas.openxmlformats.org/officeDocument/2006/math">
                    <m:oMathParaPr>
                      <m:jc m:val="center"/>
                    </m:oMathParaPr>
                    <m:oMath xmlns:m="http://schemas.openxmlformats.org/officeDocument/2006/math">
                      <m:r>
                        <a:rPr lang="en-US" sz="1200" i="1">
                          <a:latin typeface="Cambria Math" panose="02040503050406030204" pitchFamily="18" charset="0"/>
                        </a:rPr>
                        <m:t>𝑆𝑖𝑚𝑖𝑙𝑎𝑟𝑖𝑡𝑦</m:t>
                      </m:r>
                      <m:r>
                        <a:rPr lang="en-US" sz="1200" i="1">
                          <a:latin typeface="Cambria Math" panose="02040503050406030204" pitchFamily="18" charset="0"/>
                        </a:rPr>
                        <m:t> </m:t>
                      </m:r>
                      <m:r>
                        <a:rPr lang="en-US" sz="1200" i="1">
                          <a:latin typeface="Cambria Math" panose="02040503050406030204" pitchFamily="18" charset="0"/>
                        </a:rPr>
                        <m:t>𝑏𝑒𝑡𝑤𝑒𝑒𝑛</m:t>
                      </m:r>
                      <m:r>
                        <a:rPr lang="en-US" sz="1200" i="1">
                          <a:latin typeface="Cambria Math" panose="02040503050406030204" pitchFamily="18" charset="0"/>
                        </a:rPr>
                        <m:t> </m:t>
                      </m:r>
                      <m:r>
                        <a:rPr lang="en-US" sz="1200" i="1">
                          <a:latin typeface="Cambria Math" panose="02040503050406030204" pitchFamily="18" charset="0"/>
                        </a:rPr>
                        <m:t>𝑡h𝑒</m:t>
                      </m:r>
                      <m:r>
                        <a:rPr lang="en-US" sz="1200" i="1">
                          <a:latin typeface="Cambria Math" panose="02040503050406030204" pitchFamily="18" charset="0"/>
                        </a:rPr>
                        <m:t> </m:t>
                      </m:r>
                      <m:r>
                        <a:rPr lang="en-US" sz="1200" i="1">
                          <a:latin typeface="Cambria Math" panose="02040503050406030204" pitchFamily="18" charset="0"/>
                        </a:rPr>
                        <m:t>𝑛𝑒𝑤</m:t>
                      </m:r>
                      <m:r>
                        <a:rPr lang="en-US" sz="1200" i="1">
                          <a:latin typeface="Cambria Math" panose="02040503050406030204" pitchFamily="18" charset="0"/>
                        </a:rPr>
                        <m:t> </m:t>
                      </m:r>
                      <m:r>
                        <a:rPr lang="en-US" sz="1200" i="1">
                          <a:latin typeface="Cambria Math" panose="02040503050406030204" pitchFamily="18" charset="0"/>
                        </a:rPr>
                        <m:t>𝑐𝑢𝑠𝑡𝑜𝑚𝑒𝑟</m:t>
                      </m:r>
                      <m:r>
                        <a:rPr lang="en-US" sz="1200" i="1">
                          <a:latin typeface="Cambria Math" panose="02040503050406030204" pitchFamily="18" charset="0"/>
                        </a:rPr>
                        <m:t> </m:t>
                      </m:r>
                      <m:r>
                        <a:rPr lang="en-US" sz="1200" i="1">
                          <a:latin typeface="Cambria Math" panose="02040503050406030204" pitchFamily="18" charset="0"/>
                        </a:rPr>
                        <m:t>𝑎𝑛𝑑</m:t>
                      </m:r>
                      <m:r>
                        <a:rPr lang="en-US" sz="1200" i="1">
                          <a:latin typeface="Cambria Math" panose="02040503050406030204" pitchFamily="18" charset="0"/>
                        </a:rPr>
                        <m:t> </m:t>
                      </m:r>
                      <m:sSup>
                        <m:sSupPr>
                          <m:ctrlPr>
                            <a:rPr lang="en-US" sz="1200" i="1">
                              <a:latin typeface="Cambria Math" panose="02040503050406030204" pitchFamily="18" charset="0"/>
                            </a:rPr>
                          </m:ctrlPr>
                        </m:sSupPr>
                        <m:e>
                          <m:r>
                            <a:rPr lang="en-US" sz="1200" i="1">
                              <a:latin typeface="Cambria Math" panose="02040503050406030204" pitchFamily="18" charset="0"/>
                            </a:rPr>
                            <m:t>𝑖</m:t>
                          </m:r>
                        </m:e>
                        <m:sup>
                          <m:r>
                            <a:rPr lang="en-US" sz="1200" i="1">
                              <a:latin typeface="Cambria Math" panose="02040503050406030204" pitchFamily="18" charset="0"/>
                            </a:rPr>
                            <m:t>𝑡h</m:t>
                          </m:r>
                        </m:sup>
                      </m:sSup>
                      <m:r>
                        <a:rPr lang="en-US" sz="1200" i="1">
                          <a:latin typeface="Cambria Math" panose="02040503050406030204" pitchFamily="18" charset="0"/>
                        </a:rPr>
                        <m:t> </m:t>
                      </m:r>
                      <m:r>
                        <a:rPr lang="en-US" sz="1200" i="1">
                          <a:latin typeface="Cambria Math" panose="02040503050406030204" pitchFamily="18" charset="0"/>
                        </a:rPr>
                        <m:t>𝑐𝑢𝑠𝑡𝑜𝑚𝑒𝑟</m:t>
                      </m:r>
                    </m:oMath>
                  </m:oMathPara>
                </a14:m>
                <a:endParaRPr lang="en-US" sz="1200" i="1" dirty="0">
                  <a:latin typeface="Helvetica" panose="020B0604020202020204" pitchFamily="34" charset="0"/>
                  <a:cs typeface="Helvetica" panose="020B0604020202020204" pitchFamily="34" charset="0"/>
                </a:endParaRPr>
              </a:p>
              <a:p>
                <a14:m>
                  <m:oMath xmlns:m="http://schemas.openxmlformats.org/officeDocument/2006/math">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𝐷</m:t>
                        </m:r>
                      </m:e>
                      <m:sub>
                        <m:r>
                          <a:rPr lang="en-US" sz="1200" i="1">
                            <a:latin typeface="Cambria Math" panose="02040503050406030204" pitchFamily="18" charset="0"/>
                          </a:rPr>
                          <m:t>𝐻</m:t>
                        </m:r>
                      </m:sub>
                    </m:sSub>
                    <m:r>
                      <a:rPr lang="en-US" sz="1200" i="1">
                        <a:latin typeface="Cambria Math" panose="02040503050406030204" pitchFamily="18" charset="0"/>
                      </a:rPr>
                      <m:t>=</m:t>
                    </m:r>
                    <m:nary>
                      <m:naryPr>
                        <m:chr m:val="∑"/>
                        <m:ctrlPr>
                          <a:rPr lang="en-US" sz="1200" i="1">
                            <a:latin typeface="Cambria Math" panose="02040503050406030204" pitchFamily="18" charset="0"/>
                          </a:rPr>
                        </m:ctrlPr>
                      </m:naryPr>
                      <m:sub>
                        <m:r>
                          <m:rPr>
                            <m:brk m:alnAt="23"/>
                          </m:rPr>
                          <a:rPr lang="en-US" sz="1200" i="1">
                            <a:latin typeface="Cambria Math" panose="02040503050406030204" pitchFamily="18" charset="0"/>
                          </a:rPr>
                          <m:t>𝑖</m:t>
                        </m:r>
                        <m:r>
                          <a:rPr lang="en-US" sz="1200" i="1">
                            <a:latin typeface="Cambria Math" panose="02040503050406030204" pitchFamily="18" charset="0"/>
                          </a:rPr>
                          <m:t>=1</m:t>
                        </m:r>
                      </m:sub>
                      <m:sup>
                        <m:r>
                          <a:rPr lang="en-US" sz="1200" i="1">
                            <a:latin typeface="Cambria Math" panose="02040503050406030204" pitchFamily="18" charset="0"/>
                          </a:rPr>
                          <m:t>𝑝</m:t>
                        </m:r>
                      </m:sup>
                      <m:e>
                        <m:sSub>
                          <m:sSubPr>
                            <m:ctrlPr>
                              <a:rPr lang="en-US" sz="1200" i="1">
                                <a:latin typeface="Cambria Math" panose="02040503050406030204" pitchFamily="18" charset="0"/>
                              </a:rPr>
                            </m:ctrlPr>
                          </m:sSubPr>
                          <m:e>
                            <m:r>
                              <a:rPr lang="en-US" sz="1200" i="1">
                                <a:latin typeface="Cambria Math" panose="02040503050406030204" pitchFamily="18" charset="0"/>
                              </a:rPr>
                              <m:t>𝐷</m:t>
                            </m:r>
                          </m:e>
                          <m:sub>
                            <m:r>
                              <a:rPr lang="en-US" sz="1200" i="1">
                                <a:latin typeface="Cambria Math" panose="02040503050406030204" pitchFamily="18" charset="0"/>
                              </a:rPr>
                              <m:t>𝑖</m:t>
                            </m:r>
                          </m:sub>
                        </m:sSub>
                      </m:e>
                    </m:nary>
                    <m:r>
                      <a:rPr lang="en-US" sz="1200" i="1">
                        <a:latin typeface="Cambria Math" panose="02040503050406030204" pitchFamily="18" charset="0"/>
                      </a:rPr>
                      <m:t> </m:t>
                    </m:r>
                  </m:oMath>
                </a14:m>
                <a:r>
                  <a:rPr lang="en-US" sz="1200" dirty="0">
                    <a:latin typeface="Helvetica" panose="020B0604020202020204" pitchFamily="34" charset="0"/>
                    <a:cs typeface="Helvetica" panose="020B0604020202020204" pitchFamily="34" charset="0"/>
                  </a:rPr>
                  <a:t>where </a:t>
                </a:r>
                <a:endParaRPr lang="en-US" sz="1200" i="1" dirty="0">
                  <a:latin typeface="Helvetica" panose="020B0604020202020204" pitchFamily="34" charset="0"/>
                  <a:cs typeface="Helvetica" panose="020B0604020202020204" pitchFamily="34" charset="0"/>
                </a:endParaRPr>
              </a:p>
              <a:p>
                <a:pPr algn="ctr"/>
                <a14:m>
                  <m:oMathPara xmlns:m="http://schemas.openxmlformats.org/officeDocument/2006/math">
                    <m:oMathParaPr>
                      <m:jc m:val="center"/>
                    </m:oMathParaPr>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𝐷</m:t>
                          </m:r>
                        </m:e>
                        <m:sub>
                          <m:r>
                            <a:rPr lang="en-US" sz="1200" i="1">
                              <a:latin typeface="Cambria Math" panose="02040503050406030204" pitchFamily="18" charset="0"/>
                            </a:rPr>
                            <m:t>𝑖</m:t>
                          </m:r>
                        </m:sub>
                      </m:sSub>
                      <m:r>
                        <a:rPr lang="en-US" sz="1200" i="1">
                          <a:latin typeface="Cambria Math" panose="02040503050406030204" pitchFamily="18" charset="0"/>
                        </a:rPr>
                        <m:t> </m:t>
                      </m:r>
                      <m:r>
                        <a:rPr lang="en-US" sz="1200" b="0" i="1" smtClean="0">
                          <a:latin typeface="Cambria Math" panose="02040503050406030204" pitchFamily="18" charset="0"/>
                        </a:rPr>
                        <m:t>=0 </m:t>
                      </m:r>
                      <m:r>
                        <a:rPr lang="en-US" sz="1200" b="0" i="1" smtClean="0">
                          <a:latin typeface="Cambria Math" panose="02040503050406030204" pitchFamily="18" charset="0"/>
                        </a:rPr>
                        <m:t>𝑖𝑓</m:t>
                      </m:r>
                      <m:sSubSup>
                        <m:sSubSupPr>
                          <m:ctrlPr>
                            <a:rPr lang="en-US" sz="1200" i="1">
                              <a:latin typeface="Cambria Math" panose="02040503050406030204" pitchFamily="18" charset="0"/>
                            </a:rPr>
                          </m:ctrlPr>
                        </m:sSubSupPr>
                        <m:e>
                          <m:r>
                            <a:rPr lang="en-US" sz="1200" i="1">
                              <a:latin typeface="Cambria Math" panose="02040503050406030204" pitchFamily="18" charset="0"/>
                            </a:rPr>
                            <m:t>𝑋</m:t>
                          </m:r>
                        </m:e>
                        <m:sub>
                          <m:r>
                            <a:rPr lang="en-US" sz="1200" i="1">
                              <a:latin typeface="Cambria Math" panose="02040503050406030204" pitchFamily="18" charset="0"/>
                            </a:rPr>
                            <m:t>𝑛𝑒𝑤</m:t>
                          </m:r>
                        </m:sub>
                        <m:sup>
                          <m:r>
                            <a:rPr lang="en-US" sz="1200" b="0" i="1" smtClean="0">
                              <a:latin typeface="Cambria Math" panose="02040503050406030204" pitchFamily="18" charset="0"/>
                            </a:rPr>
                            <m:t>𝑘</m:t>
                          </m:r>
                        </m:sup>
                      </m:sSubSup>
                      <m:r>
                        <a:rPr lang="en-US" sz="1200" b="0" i="1" smtClean="0">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𝑋</m:t>
                          </m:r>
                        </m:e>
                        <m:sub>
                          <m:r>
                            <a:rPr lang="en-US" sz="1200" i="1">
                              <a:latin typeface="Cambria Math" panose="02040503050406030204" pitchFamily="18" charset="0"/>
                            </a:rPr>
                            <m:t>𝑖</m:t>
                          </m:r>
                        </m:sub>
                        <m:sup>
                          <m:r>
                            <a:rPr lang="en-US" sz="1200" i="1">
                              <a:latin typeface="Cambria Math" panose="02040503050406030204" pitchFamily="18" charset="0"/>
                            </a:rPr>
                            <m:t>𝑘</m:t>
                          </m:r>
                        </m:sup>
                      </m:sSubSup>
                    </m:oMath>
                  </m:oMathPara>
                </a14:m>
                <a:endParaRPr lang="en-US" sz="1200" i="1" dirty="0">
                  <a:latin typeface="Helvetica" panose="020B0604020202020204" pitchFamily="34" charset="0"/>
                  <a:cs typeface="Helvetica" panose="020B0604020202020204" pitchFamily="34" charset="0"/>
                </a:endParaRPr>
              </a:p>
              <a:p>
                <a:pPr algn="ctr"/>
                <a14:m>
                  <m:oMathPara xmlns:m="http://schemas.openxmlformats.org/officeDocument/2006/math">
                    <m:oMathParaPr>
                      <m:jc m:val="center"/>
                    </m:oMathParaPr>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𝐷</m:t>
                          </m:r>
                        </m:e>
                        <m:sub>
                          <m:r>
                            <a:rPr lang="en-US" sz="1200" i="1">
                              <a:latin typeface="Cambria Math" panose="02040503050406030204" pitchFamily="18" charset="0"/>
                            </a:rPr>
                            <m:t>𝑖</m:t>
                          </m:r>
                        </m:sub>
                      </m:sSub>
                      <m:r>
                        <a:rPr lang="en-US" sz="1200" i="1">
                          <a:latin typeface="Cambria Math" panose="02040503050406030204" pitchFamily="18" charset="0"/>
                        </a:rPr>
                        <m:t> </m:t>
                      </m:r>
                      <m:r>
                        <a:rPr lang="en-US" sz="1200" b="0" i="1" smtClean="0">
                          <a:latin typeface="Cambria Math" panose="02040503050406030204" pitchFamily="18" charset="0"/>
                        </a:rPr>
                        <m:t>=1 </m:t>
                      </m:r>
                      <m:r>
                        <a:rPr lang="en-US" sz="1200" i="1">
                          <a:latin typeface="Cambria Math" panose="02040503050406030204" pitchFamily="18" charset="0"/>
                        </a:rPr>
                        <m:t>𝑖𝑓</m:t>
                      </m:r>
                      <m:sSubSup>
                        <m:sSubSupPr>
                          <m:ctrlPr>
                            <a:rPr lang="en-US" sz="1200" i="1">
                              <a:latin typeface="Cambria Math" panose="02040503050406030204" pitchFamily="18" charset="0"/>
                            </a:rPr>
                          </m:ctrlPr>
                        </m:sSubSupPr>
                        <m:e>
                          <m:r>
                            <a:rPr lang="en-US" sz="1200" i="1">
                              <a:latin typeface="Cambria Math" panose="02040503050406030204" pitchFamily="18" charset="0"/>
                            </a:rPr>
                            <m:t>𝑋</m:t>
                          </m:r>
                        </m:e>
                        <m:sub>
                          <m:r>
                            <a:rPr lang="en-US" sz="1200" i="1">
                              <a:latin typeface="Cambria Math" panose="02040503050406030204" pitchFamily="18" charset="0"/>
                            </a:rPr>
                            <m:t>𝑛𝑒𝑤</m:t>
                          </m:r>
                        </m:sub>
                        <m:sup>
                          <m:r>
                            <a:rPr lang="en-US" sz="1200" b="0" i="1" smtClean="0">
                              <a:latin typeface="Cambria Math" panose="02040503050406030204" pitchFamily="18" charset="0"/>
                            </a:rPr>
                            <m:t>𝑘</m:t>
                          </m:r>
                        </m:sup>
                      </m:sSubSup>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𝑋</m:t>
                          </m:r>
                        </m:e>
                        <m:sub>
                          <m:r>
                            <a:rPr lang="en-US" sz="1200" i="1">
                              <a:latin typeface="Cambria Math" panose="02040503050406030204" pitchFamily="18" charset="0"/>
                            </a:rPr>
                            <m:t>𝑖</m:t>
                          </m:r>
                        </m:sub>
                        <m:sup>
                          <m:r>
                            <a:rPr lang="en-US" sz="1200" i="1">
                              <a:latin typeface="Cambria Math" panose="02040503050406030204" pitchFamily="18" charset="0"/>
                            </a:rPr>
                            <m:t>𝑘</m:t>
                          </m:r>
                        </m:sup>
                      </m:sSubSup>
                    </m:oMath>
                  </m:oMathPara>
                </a14:m>
                <a:endParaRPr lang="en-US" sz="1200" dirty="0">
                  <a:latin typeface="Helvetica" panose="020B0604020202020204" pitchFamily="34" charset="0"/>
                  <a:cs typeface="Helvetica" panose="020B0604020202020204" pitchFamily="34" charset="0"/>
                </a:endParaRPr>
              </a:p>
            </p:txBody>
          </p:sp>
        </mc:Choice>
        <mc:Fallback>
          <p:sp>
            <p:nvSpPr>
              <p:cNvPr id="16" name="TextBox 15">
                <a:extLst>
                  <a:ext uri="{FF2B5EF4-FFF2-40B4-BE49-F238E27FC236}">
                    <a16:creationId xmlns:a16="http://schemas.microsoft.com/office/drawing/2014/main" xmlns:a14="http://schemas.microsoft.com/office/drawing/2010/main" xmlns="" id="{271D60AC-FCEC-4679-B9FA-0D92AAA586AE}"/>
                  </a:ext>
                </a:extLst>
              </p:cNvPr>
              <p:cNvSpPr txBox="1">
                <a:spLocks noRot="1" noChangeAspect="1" noMove="1" noResize="1" noEditPoints="1" noAdjustHandles="1" noChangeArrowheads="1" noChangeShapeType="1" noTextEdit="1"/>
              </p:cNvSpPr>
              <p:nvPr/>
            </p:nvSpPr>
            <p:spPr>
              <a:xfrm>
                <a:off x="5072104" y="817295"/>
                <a:ext cx="3843296" cy="3794052"/>
              </a:xfrm>
              <a:prstGeom prst="rect">
                <a:avLst/>
              </a:prstGeom>
              <a:blipFill rotWithShape="0">
                <a:blip r:embed="rId4"/>
                <a:stretch>
                  <a:fillRect t="-161" r="-3803" b="-161"/>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xmlns="" id="{7707215B-4FB6-4EE6-816C-EC9BB49D5C4D}"/>
              </a:ext>
            </a:extLst>
          </p:cNvPr>
          <p:cNvSpPr txBox="1"/>
          <p:nvPr/>
        </p:nvSpPr>
        <p:spPr>
          <a:xfrm>
            <a:off x="104979" y="820050"/>
            <a:ext cx="4458961" cy="1384995"/>
          </a:xfrm>
          <a:prstGeom prst="rect">
            <a:avLst/>
          </a:prstGeom>
          <a:noFill/>
        </p:spPr>
        <p:txBody>
          <a:bodyPr wrap="square" rtlCol="0">
            <a:spAutoFit/>
          </a:bodyPr>
          <a:lstStyle/>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Classify new observations, in this case customers, according to K most similar observations.</a:t>
            </a:r>
          </a:p>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Class of the new observations = most found class among K nearest observations</a:t>
            </a:r>
          </a:p>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Supervised Learning: The labels of some observations (churn values for some customers) are known.</a:t>
            </a:r>
          </a:p>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Requires definition of a similarity measure (distance).</a:t>
            </a:r>
          </a:p>
        </p:txBody>
      </p:sp>
      <p:grpSp>
        <p:nvGrpSpPr>
          <p:cNvPr id="14" name="Group 13">
            <a:extLst>
              <a:ext uri="{FF2B5EF4-FFF2-40B4-BE49-F238E27FC236}">
                <a16:creationId xmlns:a16="http://schemas.microsoft.com/office/drawing/2014/main" xmlns="" id="{C0BB01B3-F2ED-40A1-8EC5-291C98F1E774}"/>
              </a:ext>
            </a:extLst>
          </p:cNvPr>
          <p:cNvGrpSpPr/>
          <p:nvPr/>
        </p:nvGrpSpPr>
        <p:grpSpPr>
          <a:xfrm>
            <a:off x="830192" y="2300283"/>
            <a:ext cx="2797962" cy="2732039"/>
            <a:chOff x="619800" y="2300283"/>
            <a:chExt cx="2797962" cy="2732039"/>
          </a:xfrm>
        </p:grpSpPr>
        <p:sp>
          <p:nvSpPr>
            <p:cNvPr id="15" name="Triangle 17">
              <a:extLst>
                <a:ext uri="{FF2B5EF4-FFF2-40B4-BE49-F238E27FC236}">
                  <a16:creationId xmlns:a16="http://schemas.microsoft.com/office/drawing/2014/main" xmlns="" id="{2CEB5A0D-EFC6-426E-B8B9-92A06576965A}"/>
                </a:ext>
              </a:extLst>
            </p:cNvPr>
            <p:cNvSpPr/>
            <p:nvPr/>
          </p:nvSpPr>
          <p:spPr>
            <a:xfrm>
              <a:off x="811463" y="4566118"/>
              <a:ext cx="138285" cy="125752"/>
            </a:xfrm>
            <a:prstGeom prst="triangle">
              <a:avLst/>
            </a:prstGeom>
            <a:solidFill>
              <a:srgbClr val="FF0000"/>
            </a:solidFill>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xmlns="" id="{1753B627-AEEB-4E05-80B3-50E4B76AB87A}"/>
                </a:ext>
              </a:extLst>
            </p:cNvPr>
            <p:cNvSpPr txBox="1"/>
            <p:nvPr/>
          </p:nvSpPr>
          <p:spPr>
            <a:xfrm>
              <a:off x="900280" y="4490494"/>
              <a:ext cx="2517482" cy="276999"/>
            </a:xfrm>
            <a:prstGeom prst="rect">
              <a:avLst/>
            </a:prstGeom>
            <a:noFill/>
          </p:spPr>
          <p:txBody>
            <a:bodyPr wrap="square" rtlCol="0">
              <a:spAutoFit/>
            </a:bodyPr>
            <a:lstStyle/>
            <a:p>
              <a:r>
                <a:rPr lang="en-CA" sz="1200" dirty="0">
                  <a:latin typeface="Helvetica" pitchFamily="2" charset="0"/>
                </a:rPr>
                <a:t>: Customers who do churn</a:t>
              </a:r>
            </a:p>
          </p:txBody>
        </p:sp>
        <p:sp>
          <p:nvSpPr>
            <p:cNvPr id="23" name="Rectangle 22">
              <a:extLst>
                <a:ext uri="{FF2B5EF4-FFF2-40B4-BE49-F238E27FC236}">
                  <a16:creationId xmlns:a16="http://schemas.microsoft.com/office/drawing/2014/main" xmlns="" id="{1C6871BE-CBD1-43DA-B75A-299464135C0A}"/>
                </a:ext>
              </a:extLst>
            </p:cNvPr>
            <p:cNvSpPr/>
            <p:nvPr/>
          </p:nvSpPr>
          <p:spPr>
            <a:xfrm>
              <a:off x="829392" y="4837195"/>
              <a:ext cx="111391" cy="113257"/>
            </a:xfrm>
            <a:prstGeom prst="rect">
              <a:avLst/>
            </a:prstGeom>
            <a:solidFill>
              <a:srgbClr val="0038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24" name="Rectangle 23">
              <a:extLst>
                <a:ext uri="{FF2B5EF4-FFF2-40B4-BE49-F238E27FC236}">
                  <a16:creationId xmlns:a16="http://schemas.microsoft.com/office/drawing/2014/main" xmlns="" id="{A0D16C43-5FBA-40C3-AC96-E55B438DE2CE}"/>
                </a:ext>
              </a:extLst>
            </p:cNvPr>
            <p:cNvSpPr/>
            <p:nvPr/>
          </p:nvSpPr>
          <p:spPr>
            <a:xfrm>
              <a:off x="880605" y="4755323"/>
              <a:ext cx="2156360" cy="276999"/>
            </a:xfrm>
            <a:prstGeom prst="rect">
              <a:avLst/>
            </a:prstGeom>
          </p:spPr>
          <p:txBody>
            <a:bodyPr wrap="none">
              <a:spAutoFit/>
            </a:bodyPr>
            <a:lstStyle/>
            <a:p>
              <a:r>
                <a:rPr lang="en-CA" sz="1200" dirty="0">
                  <a:latin typeface="Helvetica" pitchFamily="2" charset="0"/>
                </a:rPr>
                <a:t>: Customer who do not churn</a:t>
              </a:r>
            </a:p>
          </p:txBody>
        </p:sp>
        <p:pic>
          <p:nvPicPr>
            <p:cNvPr id="25" name="Picture 24">
              <a:extLst>
                <a:ext uri="{FF2B5EF4-FFF2-40B4-BE49-F238E27FC236}">
                  <a16:creationId xmlns:a16="http://schemas.microsoft.com/office/drawing/2014/main" xmlns="" id="{B4F8FE3B-937C-4CCE-A695-0F24B8D6DA5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961869" y="2340040"/>
              <a:ext cx="2103821" cy="1900013"/>
            </a:xfrm>
            <a:prstGeom prst="rect">
              <a:avLst/>
            </a:prstGeom>
          </p:spPr>
        </p:pic>
        <p:cxnSp>
          <p:nvCxnSpPr>
            <p:cNvPr id="26" name="Straight Arrow Connector 25">
              <a:extLst>
                <a:ext uri="{FF2B5EF4-FFF2-40B4-BE49-F238E27FC236}">
                  <a16:creationId xmlns:a16="http://schemas.microsoft.com/office/drawing/2014/main" xmlns="" id="{F0EBFA5D-0C84-4270-B416-9F509EDF27FE}"/>
                </a:ext>
              </a:extLst>
            </p:cNvPr>
            <p:cNvCxnSpPr>
              <a:cxnSpLocks/>
            </p:cNvCxnSpPr>
            <p:nvPr/>
          </p:nvCxnSpPr>
          <p:spPr>
            <a:xfrm flipV="1">
              <a:off x="654186" y="2300283"/>
              <a:ext cx="0" cy="2079811"/>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xmlns="" id="{7413A27F-2A91-4D63-A27A-050802B8E6F5}"/>
                </a:ext>
              </a:extLst>
            </p:cNvPr>
            <p:cNvCxnSpPr>
              <a:cxnSpLocks/>
            </p:cNvCxnSpPr>
            <p:nvPr/>
          </p:nvCxnSpPr>
          <p:spPr>
            <a:xfrm flipV="1">
              <a:off x="619800" y="4387471"/>
              <a:ext cx="2719188" cy="10418"/>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xmlns="" id="{94D1FDBB-D5F6-4AD2-A501-6AB5EBADB814}"/>
                </a:ext>
              </a:extLst>
            </p:cNvPr>
            <p:cNvSpPr/>
            <p:nvPr/>
          </p:nvSpPr>
          <p:spPr>
            <a:xfrm>
              <a:off x="658452" y="4485752"/>
              <a:ext cx="2680535" cy="539141"/>
            </a:xfrm>
            <a:prstGeom prst="rect">
              <a:avLst/>
            </a:prstGeom>
            <a:noFill/>
            <a:ln w="19050">
              <a:solidFill>
                <a:schemeClr val="tx2"/>
              </a:solidFill>
            </a:ln>
          </p:spPr>
          <p:txBody>
            <a:bodyPr wrap="square" tIns="91440" bIns="91440">
              <a:spAutoFit/>
            </a:bodyPr>
            <a:lstStyle/>
            <a:p>
              <a:endParaRPr lang="en-US" sz="1400" dirty="0">
                <a:latin typeface="Helvetica" charset="0"/>
                <a:ea typeface="Helvetica" charset="0"/>
                <a:cs typeface="Helvetica" charset="0"/>
              </a:endParaRPr>
            </a:p>
          </p:txBody>
        </p:sp>
      </p:grpSp>
    </p:spTree>
    <p:custDataLst>
      <p:tags r:id="rId1"/>
    </p:custDataLst>
    <p:extLst>
      <p:ext uri="{BB962C8B-B14F-4D97-AF65-F5344CB8AC3E}">
        <p14:creationId xmlns:p14="http://schemas.microsoft.com/office/powerpoint/2010/main" val="1720549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325" y="153298"/>
            <a:ext cx="8562392" cy="599261"/>
          </a:xfrm>
        </p:spPr>
        <p:txBody>
          <a:bodyPr/>
          <a:lstStyle/>
          <a:p>
            <a:r>
              <a:rPr kumimoji="1" lang="en-US" altLang="zh-CN" dirty="0">
                <a:latin typeface="Vitesse"/>
              </a:rPr>
              <a:t>K Nearest Neighbors (KNN): Implementation</a:t>
            </a:r>
            <a:endParaRPr kumimoji="1" lang="zh-CN" altLang="en-US" dirty="0">
              <a:latin typeface="Vitesse"/>
            </a:endParaRPr>
          </a:p>
        </p:txBody>
      </p:sp>
      <p:sp>
        <p:nvSpPr>
          <p:cNvPr id="7" name="TextBox 6">
            <a:extLst>
              <a:ext uri="{FF2B5EF4-FFF2-40B4-BE49-F238E27FC236}">
                <a16:creationId xmlns:a16="http://schemas.microsoft.com/office/drawing/2014/main" xmlns="" id="{CC675ACC-AD3C-4512-88B9-14975A2D3D52}"/>
              </a:ext>
            </a:extLst>
          </p:cNvPr>
          <p:cNvSpPr txBox="1"/>
          <p:nvPr/>
        </p:nvSpPr>
        <p:spPr>
          <a:xfrm>
            <a:off x="103073" y="795640"/>
            <a:ext cx="4458961" cy="954107"/>
          </a:xfrm>
          <a:prstGeom prst="rect">
            <a:avLst/>
          </a:prstGeom>
          <a:noFill/>
        </p:spPr>
        <p:txBody>
          <a:bodyPr wrap="square" rtlCol="0">
            <a:spAutoFit/>
          </a:bodyPr>
          <a:lstStyle/>
          <a:p>
            <a:r>
              <a:rPr lang="en-US" sz="1400" b="1" dirty="0">
                <a:solidFill>
                  <a:srgbClr val="EAAA00"/>
                </a:solidFill>
                <a:latin typeface="Helvetica" panose="020B0604020202020204" pitchFamily="34" charset="0"/>
                <a:ea typeface="Helvetica" charset="0"/>
                <a:cs typeface="Helvetica" panose="020B0604020202020204" pitchFamily="34" charset="0"/>
              </a:rPr>
              <a:t>Kernel-Weighted Average Classification</a:t>
            </a:r>
          </a:p>
          <a:p>
            <a:r>
              <a:rPr lang="en-US" sz="1400" dirty="0">
                <a:latin typeface="Helvetica" panose="020B0604020202020204" pitchFamily="34" charset="0"/>
                <a:ea typeface="Helvetica" charset="0"/>
                <a:cs typeface="Helvetica" panose="020B0604020202020204" pitchFamily="34" charset="0"/>
              </a:rPr>
              <a:t>What if we would like to assign more importance to the closer (more similar) observations in classifying the new observation?</a:t>
            </a:r>
            <a:endParaRPr lang="en-US" sz="1400" b="1" dirty="0">
              <a:solidFill>
                <a:srgbClr val="EAAA00"/>
              </a:solidFill>
              <a:latin typeface="Helvetica" panose="020B0604020202020204" pitchFamily="34" charset="0"/>
              <a:ea typeface="Helvetica" charset="0"/>
              <a:cs typeface="Helvetica" panose="020B0604020202020204" pitchFamily="34" charset="0"/>
            </a:endParaRPr>
          </a:p>
        </p:txBody>
      </p:sp>
      <p:sp>
        <p:nvSpPr>
          <p:cNvPr id="3" name="Down Arrow 2">
            <a:extLst>
              <a:ext uri="{FF2B5EF4-FFF2-40B4-BE49-F238E27FC236}">
                <a16:creationId xmlns:a16="http://schemas.microsoft.com/office/drawing/2014/main" xmlns="" id="{1BB1A456-0F88-1A4F-8028-5B8321F6CBAC}"/>
              </a:ext>
            </a:extLst>
          </p:cNvPr>
          <p:cNvSpPr/>
          <p:nvPr/>
        </p:nvSpPr>
        <p:spPr>
          <a:xfrm>
            <a:off x="2150812" y="1915742"/>
            <a:ext cx="275129" cy="251012"/>
          </a:xfrm>
          <a:prstGeom prst="downArrow">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grpSp>
        <p:nvGrpSpPr>
          <p:cNvPr id="4" name="Group 3">
            <a:extLst>
              <a:ext uri="{FF2B5EF4-FFF2-40B4-BE49-F238E27FC236}">
                <a16:creationId xmlns:a16="http://schemas.microsoft.com/office/drawing/2014/main" xmlns="" id="{DEF267E3-FCA4-4ECA-9D04-EE596BA16A0B}"/>
              </a:ext>
            </a:extLst>
          </p:cNvPr>
          <p:cNvGrpSpPr/>
          <p:nvPr/>
        </p:nvGrpSpPr>
        <p:grpSpPr>
          <a:xfrm>
            <a:off x="124971" y="2282210"/>
            <a:ext cx="3806033" cy="2528556"/>
            <a:chOff x="4361588" y="2214372"/>
            <a:chExt cx="3806033" cy="2528556"/>
          </a:xfrm>
        </p:grpSpPr>
        <p:pic>
          <p:nvPicPr>
            <p:cNvPr id="5" name="Picture 4">
              <a:extLst>
                <a:ext uri="{FF2B5EF4-FFF2-40B4-BE49-F238E27FC236}">
                  <a16:creationId xmlns:a16="http://schemas.microsoft.com/office/drawing/2014/main" xmlns="" id="{F15C2C68-A1F3-714E-B439-5D8DEFA223B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36056" y="2214372"/>
              <a:ext cx="3031565" cy="2182727"/>
            </a:xfrm>
            <a:prstGeom prst="rect">
              <a:avLst/>
            </a:prstGeom>
          </p:spPr>
        </p:pic>
        <p:sp>
          <p:nvSpPr>
            <p:cNvPr id="6" name="TextBox 5">
              <a:extLst>
                <a:ext uri="{FF2B5EF4-FFF2-40B4-BE49-F238E27FC236}">
                  <a16:creationId xmlns:a16="http://schemas.microsoft.com/office/drawing/2014/main" xmlns="" id="{0D152972-F26D-B449-8AF0-8398B62C6158}"/>
                </a:ext>
              </a:extLst>
            </p:cNvPr>
            <p:cNvSpPr txBox="1"/>
            <p:nvPr/>
          </p:nvSpPr>
          <p:spPr>
            <a:xfrm>
              <a:off x="4361588" y="3155694"/>
              <a:ext cx="774468" cy="276999"/>
            </a:xfrm>
            <a:prstGeom prst="rect">
              <a:avLst/>
            </a:prstGeom>
            <a:noFill/>
          </p:spPr>
          <p:txBody>
            <a:bodyPr wrap="square" rtlCol="0">
              <a:spAutoFit/>
            </a:bodyPr>
            <a:lstStyle/>
            <a:p>
              <a:r>
                <a:rPr lang="en-CA" sz="1200" dirty="0">
                  <a:latin typeface="Helvetica" pitchFamily="2" charset="0"/>
                </a:rPr>
                <a:t>Weights</a:t>
              </a:r>
            </a:p>
          </p:txBody>
        </p:sp>
        <p:sp>
          <p:nvSpPr>
            <p:cNvPr id="12" name="Rectangle 11">
              <a:extLst>
                <a:ext uri="{FF2B5EF4-FFF2-40B4-BE49-F238E27FC236}">
                  <a16:creationId xmlns:a16="http://schemas.microsoft.com/office/drawing/2014/main" xmlns="" id="{789E1B46-1542-7C42-B605-A8B52C40E7B4}"/>
                </a:ext>
              </a:extLst>
            </p:cNvPr>
            <p:cNvSpPr/>
            <p:nvPr/>
          </p:nvSpPr>
          <p:spPr>
            <a:xfrm>
              <a:off x="6237269" y="4465929"/>
              <a:ext cx="780983" cy="276999"/>
            </a:xfrm>
            <a:prstGeom prst="rect">
              <a:avLst/>
            </a:prstGeom>
          </p:spPr>
          <p:txBody>
            <a:bodyPr wrap="none">
              <a:spAutoFit/>
            </a:bodyPr>
            <a:lstStyle/>
            <a:p>
              <a:r>
                <a:rPr lang="en-CA" sz="1200" dirty="0">
                  <a:latin typeface="Helvetica" pitchFamily="2" charset="0"/>
                </a:rPr>
                <a:t>Distance</a:t>
              </a:r>
            </a:p>
          </p:txBody>
        </p:sp>
      </p:grpSp>
      <p:sp>
        <p:nvSpPr>
          <p:cNvPr id="13" name="Rectangle 12">
            <a:extLst>
              <a:ext uri="{FF2B5EF4-FFF2-40B4-BE49-F238E27FC236}">
                <a16:creationId xmlns:a16="http://schemas.microsoft.com/office/drawing/2014/main" xmlns="" id="{AD31B3BF-7726-184E-A700-ABD4B294030B}"/>
              </a:ext>
            </a:extLst>
          </p:cNvPr>
          <p:cNvSpPr/>
          <p:nvPr/>
        </p:nvSpPr>
        <p:spPr>
          <a:xfrm>
            <a:off x="5076825" y="819671"/>
            <a:ext cx="3838575" cy="3816429"/>
          </a:xfrm>
          <a:prstGeom prst="rect">
            <a:avLst/>
          </a:prstGeom>
        </p:spPr>
        <p:txBody>
          <a:bodyPr wrap="square">
            <a:spAutoFit/>
          </a:bodyPr>
          <a:lstStyle/>
          <a:p>
            <a:r>
              <a:rPr lang="en-CA" sz="1100" b="1" dirty="0">
                <a:solidFill>
                  <a:srgbClr val="EAAA00"/>
                </a:solidFill>
                <a:latin typeface="Helvetica" pitchFamily="2" charset="0"/>
              </a:rPr>
              <a:t>## Convert response to factor</a:t>
            </a:r>
          </a:p>
          <a:p>
            <a:r>
              <a:rPr lang="en-CA" sz="1100" i="1" dirty="0" err="1">
                <a:latin typeface="Helvetica" pitchFamily="2" charset="0"/>
              </a:rPr>
              <a:t>y.train</a:t>
            </a:r>
            <a:r>
              <a:rPr lang="en-CA" sz="1100" i="1" dirty="0">
                <a:latin typeface="Helvetica" pitchFamily="2" charset="0"/>
              </a:rPr>
              <a:t> &lt;- </a:t>
            </a:r>
            <a:r>
              <a:rPr lang="en-CA" sz="1100" i="1" dirty="0" err="1">
                <a:latin typeface="Helvetica" pitchFamily="2" charset="0"/>
              </a:rPr>
              <a:t>as.factor</a:t>
            </a:r>
            <a:r>
              <a:rPr lang="en-CA" sz="1100" i="1" dirty="0">
                <a:latin typeface="Helvetica" pitchFamily="2" charset="0"/>
              </a:rPr>
              <a:t>(</a:t>
            </a:r>
            <a:r>
              <a:rPr lang="en-CA" sz="1100" i="1" dirty="0" err="1">
                <a:latin typeface="Helvetica" pitchFamily="2" charset="0"/>
              </a:rPr>
              <a:t>train$`Churn</a:t>
            </a:r>
            <a:r>
              <a:rPr lang="en-CA" sz="1100" i="1" dirty="0">
                <a:latin typeface="Helvetica" pitchFamily="2" charset="0"/>
              </a:rPr>
              <a:t> Value`)</a:t>
            </a:r>
          </a:p>
          <a:p>
            <a:r>
              <a:rPr lang="en-CA" sz="1100" i="1" dirty="0" err="1">
                <a:latin typeface="Helvetica" pitchFamily="2" charset="0"/>
              </a:rPr>
              <a:t>y.test</a:t>
            </a:r>
            <a:r>
              <a:rPr lang="en-CA" sz="1100" i="1" dirty="0">
                <a:latin typeface="Helvetica" pitchFamily="2" charset="0"/>
              </a:rPr>
              <a:t> &lt;- </a:t>
            </a:r>
            <a:r>
              <a:rPr lang="en-CA" sz="1100" i="1" dirty="0" err="1">
                <a:latin typeface="Helvetica" pitchFamily="2" charset="0"/>
              </a:rPr>
              <a:t>as.factor</a:t>
            </a:r>
            <a:r>
              <a:rPr lang="en-CA" sz="1100" i="1" dirty="0">
                <a:latin typeface="Helvetica" pitchFamily="2" charset="0"/>
              </a:rPr>
              <a:t>(</a:t>
            </a:r>
            <a:r>
              <a:rPr lang="en-CA" sz="1100" i="1" dirty="0" err="1">
                <a:latin typeface="Helvetica" pitchFamily="2" charset="0"/>
              </a:rPr>
              <a:t>test$`Churn</a:t>
            </a:r>
            <a:r>
              <a:rPr lang="en-CA" sz="1100" i="1" dirty="0">
                <a:latin typeface="Helvetica" pitchFamily="2" charset="0"/>
              </a:rPr>
              <a:t> Value`)</a:t>
            </a:r>
            <a:endParaRPr lang="en-CA" sz="1100" dirty="0">
              <a:latin typeface="Helvetica" pitchFamily="2" charset="0"/>
            </a:endParaRPr>
          </a:p>
          <a:p>
            <a:r>
              <a:rPr lang="en-CA" sz="1100" b="1" dirty="0">
                <a:solidFill>
                  <a:srgbClr val="EAAA00"/>
                </a:solidFill>
                <a:latin typeface="Helvetica" pitchFamily="2" charset="0"/>
              </a:rPr>
              <a:t>## </a:t>
            </a:r>
            <a:r>
              <a:rPr lang="en-CA" sz="1100" b="1" dirty="0" err="1">
                <a:solidFill>
                  <a:srgbClr val="EAAA00"/>
                </a:solidFill>
                <a:latin typeface="Helvetica" pitchFamily="2" charset="0"/>
              </a:rPr>
              <a:t>Dummify</a:t>
            </a:r>
            <a:r>
              <a:rPr lang="en-CA" sz="1100" b="1" dirty="0">
                <a:solidFill>
                  <a:srgbClr val="EAAA00"/>
                </a:solidFill>
                <a:latin typeface="Helvetica" pitchFamily="2" charset="0"/>
              </a:rPr>
              <a:t> categorical features</a:t>
            </a:r>
          </a:p>
          <a:p>
            <a:r>
              <a:rPr lang="en-CA" sz="1100" i="1" dirty="0" err="1">
                <a:latin typeface="Helvetica" pitchFamily="2" charset="0"/>
              </a:rPr>
              <a:t>dummies.train</a:t>
            </a:r>
            <a:r>
              <a:rPr lang="en-CA" sz="1100" i="1" dirty="0">
                <a:latin typeface="Helvetica" pitchFamily="2" charset="0"/>
              </a:rPr>
              <a:t> &lt;- </a:t>
            </a:r>
            <a:r>
              <a:rPr lang="en-CA" sz="1100" i="1" dirty="0" err="1">
                <a:latin typeface="Helvetica" pitchFamily="2" charset="0"/>
              </a:rPr>
              <a:t>dummyVars</a:t>
            </a:r>
            <a:r>
              <a:rPr lang="en-CA" sz="1100" i="1" dirty="0">
                <a:latin typeface="Helvetica" pitchFamily="2" charset="0"/>
              </a:rPr>
              <a:t>(`Churn Value` ~ ., data = train)</a:t>
            </a:r>
          </a:p>
          <a:p>
            <a:r>
              <a:rPr lang="en-CA" sz="1100" i="1" dirty="0" err="1">
                <a:latin typeface="Helvetica" pitchFamily="2" charset="0"/>
              </a:rPr>
              <a:t>dummies.test</a:t>
            </a:r>
            <a:r>
              <a:rPr lang="en-CA" sz="1100" i="1" dirty="0">
                <a:latin typeface="Helvetica" pitchFamily="2" charset="0"/>
              </a:rPr>
              <a:t> &lt;- </a:t>
            </a:r>
            <a:r>
              <a:rPr lang="en-CA" sz="1100" i="1" dirty="0" err="1">
                <a:latin typeface="Helvetica" pitchFamily="2" charset="0"/>
              </a:rPr>
              <a:t>dummyVars</a:t>
            </a:r>
            <a:r>
              <a:rPr lang="en-CA" sz="1100" i="1" dirty="0">
                <a:latin typeface="Helvetica" pitchFamily="2" charset="0"/>
              </a:rPr>
              <a:t>(`Churn Value` ~ ., data = test)</a:t>
            </a:r>
            <a:endParaRPr lang="en-CA" sz="1100" dirty="0">
              <a:latin typeface="Helvetica" pitchFamily="2" charset="0"/>
            </a:endParaRPr>
          </a:p>
          <a:p>
            <a:r>
              <a:rPr lang="en-CA" sz="1100" b="1" dirty="0">
                <a:solidFill>
                  <a:srgbClr val="EAAA00"/>
                </a:solidFill>
                <a:latin typeface="Helvetica" pitchFamily="2" charset="0"/>
              </a:rPr>
              <a:t>## Create data frames containing the predictors </a:t>
            </a:r>
          </a:p>
          <a:p>
            <a:r>
              <a:rPr lang="en-CA" sz="1100" i="1" dirty="0" err="1">
                <a:latin typeface="Helvetica" pitchFamily="2" charset="0"/>
              </a:rPr>
              <a:t>x.train.knn</a:t>
            </a:r>
            <a:r>
              <a:rPr lang="en-CA" sz="1100" i="1" dirty="0">
                <a:latin typeface="Helvetica" pitchFamily="2" charset="0"/>
              </a:rPr>
              <a:t> &lt;- </a:t>
            </a:r>
            <a:r>
              <a:rPr lang="en-CA" sz="1100" i="1" dirty="0" err="1">
                <a:latin typeface="Helvetica" pitchFamily="2" charset="0"/>
              </a:rPr>
              <a:t>data.frame</a:t>
            </a:r>
            <a:r>
              <a:rPr lang="en-CA" sz="1100" i="1" dirty="0">
                <a:latin typeface="Helvetica" pitchFamily="2" charset="0"/>
              </a:rPr>
              <a:t>(predict(</a:t>
            </a:r>
            <a:r>
              <a:rPr lang="en-CA" sz="1100" i="1" dirty="0" err="1">
                <a:latin typeface="Helvetica" pitchFamily="2" charset="0"/>
              </a:rPr>
              <a:t>dummies.train</a:t>
            </a:r>
            <a:r>
              <a:rPr lang="en-CA" sz="1100" i="1" dirty="0">
                <a:latin typeface="Helvetica" pitchFamily="2" charset="0"/>
              </a:rPr>
              <a:t>, </a:t>
            </a:r>
            <a:r>
              <a:rPr lang="en-CA" sz="1100" i="1" dirty="0" err="1">
                <a:latin typeface="Helvetica" pitchFamily="2" charset="0"/>
              </a:rPr>
              <a:t>newdata</a:t>
            </a:r>
            <a:r>
              <a:rPr lang="en-CA" sz="1100" i="1" dirty="0">
                <a:latin typeface="Helvetica" pitchFamily="2" charset="0"/>
              </a:rPr>
              <a:t> = train))</a:t>
            </a:r>
          </a:p>
          <a:p>
            <a:r>
              <a:rPr lang="en-CA" sz="1100" i="1" dirty="0" err="1">
                <a:latin typeface="Helvetica" pitchFamily="2" charset="0"/>
              </a:rPr>
              <a:t>x.test.knn</a:t>
            </a:r>
            <a:r>
              <a:rPr lang="en-CA" sz="1100" i="1" dirty="0">
                <a:latin typeface="Helvetica" pitchFamily="2" charset="0"/>
              </a:rPr>
              <a:t> &lt;- </a:t>
            </a:r>
            <a:r>
              <a:rPr lang="en-CA" sz="1100" i="1" dirty="0" err="1">
                <a:latin typeface="Helvetica" pitchFamily="2" charset="0"/>
              </a:rPr>
              <a:t>data.frame</a:t>
            </a:r>
            <a:r>
              <a:rPr lang="en-CA" sz="1100" i="1" dirty="0">
                <a:latin typeface="Helvetica" pitchFamily="2" charset="0"/>
              </a:rPr>
              <a:t>(predict(</a:t>
            </a:r>
            <a:r>
              <a:rPr lang="en-CA" sz="1100" i="1" dirty="0" err="1">
                <a:latin typeface="Helvetica" pitchFamily="2" charset="0"/>
              </a:rPr>
              <a:t>dummies.test</a:t>
            </a:r>
            <a:r>
              <a:rPr lang="en-CA" sz="1100" i="1" dirty="0">
                <a:latin typeface="Helvetica" pitchFamily="2" charset="0"/>
              </a:rPr>
              <a:t>, </a:t>
            </a:r>
            <a:r>
              <a:rPr lang="en-CA" sz="1100" i="1" dirty="0" err="1">
                <a:latin typeface="Helvetica" pitchFamily="2" charset="0"/>
              </a:rPr>
              <a:t>newdata</a:t>
            </a:r>
            <a:r>
              <a:rPr lang="en-CA" sz="1100" i="1" dirty="0">
                <a:latin typeface="Helvetica" pitchFamily="2" charset="0"/>
              </a:rPr>
              <a:t> = test))</a:t>
            </a:r>
          </a:p>
          <a:p>
            <a:r>
              <a:rPr lang="en-CA" sz="1100" b="1" dirty="0">
                <a:solidFill>
                  <a:srgbClr val="EAAA00"/>
                </a:solidFill>
                <a:latin typeface="Helvetica" pitchFamily="2" charset="0"/>
              </a:rPr>
              <a:t>## Use leave-one-out cross-validation to find the optimal value of "k"</a:t>
            </a:r>
          </a:p>
          <a:p>
            <a:r>
              <a:rPr lang="en-CA" sz="1100" dirty="0">
                <a:latin typeface="Helvetica" pitchFamily="2" charset="0"/>
              </a:rPr>
              <a:t>(</a:t>
            </a:r>
            <a:r>
              <a:rPr lang="en-CA" sz="1100" dirty="0" err="1">
                <a:latin typeface="Helvetica" pitchFamily="2" charset="0"/>
              </a:rPr>
              <a:t>kknn.train</a:t>
            </a:r>
            <a:r>
              <a:rPr lang="en-CA" sz="1100" dirty="0">
                <a:latin typeface="Helvetica" pitchFamily="2" charset="0"/>
              </a:rPr>
              <a:t> &lt;- </a:t>
            </a:r>
            <a:r>
              <a:rPr lang="en-CA" sz="1100" dirty="0" err="1">
                <a:latin typeface="Helvetica" pitchFamily="2" charset="0"/>
              </a:rPr>
              <a:t>train.kknn</a:t>
            </a:r>
            <a:r>
              <a:rPr lang="en-CA" sz="1100" dirty="0">
                <a:latin typeface="Helvetica" pitchFamily="2" charset="0"/>
              </a:rPr>
              <a:t>(</a:t>
            </a:r>
            <a:r>
              <a:rPr lang="en-CA" sz="1100" dirty="0" err="1">
                <a:latin typeface="Helvetica" pitchFamily="2" charset="0"/>
              </a:rPr>
              <a:t>y.train</a:t>
            </a:r>
            <a:r>
              <a:rPr lang="en-CA" sz="1100" dirty="0">
                <a:latin typeface="Helvetica" pitchFamily="2" charset="0"/>
              </a:rPr>
              <a:t> ~ ., </a:t>
            </a:r>
            <a:r>
              <a:rPr lang="en-CA" sz="1100" dirty="0" err="1">
                <a:latin typeface="Helvetica" pitchFamily="2" charset="0"/>
              </a:rPr>
              <a:t>x.train.knn</a:t>
            </a:r>
            <a:r>
              <a:rPr lang="en-CA" sz="1100" dirty="0">
                <a:latin typeface="Helvetica" pitchFamily="2" charset="0"/>
              </a:rPr>
              <a:t>, </a:t>
            </a:r>
            <a:r>
              <a:rPr lang="en-CA" sz="1100" dirty="0" err="1">
                <a:latin typeface="Helvetica" pitchFamily="2" charset="0"/>
              </a:rPr>
              <a:t>kmax</a:t>
            </a:r>
            <a:r>
              <a:rPr lang="en-CA" sz="1100" dirty="0">
                <a:latin typeface="Helvetica" pitchFamily="2" charset="0"/>
              </a:rPr>
              <a:t> = 50, </a:t>
            </a:r>
          </a:p>
          <a:p>
            <a:r>
              <a:rPr lang="en-CA" sz="1100" i="1" dirty="0">
                <a:latin typeface="Helvetica" pitchFamily="2" charset="0"/>
              </a:rPr>
              <a:t>       kernel = c("triangular", "rectangular",</a:t>
            </a:r>
          </a:p>
          <a:p>
            <a:r>
              <a:rPr lang="en-CA" sz="1100" i="1" dirty="0">
                <a:latin typeface="Helvetica" pitchFamily="2" charset="0"/>
              </a:rPr>
              <a:t>                     "</a:t>
            </a:r>
            <a:r>
              <a:rPr lang="en-CA" sz="1100" i="1" dirty="0" err="1">
                <a:latin typeface="Helvetica" pitchFamily="2" charset="0"/>
              </a:rPr>
              <a:t>epanechnikov</a:t>
            </a:r>
            <a:r>
              <a:rPr lang="en-CA" sz="1100" i="1" dirty="0">
                <a:latin typeface="Helvetica" pitchFamily="2" charset="0"/>
              </a:rPr>
              <a:t>", "optimal"),</a:t>
            </a:r>
          </a:p>
          <a:p>
            <a:r>
              <a:rPr lang="en-CA" sz="1100" i="1" dirty="0">
                <a:latin typeface="Helvetica" pitchFamily="2" charset="0"/>
              </a:rPr>
              <a:t>                      scale = TRUE))</a:t>
            </a:r>
          </a:p>
          <a:p>
            <a:r>
              <a:rPr lang="en-CA" sz="1100" b="1" dirty="0">
                <a:solidFill>
                  <a:srgbClr val="EAAA00"/>
                </a:solidFill>
                <a:latin typeface="Helvetica" pitchFamily="2" charset="0"/>
              </a:rPr>
              <a:t>## Plot of </a:t>
            </a:r>
            <a:r>
              <a:rPr lang="en-CA" sz="1100" b="1" dirty="0" err="1">
                <a:solidFill>
                  <a:srgbClr val="EAAA00"/>
                </a:solidFill>
                <a:latin typeface="Helvetica" pitchFamily="2" charset="0"/>
              </a:rPr>
              <a:t>missclassification</a:t>
            </a:r>
            <a:r>
              <a:rPr lang="en-CA" sz="1100" b="1" dirty="0">
                <a:solidFill>
                  <a:srgbClr val="EAAA00"/>
                </a:solidFill>
                <a:latin typeface="Helvetica" pitchFamily="2" charset="0"/>
              </a:rPr>
              <a:t> errors vs. k for different kernels</a:t>
            </a:r>
          </a:p>
          <a:p>
            <a:r>
              <a:rPr lang="en-CA" sz="1100" i="1" dirty="0">
                <a:latin typeface="Helvetica" pitchFamily="2" charset="0"/>
              </a:rPr>
              <a:t>plot(</a:t>
            </a:r>
            <a:r>
              <a:rPr lang="en-CA" sz="1100" i="1" dirty="0" err="1">
                <a:latin typeface="Helvetica" pitchFamily="2" charset="0"/>
              </a:rPr>
              <a:t>kknn.train</a:t>
            </a:r>
            <a:r>
              <a:rPr lang="en-CA" sz="1100" i="1" dirty="0">
                <a:latin typeface="Helvetica" pitchFamily="2" charset="0"/>
              </a:rPr>
              <a:t>)</a:t>
            </a:r>
          </a:p>
        </p:txBody>
      </p:sp>
    </p:spTree>
    <p:custDataLst>
      <p:tags r:id="rId1"/>
    </p:custDataLst>
    <p:extLst>
      <p:ext uri="{BB962C8B-B14F-4D97-AF65-F5344CB8AC3E}">
        <p14:creationId xmlns:p14="http://schemas.microsoft.com/office/powerpoint/2010/main" val="117562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325" y="153298"/>
            <a:ext cx="8562392" cy="599261"/>
          </a:xfrm>
        </p:spPr>
        <p:txBody>
          <a:bodyPr/>
          <a:lstStyle/>
          <a:p>
            <a:r>
              <a:rPr kumimoji="1" lang="en-US" altLang="zh-CN" sz="3600" dirty="0">
                <a:latin typeface="Vitesse"/>
              </a:rPr>
              <a:t>K Nearest Neighbors (KNN): Fitting</a:t>
            </a:r>
            <a:endParaRPr kumimoji="1" lang="zh-CN" altLang="en-US" sz="3600" dirty="0">
              <a:latin typeface="Vitesse"/>
            </a:endParaRPr>
          </a:p>
        </p:txBody>
      </p:sp>
      <p:sp>
        <p:nvSpPr>
          <p:cNvPr id="13" name="Rectangle 12">
            <a:extLst>
              <a:ext uri="{FF2B5EF4-FFF2-40B4-BE49-F238E27FC236}">
                <a16:creationId xmlns:a16="http://schemas.microsoft.com/office/drawing/2014/main" xmlns="" id="{AD31B3BF-7726-184E-A700-ABD4B294030B}"/>
              </a:ext>
            </a:extLst>
          </p:cNvPr>
          <p:cNvSpPr/>
          <p:nvPr/>
        </p:nvSpPr>
        <p:spPr>
          <a:xfrm>
            <a:off x="98600" y="770176"/>
            <a:ext cx="4497676" cy="2554545"/>
          </a:xfrm>
          <a:prstGeom prst="rect">
            <a:avLst/>
          </a:prstGeom>
        </p:spPr>
        <p:txBody>
          <a:bodyPr wrap="square">
            <a:spAutoFit/>
          </a:bodyPr>
          <a:lstStyle/>
          <a:p>
            <a:r>
              <a:rPr lang="en-CA" sz="1600" b="1" dirty="0">
                <a:solidFill>
                  <a:srgbClr val="EAAA00"/>
                </a:solidFill>
                <a:latin typeface="Helvetica" pitchFamily="2" charset="0"/>
              </a:rPr>
              <a:t>Leave-one-out CV</a:t>
            </a:r>
          </a:p>
          <a:p>
            <a:pPr marL="342900" indent="-342900">
              <a:buFont typeface="Arial" panose="020B0604020202020204" pitchFamily="34" charset="0"/>
              <a:buChar char="•"/>
            </a:pPr>
            <a:r>
              <a:rPr lang="en-CA" sz="1600" dirty="0">
                <a:latin typeface="Helvetica" pitchFamily="2" charset="0"/>
              </a:rPr>
              <a:t>Leave one data point out and fit a KNN model given the kernel (uniform, triangle etc.) and the value of parameter K</a:t>
            </a:r>
          </a:p>
          <a:p>
            <a:pPr marL="342900" indent="-342900">
              <a:buFont typeface="Arial" panose="020B0604020202020204" pitchFamily="34" charset="0"/>
              <a:buChar char="•"/>
            </a:pPr>
            <a:r>
              <a:rPr lang="en-CA" sz="1600" dirty="0">
                <a:latin typeface="Helvetica" pitchFamily="2" charset="0"/>
              </a:rPr>
              <a:t>Find whether the model classifies the data point correctly</a:t>
            </a:r>
          </a:p>
          <a:p>
            <a:pPr marL="342900" indent="-342900">
              <a:buFont typeface="Arial" panose="020B0604020202020204" pitchFamily="34" charset="0"/>
              <a:buChar char="•"/>
            </a:pPr>
            <a:r>
              <a:rPr lang="en-CA" sz="1600" dirty="0">
                <a:latin typeface="Helvetica" pitchFamily="2" charset="0"/>
              </a:rPr>
              <a:t>Apply the same method for all data points</a:t>
            </a:r>
          </a:p>
          <a:p>
            <a:pPr marL="342900" indent="-342900">
              <a:buFont typeface="Arial" panose="020B0604020202020204" pitchFamily="34" charset="0"/>
              <a:buChar char="•"/>
            </a:pPr>
            <a:r>
              <a:rPr lang="en-CA" sz="1600" dirty="0">
                <a:latin typeface="Helvetica" pitchFamily="2" charset="0"/>
              </a:rPr>
              <a:t>Find the misclassification rate = incorrectly classified data points / number of all data points</a:t>
            </a:r>
          </a:p>
        </p:txBody>
      </p:sp>
      <p:sp>
        <p:nvSpPr>
          <p:cNvPr id="11" name="TextBox 10">
            <a:extLst>
              <a:ext uri="{FF2B5EF4-FFF2-40B4-BE49-F238E27FC236}">
                <a16:creationId xmlns:a16="http://schemas.microsoft.com/office/drawing/2014/main" xmlns="" id="{85DAE2B8-6609-424E-820C-8AD469C6902D}"/>
              </a:ext>
            </a:extLst>
          </p:cNvPr>
          <p:cNvSpPr txBox="1"/>
          <p:nvPr/>
        </p:nvSpPr>
        <p:spPr>
          <a:xfrm>
            <a:off x="5165204" y="4107364"/>
            <a:ext cx="3750196" cy="307777"/>
          </a:xfrm>
          <a:prstGeom prst="rect">
            <a:avLst/>
          </a:prstGeom>
          <a:noFill/>
          <a:ln w="19050">
            <a:solidFill>
              <a:schemeClr val="tx2"/>
            </a:solidFill>
          </a:ln>
        </p:spPr>
        <p:txBody>
          <a:bodyPr wrap="square" rtlCol="0">
            <a:spAutoFit/>
          </a:bodyPr>
          <a:lstStyle/>
          <a:p>
            <a:r>
              <a:rPr lang="en-CA" sz="1400" dirty="0">
                <a:latin typeface="Helvetica" pitchFamily="2" charset="0"/>
              </a:rPr>
              <a:t>Optimal K = 31 and kernel = rectangular</a:t>
            </a:r>
          </a:p>
        </p:txBody>
      </p:sp>
      <p:pic>
        <p:nvPicPr>
          <p:cNvPr id="17" name="Picture 16" descr="A picture containing map, screenshot&#10;&#10;Description automatically generated">
            <a:extLst>
              <a:ext uri="{FF2B5EF4-FFF2-40B4-BE49-F238E27FC236}">
                <a16:creationId xmlns:a16="http://schemas.microsoft.com/office/drawing/2014/main" xmlns="" id="{CD08E8A1-B138-A442-B9E0-948D46BE48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65204" y="866859"/>
            <a:ext cx="3750196" cy="3050094"/>
          </a:xfrm>
          <a:prstGeom prst="rect">
            <a:avLst/>
          </a:prstGeom>
          <a:ln w="19050">
            <a:solidFill>
              <a:schemeClr val="tx2"/>
            </a:solidFill>
          </a:ln>
        </p:spPr>
      </p:pic>
    </p:spTree>
    <p:custDataLst>
      <p:tags r:id="rId1"/>
    </p:custDataLst>
    <p:extLst>
      <p:ext uri="{BB962C8B-B14F-4D97-AF65-F5344CB8AC3E}">
        <p14:creationId xmlns:p14="http://schemas.microsoft.com/office/powerpoint/2010/main" val="2992923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8DF77EB1-FB9E-4427-9888-A25EBC57D4F1}"/>
              </a:ext>
            </a:extLst>
          </p:cNvPr>
          <p:cNvSpPr txBox="1"/>
          <p:nvPr/>
        </p:nvSpPr>
        <p:spPr>
          <a:xfrm>
            <a:off x="13945" y="683534"/>
            <a:ext cx="4566147" cy="1477328"/>
          </a:xfrm>
          <a:prstGeom prst="rect">
            <a:avLst/>
          </a:prstGeom>
          <a:noFill/>
          <a:ln w="19050">
            <a:noFill/>
          </a:ln>
        </p:spPr>
        <p:txBody>
          <a:bodyPr wrap="square" lIns="182880" tIns="182880" rIns="182880" bIns="182880" rtlCol="0">
            <a:spAutoFit/>
          </a:bodyPr>
          <a:lstStyle/>
          <a:p>
            <a:r>
              <a:rPr lang="en-US" sz="1200" b="1" dirty="0">
                <a:solidFill>
                  <a:srgbClr val="EAAA00"/>
                </a:solidFill>
                <a:latin typeface="Helvetica" charset="0"/>
                <a:ea typeface="Helvetica" charset="0"/>
                <a:cs typeface="Helvetica" charset="0"/>
              </a:rPr>
              <a:t># Predict the labels on the test set using Rectangular kernels and K=31	</a:t>
            </a:r>
          </a:p>
          <a:p>
            <a:r>
              <a:rPr lang="en-US" sz="1200" i="1" dirty="0" err="1">
                <a:latin typeface="Helvetica" charset="0"/>
                <a:ea typeface="Helvetica" charset="0"/>
                <a:cs typeface="Helvetica" charset="0"/>
              </a:rPr>
              <a:t>pred.knn</a:t>
            </a:r>
            <a:r>
              <a:rPr lang="en-US" sz="1200" i="1" dirty="0">
                <a:latin typeface="Helvetica" charset="0"/>
                <a:ea typeface="Helvetica" charset="0"/>
                <a:cs typeface="Helvetica" charset="0"/>
              </a:rPr>
              <a:t> &lt;- predict(</a:t>
            </a:r>
            <a:r>
              <a:rPr lang="en-US" sz="1200" i="1" dirty="0" err="1">
                <a:latin typeface="Helvetica" charset="0"/>
                <a:ea typeface="Helvetica" charset="0"/>
                <a:cs typeface="Helvetica" charset="0"/>
              </a:rPr>
              <a:t>kknn.train</a:t>
            </a:r>
            <a:r>
              <a:rPr lang="en-US" sz="1200" i="1" dirty="0">
                <a:latin typeface="Helvetica" charset="0"/>
                <a:ea typeface="Helvetica" charset="0"/>
                <a:cs typeface="Helvetica" charset="0"/>
              </a:rPr>
              <a:t>, </a:t>
            </a:r>
            <a:r>
              <a:rPr lang="en-US" sz="1200" i="1" dirty="0" err="1">
                <a:latin typeface="Helvetica" charset="0"/>
                <a:ea typeface="Helvetica" charset="0"/>
                <a:cs typeface="Helvetica" charset="0"/>
              </a:rPr>
              <a:t>x.test.knn</a:t>
            </a:r>
            <a:r>
              <a:rPr lang="en-US" sz="1200" i="1" dirty="0">
                <a:latin typeface="Helvetica" charset="0"/>
                <a:ea typeface="Helvetica" charset="0"/>
                <a:cs typeface="Helvetica" charset="0"/>
              </a:rPr>
              <a:t>)</a:t>
            </a:r>
          </a:p>
          <a:p>
            <a:endParaRPr lang="en-US" sz="1200" b="1" dirty="0">
              <a:latin typeface="Helvetica" charset="0"/>
              <a:ea typeface="Helvetica" charset="0"/>
              <a:cs typeface="Helvetica" charset="0"/>
            </a:endParaRPr>
          </a:p>
          <a:p>
            <a:r>
              <a:rPr lang="en-US" sz="1200" b="1" dirty="0">
                <a:solidFill>
                  <a:srgbClr val="EAAA00"/>
                </a:solidFill>
                <a:latin typeface="Helvetica" charset="0"/>
                <a:ea typeface="Helvetica" charset="0"/>
                <a:cs typeface="Helvetica" charset="0"/>
              </a:rPr>
              <a:t>#  Calculate classification Evaluation Metrics</a:t>
            </a:r>
          </a:p>
          <a:p>
            <a:r>
              <a:rPr lang="en-US" sz="1200" i="1" dirty="0" err="1">
                <a:latin typeface="Helvetica" charset="0"/>
                <a:ea typeface="Helvetica" charset="0"/>
                <a:cs typeface="Helvetica" charset="0"/>
              </a:rPr>
              <a:t>pred_metrics</a:t>
            </a:r>
            <a:r>
              <a:rPr lang="en-US" sz="1200" i="1" dirty="0">
                <a:latin typeface="Helvetica" charset="0"/>
                <a:ea typeface="Helvetica" charset="0"/>
                <a:cs typeface="Helvetica" charset="0"/>
              </a:rPr>
              <a:t>("KNN", </a:t>
            </a:r>
            <a:r>
              <a:rPr lang="en-US" sz="1200" i="1" dirty="0" err="1">
                <a:latin typeface="Helvetica" charset="0"/>
                <a:ea typeface="Helvetica" charset="0"/>
                <a:cs typeface="Helvetica" charset="0"/>
              </a:rPr>
              <a:t>y.test</a:t>
            </a:r>
            <a:r>
              <a:rPr lang="en-US" sz="1200" i="1" dirty="0">
                <a:latin typeface="Helvetica" charset="0"/>
                <a:ea typeface="Helvetica" charset="0"/>
                <a:cs typeface="Helvetica" charset="0"/>
              </a:rPr>
              <a:t>, </a:t>
            </a:r>
            <a:r>
              <a:rPr lang="en-US" sz="1200" i="1" dirty="0" err="1">
                <a:latin typeface="Helvetica" charset="0"/>
                <a:ea typeface="Helvetica" charset="0"/>
                <a:cs typeface="Helvetica" charset="0"/>
              </a:rPr>
              <a:t>pred.knn</a:t>
            </a:r>
            <a:r>
              <a:rPr lang="en-US" sz="1200" i="1" dirty="0">
                <a:latin typeface="Helvetica" charset="0"/>
                <a:ea typeface="Helvetica" charset="0"/>
                <a:cs typeface="Helvetica" charset="0"/>
              </a:rPr>
              <a:t>)</a:t>
            </a:r>
          </a:p>
        </p:txBody>
      </p:sp>
      <p:graphicFrame>
        <p:nvGraphicFramePr>
          <p:cNvPr id="3" name="Table 2">
            <a:extLst>
              <a:ext uri="{FF2B5EF4-FFF2-40B4-BE49-F238E27FC236}">
                <a16:creationId xmlns:a16="http://schemas.microsoft.com/office/drawing/2014/main" xmlns="" id="{1D887C35-A1E6-3842-86E5-16C6495ADD27}"/>
              </a:ext>
            </a:extLst>
          </p:cNvPr>
          <p:cNvGraphicFramePr>
            <a:graphicFrameLocks noGrp="1"/>
          </p:cNvGraphicFramePr>
          <p:nvPr>
            <p:extLst>
              <p:ext uri="{D42A27DB-BD31-4B8C-83A1-F6EECF244321}">
                <p14:modId xmlns:p14="http://schemas.microsoft.com/office/powerpoint/2010/main" val="1305169234"/>
              </p:ext>
            </p:extLst>
          </p:nvPr>
        </p:nvGraphicFramePr>
        <p:xfrm>
          <a:off x="522274" y="2356872"/>
          <a:ext cx="2803553" cy="577215"/>
        </p:xfrm>
        <a:graphic>
          <a:graphicData uri="http://schemas.openxmlformats.org/drawingml/2006/table">
            <a:tbl>
              <a:tblPr>
                <a:tableStyleId>{5C22544A-7EE6-4342-B048-85BDC9FD1C3A}</a:tableStyleId>
              </a:tblPr>
              <a:tblGrid>
                <a:gridCol w="929454">
                  <a:extLst>
                    <a:ext uri="{9D8B030D-6E8A-4147-A177-3AD203B41FA5}">
                      <a16:colId xmlns:a16="http://schemas.microsoft.com/office/drawing/2014/main" xmlns="" val="4247053731"/>
                    </a:ext>
                  </a:extLst>
                </a:gridCol>
                <a:gridCol w="1050079">
                  <a:extLst>
                    <a:ext uri="{9D8B030D-6E8A-4147-A177-3AD203B41FA5}">
                      <a16:colId xmlns:a16="http://schemas.microsoft.com/office/drawing/2014/main" xmlns="" val="3716314621"/>
                    </a:ext>
                  </a:extLst>
                </a:gridCol>
                <a:gridCol w="824020">
                  <a:extLst>
                    <a:ext uri="{9D8B030D-6E8A-4147-A177-3AD203B41FA5}">
                      <a16:colId xmlns:a16="http://schemas.microsoft.com/office/drawing/2014/main" xmlns="" val="2771723532"/>
                    </a:ext>
                  </a:extLst>
                </a:gridCol>
              </a:tblGrid>
              <a:tr h="128929">
                <a:tc gridSpan="3">
                  <a:txBody>
                    <a:bodyPr/>
                    <a:lstStyle/>
                    <a:p>
                      <a:pPr algn="ctr" fontAlgn="b"/>
                      <a:r>
                        <a:rPr lang="en-US" sz="1200" u="none" strike="noStrike" dirty="0">
                          <a:effectLst/>
                          <a:latin typeface="Helvetica" panose="020B0604020202020204" pitchFamily="34" charset="0"/>
                          <a:cs typeface="Helvetica" panose="020B0604020202020204" pitchFamily="34" charset="0"/>
                        </a:rPr>
                        <a:t>KNN</a:t>
                      </a:r>
                      <a:endParaRPr lang="en-US" sz="12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xmlns="" val="429422045"/>
                  </a:ext>
                </a:extLst>
              </a:tr>
              <a:tr h="190500">
                <a:tc>
                  <a:txBody>
                    <a:bodyPr/>
                    <a:lstStyle/>
                    <a:p>
                      <a:pPr algn="l" fontAlgn="b"/>
                      <a:r>
                        <a:rPr lang="en-US" sz="1200" u="none" strike="noStrike" dirty="0">
                          <a:effectLst/>
                          <a:latin typeface="Helvetica" panose="020B0604020202020204" pitchFamily="34" charset="0"/>
                          <a:cs typeface="Helvetica" panose="020B0604020202020204" pitchFamily="34" charset="0"/>
                        </a:rPr>
                        <a:t>Accuracy</a:t>
                      </a:r>
                      <a:endParaRPr lang="en-US" sz="12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l" fontAlgn="b"/>
                      <a:r>
                        <a:rPr lang="en-US" sz="1200" u="none" strike="noStrike" dirty="0">
                          <a:effectLst/>
                          <a:latin typeface="Helvetica" panose="020B0604020202020204" pitchFamily="34" charset="0"/>
                          <a:cs typeface="Helvetica" panose="020B0604020202020204" pitchFamily="34" charset="0"/>
                        </a:rPr>
                        <a:t> Sensitivity </a:t>
                      </a:r>
                      <a:endParaRPr lang="en-US" sz="12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l" fontAlgn="b"/>
                      <a:r>
                        <a:rPr lang="en-US" sz="1200" u="none" strike="noStrike" dirty="0">
                          <a:effectLst/>
                          <a:latin typeface="Helvetica" panose="020B0604020202020204" pitchFamily="34" charset="0"/>
                          <a:cs typeface="Helvetica" panose="020B0604020202020204" pitchFamily="34" charset="0"/>
                        </a:rPr>
                        <a:t>Specificity </a:t>
                      </a:r>
                      <a:endParaRPr lang="en-US" sz="12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2943890798"/>
                  </a:ext>
                </a:extLst>
              </a:tr>
              <a:tr h="190500">
                <a:tc>
                  <a:txBody>
                    <a:bodyPr/>
                    <a:lstStyle/>
                    <a:p>
                      <a:pPr algn="l" fontAlgn="b"/>
                      <a:r>
                        <a:rPr lang="x-none" sz="1200" u="none" strike="noStrike">
                          <a:effectLst/>
                          <a:latin typeface="Helvetica" panose="020B0604020202020204" pitchFamily="34" charset="0"/>
                          <a:cs typeface="Helvetica" panose="020B0604020202020204" pitchFamily="34" charset="0"/>
                        </a:rPr>
                        <a:t>0.7957907</a:t>
                      </a:r>
                      <a:endParaRPr lang="x-none" sz="12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l" fontAlgn="b"/>
                      <a:r>
                        <a:rPr lang="x-none" sz="1200" u="none" strike="noStrike" dirty="0">
                          <a:effectLst/>
                          <a:latin typeface="Helvetica" panose="020B0604020202020204" pitchFamily="34" charset="0"/>
                          <a:cs typeface="Helvetica" panose="020B0604020202020204" pitchFamily="34" charset="0"/>
                        </a:rPr>
                        <a:t>0.8606811</a:t>
                      </a:r>
                      <a:endParaRPr lang="x-none" sz="12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l" fontAlgn="b"/>
                      <a:r>
                        <a:rPr lang="x-none" sz="1200" u="none" strike="noStrike" dirty="0">
                          <a:effectLst/>
                          <a:latin typeface="Helvetica" panose="020B0604020202020204" pitchFamily="34" charset="0"/>
                          <a:cs typeface="Helvetica" panose="020B0604020202020204" pitchFamily="34" charset="0"/>
                        </a:rPr>
                        <a:t>0.6158798</a:t>
                      </a:r>
                      <a:endParaRPr lang="x-none" sz="12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2789933849"/>
                  </a:ext>
                </a:extLst>
              </a:tr>
            </a:tbl>
          </a:graphicData>
        </a:graphic>
      </p:graphicFrame>
      <p:sp>
        <p:nvSpPr>
          <p:cNvPr id="8" name="TextBox 7">
            <a:extLst>
              <a:ext uri="{FF2B5EF4-FFF2-40B4-BE49-F238E27FC236}">
                <a16:creationId xmlns:a16="http://schemas.microsoft.com/office/drawing/2014/main" xmlns="" id="{4F1EF7AA-5FF5-224B-8AC0-C44FE31A1567}"/>
              </a:ext>
            </a:extLst>
          </p:cNvPr>
          <p:cNvSpPr txBox="1"/>
          <p:nvPr/>
        </p:nvSpPr>
        <p:spPr>
          <a:xfrm>
            <a:off x="5151599" y="919427"/>
            <a:ext cx="3763801" cy="1077218"/>
          </a:xfrm>
          <a:prstGeom prst="rect">
            <a:avLst/>
          </a:prstGeom>
          <a:noFill/>
          <a:ln w="19050">
            <a:solidFill>
              <a:schemeClr val="tx2"/>
            </a:solidFill>
          </a:ln>
        </p:spPr>
        <p:txBody>
          <a:bodyPr wrap="square" rtlCol="0">
            <a:spAutoFit/>
          </a:bodyPr>
          <a:lstStyle/>
          <a:p>
            <a:r>
              <a:rPr lang="en-CA" sz="1600" dirty="0">
                <a:latin typeface="Helvetica" pitchFamily="2" charset="0"/>
              </a:rPr>
              <a:t>Chosen KNN model is more successful in identifying the people who churn compared to identifying people who do not churn. </a:t>
            </a:r>
          </a:p>
        </p:txBody>
      </p:sp>
      <p:sp>
        <p:nvSpPr>
          <p:cNvPr id="15" name="标题 1">
            <a:extLst>
              <a:ext uri="{FF2B5EF4-FFF2-40B4-BE49-F238E27FC236}">
                <a16:creationId xmlns:a16="http://schemas.microsoft.com/office/drawing/2014/main" xmlns="" id="{9F20E32E-DCB8-334E-9804-F4B0626BDE5A}"/>
              </a:ext>
            </a:extLst>
          </p:cNvPr>
          <p:cNvSpPr txBox="1">
            <a:spLocks/>
          </p:cNvSpPr>
          <p:nvPr/>
        </p:nvSpPr>
        <p:spPr>
          <a:xfrm>
            <a:off x="74325" y="153298"/>
            <a:ext cx="8562392" cy="599261"/>
          </a:xfrm>
          <a:prstGeom prst="rect">
            <a:avLst/>
          </a:prstGeom>
        </p:spPr>
        <p:txBody>
          <a:bodyPr/>
          <a:lstStyle>
            <a:lvl1pPr algn="l" defTabSz="457200" rtl="0" eaLnBrk="1" latinLnBrk="0" hangingPunct="1">
              <a:spcBef>
                <a:spcPct val="0"/>
              </a:spcBef>
              <a:buNone/>
              <a:defRPr lang="en-US" sz="3200" kern="1200" dirty="0">
                <a:solidFill>
                  <a:schemeClr val="tx1"/>
                </a:solidFill>
                <a:latin typeface="Vitesse Bold"/>
                <a:ea typeface="+mj-ea"/>
                <a:cs typeface="Vitesse Bold"/>
              </a:defRPr>
            </a:lvl1pPr>
          </a:lstStyle>
          <a:p>
            <a:r>
              <a:rPr kumimoji="1" lang="en-US" altLang="zh-CN" sz="3600" dirty="0">
                <a:latin typeface="Vitesse"/>
              </a:rPr>
              <a:t>K Nearest Neighbors (KNN): Prediction</a:t>
            </a:r>
          </a:p>
        </p:txBody>
      </p:sp>
    </p:spTree>
    <p:custDataLst>
      <p:tags r:id="rId1"/>
    </p:custDataLst>
    <p:extLst>
      <p:ext uri="{BB962C8B-B14F-4D97-AF65-F5344CB8AC3E}">
        <p14:creationId xmlns:p14="http://schemas.microsoft.com/office/powerpoint/2010/main" val="695954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233" y="145206"/>
            <a:ext cx="8562392" cy="631629"/>
          </a:xfrm>
        </p:spPr>
        <p:txBody>
          <a:bodyPr/>
          <a:lstStyle/>
          <a:p>
            <a:r>
              <a:rPr kumimoji="1" lang="en-US" altLang="zh-CN" sz="3600" dirty="0">
                <a:latin typeface="Vitesse"/>
              </a:rPr>
              <a:t>Decision Trees: Introduction</a:t>
            </a:r>
            <a:endParaRPr kumimoji="1" lang="zh-CN" altLang="en-US" sz="3600" dirty="0">
              <a:latin typeface="Vitesse"/>
            </a:endParaRPr>
          </a:p>
        </p:txBody>
      </p:sp>
      <p:pic>
        <p:nvPicPr>
          <p:cNvPr id="4" name="Picture 3" descr="A screenshot of a cell phone&#10;&#10;Description automatically generated">
            <a:extLst>
              <a:ext uri="{FF2B5EF4-FFF2-40B4-BE49-F238E27FC236}">
                <a16:creationId xmlns:a16="http://schemas.microsoft.com/office/drawing/2014/main" xmlns="" id="{8680DD35-8297-7747-BAB5-24DDFAD9FC08}"/>
              </a:ext>
            </a:extLst>
          </p:cNvPr>
          <p:cNvPicPr>
            <a:picLocks noChangeAspect="1"/>
          </p:cNvPicPr>
          <p:nvPr/>
        </p:nvPicPr>
        <p:blipFill rotWithShape="1">
          <a:blip r:embed="rId4">
            <a:extLst>
              <a:ext uri="{28A0092B-C50C-407E-A947-70E740481C1C}">
                <a14:useLocalDpi xmlns:a14="http://schemas.microsoft.com/office/drawing/2010/main" val="0"/>
              </a:ext>
            </a:extLst>
          </a:blip>
          <a:srcRect l="8215" t="7151" r="17287" b="7655"/>
          <a:stretch/>
        </p:blipFill>
        <p:spPr>
          <a:xfrm>
            <a:off x="5599689" y="849663"/>
            <a:ext cx="2762418" cy="274295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5B438D02-6BD5-F24C-A757-96B01D71BFF9}"/>
                  </a:ext>
                </a:extLst>
              </p:cNvPr>
              <p:cNvSpPr txBox="1"/>
              <p:nvPr/>
            </p:nvSpPr>
            <p:spPr>
              <a:xfrm>
                <a:off x="5599689" y="3673781"/>
                <a:ext cx="2762418" cy="523220"/>
              </a:xfrm>
              <a:prstGeom prst="rect">
                <a:avLst/>
              </a:prstGeom>
              <a:noFill/>
              <a:ln w="19050">
                <a:solidFill>
                  <a:schemeClr val="tx2"/>
                </a:solidFill>
              </a:ln>
            </p:spPr>
            <p:txBody>
              <a:bodyPr wrap="square" rtlCol="0">
                <a:spAutoFit/>
              </a:bodyPr>
              <a:lstStyle/>
              <a:p>
                <a:r>
                  <a:rPr lang="en-CA" sz="1400" dirty="0">
                    <a:latin typeface="Helvetica" pitchFamily="2" charset="0"/>
                  </a:rPr>
                  <a:t>Partitioning in a feature space</a:t>
                </a:r>
                <a14:m>
                  <m:oMath xmlns:m="http://schemas.openxmlformats.org/officeDocument/2006/math">
                    <m:r>
                      <a:rPr lang="en-US" sz="1400" b="0" i="0" smtClean="0">
                        <a:latin typeface="Cambria Math" panose="02040503050406030204" pitchFamily="18" charset="0"/>
                        <a:ea typeface="Cambria Math" panose="02040503050406030204" pitchFamily="18" charset="0"/>
                      </a:rPr>
                      <m:t> </m:t>
                    </m:r>
                    <m:r>
                      <a:rPr lang="en-CA" sz="1400" i="1" smtClean="0">
                        <a:latin typeface="Cambria Math" panose="02040503050406030204" pitchFamily="18" charset="0"/>
                        <a:ea typeface="Cambria Math" panose="02040503050406030204" pitchFamily="18" charset="0"/>
                      </a:rPr>
                      <m:t>∈</m:t>
                    </m:r>
                    <m:sSup>
                      <m:sSupPr>
                        <m:ctrlPr>
                          <a:rPr lang="en-CA" sz="1400" i="1" smtClean="0">
                            <a:latin typeface="Cambria Math" panose="02040503050406030204" pitchFamily="18" charset="0"/>
                            <a:ea typeface="Cambria Math" panose="02040503050406030204" pitchFamily="18" charset="0"/>
                          </a:rPr>
                        </m:ctrlPr>
                      </m:sSupPr>
                      <m:e>
                        <m:r>
                          <a:rPr lang="en-CA" sz="1400" i="1" smtClean="0">
                            <a:latin typeface="Cambria Math" panose="02040503050406030204" pitchFamily="18" charset="0"/>
                            <a:ea typeface="Cambria Math" panose="02040503050406030204" pitchFamily="18" charset="0"/>
                          </a:rPr>
                          <m:t>ℝ</m:t>
                        </m:r>
                      </m:e>
                      <m:sup>
                        <m:r>
                          <a:rPr lang="en-US" sz="1400" b="0" i="1" smtClean="0">
                            <a:latin typeface="Cambria Math" panose="02040503050406030204" pitchFamily="18" charset="0"/>
                            <a:ea typeface="Cambria Math" panose="02040503050406030204" pitchFamily="18" charset="0"/>
                          </a:rPr>
                          <m:t>2</m:t>
                        </m:r>
                      </m:sup>
                    </m:sSup>
                  </m:oMath>
                </a14:m>
                <a:r>
                  <a:rPr lang="en-CA" sz="1400" dirty="0">
                    <a:latin typeface="Helvetica" pitchFamily="2" charset="0"/>
                  </a:rPr>
                  <a:t> with two features</a:t>
                </a:r>
              </a:p>
            </p:txBody>
          </p:sp>
        </mc:Choice>
        <mc:Fallback xmlns="">
          <p:sp>
            <p:nvSpPr>
              <p:cNvPr id="5" name="TextBox 4">
                <a:extLst>
                  <a:ext uri="{FF2B5EF4-FFF2-40B4-BE49-F238E27FC236}">
                    <a16:creationId xmlns:a16="http://schemas.microsoft.com/office/drawing/2014/main" id="{5B438D02-6BD5-F24C-A757-96B01D71BFF9}"/>
                  </a:ext>
                </a:extLst>
              </p:cNvPr>
              <p:cNvSpPr txBox="1">
                <a:spLocks noRot="1" noChangeAspect="1" noMove="1" noResize="1" noEditPoints="1" noAdjustHandles="1" noChangeArrowheads="1" noChangeShapeType="1" noTextEdit="1"/>
              </p:cNvSpPr>
              <p:nvPr/>
            </p:nvSpPr>
            <p:spPr>
              <a:xfrm>
                <a:off x="5599689" y="3673781"/>
                <a:ext cx="2762418" cy="523220"/>
              </a:xfrm>
              <a:prstGeom prst="rect">
                <a:avLst/>
              </a:prstGeom>
              <a:blipFill>
                <a:blip r:embed="rId5"/>
                <a:stretch>
                  <a:fillRect l="-439" t="-1136" b="-9091"/>
                </a:stretch>
              </a:blipFill>
              <a:ln w="19050">
                <a:solidFill>
                  <a:schemeClr val="tx2"/>
                </a:solid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xmlns="" id="{B0660053-F995-4FC8-BDF9-BC1D4F0A4DE7}"/>
              </a:ext>
            </a:extLst>
          </p:cNvPr>
          <p:cNvSpPr txBox="1"/>
          <p:nvPr/>
        </p:nvSpPr>
        <p:spPr>
          <a:xfrm>
            <a:off x="93252" y="784333"/>
            <a:ext cx="5050247" cy="2154436"/>
          </a:xfrm>
          <a:prstGeom prst="rect">
            <a:avLst/>
          </a:prstGeom>
          <a:noFill/>
        </p:spPr>
        <p:txBody>
          <a:bodyPr wrap="square" rtlCol="0">
            <a:spAutoFit/>
          </a:bodyPr>
          <a:lstStyle/>
          <a:p>
            <a:r>
              <a:rPr lang="en-US" sz="1400" dirty="0">
                <a:latin typeface="Helvetica" panose="020B0604020202020204" pitchFamily="34" charset="0"/>
                <a:cs typeface="Helvetica" panose="020B0604020202020204" pitchFamily="34" charset="0"/>
              </a:rPr>
              <a:t>Decision Trees (DT) are non-parametric supervised learning models used for classification and regression. The goal is to create a model that predicts the value of a target variable by learning simple decision rules inferred from the data features.</a:t>
            </a:r>
          </a:p>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Classification tree partitions the feature space into a set of rectangles</a:t>
            </a:r>
          </a:p>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Fit a simple model (like a constant) in each one</a:t>
            </a:r>
          </a:p>
          <a:p>
            <a:r>
              <a:rPr lang="en-US" sz="1400" dirty="0">
                <a:latin typeface="Helvetica" panose="020B0604020202020204" pitchFamily="34" charset="0"/>
                <a:ea typeface="Helvetica" charset="0"/>
                <a:cs typeface="Helvetica" panose="020B0604020202020204" pitchFamily="34" charset="0"/>
              </a:rPr>
              <a:t>In our case of classification, partitioning occurs according to a specific rule and each rectangle takes the value 0 or 1 according to some other specific rule.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F0405894-F05D-4EA6-8796-FAF96C1FB901}"/>
                  </a:ext>
                </a:extLst>
              </p:cNvPr>
              <p:cNvSpPr txBox="1"/>
              <p:nvPr/>
            </p:nvSpPr>
            <p:spPr>
              <a:xfrm>
                <a:off x="109579" y="2903260"/>
                <a:ext cx="5033919" cy="2130520"/>
              </a:xfrm>
              <a:prstGeom prst="rect">
                <a:avLst/>
              </a:prstGeom>
              <a:noFill/>
            </p:spPr>
            <p:txBody>
              <a:bodyPr wrap="square" rtlCol="0">
                <a:spAutoFit/>
              </a:bodyPr>
              <a:lstStyle/>
              <a:p>
                <a:r>
                  <a:rPr lang="en-US" sz="1400" dirty="0">
                    <a:latin typeface="Helvetica" panose="020B0604020202020204" pitchFamily="34" charset="0"/>
                    <a:ea typeface="Helvetica" charset="0"/>
                    <a:cs typeface="Helvetica" panose="020B0604020202020204" pitchFamily="34" charset="0"/>
                  </a:rPr>
                  <a:t>Greedy Procedure for partitioning and classification under continuous features:</a:t>
                </a:r>
              </a:p>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Consider a splitting variable j and split point </a:t>
                </a:r>
                <a:r>
                  <a:rPr lang="en-US" sz="1200" dirty="0">
                    <a:latin typeface="Cambria Math" panose="02040503050406030204" pitchFamily="18" charset="0"/>
                    <a:ea typeface="Cambria Math" panose="02040503050406030204" pitchFamily="18" charset="0"/>
                    <a:cs typeface="Helvetica" panose="020B0604020202020204" pitchFamily="34" charset="0"/>
                  </a:rPr>
                  <a:t>s</a:t>
                </a:r>
                <a:r>
                  <a:rPr lang="en-CA" sz="1200" dirty="0">
                    <a:latin typeface="Cambria Math" panose="02040503050406030204" pitchFamily="18" charset="0"/>
                    <a:ea typeface="Cambria Math" panose="02040503050406030204" pitchFamily="18" charset="0"/>
                    <a:cs typeface="Helvetica" panose="020B0604020202020204" pitchFamily="34" charset="0"/>
                  </a:rPr>
                  <a:t> </a:t>
                </a:r>
                <a14:m>
                  <m:oMath xmlns:m="http://schemas.openxmlformats.org/officeDocument/2006/math">
                    <m:r>
                      <a:rPr lang="en-CA" sz="1200" i="1">
                        <a:latin typeface="Cambria Math" panose="02040503050406030204" pitchFamily="18" charset="0"/>
                        <a:ea typeface="Cambria Math" panose="02040503050406030204" pitchFamily="18" charset="0"/>
                      </a:rPr>
                      <m:t>∈</m:t>
                    </m:r>
                    <m:r>
                      <a:rPr lang="en-CA" sz="1200" i="1">
                        <a:latin typeface="Cambria Math" panose="02040503050406030204" pitchFamily="18" charset="0"/>
                        <a:ea typeface="Cambria Math" panose="02040503050406030204" pitchFamily="18" charset="0"/>
                      </a:rPr>
                      <m:t>ℝ</m:t>
                    </m:r>
                  </m:oMath>
                </a14:m>
                <a:r>
                  <a:rPr lang="en-US" sz="1200" dirty="0">
                    <a:latin typeface="Cambria Math" panose="02040503050406030204" pitchFamily="18" charset="0"/>
                    <a:ea typeface="Cambria Math" panose="02040503050406030204" pitchFamily="18" charset="0"/>
                    <a:cs typeface="Helvetica" panose="020B0604020202020204" pitchFamily="34" charset="0"/>
                  </a:rPr>
                  <a:t> </a:t>
                </a:r>
                <a:r>
                  <a:rPr lang="en-US" sz="1200" dirty="0">
                    <a:latin typeface="Helvetica" panose="020B0604020202020204" pitchFamily="34" charset="0"/>
                    <a:ea typeface="Helvetica" charset="0"/>
                    <a:cs typeface="Helvetica" panose="020B0604020202020204" pitchFamily="34" charset="0"/>
                  </a:rPr>
                  <a:t>and define half-spaces</a:t>
                </a:r>
              </a:p>
              <a:p>
                <a:pPr marL="687388"/>
                <a14:m>
                  <m:oMathPara xmlns:m="http://schemas.openxmlformats.org/officeDocument/2006/math">
                    <m:oMathParaPr>
                      <m:jc m:val="left"/>
                    </m:oMathParaPr>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1</m:t>
                          </m:r>
                        </m:sub>
                      </m:sSub>
                      <m:d>
                        <m:dPr>
                          <m:ctrlPr>
                            <a:rPr lang="en-US" sz="1200" i="1">
                              <a:latin typeface="Cambria Math" panose="02040503050406030204" pitchFamily="18" charset="0"/>
                            </a:rPr>
                          </m:ctrlPr>
                        </m:dPr>
                        <m:e>
                          <m:r>
                            <a:rPr lang="en-US" sz="1200" i="1">
                              <a:latin typeface="Cambria Math" panose="02040503050406030204" pitchFamily="18" charset="0"/>
                            </a:rPr>
                            <m:t>𝑗</m:t>
                          </m:r>
                          <m:r>
                            <a:rPr lang="en-US" sz="1200" i="1">
                              <a:latin typeface="Cambria Math" panose="02040503050406030204" pitchFamily="18" charset="0"/>
                            </a:rPr>
                            <m:t>,</m:t>
                          </m:r>
                          <m:r>
                            <a:rPr lang="en-US" sz="1200" i="1">
                              <a:latin typeface="Cambria Math" panose="02040503050406030204" pitchFamily="18" charset="0"/>
                            </a:rPr>
                            <m:t>𝑠</m:t>
                          </m:r>
                        </m:e>
                      </m:d>
                      <m:r>
                        <a:rPr lang="en-US" sz="1200" i="1">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𝑋</m:t>
                          </m:r>
                        </m:e>
                        <m:e>
                          <m:sSub>
                            <m:sSubPr>
                              <m:ctrlPr>
                                <a:rPr lang="en-US" sz="1200" i="1">
                                  <a:latin typeface="Cambria Math" panose="02040503050406030204" pitchFamily="18" charset="0"/>
                                </a:rPr>
                              </m:ctrlPr>
                            </m:sSubPr>
                            <m:e>
                              <m:r>
                                <a:rPr lang="en-US" sz="1200" i="1">
                                  <a:latin typeface="Cambria Math" panose="02040503050406030204" pitchFamily="18" charset="0"/>
                                </a:rPr>
                                <m:t>𝑋</m:t>
                              </m:r>
                            </m:e>
                            <m:sub>
                              <m:r>
                                <a:rPr lang="en-US" sz="1200" i="1">
                                  <a:latin typeface="Cambria Math" panose="02040503050406030204" pitchFamily="18" charset="0"/>
                                </a:rPr>
                                <m:t>𝐽</m:t>
                              </m:r>
                            </m:sub>
                          </m:sSub>
                          <m:r>
                            <a:rPr lang="en-US" sz="1200" i="1">
                              <a:latin typeface="Cambria Math" panose="02040503050406030204" pitchFamily="18" charset="0"/>
                            </a:rPr>
                            <m:t>≤</m:t>
                          </m:r>
                          <m:r>
                            <a:rPr lang="en-US" sz="1200" i="1">
                              <a:latin typeface="Cambria Math" panose="02040503050406030204" pitchFamily="18" charset="0"/>
                            </a:rPr>
                            <m:t>𝑠</m:t>
                          </m:r>
                        </m:e>
                      </m:d>
                      <m:r>
                        <a:rPr lang="en-US" sz="1200" i="1">
                          <a:latin typeface="Cambria Math" panose="02040503050406030204" pitchFamily="18" charset="0"/>
                        </a:rPr>
                        <m:t> &amp;</m:t>
                      </m:r>
                      <m:sSub>
                        <m:sSubPr>
                          <m:ctrlPr>
                            <a:rPr lang="en-US" sz="1200" i="1">
                              <a:latin typeface="Cambria Math" panose="02040503050406030204" pitchFamily="18" charset="0"/>
                            </a:rPr>
                          </m:ctrlPr>
                        </m:sSubPr>
                        <m:e>
                          <m:r>
                            <a:rPr lang="en-US" sz="1200" i="1">
                              <a:latin typeface="Cambria Math" panose="02040503050406030204" pitchFamily="18" charset="0"/>
                            </a:rPr>
                            <m:t> </m:t>
                          </m:r>
                          <m:r>
                            <a:rPr lang="en-US" sz="1200" i="1">
                              <a:latin typeface="Cambria Math" panose="02040503050406030204" pitchFamily="18" charset="0"/>
                            </a:rPr>
                            <m:t>𝑅</m:t>
                          </m:r>
                        </m:e>
                        <m:sub>
                          <m:r>
                            <a:rPr lang="en-US" sz="1200" i="1">
                              <a:latin typeface="Cambria Math" panose="02040503050406030204" pitchFamily="18" charset="0"/>
                            </a:rPr>
                            <m:t>2</m:t>
                          </m:r>
                        </m:sub>
                      </m:sSub>
                      <m:d>
                        <m:dPr>
                          <m:ctrlPr>
                            <a:rPr lang="en-US" sz="1200" i="1">
                              <a:latin typeface="Cambria Math" panose="02040503050406030204" pitchFamily="18" charset="0"/>
                            </a:rPr>
                          </m:ctrlPr>
                        </m:dPr>
                        <m:e>
                          <m:r>
                            <a:rPr lang="en-US" sz="1200" i="1">
                              <a:latin typeface="Cambria Math" panose="02040503050406030204" pitchFamily="18" charset="0"/>
                            </a:rPr>
                            <m:t>𝑗</m:t>
                          </m:r>
                          <m:r>
                            <a:rPr lang="en-US" sz="1200" i="1">
                              <a:latin typeface="Cambria Math" panose="02040503050406030204" pitchFamily="18" charset="0"/>
                            </a:rPr>
                            <m:t>,</m:t>
                          </m:r>
                          <m:r>
                            <a:rPr lang="en-US" sz="1200" i="1">
                              <a:latin typeface="Cambria Math" panose="02040503050406030204" pitchFamily="18" charset="0"/>
                            </a:rPr>
                            <m:t>𝑠</m:t>
                          </m:r>
                        </m:e>
                      </m:d>
                      <m:r>
                        <a:rPr lang="en-US" sz="1200" i="1">
                          <a:latin typeface="Cambria Math" panose="02040503050406030204" pitchFamily="18" charset="0"/>
                        </a:rPr>
                        <m:t>={</m:t>
                      </m:r>
                      <m:r>
                        <a:rPr lang="en-US" sz="1200" i="1">
                          <a:latin typeface="Cambria Math" panose="02040503050406030204" pitchFamily="18" charset="0"/>
                        </a:rPr>
                        <m:t>𝑋</m:t>
                      </m:r>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𝑋</m:t>
                          </m:r>
                        </m:e>
                        <m:sub>
                          <m:r>
                            <a:rPr lang="en-US" sz="1200" i="1">
                              <a:latin typeface="Cambria Math" panose="02040503050406030204" pitchFamily="18" charset="0"/>
                            </a:rPr>
                            <m:t>𝐽</m:t>
                          </m:r>
                        </m:sub>
                      </m:sSub>
                      <m:r>
                        <a:rPr lang="en-US" sz="1200" i="1">
                          <a:latin typeface="Cambria Math" panose="02040503050406030204" pitchFamily="18" charset="0"/>
                        </a:rPr>
                        <m:t>&gt;</m:t>
                      </m:r>
                      <m:r>
                        <a:rPr lang="en-US" sz="1200" i="1">
                          <a:latin typeface="Cambria Math" panose="02040503050406030204" pitchFamily="18" charset="0"/>
                        </a:rPr>
                        <m:t>𝑠</m:t>
                      </m:r>
                      <m:r>
                        <a:rPr lang="en-US" sz="1200" i="1">
                          <a:latin typeface="Cambria Math" panose="02040503050406030204" pitchFamily="18" charset="0"/>
                        </a:rPr>
                        <m:t>}</m:t>
                      </m:r>
                    </m:oMath>
                  </m:oMathPara>
                </a14:m>
                <a:endParaRPr lang="en-US" sz="1200" dirty="0">
                  <a:latin typeface="Helvetica" panose="020B0604020202020204" pitchFamily="34" charset="0"/>
                  <a:ea typeface="Helvetica" charset="0"/>
                  <a:cs typeface="Helvetica" panose="020B0604020202020204" pitchFamily="34" charset="0"/>
                </a:endParaRPr>
              </a:p>
              <a:p>
                <a:pPr marL="339725" indent="-339725">
                  <a:buFont typeface="Arial" panose="020B0604020202020204" pitchFamily="34" charset="0"/>
                  <a:buChar char="•"/>
                </a:pPr>
                <a:r>
                  <a:rPr lang="en-US" sz="1200" dirty="0">
                    <a:latin typeface="Helvetica" panose="020B0604020202020204" pitchFamily="34" charset="0"/>
                    <a:ea typeface="Helvetica" charset="0"/>
                    <a:cs typeface="Helvetica" panose="020B0604020202020204" pitchFamily="34" charset="0"/>
                  </a:rPr>
                  <a:t>Solve the problem</a:t>
                </a:r>
              </a:p>
              <a:p>
                <a:pPr marL="687388"/>
                <a14:m>
                  <m:oMathPara xmlns:m="http://schemas.openxmlformats.org/officeDocument/2006/math">
                    <m:oMathParaPr>
                      <m:jc m:val="left"/>
                    </m:oMathParaPr>
                    <m:oMath xmlns:m="http://schemas.openxmlformats.org/officeDocument/2006/math">
                      <m:func>
                        <m:funcPr>
                          <m:ctrlPr>
                            <a:rPr lang="en-US" sz="1200" i="1">
                              <a:latin typeface="Cambria Math" panose="02040503050406030204" pitchFamily="18" charset="0"/>
                              <a:ea typeface="Helvetica" charset="0"/>
                              <a:cs typeface="Helvetica" charset="0"/>
                            </a:rPr>
                          </m:ctrlPr>
                        </m:funcPr>
                        <m:fName>
                          <m:limLow>
                            <m:limLowPr>
                              <m:ctrlPr>
                                <a:rPr lang="en-US" sz="1200" i="1">
                                  <a:latin typeface="Cambria Math" panose="02040503050406030204" pitchFamily="18" charset="0"/>
                                  <a:ea typeface="Helvetica" charset="0"/>
                                  <a:cs typeface="Helvetica" charset="0"/>
                                </a:rPr>
                              </m:ctrlPr>
                            </m:limLowPr>
                            <m:e>
                              <m:r>
                                <m:rPr>
                                  <m:sty m:val="p"/>
                                </m:rPr>
                                <a:rPr lang="en-US" sz="1200">
                                  <a:latin typeface="Cambria Math" panose="02040503050406030204" pitchFamily="18" charset="0"/>
                                  <a:ea typeface="Helvetica" charset="0"/>
                                  <a:cs typeface="Helvetica" charset="0"/>
                                </a:rPr>
                                <m:t>min</m:t>
                              </m:r>
                            </m:e>
                            <m:lim>
                              <m:r>
                                <a:rPr lang="en-US" sz="1200" i="1">
                                  <a:latin typeface="Cambria Math" panose="02040503050406030204" pitchFamily="18" charset="0"/>
                                  <a:ea typeface="Helvetica" charset="0"/>
                                  <a:cs typeface="Helvetica" charset="0"/>
                                </a:rPr>
                                <m:t>𝑗</m:t>
                              </m:r>
                              <m:r>
                                <a:rPr lang="en-US" sz="1200" i="1">
                                  <a:latin typeface="Cambria Math" panose="02040503050406030204" pitchFamily="18" charset="0"/>
                                  <a:ea typeface="Helvetica" charset="0"/>
                                  <a:cs typeface="Helvetica" charset="0"/>
                                </a:rPr>
                                <m:t>,</m:t>
                              </m:r>
                              <m:r>
                                <a:rPr lang="en-US" sz="1200" i="1">
                                  <a:latin typeface="Cambria Math" panose="02040503050406030204" pitchFamily="18" charset="0"/>
                                  <a:ea typeface="Helvetica" charset="0"/>
                                  <a:cs typeface="Helvetica" charset="0"/>
                                </a:rPr>
                                <m:t>𝑠</m:t>
                              </m:r>
                            </m:lim>
                          </m:limLow>
                        </m:fName>
                        <m:e>
                          <m:r>
                            <a:rPr lang="en-US" sz="1200" i="1">
                              <a:latin typeface="Cambria Math" panose="02040503050406030204" pitchFamily="18" charset="0"/>
                              <a:ea typeface="Helvetica" charset="0"/>
                              <a:cs typeface="Helvetica" charset="0"/>
                            </a:rPr>
                            <m:t>[</m:t>
                          </m:r>
                          <m:func>
                            <m:funcPr>
                              <m:ctrlPr>
                                <a:rPr lang="en-US" sz="1200" i="1">
                                  <a:latin typeface="Cambria Math" panose="02040503050406030204" pitchFamily="18" charset="0"/>
                                  <a:ea typeface="Helvetica" charset="0"/>
                                  <a:cs typeface="Helvetica" charset="0"/>
                                </a:rPr>
                              </m:ctrlPr>
                            </m:funcPr>
                            <m:fName>
                              <m:limLow>
                                <m:limLowPr>
                                  <m:ctrlPr>
                                    <a:rPr lang="en-US" sz="1200" i="1">
                                      <a:latin typeface="Cambria Math" panose="02040503050406030204" pitchFamily="18" charset="0"/>
                                      <a:ea typeface="Helvetica" charset="0"/>
                                      <a:cs typeface="Helvetica" charset="0"/>
                                    </a:rPr>
                                  </m:ctrlPr>
                                </m:limLowPr>
                                <m:e>
                                  <m:r>
                                    <m:rPr>
                                      <m:sty m:val="p"/>
                                    </m:rPr>
                                    <a:rPr lang="en-US" sz="1200">
                                      <a:latin typeface="Cambria Math" panose="02040503050406030204" pitchFamily="18" charset="0"/>
                                      <a:ea typeface="Helvetica" charset="0"/>
                                      <a:cs typeface="Helvetica" charset="0"/>
                                    </a:rPr>
                                    <m:t>min</m:t>
                                  </m:r>
                                </m:e>
                                <m:lim>
                                  <m:sSub>
                                    <m:sSubPr>
                                      <m:ctrlPr>
                                        <a:rPr lang="en-US" sz="1200" i="1">
                                          <a:latin typeface="Cambria Math" panose="02040503050406030204" pitchFamily="18" charset="0"/>
                                        </a:rPr>
                                      </m:ctrlPr>
                                    </m:sSubPr>
                                    <m:e>
                                      <m:r>
                                        <a:rPr lang="en-US" sz="1200" i="1">
                                          <a:latin typeface="Cambria Math" panose="02040503050406030204" pitchFamily="18" charset="0"/>
                                        </a:rPr>
                                        <m:t>𝑐</m:t>
                                      </m:r>
                                    </m:e>
                                    <m:sub>
                                      <m:r>
                                        <a:rPr lang="en-US" sz="1200" i="1">
                                          <a:latin typeface="Cambria Math" panose="02040503050406030204" pitchFamily="18" charset="0"/>
                                        </a:rPr>
                                        <m:t>1</m:t>
                                      </m:r>
                                    </m:sub>
                                  </m:sSub>
                                </m:lim>
                              </m:limLow>
                            </m:fName>
                            <m:e>
                              <m:nary>
                                <m:naryPr>
                                  <m:chr m:val="∑"/>
                                  <m:supHide m:val="on"/>
                                  <m:ctrlPr>
                                    <a:rPr lang="en-US" sz="1200" i="1">
                                      <a:latin typeface="Cambria Math" panose="02040503050406030204" pitchFamily="18" charset="0"/>
                                    </a:rPr>
                                  </m:ctrlPr>
                                </m:naryPr>
                                <m:sub>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r>
                                    <m:rPr>
                                      <m:brk m:alnAt="7"/>
                                    </m:rP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1</m:t>
                                      </m:r>
                                    </m:sub>
                                  </m:sSub>
                                  <m:d>
                                    <m:dPr>
                                      <m:ctrlPr>
                                        <a:rPr lang="en-US" sz="1200" i="1">
                                          <a:latin typeface="Cambria Math" panose="02040503050406030204" pitchFamily="18" charset="0"/>
                                        </a:rPr>
                                      </m:ctrlPr>
                                    </m:dPr>
                                    <m:e>
                                      <m:r>
                                        <a:rPr lang="en-US" sz="1200" i="1">
                                          <a:latin typeface="Cambria Math" panose="02040503050406030204" pitchFamily="18" charset="0"/>
                                        </a:rPr>
                                        <m:t>𝑗</m:t>
                                      </m:r>
                                      <m:r>
                                        <a:rPr lang="en-US" sz="1200" i="1">
                                          <a:latin typeface="Cambria Math" panose="02040503050406030204" pitchFamily="18" charset="0"/>
                                        </a:rPr>
                                        <m:t>,</m:t>
                                      </m:r>
                                      <m:r>
                                        <a:rPr lang="en-US" sz="1200" i="1">
                                          <a:latin typeface="Cambria Math" panose="02040503050406030204" pitchFamily="18" charset="0"/>
                                        </a:rPr>
                                        <m:t>𝑠</m:t>
                                      </m:r>
                                    </m:e>
                                  </m:d>
                                </m:sub>
                                <m:sup/>
                                <m:e>
                                  <m:sSup>
                                    <m:sSupPr>
                                      <m:ctrlPr>
                                        <a:rPr lang="en-US" sz="1200" i="1">
                                          <a:latin typeface="Cambria Math" panose="02040503050406030204" pitchFamily="18" charset="0"/>
                                        </a:rPr>
                                      </m:ctrlPr>
                                    </m:sSupPr>
                                    <m:e>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𝑦</m:t>
                                          </m:r>
                                        </m:e>
                                        <m:sub>
                                          <m:r>
                                            <a:rPr lang="en-US" sz="1200" i="1">
                                              <a:latin typeface="Cambria Math" panose="02040503050406030204" pitchFamily="18" charset="0"/>
                                            </a:rPr>
                                            <m:t>𝑖</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𝑐</m:t>
                                          </m:r>
                                        </m:e>
                                        <m:sub>
                                          <m:r>
                                            <a:rPr lang="en-US" sz="1200" i="1">
                                              <a:latin typeface="Cambria Math" panose="02040503050406030204" pitchFamily="18" charset="0"/>
                                            </a:rPr>
                                            <m:t>1</m:t>
                                          </m:r>
                                        </m:sub>
                                      </m:sSub>
                                      <m:r>
                                        <a:rPr lang="en-US" sz="1200" i="1">
                                          <a:latin typeface="Cambria Math" panose="02040503050406030204" pitchFamily="18" charset="0"/>
                                        </a:rPr>
                                        <m:t>)</m:t>
                                      </m:r>
                                    </m:e>
                                    <m:sup>
                                      <m:r>
                                        <a:rPr lang="en-US" sz="1200" i="1">
                                          <a:latin typeface="Cambria Math" panose="02040503050406030204" pitchFamily="18" charset="0"/>
                                        </a:rPr>
                                        <m:t>2</m:t>
                                      </m:r>
                                    </m:sup>
                                  </m:sSup>
                                </m:e>
                              </m:nary>
                              <m:r>
                                <a:rPr lang="en-US" sz="1200" i="1">
                                  <a:latin typeface="Cambria Math" panose="02040503050406030204" pitchFamily="18" charset="0"/>
                                </a:rPr>
                                <m:t>+</m:t>
                              </m:r>
                              <m:func>
                                <m:funcPr>
                                  <m:ctrlPr>
                                    <a:rPr lang="en-US" sz="1200" i="1">
                                      <a:latin typeface="Cambria Math" panose="02040503050406030204" pitchFamily="18" charset="0"/>
                                      <a:ea typeface="Helvetica" charset="0"/>
                                      <a:cs typeface="Helvetica" charset="0"/>
                                    </a:rPr>
                                  </m:ctrlPr>
                                </m:funcPr>
                                <m:fName>
                                  <m:limLow>
                                    <m:limLowPr>
                                      <m:ctrlPr>
                                        <a:rPr lang="en-US" sz="1200" i="1">
                                          <a:latin typeface="Cambria Math" panose="02040503050406030204" pitchFamily="18" charset="0"/>
                                          <a:ea typeface="Helvetica" charset="0"/>
                                          <a:cs typeface="Helvetica" charset="0"/>
                                        </a:rPr>
                                      </m:ctrlPr>
                                    </m:limLowPr>
                                    <m:e>
                                      <m:r>
                                        <m:rPr>
                                          <m:sty m:val="p"/>
                                        </m:rPr>
                                        <a:rPr lang="en-US" sz="1200">
                                          <a:latin typeface="Cambria Math" panose="02040503050406030204" pitchFamily="18" charset="0"/>
                                          <a:ea typeface="Helvetica" charset="0"/>
                                          <a:cs typeface="Helvetica" charset="0"/>
                                        </a:rPr>
                                        <m:t>min</m:t>
                                      </m:r>
                                    </m:e>
                                    <m:lim>
                                      <m:sSub>
                                        <m:sSubPr>
                                          <m:ctrlPr>
                                            <a:rPr lang="en-US" sz="1200" i="1">
                                              <a:latin typeface="Cambria Math" panose="02040503050406030204" pitchFamily="18" charset="0"/>
                                            </a:rPr>
                                          </m:ctrlPr>
                                        </m:sSubPr>
                                        <m:e>
                                          <m:r>
                                            <a:rPr lang="en-US" sz="1200" i="1">
                                              <a:latin typeface="Cambria Math" panose="02040503050406030204" pitchFamily="18" charset="0"/>
                                            </a:rPr>
                                            <m:t>𝑐</m:t>
                                          </m:r>
                                        </m:e>
                                        <m:sub>
                                          <m:r>
                                            <a:rPr lang="en-US" sz="1200" i="1">
                                              <a:latin typeface="Cambria Math" panose="02040503050406030204" pitchFamily="18" charset="0"/>
                                            </a:rPr>
                                            <m:t>2</m:t>
                                          </m:r>
                                        </m:sub>
                                      </m:sSub>
                                    </m:lim>
                                  </m:limLow>
                                </m:fName>
                                <m:e>
                                  <m:nary>
                                    <m:naryPr>
                                      <m:chr m:val="∑"/>
                                      <m:supHide m:val="on"/>
                                      <m:ctrlPr>
                                        <a:rPr lang="en-US" sz="1200" i="1">
                                          <a:latin typeface="Cambria Math" panose="02040503050406030204" pitchFamily="18" charset="0"/>
                                        </a:rPr>
                                      </m:ctrlPr>
                                    </m:naryPr>
                                    <m:sub>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r>
                                        <m:rPr>
                                          <m:brk m:alnAt="7"/>
                                        </m:rP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2</m:t>
                                          </m:r>
                                        </m:sub>
                                      </m:sSub>
                                      <m:d>
                                        <m:dPr>
                                          <m:ctrlPr>
                                            <a:rPr lang="en-US" sz="1200" i="1">
                                              <a:latin typeface="Cambria Math" panose="02040503050406030204" pitchFamily="18" charset="0"/>
                                            </a:rPr>
                                          </m:ctrlPr>
                                        </m:dPr>
                                        <m:e>
                                          <m:r>
                                            <a:rPr lang="en-US" sz="1200" i="1">
                                              <a:latin typeface="Cambria Math" panose="02040503050406030204" pitchFamily="18" charset="0"/>
                                            </a:rPr>
                                            <m:t>𝑗</m:t>
                                          </m:r>
                                          <m:r>
                                            <a:rPr lang="en-US" sz="1200" i="1">
                                              <a:latin typeface="Cambria Math" panose="02040503050406030204" pitchFamily="18" charset="0"/>
                                            </a:rPr>
                                            <m:t>,</m:t>
                                          </m:r>
                                          <m:r>
                                            <a:rPr lang="en-US" sz="1200" i="1">
                                              <a:latin typeface="Cambria Math" panose="02040503050406030204" pitchFamily="18" charset="0"/>
                                            </a:rPr>
                                            <m:t>𝑠</m:t>
                                          </m:r>
                                        </m:e>
                                      </m:d>
                                    </m:sub>
                                    <m:sup/>
                                    <m:e>
                                      <m:sSup>
                                        <m:sSupPr>
                                          <m:ctrlPr>
                                            <a:rPr lang="en-US" sz="1200" i="1">
                                              <a:latin typeface="Cambria Math" panose="02040503050406030204" pitchFamily="18" charset="0"/>
                                            </a:rPr>
                                          </m:ctrlPr>
                                        </m:sSupPr>
                                        <m:e>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𝑦</m:t>
                                              </m:r>
                                            </m:e>
                                            <m:sub>
                                              <m:r>
                                                <a:rPr lang="en-US" sz="1200" i="1">
                                                  <a:latin typeface="Cambria Math" panose="02040503050406030204" pitchFamily="18" charset="0"/>
                                                </a:rPr>
                                                <m:t>𝑖</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𝑐</m:t>
                                              </m:r>
                                            </m:e>
                                            <m:sub>
                                              <m:r>
                                                <a:rPr lang="en-US" sz="1200" i="1">
                                                  <a:latin typeface="Cambria Math" panose="02040503050406030204" pitchFamily="18" charset="0"/>
                                                </a:rPr>
                                                <m:t>2</m:t>
                                              </m:r>
                                            </m:sub>
                                          </m:sSub>
                                          <m:r>
                                            <a:rPr lang="en-US" sz="1200" i="1">
                                              <a:latin typeface="Cambria Math" panose="02040503050406030204" pitchFamily="18" charset="0"/>
                                            </a:rPr>
                                            <m:t>)</m:t>
                                          </m:r>
                                        </m:e>
                                        <m:sup>
                                          <m:r>
                                            <a:rPr lang="en-US" sz="1200" i="1">
                                              <a:latin typeface="Cambria Math" panose="02040503050406030204" pitchFamily="18" charset="0"/>
                                            </a:rPr>
                                            <m:t>2</m:t>
                                          </m:r>
                                        </m:sup>
                                      </m:sSup>
                                    </m:e>
                                  </m:nary>
                                </m:e>
                              </m:func>
                              <m:r>
                                <a:rPr lang="en-US" sz="1200" i="1">
                                  <a:latin typeface="Cambria Math" panose="02040503050406030204" pitchFamily="18" charset="0"/>
                                </a:rPr>
                                <m:t>]</m:t>
                              </m:r>
                            </m:e>
                          </m:func>
                        </m:e>
                      </m:func>
                    </m:oMath>
                  </m:oMathPara>
                </a14:m>
                <a:endParaRPr lang="en-US" sz="1200" dirty="0">
                  <a:latin typeface="Helvetica" panose="020B0604020202020204" pitchFamily="34" charset="0"/>
                  <a:ea typeface="Helvetica" charset="0"/>
                  <a:cs typeface="Helvetica" panose="020B0604020202020204" pitchFamily="34" charset="0"/>
                </a:endParaRPr>
              </a:p>
              <a:p>
                <a:pPr marL="687388"/>
                <a14:m>
                  <m:oMathPara xmlns:m="http://schemas.openxmlformats.org/officeDocument/2006/math">
                    <m:oMathParaPr>
                      <m:jc m:val="left"/>
                    </m:oMathParaPr>
                    <m:oMath xmlns:m="http://schemas.openxmlformats.org/officeDocument/2006/math">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𝑐</m:t>
                              </m:r>
                            </m:e>
                          </m:acc>
                        </m:e>
                        <m:sub>
                          <m:r>
                            <a:rPr lang="en-US" sz="1200" i="1">
                              <a:latin typeface="Cambria Math" panose="02040503050406030204" pitchFamily="18" charset="0"/>
                            </a:rPr>
                            <m:t>1</m:t>
                          </m:r>
                        </m:sub>
                      </m:sSub>
                      <m:r>
                        <a:rPr lang="en-US" sz="1200" i="1">
                          <a:latin typeface="Cambria Math" panose="02040503050406030204" pitchFamily="18" charset="0"/>
                        </a:rPr>
                        <m:t>=</m:t>
                      </m:r>
                      <m:r>
                        <a:rPr lang="en-US" sz="1200" i="1">
                          <a:latin typeface="Cambria Math" panose="02040503050406030204" pitchFamily="18" charset="0"/>
                        </a:rPr>
                        <m:t>𝑚𝑎𝑗𝑜𝑟𝑖𝑡𝑦</m:t>
                      </m:r>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𝑦</m:t>
                          </m:r>
                        </m:e>
                        <m:sub>
                          <m:r>
                            <a:rPr lang="en-US" sz="1200" i="1">
                              <a:latin typeface="Cambria Math" panose="02040503050406030204" pitchFamily="18" charset="0"/>
                            </a:rPr>
                            <m:t>𝑖</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1</m:t>
                          </m:r>
                        </m:sub>
                      </m:sSub>
                      <m:d>
                        <m:dPr>
                          <m:ctrlPr>
                            <a:rPr lang="en-US" sz="1200" i="1">
                              <a:latin typeface="Cambria Math" panose="02040503050406030204" pitchFamily="18" charset="0"/>
                            </a:rPr>
                          </m:ctrlPr>
                        </m:dPr>
                        <m:e>
                          <m:r>
                            <a:rPr lang="en-US" sz="1200" i="1">
                              <a:latin typeface="Cambria Math" panose="02040503050406030204" pitchFamily="18" charset="0"/>
                            </a:rPr>
                            <m:t>𝑗</m:t>
                          </m:r>
                          <m:r>
                            <a:rPr lang="en-US" sz="1200" i="1">
                              <a:latin typeface="Cambria Math" panose="02040503050406030204" pitchFamily="18" charset="0"/>
                            </a:rPr>
                            <m:t>,</m:t>
                          </m:r>
                          <m:r>
                            <a:rPr lang="en-US" sz="1200" i="1">
                              <a:latin typeface="Cambria Math" panose="02040503050406030204" pitchFamily="18" charset="0"/>
                            </a:rPr>
                            <m:t>𝑠</m:t>
                          </m:r>
                        </m:e>
                      </m:d>
                      <m:r>
                        <a:rPr lang="en-US" sz="1200" i="1">
                          <a:latin typeface="Cambria Math" panose="02040503050406030204" pitchFamily="18" charset="0"/>
                        </a:rPr>
                        <m:t>)</m:t>
                      </m:r>
                    </m:oMath>
                  </m:oMathPara>
                </a14:m>
                <a:endParaRPr lang="en-US" sz="1200" dirty="0">
                  <a:latin typeface="Helvetica" panose="020B0604020202020204" pitchFamily="34" charset="0"/>
                  <a:ea typeface="Helvetica" charset="0"/>
                  <a:cs typeface="Helvetica" panose="020B0604020202020204" pitchFamily="34" charset="0"/>
                </a:endParaRPr>
              </a:p>
              <a:p>
                <a:pPr marL="687388"/>
                <a14:m>
                  <m:oMathPara xmlns:m="http://schemas.openxmlformats.org/officeDocument/2006/math">
                    <m:oMathParaPr>
                      <m:jc m:val="left"/>
                    </m:oMathParaPr>
                    <m:oMath xmlns:m="http://schemas.openxmlformats.org/officeDocument/2006/math">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𝑐</m:t>
                              </m:r>
                            </m:e>
                          </m:acc>
                        </m:e>
                        <m:sub>
                          <m:r>
                            <a:rPr lang="en-US" sz="1200" i="1">
                              <a:latin typeface="Cambria Math" panose="02040503050406030204" pitchFamily="18" charset="0"/>
                            </a:rPr>
                            <m:t>2</m:t>
                          </m:r>
                        </m:sub>
                      </m:sSub>
                      <m:r>
                        <a:rPr lang="en-US" sz="1200" i="1">
                          <a:latin typeface="Cambria Math" panose="02040503050406030204" pitchFamily="18" charset="0"/>
                        </a:rPr>
                        <m:t>=</m:t>
                      </m:r>
                      <m:r>
                        <a:rPr lang="en-US" sz="1200" i="1">
                          <a:latin typeface="Cambria Math" panose="02040503050406030204" pitchFamily="18" charset="0"/>
                        </a:rPr>
                        <m:t>𝑚𝑎𝑗𝑜𝑟𝑖𝑡𝑦</m:t>
                      </m:r>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𝑦</m:t>
                          </m:r>
                        </m:e>
                        <m:sub>
                          <m:r>
                            <a:rPr lang="en-US" sz="1200" i="1">
                              <a:latin typeface="Cambria Math" panose="02040503050406030204" pitchFamily="18" charset="0"/>
                            </a:rPr>
                            <m:t>𝑖</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2</m:t>
                          </m:r>
                        </m:sub>
                      </m:sSub>
                      <m:d>
                        <m:dPr>
                          <m:ctrlPr>
                            <a:rPr lang="en-US" sz="1200" i="1">
                              <a:latin typeface="Cambria Math" panose="02040503050406030204" pitchFamily="18" charset="0"/>
                            </a:rPr>
                          </m:ctrlPr>
                        </m:dPr>
                        <m:e>
                          <m:r>
                            <a:rPr lang="en-US" sz="1200" i="1">
                              <a:latin typeface="Cambria Math" panose="02040503050406030204" pitchFamily="18" charset="0"/>
                            </a:rPr>
                            <m:t>𝑗</m:t>
                          </m:r>
                          <m:r>
                            <a:rPr lang="en-US" sz="1200" i="1">
                              <a:latin typeface="Cambria Math" panose="02040503050406030204" pitchFamily="18" charset="0"/>
                            </a:rPr>
                            <m:t>,</m:t>
                          </m:r>
                          <m:r>
                            <a:rPr lang="en-US" sz="1200" i="1">
                              <a:latin typeface="Cambria Math" panose="02040503050406030204" pitchFamily="18" charset="0"/>
                            </a:rPr>
                            <m:t>𝑠</m:t>
                          </m:r>
                        </m:e>
                      </m:d>
                      <m:r>
                        <a:rPr lang="en-US" sz="1200" i="1">
                          <a:latin typeface="Cambria Math" panose="02040503050406030204" pitchFamily="18" charset="0"/>
                        </a:rPr>
                        <m:t>)</m:t>
                      </m:r>
                    </m:oMath>
                  </m:oMathPara>
                </a14:m>
                <a:endParaRPr lang="en-US" sz="1400" dirty="0"/>
              </a:p>
            </p:txBody>
          </p:sp>
        </mc:Choice>
        <mc:Fallback xmlns="">
          <p:sp>
            <p:nvSpPr>
              <p:cNvPr id="7" name="TextBox 6">
                <a:extLst>
                  <a:ext uri="{FF2B5EF4-FFF2-40B4-BE49-F238E27FC236}">
                    <a16:creationId xmlns:a16="http://schemas.microsoft.com/office/drawing/2014/main" id="{F0405894-F05D-4EA6-8796-FAF96C1FB901}"/>
                  </a:ext>
                </a:extLst>
              </p:cNvPr>
              <p:cNvSpPr txBox="1">
                <a:spLocks noRot="1" noChangeAspect="1" noMove="1" noResize="1" noEditPoints="1" noAdjustHandles="1" noChangeArrowheads="1" noChangeShapeType="1" noTextEdit="1"/>
              </p:cNvSpPr>
              <p:nvPr/>
            </p:nvSpPr>
            <p:spPr>
              <a:xfrm>
                <a:off x="109579" y="2903260"/>
                <a:ext cx="5033919" cy="2130520"/>
              </a:xfrm>
              <a:prstGeom prst="rect">
                <a:avLst/>
              </a:prstGeom>
              <a:blipFill>
                <a:blip r:embed="rId6"/>
                <a:stretch>
                  <a:fillRect l="-363" t="-286" b="-22286"/>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874092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233" y="153298"/>
            <a:ext cx="8562392" cy="631629"/>
          </a:xfrm>
        </p:spPr>
        <p:txBody>
          <a:bodyPr/>
          <a:lstStyle/>
          <a:p>
            <a:r>
              <a:rPr kumimoji="1" lang="en-US" altLang="zh-CN" sz="3600" dirty="0">
                <a:latin typeface="Vitesse"/>
              </a:rPr>
              <a:t>Decision Trees: Implementation</a:t>
            </a:r>
            <a:endParaRPr kumimoji="1" lang="zh-CN" altLang="en-US" sz="3600" dirty="0">
              <a:latin typeface="Vitesse"/>
            </a:endParaRPr>
          </a:p>
        </p:txBody>
      </p:sp>
      <p:sp>
        <p:nvSpPr>
          <p:cNvPr id="6" name="TextBox 5">
            <a:extLst>
              <a:ext uri="{FF2B5EF4-FFF2-40B4-BE49-F238E27FC236}">
                <a16:creationId xmlns:a16="http://schemas.microsoft.com/office/drawing/2014/main" xmlns="" id="{8DF77EB1-FB9E-4427-9888-A25EBC57D4F1}"/>
              </a:ext>
            </a:extLst>
          </p:cNvPr>
          <p:cNvSpPr txBox="1"/>
          <p:nvPr/>
        </p:nvSpPr>
        <p:spPr>
          <a:xfrm>
            <a:off x="5853" y="699718"/>
            <a:ext cx="4566147" cy="1846659"/>
          </a:xfrm>
          <a:prstGeom prst="rect">
            <a:avLst/>
          </a:prstGeom>
          <a:noFill/>
          <a:ln w="19050">
            <a:noFill/>
          </a:ln>
        </p:spPr>
        <p:txBody>
          <a:bodyPr wrap="square" lIns="182880" tIns="182880" rIns="182880" bIns="182880" rtlCol="0">
            <a:spAutoFit/>
          </a:bodyPr>
          <a:lstStyle/>
          <a:p>
            <a:r>
              <a:rPr lang="en-US" sz="1200" b="1" dirty="0">
                <a:solidFill>
                  <a:srgbClr val="EAAA00"/>
                </a:solidFill>
                <a:latin typeface="Helvetica" pitchFamily="2" charset="0"/>
              </a:rPr>
              <a:t>## Building model</a:t>
            </a:r>
          </a:p>
          <a:p>
            <a:r>
              <a:rPr lang="en-US" sz="1200" i="1" dirty="0" err="1">
                <a:latin typeface="Helvetica" pitchFamily="2" charset="0"/>
              </a:rPr>
              <a:t>set.seed</a:t>
            </a:r>
            <a:r>
              <a:rPr lang="en-US" sz="1200" i="1" dirty="0">
                <a:latin typeface="Helvetica" pitchFamily="2" charset="0"/>
              </a:rPr>
              <a:t>(300)</a:t>
            </a:r>
          </a:p>
          <a:p>
            <a:r>
              <a:rPr lang="en-US" sz="1200" i="1" dirty="0" err="1">
                <a:latin typeface="Helvetica" pitchFamily="2" charset="0"/>
              </a:rPr>
              <a:t>decision_tree</a:t>
            </a:r>
            <a:r>
              <a:rPr lang="en-US" sz="1200" i="1" dirty="0">
                <a:latin typeface="Helvetica" pitchFamily="2" charset="0"/>
              </a:rPr>
              <a:t> &lt;- </a:t>
            </a:r>
            <a:r>
              <a:rPr lang="en-US" sz="1200" i="1" dirty="0" err="1">
                <a:latin typeface="Helvetica" pitchFamily="2" charset="0"/>
              </a:rPr>
              <a:t>rpart</a:t>
            </a:r>
            <a:r>
              <a:rPr lang="en-US" sz="1200" i="1" dirty="0">
                <a:latin typeface="Helvetica" pitchFamily="2" charset="0"/>
              </a:rPr>
              <a:t>(</a:t>
            </a:r>
            <a:r>
              <a:rPr lang="en-US" sz="1200" i="1" dirty="0" err="1">
                <a:latin typeface="Helvetica" pitchFamily="2" charset="0"/>
              </a:rPr>
              <a:t>Churn.Value</a:t>
            </a:r>
            <a:r>
              <a:rPr lang="en-US" sz="1200" i="1" dirty="0">
                <a:latin typeface="Helvetica" pitchFamily="2" charset="0"/>
              </a:rPr>
              <a:t>~., data = train, method = "class")</a:t>
            </a:r>
          </a:p>
          <a:p>
            <a:endParaRPr lang="en-US" sz="1200" dirty="0">
              <a:latin typeface="Helvetica" pitchFamily="2" charset="0"/>
            </a:endParaRPr>
          </a:p>
          <a:p>
            <a:r>
              <a:rPr lang="en-US" sz="1200" b="1" dirty="0">
                <a:solidFill>
                  <a:srgbClr val="EAAA00"/>
                </a:solidFill>
                <a:latin typeface="Helvetica" pitchFamily="2" charset="0"/>
              </a:rPr>
              <a:t>## Plotting model</a:t>
            </a:r>
          </a:p>
          <a:p>
            <a:r>
              <a:rPr lang="en-US" sz="1200" i="1" dirty="0" err="1">
                <a:latin typeface="Helvetica" pitchFamily="2" charset="0"/>
              </a:rPr>
              <a:t>rpart.plot</a:t>
            </a:r>
            <a:r>
              <a:rPr lang="en-US" sz="1200" i="1" dirty="0">
                <a:latin typeface="Helvetica" pitchFamily="2" charset="0"/>
              </a:rPr>
              <a:t>(</a:t>
            </a:r>
            <a:r>
              <a:rPr lang="en-US" sz="1200" i="1" dirty="0" err="1">
                <a:latin typeface="Helvetica" pitchFamily="2" charset="0"/>
              </a:rPr>
              <a:t>decision_tree</a:t>
            </a:r>
            <a:r>
              <a:rPr lang="en-US" sz="1200" i="1" dirty="0">
                <a:latin typeface="Helvetica" pitchFamily="2" charset="0"/>
              </a:rPr>
              <a:t>, </a:t>
            </a:r>
            <a:r>
              <a:rPr lang="en-US" sz="1200" i="1" dirty="0" err="1">
                <a:latin typeface="Helvetica" pitchFamily="2" charset="0"/>
              </a:rPr>
              <a:t>box.palette</a:t>
            </a:r>
            <a:r>
              <a:rPr lang="en-US" sz="1200" i="1" dirty="0">
                <a:latin typeface="Helvetica" pitchFamily="2" charset="0"/>
              </a:rPr>
              <a:t> = c(</a:t>
            </a:r>
            <a:r>
              <a:rPr lang="en-US" sz="1200" i="1" dirty="0" err="1">
                <a:latin typeface="Helvetica" pitchFamily="2" charset="0"/>
              </a:rPr>
              <a:t>buzzgold</a:t>
            </a:r>
            <a:r>
              <a:rPr lang="en-US" sz="1200" i="1" dirty="0">
                <a:latin typeface="Helvetica" pitchFamily="2" charset="0"/>
              </a:rPr>
              <a:t>, </a:t>
            </a:r>
            <a:r>
              <a:rPr lang="en-US" sz="1200" i="1" dirty="0" err="1">
                <a:latin typeface="Helvetica" pitchFamily="2" charset="0"/>
              </a:rPr>
              <a:t>gtblue</a:t>
            </a:r>
            <a:r>
              <a:rPr lang="en-US" sz="1200" i="1" dirty="0">
                <a:latin typeface="Helvetica" pitchFamily="2" charset="0"/>
              </a:rPr>
              <a:t>), </a:t>
            </a:r>
            <a:r>
              <a:rPr lang="en-US" sz="1200" i="1" dirty="0" err="1">
                <a:latin typeface="Helvetica" pitchFamily="2" charset="0"/>
              </a:rPr>
              <a:t>shadow.col</a:t>
            </a:r>
            <a:r>
              <a:rPr lang="en-US" sz="1200" i="1" dirty="0">
                <a:latin typeface="Helvetica" pitchFamily="2" charset="0"/>
              </a:rPr>
              <a:t> = "gray", </a:t>
            </a:r>
            <a:r>
              <a:rPr lang="en-US" sz="1200" i="1" dirty="0" err="1">
                <a:latin typeface="Helvetica" pitchFamily="2" charset="0"/>
              </a:rPr>
              <a:t>nn</a:t>
            </a:r>
            <a:r>
              <a:rPr lang="en-US" sz="1200" i="1" dirty="0">
                <a:latin typeface="Helvetica" pitchFamily="2" charset="0"/>
              </a:rPr>
              <a:t>=TRUE)</a:t>
            </a:r>
            <a:endParaRPr lang="en-US" sz="1100" i="1" dirty="0">
              <a:latin typeface="Helvetica" pitchFamily="2" charset="0"/>
              <a:ea typeface="Helvetica" charset="0"/>
              <a:cs typeface="Helvetica" charset="0"/>
            </a:endParaRPr>
          </a:p>
        </p:txBody>
      </p:sp>
      <p:sp>
        <p:nvSpPr>
          <p:cNvPr id="3" name="Rectangle 2">
            <a:extLst>
              <a:ext uri="{FF2B5EF4-FFF2-40B4-BE49-F238E27FC236}">
                <a16:creationId xmlns:a16="http://schemas.microsoft.com/office/drawing/2014/main" xmlns="" id="{5EC5AA2F-F3D5-5A41-9095-C3AE2BAA827D}"/>
              </a:ext>
            </a:extLst>
          </p:cNvPr>
          <p:cNvSpPr/>
          <p:nvPr/>
        </p:nvSpPr>
        <p:spPr>
          <a:xfrm>
            <a:off x="193859" y="2581037"/>
            <a:ext cx="4378141" cy="1408078"/>
          </a:xfrm>
          <a:prstGeom prst="rect">
            <a:avLst/>
          </a:prstGeom>
          <a:ln w="19050">
            <a:solidFill>
              <a:schemeClr val="tx2"/>
            </a:solidFill>
          </a:ln>
        </p:spPr>
        <p:txBody>
          <a:bodyPr wrap="square">
            <a:spAutoFit/>
          </a:bodyPr>
          <a:lstStyle/>
          <a:p>
            <a:r>
              <a:rPr lang="en-US" sz="1400" b="1" i="1" dirty="0"/>
              <a:t>How to read the decision tree? </a:t>
            </a:r>
            <a:endParaRPr lang="en-CA" sz="1400" b="1" i="1" dirty="0">
              <a:latin typeface="Helvetica" pitchFamily="2" charset="0"/>
            </a:endParaRPr>
          </a:p>
          <a:p>
            <a:endParaRPr lang="en-CA" sz="1200" dirty="0">
              <a:latin typeface="Helvetica" pitchFamily="2" charset="0"/>
            </a:endParaRPr>
          </a:p>
          <a:p>
            <a:r>
              <a:rPr lang="en-CA" sz="1200" dirty="0">
                <a:latin typeface="Helvetica" pitchFamily="2" charset="0"/>
              </a:rPr>
              <a:t>The first number in the node corresponds to the classification of the node (0 if not churn and 1 if churn). The second number in the node corresponds to </a:t>
            </a:r>
            <a:r>
              <a:rPr lang="en-CA" sz="1200" dirty="0" smtClean="0">
                <a:latin typeface="Helvetica" pitchFamily="2" charset="0"/>
              </a:rPr>
              <a:t>the predicted probability of churn. </a:t>
            </a:r>
            <a:r>
              <a:rPr lang="en-CA" sz="1200" dirty="0">
                <a:latin typeface="Helvetica" pitchFamily="2" charset="0"/>
              </a:rPr>
              <a:t>The third value in the node measures the total % of customers that are included in that node.</a:t>
            </a:r>
          </a:p>
        </p:txBody>
      </p:sp>
      <p:pic>
        <p:nvPicPr>
          <p:cNvPr id="10" name="Picture 9" descr="A screenshot of a cell phone&#10;&#10;Description automatically generated">
            <a:extLst>
              <a:ext uri="{FF2B5EF4-FFF2-40B4-BE49-F238E27FC236}">
                <a16:creationId xmlns:a16="http://schemas.microsoft.com/office/drawing/2014/main" xmlns="" id="{EF07DDAC-7978-AD45-921E-B52236709CA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70811" y="922491"/>
            <a:ext cx="3745936" cy="3034061"/>
          </a:xfrm>
          <a:prstGeom prst="rect">
            <a:avLst/>
          </a:prstGeom>
          <a:ln w="19050">
            <a:solidFill>
              <a:schemeClr val="tx2"/>
            </a:solidFill>
          </a:ln>
        </p:spPr>
      </p:pic>
    </p:spTree>
    <p:custDataLst>
      <p:tags r:id="rId1"/>
    </p:custDataLst>
    <p:extLst>
      <p:ext uri="{BB962C8B-B14F-4D97-AF65-F5344CB8AC3E}">
        <p14:creationId xmlns:p14="http://schemas.microsoft.com/office/powerpoint/2010/main" val="225512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233" y="153298"/>
            <a:ext cx="8562392" cy="631629"/>
          </a:xfrm>
        </p:spPr>
        <p:txBody>
          <a:bodyPr/>
          <a:lstStyle/>
          <a:p>
            <a:r>
              <a:rPr kumimoji="1" lang="en-US" altLang="zh-CN" sz="3600" dirty="0">
                <a:latin typeface="Vitesse"/>
              </a:rPr>
              <a:t>Decision Trees: Interpretation</a:t>
            </a:r>
            <a:endParaRPr kumimoji="1" lang="zh-CN" altLang="en-US" sz="3600" dirty="0">
              <a:latin typeface="Vitesse"/>
            </a:endParaRPr>
          </a:p>
        </p:txBody>
      </p:sp>
      <p:sp>
        <p:nvSpPr>
          <p:cNvPr id="4" name="Rectangle 3">
            <a:extLst>
              <a:ext uri="{FF2B5EF4-FFF2-40B4-BE49-F238E27FC236}">
                <a16:creationId xmlns:a16="http://schemas.microsoft.com/office/drawing/2014/main" xmlns="" id="{0D1D696C-9B6B-BD40-850E-87EFBB64F5FA}"/>
              </a:ext>
            </a:extLst>
          </p:cNvPr>
          <p:cNvSpPr/>
          <p:nvPr/>
        </p:nvSpPr>
        <p:spPr>
          <a:xfrm>
            <a:off x="98600" y="792083"/>
            <a:ext cx="4530044" cy="4185761"/>
          </a:xfrm>
          <a:prstGeom prst="rect">
            <a:avLst/>
          </a:prstGeom>
        </p:spPr>
        <p:txBody>
          <a:bodyPr wrap="square">
            <a:spAutoFit/>
          </a:bodyPr>
          <a:lstStyle/>
          <a:p>
            <a:pPr marL="339725" indent="-339725">
              <a:buFont typeface="Arial" panose="020B0604020202020204" pitchFamily="34" charset="0"/>
              <a:buChar char="•"/>
            </a:pPr>
            <a:r>
              <a:rPr lang="en-CA" sz="1400" dirty="0">
                <a:latin typeface="Helvetica" pitchFamily="2" charset="0"/>
              </a:rPr>
              <a:t>The most important variable in determining churn rate is duration of contract. If the contract is 1 year, or 2 years the probability to not churn is 93%. The probability of not churning is lower if the contract is month-to-month. 45% of the total customers in the testing dataset fall in this category.</a:t>
            </a:r>
          </a:p>
          <a:p>
            <a:pPr marL="339725" indent="-339725">
              <a:buFont typeface="Arial" panose="020B0604020202020204" pitchFamily="34" charset="0"/>
              <a:buChar char="•"/>
            </a:pPr>
            <a:r>
              <a:rPr lang="en-CA" sz="1400" dirty="0">
                <a:latin typeface="Helvetica" pitchFamily="2" charset="0"/>
              </a:rPr>
              <a:t>If the customer has a month-to-month contract, has fiber optic, is in default for more than 15 months, and has dependents, then the probability of churn is only 9% ,with 2% of customers  in this node.</a:t>
            </a:r>
          </a:p>
          <a:p>
            <a:pPr marL="339725" indent="-339725">
              <a:buFont typeface="Arial" panose="020B0604020202020204" pitchFamily="34" charset="0"/>
              <a:buChar char="•"/>
            </a:pPr>
            <a:r>
              <a:rPr lang="en-CA" sz="1400" dirty="0">
                <a:latin typeface="Helvetica" pitchFamily="2" charset="0"/>
              </a:rPr>
              <a:t>The higher churn occurs for month-to-month contracts, fiber optic, tenure higher than 15 months but lower than 52 months, no dependents and multiple lines. In that case, churn rate is 57%.</a:t>
            </a:r>
          </a:p>
          <a:p>
            <a:pPr marL="339725" indent="-339725">
              <a:buFont typeface="Arial" panose="020B0604020202020204" pitchFamily="34" charset="0"/>
              <a:buChar char="•"/>
            </a:pPr>
            <a:r>
              <a:rPr lang="en-CA" sz="1400" dirty="0">
                <a:latin typeface="Helvetica" pitchFamily="2" charset="0"/>
              </a:rPr>
              <a:t>Overall, the probabilities of churn are high for month-to-month contracts. The company can create incentives for customers to subscribe to longer contracts.</a:t>
            </a:r>
          </a:p>
        </p:txBody>
      </p:sp>
      <p:pic>
        <p:nvPicPr>
          <p:cNvPr id="6" name="Picture 5" descr="A screenshot of a cell phone&#10;&#10;Description automatically generated">
            <a:extLst>
              <a:ext uri="{FF2B5EF4-FFF2-40B4-BE49-F238E27FC236}">
                <a16:creationId xmlns:a16="http://schemas.microsoft.com/office/drawing/2014/main" xmlns="" id="{A1F022F7-3F3B-483C-BA1B-BCA00F830F0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70811" y="922491"/>
            <a:ext cx="3745936" cy="3034061"/>
          </a:xfrm>
          <a:prstGeom prst="rect">
            <a:avLst/>
          </a:prstGeom>
          <a:ln w="19050">
            <a:solidFill>
              <a:schemeClr val="tx2"/>
            </a:solidFill>
          </a:ln>
        </p:spPr>
      </p:pic>
    </p:spTree>
    <p:custDataLst>
      <p:tags r:id="rId1"/>
    </p:custDataLst>
    <p:extLst>
      <p:ext uri="{BB962C8B-B14F-4D97-AF65-F5344CB8AC3E}">
        <p14:creationId xmlns:p14="http://schemas.microsoft.com/office/powerpoint/2010/main" val="1448407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C3DB8B3A-D84E-6F4E-9556-65165179FF40}"/>
              </a:ext>
            </a:extLst>
          </p:cNvPr>
          <p:cNvSpPr/>
          <p:nvPr/>
        </p:nvSpPr>
        <p:spPr>
          <a:xfrm>
            <a:off x="112089" y="817295"/>
            <a:ext cx="4459912" cy="2492990"/>
          </a:xfrm>
          <a:prstGeom prst="rect">
            <a:avLst/>
          </a:prstGeom>
        </p:spPr>
        <p:txBody>
          <a:bodyPr wrap="square">
            <a:spAutoFit/>
          </a:bodyPr>
          <a:lstStyle/>
          <a:p>
            <a:r>
              <a:rPr lang="en-US" sz="1200" b="1" dirty="0">
                <a:solidFill>
                  <a:srgbClr val="EAAA00"/>
                </a:solidFill>
                <a:latin typeface="Helvetica" panose="020B0604020202020204" pitchFamily="34" charset="0"/>
                <a:ea typeface="Helvetica" charset="0"/>
                <a:cs typeface="Helvetica" panose="020B0604020202020204" pitchFamily="34" charset="0"/>
              </a:rPr>
              <a:t>## Visualize cross-validation in table format</a:t>
            </a:r>
          </a:p>
          <a:p>
            <a:r>
              <a:rPr lang="en-US" sz="1200" i="1" dirty="0" err="1">
                <a:latin typeface="Helvetica" panose="020B0604020202020204" pitchFamily="34" charset="0"/>
                <a:ea typeface="Helvetica" charset="0"/>
                <a:cs typeface="Helvetica" panose="020B0604020202020204" pitchFamily="34" charset="0"/>
              </a:rPr>
              <a:t>printcp</a:t>
            </a:r>
            <a:r>
              <a:rPr lang="en-US" sz="1200" i="1" dirty="0">
                <a:latin typeface="Helvetica" panose="020B0604020202020204" pitchFamily="34" charset="0"/>
                <a:ea typeface="Helvetica" charset="0"/>
                <a:cs typeface="Helvetica" panose="020B0604020202020204" pitchFamily="34" charset="0"/>
              </a:rPr>
              <a:t>(</a:t>
            </a:r>
            <a:r>
              <a:rPr lang="en-US" sz="1200" i="1" dirty="0" err="1">
                <a:latin typeface="Helvetica" panose="020B0604020202020204" pitchFamily="34" charset="0"/>
                <a:ea typeface="Helvetica" charset="0"/>
                <a:cs typeface="Helvetica" panose="020B0604020202020204" pitchFamily="34" charset="0"/>
              </a:rPr>
              <a:t>decision_tree</a:t>
            </a:r>
            <a:r>
              <a:rPr lang="en-US" sz="1200" i="1" dirty="0">
                <a:latin typeface="Helvetica" panose="020B0604020202020204" pitchFamily="34" charset="0"/>
                <a:ea typeface="Helvetica" charset="0"/>
                <a:cs typeface="Helvetica" panose="020B0604020202020204" pitchFamily="34" charset="0"/>
              </a:rPr>
              <a:t>)</a:t>
            </a:r>
          </a:p>
          <a:p>
            <a:endParaRPr lang="en-US" sz="1200" b="1" dirty="0">
              <a:solidFill>
                <a:srgbClr val="EAAA00"/>
              </a:solidFill>
              <a:latin typeface="Helvetica" panose="020B0604020202020204" pitchFamily="34" charset="0"/>
              <a:ea typeface="Helvetica" charset="0"/>
              <a:cs typeface="Helvetica" panose="020B0604020202020204" pitchFamily="34" charset="0"/>
            </a:endParaRPr>
          </a:p>
          <a:p>
            <a:r>
              <a:rPr lang="en-US" sz="1200" b="1" dirty="0">
                <a:solidFill>
                  <a:srgbClr val="EAAA00"/>
                </a:solidFill>
                <a:latin typeface="Helvetica" panose="020B0604020202020204" pitchFamily="34" charset="0"/>
                <a:ea typeface="Helvetica" charset="0"/>
                <a:cs typeface="Helvetica" panose="020B0604020202020204" pitchFamily="34" charset="0"/>
              </a:rPr>
              <a:t>## Plot the complexity parameter table</a:t>
            </a:r>
          </a:p>
          <a:p>
            <a:r>
              <a:rPr lang="en-US" sz="1200" i="1" dirty="0" err="1">
                <a:latin typeface="Helvetica" panose="020B0604020202020204" pitchFamily="34" charset="0"/>
                <a:ea typeface="Helvetica" charset="0"/>
                <a:cs typeface="Helvetica" panose="020B0604020202020204" pitchFamily="34" charset="0"/>
              </a:rPr>
              <a:t>plotcp</a:t>
            </a:r>
            <a:r>
              <a:rPr lang="en-US" sz="1200" i="1" dirty="0">
                <a:latin typeface="Helvetica" panose="020B0604020202020204" pitchFamily="34" charset="0"/>
                <a:ea typeface="Helvetica" charset="0"/>
                <a:cs typeface="Helvetica" panose="020B0604020202020204" pitchFamily="34" charset="0"/>
              </a:rPr>
              <a:t>(</a:t>
            </a:r>
            <a:r>
              <a:rPr lang="en-US" sz="1200" i="1" dirty="0" err="1">
                <a:latin typeface="Helvetica" panose="020B0604020202020204" pitchFamily="34" charset="0"/>
                <a:ea typeface="Helvetica" charset="0"/>
                <a:cs typeface="Helvetica" panose="020B0604020202020204" pitchFamily="34" charset="0"/>
              </a:rPr>
              <a:t>decision_tree,minline</a:t>
            </a:r>
            <a:r>
              <a:rPr lang="en-US" sz="1200" i="1" dirty="0">
                <a:latin typeface="Helvetica" panose="020B0604020202020204" pitchFamily="34" charset="0"/>
                <a:ea typeface="Helvetica" charset="0"/>
                <a:cs typeface="Helvetica" panose="020B0604020202020204" pitchFamily="34" charset="0"/>
              </a:rPr>
              <a:t> = TRUE, </a:t>
            </a:r>
            <a:r>
              <a:rPr lang="en-US" sz="1200" i="1" dirty="0" err="1">
                <a:latin typeface="Helvetica" panose="020B0604020202020204" pitchFamily="34" charset="0"/>
                <a:ea typeface="Helvetica" charset="0"/>
                <a:cs typeface="Helvetica" panose="020B0604020202020204" pitchFamily="34" charset="0"/>
              </a:rPr>
              <a:t>lty</a:t>
            </a:r>
            <a:r>
              <a:rPr lang="en-US" sz="1200" i="1" dirty="0">
                <a:latin typeface="Helvetica" panose="020B0604020202020204" pitchFamily="34" charset="0"/>
                <a:ea typeface="Helvetica" charset="0"/>
                <a:cs typeface="Helvetica" panose="020B0604020202020204" pitchFamily="34" charset="0"/>
              </a:rPr>
              <a:t> = 3,col = </a:t>
            </a:r>
            <a:r>
              <a:rPr lang="en-US" sz="1200" i="1" dirty="0" err="1">
                <a:latin typeface="Helvetica" panose="020B0604020202020204" pitchFamily="34" charset="0"/>
                <a:ea typeface="Helvetica" charset="0"/>
                <a:cs typeface="Helvetica" panose="020B0604020202020204" pitchFamily="34" charset="0"/>
              </a:rPr>
              <a:t>buzzgold</a:t>
            </a:r>
            <a:r>
              <a:rPr lang="en-US" sz="1200" i="1" dirty="0">
                <a:latin typeface="Helvetica" panose="020B0604020202020204" pitchFamily="34" charset="0"/>
                <a:ea typeface="Helvetica" charset="0"/>
                <a:cs typeface="Helvetica" panose="020B0604020202020204" pitchFamily="34" charset="0"/>
              </a:rPr>
              <a:t>)</a:t>
            </a:r>
          </a:p>
          <a:p>
            <a:endParaRPr lang="en-US" sz="1200" dirty="0">
              <a:latin typeface="Helvetica" panose="020B0604020202020204" pitchFamily="34" charset="0"/>
              <a:ea typeface="Helvetica" charset="0"/>
              <a:cs typeface="Helvetica" panose="020B0604020202020204" pitchFamily="34" charset="0"/>
            </a:endParaRPr>
          </a:p>
          <a:p>
            <a:r>
              <a:rPr lang="en-US" sz="1200" b="1" dirty="0">
                <a:solidFill>
                  <a:srgbClr val="EAAA00"/>
                </a:solidFill>
                <a:latin typeface="Helvetica" panose="020B0604020202020204" pitchFamily="34" charset="0"/>
                <a:ea typeface="Helvetica" charset="0"/>
                <a:cs typeface="Helvetica" panose="020B0604020202020204" pitchFamily="34" charset="0"/>
              </a:rPr>
              <a:t>## Predict Churn Score</a:t>
            </a:r>
          </a:p>
          <a:p>
            <a:r>
              <a:rPr lang="en-US" sz="1200" i="1" dirty="0" err="1">
                <a:latin typeface="Helvetica" panose="020B0604020202020204" pitchFamily="34" charset="0"/>
                <a:ea typeface="Helvetica" charset="0"/>
                <a:cs typeface="Helvetica" panose="020B0604020202020204" pitchFamily="34" charset="0"/>
              </a:rPr>
              <a:t>predicted_churn_score</a:t>
            </a:r>
            <a:r>
              <a:rPr lang="en-US" sz="1200" i="1" dirty="0">
                <a:latin typeface="Helvetica" panose="020B0604020202020204" pitchFamily="34" charset="0"/>
                <a:ea typeface="Helvetica" charset="0"/>
                <a:cs typeface="Helvetica" panose="020B0604020202020204" pitchFamily="34" charset="0"/>
              </a:rPr>
              <a:t> &lt;- predict(</a:t>
            </a:r>
            <a:r>
              <a:rPr lang="en-US" sz="1200" i="1" dirty="0" err="1">
                <a:latin typeface="Helvetica" panose="020B0604020202020204" pitchFamily="34" charset="0"/>
                <a:ea typeface="Helvetica" charset="0"/>
                <a:cs typeface="Helvetica" panose="020B0604020202020204" pitchFamily="34" charset="0"/>
              </a:rPr>
              <a:t>decision_tree,test,type</a:t>
            </a:r>
            <a:r>
              <a:rPr lang="en-US" sz="1200" i="1" dirty="0">
                <a:latin typeface="Helvetica" panose="020B0604020202020204" pitchFamily="34" charset="0"/>
                <a:ea typeface="Helvetica" charset="0"/>
                <a:cs typeface="Helvetica" panose="020B0604020202020204" pitchFamily="34" charset="0"/>
              </a:rPr>
              <a:t>="class")</a:t>
            </a:r>
          </a:p>
          <a:p>
            <a:endParaRPr lang="en-US" sz="1200" dirty="0">
              <a:latin typeface="Helvetica" panose="020B0604020202020204" pitchFamily="34" charset="0"/>
              <a:ea typeface="Helvetica" charset="0"/>
              <a:cs typeface="Helvetica" panose="020B0604020202020204" pitchFamily="34" charset="0"/>
            </a:endParaRPr>
          </a:p>
          <a:p>
            <a:r>
              <a:rPr lang="en-US" sz="1200" b="1" dirty="0">
                <a:solidFill>
                  <a:srgbClr val="EAAA00"/>
                </a:solidFill>
                <a:latin typeface="Helvetica" panose="020B0604020202020204" pitchFamily="34" charset="0"/>
                <a:ea typeface="Helvetica" charset="0"/>
                <a:cs typeface="Helvetica" panose="020B0604020202020204" pitchFamily="34" charset="0"/>
              </a:rPr>
              <a:t>## Create Confusion Matrix</a:t>
            </a:r>
          </a:p>
          <a:p>
            <a:r>
              <a:rPr lang="en-US" sz="1200" i="1" dirty="0" err="1">
                <a:latin typeface="Helvetica" panose="020B0604020202020204" pitchFamily="34" charset="0"/>
                <a:ea typeface="Helvetica" charset="0"/>
                <a:cs typeface="Helvetica" panose="020B0604020202020204" pitchFamily="34" charset="0"/>
              </a:rPr>
              <a:t>confusionMatrix</a:t>
            </a:r>
            <a:r>
              <a:rPr lang="en-US" sz="1200" i="1" dirty="0">
                <a:latin typeface="Helvetica" panose="020B0604020202020204" pitchFamily="34" charset="0"/>
                <a:ea typeface="Helvetica" charset="0"/>
                <a:cs typeface="Helvetica" panose="020B0604020202020204" pitchFamily="34" charset="0"/>
              </a:rPr>
              <a:t>(data = </a:t>
            </a:r>
            <a:r>
              <a:rPr lang="en-US" sz="1200" i="1" dirty="0" err="1">
                <a:latin typeface="Helvetica" panose="020B0604020202020204" pitchFamily="34" charset="0"/>
                <a:ea typeface="Helvetica" charset="0"/>
                <a:cs typeface="Helvetica" panose="020B0604020202020204" pitchFamily="34" charset="0"/>
              </a:rPr>
              <a:t>as.factor</a:t>
            </a:r>
            <a:r>
              <a:rPr lang="en-US" sz="1200" i="1" dirty="0">
                <a:latin typeface="Helvetica" panose="020B0604020202020204" pitchFamily="34" charset="0"/>
                <a:ea typeface="Helvetica" charset="0"/>
                <a:cs typeface="Helvetica" panose="020B0604020202020204" pitchFamily="34" charset="0"/>
              </a:rPr>
              <a:t>(</a:t>
            </a:r>
            <a:r>
              <a:rPr lang="en-US" sz="1200" i="1" dirty="0" err="1">
                <a:latin typeface="Helvetica" panose="020B0604020202020204" pitchFamily="34" charset="0"/>
                <a:ea typeface="Helvetica" charset="0"/>
                <a:cs typeface="Helvetica" panose="020B0604020202020204" pitchFamily="34" charset="0"/>
              </a:rPr>
              <a:t>predicted_churn_score</a:t>
            </a:r>
            <a:r>
              <a:rPr lang="en-US" sz="1200" i="1" dirty="0">
                <a:latin typeface="Helvetica" panose="020B0604020202020204" pitchFamily="34" charset="0"/>
                <a:ea typeface="Helvetica" charset="0"/>
                <a:cs typeface="Helvetica" panose="020B0604020202020204" pitchFamily="34" charset="0"/>
              </a:rPr>
              <a:t>), reference = </a:t>
            </a:r>
            <a:r>
              <a:rPr lang="en-US" sz="1200" i="1" dirty="0" err="1">
                <a:latin typeface="Helvetica" panose="020B0604020202020204" pitchFamily="34" charset="0"/>
                <a:ea typeface="Helvetica" charset="0"/>
                <a:cs typeface="Helvetica" panose="020B0604020202020204" pitchFamily="34" charset="0"/>
              </a:rPr>
              <a:t>as.factor</a:t>
            </a:r>
            <a:r>
              <a:rPr lang="en-US" sz="1200" i="1" dirty="0">
                <a:latin typeface="Helvetica" panose="020B0604020202020204" pitchFamily="34" charset="0"/>
                <a:ea typeface="Helvetica" charset="0"/>
                <a:cs typeface="Helvetica" panose="020B0604020202020204" pitchFamily="34" charset="0"/>
              </a:rPr>
              <a:t>(</a:t>
            </a:r>
            <a:r>
              <a:rPr lang="en-US" sz="1200" i="1" dirty="0" err="1">
                <a:latin typeface="Helvetica" panose="020B0604020202020204" pitchFamily="34" charset="0"/>
                <a:ea typeface="Helvetica" charset="0"/>
                <a:cs typeface="Helvetica" panose="020B0604020202020204" pitchFamily="34" charset="0"/>
              </a:rPr>
              <a:t>test$Churn.Value</a:t>
            </a:r>
            <a:r>
              <a:rPr lang="en-US" sz="1200" i="1" dirty="0">
                <a:latin typeface="Helvetica" panose="020B0604020202020204" pitchFamily="34" charset="0"/>
                <a:ea typeface="Helvetica" charset="0"/>
                <a:cs typeface="Helvetica" panose="020B0604020202020204" pitchFamily="34" charset="0"/>
              </a:rPr>
              <a:t>), positive = "1")</a:t>
            </a:r>
          </a:p>
        </p:txBody>
      </p:sp>
      <p:sp>
        <p:nvSpPr>
          <p:cNvPr id="6" name="标题 1">
            <a:extLst>
              <a:ext uri="{FF2B5EF4-FFF2-40B4-BE49-F238E27FC236}">
                <a16:creationId xmlns:a16="http://schemas.microsoft.com/office/drawing/2014/main" xmlns="" id="{ADD3FE46-9D49-6D43-931D-AFD4ADBEEC73}"/>
              </a:ext>
            </a:extLst>
          </p:cNvPr>
          <p:cNvSpPr>
            <a:spLocks noGrp="1"/>
          </p:cNvSpPr>
          <p:nvPr>
            <p:ph type="title"/>
          </p:nvPr>
        </p:nvSpPr>
        <p:spPr>
          <a:xfrm>
            <a:off x="74325" y="153298"/>
            <a:ext cx="8562392" cy="631629"/>
          </a:xfrm>
        </p:spPr>
        <p:txBody>
          <a:bodyPr/>
          <a:lstStyle/>
          <a:p>
            <a:r>
              <a:rPr kumimoji="1" lang="en-US" altLang="zh-CN" sz="3600" dirty="0">
                <a:latin typeface="Vitesse"/>
              </a:rPr>
              <a:t>Decision Trees: Prediction</a:t>
            </a:r>
            <a:endParaRPr kumimoji="1" lang="zh-CN" altLang="en-US" sz="3600" dirty="0">
              <a:latin typeface="Vitesse"/>
            </a:endParaRPr>
          </a:p>
        </p:txBody>
      </p:sp>
      <p:pic>
        <p:nvPicPr>
          <p:cNvPr id="8" name="Picture 7" descr="A screenshot of a cell phone&#10;&#10;Description automatically generated">
            <a:extLst>
              <a:ext uri="{FF2B5EF4-FFF2-40B4-BE49-F238E27FC236}">
                <a16:creationId xmlns:a16="http://schemas.microsoft.com/office/drawing/2014/main" xmlns="" id="{0D7CFAE7-90C7-364B-8364-2789DAB5B4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43500" y="898215"/>
            <a:ext cx="3769686" cy="2931898"/>
          </a:xfrm>
          <a:prstGeom prst="rect">
            <a:avLst/>
          </a:prstGeom>
          <a:ln w="19050">
            <a:solidFill>
              <a:schemeClr val="tx2"/>
            </a:solidFill>
          </a:ln>
        </p:spPr>
      </p:pic>
      <p:sp>
        <p:nvSpPr>
          <p:cNvPr id="10" name="TextBox 9">
            <a:extLst>
              <a:ext uri="{FF2B5EF4-FFF2-40B4-BE49-F238E27FC236}">
                <a16:creationId xmlns:a16="http://schemas.microsoft.com/office/drawing/2014/main" xmlns="" id="{7087C023-CDF8-EB42-9429-E1A24887DEC3}"/>
              </a:ext>
            </a:extLst>
          </p:cNvPr>
          <p:cNvSpPr txBox="1"/>
          <p:nvPr/>
        </p:nvSpPr>
        <p:spPr>
          <a:xfrm>
            <a:off x="193008" y="3656902"/>
            <a:ext cx="4378992" cy="954107"/>
          </a:xfrm>
          <a:prstGeom prst="rect">
            <a:avLst/>
          </a:prstGeom>
          <a:noFill/>
          <a:ln w="19050">
            <a:solidFill>
              <a:schemeClr val="tx2"/>
            </a:solidFill>
          </a:ln>
        </p:spPr>
        <p:txBody>
          <a:bodyPr wrap="square" rtlCol="0">
            <a:spAutoFit/>
          </a:bodyPr>
          <a:lstStyle/>
          <a:p>
            <a:pPr marL="285750" indent="-285750">
              <a:buFont typeface="Arial" panose="020B0604020202020204" pitchFamily="34" charset="0"/>
              <a:buChar char="•"/>
            </a:pPr>
            <a:r>
              <a:rPr lang="en-CA" sz="1400" dirty="0">
                <a:latin typeface="Helvetica" pitchFamily="2" charset="0"/>
              </a:rPr>
              <a:t>Complexity Parameter finds the size of the tree that balances the size of the tree and the goodness of fit</a:t>
            </a:r>
          </a:p>
          <a:p>
            <a:pPr marL="285750" indent="-285750">
              <a:buFont typeface="Arial" panose="020B0604020202020204" pitchFamily="34" charset="0"/>
              <a:buChar char="•"/>
            </a:pPr>
            <a:r>
              <a:rPr lang="en-CA" sz="1400" dirty="0">
                <a:latin typeface="Helvetica" pitchFamily="2" charset="0"/>
              </a:rPr>
              <a:t>Note that tree size 7 minimizes the CP</a:t>
            </a:r>
          </a:p>
        </p:txBody>
      </p:sp>
      <p:graphicFrame>
        <p:nvGraphicFramePr>
          <p:cNvPr id="15" name="Table 14">
            <a:extLst>
              <a:ext uri="{FF2B5EF4-FFF2-40B4-BE49-F238E27FC236}">
                <a16:creationId xmlns:a16="http://schemas.microsoft.com/office/drawing/2014/main" xmlns="" id="{34B85F26-A018-904C-9490-4017512C5A81}"/>
              </a:ext>
            </a:extLst>
          </p:cNvPr>
          <p:cNvGraphicFramePr>
            <a:graphicFrameLocks noGrp="1"/>
          </p:cNvGraphicFramePr>
          <p:nvPr>
            <p:extLst>
              <p:ext uri="{D42A27DB-BD31-4B8C-83A1-F6EECF244321}">
                <p14:modId xmlns:p14="http://schemas.microsoft.com/office/powerpoint/2010/main" val="3038580419"/>
              </p:ext>
            </p:extLst>
          </p:nvPr>
        </p:nvGraphicFramePr>
        <p:xfrm>
          <a:off x="5152241" y="3951411"/>
          <a:ext cx="2591839" cy="668655"/>
        </p:xfrm>
        <a:graphic>
          <a:graphicData uri="http://schemas.openxmlformats.org/drawingml/2006/table">
            <a:tbl>
              <a:tblPr>
                <a:tableStyleId>{5C22544A-7EE6-4342-B048-85BDC9FD1C3A}</a:tableStyleId>
              </a:tblPr>
              <a:tblGrid>
                <a:gridCol w="1418492">
                  <a:extLst>
                    <a:ext uri="{9D8B030D-6E8A-4147-A177-3AD203B41FA5}">
                      <a16:colId xmlns:a16="http://schemas.microsoft.com/office/drawing/2014/main" xmlns="" val="442818785"/>
                    </a:ext>
                  </a:extLst>
                </a:gridCol>
                <a:gridCol w="687823">
                  <a:extLst>
                    <a:ext uri="{9D8B030D-6E8A-4147-A177-3AD203B41FA5}">
                      <a16:colId xmlns:a16="http://schemas.microsoft.com/office/drawing/2014/main" xmlns="" val="1394567457"/>
                    </a:ext>
                  </a:extLst>
                </a:gridCol>
                <a:gridCol w="485524">
                  <a:extLst>
                    <a:ext uri="{9D8B030D-6E8A-4147-A177-3AD203B41FA5}">
                      <a16:colId xmlns:a16="http://schemas.microsoft.com/office/drawing/2014/main" xmlns="" val="1995667504"/>
                    </a:ext>
                  </a:extLst>
                </a:gridCol>
              </a:tblGrid>
              <a:tr h="190500">
                <a:tc>
                  <a:txBody>
                    <a:bodyPr/>
                    <a:lstStyle/>
                    <a:p>
                      <a:pPr algn="l" fontAlgn="b"/>
                      <a:r>
                        <a:rPr lang="en-US" sz="1400" u="none" strike="noStrike" dirty="0">
                          <a:effectLst/>
                          <a:latin typeface="Helvetica" panose="020B0604020202020204" pitchFamily="34" charset="0"/>
                          <a:cs typeface="Helvetica" panose="020B0604020202020204" pitchFamily="34" charset="0"/>
                        </a:rPr>
                        <a:t> Prediction\Actual</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9050" cap="flat" cmpd="sng" algn="ctr">
                      <a:solidFill>
                        <a:schemeClr val="tx2"/>
                      </a:solidFill>
                      <a:prstDash val="solid"/>
                      <a:round/>
                      <a:headEnd type="none" w="med" len="med"/>
                      <a:tailEnd type="none" w="med" len="med"/>
                    </a:lnL>
                    <a:lnR w="12700" cmpd="sng">
                      <a:noFill/>
                    </a:lnR>
                    <a:lnT w="1905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b"/>
                      <a:r>
                        <a:rPr lang="x-none" sz="1400" u="none" strike="noStrike" dirty="0">
                          <a:effectLst/>
                          <a:latin typeface="Helvetica" panose="020B0604020202020204" pitchFamily="34" charset="0"/>
                          <a:cs typeface="Helvetica" panose="020B0604020202020204" pitchFamily="34" charset="0"/>
                        </a:rPr>
                        <a:t>0</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2700" cmpd="sng">
                      <a:noFill/>
                    </a:lnL>
                    <a:lnR w="12700" cmpd="sng">
                      <a:noFill/>
                    </a:lnR>
                    <a:lnT w="1905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b"/>
                      <a:r>
                        <a:rPr lang="x-none" sz="1400" u="none" strike="noStrike" dirty="0">
                          <a:effectLst/>
                          <a:latin typeface="Helvetica" panose="020B0604020202020204" pitchFamily="34" charset="0"/>
                          <a:cs typeface="Helvetica" panose="020B0604020202020204" pitchFamily="34" charset="0"/>
                        </a:rPr>
                        <a:t>1</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2700" cmpd="sng">
                      <a:noFill/>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576493436"/>
                  </a:ext>
                </a:extLst>
              </a:tr>
              <a:tr h="190500">
                <a:tc>
                  <a:txBody>
                    <a:bodyPr/>
                    <a:lstStyle/>
                    <a:p>
                      <a:pPr algn="r" fontAlgn="b"/>
                      <a:r>
                        <a:rPr lang="x-none" sz="1400" u="none" strike="noStrike" dirty="0">
                          <a:effectLst/>
                          <a:latin typeface="Helvetica" panose="020B0604020202020204" pitchFamily="34" charset="0"/>
                          <a:cs typeface="Helvetica" panose="020B0604020202020204" pitchFamily="34" charset="0"/>
                        </a:rPr>
                        <a:t>0</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90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x-none" sz="1400" u="none" strike="noStrike" dirty="0">
                          <a:effectLst/>
                          <a:latin typeface="Helvetica" panose="020B0604020202020204" pitchFamily="34" charset="0"/>
                          <a:cs typeface="Helvetica" panose="020B0604020202020204" pitchFamily="34" charset="0"/>
                        </a:rPr>
                        <a:t>1220</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x-none" sz="1400" u="none" strike="noStrike" dirty="0">
                          <a:effectLst/>
                          <a:latin typeface="Helvetica" panose="020B0604020202020204" pitchFamily="34" charset="0"/>
                          <a:cs typeface="Helvetica" panose="020B0604020202020204" pitchFamily="34" charset="0"/>
                        </a:rPr>
                        <a:t>284</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2700" cmpd="sng">
                      <a:noFill/>
                    </a:lnL>
                    <a:lnR w="190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3714009403"/>
                  </a:ext>
                </a:extLst>
              </a:tr>
              <a:tr h="190500">
                <a:tc>
                  <a:txBody>
                    <a:bodyPr/>
                    <a:lstStyle/>
                    <a:p>
                      <a:pPr algn="r" fontAlgn="b"/>
                      <a:r>
                        <a:rPr lang="x-none" sz="1400" u="none" strike="noStrike" dirty="0">
                          <a:effectLst/>
                          <a:latin typeface="Helvetica" panose="020B0604020202020204" pitchFamily="34" charset="0"/>
                          <a:cs typeface="Helvetica" panose="020B0604020202020204" pitchFamily="34" charset="0"/>
                        </a:rPr>
                        <a:t>1</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9050" cap="flat" cmpd="sng" algn="ctr">
                      <a:solidFill>
                        <a:schemeClr val="tx2"/>
                      </a:solidFill>
                      <a:prstDash val="solid"/>
                      <a:round/>
                      <a:headEnd type="none" w="med" len="med"/>
                      <a:tailEnd type="none" w="med" len="med"/>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x-none" sz="1400" u="none" strike="noStrike" dirty="0">
                          <a:effectLst/>
                          <a:latin typeface="Helvetica" panose="020B0604020202020204" pitchFamily="34" charset="0"/>
                          <a:cs typeface="Helvetica" panose="020B0604020202020204" pitchFamily="34" charset="0"/>
                        </a:rPr>
                        <a:t>71</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2700" cmpd="sng">
                      <a:noFill/>
                    </a:lnL>
                    <a:lnR w="12700" cmpd="sng">
                      <a:noFill/>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x-none" sz="1400" u="none" strike="noStrike" dirty="0">
                          <a:effectLst/>
                          <a:latin typeface="Helvetica" panose="020B0604020202020204" pitchFamily="34" charset="0"/>
                          <a:cs typeface="Helvetica" panose="020B0604020202020204" pitchFamily="34" charset="0"/>
                        </a:rPr>
                        <a:t>183</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2700" cmpd="sng">
                      <a:noFill/>
                    </a:lnL>
                    <a:lnR w="19050" cap="flat" cmpd="sng" algn="ctr">
                      <a:solidFill>
                        <a:schemeClr val="tx2"/>
                      </a:solidFill>
                      <a:prstDash val="solid"/>
                      <a:round/>
                      <a:headEnd type="none" w="med" len="med"/>
                      <a:tailEnd type="none" w="med" len="med"/>
                    </a:lnR>
                    <a:lnT w="12700" cmpd="sng">
                      <a:noFill/>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513004309"/>
                  </a:ext>
                </a:extLst>
              </a:tr>
            </a:tbl>
          </a:graphicData>
        </a:graphic>
      </p:graphicFrame>
    </p:spTree>
    <p:custDataLst>
      <p:tags r:id="rId1"/>
    </p:custDataLst>
    <p:extLst>
      <p:ext uri="{BB962C8B-B14F-4D97-AF65-F5344CB8AC3E}">
        <p14:creationId xmlns:p14="http://schemas.microsoft.com/office/powerpoint/2010/main" val="10299583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233" y="153298"/>
            <a:ext cx="8562392" cy="631629"/>
          </a:xfrm>
        </p:spPr>
        <p:txBody>
          <a:bodyPr/>
          <a:lstStyle/>
          <a:p>
            <a:r>
              <a:rPr kumimoji="1" lang="en-US" altLang="zh-CN" sz="3600" dirty="0">
                <a:latin typeface="Vitesse"/>
              </a:rPr>
              <a:t>Random Forest: Implementation</a:t>
            </a:r>
            <a:endParaRPr kumimoji="1" lang="zh-CN" altLang="en-US" sz="3600" dirty="0">
              <a:latin typeface="Vitesse"/>
            </a:endParaRPr>
          </a:p>
        </p:txBody>
      </p:sp>
      <p:sp>
        <p:nvSpPr>
          <p:cNvPr id="11" name="Rectangle 10">
            <a:extLst>
              <a:ext uri="{FF2B5EF4-FFF2-40B4-BE49-F238E27FC236}">
                <a16:creationId xmlns:a16="http://schemas.microsoft.com/office/drawing/2014/main" xmlns="" id="{3370F9CE-31EA-F24A-B70B-60DA712A089B}"/>
              </a:ext>
            </a:extLst>
          </p:cNvPr>
          <p:cNvSpPr/>
          <p:nvPr/>
        </p:nvSpPr>
        <p:spPr>
          <a:xfrm>
            <a:off x="106692" y="792083"/>
            <a:ext cx="4465308" cy="4139595"/>
          </a:xfrm>
          <a:prstGeom prst="rect">
            <a:avLst/>
          </a:prstGeom>
        </p:spPr>
        <p:txBody>
          <a:bodyPr wrap="square">
            <a:spAutoFit/>
          </a:bodyPr>
          <a:lstStyle/>
          <a:p>
            <a:pPr marL="339725" indent="-339725">
              <a:buFont typeface="Arial" panose="020B0604020202020204" pitchFamily="34" charset="0"/>
              <a:buChar char="•"/>
            </a:pPr>
            <a:r>
              <a:rPr lang="en-US" sz="1400" dirty="0">
                <a:latin typeface="Helvetica" pitchFamily="2" charset="0"/>
              </a:rPr>
              <a:t>A main issue of the tree-based method is large variance</a:t>
            </a:r>
          </a:p>
          <a:p>
            <a:pPr marL="339725" indent="-339725">
              <a:buFont typeface="Arial" panose="020B0604020202020204" pitchFamily="34" charset="0"/>
              <a:buChar char="•"/>
            </a:pPr>
            <a:r>
              <a:rPr lang="en-US" sz="1400" dirty="0">
                <a:latin typeface="Helvetica" pitchFamily="2" charset="0"/>
              </a:rPr>
              <a:t>Trees (if grown deep enough) have low bias: can capture complicated structure but are known to be very noisy (Bias-variance tradeoff)</a:t>
            </a:r>
          </a:p>
          <a:p>
            <a:pPr marL="339725" indent="-339725">
              <a:buFont typeface="Arial" panose="020B0604020202020204" pitchFamily="34" charset="0"/>
              <a:buChar char="•"/>
            </a:pPr>
            <a:r>
              <a:rPr lang="en-US" sz="1400" dirty="0">
                <a:latin typeface="Helvetica" pitchFamily="2" charset="0"/>
              </a:rPr>
              <a:t>Random forest: averaging</a:t>
            </a:r>
          </a:p>
          <a:p>
            <a:endParaRPr lang="en-CA" sz="1100" dirty="0">
              <a:latin typeface="Helvetica" pitchFamily="2" charset="0"/>
            </a:endParaRPr>
          </a:p>
          <a:p>
            <a:r>
              <a:rPr lang="en-US" sz="1200" b="1" dirty="0">
                <a:solidFill>
                  <a:srgbClr val="EAAA00"/>
                </a:solidFill>
                <a:latin typeface="Helvetica" pitchFamily="2" charset="0"/>
              </a:rPr>
              <a:t>## Build Random Forest Model</a:t>
            </a:r>
          </a:p>
          <a:p>
            <a:r>
              <a:rPr lang="en-US" sz="1200" i="1" dirty="0">
                <a:latin typeface="Helvetica" pitchFamily="2" charset="0"/>
              </a:rPr>
              <a:t>rf &lt;- </a:t>
            </a:r>
            <a:r>
              <a:rPr lang="en-US" sz="1200" i="1" dirty="0" err="1">
                <a:latin typeface="Helvetica" pitchFamily="2" charset="0"/>
              </a:rPr>
              <a:t>randomForest</a:t>
            </a:r>
            <a:r>
              <a:rPr lang="en-US" sz="1200" i="1" dirty="0">
                <a:latin typeface="Helvetica" pitchFamily="2" charset="0"/>
              </a:rPr>
              <a:t>(factor(</a:t>
            </a:r>
            <a:r>
              <a:rPr lang="en-US" sz="1200" i="1" dirty="0" err="1">
                <a:latin typeface="Helvetica" pitchFamily="2" charset="0"/>
              </a:rPr>
              <a:t>Churn.Value</a:t>
            </a:r>
            <a:r>
              <a:rPr lang="en-US" sz="1200" i="1" dirty="0">
                <a:latin typeface="Helvetica" pitchFamily="2" charset="0"/>
              </a:rPr>
              <a:t>)~.,data = train)</a:t>
            </a:r>
          </a:p>
          <a:p>
            <a:endParaRPr lang="en-US" sz="1200" dirty="0">
              <a:latin typeface="Helvetica" pitchFamily="2" charset="0"/>
            </a:endParaRPr>
          </a:p>
          <a:p>
            <a:r>
              <a:rPr lang="en-US" sz="1200" b="1" dirty="0">
                <a:solidFill>
                  <a:srgbClr val="EAAA00"/>
                </a:solidFill>
                <a:latin typeface="Helvetica" pitchFamily="2" charset="0"/>
              </a:rPr>
              <a:t>## Predict using Random Forest Model</a:t>
            </a:r>
          </a:p>
          <a:p>
            <a:r>
              <a:rPr lang="en-US" sz="1200" i="1" dirty="0" err="1">
                <a:latin typeface="Helvetica" pitchFamily="2" charset="0"/>
              </a:rPr>
              <a:t>pred_test</a:t>
            </a:r>
            <a:r>
              <a:rPr lang="en-US" sz="1200" i="1" dirty="0">
                <a:latin typeface="Helvetica" pitchFamily="2" charset="0"/>
              </a:rPr>
              <a:t> &lt;- predict(rf, test, type="class")</a:t>
            </a:r>
          </a:p>
          <a:p>
            <a:endParaRPr lang="en-US" sz="1200" dirty="0">
              <a:latin typeface="Helvetica" pitchFamily="2" charset="0"/>
            </a:endParaRPr>
          </a:p>
          <a:p>
            <a:r>
              <a:rPr lang="en-US" sz="1200" b="1" dirty="0">
                <a:solidFill>
                  <a:srgbClr val="EAAA00"/>
                </a:solidFill>
                <a:latin typeface="Helvetica" pitchFamily="2" charset="0"/>
              </a:rPr>
              <a:t>## Confusion Matrix</a:t>
            </a:r>
          </a:p>
          <a:p>
            <a:r>
              <a:rPr lang="en-US" sz="1200" i="1" dirty="0" err="1">
                <a:latin typeface="Helvetica" pitchFamily="2" charset="0"/>
              </a:rPr>
              <a:t>rf$confusion</a:t>
            </a:r>
            <a:endParaRPr lang="en-US" sz="1200" i="1" dirty="0">
              <a:latin typeface="Helvetica" pitchFamily="2" charset="0"/>
            </a:endParaRPr>
          </a:p>
          <a:p>
            <a:r>
              <a:rPr lang="en-US" sz="1200" i="1" dirty="0" err="1">
                <a:latin typeface="Helvetica" pitchFamily="2" charset="0"/>
              </a:rPr>
              <a:t>accuracy_rf</a:t>
            </a:r>
            <a:r>
              <a:rPr lang="en-US" sz="1200" i="1" dirty="0">
                <a:latin typeface="Helvetica" pitchFamily="2" charset="0"/>
              </a:rPr>
              <a:t> &lt;- (</a:t>
            </a:r>
            <a:r>
              <a:rPr lang="en-US" sz="1200" i="1" dirty="0" err="1">
                <a:latin typeface="Helvetica" pitchFamily="2" charset="0"/>
              </a:rPr>
              <a:t>rf$confusion</a:t>
            </a:r>
            <a:r>
              <a:rPr lang="en-US" sz="1200" i="1" dirty="0">
                <a:latin typeface="Helvetica" pitchFamily="2" charset="0"/>
              </a:rPr>
              <a:t>[1,1]+</a:t>
            </a:r>
            <a:r>
              <a:rPr lang="en-US" sz="1200" i="1" dirty="0" err="1">
                <a:latin typeface="Helvetica" pitchFamily="2" charset="0"/>
              </a:rPr>
              <a:t>rf$confusion</a:t>
            </a:r>
            <a:r>
              <a:rPr lang="en-US" sz="1200" i="1" dirty="0">
                <a:latin typeface="Helvetica" pitchFamily="2" charset="0"/>
              </a:rPr>
              <a:t>[2,2])/(</a:t>
            </a:r>
            <a:r>
              <a:rPr lang="en-US" sz="1200" i="1" dirty="0" err="1">
                <a:latin typeface="Helvetica" pitchFamily="2" charset="0"/>
              </a:rPr>
              <a:t>rf$confusion</a:t>
            </a:r>
            <a:r>
              <a:rPr lang="en-US" sz="1200" i="1" dirty="0">
                <a:latin typeface="Helvetica" pitchFamily="2" charset="0"/>
              </a:rPr>
              <a:t>[1,1]+</a:t>
            </a:r>
            <a:r>
              <a:rPr lang="en-US" sz="1200" i="1" dirty="0" err="1">
                <a:latin typeface="Helvetica" pitchFamily="2" charset="0"/>
              </a:rPr>
              <a:t>rf$confusion</a:t>
            </a:r>
            <a:r>
              <a:rPr lang="en-US" sz="1200" i="1" dirty="0">
                <a:latin typeface="Helvetica" pitchFamily="2" charset="0"/>
              </a:rPr>
              <a:t>[1,2]+</a:t>
            </a:r>
            <a:r>
              <a:rPr lang="en-US" sz="1200" i="1" dirty="0" err="1">
                <a:latin typeface="Helvetica" pitchFamily="2" charset="0"/>
              </a:rPr>
              <a:t>rf$confusion</a:t>
            </a:r>
            <a:r>
              <a:rPr lang="en-US" sz="1200" i="1" dirty="0">
                <a:latin typeface="Helvetica" pitchFamily="2" charset="0"/>
              </a:rPr>
              <a:t>[2,1]+</a:t>
            </a:r>
            <a:r>
              <a:rPr lang="en-US" sz="1200" i="1" dirty="0" err="1">
                <a:latin typeface="Helvetica" pitchFamily="2" charset="0"/>
              </a:rPr>
              <a:t>rf$confusion</a:t>
            </a:r>
            <a:r>
              <a:rPr lang="en-US" sz="1200" i="1" dirty="0">
                <a:latin typeface="Helvetica" pitchFamily="2" charset="0"/>
              </a:rPr>
              <a:t>[2,2])</a:t>
            </a:r>
          </a:p>
          <a:p>
            <a:r>
              <a:rPr lang="en-US" sz="1200" i="1" dirty="0" err="1">
                <a:latin typeface="Helvetica" pitchFamily="2" charset="0"/>
              </a:rPr>
              <a:t>accuracy_rf</a:t>
            </a:r>
            <a:endParaRPr lang="en-US" sz="1200" i="1" dirty="0">
              <a:latin typeface="Helvetica" pitchFamily="2" charset="0"/>
            </a:endParaRPr>
          </a:p>
          <a:p>
            <a:r>
              <a:rPr lang="en-US" sz="1200" i="1" dirty="0" err="1">
                <a:latin typeface="Helvetica" pitchFamily="2" charset="0"/>
              </a:rPr>
              <a:t>pred_metrics</a:t>
            </a:r>
            <a:r>
              <a:rPr lang="en-US" sz="1200" i="1" dirty="0">
                <a:latin typeface="Helvetica" pitchFamily="2" charset="0"/>
              </a:rPr>
              <a:t>("Random Forest Model",</a:t>
            </a:r>
            <a:r>
              <a:rPr lang="en-US" sz="1200" i="1" dirty="0" err="1">
                <a:latin typeface="Helvetica" pitchFamily="2" charset="0"/>
              </a:rPr>
              <a:t>test$Churn.Value</a:t>
            </a:r>
            <a:r>
              <a:rPr lang="en-US" sz="1200" i="1" dirty="0">
                <a:latin typeface="Helvetica" pitchFamily="2" charset="0"/>
              </a:rPr>
              <a:t>, </a:t>
            </a:r>
            <a:r>
              <a:rPr lang="en-US" sz="1200" i="1" dirty="0" err="1">
                <a:latin typeface="Helvetica" pitchFamily="2" charset="0"/>
              </a:rPr>
              <a:t>pred_test</a:t>
            </a:r>
            <a:r>
              <a:rPr lang="en-US" sz="1200" i="1" dirty="0">
                <a:latin typeface="Helvetica" pitchFamily="2" charset="0"/>
              </a:rPr>
              <a:t>)</a:t>
            </a:r>
          </a:p>
        </p:txBody>
      </p:sp>
      <p:graphicFrame>
        <p:nvGraphicFramePr>
          <p:cNvPr id="12" name="Table 11">
            <a:extLst>
              <a:ext uri="{FF2B5EF4-FFF2-40B4-BE49-F238E27FC236}">
                <a16:creationId xmlns:a16="http://schemas.microsoft.com/office/drawing/2014/main" xmlns="" id="{191F3F8B-5EF5-3D48-92EF-A7C64F80E344}"/>
              </a:ext>
            </a:extLst>
          </p:cNvPr>
          <p:cNvGraphicFramePr>
            <a:graphicFrameLocks noGrp="1"/>
          </p:cNvGraphicFramePr>
          <p:nvPr>
            <p:extLst>
              <p:ext uri="{D42A27DB-BD31-4B8C-83A1-F6EECF244321}">
                <p14:modId xmlns:p14="http://schemas.microsoft.com/office/powerpoint/2010/main" val="1262847828"/>
              </p:ext>
            </p:extLst>
          </p:nvPr>
        </p:nvGraphicFramePr>
        <p:xfrm>
          <a:off x="5154628" y="1964863"/>
          <a:ext cx="3109856" cy="668655"/>
        </p:xfrm>
        <a:graphic>
          <a:graphicData uri="http://schemas.openxmlformats.org/drawingml/2006/table">
            <a:tbl>
              <a:tblPr>
                <a:tableStyleId>{5C22544A-7EE6-4342-B048-85BDC9FD1C3A}</a:tableStyleId>
              </a:tblPr>
              <a:tblGrid>
                <a:gridCol w="1532929">
                  <a:extLst>
                    <a:ext uri="{9D8B030D-6E8A-4147-A177-3AD203B41FA5}">
                      <a16:colId xmlns:a16="http://schemas.microsoft.com/office/drawing/2014/main" xmlns="" val="1193186410"/>
                    </a:ext>
                  </a:extLst>
                </a:gridCol>
                <a:gridCol w="806805">
                  <a:extLst>
                    <a:ext uri="{9D8B030D-6E8A-4147-A177-3AD203B41FA5}">
                      <a16:colId xmlns:a16="http://schemas.microsoft.com/office/drawing/2014/main" xmlns="" val="425878438"/>
                    </a:ext>
                  </a:extLst>
                </a:gridCol>
                <a:gridCol w="770122">
                  <a:extLst>
                    <a:ext uri="{9D8B030D-6E8A-4147-A177-3AD203B41FA5}">
                      <a16:colId xmlns:a16="http://schemas.microsoft.com/office/drawing/2014/main" xmlns="" val="2080939082"/>
                    </a:ext>
                  </a:extLst>
                </a:gridCol>
              </a:tblGrid>
              <a:tr h="190500">
                <a:tc>
                  <a:txBody>
                    <a:bodyPr/>
                    <a:lstStyle/>
                    <a:p>
                      <a:pPr algn="l" fontAlgn="b"/>
                      <a:r>
                        <a:rPr lang="en-US" sz="1400" u="none" strike="noStrike" dirty="0">
                          <a:effectLst/>
                          <a:latin typeface="Helvetica" panose="020B0604020202020204" pitchFamily="34" charset="0"/>
                          <a:cs typeface="Helvetica" panose="020B0604020202020204" pitchFamily="34" charset="0"/>
                        </a:rPr>
                        <a:t>Prediction\Actual</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9050" cap="flat" cmpd="sng" algn="ctr">
                      <a:solidFill>
                        <a:schemeClr val="tx2"/>
                      </a:solidFill>
                      <a:prstDash val="solid"/>
                      <a:round/>
                      <a:headEnd type="none" w="med" len="med"/>
                      <a:tailEnd type="none" w="med" len="med"/>
                    </a:lnL>
                    <a:lnT w="19050" cap="flat" cmpd="sng" algn="ctr">
                      <a:solidFill>
                        <a:schemeClr val="tx2"/>
                      </a:solidFill>
                      <a:prstDash val="solid"/>
                      <a:round/>
                      <a:headEnd type="none" w="med" len="med"/>
                      <a:tailEnd type="none" w="med" len="med"/>
                    </a:lnT>
                    <a:noFill/>
                  </a:tcPr>
                </a:tc>
                <a:tc>
                  <a:txBody>
                    <a:bodyPr/>
                    <a:lstStyle/>
                    <a:p>
                      <a:pPr algn="r" fontAlgn="b"/>
                      <a:r>
                        <a:rPr lang="x-none" sz="1400" u="none" strike="noStrike">
                          <a:effectLst/>
                          <a:latin typeface="Helvetica" panose="020B0604020202020204" pitchFamily="34" charset="0"/>
                          <a:cs typeface="Helvetica" panose="020B0604020202020204" pitchFamily="34" charset="0"/>
                        </a:rPr>
                        <a:t>0</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lnT w="19050" cap="flat" cmpd="sng" algn="ctr">
                      <a:solidFill>
                        <a:schemeClr val="tx2"/>
                      </a:solidFill>
                      <a:prstDash val="solid"/>
                      <a:round/>
                      <a:headEnd type="none" w="med" len="med"/>
                      <a:tailEnd type="none" w="med" len="med"/>
                    </a:lnT>
                    <a:noFill/>
                  </a:tcPr>
                </a:tc>
                <a:tc>
                  <a:txBody>
                    <a:bodyPr/>
                    <a:lstStyle/>
                    <a:p>
                      <a:pPr algn="r" fontAlgn="b"/>
                      <a:r>
                        <a:rPr lang="x-none" sz="1400" u="none" strike="noStrike">
                          <a:effectLst/>
                          <a:latin typeface="Helvetica" panose="020B0604020202020204" pitchFamily="34" charset="0"/>
                          <a:cs typeface="Helvetica" panose="020B0604020202020204" pitchFamily="34" charset="0"/>
                        </a:rPr>
                        <a:t>1</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noFill/>
                  </a:tcPr>
                </a:tc>
                <a:extLst>
                  <a:ext uri="{0D108BD9-81ED-4DB2-BD59-A6C34878D82A}">
                    <a16:rowId xmlns:a16="http://schemas.microsoft.com/office/drawing/2014/main" xmlns="" val="1075710339"/>
                  </a:ext>
                </a:extLst>
              </a:tr>
              <a:tr h="190500">
                <a:tc>
                  <a:txBody>
                    <a:bodyPr/>
                    <a:lstStyle/>
                    <a:p>
                      <a:pPr algn="r" fontAlgn="b"/>
                      <a:r>
                        <a:rPr lang="x-none" sz="1400" u="none" strike="noStrike" dirty="0">
                          <a:effectLst/>
                          <a:latin typeface="Helvetica" panose="020B0604020202020204" pitchFamily="34" charset="0"/>
                          <a:cs typeface="Helvetica" panose="020B0604020202020204" pitchFamily="34" charset="0"/>
                        </a:rPr>
                        <a:t>0</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9050" cap="flat" cmpd="sng" algn="ctr">
                      <a:solidFill>
                        <a:schemeClr val="tx2"/>
                      </a:solidFill>
                      <a:prstDash val="solid"/>
                      <a:round/>
                      <a:headEnd type="none" w="med" len="med"/>
                      <a:tailEnd type="none" w="med" len="med"/>
                    </a:lnL>
                    <a:noFill/>
                  </a:tcPr>
                </a:tc>
                <a:tc>
                  <a:txBody>
                    <a:bodyPr/>
                    <a:lstStyle/>
                    <a:p>
                      <a:pPr algn="r" fontAlgn="b"/>
                      <a:r>
                        <a:rPr lang="x-none" sz="1400" u="none" strike="noStrike">
                          <a:effectLst/>
                          <a:latin typeface="Helvetica" panose="020B0604020202020204" pitchFamily="34" charset="0"/>
                          <a:cs typeface="Helvetica" panose="020B0604020202020204" pitchFamily="34" charset="0"/>
                        </a:rPr>
                        <a:t>3515</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r" fontAlgn="b"/>
                      <a:r>
                        <a:rPr lang="x-none" sz="1400" u="none" strike="noStrike">
                          <a:effectLst/>
                          <a:latin typeface="Helvetica" panose="020B0604020202020204" pitchFamily="34" charset="0"/>
                          <a:cs typeface="Helvetica" panose="020B0604020202020204" pitchFamily="34" charset="0"/>
                        </a:rPr>
                        <a:t>357</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lnR w="19050" cap="flat" cmpd="sng" algn="ctr">
                      <a:solidFill>
                        <a:schemeClr val="tx2"/>
                      </a:solidFill>
                      <a:prstDash val="solid"/>
                      <a:round/>
                      <a:headEnd type="none" w="med" len="med"/>
                      <a:tailEnd type="none" w="med" len="med"/>
                    </a:lnR>
                    <a:noFill/>
                  </a:tcPr>
                </a:tc>
                <a:extLst>
                  <a:ext uri="{0D108BD9-81ED-4DB2-BD59-A6C34878D82A}">
                    <a16:rowId xmlns:a16="http://schemas.microsoft.com/office/drawing/2014/main" xmlns="" val="3802407231"/>
                  </a:ext>
                </a:extLst>
              </a:tr>
              <a:tr h="190500">
                <a:tc>
                  <a:txBody>
                    <a:bodyPr/>
                    <a:lstStyle/>
                    <a:p>
                      <a:pPr algn="r" fontAlgn="b"/>
                      <a:r>
                        <a:rPr lang="x-none" sz="1400" u="none" strike="noStrike" dirty="0">
                          <a:effectLst/>
                          <a:latin typeface="Helvetica" panose="020B0604020202020204" pitchFamily="34" charset="0"/>
                          <a:cs typeface="Helvetica" panose="020B0604020202020204" pitchFamily="34" charset="0"/>
                        </a:rPr>
                        <a:t>1</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9050" cap="flat" cmpd="sng" algn="ctr">
                      <a:solidFill>
                        <a:schemeClr val="tx2"/>
                      </a:solidFill>
                      <a:prstDash val="solid"/>
                      <a:round/>
                      <a:headEnd type="none" w="med" len="med"/>
                      <a:tailEnd type="none" w="med" len="med"/>
                    </a:lnL>
                    <a:lnB w="19050" cap="flat" cmpd="sng" algn="ctr">
                      <a:solidFill>
                        <a:schemeClr val="tx2"/>
                      </a:solidFill>
                      <a:prstDash val="solid"/>
                      <a:round/>
                      <a:headEnd type="none" w="med" len="med"/>
                      <a:tailEnd type="none" w="med" len="med"/>
                    </a:lnB>
                    <a:noFill/>
                  </a:tcPr>
                </a:tc>
                <a:tc>
                  <a:txBody>
                    <a:bodyPr/>
                    <a:lstStyle/>
                    <a:p>
                      <a:pPr algn="r" fontAlgn="b"/>
                      <a:r>
                        <a:rPr lang="x-none" sz="1400" u="none" strike="noStrike">
                          <a:effectLst/>
                          <a:latin typeface="Helvetica" panose="020B0604020202020204" pitchFamily="34" charset="0"/>
                          <a:cs typeface="Helvetica" panose="020B0604020202020204" pitchFamily="34" charset="0"/>
                        </a:rPr>
                        <a:t>684</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lnB w="19050" cap="flat" cmpd="sng" algn="ctr">
                      <a:solidFill>
                        <a:schemeClr val="tx2"/>
                      </a:solidFill>
                      <a:prstDash val="solid"/>
                      <a:round/>
                      <a:headEnd type="none" w="med" len="med"/>
                      <a:tailEnd type="none" w="med" len="med"/>
                    </a:lnB>
                    <a:noFill/>
                  </a:tcPr>
                </a:tc>
                <a:tc>
                  <a:txBody>
                    <a:bodyPr/>
                    <a:lstStyle/>
                    <a:p>
                      <a:pPr algn="r" fontAlgn="b"/>
                      <a:r>
                        <a:rPr lang="x-none" sz="1400" u="none" strike="noStrike" dirty="0">
                          <a:effectLst/>
                          <a:latin typeface="Helvetica" panose="020B0604020202020204" pitchFamily="34" charset="0"/>
                          <a:cs typeface="Helvetica" panose="020B0604020202020204" pitchFamily="34" charset="0"/>
                        </a:rPr>
                        <a:t>718</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R w="19050" cap="flat" cmpd="sng" algn="ctr">
                      <a:solidFill>
                        <a:schemeClr val="tx2"/>
                      </a:solidFill>
                      <a:prstDash val="solid"/>
                      <a:round/>
                      <a:headEnd type="none" w="med" len="med"/>
                      <a:tailEnd type="none" w="med" len="med"/>
                    </a:lnR>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xmlns="" val="802524822"/>
                  </a:ext>
                </a:extLst>
              </a:tr>
            </a:tbl>
          </a:graphicData>
        </a:graphic>
      </p:graphicFrame>
      <p:graphicFrame>
        <p:nvGraphicFramePr>
          <p:cNvPr id="14" name="Table 13">
            <a:extLst>
              <a:ext uri="{FF2B5EF4-FFF2-40B4-BE49-F238E27FC236}">
                <a16:creationId xmlns:a16="http://schemas.microsoft.com/office/drawing/2014/main" xmlns="" id="{2836FB61-DEF2-A64E-9B46-2417F97C3A92}"/>
              </a:ext>
            </a:extLst>
          </p:cNvPr>
          <p:cNvGraphicFramePr>
            <a:graphicFrameLocks noGrp="1"/>
          </p:cNvGraphicFramePr>
          <p:nvPr>
            <p:extLst>
              <p:ext uri="{D42A27DB-BD31-4B8C-83A1-F6EECF244321}">
                <p14:modId xmlns:p14="http://schemas.microsoft.com/office/powerpoint/2010/main" val="3477272069"/>
              </p:ext>
            </p:extLst>
          </p:nvPr>
        </p:nvGraphicFramePr>
        <p:xfrm>
          <a:off x="5154628" y="882911"/>
          <a:ext cx="3109857" cy="668655"/>
        </p:xfrm>
        <a:graphic>
          <a:graphicData uri="http://schemas.openxmlformats.org/drawingml/2006/table">
            <a:tbl>
              <a:tblPr>
                <a:tableStyleId>{5C22544A-7EE6-4342-B048-85BDC9FD1C3A}</a:tableStyleId>
              </a:tblPr>
              <a:tblGrid>
                <a:gridCol w="1036619">
                  <a:extLst>
                    <a:ext uri="{9D8B030D-6E8A-4147-A177-3AD203B41FA5}">
                      <a16:colId xmlns:a16="http://schemas.microsoft.com/office/drawing/2014/main" xmlns="" val="2731594142"/>
                    </a:ext>
                  </a:extLst>
                </a:gridCol>
                <a:gridCol w="1036619">
                  <a:extLst>
                    <a:ext uri="{9D8B030D-6E8A-4147-A177-3AD203B41FA5}">
                      <a16:colId xmlns:a16="http://schemas.microsoft.com/office/drawing/2014/main" xmlns="" val="162584862"/>
                    </a:ext>
                  </a:extLst>
                </a:gridCol>
                <a:gridCol w="1036619">
                  <a:extLst>
                    <a:ext uri="{9D8B030D-6E8A-4147-A177-3AD203B41FA5}">
                      <a16:colId xmlns:a16="http://schemas.microsoft.com/office/drawing/2014/main" xmlns="" val="903818816"/>
                    </a:ext>
                  </a:extLst>
                </a:gridCol>
              </a:tblGrid>
              <a:tr h="190500">
                <a:tc gridSpan="3">
                  <a:txBody>
                    <a:bodyPr/>
                    <a:lstStyle/>
                    <a:p>
                      <a:pPr algn="ctr" fontAlgn="b"/>
                      <a:r>
                        <a:rPr lang="en-US" sz="1400" u="none" strike="noStrike" dirty="0">
                          <a:effectLst/>
                          <a:latin typeface="Helvetica" panose="020B0604020202020204" pitchFamily="34" charset="0"/>
                          <a:cs typeface="Helvetica" panose="020B0604020202020204" pitchFamily="34" charset="0"/>
                        </a:rPr>
                        <a:t>Random Forest</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noFill/>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xmlns="" val="440276995"/>
                  </a:ext>
                </a:extLst>
              </a:tr>
              <a:tr h="190500">
                <a:tc>
                  <a:txBody>
                    <a:bodyPr/>
                    <a:lstStyle/>
                    <a:p>
                      <a:pPr algn="ctr" fontAlgn="b"/>
                      <a:r>
                        <a:rPr lang="en-US" sz="1400" u="none" strike="noStrike">
                          <a:effectLst/>
                          <a:latin typeface="Helvetica" panose="020B0604020202020204" pitchFamily="34" charset="0"/>
                          <a:cs typeface="Helvetica" panose="020B0604020202020204" pitchFamily="34" charset="0"/>
                        </a:rPr>
                        <a:t>Accuracy</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lnL w="19050" cap="flat" cmpd="sng" algn="ctr">
                      <a:solidFill>
                        <a:schemeClr val="tx2"/>
                      </a:solidFill>
                      <a:prstDash val="solid"/>
                      <a:round/>
                      <a:headEnd type="none" w="med" len="med"/>
                      <a:tailEnd type="none" w="med" len="med"/>
                    </a:lnL>
                    <a:noFill/>
                  </a:tcPr>
                </a:tc>
                <a:tc>
                  <a:txBody>
                    <a:bodyPr/>
                    <a:lstStyle/>
                    <a:p>
                      <a:pPr algn="ctr" fontAlgn="b"/>
                      <a:r>
                        <a:rPr lang="en-US" sz="1400" u="none" strike="noStrike" dirty="0">
                          <a:effectLst/>
                          <a:latin typeface="Helvetica" panose="020B0604020202020204" pitchFamily="34" charset="0"/>
                          <a:cs typeface="Helvetica" panose="020B0604020202020204" pitchFamily="34" charset="0"/>
                        </a:rPr>
                        <a:t> Sensitivity </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a:effectLst/>
                          <a:latin typeface="Helvetica" panose="020B0604020202020204" pitchFamily="34" charset="0"/>
                          <a:cs typeface="Helvetica" panose="020B0604020202020204" pitchFamily="34" charset="0"/>
                        </a:rPr>
                        <a:t>Specificity </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lnR w="19050" cap="flat" cmpd="sng" algn="ctr">
                      <a:solidFill>
                        <a:schemeClr val="tx2"/>
                      </a:solidFill>
                      <a:prstDash val="solid"/>
                      <a:round/>
                      <a:headEnd type="none" w="med" len="med"/>
                      <a:tailEnd type="none" w="med" len="med"/>
                    </a:lnR>
                    <a:noFill/>
                  </a:tcPr>
                </a:tc>
                <a:extLst>
                  <a:ext uri="{0D108BD9-81ED-4DB2-BD59-A6C34878D82A}">
                    <a16:rowId xmlns:a16="http://schemas.microsoft.com/office/drawing/2014/main" xmlns="" val="1472471045"/>
                  </a:ext>
                </a:extLst>
              </a:tr>
              <a:tr h="190500">
                <a:tc>
                  <a:txBody>
                    <a:bodyPr/>
                    <a:lstStyle/>
                    <a:p>
                      <a:pPr algn="ctr" fontAlgn="b"/>
                      <a:r>
                        <a:rPr lang="x-none" sz="1400" u="none" strike="noStrike">
                          <a:effectLst/>
                          <a:latin typeface="Helvetica" panose="020B0604020202020204" pitchFamily="34" charset="0"/>
                          <a:cs typeface="Helvetica" panose="020B0604020202020204" pitchFamily="34" charset="0"/>
                        </a:rPr>
                        <a:t>0.7969283</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lnL w="19050" cap="flat" cmpd="sng" algn="ctr">
                      <a:solidFill>
                        <a:schemeClr val="tx2"/>
                      </a:solidFill>
                      <a:prstDash val="solid"/>
                      <a:round/>
                      <a:headEnd type="none" w="med" len="med"/>
                      <a:tailEnd type="none" w="med" len="med"/>
                    </a:lnL>
                    <a:lnB w="19050" cap="flat" cmpd="sng" algn="ctr">
                      <a:solidFill>
                        <a:schemeClr val="tx2"/>
                      </a:solidFill>
                      <a:prstDash val="solid"/>
                      <a:round/>
                      <a:headEnd type="none" w="med" len="med"/>
                      <a:tailEnd type="none" w="med" len="med"/>
                    </a:ln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0.8384058</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B w="19050" cap="flat" cmpd="sng" algn="ctr">
                      <a:solidFill>
                        <a:schemeClr val="tx2"/>
                      </a:solidFill>
                      <a:prstDash val="solid"/>
                      <a:round/>
                      <a:headEnd type="none" w="med" len="med"/>
                      <a:tailEnd type="none" w="med" len="med"/>
                    </a:ln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0.6455026</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lnR w="19050" cap="flat" cmpd="sng" algn="ctr">
                      <a:solidFill>
                        <a:schemeClr val="tx2"/>
                      </a:solidFill>
                      <a:prstDash val="solid"/>
                      <a:round/>
                      <a:headEnd type="none" w="med" len="med"/>
                      <a:tailEnd type="none" w="med" len="med"/>
                    </a:lnR>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xmlns="" val="3622434909"/>
                  </a:ext>
                </a:extLst>
              </a:tr>
            </a:tbl>
          </a:graphicData>
        </a:graphic>
      </p:graphicFrame>
      <p:sp>
        <p:nvSpPr>
          <p:cNvPr id="18" name="TextBox 17">
            <a:extLst>
              <a:ext uri="{FF2B5EF4-FFF2-40B4-BE49-F238E27FC236}">
                <a16:creationId xmlns:a16="http://schemas.microsoft.com/office/drawing/2014/main" xmlns="" id="{F077054B-0C31-3E4C-B949-632361B0D6B7}"/>
              </a:ext>
            </a:extLst>
          </p:cNvPr>
          <p:cNvSpPr txBox="1"/>
          <p:nvPr/>
        </p:nvSpPr>
        <p:spPr>
          <a:xfrm>
            <a:off x="5143500" y="3030631"/>
            <a:ext cx="3120984" cy="738664"/>
          </a:xfrm>
          <a:prstGeom prst="rect">
            <a:avLst/>
          </a:prstGeom>
          <a:noFill/>
          <a:ln w="19050">
            <a:solidFill>
              <a:schemeClr val="tx2"/>
            </a:solidFill>
          </a:ln>
        </p:spPr>
        <p:txBody>
          <a:bodyPr wrap="square" rtlCol="0">
            <a:spAutoFit/>
          </a:bodyPr>
          <a:lstStyle/>
          <a:p>
            <a:r>
              <a:rPr lang="en-CA" sz="1400" dirty="0">
                <a:latin typeface="Helvetica" pitchFamily="2" charset="0"/>
              </a:rPr>
              <a:t>In this case, the accuracy of the random forest model was just slightly better than decision tree.</a:t>
            </a:r>
          </a:p>
        </p:txBody>
      </p:sp>
    </p:spTree>
    <p:custDataLst>
      <p:tags r:id="rId1"/>
    </p:custDataLst>
    <p:extLst>
      <p:ext uri="{BB962C8B-B14F-4D97-AF65-F5344CB8AC3E}">
        <p14:creationId xmlns:p14="http://schemas.microsoft.com/office/powerpoint/2010/main" val="37744507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1">
            <a:extLst>
              <a:ext uri="{FF2B5EF4-FFF2-40B4-BE49-F238E27FC236}">
                <a16:creationId xmlns:a16="http://schemas.microsoft.com/office/drawing/2014/main" xmlns="" id="{E14F8E1A-86D8-5E4C-9F8F-F05D1A68C47C}"/>
              </a:ext>
            </a:extLst>
          </p:cNvPr>
          <p:cNvSpPr>
            <a:spLocks noGrp="1"/>
          </p:cNvSpPr>
          <p:nvPr>
            <p:ph type="title"/>
          </p:nvPr>
        </p:nvSpPr>
        <p:spPr>
          <a:xfrm>
            <a:off x="90509" y="153298"/>
            <a:ext cx="8562392" cy="631629"/>
          </a:xfrm>
        </p:spPr>
        <p:txBody>
          <a:bodyPr/>
          <a:lstStyle/>
          <a:p>
            <a:r>
              <a:rPr kumimoji="1" lang="en-US" altLang="zh-CN" sz="3600" dirty="0">
                <a:latin typeface="Vitesse"/>
              </a:rPr>
              <a:t>Conclusion</a:t>
            </a:r>
            <a:endParaRPr kumimoji="1" lang="zh-CN" altLang="en-US" sz="3600" dirty="0">
              <a:latin typeface="Vitesse"/>
            </a:endParaRPr>
          </a:p>
        </p:txBody>
      </p:sp>
      <p:graphicFrame>
        <p:nvGraphicFramePr>
          <p:cNvPr id="19" name="Table 18">
            <a:extLst>
              <a:ext uri="{FF2B5EF4-FFF2-40B4-BE49-F238E27FC236}">
                <a16:creationId xmlns:a16="http://schemas.microsoft.com/office/drawing/2014/main" xmlns="" id="{399502A5-3A68-CF4A-BAF3-844531B052CD}"/>
              </a:ext>
            </a:extLst>
          </p:cNvPr>
          <p:cNvGraphicFramePr>
            <a:graphicFrameLocks noGrp="1"/>
          </p:cNvGraphicFramePr>
          <p:nvPr>
            <p:extLst>
              <p:ext uri="{D42A27DB-BD31-4B8C-83A1-F6EECF244321}">
                <p14:modId xmlns:p14="http://schemas.microsoft.com/office/powerpoint/2010/main" val="934724571"/>
              </p:ext>
            </p:extLst>
          </p:nvPr>
        </p:nvGraphicFramePr>
        <p:xfrm>
          <a:off x="209902" y="809203"/>
          <a:ext cx="3455793" cy="668655"/>
        </p:xfrm>
        <a:graphic>
          <a:graphicData uri="http://schemas.openxmlformats.org/drawingml/2006/table">
            <a:tbl>
              <a:tblPr>
                <a:tableStyleId>{5C22544A-7EE6-4342-B048-85BDC9FD1C3A}</a:tableStyleId>
              </a:tblPr>
              <a:tblGrid>
                <a:gridCol w="1151931">
                  <a:extLst>
                    <a:ext uri="{9D8B030D-6E8A-4147-A177-3AD203B41FA5}">
                      <a16:colId xmlns:a16="http://schemas.microsoft.com/office/drawing/2014/main" xmlns="" val="3523117958"/>
                    </a:ext>
                  </a:extLst>
                </a:gridCol>
                <a:gridCol w="1151931">
                  <a:extLst>
                    <a:ext uri="{9D8B030D-6E8A-4147-A177-3AD203B41FA5}">
                      <a16:colId xmlns:a16="http://schemas.microsoft.com/office/drawing/2014/main" xmlns="" val="2193369754"/>
                    </a:ext>
                  </a:extLst>
                </a:gridCol>
                <a:gridCol w="1151931">
                  <a:extLst>
                    <a:ext uri="{9D8B030D-6E8A-4147-A177-3AD203B41FA5}">
                      <a16:colId xmlns:a16="http://schemas.microsoft.com/office/drawing/2014/main" xmlns="" val="3514129880"/>
                    </a:ext>
                  </a:extLst>
                </a:gridCol>
              </a:tblGrid>
              <a:tr h="190500">
                <a:tc gridSpan="3">
                  <a:txBody>
                    <a:bodyPr/>
                    <a:lstStyle/>
                    <a:p>
                      <a:pPr algn="ctr" fontAlgn="b"/>
                      <a:r>
                        <a:rPr lang="en-US" sz="1400" b="1" u="none" strike="noStrike" dirty="0">
                          <a:solidFill>
                            <a:schemeClr val="bg1"/>
                          </a:solidFill>
                          <a:effectLst/>
                          <a:latin typeface="Helvetica" panose="020B0604020202020204" pitchFamily="34" charset="0"/>
                          <a:cs typeface="Helvetica" panose="020B0604020202020204" pitchFamily="34" charset="0"/>
                        </a:rPr>
                        <a:t>Full Model</a:t>
                      </a:r>
                      <a:endParaRPr lang="en-US" sz="1400" b="1" i="0" u="none" strike="noStrike" dirty="0">
                        <a:solidFill>
                          <a:schemeClr val="bg1"/>
                        </a:solidFill>
                        <a:effectLst/>
                        <a:latin typeface="Helvetica" panose="020B0604020202020204" pitchFamily="34" charset="0"/>
                        <a:cs typeface="Helvetica" panose="020B0604020202020204" pitchFamily="34" charset="0"/>
                      </a:endParaRPr>
                    </a:p>
                  </a:txBody>
                  <a:tcPr marL="9525" marR="9525" marT="9525" marB="0" anchor="b">
                    <a:solidFill>
                      <a:schemeClr val="tx2"/>
                    </a:solidFill>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xmlns="" val="4157245084"/>
                  </a:ext>
                </a:extLst>
              </a:tr>
              <a:tr h="190500">
                <a:tc>
                  <a:txBody>
                    <a:bodyPr/>
                    <a:lstStyle/>
                    <a:p>
                      <a:pPr algn="ctr" fontAlgn="b"/>
                      <a:r>
                        <a:rPr lang="en-US" sz="1400" u="none" strike="noStrike">
                          <a:effectLst/>
                          <a:latin typeface="Helvetica" panose="020B0604020202020204" pitchFamily="34" charset="0"/>
                          <a:cs typeface="Helvetica" panose="020B0604020202020204" pitchFamily="34" charset="0"/>
                        </a:rPr>
                        <a:t>Accuracy</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dirty="0">
                          <a:effectLst/>
                          <a:latin typeface="Helvetica" panose="020B0604020202020204" pitchFamily="34" charset="0"/>
                          <a:cs typeface="Helvetica" panose="020B0604020202020204" pitchFamily="34" charset="0"/>
                        </a:rPr>
                        <a:t> Sensitivity </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a:effectLst/>
                          <a:latin typeface="Helvetica" panose="020B0604020202020204" pitchFamily="34" charset="0"/>
                          <a:cs typeface="Helvetica" panose="020B0604020202020204" pitchFamily="34" charset="0"/>
                        </a:rPr>
                        <a:t>Specificity </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1995316239"/>
                  </a:ext>
                </a:extLst>
              </a:tr>
              <a:tr h="190500">
                <a:tc>
                  <a:txBody>
                    <a:bodyPr/>
                    <a:lstStyle/>
                    <a:p>
                      <a:pPr algn="ctr" fontAlgn="b"/>
                      <a:r>
                        <a:rPr lang="x-none" sz="1400" u="none" strike="noStrike">
                          <a:effectLst/>
                          <a:latin typeface="Helvetica" panose="020B0604020202020204" pitchFamily="34" charset="0"/>
                          <a:cs typeface="Helvetica" panose="020B0604020202020204" pitchFamily="34" charset="0"/>
                        </a:rPr>
                        <a:t>0.8139932</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0.8528551</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0.6785714</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2619587909"/>
                  </a:ext>
                </a:extLst>
              </a:tr>
            </a:tbl>
          </a:graphicData>
        </a:graphic>
      </p:graphicFrame>
      <p:graphicFrame>
        <p:nvGraphicFramePr>
          <p:cNvPr id="20" name="Table 19">
            <a:extLst>
              <a:ext uri="{FF2B5EF4-FFF2-40B4-BE49-F238E27FC236}">
                <a16:creationId xmlns:a16="http://schemas.microsoft.com/office/drawing/2014/main" xmlns="" id="{887375E7-D7B4-9544-9DE6-6B6A8B74A38D}"/>
              </a:ext>
            </a:extLst>
          </p:cNvPr>
          <p:cNvGraphicFramePr>
            <a:graphicFrameLocks noGrp="1"/>
          </p:cNvGraphicFramePr>
          <p:nvPr>
            <p:extLst>
              <p:ext uri="{D42A27DB-BD31-4B8C-83A1-F6EECF244321}">
                <p14:modId xmlns:p14="http://schemas.microsoft.com/office/powerpoint/2010/main" val="1464062109"/>
              </p:ext>
            </p:extLst>
          </p:nvPr>
        </p:nvGraphicFramePr>
        <p:xfrm>
          <a:off x="201804" y="1655442"/>
          <a:ext cx="3463890" cy="668655"/>
        </p:xfrm>
        <a:graphic>
          <a:graphicData uri="http://schemas.openxmlformats.org/drawingml/2006/table">
            <a:tbl>
              <a:tblPr>
                <a:tableStyleId>{5C22544A-7EE6-4342-B048-85BDC9FD1C3A}</a:tableStyleId>
              </a:tblPr>
              <a:tblGrid>
                <a:gridCol w="1154630">
                  <a:extLst>
                    <a:ext uri="{9D8B030D-6E8A-4147-A177-3AD203B41FA5}">
                      <a16:colId xmlns:a16="http://schemas.microsoft.com/office/drawing/2014/main" xmlns="" val="3051738626"/>
                    </a:ext>
                  </a:extLst>
                </a:gridCol>
                <a:gridCol w="1154630">
                  <a:extLst>
                    <a:ext uri="{9D8B030D-6E8A-4147-A177-3AD203B41FA5}">
                      <a16:colId xmlns:a16="http://schemas.microsoft.com/office/drawing/2014/main" xmlns="" val="1659558067"/>
                    </a:ext>
                  </a:extLst>
                </a:gridCol>
                <a:gridCol w="1154630">
                  <a:extLst>
                    <a:ext uri="{9D8B030D-6E8A-4147-A177-3AD203B41FA5}">
                      <a16:colId xmlns:a16="http://schemas.microsoft.com/office/drawing/2014/main" xmlns="" val="2357064126"/>
                    </a:ext>
                  </a:extLst>
                </a:gridCol>
              </a:tblGrid>
              <a:tr h="190500">
                <a:tc gridSpan="3">
                  <a:txBody>
                    <a:bodyPr/>
                    <a:lstStyle/>
                    <a:p>
                      <a:pPr algn="ctr" fontAlgn="b"/>
                      <a:r>
                        <a:rPr lang="en-US" sz="1400" b="1" u="none" strike="noStrike" dirty="0">
                          <a:solidFill>
                            <a:schemeClr val="bg1"/>
                          </a:solidFill>
                          <a:effectLst/>
                          <a:latin typeface="Helvetica" panose="020B0604020202020204" pitchFamily="34" charset="0"/>
                          <a:cs typeface="Helvetica" panose="020B0604020202020204" pitchFamily="34" charset="0"/>
                        </a:rPr>
                        <a:t>Stepwise Regression Model </a:t>
                      </a:r>
                      <a:endParaRPr lang="en-US" sz="1400" b="1" i="0" u="none" strike="noStrike" dirty="0">
                        <a:solidFill>
                          <a:schemeClr val="bg1"/>
                        </a:solidFill>
                        <a:effectLst/>
                        <a:latin typeface="Helvetica" panose="020B0604020202020204" pitchFamily="34" charset="0"/>
                        <a:cs typeface="Helvetica" panose="020B0604020202020204" pitchFamily="34" charset="0"/>
                      </a:endParaRPr>
                    </a:p>
                  </a:txBody>
                  <a:tcPr marL="9525" marR="9525" marT="9525" marB="0" anchor="b">
                    <a:solidFill>
                      <a:schemeClr val="tx2"/>
                    </a:solidFill>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xmlns="" val="777018924"/>
                  </a:ext>
                </a:extLst>
              </a:tr>
              <a:tr h="190500">
                <a:tc>
                  <a:txBody>
                    <a:bodyPr/>
                    <a:lstStyle/>
                    <a:p>
                      <a:pPr algn="ctr" fontAlgn="b"/>
                      <a:r>
                        <a:rPr lang="en-US" sz="1400" u="none" strike="noStrike">
                          <a:effectLst/>
                          <a:latin typeface="Helvetica" panose="020B0604020202020204" pitchFamily="34" charset="0"/>
                          <a:cs typeface="Helvetica" panose="020B0604020202020204" pitchFamily="34" charset="0"/>
                        </a:rPr>
                        <a:t>Accuracy</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dirty="0">
                          <a:effectLst/>
                          <a:latin typeface="Helvetica" panose="020B0604020202020204" pitchFamily="34" charset="0"/>
                          <a:cs typeface="Helvetica" panose="020B0604020202020204" pitchFamily="34" charset="0"/>
                        </a:rPr>
                        <a:t> Sensitivity </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a:effectLst/>
                          <a:latin typeface="Helvetica" panose="020B0604020202020204" pitchFamily="34" charset="0"/>
                          <a:cs typeface="Helvetica" panose="020B0604020202020204" pitchFamily="34" charset="0"/>
                        </a:rPr>
                        <a:t>Specificity </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354493745"/>
                  </a:ext>
                </a:extLst>
              </a:tr>
              <a:tr h="190500">
                <a:tc>
                  <a:txBody>
                    <a:bodyPr/>
                    <a:lstStyle/>
                    <a:p>
                      <a:pPr algn="ctr" fontAlgn="b"/>
                      <a:r>
                        <a:rPr lang="x-none" sz="1400" u="none" strike="noStrike">
                          <a:effectLst/>
                          <a:latin typeface="Helvetica" panose="020B0604020202020204" pitchFamily="34" charset="0"/>
                          <a:cs typeface="Helvetica" panose="020B0604020202020204" pitchFamily="34" charset="0"/>
                        </a:rPr>
                        <a:t>0.8134243</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a:effectLst/>
                          <a:latin typeface="Helvetica" panose="020B0604020202020204" pitchFamily="34" charset="0"/>
                          <a:cs typeface="Helvetica" panose="020B0604020202020204" pitchFamily="34" charset="0"/>
                        </a:rPr>
                        <a:t>0.8532649</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0.6759494</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1426909955"/>
                  </a:ext>
                </a:extLst>
              </a:tr>
            </a:tbl>
          </a:graphicData>
        </a:graphic>
      </p:graphicFrame>
      <p:graphicFrame>
        <p:nvGraphicFramePr>
          <p:cNvPr id="22" name="Table 21">
            <a:extLst>
              <a:ext uri="{FF2B5EF4-FFF2-40B4-BE49-F238E27FC236}">
                <a16:creationId xmlns:a16="http://schemas.microsoft.com/office/drawing/2014/main" xmlns="" id="{2C2E0FF2-798C-6041-9310-355A165DEF9F}"/>
              </a:ext>
            </a:extLst>
          </p:cNvPr>
          <p:cNvGraphicFramePr>
            <a:graphicFrameLocks noGrp="1"/>
          </p:cNvGraphicFramePr>
          <p:nvPr>
            <p:extLst>
              <p:ext uri="{D42A27DB-BD31-4B8C-83A1-F6EECF244321}">
                <p14:modId xmlns:p14="http://schemas.microsoft.com/office/powerpoint/2010/main" val="4286770218"/>
              </p:ext>
            </p:extLst>
          </p:nvPr>
        </p:nvGraphicFramePr>
        <p:xfrm>
          <a:off x="190500" y="2526144"/>
          <a:ext cx="3463890" cy="668655"/>
        </p:xfrm>
        <a:graphic>
          <a:graphicData uri="http://schemas.openxmlformats.org/drawingml/2006/table">
            <a:tbl>
              <a:tblPr>
                <a:tableStyleId>{5C22544A-7EE6-4342-B048-85BDC9FD1C3A}</a:tableStyleId>
              </a:tblPr>
              <a:tblGrid>
                <a:gridCol w="1154630">
                  <a:extLst>
                    <a:ext uri="{9D8B030D-6E8A-4147-A177-3AD203B41FA5}">
                      <a16:colId xmlns:a16="http://schemas.microsoft.com/office/drawing/2014/main" xmlns="" val="1669022305"/>
                    </a:ext>
                  </a:extLst>
                </a:gridCol>
                <a:gridCol w="1154630">
                  <a:extLst>
                    <a:ext uri="{9D8B030D-6E8A-4147-A177-3AD203B41FA5}">
                      <a16:colId xmlns:a16="http://schemas.microsoft.com/office/drawing/2014/main" xmlns="" val="1894495122"/>
                    </a:ext>
                  </a:extLst>
                </a:gridCol>
                <a:gridCol w="1154630">
                  <a:extLst>
                    <a:ext uri="{9D8B030D-6E8A-4147-A177-3AD203B41FA5}">
                      <a16:colId xmlns:a16="http://schemas.microsoft.com/office/drawing/2014/main" xmlns="" val="3640840059"/>
                    </a:ext>
                  </a:extLst>
                </a:gridCol>
              </a:tblGrid>
              <a:tr h="190500">
                <a:tc gridSpan="3">
                  <a:txBody>
                    <a:bodyPr/>
                    <a:lstStyle/>
                    <a:p>
                      <a:pPr algn="ctr" fontAlgn="b"/>
                      <a:r>
                        <a:rPr lang="en-US" sz="1400" b="1" u="none" strike="noStrike" dirty="0">
                          <a:solidFill>
                            <a:schemeClr val="bg1"/>
                          </a:solidFill>
                          <a:effectLst/>
                          <a:latin typeface="Helvetica" panose="020B0604020202020204" pitchFamily="34" charset="0"/>
                          <a:cs typeface="Helvetica" panose="020B0604020202020204" pitchFamily="34" charset="0"/>
                        </a:rPr>
                        <a:t>Lasso Regression Model </a:t>
                      </a:r>
                      <a:endParaRPr lang="en-US" sz="1400" b="1" i="0" u="none" strike="noStrike" dirty="0">
                        <a:solidFill>
                          <a:schemeClr val="bg1"/>
                        </a:solidFill>
                        <a:effectLst/>
                        <a:latin typeface="Helvetica" panose="020B0604020202020204" pitchFamily="34" charset="0"/>
                        <a:cs typeface="Helvetica" panose="020B0604020202020204" pitchFamily="34" charset="0"/>
                      </a:endParaRPr>
                    </a:p>
                  </a:txBody>
                  <a:tcPr marL="9525" marR="9525" marT="9525" marB="0" anchor="b">
                    <a:solidFill>
                      <a:schemeClr val="tx2"/>
                    </a:solidFill>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xmlns="" val="3561494003"/>
                  </a:ext>
                </a:extLst>
              </a:tr>
              <a:tr h="190500">
                <a:tc>
                  <a:txBody>
                    <a:bodyPr/>
                    <a:lstStyle/>
                    <a:p>
                      <a:pPr algn="ctr" fontAlgn="b"/>
                      <a:r>
                        <a:rPr lang="en-US" sz="1400" u="none" strike="noStrike">
                          <a:effectLst/>
                          <a:latin typeface="Helvetica" panose="020B0604020202020204" pitchFamily="34" charset="0"/>
                          <a:cs typeface="Helvetica" panose="020B0604020202020204" pitchFamily="34" charset="0"/>
                        </a:rPr>
                        <a:t>Accuracy</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dirty="0">
                          <a:effectLst/>
                          <a:latin typeface="Helvetica" panose="020B0604020202020204" pitchFamily="34" charset="0"/>
                          <a:cs typeface="Helvetica" panose="020B0604020202020204" pitchFamily="34" charset="0"/>
                        </a:rPr>
                        <a:t> Sensitivity </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a:effectLst/>
                          <a:latin typeface="Helvetica" panose="020B0604020202020204" pitchFamily="34" charset="0"/>
                          <a:cs typeface="Helvetica" panose="020B0604020202020204" pitchFamily="34" charset="0"/>
                        </a:rPr>
                        <a:t>Specificity </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954923717"/>
                  </a:ext>
                </a:extLst>
              </a:tr>
              <a:tr h="190500">
                <a:tc>
                  <a:txBody>
                    <a:bodyPr/>
                    <a:lstStyle/>
                    <a:p>
                      <a:pPr algn="ctr" fontAlgn="b"/>
                      <a:r>
                        <a:rPr lang="x-none" sz="1400" u="none" strike="noStrike">
                          <a:effectLst/>
                          <a:latin typeface="Helvetica" panose="020B0604020202020204" pitchFamily="34" charset="0"/>
                          <a:cs typeface="Helvetica" panose="020B0604020202020204" pitchFamily="34" charset="0"/>
                        </a:rPr>
                        <a:t>0.8156997</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a:effectLst/>
                          <a:latin typeface="Helvetica" panose="020B0604020202020204" pitchFamily="34" charset="0"/>
                          <a:cs typeface="Helvetica" panose="020B0604020202020204" pitchFamily="34" charset="0"/>
                        </a:rPr>
                        <a:t>0.8536942</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0.6828645</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2618038971"/>
                  </a:ext>
                </a:extLst>
              </a:tr>
            </a:tbl>
          </a:graphicData>
        </a:graphic>
      </p:graphicFrame>
      <p:graphicFrame>
        <p:nvGraphicFramePr>
          <p:cNvPr id="27" name="Table 26">
            <a:extLst>
              <a:ext uri="{FF2B5EF4-FFF2-40B4-BE49-F238E27FC236}">
                <a16:creationId xmlns:a16="http://schemas.microsoft.com/office/drawing/2014/main" xmlns="" id="{59B0C6FB-C66D-8B46-A14A-033DE6F85924}"/>
              </a:ext>
            </a:extLst>
          </p:cNvPr>
          <p:cNvGraphicFramePr>
            <a:graphicFrameLocks noGrp="1"/>
          </p:cNvGraphicFramePr>
          <p:nvPr>
            <p:extLst>
              <p:ext uri="{D42A27DB-BD31-4B8C-83A1-F6EECF244321}">
                <p14:modId xmlns:p14="http://schemas.microsoft.com/office/powerpoint/2010/main" val="4051735411"/>
              </p:ext>
            </p:extLst>
          </p:nvPr>
        </p:nvGraphicFramePr>
        <p:xfrm>
          <a:off x="190500" y="3387057"/>
          <a:ext cx="3475194" cy="668655"/>
        </p:xfrm>
        <a:graphic>
          <a:graphicData uri="http://schemas.openxmlformats.org/drawingml/2006/table">
            <a:tbl>
              <a:tblPr>
                <a:tableStyleId>{5C22544A-7EE6-4342-B048-85BDC9FD1C3A}</a:tableStyleId>
              </a:tblPr>
              <a:tblGrid>
                <a:gridCol w="1158398">
                  <a:extLst>
                    <a:ext uri="{9D8B030D-6E8A-4147-A177-3AD203B41FA5}">
                      <a16:colId xmlns:a16="http://schemas.microsoft.com/office/drawing/2014/main" xmlns="" val="4121392477"/>
                    </a:ext>
                  </a:extLst>
                </a:gridCol>
                <a:gridCol w="1158398">
                  <a:extLst>
                    <a:ext uri="{9D8B030D-6E8A-4147-A177-3AD203B41FA5}">
                      <a16:colId xmlns:a16="http://schemas.microsoft.com/office/drawing/2014/main" xmlns="" val="1825351744"/>
                    </a:ext>
                  </a:extLst>
                </a:gridCol>
                <a:gridCol w="1158398">
                  <a:extLst>
                    <a:ext uri="{9D8B030D-6E8A-4147-A177-3AD203B41FA5}">
                      <a16:colId xmlns:a16="http://schemas.microsoft.com/office/drawing/2014/main" xmlns="" val="1390792265"/>
                    </a:ext>
                  </a:extLst>
                </a:gridCol>
              </a:tblGrid>
              <a:tr h="190500">
                <a:tc gridSpan="3">
                  <a:txBody>
                    <a:bodyPr/>
                    <a:lstStyle/>
                    <a:p>
                      <a:pPr algn="ctr" fontAlgn="b"/>
                      <a:r>
                        <a:rPr lang="en-US" sz="1400" b="1" u="none" strike="noStrike" dirty="0">
                          <a:solidFill>
                            <a:schemeClr val="bg1"/>
                          </a:solidFill>
                          <a:effectLst/>
                          <a:latin typeface="Helvetica" panose="020B0604020202020204" pitchFamily="34" charset="0"/>
                          <a:cs typeface="Helvetica" panose="020B0604020202020204" pitchFamily="34" charset="0"/>
                        </a:rPr>
                        <a:t>Elastic Net Regression Model</a:t>
                      </a:r>
                      <a:endParaRPr lang="en-US" sz="1400" b="1" i="0" u="none" strike="noStrike" dirty="0">
                        <a:solidFill>
                          <a:schemeClr val="bg1"/>
                        </a:solidFill>
                        <a:effectLst/>
                        <a:latin typeface="Helvetica" panose="020B0604020202020204" pitchFamily="34" charset="0"/>
                        <a:cs typeface="Helvetica" panose="020B0604020202020204" pitchFamily="34" charset="0"/>
                      </a:endParaRPr>
                    </a:p>
                  </a:txBody>
                  <a:tcPr marL="9525" marR="9525" marT="9525" marB="0" anchor="b">
                    <a:solidFill>
                      <a:schemeClr val="tx2"/>
                    </a:solidFill>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xmlns="" val="487290169"/>
                  </a:ext>
                </a:extLst>
              </a:tr>
              <a:tr h="190500">
                <a:tc>
                  <a:txBody>
                    <a:bodyPr/>
                    <a:lstStyle/>
                    <a:p>
                      <a:pPr algn="ctr" fontAlgn="b"/>
                      <a:r>
                        <a:rPr lang="en-US" sz="1400" u="none" strike="noStrike" dirty="0">
                          <a:effectLst/>
                          <a:latin typeface="Helvetica" panose="020B0604020202020204" pitchFamily="34" charset="0"/>
                          <a:cs typeface="Helvetica" panose="020B0604020202020204" pitchFamily="34" charset="0"/>
                        </a:rPr>
                        <a:t>Accuracy</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dirty="0">
                          <a:effectLst/>
                          <a:latin typeface="Helvetica" panose="020B0604020202020204" pitchFamily="34" charset="0"/>
                          <a:cs typeface="Helvetica" panose="020B0604020202020204" pitchFamily="34" charset="0"/>
                        </a:rPr>
                        <a:t> Sensitivity </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a:effectLst/>
                          <a:latin typeface="Helvetica" panose="020B0604020202020204" pitchFamily="34" charset="0"/>
                          <a:cs typeface="Helvetica" panose="020B0604020202020204" pitchFamily="34" charset="0"/>
                        </a:rPr>
                        <a:t>Specificity </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4028532852"/>
                  </a:ext>
                </a:extLst>
              </a:tr>
              <a:tr h="190500">
                <a:tc>
                  <a:txBody>
                    <a:bodyPr/>
                    <a:lstStyle/>
                    <a:p>
                      <a:pPr algn="ctr" fontAlgn="b"/>
                      <a:r>
                        <a:rPr lang="x-none" sz="1400" u="none" strike="noStrike" dirty="0">
                          <a:effectLst/>
                          <a:latin typeface="Helvetica" panose="020B0604020202020204" pitchFamily="34" charset="0"/>
                          <a:cs typeface="Helvetica" panose="020B0604020202020204" pitchFamily="34" charset="0"/>
                        </a:rPr>
                        <a:t>0.8156997</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a:effectLst/>
                          <a:latin typeface="Helvetica" panose="020B0604020202020204" pitchFamily="34" charset="0"/>
                          <a:cs typeface="Helvetica" panose="020B0604020202020204" pitchFamily="34" charset="0"/>
                        </a:rPr>
                        <a:t>0.8526623</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0.6847545</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549208630"/>
                  </a:ext>
                </a:extLst>
              </a:tr>
            </a:tbl>
          </a:graphicData>
        </a:graphic>
      </p:graphicFrame>
      <p:graphicFrame>
        <p:nvGraphicFramePr>
          <p:cNvPr id="30" name="Table 29">
            <a:extLst>
              <a:ext uri="{FF2B5EF4-FFF2-40B4-BE49-F238E27FC236}">
                <a16:creationId xmlns:a16="http://schemas.microsoft.com/office/drawing/2014/main" xmlns="" id="{3AAEB3CA-F195-9C43-B670-4D6DEED38B92}"/>
              </a:ext>
            </a:extLst>
          </p:cNvPr>
          <p:cNvGraphicFramePr>
            <a:graphicFrameLocks noGrp="1"/>
          </p:cNvGraphicFramePr>
          <p:nvPr>
            <p:extLst>
              <p:ext uri="{D42A27DB-BD31-4B8C-83A1-F6EECF244321}">
                <p14:modId xmlns:p14="http://schemas.microsoft.com/office/powerpoint/2010/main" val="3378856121"/>
              </p:ext>
            </p:extLst>
          </p:nvPr>
        </p:nvGraphicFramePr>
        <p:xfrm>
          <a:off x="5152677" y="1655442"/>
          <a:ext cx="3435312" cy="668655"/>
        </p:xfrm>
        <a:graphic>
          <a:graphicData uri="http://schemas.openxmlformats.org/drawingml/2006/table">
            <a:tbl>
              <a:tblPr>
                <a:tableStyleId>{5C22544A-7EE6-4342-B048-85BDC9FD1C3A}</a:tableStyleId>
              </a:tblPr>
              <a:tblGrid>
                <a:gridCol w="1145104">
                  <a:extLst>
                    <a:ext uri="{9D8B030D-6E8A-4147-A177-3AD203B41FA5}">
                      <a16:colId xmlns:a16="http://schemas.microsoft.com/office/drawing/2014/main" xmlns="" val="4247053731"/>
                    </a:ext>
                  </a:extLst>
                </a:gridCol>
                <a:gridCol w="1145104">
                  <a:extLst>
                    <a:ext uri="{9D8B030D-6E8A-4147-A177-3AD203B41FA5}">
                      <a16:colId xmlns:a16="http://schemas.microsoft.com/office/drawing/2014/main" xmlns="" val="3716314621"/>
                    </a:ext>
                  </a:extLst>
                </a:gridCol>
                <a:gridCol w="1145104">
                  <a:extLst>
                    <a:ext uri="{9D8B030D-6E8A-4147-A177-3AD203B41FA5}">
                      <a16:colId xmlns:a16="http://schemas.microsoft.com/office/drawing/2014/main" xmlns="" val="2771723532"/>
                    </a:ext>
                  </a:extLst>
                </a:gridCol>
              </a:tblGrid>
              <a:tr h="190500">
                <a:tc gridSpan="3">
                  <a:txBody>
                    <a:bodyPr/>
                    <a:lstStyle/>
                    <a:p>
                      <a:pPr algn="ctr" fontAlgn="b"/>
                      <a:r>
                        <a:rPr lang="en-US" sz="1400" b="1" u="none" strike="noStrike" dirty="0">
                          <a:solidFill>
                            <a:schemeClr val="bg1"/>
                          </a:solidFill>
                          <a:effectLst/>
                          <a:latin typeface="Helvetica" panose="020B0604020202020204" pitchFamily="34" charset="0"/>
                          <a:cs typeface="Helvetica" panose="020B0604020202020204" pitchFamily="34" charset="0"/>
                        </a:rPr>
                        <a:t>KNN</a:t>
                      </a:r>
                      <a:endParaRPr lang="en-US" sz="1400" b="1" i="0" u="none" strike="noStrike" dirty="0">
                        <a:solidFill>
                          <a:schemeClr val="bg1"/>
                        </a:solidFill>
                        <a:effectLst/>
                        <a:latin typeface="Helvetica" panose="020B0604020202020204" pitchFamily="34" charset="0"/>
                        <a:cs typeface="Helvetica" panose="020B0604020202020204" pitchFamily="34" charset="0"/>
                      </a:endParaRPr>
                    </a:p>
                  </a:txBody>
                  <a:tcPr marL="9525" marR="9525" marT="9525" marB="0" anchor="b">
                    <a:solidFill>
                      <a:schemeClr val="tx2"/>
                    </a:solidFill>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xmlns="" val="429422045"/>
                  </a:ext>
                </a:extLst>
              </a:tr>
              <a:tr h="190500">
                <a:tc>
                  <a:txBody>
                    <a:bodyPr/>
                    <a:lstStyle/>
                    <a:p>
                      <a:pPr algn="ctr" fontAlgn="b"/>
                      <a:r>
                        <a:rPr lang="en-US" sz="1400" u="none" strike="noStrike">
                          <a:effectLst/>
                          <a:latin typeface="Helvetica" panose="020B0604020202020204" pitchFamily="34" charset="0"/>
                          <a:cs typeface="Helvetica" panose="020B0604020202020204" pitchFamily="34" charset="0"/>
                        </a:rPr>
                        <a:t>Accuracy</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dirty="0">
                          <a:effectLst/>
                          <a:latin typeface="Helvetica" panose="020B0604020202020204" pitchFamily="34" charset="0"/>
                          <a:cs typeface="Helvetica" panose="020B0604020202020204" pitchFamily="34" charset="0"/>
                        </a:rPr>
                        <a:t> Sensitivity </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a:effectLst/>
                          <a:latin typeface="Helvetica" panose="020B0604020202020204" pitchFamily="34" charset="0"/>
                          <a:cs typeface="Helvetica" panose="020B0604020202020204" pitchFamily="34" charset="0"/>
                        </a:rPr>
                        <a:t>Specificity </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2943890798"/>
                  </a:ext>
                </a:extLst>
              </a:tr>
              <a:tr h="190500">
                <a:tc>
                  <a:txBody>
                    <a:bodyPr/>
                    <a:lstStyle/>
                    <a:p>
                      <a:pPr algn="ctr" fontAlgn="b"/>
                      <a:r>
                        <a:rPr lang="x-none" sz="1400" u="none" strike="noStrike">
                          <a:effectLst/>
                          <a:latin typeface="Helvetica" panose="020B0604020202020204" pitchFamily="34" charset="0"/>
                          <a:cs typeface="Helvetica" panose="020B0604020202020204" pitchFamily="34" charset="0"/>
                        </a:rPr>
                        <a:t>0.7957907</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0.8606811</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0.6158798</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2789933849"/>
                  </a:ext>
                </a:extLst>
              </a:tr>
            </a:tbl>
          </a:graphicData>
        </a:graphic>
      </p:graphicFrame>
      <p:graphicFrame>
        <p:nvGraphicFramePr>
          <p:cNvPr id="4" name="Table 3">
            <a:extLst>
              <a:ext uri="{FF2B5EF4-FFF2-40B4-BE49-F238E27FC236}">
                <a16:creationId xmlns:a16="http://schemas.microsoft.com/office/drawing/2014/main" xmlns="" id="{23B465F7-7F46-B549-A57D-14CA10D32C29}"/>
              </a:ext>
            </a:extLst>
          </p:cNvPr>
          <p:cNvGraphicFramePr>
            <a:graphicFrameLocks noGrp="1"/>
          </p:cNvGraphicFramePr>
          <p:nvPr>
            <p:extLst>
              <p:ext uri="{D42A27DB-BD31-4B8C-83A1-F6EECF244321}">
                <p14:modId xmlns:p14="http://schemas.microsoft.com/office/powerpoint/2010/main" val="1494662129"/>
              </p:ext>
            </p:extLst>
          </p:nvPr>
        </p:nvGraphicFramePr>
        <p:xfrm>
          <a:off x="5143500" y="819716"/>
          <a:ext cx="3444489" cy="668655"/>
        </p:xfrm>
        <a:graphic>
          <a:graphicData uri="http://schemas.openxmlformats.org/drawingml/2006/table">
            <a:tbl>
              <a:tblPr>
                <a:tableStyleId>{5C22544A-7EE6-4342-B048-85BDC9FD1C3A}</a:tableStyleId>
              </a:tblPr>
              <a:tblGrid>
                <a:gridCol w="1148163">
                  <a:extLst>
                    <a:ext uri="{9D8B030D-6E8A-4147-A177-3AD203B41FA5}">
                      <a16:colId xmlns:a16="http://schemas.microsoft.com/office/drawing/2014/main" xmlns="" val="3455650986"/>
                    </a:ext>
                  </a:extLst>
                </a:gridCol>
                <a:gridCol w="1148163">
                  <a:extLst>
                    <a:ext uri="{9D8B030D-6E8A-4147-A177-3AD203B41FA5}">
                      <a16:colId xmlns:a16="http://schemas.microsoft.com/office/drawing/2014/main" xmlns="" val="2412017230"/>
                    </a:ext>
                  </a:extLst>
                </a:gridCol>
                <a:gridCol w="1148163">
                  <a:extLst>
                    <a:ext uri="{9D8B030D-6E8A-4147-A177-3AD203B41FA5}">
                      <a16:colId xmlns:a16="http://schemas.microsoft.com/office/drawing/2014/main" xmlns="" val="4251199180"/>
                    </a:ext>
                  </a:extLst>
                </a:gridCol>
              </a:tblGrid>
              <a:tr h="190500">
                <a:tc gridSpan="3">
                  <a:txBody>
                    <a:bodyPr/>
                    <a:lstStyle/>
                    <a:p>
                      <a:pPr algn="ctr" fontAlgn="b"/>
                      <a:r>
                        <a:rPr lang="en-US" sz="1400" b="1" u="none" strike="noStrike" dirty="0">
                          <a:solidFill>
                            <a:schemeClr val="bg1"/>
                          </a:solidFill>
                          <a:effectLst/>
                          <a:latin typeface="Helvetica" panose="020B0604020202020204" pitchFamily="34" charset="0"/>
                          <a:cs typeface="Helvetica" panose="020B0604020202020204" pitchFamily="34" charset="0"/>
                        </a:rPr>
                        <a:t>Decision Tree</a:t>
                      </a:r>
                      <a:endParaRPr lang="en-US" sz="1400" b="1" i="0" u="none" strike="noStrike" dirty="0">
                        <a:solidFill>
                          <a:schemeClr val="bg1"/>
                        </a:solidFill>
                        <a:effectLst/>
                        <a:latin typeface="Helvetica" panose="020B0604020202020204" pitchFamily="34" charset="0"/>
                        <a:cs typeface="Helvetica" panose="020B0604020202020204" pitchFamily="34" charset="0"/>
                      </a:endParaRPr>
                    </a:p>
                  </a:txBody>
                  <a:tcPr marL="9525" marR="9525" marT="9525" marB="0" anchor="b">
                    <a:solidFill>
                      <a:schemeClr val="tx2"/>
                    </a:solidFill>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xmlns="" val="1039947945"/>
                  </a:ext>
                </a:extLst>
              </a:tr>
              <a:tr h="190500">
                <a:tc>
                  <a:txBody>
                    <a:bodyPr/>
                    <a:lstStyle/>
                    <a:p>
                      <a:pPr algn="ctr" fontAlgn="b"/>
                      <a:r>
                        <a:rPr lang="en-US" sz="1400" u="none" strike="noStrike">
                          <a:effectLst/>
                          <a:latin typeface="Helvetica" panose="020B0604020202020204" pitchFamily="34" charset="0"/>
                          <a:cs typeface="Helvetica" panose="020B0604020202020204" pitchFamily="34" charset="0"/>
                        </a:rPr>
                        <a:t>Accuracy</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dirty="0">
                          <a:effectLst/>
                          <a:latin typeface="Helvetica" panose="020B0604020202020204" pitchFamily="34" charset="0"/>
                          <a:cs typeface="Helvetica" panose="020B0604020202020204" pitchFamily="34" charset="0"/>
                        </a:rPr>
                        <a:t> Sensitivity </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a:effectLst/>
                          <a:latin typeface="Helvetica" panose="020B0604020202020204" pitchFamily="34" charset="0"/>
                          <a:cs typeface="Helvetica" panose="020B0604020202020204" pitchFamily="34" charset="0"/>
                        </a:rPr>
                        <a:t>Specificity </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3938692532"/>
                  </a:ext>
                </a:extLst>
              </a:tr>
              <a:tr h="190500">
                <a:tc>
                  <a:txBody>
                    <a:bodyPr/>
                    <a:lstStyle/>
                    <a:p>
                      <a:pPr algn="ctr" fontAlgn="b"/>
                      <a:r>
                        <a:rPr lang="x-none" sz="1400" u="none" strike="noStrike" dirty="0">
                          <a:effectLst/>
                          <a:latin typeface="Helvetica" panose="020B0604020202020204" pitchFamily="34" charset="0"/>
                          <a:cs typeface="Helvetica" panose="020B0604020202020204" pitchFamily="34" charset="0"/>
                        </a:rPr>
                        <a:t>0.798066</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0.8111702</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0.7204724</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3152602804"/>
                  </a:ext>
                </a:extLst>
              </a:tr>
            </a:tbl>
          </a:graphicData>
        </a:graphic>
      </p:graphicFrame>
      <p:graphicFrame>
        <p:nvGraphicFramePr>
          <p:cNvPr id="34" name="Table 33">
            <a:extLst>
              <a:ext uri="{FF2B5EF4-FFF2-40B4-BE49-F238E27FC236}">
                <a16:creationId xmlns:a16="http://schemas.microsoft.com/office/drawing/2014/main" xmlns="" id="{3E41369F-31B9-B147-9859-165D493578EC}"/>
              </a:ext>
            </a:extLst>
          </p:cNvPr>
          <p:cNvGraphicFramePr>
            <a:graphicFrameLocks noGrp="1"/>
          </p:cNvGraphicFramePr>
          <p:nvPr>
            <p:extLst>
              <p:ext uri="{D42A27DB-BD31-4B8C-83A1-F6EECF244321}">
                <p14:modId xmlns:p14="http://schemas.microsoft.com/office/powerpoint/2010/main" val="879880081"/>
              </p:ext>
            </p:extLst>
          </p:nvPr>
        </p:nvGraphicFramePr>
        <p:xfrm>
          <a:off x="5153176" y="2520000"/>
          <a:ext cx="3434814" cy="668655"/>
        </p:xfrm>
        <a:graphic>
          <a:graphicData uri="http://schemas.openxmlformats.org/drawingml/2006/table">
            <a:tbl>
              <a:tblPr>
                <a:tableStyleId>{5C22544A-7EE6-4342-B048-85BDC9FD1C3A}</a:tableStyleId>
              </a:tblPr>
              <a:tblGrid>
                <a:gridCol w="1144938">
                  <a:extLst>
                    <a:ext uri="{9D8B030D-6E8A-4147-A177-3AD203B41FA5}">
                      <a16:colId xmlns:a16="http://schemas.microsoft.com/office/drawing/2014/main" xmlns="" val="2731594142"/>
                    </a:ext>
                  </a:extLst>
                </a:gridCol>
                <a:gridCol w="1144938">
                  <a:extLst>
                    <a:ext uri="{9D8B030D-6E8A-4147-A177-3AD203B41FA5}">
                      <a16:colId xmlns:a16="http://schemas.microsoft.com/office/drawing/2014/main" xmlns="" val="162584862"/>
                    </a:ext>
                  </a:extLst>
                </a:gridCol>
                <a:gridCol w="1144938">
                  <a:extLst>
                    <a:ext uri="{9D8B030D-6E8A-4147-A177-3AD203B41FA5}">
                      <a16:colId xmlns:a16="http://schemas.microsoft.com/office/drawing/2014/main" xmlns="" val="903818816"/>
                    </a:ext>
                  </a:extLst>
                </a:gridCol>
              </a:tblGrid>
              <a:tr h="190500">
                <a:tc gridSpan="3">
                  <a:txBody>
                    <a:bodyPr/>
                    <a:lstStyle/>
                    <a:p>
                      <a:pPr algn="ctr" fontAlgn="b"/>
                      <a:r>
                        <a:rPr lang="en-US" sz="1400" b="1" u="none" strike="noStrike" dirty="0">
                          <a:solidFill>
                            <a:schemeClr val="bg1"/>
                          </a:solidFill>
                          <a:effectLst/>
                          <a:latin typeface="Helvetica" panose="020B0604020202020204" pitchFamily="34" charset="0"/>
                          <a:cs typeface="Helvetica" panose="020B0604020202020204" pitchFamily="34" charset="0"/>
                        </a:rPr>
                        <a:t>Random Forest</a:t>
                      </a:r>
                      <a:endParaRPr lang="en-US" sz="1400" b="1" i="0" u="none" strike="noStrike" dirty="0">
                        <a:solidFill>
                          <a:schemeClr val="bg1"/>
                        </a:solidFill>
                        <a:effectLst/>
                        <a:latin typeface="Helvetica" panose="020B0604020202020204" pitchFamily="34" charset="0"/>
                        <a:cs typeface="Helvetica" panose="020B0604020202020204" pitchFamily="34" charset="0"/>
                      </a:endParaRPr>
                    </a:p>
                  </a:txBody>
                  <a:tcPr marL="9525" marR="9525" marT="9525" marB="0" anchor="b">
                    <a:solidFill>
                      <a:schemeClr val="tx2"/>
                    </a:solidFill>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xmlns="" val="440276995"/>
                  </a:ext>
                </a:extLst>
              </a:tr>
              <a:tr h="190500">
                <a:tc>
                  <a:txBody>
                    <a:bodyPr/>
                    <a:lstStyle/>
                    <a:p>
                      <a:pPr algn="ctr" fontAlgn="b"/>
                      <a:r>
                        <a:rPr lang="en-US" sz="1400" u="none" strike="noStrike">
                          <a:effectLst/>
                          <a:latin typeface="Helvetica" panose="020B0604020202020204" pitchFamily="34" charset="0"/>
                          <a:cs typeface="Helvetica" panose="020B0604020202020204" pitchFamily="34" charset="0"/>
                        </a:rPr>
                        <a:t>Accuracy</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dirty="0">
                          <a:effectLst/>
                          <a:latin typeface="Helvetica" panose="020B0604020202020204" pitchFamily="34" charset="0"/>
                          <a:cs typeface="Helvetica" panose="020B0604020202020204" pitchFamily="34" charset="0"/>
                        </a:rPr>
                        <a:t> Sensitivity </a:t>
                      </a:r>
                      <a:endParaRPr lang="en-US"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en-US" sz="1400" u="none" strike="noStrike">
                          <a:effectLst/>
                          <a:latin typeface="Helvetica" panose="020B0604020202020204" pitchFamily="34" charset="0"/>
                          <a:cs typeface="Helvetica" panose="020B0604020202020204" pitchFamily="34" charset="0"/>
                        </a:rPr>
                        <a:t>Specificity </a:t>
                      </a:r>
                      <a:endParaRPr lang="en-US"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1472471045"/>
                  </a:ext>
                </a:extLst>
              </a:tr>
              <a:tr h="190500">
                <a:tc>
                  <a:txBody>
                    <a:bodyPr/>
                    <a:lstStyle/>
                    <a:p>
                      <a:pPr algn="ctr" fontAlgn="b"/>
                      <a:r>
                        <a:rPr lang="x-none" sz="1400" u="none" strike="noStrike">
                          <a:effectLst/>
                          <a:latin typeface="Helvetica" panose="020B0604020202020204" pitchFamily="34" charset="0"/>
                          <a:cs typeface="Helvetica" panose="020B0604020202020204" pitchFamily="34" charset="0"/>
                        </a:rPr>
                        <a:t>0.7969283</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a:effectLst/>
                          <a:latin typeface="Helvetica" panose="020B0604020202020204" pitchFamily="34" charset="0"/>
                          <a:cs typeface="Helvetica" panose="020B0604020202020204" pitchFamily="34" charset="0"/>
                        </a:rPr>
                        <a:t>0.8384058</a:t>
                      </a:r>
                      <a:endParaRPr lang="x-none" sz="1400" b="0" i="0" u="none" strike="noStrike">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tc>
                  <a:txBody>
                    <a:bodyPr/>
                    <a:lstStyle/>
                    <a:p>
                      <a:pPr algn="ctr" fontAlgn="b"/>
                      <a:r>
                        <a:rPr lang="x-none" sz="1400" u="none" strike="noStrike" dirty="0">
                          <a:effectLst/>
                          <a:latin typeface="Helvetica" panose="020B0604020202020204" pitchFamily="34" charset="0"/>
                          <a:cs typeface="Helvetica" panose="020B0604020202020204" pitchFamily="34" charset="0"/>
                        </a:rPr>
                        <a:t>0.6455026</a:t>
                      </a:r>
                      <a:endParaRPr lang="x-none" sz="1400" b="0" i="0" u="none" strike="noStrike" dirty="0">
                        <a:solidFill>
                          <a:srgbClr val="000000"/>
                        </a:solidFill>
                        <a:effectLst/>
                        <a:latin typeface="Helvetica" panose="020B0604020202020204" pitchFamily="34" charset="0"/>
                        <a:cs typeface="Helvetica" panose="020B0604020202020204" pitchFamily="34" charset="0"/>
                      </a:endParaRPr>
                    </a:p>
                  </a:txBody>
                  <a:tcPr marL="9525" marR="9525" marT="9525" marB="0" anchor="b">
                    <a:noFill/>
                  </a:tcPr>
                </a:tc>
                <a:extLst>
                  <a:ext uri="{0D108BD9-81ED-4DB2-BD59-A6C34878D82A}">
                    <a16:rowId xmlns:a16="http://schemas.microsoft.com/office/drawing/2014/main" xmlns="" val="3622434909"/>
                  </a:ext>
                </a:extLst>
              </a:tr>
            </a:tbl>
          </a:graphicData>
        </a:graphic>
      </p:graphicFrame>
      <p:sp>
        <p:nvSpPr>
          <p:cNvPr id="5" name="Rectangle 4">
            <a:extLst>
              <a:ext uri="{FF2B5EF4-FFF2-40B4-BE49-F238E27FC236}">
                <a16:creationId xmlns:a16="http://schemas.microsoft.com/office/drawing/2014/main" xmlns="" id="{1221FFBB-62F3-8443-AD93-7B484663EDCB}"/>
              </a:ext>
            </a:extLst>
          </p:cNvPr>
          <p:cNvSpPr/>
          <p:nvPr/>
        </p:nvSpPr>
        <p:spPr>
          <a:xfrm>
            <a:off x="201807" y="4227313"/>
            <a:ext cx="6911591" cy="738664"/>
          </a:xfrm>
          <a:prstGeom prst="rect">
            <a:avLst/>
          </a:prstGeom>
          <a:ln w="19050">
            <a:solidFill>
              <a:schemeClr val="tx2"/>
            </a:solidFill>
          </a:ln>
        </p:spPr>
        <p:txBody>
          <a:bodyPr wrap="square">
            <a:spAutoFit/>
          </a:bodyPr>
          <a:lstStyle/>
          <a:p>
            <a:r>
              <a:rPr lang="en-CA" sz="1400" dirty="0">
                <a:latin typeface="Helvetica" pitchFamily="2" charset="0"/>
              </a:rPr>
              <a:t>From the classification metrics above, we can see that both the Lasso Regression and Elastic Regression models have slightly better metrics than the other models. Therefore, those could be the chosen ones to continue to tune and work with.</a:t>
            </a:r>
          </a:p>
        </p:txBody>
      </p:sp>
    </p:spTree>
    <p:custDataLst>
      <p:tags r:id="rId1"/>
    </p:custDataLst>
    <p:extLst>
      <p:ext uri="{BB962C8B-B14F-4D97-AF65-F5344CB8AC3E}">
        <p14:creationId xmlns:p14="http://schemas.microsoft.com/office/powerpoint/2010/main" val="942057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05196" y="147217"/>
            <a:ext cx="4727575" cy="795337"/>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7759" t="6607" r="13881" b="7744"/>
          <a:stretch/>
        </p:blipFill>
        <p:spPr>
          <a:xfrm>
            <a:off x="3236327" y="1025498"/>
            <a:ext cx="2573755" cy="2813176"/>
          </a:xfrm>
          <a:prstGeom prst="rect">
            <a:avLst/>
          </a:prstGeom>
        </p:spPr>
      </p:pic>
    </p:spTree>
    <p:custDataLst>
      <p:tags r:id="rId1"/>
    </p:custDataLst>
    <p:extLst>
      <p:ext uri="{BB962C8B-B14F-4D97-AF65-F5344CB8AC3E}">
        <p14:creationId xmlns:p14="http://schemas.microsoft.com/office/powerpoint/2010/main" val="3901965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DESIGN_ID_1_FULL PAGE LAYOUT" val="jF6ncJzA"/>
  <p:tag name="ARTICULATE_SLIDE_COUNT" val="1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2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1_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24068</TotalTime>
  <Words>1300</Words>
  <Application>Microsoft Office PowerPoint</Application>
  <PresentationFormat>On-screen Show (16:9)</PresentationFormat>
  <Paragraphs>230</Paragraphs>
  <Slides>14</Slides>
  <Notes>11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14</vt:i4>
      </vt:variant>
    </vt:vector>
  </HeadingPairs>
  <TitlesOfParts>
    <vt:vector size="27" baseType="lpstr">
      <vt:lpstr>MS PGothic</vt:lpstr>
      <vt:lpstr>宋体</vt:lpstr>
      <vt:lpstr>Arial</vt:lpstr>
      <vt:lpstr>Calibri</vt:lpstr>
      <vt:lpstr>Cambria Math</vt:lpstr>
      <vt:lpstr>Helvetica</vt:lpstr>
      <vt:lpstr>Vitesse</vt:lpstr>
      <vt:lpstr>Vitesse Bold</vt:lpstr>
      <vt:lpstr>Vitesse Book</vt:lpstr>
      <vt:lpstr>Vitesse Medium</vt:lpstr>
      <vt:lpstr>1_Half Page Slash</vt:lpstr>
      <vt:lpstr>2_Half Page Slash</vt:lpstr>
      <vt:lpstr>1_Full Page Layout</vt:lpstr>
      <vt:lpstr>PowerPoint Presentation</vt:lpstr>
      <vt:lpstr>PowerPoint Presentation</vt:lpstr>
      <vt:lpstr>K Nearest Neighbors (KNN): Introduction</vt:lpstr>
      <vt:lpstr>K Nearest Neighbors (KNN): Introduction </vt:lpstr>
      <vt:lpstr>K Nearest Neighbors (KNN): Implementation</vt:lpstr>
      <vt:lpstr>K Nearest Neighbors (KNN): Fitting</vt:lpstr>
      <vt:lpstr>PowerPoint Presentation</vt:lpstr>
      <vt:lpstr>Decision Trees: Introduction</vt:lpstr>
      <vt:lpstr>Decision Trees: Implementation</vt:lpstr>
      <vt:lpstr>Decision Trees: Interpretation</vt:lpstr>
      <vt:lpstr>Decision Trees: Prediction</vt:lpstr>
      <vt:lpstr>Random Forest: Implementation</vt:lpstr>
      <vt:lpstr>Conclusion</vt:lpstr>
      <vt:lpstr>PowerPoint Presentation</vt:lpstr>
    </vt:vector>
  </TitlesOfParts>
  <Company>gt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Linear Regression R Examples</dc:title>
  <dc:creator>Serban, Nicoleta</dc:creator>
  <cp:lastModifiedBy>Aymee Garcia</cp:lastModifiedBy>
  <cp:revision>588</cp:revision>
  <dcterms:created xsi:type="dcterms:W3CDTF">2017-01-02T15:06:50Z</dcterms:created>
  <dcterms:modified xsi:type="dcterms:W3CDTF">2021-06-04T09:13:40Z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0615962D-B1BB-47CF-A2F1-5A2F3401DAC9</vt:lpwstr>
  </property>
  <property fmtid="{D5CDD505-2E9C-101B-9397-08002B2CF9AE}" pid="3" name="ArticulatePath">
    <vt:lpwstr>17-Data Analysus II-L4</vt:lpwstr>
  </property>
</Properties>
</file>