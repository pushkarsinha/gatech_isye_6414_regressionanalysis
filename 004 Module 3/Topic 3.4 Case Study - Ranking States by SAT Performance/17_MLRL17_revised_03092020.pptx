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8" r:id="rId2"/>
    <p:sldMasterId id="2147483719" r:id="rId3"/>
  </p:sldMasterIdLst>
  <p:notesMasterIdLst>
    <p:notesMasterId r:id="rId16"/>
  </p:notesMasterIdLst>
  <p:sldIdLst>
    <p:sldId id="342" r:id="rId4"/>
    <p:sldId id="343" r:id="rId5"/>
    <p:sldId id="338" r:id="rId6"/>
    <p:sldId id="287" r:id="rId7"/>
    <p:sldId id="288" r:id="rId8"/>
    <p:sldId id="345" r:id="rId9"/>
    <p:sldId id="339" r:id="rId10"/>
    <p:sldId id="346" r:id="rId11"/>
    <p:sldId id="290" r:id="rId12"/>
    <p:sldId id="347" r:id="rId13"/>
    <p:sldId id="279" r:id="rId14"/>
    <p:sldId id="344" r:id="rId1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576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44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1" autoAdjust="0"/>
    <p:restoredTop sz="93596" autoAdjust="0"/>
  </p:normalViewPr>
  <p:slideViewPr>
    <p:cSldViewPr snapToGrid="0">
      <p:cViewPr varScale="1">
        <p:scale>
          <a:sx n="110" d="100"/>
          <a:sy n="110" d="100"/>
        </p:scale>
        <p:origin x="907" y="72"/>
      </p:cViewPr>
      <p:guideLst>
        <p:guide orient="horz" pos="1596"/>
        <p:guide pos="2880"/>
        <p:guide pos="144"/>
        <p:guide pos="360"/>
        <p:guide pos="576"/>
        <p:guide pos="3456"/>
        <p:guide orient="horz" pos="444"/>
        <p:guide orient="horz" pos="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20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04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19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50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74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36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68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5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623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536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89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79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15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0925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5870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2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9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457189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2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8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8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43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283249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082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65370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91667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05052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3628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20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6937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391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32462" y="2292986"/>
            <a:ext cx="5095759" cy="432669"/>
          </a:xfrm>
        </p:spPr>
        <p:txBody>
          <a:bodyPr/>
          <a:lstStyle/>
          <a:p>
            <a:r>
              <a:rPr kumimoji="1" lang="en-US" altLang="zh-CN" dirty="0"/>
              <a:t>Nicoleta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Serban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Ph.D.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32462" y="2556603"/>
            <a:ext cx="4888796" cy="254281"/>
          </a:xfrm>
        </p:spPr>
        <p:txBody>
          <a:bodyPr/>
          <a:lstStyle/>
          <a:p>
            <a:r>
              <a:rPr kumimoji="1" lang="en-US" altLang="zh-CN" dirty="0"/>
              <a:t>Professor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27955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3" name="Text Placeholder 6"/>
          <p:cNvSpPr>
            <a:spLocks noGrp="1"/>
          </p:cNvSpPr>
          <p:nvPr/>
        </p:nvSpPr>
        <p:spPr>
          <a:xfrm>
            <a:off x="130313" y="278523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12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30536" y="4152027"/>
            <a:ext cx="3724770" cy="681037"/>
          </a:xfrm>
        </p:spPr>
        <p:txBody>
          <a:bodyPr/>
          <a:lstStyle/>
          <a:p>
            <a:r>
              <a:rPr kumimoji="1" lang="en-US" altLang="zh-CN" sz="2000" dirty="0"/>
              <a:t>Ranking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States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SAT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Performance: Model Fit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139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2763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9472" y="227013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2065241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422" y="212893"/>
            <a:ext cx="8562392" cy="676793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Residual Analysis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82D1B67-C0EB-45CB-B0B2-6E8036D6E8E9}"/>
              </a:ext>
            </a:extLst>
          </p:cNvPr>
          <p:cNvSpPr txBox="1"/>
          <p:nvPr/>
        </p:nvSpPr>
        <p:spPr>
          <a:xfrm>
            <a:off x="155536" y="1001763"/>
            <a:ext cx="7569761" cy="3170099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To evaluate assumptions: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Constant variance &amp; uncorrelated errors</a:t>
            </a:r>
          </a:p>
          <a:p>
            <a:pPr marL="692150" lvl="1" indent="-407988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Response variable or fitted values vs residuals</a:t>
            </a:r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Linearity</a:t>
            </a:r>
          </a:p>
          <a:p>
            <a:pPr marL="692150" lvl="1" indent="-407988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Predicting variables vs residuals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Normality</a:t>
            </a:r>
            <a:endParaRPr lang="en-US" sz="1800" b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pPr marL="692150" lvl="1" indent="-407988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Histogram and QQ normal plot</a:t>
            </a:r>
          </a:p>
          <a:p>
            <a:endParaRPr lang="en-US" sz="1800" b="1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To evaluate outliers:</a:t>
            </a:r>
          </a:p>
          <a:p>
            <a:pPr marL="346075" lvl="1" indent="-34607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Cook’s distance plots</a:t>
            </a:r>
          </a:p>
        </p:txBody>
      </p:sp>
    </p:spTree>
    <p:extLst>
      <p:ext uri="{BB962C8B-B14F-4D97-AF65-F5344CB8AC3E}">
        <p14:creationId xmlns:p14="http://schemas.microsoft.com/office/powerpoint/2010/main" val="68786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66168" y="1029973"/>
            <a:ext cx="8243242" cy="368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Residual analysis for the reduced model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stdres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reduced.line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cook =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cooks.distance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reduced.line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par(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mfrow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c(2,3))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plot(sat, res,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"SAT Score",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"Residuals",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pch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19)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abline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(h = 0)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plot(takers, res,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"Percent of Students Tested",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"Residuals",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pch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19)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abline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(h = 0)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plot(rank, res,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"Median Class Ranking Percentile",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"Residuals",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pch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19)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abline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(h = 0)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hist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(res,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xlab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="Residuals", main= "Histogram of Residuals")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qqnrom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(res)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qqline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(res)</a:t>
            </a:r>
          </a:p>
          <a:p>
            <a:pPr>
              <a:lnSpc>
                <a:spcPct val="120000"/>
              </a:lnSpc>
            </a:pP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plot(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cook,type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="h",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lwd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=3, </a:t>
            </a:r>
            <a:r>
              <a:rPr lang="en-US" alt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ylab</a:t>
            </a:r>
            <a:r>
              <a:rPr lang="en-US" alt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"Cook’s Distance")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16422" y="212893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</p:spTree>
    <p:extLst>
      <p:ext uri="{BB962C8B-B14F-4D97-AF65-F5344CB8AC3E}">
        <p14:creationId xmlns:p14="http://schemas.microsoft.com/office/powerpoint/2010/main" val="206517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16422" y="212893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1353"/>
          <a:stretch/>
        </p:blipFill>
        <p:spPr>
          <a:xfrm>
            <a:off x="777724" y="1249904"/>
            <a:ext cx="5931245" cy="299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2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16422" y="212893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219" y="4153925"/>
            <a:ext cx="6978478" cy="86177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182880" rIns="182880" bIns="18288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Transform the predicting variable Percent of Students Tested (</a:t>
            </a:r>
            <a:r>
              <a:rPr lang="en-US" sz="16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Reanalyze heavy tailed residuals and outliers after transformation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353"/>
          <a:stretch/>
        </p:blipFill>
        <p:spPr>
          <a:xfrm>
            <a:off x="403135" y="1159662"/>
            <a:ext cx="6672645" cy="291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1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9113" y="1059144"/>
            <a:ext cx="5337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lm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(sat ~ log(takers)+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rank+income+years+public+expend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   Estimate   Std. Error  t value    </a:t>
            </a:r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(&gt;|t|)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(Intercept) 407.53990  282.76325   1.441  0.15675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log(takers) -38.43758    15.95214  -2.410  0.02032 *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       4.11427      2.50166    1.645  0.10734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      -0.03588      0.13011   -0.276  0.78407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     17.21811      6.32007    2.724  0.00928 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       -0.11301      0.56239   -0.201  0.84168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        2.56691      0.80641    3.183  0.00271 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Signif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Residual standard error: 24.86 on 43 degrees of freedom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Multiple R-squared:  0.8919,	Adjusted R-squared:  0.8769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F-statistic: 59.15 on 6 and 43 DF,  p-value: &lt; 2.2e-16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28779" y="212893"/>
            <a:ext cx="8562392" cy="62382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Linear Regression Analysis in R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223909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9113" y="1059144"/>
            <a:ext cx="5337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&lt;- 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lm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(sat ~ log(takers)+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rank+income+years+public+expend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400" i="1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i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   Estimate   Std. Error  t value    </a:t>
            </a:r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(&gt;|t|)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(Intercept) 407.53990  282.76325   1.441  0.15675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log(takers) -38.43758    15.95214  -2.410  0.02032 *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       4.11427      2.50166    1.645  0.10734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      -0.03588      0.13011   -0.276  0.78407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     17.21811      6.32007    2.724  0.00928 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       -0.11301      0.56239   -0.201  0.84168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        2.56691      0.80641    3.183  0.00271 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Signif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Residual standard error: 24.86 on 43 degrees of freedom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Multiple R-squared:  0.8919,	Adjusted R-squared:  0.8769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F-statistic: 59.15 on 6 and 43 DF,  p-value: &lt; 2.2e-16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28779" y="212893"/>
            <a:ext cx="8562392" cy="623825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Linear Regression Analysis in R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8A07909B-F976-483E-855D-E5755865DE4B}"/>
                  </a:ext>
                </a:extLst>
              </p:cNvPr>
              <p:cNvSpPr txBox="1"/>
              <p:nvPr/>
            </p:nvSpPr>
            <p:spPr>
              <a:xfrm>
                <a:off x="5491969" y="1269213"/>
                <a:ext cx="3334871" cy="19992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Helvetica" charset="0"/>
                    <a:ea typeface="Helvetica" charset="0"/>
                    <a:cs typeface="Helvetica" charset="0"/>
                  </a:rPr>
                  <a:t>Test for statistical significance:</a:t>
                </a:r>
              </a:p>
              <a:p>
                <a:pPr defTabSz="1030288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log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⁡(</m:t>
                        </m:r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𝑡𝑎𝑘𝑒𝑟𝑠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0.0203 &lt; 0.1</a:t>
                </a:r>
              </a:p>
              <a:p>
                <a:pPr defTabSz="1030288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𝑟𝑎𝑛𝑘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0.1073 &gt; 0.1</a:t>
                </a:r>
              </a:p>
              <a:p>
                <a:pPr defTabSz="1030288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𝑖𝑛𝑐𝑜𝑚𝑒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0.7840 &gt; 0.1</a:t>
                </a:r>
              </a:p>
              <a:p>
                <a:pPr>
                  <a:tabLst>
                    <a:tab pos="103028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𝑦𝑒𝑎𝑟𝑠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0.0093 &lt; 0.1</a:t>
                </a:r>
              </a:p>
              <a:p>
                <a:pPr>
                  <a:tabLst>
                    <a:tab pos="103028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𝑝𝑢𝑏𝑙𝑖𝑐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</a:t>
                </a:r>
                <a:r>
                  <a:rPr lang="en-US" sz="1600" dirty="0" err="1">
                    <a:latin typeface="Helvetica" charset="0"/>
                    <a:ea typeface="Helvetica" charset="0"/>
                    <a:cs typeface="Helvetica" charset="0"/>
                  </a:rPr>
                  <a:t>Pr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(&gt;|t|) ≈ 0.8417 &gt; 0.1</a:t>
                </a:r>
              </a:p>
              <a:p>
                <a:pPr>
                  <a:tabLst>
                    <a:tab pos="103028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𝑒𝑥𝑝𝑒𝑛𝑑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0.0027 &lt; 0.1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07909B-F976-483E-855D-E5755865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969" y="1269213"/>
                <a:ext cx="3334871" cy="1999202"/>
              </a:xfrm>
              <a:prstGeom prst="rect">
                <a:avLst/>
              </a:prstGeom>
              <a:blipFill>
                <a:blip r:embed="rId3"/>
                <a:stretch>
                  <a:fillRect l="-909" t="-604" b="-120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0FE1F0DC-FDF9-4D5D-845E-3893CC05FE08}"/>
                  </a:ext>
                </a:extLst>
              </p:cNvPr>
              <p:cNvSpPr txBox="1"/>
              <p:nvPr/>
            </p:nvSpPr>
            <p:spPr>
              <a:xfrm>
                <a:off x="5486401" y="3714069"/>
                <a:ext cx="3340439" cy="83099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σ</m:t>
                        </m:r>
                      </m:e>
                    </m:acc>
                  </m:oMath>
                </a14:m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= 24.86, df = </a:t>
                </a:r>
                <a:r>
                  <a:rPr lang="en-US" sz="1600" i="1" dirty="0">
                    <a:latin typeface="Helvetica Neue"/>
                    <a:ea typeface="Helvetica" charset="0"/>
                    <a:cs typeface="Helvetica" charset="0"/>
                  </a:rPr>
                  <a:t>n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-</a:t>
                </a:r>
                <a:r>
                  <a:rPr lang="en-US" sz="1600" i="1" dirty="0">
                    <a:latin typeface="Helvetica Neue"/>
                    <a:ea typeface="Helvetica" charset="0"/>
                    <a:cs typeface="Helvetica" charset="0"/>
                  </a:rPr>
                  <a:t>p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-1 = 43</a:t>
                </a:r>
              </a:p>
              <a:p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R</a:t>
                </a:r>
                <a:r>
                  <a:rPr lang="en-US" sz="1600" baseline="30000" dirty="0">
                    <a:latin typeface="Helvetica Neue"/>
                    <a:ea typeface="Helvetica" charset="0"/>
                    <a:cs typeface="Helvetica" charset="0"/>
                  </a:rPr>
                  <a:t>2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≈ 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0.892 </a:t>
                </a:r>
                <a:r>
                  <a:rPr lang="en-US" sz="1600" dirty="0">
                    <a:latin typeface="Helvetica Neue"/>
                    <a:ea typeface="Cambria Math" panose="02040503050406030204" pitchFamily="18" charset="0"/>
                    <a:cs typeface="Helvetica" charset="0"/>
                  </a:rPr>
                  <a:t>⇒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89.2% of variability explained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E1F0DC-FDF9-4D5D-845E-3893CC05F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1" y="3714069"/>
                <a:ext cx="3340439" cy="830997"/>
              </a:xfrm>
              <a:prstGeom prst="rect">
                <a:avLst/>
              </a:prstGeom>
              <a:blipFill>
                <a:blip r:embed="rId4"/>
                <a:stretch>
                  <a:fillRect l="-726" t="-1429" b="-6429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54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16422" y="212893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08" y="1121019"/>
            <a:ext cx="5629070" cy="308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5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16422" y="212893"/>
            <a:ext cx="8562392" cy="676793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Residual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287155"/>
            <a:ext cx="3192414" cy="249299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182880" rIns="182880" bIns="182880" rtlCol="0" anchor="ctr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Transformation has improved on the linearity assumption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Heavy tailed residuals remain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Cook’s distance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Alaska is an outlier/influential point for the model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27" y="1210355"/>
            <a:ext cx="4947692" cy="26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1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45695" y="999238"/>
            <a:ext cx="8557833" cy="367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6075" indent="-346075"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Given all other predictors in the model:</a:t>
            </a:r>
          </a:p>
          <a:p>
            <a:pPr marL="692150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Percent of students taking SAT from a public school and family income of test takers are not statistically significantly associated to SAT score</a:t>
            </a:r>
          </a:p>
          <a:p>
            <a:pPr marL="692150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 $100,000 increase in the expenditure on secondary schools results in a 2.56-point increase in the SAT score</a:t>
            </a:r>
          </a:p>
          <a:p>
            <a:pPr marL="692150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One additional year that test takers had in social sciences, natural sciences, and humanities leads to a 17.2-point increase in the SAT score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The predictors in the model explain close to 90% of the variability in SAT score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We find that the relationship between state average SAT score and the percent of students taking SAT to be nonlinear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Ranking changes after controlling for the bias selection factors</a:t>
            </a:r>
          </a:p>
          <a:p>
            <a:pPr marL="692150" lvl="1" indent="-346075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For example, Connecticut  moves from 35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to 1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Massachusetts from 41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to 4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, and New York from 36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to 5</a:t>
            </a:r>
            <a:r>
              <a:rPr lang="en-US" alt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alt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136" y="225250"/>
            <a:ext cx="8562392" cy="712203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State SAT Performance: Findings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5186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37564" y="252413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68695" y="1276350"/>
            <a:ext cx="2573755" cy="2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7868</TotalTime>
  <Words>612</Words>
  <Application>Microsoft Office PowerPoint</Application>
  <PresentationFormat>On-screen Show (16:9)</PresentationFormat>
  <Paragraphs>107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2_Full Page Layout</vt:lpstr>
      <vt:lpstr>PowerPoint Presentation</vt:lpstr>
      <vt:lpstr>PowerPoint Presentation</vt:lpstr>
      <vt:lpstr>Residual Analysis</vt:lpstr>
      <vt:lpstr>PowerPoint Presentation</vt:lpstr>
      <vt:lpstr>PowerPoint Presentation</vt:lpstr>
      <vt:lpstr>PowerPoint Presentation</vt:lpstr>
      <vt:lpstr>Linear Regression Analysis in R</vt:lpstr>
      <vt:lpstr>Linear Regression Analysis in R</vt:lpstr>
      <vt:lpstr>PowerPoint Presentation</vt:lpstr>
      <vt:lpstr>PowerPoint Presentation</vt:lpstr>
      <vt:lpstr>State SAT Performance: Findings</vt:lpstr>
      <vt:lpstr>PowerPoint Presentation</vt:lpstr>
    </vt:vector>
  </TitlesOfParts>
  <Company>gt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Aymee Garcia</cp:lastModifiedBy>
  <cp:revision>445</cp:revision>
  <dcterms:created xsi:type="dcterms:W3CDTF">2017-01-02T15:06:50Z</dcterms:created>
  <dcterms:modified xsi:type="dcterms:W3CDTF">2021-03-09T08:29:13Z</dcterms:modified>
</cp:coreProperties>
</file>