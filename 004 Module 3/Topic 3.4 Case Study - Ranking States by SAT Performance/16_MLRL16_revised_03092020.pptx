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8" r:id="rId2"/>
    <p:sldMasterId id="2147483719" r:id="rId3"/>
  </p:sldMasterIdLst>
  <p:notesMasterIdLst>
    <p:notesMasterId r:id="rId13"/>
  </p:notesMasterIdLst>
  <p:sldIdLst>
    <p:sldId id="338" r:id="rId4"/>
    <p:sldId id="337" r:id="rId5"/>
    <p:sldId id="332" r:id="rId6"/>
    <p:sldId id="333" r:id="rId7"/>
    <p:sldId id="284" r:id="rId8"/>
    <p:sldId id="334" r:id="rId9"/>
    <p:sldId id="285" r:id="rId10"/>
    <p:sldId id="335" r:id="rId11"/>
    <p:sldId id="336" r:id="rId12"/>
  </p:sldIdLst>
  <p:sldSz cx="9144000" cy="5143500" type="screen16x9"/>
  <p:notesSz cx="6858000" cy="9144000"/>
  <p:custDataLst>
    <p:tags r:id="rId14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576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orient="horz" pos="444" userDrawn="1">
          <p15:clr>
            <a:srgbClr val="A4A3A4"/>
          </p15:clr>
        </p15:guide>
        <p15:guide id="8" orient="horz" pos="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8E4221"/>
    <a:srgbClr val="CC00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23" autoAdjust="0"/>
    <p:restoredTop sz="93519" autoAdjust="0"/>
  </p:normalViewPr>
  <p:slideViewPr>
    <p:cSldViewPr snapToGrid="0">
      <p:cViewPr varScale="1">
        <p:scale>
          <a:sx n="79" d="100"/>
          <a:sy n="79" d="100"/>
        </p:scale>
        <p:origin x="1168" y="52"/>
      </p:cViewPr>
      <p:guideLst>
        <p:guide orient="horz" pos="1620"/>
        <p:guide pos="2880"/>
        <p:guide pos="144"/>
        <p:guide pos="360"/>
        <p:guide pos="576"/>
        <p:guide pos="3456"/>
        <p:guide orient="horz" pos="444"/>
        <p:guide orient="horz" pos="8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358C8-D37B-4DB3-A032-059E1BD5A650}" type="datetimeFigureOut">
              <a:rPr lang="en-US" smtClean="0"/>
              <a:t>5/11/2020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E3481-38DB-434B-B170-CFE83842A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98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60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50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4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91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83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254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87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65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611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88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27024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42432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7651" y="274639"/>
            <a:ext cx="6121165" cy="712848"/>
          </a:xfrm>
          <a:prstGeom prst="rect">
            <a:avLst/>
          </a:prstGeom>
        </p:spPr>
        <p:txBody>
          <a:bodyPr/>
          <a:lstStyle>
            <a:lvl1pPr algn="l"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dirty="0"/>
              <a:t>Course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2" y="796334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47649" y="2292986"/>
            <a:ext cx="5095759" cy="432669"/>
          </a:xfrm>
          <a:prstGeom prst="rect">
            <a:avLst/>
          </a:prstGeom>
        </p:spPr>
        <p:txBody>
          <a:bodyPr anchor="ctr"/>
          <a:lstStyle>
            <a:lvl1pPr marL="0" indent="0" algn="l" defTabSz="457189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endParaRPr lang="en-US" dirty="0"/>
          </a:p>
          <a:p>
            <a:pPr lvl="0"/>
            <a:r>
              <a:rPr lang="en-US" dirty="0"/>
              <a:t>Professor Name, Ph.D.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238242" y="2650976"/>
            <a:ext cx="4888796" cy="254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1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8" y="4379684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247648" y="2896114"/>
            <a:ext cx="4794723" cy="322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School Name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47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049534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85115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818692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96827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824438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9516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3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7653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486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132462" y="2292986"/>
            <a:ext cx="5095759" cy="432669"/>
          </a:xfrm>
        </p:spPr>
        <p:txBody>
          <a:bodyPr/>
          <a:lstStyle/>
          <a:p>
            <a:r>
              <a:rPr kumimoji="1" lang="en-US" altLang="zh-CN" dirty="0"/>
              <a:t>Nicoleta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Serban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Ph.D.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32462" y="2556603"/>
            <a:ext cx="4888796" cy="254281"/>
          </a:xfrm>
        </p:spPr>
        <p:txBody>
          <a:bodyPr/>
          <a:lstStyle/>
          <a:p>
            <a:r>
              <a:rPr kumimoji="1" lang="en-US" altLang="zh-CN" dirty="0"/>
              <a:t>Professor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4AEABA-C275-446A-BBE9-1807ABA86CB8}"/>
              </a:ext>
            </a:extLst>
          </p:cNvPr>
          <p:cNvSpPr>
            <a:spLocks noGrp="1"/>
          </p:cNvSpPr>
          <p:nvPr/>
        </p:nvSpPr>
        <p:spPr>
          <a:xfrm>
            <a:off x="116439" y="227955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AB406A4-8059-47B7-9A57-6535C7813A24}"/>
              </a:ext>
            </a:extLst>
          </p:cNvPr>
          <p:cNvSpPr>
            <a:spLocks noGrp="1"/>
          </p:cNvSpPr>
          <p:nvPr/>
        </p:nvSpPr>
        <p:spPr>
          <a:xfrm>
            <a:off x="126875" y="750040"/>
            <a:ext cx="6368450" cy="1024985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Linear</a:t>
            </a:r>
            <a:r>
              <a:rPr lang="zh-CN" altLang="en-US" sz="2400" dirty="0"/>
              <a:t> </a:t>
            </a:r>
            <a:r>
              <a:rPr lang="en-US" altLang="zh-CN" sz="2400" dirty="0"/>
              <a:t>Regression</a:t>
            </a:r>
            <a:endParaRPr lang="en-US" sz="2400" dirty="0"/>
          </a:p>
        </p:txBody>
      </p:sp>
      <p:sp>
        <p:nvSpPr>
          <p:cNvPr id="13" name="Text Placeholder 6"/>
          <p:cNvSpPr>
            <a:spLocks noGrp="1"/>
          </p:cNvSpPr>
          <p:nvPr/>
        </p:nvSpPr>
        <p:spPr>
          <a:xfrm>
            <a:off x="130313" y="278523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  <p:sp>
        <p:nvSpPr>
          <p:cNvPr id="9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124197" y="4018158"/>
            <a:ext cx="3904106" cy="681037"/>
          </a:xfrm>
        </p:spPr>
        <p:txBody>
          <a:bodyPr/>
          <a:lstStyle/>
          <a:p>
            <a:r>
              <a:rPr kumimoji="1" lang="en-US" altLang="zh-CN" sz="2000" dirty="0"/>
              <a:t>Ranking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States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SAT Performance: Regression Analysis</a:t>
            </a:r>
          </a:p>
          <a:p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8649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50104" y="226389"/>
            <a:ext cx="4727575" cy="731706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578834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3493" y="1059145"/>
            <a:ext cx="53329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regression.line</a:t>
            </a: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lm(sat ~ takers + rank + income + years + public + expend)</a:t>
            </a:r>
          </a:p>
          <a:p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summary(</a:t>
            </a:r>
            <a:r>
              <a:rPr lang="en-US" sz="1400" b="1" dirty="0" err="1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regression.line</a:t>
            </a: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  <a:endParaRPr lang="en-US" sz="14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Coefficients: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        Estimate Std.            Error    t value     </a:t>
            </a:r>
            <a:r>
              <a:rPr lang="en-US" sz="14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</a:t>
            </a: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(&gt;|t|) 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(Intercept)   -94.659109  211.509584     -0.448 0.656731 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takers           -0.480080       0.693711    -0.692 0.492628 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               8.476217       2.107807     4.021 0.000230 ***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income         -0.008195       0.152358    -0.054 0.957353 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years           22.610082       6.314577     3.581 0.000866 ***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public           -0.464152       0.579104    -0.802 0.427249 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expend          2.212005       0.845972     2.615 0.012263 *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---</a:t>
            </a:r>
          </a:p>
          <a:p>
            <a:r>
              <a:rPr lang="en-US" sz="14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Signif</a:t>
            </a: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. codes:  0 ‘***’ 0.001 ‘**’ 0.01 ‘*’ 0.05 ‘.’ 0.1 ‘ ’ 1</a:t>
            </a:r>
          </a:p>
          <a:p>
            <a:endParaRPr lang="en-US" sz="14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Residual standard error: 26.34 on 43 degrees of freedom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Multiple R-squared:  0.8787,	Adjusted R-squared:  0.8618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F-statistic: 51.91 on 6 and 43 DF,  p-value: &lt; 2.2e-16</a:t>
            </a:r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116422" y="212893"/>
            <a:ext cx="8562392" cy="68561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Linear Regression Analysis in R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476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153493" y="1059145"/>
            <a:ext cx="53329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regression.line</a:t>
            </a: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lm(sat ~ takers + rank + income + years + public + expend)</a:t>
            </a:r>
          </a:p>
          <a:p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summary(</a:t>
            </a:r>
            <a:r>
              <a:rPr lang="en-US" sz="1400" b="1" dirty="0" err="1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regression.line</a:t>
            </a: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  <a:endParaRPr lang="en-US" sz="1400" i="1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Coefficients: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        Estimate Std.            Error    t value     </a:t>
            </a:r>
            <a:r>
              <a:rPr lang="en-US" sz="14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</a:t>
            </a: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(&gt;|t|) 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(Intercept)   -94.659109  211.509584     -0.448 0.656731 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takers           -0.480080       0.693711    -0.692 0.492628 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               8.476217       2.107807     4.021 0.000230 ***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income         -0.008195       0.152358    -0.054 0.957353 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years           22.610082       6.314577     3.581 0.000866 ***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public           -0.464152       0.579104    -0.802 0.427249  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expend          2.212005       0.845972     2.615 0.012263 * 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---</a:t>
            </a:r>
          </a:p>
          <a:p>
            <a:r>
              <a:rPr lang="en-US" sz="14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Signif</a:t>
            </a:r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. codes:  0 ‘***’ 0.001 ‘**’ 0.01 ‘*’ 0.05 ‘.’ 0.1 ‘ ’ 1</a:t>
            </a:r>
          </a:p>
          <a:p>
            <a:endParaRPr lang="en-US" sz="14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Residual standard error: 26.34 on 43 degrees of freedom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Multiple R-squared:  0.8787,	Adjusted R-squared:  0.8618 </a:t>
            </a:r>
          </a:p>
          <a:p>
            <a:r>
              <a:rPr lang="en-US" sz="14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F-statistic: 51.91 on 6 and 43 DF,  p-value: &lt; 2.2e-16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238F8D-74C7-4A7C-B318-28EF0C7BD044}"/>
                  </a:ext>
                </a:extLst>
              </p:cNvPr>
              <p:cNvSpPr txBox="1"/>
              <p:nvPr/>
            </p:nvSpPr>
            <p:spPr>
              <a:xfrm>
                <a:off x="5496360" y="1277044"/>
                <a:ext cx="2889197" cy="2216056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latin typeface="Helvetica" charset="0"/>
                    <a:ea typeface="Helvetica" charset="0"/>
                    <a:cs typeface="Helvetica" charset="0"/>
                  </a:rPr>
                  <a:t>Test for statistical significance: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𝑡𝑎𝑘𝑒𝑟𝑠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Pr(&gt;|t|) ≈ 0.4926 &gt; 0.1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𝑟𝑎𝑛𝑘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Pr(&gt;|t|) ≈ 0.0002 &lt; 0.1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𝑖𝑛𝑐𝑜𝑚𝑒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Pr(&gt;|t|) ≈ 0.9574 &gt; 0.1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𝑦𝑒𝑎𝑟𝑠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Pr(&gt;|t|) ≈ 0.0009 &lt; 0.1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𝑝𝑢𝑏𝑙𝑖𝑐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</a:t>
                </a:r>
                <a:r>
                  <a:rPr lang="en-US" sz="1600" dirty="0" err="1">
                    <a:latin typeface="Helvetica" charset="0"/>
                    <a:ea typeface="Helvetica" charset="0"/>
                    <a:cs typeface="Helvetica" charset="0"/>
                  </a:rPr>
                  <a:t>Pr</a:t>
                </a:r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(&gt;|t|) ≈ 0.4272 &gt; 0.1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𝑒𝑥𝑝𝑒𝑛𝑑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	Pr(&gt;|t|) ≈ 0.0123 ≈ 0.1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B238F8D-74C7-4A7C-B318-28EF0C7BD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360" y="1277044"/>
                <a:ext cx="2889197" cy="2216056"/>
              </a:xfrm>
              <a:prstGeom prst="rect">
                <a:avLst/>
              </a:prstGeom>
              <a:blipFill>
                <a:blip r:embed="rId4"/>
                <a:stretch>
                  <a:fillRect l="-1048" t="-545" b="-1090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B7D3AD-AADD-45E2-8D77-99BEE96E5C65}"/>
                  </a:ext>
                </a:extLst>
              </p:cNvPr>
              <p:cNvSpPr txBox="1"/>
              <p:nvPr/>
            </p:nvSpPr>
            <p:spPr>
              <a:xfrm>
                <a:off x="5496360" y="3605188"/>
                <a:ext cx="2889541" cy="830997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600" i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σ</m:t>
                        </m:r>
                      </m:e>
                    </m:acc>
                  </m:oMath>
                </a14:m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 = 26.34, df = </a:t>
                </a:r>
                <a:r>
                  <a:rPr lang="en-US" sz="1600" i="1" dirty="0">
                    <a:latin typeface="Helvetica Neue"/>
                    <a:ea typeface="Helvetica" charset="0"/>
                    <a:cs typeface="Helvetica" charset="0"/>
                  </a:rPr>
                  <a:t>n</a:t>
                </a:r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-</a:t>
                </a:r>
                <a:r>
                  <a:rPr lang="en-US" sz="1600" i="1" dirty="0">
                    <a:latin typeface="Helvetica Neue"/>
                    <a:ea typeface="Helvetica" charset="0"/>
                    <a:cs typeface="Helvetica" charset="0"/>
                  </a:rPr>
                  <a:t>p</a:t>
                </a:r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-1 = 43</a:t>
                </a:r>
              </a:p>
              <a:p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R</a:t>
                </a:r>
                <a:r>
                  <a:rPr lang="en-US" sz="1600" baseline="30000" dirty="0">
                    <a:latin typeface="Helvetica Neue"/>
                    <a:ea typeface="Helvetica" charset="0"/>
                    <a:cs typeface="Helvetica" charset="0"/>
                  </a:rPr>
                  <a:t>2</a:t>
                </a:r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 </a:t>
                </a:r>
                <a:r>
                  <a:rPr lang="en-US" sz="1600" dirty="0">
                    <a:latin typeface="Helvetica" charset="0"/>
                    <a:ea typeface="Helvetica" charset="0"/>
                    <a:cs typeface="Helvetica" charset="0"/>
                  </a:rPr>
                  <a:t>≈ </a:t>
                </a:r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0.879 </a:t>
                </a:r>
                <a:r>
                  <a:rPr lang="en-US" sz="1600" dirty="0">
                    <a:latin typeface="Helvetica Neue"/>
                    <a:ea typeface="Cambria Math" panose="02040503050406030204" pitchFamily="18" charset="0"/>
                    <a:cs typeface="Helvetica" charset="0"/>
                  </a:rPr>
                  <a:t>⇒</a:t>
                </a:r>
                <a:r>
                  <a:rPr lang="en-US" sz="1600" dirty="0">
                    <a:latin typeface="Helvetica Neue"/>
                    <a:ea typeface="Helvetica" charset="0"/>
                    <a:cs typeface="Helvetica" charset="0"/>
                  </a:rPr>
                  <a:t> 87.9% of variability explained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B7D3AD-AADD-45E2-8D77-99BEE96E5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6360" y="3605188"/>
                <a:ext cx="2889541" cy="830997"/>
              </a:xfrm>
              <a:prstGeom prst="rect">
                <a:avLst/>
              </a:prstGeom>
              <a:blipFill>
                <a:blip r:embed="rId5"/>
                <a:stretch>
                  <a:fillRect l="-1048" t="-1429" b="-6429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14ACBFEA-A1B2-4357-815C-92E92475C396}"/>
              </a:ext>
            </a:extLst>
          </p:cNvPr>
          <p:cNvSpPr/>
          <p:nvPr/>
        </p:nvSpPr>
        <p:spPr>
          <a:xfrm>
            <a:off x="7083115" y="1781286"/>
            <a:ext cx="685160" cy="1655309"/>
          </a:xfrm>
          <a:prstGeom prst="rect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1676CD-8EB0-4971-8417-153B289DC37F}"/>
              </a:ext>
            </a:extLst>
          </p:cNvPr>
          <p:cNvSpPr/>
          <p:nvPr/>
        </p:nvSpPr>
        <p:spPr>
          <a:xfrm>
            <a:off x="3827584" y="2358820"/>
            <a:ext cx="937403" cy="1321539"/>
          </a:xfrm>
          <a:prstGeom prst="rect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D1E8C8D-8C8C-473C-9A35-B2915C928C09}"/>
              </a:ext>
            </a:extLst>
          </p:cNvPr>
          <p:cNvSpPr/>
          <p:nvPr/>
        </p:nvSpPr>
        <p:spPr>
          <a:xfrm>
            <a:off x="7629429" y="3648074"/>
            <a:ext cx="320675" cy="274320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CFAA5B-4E6D-4F55-9B21-41D9991663C2}"/>
              </a:ext>
            </a:extLst>
          </p:cNvPr>
          <p:cNvSpPr/>
          <p:nvPr/>
        </p:nvSpPr>
        <p:spPr>
          <a:xfrm>
            <a:off x="5843101" y="3639794"/>
            <a:ext cx="695325" cy="266918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C13423F-8273-4152-9B4F-EDC6B8FBE640}"/>
              </a:ext>
            </a:extLst>
          </p:cNvPr>
          <p:cNvSpPr/>
          <p:nvPr/>
        </p:nvSpPr>
        <p:spPr>
          <a:xfrm>
            <a:off x="5966438" y="3894355"/>
            <a:ext cx="663276" cy="269872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483A89-5622-4CCE-BBA6-111B0B014202}"/>
              </a:ext>
            </a:extLst>
          </p:cNvPr>
          <p:cNvSpPr/>
          <p:nvPr/>
        </p:nvSpPr>
        <p:spPr>
          <a:xfrm>
            <a:off x="1795030" y="4501180"/>
            <a:ext cx="758825" cy="254000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F34DCE-D962-4D56-8EFA-CA02DAD7AF55}"/>
              </a:ext>
            </a:extLst>
          </p:cNvPr>
          <p:cNvSpPr/>
          <p:nvPr/>
        </p:nvSpPr>
        <p:spPr>
          <a:xfrm>
            <a:off x="2083237" y="4285298"/>
            <a:ext cx="708026" cy="231796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5B8D08-6E10-4E3E-B7F8-CF992BF1FF95}"/>
              </a:ext>
            </a:extLst>
          </p:cNvPr>
          <p:cNvSpPr/>
          <p:nvPr/>
        </p:nvSpPr>
        <p:spPr>
          <a:xfrm>
            <a:off x="2905766" y="4307190"/>
            <a:ext cx="292100" cy="212725"/>
          </a:xfrm>
          <a:prstGeom prst="ellipse">
            <a:avLst/>
          </a:prstGeom>
          <a:noFill/>
          <a:ln w="19050">
            <a:solidFill>
              <a:srgbClr val="EEB2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93903A-8ADA-4A9C-AF03-F82471989A51}"/>
              </a:ext>
            </a:extLst>
          </p:cNvPr>
          <p:cNvSpPr/>
          <p:nvPr/>
        </p:nvSpPr>
        <p:spPr>
          <a:xfrm>
            <a:off x="233643" y="4730466"/>
            <a:ext cx="1323979" cy="249568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27EA46-F84F-48C5-A402-28D20D12A6BE}"/>
              </a:ext>
            </a:extLst>
          </p:cNvPr>
          <p:cNvSpPr/>
          <p:nvPr/>
        </p:nvSpPr>
        <p:spPr>
          <a:xfrm>
            <a:off x="2914945" y="4730466"/>
            <a:ext cx="1657056" cy="249568"/>
          </a:xfrm>
          <a:prstGeom prst="rect">
            <a:avLst/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标题 13"/>
          <p:cNvSpPr>
            <a:spLocks noGrp="1"/>
          </p:cNvSpPr>
          <p:nvPr>
            <p:ph type="title"/>
          </p:nvPr>
        </p:nvSpPr>
        <p:spPr>
          <a:xfrm>
            <a:off x="116422" y="212893"/>
            <a:ext cx="8562392" cy="685611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Linear Regression Analysis in R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390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3" grpId="0" animBg="1"/>
      <p:bldP spid="9" grpId="0" animBg="1"/>
      <p:bldP spid="10" grpId="0" animBg="1"/>
      <p:bldP spid="11" grpId="0" animBg="1"/>
      <p:bldP spid="12" grpId="0" animBg="1"/>
      <p:bldP spid="13" grpId="0" animBg="1"/>
      <p:bldP spid="8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9916" y="1077977"/>
            <a:ext cx="8132176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Compare models: reduced with controlling variables only vs. full with all variables</a:t>
            </a:r>
          </a:p>
          <a:p>
            <a:r>
              <a:rPr lang="en-US" sz="13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anova</a:t>
            </a:r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</a:t>
            </a:r>
            <a:r>
              <a:rPr lang="en-US" sz="13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regression.line</a:t>
            </a:r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)</a:t>
            </a: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Analysis of Variance Table</a:t>
            </a:r>
          </a:p>
          <a:p>
            <a:endParaRPr lang="en-US" sz="13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Response: sat</a:t>
            </a: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            </a:t>
            </a:r>
            <a:r>
              <a:rPr lang="en-US" sz="13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Df</a:t>
            </a:r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Sum </a:t>
            </a:r>
            <a:r>
              <a:rPr lang="en-US" sz="13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Sq</a:t>
            </a:r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Mean </a:t>
            </a:r>
            <a:r>
              <a:rPr lang="en-US" sz="13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Sq</a:t>
            </a:r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    F value          </a:t>
            </a:r>
            <a:r>
              <a:rPr lang="en-US" sz="13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Pr</a:t>
            </a:r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(&gt;F)    </a:t>
            </a: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takers         1     181024      181024  260.8380     &lt; 2.2e-16 ***</a:t>
            </a: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rank            1       11209        11209    16.1512   0.0002313 ***</a:t>
            </a: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income       1         2858          2858      4.1182   0.0486431 *  </a:t>
            </a: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years          1       16080        16080    23.1701      1.86e-05 ***</a:t>
            </a: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public         1            252           252       0.3631  0.5499447    </a:t>
            </a: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expend       1          4745         4745       6.8369  0.0122629 *  </a:t>
            </a: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Residuals 43         29842          694 </a:t>
            </a:r>
          </a:p>
          <a:p>
            <a:endParaRPr lang="en-US" sz="13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300" b="1" dirty="0">
                <a:solidFill>
                  <a:srgbClr val="EEB211"/>
                </a:solidFill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## compute partial-F statistic</a:t>
            </a:r>
          </a:p>
          <a:p>
            <a:r>
              <a:rPr lang="en-US" sz="13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fstat</a:t>
            </a:r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((2858+16080+252+4745)/4)/(29842/43)</a:t>
            </a:r>
          </a:p>
          <a:p>
            <a:r>
              <a:rPr lang="en-US" sz="13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pvalue</a:t>
            </a:r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= 1-pf(fstat,4,43) </a:t>
            </a:r>
          </a:p>
          <a:p>
            <a:r>
              <a:rPr lang="en-US" sz="1300" dirty="0" err="1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pvalue</a:t>
            </a:r>
            <a:endParaRPr lang="en-US" sz="13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sz="13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[1] 3.349778e-05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850" y="225250"/>
            <a:ext cx="8562392" cy="729157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Testing for Subsets of Coefficients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683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65850" y="225250"/>
            <a:ext cx="8562392" cy="729157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Testing for Subsets of Coefficients</a:t>
            </a:r>
            <a:endParaRPr kumimoji="1" lang="zh-CN" alt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3493" y="1003835"/>
                <a:ext cx="8805156" cy="350846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Test:</a:t>
                </a:r>
                <a:r>
                  <a:rPr 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H</m:t>
                        </m:r>
                      </m:e>
                      <m:sub>
                        <m:r>
                          <a:rPr lang="en-US" sz="18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0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charset="0"/>
                      </a:rPr>
                      <m:t>: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𝑖𝑛𝑐𝑜𝑚𝑒</m:t>
                        </m:r>
                      </m:sub>
                    </m:sSub>
                    <m:r>
                      <m:rPr>
                        <m:nor/>
                      </m:rPr>
                      <a:rPr 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charset="0"/>
                      </a:rPr>
                      <m:t> =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𝑝𝑢𝑏𝑙𝑖𝑐</m:t>
                        </m:r>
                      </m:sub>
                    </m:sSub>
                    <m:r>
                      <m:rPr>
                        <m:nor/>
                      </m:rPr>
                      <a:rPr 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charset="0"/>
                      </a:rPr>
                      <m:t> =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𝑦𝑒𝑎𝑟𝑠</m:t>
                        </m:r>
                      </m:sub>
                    </m:sSub>
                    <m:r>
                      <m:rPr>
                        <m:nor/>
                      </m:rPr>
                      <a:rPr 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charset="0"/>
                      </a:rPr>
                      <m:t> =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charset="0"/>
                          </a:rPr>
                          <m:t>𝑒𝑥𝑝𝑒𝑛𝑑</m:t>
                        </m:r>
                      </m:sub>
                    </m:sSub>
                    <m:r>
                      <m:rPr>
                        <m:nor/>
                      </m:rPr>
                      <a:rPr lang="en-US" sz="18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charset="0"/>
                      </a:rPr>
                      <m:t> = 0</m:t>
                    </m:r>
                  </m:oMath>
                </a14:m>
                <a:endParaRPr lang="en-US" sz="1800" dirty="0">
                  <a:latin typeface="Cambria Math" panose="02040503050406030204" pitchFamily="18" charset="0"/>
                  <a:ea typeface="Cambria Math" panose="02040503050406030204" pitchFamily="18" charset="0"/>
                  <a:cs typeface="Helvetica" charset="0"/>
                </a:endParaRPr>
              </a:p>
              <a:p>
                <a:endParaRPr lang="en-US" sz="1800" dirty="0">
                  <a:latin typeface="Helvetica Neue"/>
                  <a:ea typeface="Helvetica" charset="0"/>
                  <a:cs typeface="Helvetica" charset="0"/>
                </a:endParaRPr>
              </a:p>
              <a:p>
                <a:r>
                  <a:rPr lang="en-US" sz="1800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How were the F-statistic and the p-value computed?</a:t>
                </a:r>
                <a:br>
                  <a:rPr lang="en-US" sz="1800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</a:br>
                <a:endParaRPr lang="en-US" sz="1800" b="1" dirty="0">
                  <a:latin typeface="Helvetica" panose="020B0604020202020204" pitchFamily="34" charset="0"/>
                  <a:ea typeface="Helvetica" charset="0"/>
                  <a:cs typeface="Helvetica" panose="020B0604020202020204" pitchFamily="34" charset="0"/>
                </a:endParaRPr>
              </a:p>
              <a:p>
                <a:pPr marL="6921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F</m:t>
                      </m:r>
                      <m:r>
                        <m:rPr>
                          <m:nor/>
                        </m:rPr>
                        <a:rPr lang="en-US" sz="1800" dirty="0">
                          <a:latin typeface="Helvetica Neue"/>
                          <a:ea typeface="Helvetica" charset="0"/>
                          <a:cs typeface="Helvetica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statistic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Helvetica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Helvetica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SS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Reg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𝑖𝑛𝑐𝑜𝑚𝑒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𝑝𝑢𝑏𝑙𝑖𝑐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𝑦𝑒𝑎𝑟𝑠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𝑒𝑥𝑝𝑒𝑛𝑑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 |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𝑡𝑎𝑘𝑒𝑟𝑠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, 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𝑟𝑎𝑛𝑘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Helvetica" charset="0"/>
                                </a:rPr>
                                <m:t>4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Helvetica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  <a:cs typeface="Helvetica" charset="0"/>
                                </a:rPr>
                                <m:t>SSE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cs typeface="Helvetica" charset="0"/>
                                    </a:rPr>
                                    <m:t>50−6−1</m:t>
                                  </m:r>
                                </m:e>
                              </m:d>
                            </m:den>
                          </m:f>
                        </m:den>
                      </m:f>
                    </m:oMath>
                  </m:oMathPara>
                </a14:m>
                <a:endParaRPr lang="en-US" sz="1800" dirty="0">
                  <a:latin typeface="Helvetica Neue"/>
                  <a:ea typeface="Helvetica" charset="0"/>
                  <a:cs typeface="Helvetica" charset="0"/>
                </a:endParaRPr>
              </a:p>
              <a:p>
                <a:endParaRPr lang="en-US" sz="1800" dirty="0">
                  <a:latin typeface="Helvetica Neue"/>
                  <a:ea typeface="Helvetica" charset="0"/>
                  <a:cs typeface="Helvetica" charset="0"/>
                </a:endParaRPr>
              </a:p>
              <a:p>
                <a:pPr marL="6921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Pr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cs typeface="Helvetica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  <a:cs typeface="Helvetica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cs typeface="Helvetica" charset="0"/>
                                </a:rPr>
                                <m:t>4, 43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Helvetica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sz="1800" dirty="0">
                              <a:latin typeface="Helvetica Neue"/>
                              <a:ea typeface="Helvetica" charset="0"/>
                              <a:cs typeface="Helvetica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statistic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cs typeface="Helvetica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  <a:ea typeface="Helvetica" charset="0"/>
                          <a:cs typeface="Helvetica" charset="0"/>
                        </a:rPr>
                        <m:t>Pr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cs typeface="Helvetica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  <a:cs typeface="Helvetica" charset="0"/>
                                </a:rPr>
                                <m:t>F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cs typeface="Helvetica" charset="0"/>
                                </a:rPr>
                                <m:t>4, 43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cs typeface="Helvetica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F</m:t>
                          </m:r>
                          <m:r>
                            <m:rPr>
                              <m:nor/>
                            </m:rPr>
                            <a:rPr lang="en-US" sz="1800" dirty="0">
                              <a:latin typeface="Helvetica Neue"/>
                              <a:ea typeface="Helvetica" charset="0"/>
                              <a:cs typeface="Helvetica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  <m:t>statistic</m:t>
                          </m:r>
                        </m:e>
                      </m:d>
                    </m:oMath>
                  </m:oMathPara>
                </a14:m>
                <a:endParaRPr lang="en-US" sz="1800" dirty="0">
                  <a:latin typeface="Helvetica Neue"/>
                  <a:ea typeface="Helvetica" charset="0"/>
                  <a:cs typeface="Helvetica" charset="0"/>
                </a:endParaRPr>
              </a:p>
              <a:p>
                <a:endParaRPr lang="en-US" sz="1800" dirty="0">
                  <a:latin typeface="Helvetica Neue"/>
                  <a:ea typeface="Helvetica" charset="0"/>
                  <a:cs typeface="Helvetica" charset="0"/>
                </a:endParaRPr>
              </a:p>
              <a:p>
                <a:r>
                  <a:rPr lang="en-US" sz="1800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Interpretation</a:t>
                </a:r>
                <a:r>
                  <a:rPr 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: The p-value is approximately 0, thus reject the null hypothesis. We conclude that at least one other predictor among the four predictors (</a:t>
                </a:r>
                <a:r>
                  <a:rPr lang="en-US" sz="1800" i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income</a:t>
                </a:r>
                <a:r>
                  <a:rPr 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, </a:t>
                </a:r>
                <a:r>
                  <a:rPr lang="en-US" sz="1800" i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years</a:t>
                </a:r>
                <a:r>
                  <a:rPr 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, </a:t>
                </a:r>
                <a:r>
                  <a:rPr lang="en-US" sz="1800" i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public</a:t>
                </a:r>
                <a:r>
                  <a:rPr 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and </a:t>
                </a:r>
                <a:r>
                  <a:rPr lang="en-US" sz="1800" i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expend</a:t>
                </a:r>
                <a:r>
                  <a:rPr lang="en-US" sz="18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) will be significantly associated to the state-average SAT score.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93" y="1003835"/>
                <a:ext cx="8805156" cy="3508461"/>
              </a:xfrm>
              <a:prstGeom prst="rect">
                <a:avLst/>
              </a:prstGeom>
              <a:blipFill>
                <a:blip r:embed="rId4"/>
                <a:stretch>
                  <a:fillRect l="-554" t="-1043" b="-191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07325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136566" y="1001799"/>
            <a:ext cx="7961882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800" b="1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Bias Selection</a:t>
            </a:r>
            <a:r>
              <a:rPr lang="en-US" altLang="en-US" sz="18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: Some state universities require the SAT and some require a competing exam. States with a high proportion of takers probably have “in state” requirements for the SAT. In states without this requirement, only the more elite students will take the SAT, causing a bias.</a:t>
            </a:r>
          </a:p>
          <a:p>
            <a:endParaRPr lang="en-US" altLang="en-US" sz="1800" dirty="0">
              <a:latin typeface="Helvetica" panose="020B0604020202020204" pitchFamily="34" charset="0"/>
              <a:ea typeface="Helvetica" charset="0"/>
              <a:cs typeface="Helvetica" panose="020B0604020202020204" pitchFamily="34" charset="0"/>
            </a:endParaRPr>
          </a:p>
          <a:p>
            <a:r>
              <a:rPr lang="en-US" alt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## Consider model with the two controlling factors to correct for bias</a:t>
            </a:r>
          </a:p>
          <a:p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reduced.line</a:t>
            </a:r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= lm(sat ~ takers + rank)</a:t>
            </a:r>
          </a:p>
          <a:p>
            <a:r>
              <a:rPr lang="en-US" alt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## obtain the order of states by the residuals of the reduced model</a:t>
            </a:r>
          </a:p>
          <a:p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order.vec</a:t>
            </a:r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= order(</a:t>
            </a:r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reduced.line$res</a:t>
            </a:r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, decreasing = TRUE)</a:t>
            </a:r>
          </a:p>
          <a:p>
            <a:r>
              <a:rPr lang="en-US" alt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## Reorder states. Create table including state name, new and old order. </a:t>
            </a:r>
          </a:p>
          <a:p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states = factor(data[</a:t>
            </a:r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order.vec</a:t>
            </a:r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, 1])</a:t>
            </a:r>
          </a:p>
          <a:p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newtable</a:t>
            </a:r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= </a:t>
            </a:r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data.frame</a:t>
            </a:r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(State = states, Residual = </a:t>
            </a:r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as.numeric</a:t>
            </a:r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(round(</a:t>
            </a:r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reduced.line$res</a:t>
            </a:r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[</a:t>
            </a:r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order.vec</a:t>
            </a:r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], 1)), </a:t>
            </a:r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oldrank</a:t>
            </a:r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 = (1:50)[</a:t>
            </a:r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order.vec</a:t>
            </a:r>
            <a:r>
              <a:rPr lang="en-US" altLang="en-US" sz="1400" dirty="0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])</a:t>
            </a:r>
          </a:p>
          <a:p>
            <a:r>
              <a:rPr lang="en-US" altLang="en-US" sz="1400" dirty="0" err="1">
                <a:latin typeface="Helvetica" panose="020B0604020202020204" pitchFamily="34" charset="0"/>
                <a:ea typeface="Source Sans Pro Semibold" panose="020B0603030403020204" pitchFamily="34" charset="0"/>
                <a:cs typeface="Helvetica" panose="020B0604020202020204" pitchFamily="34" charset="0"/>
              </a:rPr>
              <a:t>newtable</a:t>
            </a:r>
            <a:endParaRPr lang="en-US" altLang="en-US" sz="1400" dirty="0">
              <a:latin typeface="Helvetica" panose="020B0604020202020204" pitchFamily="34" charset="0"/>
              <a:ea typeface="Source Sans Pro Semibold" panose="020B0603030403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422" y="225251"/>
            <a:ext cx="8891654" cy="664436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Using Residuals to Create Better Rankings</a:t>
            </a:r>
            <a:endParaRPr kumimoji="1" lang="zh-CN" altLang="en-US" sz="3600" dirty="0">
              <a:latin typeface="Vitesse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489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08376" y="1173932"/>
            <a:ext cx="2966037" cy="830997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After controlling for selection bias, Connecticut moved from 35</a:t>
            </a:r>
            <a:r>
              <a:rPr lang="en-US" sz="1600" baseline="300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to 1</a:t>
            </a:r>
            <a:r>
              <a:rPr lang="en-US" sz="1600" baseline="300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st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8376" y="3741482"/>
            <a:ext cx="2966037" cy="830997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After controlling for selection bias, Mississippi moved from 16</a:t>
            </a:r>
            <a:r>
              <a:rPr lang="en-US" sz="1600" baseline="300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 to 46</a:t>
            </a:r>
            <a:r>
              <a:rPr lang="en-US" sz="1600" baseline="300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th</a:t>
            </a:r>
            <a:r>
              <a:rPr lang="en-US" sz="1600" dirty="0">
                <a:latin typeface="Helvetica" panose="020B0604020202020204" pitchFamily="34" charset="0"/>
                <a:ea typeface="Helvetica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E8BDD2-9C62-4204-BEAC-87C458F4310C}"/>
              </a:ext>
            </a:extLst>
          </p:cNvPr>
          <p:cNvSpPr txBox="1"/>
          <p:nvPr/>
        </p:nvSpPr>
        <p:spPr>
          <a:xfrm>
            <a:off x="505854" y="1068328"/>
            <a:ext cx="4034118" cy="39461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         State  Residual   </a:t>
            </a:r>
            <a:r>
              <a:rPr 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oldrank</a:t>
            </a:r>
            <a:endParaRPr lang="en-US" sz="1400" dirty="0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        Connecticut         53.9           35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                    Iowa         53.5            1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   </a:t>
            </a:r>
            <a:r>
              <a:rPr 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NewHampshire</a:t>
            </a:r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45.8          28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    Massachusetts        41.9           41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              </a:t>
            </a:r>
            <a:r>
              <a:rPr 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NewYork</a:t>
            </a:r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40.9           36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6            Minnesota        40.6            7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7                 Kansas        35.8            4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8        </a:t>
            </a:r>
            <a:r>
              <a:rPr 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SouthDakota</a:t>
            </a:r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33.4            2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ea typeface="Cambria Math" panose="02040503050406030204" pitchFamily="18" charset="0"/>
                <a:cs typeface="Helvetica" panose="020B0604020202020204" pitchFamily="34" charset="0"/>
              </a:rPr>
              <a:t>⋮</a:t>
            </a:r>
            <a:endParaRPr lang="en-US" sz="1400" dirty="0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43            Arkansas       -31.2          12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44       </a:t>
            </a:r>
            <a:r>
              <a:rPr 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WestVirginia</a:t>
            </a:r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-38.9          25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45               Nevada       -45.4          30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46          Mississippi       -49.3          16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47                  Texas       -50.3          45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48              Georgia        -63.0          49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49     </a:t>
            </a:r>
            <a:r>
              <a:rPr 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NorthCarolina</a:t>
            </a:r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-71.3          48</a:t>
            </a:r>
          </a:p>
          <a:p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50     </a:t>
            </a:r>
            <a:r>
              <a:rPr 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SouthCarolina</a:t>
            </a:r>
            <a:r>
              <a:rPr 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-98.5          50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493E79-20FA-4A80-A498-389E2986B7CC}"/>
              </a:ext>
            </a:extLst>
          </p:cNvPr>
          <p:cNvCxnSpPr>
            <a:cxnSpLocks/>
          </p:cNvCxnSpPr>
          <p:nvPr/>
        </p:nvCxnSpPr>
        <p:spPr>
          <a:xfrm flipH="1">
            <a:off x="3689641" y="3976251"/>
            <a:ext cx="1618736" cy="1235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F689A4-CC29-4146-818D-4A35DA8C6826}"/>
              </a:ext>
            </a:extLst>
          </p:cNvPr>
          <p:cNvCxnSpPr>
            <a:cxnSpLocks/>
          </p:cNvCxnSpPr>
          <p:nvPr/>
        </p:nvCxnSpPr>
        <p:spPr>
          <a:xfrm flipH="1">
            <a:off x="3689641" y="1422006"/>
            <a:ext cx="1618736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标题 1"/>
          <p:cNvSpPr txBox="1">
            <a:spLocks/>
          </p:cNvSpPr>
          <p:nvPr/>
        </p:nvSpPr>
        <p:spPr>
          <a:xfrm>
            <a:off x="116422" y="225251"/>
            <a:ext cx="8891654" cy="6644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Using Residuals to Create Better Rankings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023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52813"/>
            <a:ext cx="4727575" cy="7949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40188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8079</TotalTime>
  <Words>742</Words>
  <Application>Microsoft Office PowerPoint</Application>
  <PresentationFormat>On-screen Show (16:9)</PresentationFormat>
  <Paragraphs>120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Cambria Math</vt:lpstr>
      <vt:lpstr>Helvetica</vt:lpstr>
      <vt:lpstr>Helvetica Neue</vt:lpstr>
      <vt:lpstr>Vitesse</vt:lpstr>
      <vt:lpstr>Vitesse Bold</vt:lpstr>
      <vt:lpstr>Vitesse Book</vt:lpstr>
      <vt:lpstr>Vitesse Medium</vt:lpstr>
      <vt:lpstr>1_Half Page Slash</vt:lpstr>
      <vt:lpstr>2_Half Page Slash</vt:lpstr>
      <vt:lpstr>2_Full Page Layout</vt:lpstr>
      <vt:lpstr>PowerPoint Presentation</vt:lpstr>
      <vt:lpstr>PowerPoint Presentation</vt:lpstr>
      <vt:lpstr>Linear Regression Analysis in R</vt:lpstr>
      <vt:lpstr>Linear Regression Analysis in R</vt:lpstr>
      <vt:lpstr>Testing for Subsets of Coefficients</vt:lpstr>
      <vt:lpstr>Testing for Subsets of Coefficients</vt:lpstr>
      <vt:lpstr>Using Residuals to Create Better Rankings</vt:lpstr>
      <vt:lpstr>PowerPoint Presentation</vt:lpstr>
      <vt:lpstr>PowerPoint Presentation</vt:lpstr>
    </vt:vector>
  </TitlesOfParts>
  <Company>gt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R Examples</dc:title>
  <dc:creator>Serban, Nicoleta</dc:creator>
  <cp:lastModifiedBy>Rodriguez, Ramon S</cp:lastModifiedBy>
  <cp:revision>445</cp:revision>
  <dcterms:created xsi:type="dcterms:W3CDTF">2017-01-02T15:06:50Z</dcterms:created>
  <dcterms:modified xsi:type="dcterms:W3CDTF">2020-05-11T20:16:57Z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AE32B808-B877-42BC-8E47-7EE4B3C77F65</vt:lpwstr>
  </property>
  <property fmtid="{D5CDD505-2E9C-101B-9397-08002B2CF9AE}" pid="3" name="ArticulatePath">
    <vt:lpwstr>16_MLRL16_revised_03092020</vt:lpwstr>
  </property>
</Properties>
</file>