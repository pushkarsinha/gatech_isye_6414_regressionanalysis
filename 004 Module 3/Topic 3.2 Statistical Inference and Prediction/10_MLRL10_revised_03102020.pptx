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1" r:id="rId1"/>
    <p:sldMasterId id="2147484069" r:id="rId2"/>
    <p:sldMasterId id="2147484070" r:id="rId3"/>
  </p:sldMasterIdLst>
  <p:notesMasterIdLst>
    <p:notesMasterId r:id="rId13"/>
  </p:notesMasterIdLst>
  <p:handoutMasterIdLst>
    <p:handoutMasterId r:id="rId14"/>
  </p:handoutMasterIdLst>
  <p:sldIdLst>
    <p:sldId id="519" r:id="rId4"/>
    <p:sldId id="531" r:id="rId5"/>
    <p:sldId id="522" r:id="rId6"/>
    <p:sldId id="384" r:id="rId7"/>
    <p:sldId id="523" r:id="rId8"/>
    <p:sldId id="528" r:id="rId9"/>
    <p:sldId id="524" r:id="rId10"/>
    <p:sldId id="529" r:id="rId11"/>
    <p:sldId id="530" r:id="rId12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624" userDrawn="1">
          <p15:clr>
            <a:srgbClr val="A4A3A4"/>
          </p15:clr>
        </p15:guide>
        <p15:guide id="7" orient="horz" pos="46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8E4221"/>
    <a:srgbClr val="1F497D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AF559-414A-4828-A981-2AB6C11DA32B}" v="32" dt="2019-12-29T04:42:24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03" autoAdjust="0"/>
    <p:restoredTop sz="96201" autoAdjust="0"/>
  </p:normalViewPr>
  <p:slideViewPr>
    <p:cSldViewPr>
      <p:cViewPr varScale="1">
        <p:scale>
          <a:sx n="113" d="100"/>
          <a:sy n="113" d="100"/>
        </p:scale>
        <p:origin x="710" y="86"/>
      </p:cViewPr>
      <p:guideLst>
        <p:guide orient="horz" pos="1620"/>
        <p:guide pos="2880"/>
        <p:guide pos="144"/>
        <p:guide pos="384"/>
        <p:guide pos="3456"/>
        <p:guide pos="624"/>
        <p:guide orient="horz" pos="468"/>
        <p:guide orient="horz" pos="8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D87AF559-414A-4828-A981-2AB6C11DA32B}"/>
    <pc:docChg chg="undo custSel addSld delSld modSld">
      <pc:chgData name="Richard Levine" userId="be0075ead24e3c6f" providerId="LiveId" clId="{D87AF559-414A-4828-A981-2AB6C11DA32B}" dt="2019-12-29T04:42:24.808" v="173" actId="20577"/>
      <pc:docMkLst>
        <pc:docMk/>
      </pc:docMkLst>
      <pc:sldChg chg="modSp">
        <pc:chgData name="Richard Levine" userId="be0075ead24e3c6f" providerId="LiveId" clId="{D87AF559-414A-4828-A981-2AB6C11DA32B}" dt="2019-12-28T04:17:42.307" v="3" actId="20577"/>
        <pc:sldMkLst>
          <pc:docMk/>
          <pc:sldMk cId="1051038041" sldId="523"/>
        </pc:sldMkLst>
        <pc:spChg chg="mod">
          <ac:chgData name="Richard Levine" userId="be0075ead24e3c6f" providerId="LiveId" clId="{D87AF559-414A-4828-A981-2AB6C11DA32B}" dt="2019-12-28T04:17:42.307" v="3" actId="20577"/>
          <ac:spMkLst>
            <pc:docMk/>
            <pc:sldMk cId="1051038041" sldId="523"/>
            <ac:spMk id="3" creationId="{A4D944B8-02F8-4CEC-B29E-F8109DE0EB14}"/>
          </ac:spMkLst>
        </pc:spChg>
      </pc:sldChg>
      <pc:sldChg chg="modSp">
        <pc:chgData name="Richard Levine" userId="be0075ead24e3c6f" providerId="LiveId" clId="{D87AF559-414A-4828-A981-2AB6C11DA32B}" dt="2019-12-28T04:31:14.347" v="121" actId="20577"/>
        <pc:sldMkLst>
          <pc:docMk/>
          <pc:sldMk cId="442802088" sldId="524"/>
        </pc:sldMkLst>
        <pc:spChg chg="mod">
          <ac:chgData name="Richard Levine" userId="be0075ead24e3c6f" providerId="LiveId" clId="{D87AF559-414A-4828-A981-2AB6C11DA32B}" dt="2019-12-28T04:31:14.347" v="121" actId="20577"/>
          <ac:spMkLst>
            <pc:docMk/>
            <pc:sldMk cId="442802088" sldId="524"/>
            <ac:spMk id="3" creationId="{7A4181E5-E5E7-4062-973B-3E67DCAE07A1}"/>
          </ac:spMkLst>
        </pc:spChg>
      </pc:sldChg>
      <pc:sldChg chg="del">
        <pc:chgData name="Richard Levine" userId="be0075ead24e3c6f" providerId="LiveId" clId="{D87AF559-414A-4828-A981-2AB6C11DA32B}" dt="2019-12-28T04:30:31.091" v="118" actId="2696"/>
        <pc:sldMkLst>
          <pc:docMk/>
          <pc:sldMk cId="308883647" sldId="526"/>
        </pc:sldMkLst>
      </pc:sldChg>
      <pc:sldChg chg="del">
        <pc:chgData name="Richard Levine" userId="be0075ead24e3c6f" providerId="LiveId" clId="{D87AF559-414A-4828-A981-2AB6C11DA32B}" dt="2019-12-28T04:48:53.526" v="154" actId="47"/>
        <pc:sldMkLst>
          <pc:docMk/>
          <pc:sldMk cId="1465190809" sldId="527"/>
        </pc:sldMkLst>
      </pc:sldChg>
      <pc:sldChg chg="addSp modSp add modAnim">
        <pc:chgData name="Richard Levine" userId="be0075ead24e3c6f" providerId="LiveId" clId="{D87AF559-414A-4828-A981-2AB6C11DA32B}" dt="2019-12-29T04:41:33.465" v="169" actId="14100"/>
        <pc:sldMkLst>
          <pc:docMk/>
          <pc:sldMk cId="63914855" sldId="528"/>
        </pc:sldMkLst>
        <pc:spChg chg="add mod">
          <ac:chgData name="Richard Levine" userId="be0075ead24e3c6f" providerId="LiveId" clId="{D87AF559-414A-4828-A981-2AB6C11DA32B}" dt="2019-12-29T04:41:13.135" v="168" actId="113"/>
          <ac:spMkLst>
            <pc:docMk/>
            <pc:sldMk cId="63914855" sldId="528"/>
            <ac:spMk id="4" creationId="{DB7EE9F4-CE2E-45CC-91C7-FC1CC6DD16D6}"/>
          </ac:spMkLst>
        </pc:spChg>
        <pc:spChg chg="add mod">
          <ac:chgData name="Richard Levine" userId="be0075ead24e3c6f" providerId="LiveId" clId="{D87AF559-414A-4828-A981-2AB6C11DA32B}" dt="2019-12-29T04:36:47.164" v="160" actId="14100"/>
          <ac:spMkLst>
            <pc:docMk/>
            <pc:sldMk cId="63914855" sldId="528"/>
            <ac:spMk id="5" creationId="{01111FEE-42F7-4ECE-91D8-5EAEE8F06738}"/>
          </ac:spMkLst>
        </pc:spChg>
        <pc:spChg chg="add mod">
          <ac:chgData name="Richard Levine" userId="be0075ead24e3c6f" providerId="LiveId" clId="{D87AF559-414A-4828-A981-2AB6C11DA32B}" dt="2019-12-29T04:41:33.465" v="169" actId="14100"/>
          <ac:spMkLst>
            <pc:docMk/>
            <pc:sldMk cId="63914855" sldId="528"/>
            <ac:spMk id="6" creationId="{1234BF60-1207-4327-8EA6-6127BCDDF43D}"/>
          </ac:spMkLst>
        </pc:spChg>
        <pc:spChg chg="add mod">
          <ac:chgData name="Richard Levine" userId="be0075ead24e3c6f" providerId="LiveId" clId="{D87AF559-414A-4828-A981-2AB6C11DA32B}" dt="2019-12-28T04:46:20.735" v="141" actId="1036"/>
          <ac:spMkLst>
            <pc:docMk/>
            <pc:sldMk cId="63914855" sldId="528"/>
            <ac:spMk id="7" creationId="{D64EB96C-B125-464A-A86F-A8EE0618D4AC}"/>
          </ac:spMkLst>
        </pc:spChg>
        <pc:spChg chg="add mod">
          <ac:chgData name="Richard Levine" userId="be0075ead24e3c6f" providerId="LiveId" clId="{D87AF559-414A-4828-A981-2AB6C11DA32B}" dt="2019-12-28T04:22:36.121" v="54" actId="1038"/>
          <ac:spMkLst>
            <pc:docMk/>
            <pc:sldMk cId="63914855" sldId="528"/>
            <ac:spMk id="8" creationId="{A275929E-7322-4462-ADCD-AC720B29ADD0}"/>
          </ac:spMkLst>
        </pc:spChg>
        <pc:spChg chg="add mod">
          <ac:chgData name="Richard Levine" userId="be0075ead24e3c6f" providerId="LiveId" clId="{D87AF559-414A-4828-A981-2AB6C11DA32B}" dt="2019-12-28T04:24:31.910" v="81" actId="1038"/>
          <ac:spMkLst>
            <pc:docMk/>
            <pc:sldMk cId="63914855" sldId="528"/>
            <ac:spMk id="10" creationId="{589F0923-BB27-4999-B088-CB4CF8765E8F}"/>
          </ac:spMkLst>
        </pc:spChg>
        <pc:spChg chg="add mod">
          <ac:chgData name="Richard Levine" userId="be0075ead24e3c6f" providerId="LiveId" clId="{D87AF559-414A-4828-A981-2AB6C11DA32B}" dt="2019-12-29T04:36:05.909" v="156" actId="14100"/>
          <ac:spMkLst>
            <pc:docMk/>
            <pc:sldMk cId="63914855" sldId="528"/>
            <ac:spMk id="11" creationId="{952A384C-FEB5-421C-BB6B-738463FF4F60}"/>
          </ac:spMkLst>
        </pc:spChg>
      </pc:sldChg>
      <pc:sldChg chg="addSp modSp add modAnim">
        <pc:chgData name="Richard Levine" userId="be0075ead24e3c6f" providerId="LiveId" clId="{D87AF559-414A-4828-A981-2AB6C11DA32B}" dt="2019-12-29T04:42:24.808" v="173" actId="20577"/>
        <pc:sldMkLst>
          <pc:docMk/>
          <pc:sldMk cId="4197893379" sldId="529"/>
        </pc:sldMkLst>
        <pc:spChg chg="add mod">
          <ac:chgData name="Richard Levine" userId="be0075ead24e3c6f" providerId="LiveId" clId="{D87AF559-414A-4828-A981-2AB6C11DA32B}" dt="2019-12-29T04:42:24.808" v="173" actId="20577"/>
          <ac:spMkLst>
            <pc:docMk/>
            <pc:sldMk cId="4197893379" sldId="529"/>
            <ac:spMk id="5" creationId="{209A7B65-B6A1-4393-BFE5-CAF97523BD49}"/>
          </ac:spMkLst>
        </pc:spChg>
        <pc:spChg chg="add mod">
          <ac:chgData name="Richard Levine" userId="be0075ead24e3c6f" providerId="LiveId" clId="{D87AF559-414A-4828-A981-2AB6C11DA32B}" dt="2019-12-28T04:46:51.875" v="145" actId="1037"/>
          <ac:spMkLst>
            <pc:docMk/>
            <pc:sldMk cId="4197893379" sldId="529"/>
            <ac:spMk id="6" creationId="{74E7494D-024C-4B40-972F-B21CE6EE35AA}"/>
          </ac:spMkLst>
        </pc:spChg>
        <pc:spChg chg="add mod">
          <ac:chgData name="Richard Levine" userId="be0075ead24e3c6f" providerId="LiveId" clId="{D87AF559-414A-4828-A981-2AB6C11DA32B}" dt="2019-12-28T04:46:51.875" v="145" actId="1037"/>
          <ac:spMkLst>
            <pc:docMk/>
            <pc:sldMk cId="4197893379" sldId="529"/>
            <ac:spMk id="7" creationId="{547F8610-DEEF-433C-9AE0-48484852C3BD}"/>
          </ac:spMkLst>
        </pc:spChg>
        <pc:spChg chg="add mod">
          <ac:chgData name="Richard Levine" userId="be0075ead24e3c6f" providerId="LiveId" clId="{D87AF559-414A-4828-A981-2AB6C11DA32B}" dt="2019-12-29T04:38:16.262" v="165" actId="14100"/>
          <ac:spMkLst>
            <pc:docMk/>
            <pc:sldMk cId="4197893379" sldId="529"/>
            <ac:spMk id="8" creationId="{8A4D6191-0EFB-4EF2-8359-C76032496C61}"/>
          </ac:spMkLst>
        </pc:spChg>
        <pc:spChg chg="add mod">
          <ac:chgData name="Richard Levine" userId="be0075ead24e3c6f" providerId="LiveId" clId="{D87AF559-414A-4828-A981-2AB6C11DA32B}" dt="2019-12-28T04:34:11.061" v="127" actId="14100"/>
          <ac:spMkLst>
            <pc:docMk/>
            <pc:sldMk cId="4197893379" sldId="529"/>
            <ac:spMk id="9" creationId="{1B21282D-87DD-4E00-B184-D065373AD802}"/>
          </ac:spMkLst>
        </pc:spChg>
        <pc:spChg chg="add mod">
          <ac:chgData name="Richard Levine" userId="be0075ead24e3c6f" providerId="LiveId" clId="{D87AF559-414A-4828-A981-2AB6C11DA32B}" dt="2019-12-28T04:34:36.169" v="130" actId="1076"/>
          <ac:spMkLst>
            <pc:docMk/>
            <pc:sldMk cId="4197893379" sldId="529"/>
            <ac:spMk id="10" creationId="{7AA759CC-1931-452C-9E6F-834253FC87FB}"/>
          </ac:spMkLst>
        </pc:spChg>
        <pc:spChg chg="add mod">
          <ac:chgData name="Richard Levine" userId="be0075ead24e3c6f" providerId="LiveId" clId="{D87AF559-414A-4828-A981-2AB6C11DA32B}" dt="2019-12-28T04:35:33.260" v="134" actId="14100"/>
          <ac:spMkLst>
            <pc:docMk/>
            <pc:sldMk cId="4197893379" sldId="529"/>
            <ac:spMk id="11" creationId="{B43EE1DB-5084-43CF-94E1-E67A01A4D00A}"/>
          </ac:spMkLst>
        </pc:spChg>
      </pc:sldChg>
      <pc:sldChg chg="add del">
        <pc:chgData name="Richard Levine" userId="be0075ead24e3c6f" providerId="LiveId" clId="{D87AF559-414A-4828-A981-2AB6C11DA32B}" dt="2019-12-28T04:37:42.247" v="136"/>
        <pc:sldMkLst>
          <pc:docMk/>
          <pc:sldMk cId="4217839137" sldId="53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44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6/8/2020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015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1D07B4D7-B579-406C-B358-967632134DBF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283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167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05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45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99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51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499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0573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2185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2636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3813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881458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58158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8339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37847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599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17957" y="3988340"/>
            <a:ext cx="3844443" cy="100427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Estimating Regression Line &amp; Predicting a New Response: Data Example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17956" y="2647950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5266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5492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5110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10608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54" y="1005281"/>
            <a:ext cx="50352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 Predicting Variables:</a:t>
            </a:r>
          </a:p>
          <a:p>
            <a:pPr marL="914400" indent="-574675" eaLnBrk="1" hangingPunct="1">
              <a:tabLst>
                <a:tab pos="741363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amount (in hundreds of dollars) spent on advertising in 1999 </a:t>
            </a:r>
          </a:p>
          <a:p>
            <a:pPr marL="914400" indent="-574675" eaLnBrk="1" hangingPunct="1">
              <a:tabLst>
                <a:tab pos="741363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total amount of bonuses paid in 1999 </a:t>
            </a:r>
          </a:p>
          <a:p>
            <a:pPr marL="914400" indent="-574675" eaLnBrk="1" hangingPunct="1">
              <a:tabLst>
                <a:tab pos="741363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market share in each territory </a:t>
            </a:r>
          </a:p>
          <a:p>
            <a:pPr marL="914400" indent="-574675" eaLnBrk="1" hangingPunct="1">
              <a:tabLst>
                <a:tab pos="741363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largest competitor's sales (thousands)</a:t>
            </a:r>
          </a:p>
          <a:p>
            <a:pPr marL="228600" eaLnBrk="1" hangingPunct="1">
              <a:defRPr/>
            </a:pPr>
            <a:endParaRPr lang="en-US" altLang="en-US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 Predicting Variable: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914400" indent="-574675" eaLnBrk="1" hangingPunct="1">
              <a:tabLst>
                <a:tab pos="741363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indicates region where office is located (1 = south, 2 = west, 3 =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midwest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>
              <a:defRPr/>
            </a:pP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Variable: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914400" indent="-574675" eaLnBrk="1" hangingPunct="1">
              <a:tabLst>
                <a:tab pos="741363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yearly sales (in thousands of dollars)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75" y="2957656"/>
            <a:ext cx="2546997" cy="1701394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509550" y="1059325"/>
            <a:ext cx="2515192" cy="1892398"/>
            <a:chOff x="6161814" y="1047750"/>
            <a:chExt cx="2515192" cy="189239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429" y="1047750"/>
              <a:ext cx="2239577" cy="1523066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 rot="16200000">
              <a:off x="5911329" y="1678894"/>
              <a:ext cx="761747" cy="260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dirty="0">
                  <a:latin typeface="Helvetica"/>
                  <a:cs typeface="Helvetica"/>
                </a:rPr>
                <a:t>Sales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727502" y="2570816"/>
              <a:ext cx="16594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Helvetica"/>
                  <a:cs typeface="Helvetica"/>
                </a:rPr>
                <a:t>Advertisement</a:t>
              </a:r>
              <a:endParaRPr lang="en-US" dirty="0"/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117675" y="251025"/>
            <a:ext cx="8562392" cy="63078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Linear Regression: Example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829050" y="1943100"/>
            <a:ext cx="6858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49" y="251529"/>
            <a:ext cx="8562392" cy="62067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Example 1: Mean Response &amp; Prediction</a:t>
            </a:r>
            <a:endParaRPr lang="en-US" sz="3600" dirty="0">
              <a:latin typeface="Vitess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821FEDA-AC49-415A-A90B-AA32911BAD3A}"/>
              </a:ext>
            </a:extLst>
          </p:cNvPr>
          <p:cNvSpPr/>
          <p:nvPr/>
        </p:nvSpPr>
        <p:spPr>
          <a:xfrm>
            <a:off x="152400" y="1013025"/>
            <a:ext cx="746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For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all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offices with the characteristics such as those of the first office:</a:t>
            </a:r>
          </a:p>
          <a:p>
            <a:pPr marL="741363" lvl="1" indent="-3984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is the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average estimated sales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?</a:t>
            </a:r>
          </a:p>
          <a:p>
            <a:pPr marL="741363" lvl="1" indent="-3984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is the standard deviation?</a:t>
            </a:r>
          </a:p>
          <a:p>
            <a:pPr marL="741363" lvl="1" indent="-3984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is the 95% confidence interval for this mean response?</a:t>
            </a:r>
          </a:p>
          <a:p>
            <a:pPr marL="346075" lvl="1"/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If the first office’s largest competitor’s sales increase to $303,000 (assuming everything else fixed):</a:t>
            </a:r>
          </a:p>
          <a:p>
            <a:pPr marL="741363" lvl="1" indent="-3984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sales would you predict for the first office?</a:t>
            </a:r>
          </a:p>
          <a:p>
            <a:pPr marL="741363" lvl="1" indent="-3984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is its standard deviation?</a:t>
            </a:r>
          </a:p>
          <a:p>
            <a:pPr marL="741363" lvl="1" indent="-3984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is the 95% prediction interval for this prediction?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="" xmlns:a16="http://schemas.microsoft.com/office/drawing/2014/main" id="{670CC84A-E1D5-4D06-9116-6CD66920ED8E}"/>
              </a:ext>
            </a:extLst>
          </p:cNvPr>
          <p:cNvSpPr txBox="1">
            <a:spLocks/>
          </p:cNvSpPr>
          <p:nvPr/>
        </p:nvSpPr>
        <p:spPr>
          <a:xfrm>
            <a:off x="117675" y="255850"/>
            <a:ext cx="8739251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Mean Response Estimation</a:t>
            </a:r>
            <a:endParaRPr lang="en-US" sz="3600" dirty="0">
              <a:latin typeface="Vitess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A4D944B8-02F8-4CEC-B29E-F8109DE0EB14}"/>
              </a:ext>
            </a:extLst>
          </p:cNvPr>
          <p:cNvSpPr/>
          <p:nvPr/>
        </p:nvSpPr>
        <p:spPr>
          <a:xfrm>
            <a:off x="148541" y="1078569"/>
            <a:ext cx="838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s2 = summary(model)$sigma^2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Variance estimate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X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model.matrix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Design Matrix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X[1,]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First office data for formula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resp.var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s2*(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%*%solve(t(X)%*%X)%*%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Variance formula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sqrt(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resp.var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[,1]</a:t>
            </a: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[1,] 33.19118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= 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meddcor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[1,-1]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First office data for confidence interval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predict(model,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interval="confidence")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Confidence Interval</a:t>
            </a:r>
          </a:p>
          <a:p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	    fit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1 934.7767    865.0446    1004.509</a:t>
            </a:r>
          </a:p>
        </p:txBody>
      </p:sp>
    </p:spTree>
    <p:extLst>
      <p:ext uri="{BB962C8B-B14F-4D97-AF65-F5344CB8AC3E}">
        <p14:creationId xmlns:p14="http://schemas.microsoft.com/office/powerpoint/2010/main" val="105103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4D944B8-02F8-4CEC-B29E-F8109DE0EB14}"/>
              </a:ext>
            </a:extLst>
          </p:cNvPr>
          <p:cNvSpPr/>
          <p:nvPr/>
        </p:nvSpPr>
        <p:spPr>
          <a:xfrm>
            <a:off x="148541" y="1078569"/>
            <a:ext cx="838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s2 = summary(model)$sigma^2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Variance estimate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X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model.matrix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Design Matrix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X[1,]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First office data for formula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resp.var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s2*(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%*%solve(t(X)%*%X)%*%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Variance formula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sqrt(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resp.var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[,1]</a:t>
            </a: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[1,] 33.19118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meddcor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[1,-1] </a:t>
            </a:r>
            <a:r>
              <a:rPr lang="en-US" sz="1200" b="1" dirty="0" smtClean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First office data for confidence interval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predict(model,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interval="confidence") 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Confidence Interval</a:t>
            </a:r>
          </a:p>
          <a:p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	    fit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1 934.7767    865.0446    1004.509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DB7EE9F4-CE2E-45CC-91C7-FC1CC6DD16D6}"/>
                  </a:ext>
                </a:extLst>
              </p:cNvPr>
              <p:cNvSpPr txBox="1"/>
              <p:nvPr/>
            </p:nvSpPr>
            <p:spPr>
              <a:xfrm>
                <a:off x="5486400" y="1007841"/>
                <a:ext cx="3200400" cy="3644459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tIns="91440" bIns="91440" rtlCol="0">
                <a:spAutoFit/>
              </a:bodyPr>
              <a:lstStyle/>
              <a:p>
                <a:pPr marL="228600" indent="-228600">
                  <a:tabLst>
                    <a:tab pos="228600" algn="l"/>
                  </a:tabLst>
                </a:pPr>
                <a:r>
                  <a:rPr lang="en-US" sz="1400" b="1" dirty="0">
                    <a:latin typeface="Helvetica Neue" charset="0"/>
                    <a:ea typeface="Helvetica Neue" charset="0"/>
                    <a:cs typeface="Helvetica Neue" charset="0"/>
                  </a:rPr>
                  <a:t>a.	</a:t>
                </a:r>
                <a:r>
                  <a:rPr lang="en-US" sz="14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Average estimated sales (mean response for sales)</a:t>
                </a:r>
                <a:r>
                  <a:rPr lang="en-US" sz="14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  <m:t>𝑦</m:t>
                          </m:r>
                        </m:e>
                      </m:acc>
                      <m:r>
                        <a:rPr lang="en-US" sz="1400" b="1" i="1">
                          <a:latin typeface="Cambria Math" charset="0"/>
                          <a:ea typeface="Helvetica Neue" charset="0"/>
                          <a:cs typeface="Helvetica Neue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 b="1" dirty="0">
                          <a:latin typeface="Helvetica" panose="020B0604020202020204" pitchFamily="34" charset="0"/>
                          <a:ea typeface="Helvetica Neue" charset="0"/>
                          <a:cs typeface="Helvetica" panose="020B0604020202020204" pitchFamily="34" charset="0"/>
                        </a:rPr>
                        <m:t>934.7</m:t>
                      </m:r>
                      <m:r>
                        <m:rPr>
                          <m:nor/>
                        </m:rPr>
                        <a:rPr lang="en-US" sz="1400" b="1" dirty="0" smtClean="0">
                          <a:latin typeface="Helvetica" panose="020B0604020202020204" pitchFamily="34" charset="0"/>
                          <a:ea typeface="Helvetica Neue" charset="0"/>
                          <a:cs typeface="Helvetica" panose="020B0604020202020204" pitchFamily="34" charset="0"/>
                        </a:rPr>
                        <m:t>77</m:t>
                      </m:r>
                    </m:oMath>
                  </m:oMathPara>
                </a14:m>
                <a:endParaRPr lang="en-US" sz="14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sz="1400" b="1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228600">
                  <a:tabLst>
                    <a:tab pos="228600" algn="l"/>
                  </a:tabLst>
                </a:pPr>
                <a:r>
                  <a:rPr lang="en-US" sz="14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Estimated standard deviation:</a:t>
                </a:r>
              </a:p>
              <a:p>
                <a:pPr algn="ctr"/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se(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accPr>
                      <m:e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=</m:t>
                    </m:r>
                    <m:r>
                      <m:rPr>
                        <m:nor/>
                      </m:rPr>
                      <a:rPr lang="en-US" sz="1400" b="1" dirty="0" smtClean="0">
                        <a:latin typeface="Helvetica" panose="020B0604020202020204" pitchFamily="34" charset="0"/>
                        <a:ea typeface="Helvetica Neue" charset="0"/>
                        <a:cs typeface="Helvetica" panose="020B0604020202020204" pitchFamily="34" charset="0"/>
                      </a:rPr>
                      <m:t>33.191</m:t>
                    </m:r>
                  </m:oMath>
                </a14:m>
                <a:endParaRPr lang="en-US" sz="14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sz="1400" b="1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228600"/>
                <a:r>
                  <a:rPr lang="en-US" sz="14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95% Confidence Interval:</a:t>
                </a:r>
              </a:p>
              <a:p>
                <a:r>
                  <a:rPr lang="en-US" sz="1400" b="1" dirty="0">
                    <a:latin typeface="Helvetica Neue" charset="0"/>
                    <a:ea typeface="Helvetica Neue" charset="0"/>
                    <a:cs typeface="Helvetica Neue" charset="0"/>
                  </a:rPr>
                  <a:t>               </a:t>
                </a:r>
                <a:r>
                  <a:rPr lang="en-US" sz="14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(865.045, 1004.509</a:t>
                </a:r>
                <a:r>
                  <a:rPr lang="en-US" sz="1400" b="1" dirty="0">
                    <a:latin typeface="Helvetica Neue" charset="0"/>
                    <a:ea typeface="Helvetica Neue" charset="0"/>
                    <a:cs typeface="Helvetica Neue" charset="0"/>
                  </a:rPr>
                  <a:t>)</a:t>
                </a:r>
              </a:p>
              <a:p>
                <a:endParaRPr lang="en-US" sz="1400" b="1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sz="14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Interpretation: </a:t>
                </a:r>
                <a:r>
                  <a:rPr lang="en-US" sz="14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offices with the same characteristics as the first, the average estimated sales are $934,777, with a lower bound of $865,045 and an upper bound of $1,004,509.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7EE9F4-CE2E-45CC-91C7-FC1CC6DD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1007841"/>
                <a:ext cx="3200400" cy="3644459"/>
              </a:xfrm>
              <a:prstGeom prst="rect">
                <a:avLst/>
              </a:prstGeom>
              <a:blipFill>
                <a:blip r:embed="rId2"/>
                <a:stretch>
                  <a:fillRect l="-379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="" xmlns:a16="http://schemas.microsoft.com/office/drawing/2014/main" id="{01111FEE-42F7-4ECE-91D8-5EAEE8F06738}"/>
              </a:ext>
            </a:extLst>
          </p:cNvPr>
          <p:cNvSpPr/>
          <p:nvPr/>
        </p:nvSpPr>
        <p:spPr>
          <a:xfrm>
            <a:off x="6884670" y="1476829"/>
            <a:ext cx="735330" cy="320934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1234BF60-1207-4327-8EA6-6127BCDDF43D}"/>
              </a:ext>
            </a:extLst>
          </p:cNvPr>
          <p:cNvSpPr/>
          <p:nvPr/>
        </p:nvSpPr>
        <p:spPr>
          <a:xfrm>
            <a:off x="7018866" y="2133418"/>
            <a:ext cx="677334" cy="274955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64EB96C-B125-464A-A86F-A8EE0618D4AC}"/>
              </a:ext>
            </a:extLst>
          </p:cNvPr>
          <p:cNvSpPr/>
          <p:nvPr/>
        </p:nvSpPr>
        <p:spPr>
          <a:xfrm>
            <a:off x="6262370" y="2801275"/>
            <a:ext cx="1695450" cy="241464"/>
          </a:xfrm>
          <a:prstGeom prst="rect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A275929E-7322-4462-ADCD-AC720B29ADD0}"/>
              </a:ext>
            </a:extLst>
          </p:cNvPr>
          <p:cNvSpPr/>
          <p:nvPr/>
        </p:nvSpPr>
        <p:spPr>
          <a:xfrm>
            <a:off x="1131600" y="3480958"/>
            <a:ext cx="1523825" cy="275265"/>
          </a:xfrm>
          <a:prstGeom prst="rect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589F0923-BB27-4999-B088-CB4CF8765E8F}"/>
              </a:ext>
            </a:extLst>
          </p:cNvPr>
          <p:cNvSpPr/>
          <p:nvPr/>
        </p:nvSpPr>
        <p:spPr>
          <a:xfrm>
            <a:off x="76200" y="3457809"/>
            <a:ext cx="1017784" cy="298415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952A384C-FEB5-421C-BB6B-738463FF4F60}"/>
              </a:ext>
            </a:extLst>
          </p:cNvPr>
          <p:cNvSpPr/>
          <p:nvPr/>
        </p:nvSpPr>
        <p:spPr>
          <a:xfrm>
            <a:off x="415725" y="2362073"/>
            <a:ext cx="750600" cy="262727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670CC84A-E1D5-4D06-9116-6CD66920ED8E}"/>
              </a:ext>
            </a:extLst>
          </p:cNvPr>
          <p:cNvSpPr txBox="1">
            <a:spLocks/>
          </p:cNvSpPr>
          <p:nvPr/>
        </p:nvSpPr>
        <p:spPr>
          <a:xfrm>
            <a:off x="117675" y="255850"/>
            <a:ext cx="8739251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Mean Response Estimation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6391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A4181E5-E5E7-4062-973B-3E67DCAE07A1}"/>
              </a:ext>
            </a:extLst>
          </p:cNvPr>
          <p:cNvSpPr/>
          <p:nvPr/>
        </p:nvSpPr>
        <p:spPr>
          <a:xfrm>
            <a:off x="152401" y="1082475"/>
            <a:ext cx="533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Change the competitor's sales for prediction of future observation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endParaRPr 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[5] = 303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Variance formula</a:t>
            </a:r>
            <a:endParaRPr lang="en-US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s2*(1+xstar.new%*%solve(t(X)%*%X)%*%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 sqrt(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[,1]</a:t>
            </a: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[1,] 64.31099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Prediction Interval</a:t>
            </a: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predict(model,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[-1], interval="prediction")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fit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1 911.0569   775.9446   1046.169</a:t>
            </a: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670CC84A-E1D5-4D06-9116-6CD66920ED8E}"/>
              </a:ext>
            </a:extLst>
          </p:cNvPr>
          <p:cNvSpPr txBox="1">
            <a:spLocks/>
          </p:cNvSpPr>
          <p:nvPr/>
        </p:nvSpPr>
        <p:spPr>
          <a:xfrm>
            <a:off x="117675" y="255850"/>
            <a:ext cx="8739251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Mean Response Estimation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442802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A4181E5-E5E7-4062-973B-3E67DCAE07A1}"/>
              </a:ext>
            </a:extLst>
          </p:cNvPr>
          <p:cNvSpPr/>
          <p:nvPr/>
        </p:nvSpPr>
        <p:spPr>
          <a:xfrm>
            <a:off x="152401" y="1082475"/>
            <a:ext cx="5334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Change the competitor's sales for prediction of future observation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</a:t>
            </a:r>
            <a:endParaRPr 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[5] = 303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Variance formula</a:t>
            </a:r>
            <a:endParaRPr lang="en-US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s2*(1+xstar.new%*%solve(t(X)%*%X)%*%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 sqrt(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pred.var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[,1]</a:t>
            </a: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[1,] 64.31099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Prediction Interval</a:t>
            </a: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predict(model,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xstar.new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[-1], interval="prediction")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fit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1 911.0569   775.9446   1046.169</a:t>
            </a:r>
          </a:p>
          <a:p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209A7B65-B6A1-4393-BFE5-CAF97523BD49}"/>
                  </a:ext>
                </a:extLst>
              </p:cNvPr>
              <p:cNvSpPr txBox="1"/>
              <p:nvPr/>
            </p:nvSpPr>
            <p:spPr>
              <a:xfrm>
                <a:off x="5485075" y="1017850"/>
                <a:ext cx="3393675" cy="3385542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tIns="91440" bIns="91440" rtlCol="0">
                <a:spAutoFit/>
              </a:bodyPr>
              <a:lstStyle/>
              <a:p>
                <a:pPr marL="228600" indent="-228600"/>
                <a:r>
                  <a:rPr lang="en-US" sz="1300" b="1" dirty="0">
                    <a:latin typeface="Helvetica Neue"/>
                  </a:rPr>
                  <a:t>b. </a:t>
                </a:r>
                <a:r>
                  <a:rPr lang="en-US" sz="13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Predicted sales of the first office given the higher competitor’s sales</a:t>
                </a:r>
                <a:r>
                  <a:rPr lang="en-US" sz="13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3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300" b="1" dirty="0"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911.0</m:t>
                      </m:r>
                      <m:r>
                        <m:rPr>
                          <m:nor/>
                        </m:rPr>
                        <a:rPr lang="en-US" sz="1300" b="1" dirty="0" smtClean="0"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57</m:t>
                      </m:r>
                    </m:oMath>
                  </m:oMathPara>
                </a14:m>
                <a:endParaRPr lang="en-US" sz="1300" b="1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endParaRPr lang="en-US" sz="1300" b="1" dirty="0">
                  <a:latin typeface="Helvetica Neue"/>
                </a:endParaRPr>
              </a:p>
              <a:p>
                <a:pPr marL="228600"/>
                <a:r>
                  <a:rPr lang="en-US" sz="13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Estimated standard deviation:</a:t>
                </a:r>
              </a:p>
              <a:p>
                <a:pPr algn="ctr"/>
                <a:r>
                  <a:rPr lang="en-US" sz="13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se(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accPr>
                      <m:e>
                        <m:r>
                          <a:rPr lang="en-US" sz="1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3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300" b="1" dirty="0">
                        <a:latin typeface="Helvetica" panose="020B0604020202020204" pitchFamily="34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6</m:t>
                    </m:r>
                    <m:r>
                      <m:rPr>
                        <m:nor/>
                      </m:rPr>
                      <a:rPr lang="en-US" sz="1300" b="1" i="0" dirty="0" smtClean="0">
                        <a:latin typeface="Helvetica" panose="020B0604020202020204" pitchFamily="34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4</m:t>
                    </m:r>
                    <m:r>
                      <m:rPr>
                        <m:nor/>
                      </m:rPr>
                      <a:rPr lang="en-US" sz="1300" b="1" dirty="0">
                        <a:latin typeface="Helvetica" panose="020B0604020202020204" pitchFamily="34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.</m:t>
                    </m:r>
                    <m:r>
                      <m:rPr>
                        <m:nor/>
                      </m:rPr>
                      <a:rPr lang="en-US" sz="1300" b="1" i="0" dirty="0" smtClean="0">
                        <a:latin typeface="Helvetica" panose="020B0604020202020204" pitchFamily="34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31</m:t>
                    </m:r>
                  </m:oMath>
                </a14:m>
                <a:r>
                  <a:rPr lang="en-US" sz="13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</a:p>
              <a:p>
                <a:endParaRPr lang="en-US" sz="1300" b="1" dirty="0">
                  <a:latin typeface="Helvetica Neue"/>
                </a:endParaRPr>
              </a:p>
              <a:p>
                <a:pPr marL="228600"/>
                <a:r>
                  <a:rPr lang="en-US" sz="13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95% Confidence Interval:</a:t>
                </a:r>
              </a:p>
              <a:p>
                <a:pPr algn="ctr"/>
                <a:r>
                  <a:rPr lang="en-US" sz="13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(775.945, 1046.169)</a:t>
                </a:r>
              </a:p>
              <a:p>
                <a:endParaRPr lang="en-US" sz="13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sz="13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Interpretation: </a:t>
                </a:r>
                <a:r>
                  <a:rPr lang="en-US" sz="13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the competitor’s sales increase to $303,000 (from $202,220), the predicted sales reduce by $23,720 (from $934,777 to $911,057). Since this is prediction, the standard deviation increases.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9A7B65-B6A1-4393-BFE5-CAF97523B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075" y="1017850"/>
                <a:ext cx="3393675" cy="3385542"/>
              </a:xfrm>
              <a:prstGeom prst="rect">
                <a:avLst/>
              </a:prstGeom>
              <a:blipFill>
                <a:blip r:embed="rId2"/>
                <a:stretch>
                  <a:fillRect l="-179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="" xmlns:a16="http://schemas.microsoft.com/office/drawing/2014/main" id="{74E7494D-024C-4B40-972F-B21CE6EE35AA}"/>
              </a:ext>
            </a:extLst>
          </p:cNvPr>
          <p:cNvSpPr/>
          <p:nvPr/>
        </p:nvSpPr>
        <p:spPr>
          <a:xfrm>
            <a:off x="6976863" y="1484400"/>
            <a:ext cx="738187" cy="24915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47F8610-DEEF-433C-9AE0-48484852C3BD}"/>
              </a:ext>
            </a:extLst>
          </p:cNvPr>
          <p:cNvSpPr/>
          <p:nvPr/>
        </p:nvSpPr>
        <p:spPr>
          <a:xfrm>
            <a:off x="6343913" y="2692956"/>
            <a:ext cx="1694743" cy="228600"/>
          </a:xfrm>
          <a:prstGeom prst="rect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8A4D6191-0EFB-4EF2-8359-C76032496C61}"/>
              </a:ext>
            </a:extLst>
          </p:cNvPr>
          <p:cNvSpPr/>
          <p:nvPr/>
        </p:nvSpPr>
        <p:spPr>
          <a:xfrm>
            <a:off x="7156395" y="2083925"/>
            <a:ext cx="629920" cy="24765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B21282D-87DD-4E00-B184-D065373AD802}"/>
              </a:ext>
            </a:extLst>
          </p:cNvPr>
          <p:cNvSpPr/>
          <p:nvPr/>
        </p:nvSpPr>
        <p:spPr>
          <a:xfrm>
            <a:off x="228563" y="3845810"/>
            <a:ext cx="903000" cy="250855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7AA759CC-1931-452C-9E6F-834253FC87FB}"/>
              </a:ext>
            </a:extLst>
          </p:cNvPr>
          <p:cNvSpPr/>
          <p:nvPr/>
        </p:nvSpPr>
        <p:spPr>
          <a:xfrm>
            <a:off x="427654" y="2712256"/>
            <a:ext cx="798296" cy="30480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43EE1DB-5084-43CF-94E1-E67A01A4D00A}"/>
              </a:ext>
            </a:extLst>
          </p:cNvPr>
          <p:cNvSpPr/>
          <p:nvPr/>
        </p:nvSpPr>
        <p:spPr>
          <a:xfrm>
            <a:off x="1139453" y="3832401"/>
            <a:ext cx="1546200" cy="250854"/>
          </a:xfrm>
          <a:prstGeom prst="rect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670CC84A-E1D5-4D06-9116-6CD66920ED8E}"/>
              </a:ext>
            </a:extLst>
          </p:cNvPr>
          <p:cNvSpPr txBox="1">
            <a:spLocks/>
          </p:cNvSpPr>
          <p:nvPr/>
        </p:nvSpPr>
        <p:spPr>
          <a:xfrm>
            <a:off x="117675" y="255850"/>
            <a:ext cx="8739251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Mean Response Estimation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419789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52813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42483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62139</TotalTime>
  <Words>452</Words>
  <Application>Microsoft Office PowerPoint</Application>
  <PresentationFormat>On-screen Show (16:9)</PresentationFormat>
  <Paragraphs>116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ＭＳ Ｐゴシック</vt:lpstr>
      <vt:lpstr>ＭＳ Ｐゴシック</vt:lpstr>
      <vt:lpstr>Arial</vt:lpstr>
      <vt:lpstr>Calibri</vt:lpstr>
      <vt:lpstr>Cambria Math</vt:lpstr>
      <vt:lpstr>Helvetica</vt:lpstr>
      <vt:lpstr>Helvetica Neue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PowerPoint Presentation</vt:lpstr>
      <vt:lpstr>Example 1: Mean Response &amp;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 Tech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808</cp:revision>
  <dcterms:created xsi:type="dcterms:W3CDTF">2002-04-06T16:20:45Z</dcterms:created>
  <dcterms:modified xsi:type="dcterms:W3CDTF">2020-06-08T06:36:32Z</dcterms:modified>
</cp:coreProperties>
</file>