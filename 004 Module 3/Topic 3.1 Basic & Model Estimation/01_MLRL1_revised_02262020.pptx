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6" r:id="rId1"/>
    <p:sldMasterId id="2147484022" r:id="rId2"/>
    <p:sldMasterId id="2147484023" r:id="rId3"/>
  </p:sldMasterIdLst>
  <p:notesMasterIdLst>
    <p:notesMasterId r:id="rId14"/>
  </p:notesMasterIdLst>
  <p:handoutMasterIdLst>
    <p:handoutMasterId r:id="rId15"/>
  </p:handoutMasterIdLst>
  <p:sldIdLst>
    <p:sldId id="481" r:id="rId4"/>
    <p:sldId id="476" r:id="rId5"/>
    <p:sldId id="276" r:id="rId6"/>
    <p:sldId id="362" r:id="rId7"/>
    <p:sldId id="397" r:id="rId8"/>
    <p:sldId id="398" r:id="rId9"/>
    <p:sldId id="401" r:id="rId10"/>
    <p:sldId id="402" r:id="rId11"/>
    <p:sldId id="483" r:id="rId12"/>
    <p:sldId id="477" r:id="rId13"/>
  </p:sldIdLst>
  <p:sldSz cx="9144000" cy="5143500" type="screen16x9"/>
  <p:notesSz cx="7315200" cy="96012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3" pos="144" userDrawn="1">
          <p15:clr>
            <a:srgbClr val="A4A3A4"/>
          </p15:clr>
        </p15:guide>
        <p15:guide id="4" orient="horz" pos="420" userDrawn="1">
          <p15:clr>
            <a:srgbClr val="A4A3A4"/>
          </p15:clr>
        </p15:guide>
        <p15:guide id="5" orient="horz" pos="852" userDrawn="1">
          <p15:clr>
            <a:srgbClr val="A4A3A4"/>
          </p15:clr>
        </p15:guide>
        <p15:guide id="6" pos="384" userDrawn="1">
          <p15:clr>
            <a:srgbClr val="A4A3A4"/>
          </p15:clr>
        </p15:guide>
        <p15:guide id="7" pos="345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rban, Nicoleta" initials="SN" lastIdx="19" clrIdx="0"/>
  <p:cmAuthor id="2" name="zwen42@gatech.com" initials="z"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B211"/>
    <a:srgbClr val="F8E0A3"/>
    <a:srgbClr val="00254C"/>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6D168B-F38F-45B1-805E-80C590CF7704}" v="53" dt="2019-12-28T20:11:51.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73"/>
    <p:restoredTop sz="89043"/>
  </p:normalViewPr>
  <p:slideViewPr>
    <p:cSldViewPr>
      <p:cViewPr varScale="1">
        <p:scale>
          <a:sx n="150" d="100"/>
          <a:sy n="150" d="100"/>
        </p:scale>
        <p:origin x="312" y="108"/>
      </p:cViewPr>
      <p:guideLst>
        <p:guide orient="horz" pos="1620"/>
        <p:guide pos="2880"/>
        <p:guide pos="144"/>
        <p:guide orient="horz" pos="420"/>
        <p:guide orient="horz" pos="852"/>
        <p:guide pos="384"/>
        <p:guide pos="3456"/>
      </p:guideLst>
    </p:cSldViewPr>
  </p:slideViewPr>
  <p:outlineViewPr>
    <p:cViewPr>
      <p:scale>
        <a:sx n="33" d="100"/>
        <a:sy n="33" d="100"/>
      </p:scale>
      <p:origin x="0" y="-1432"/>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3.xml"/><Relationship Id="rId21" Type="http://schemas.microsoft.com/office/2015/10/relationships/revisionInfo" Target="revisionInfo.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handoutMaster" Target="handoutMasters/handoutMaster1.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notesMaster" Target="notesMasters/notesMaster1.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ard Levine" userId="be0075ead24e3c6f" providerId="LiveId" clId="{B56D168B-F38F-45B1-805E-80C590CF7704}"/>
    <pc:docChg chg="modSld">
      <pc:chgData name="Richard Levine" userId="be0075ead24e3c6f" providerId="LiveId" clId="{B56D168B-F38F-45B1-805E-80C590CF7704}" dt="2019-12-28T20:16:48.604" v="86" actId="1037"/>
      <pc:docMkLst>
        <pc:docMk/>
      </pc:docMkLst>
      <pc:sldChg chg="modSp">
        <pc:chgData name="Richard Levine" userId="be0075ead24e3c6f" providerId="LiveId" clId="{B56D168B-F38F-45B1-805E-80C590CF7704}" dt="2019-12-28T20:06:03.979" v="10" actId="113"/>
        <pc:sldMkLst>
          <pc:docMk/>
          <pc:sldMk cId="0" sldId="362"/>
        </pc:sldMkLst>
        <pc:spChg chg="mod">
          <ac:chgData name="Richard Levine" userId="be0075ead24e3c6f" providerId="LiveId" clId="{B56D168B-F38F-45B1-805E-80C590CF7704}" dt="2019-12-28T20:06:03.979" v="10" actId="113"/>
          <ac:spMkLst>
            <pc:docMk/>
            <pc:sldMk cId="0" sldId="362"/>
            <ac:spMk id="13315" creationId="{00000000-0000-0000-0000-000000000000}"/>
          </ac:spMkLst>
        </pc:spChg>
      </pc:sldChg>
      <pc:sldChg chg="modSp modAnim">
        <pc:chgData name="Richard Levine" userId="be0075ead24e3c6f" providerId="LiveId" clId="{B56D168B-F38F-45B1-805E-80C590CF7704}" dt="2019-12-28T20:08:50.128" v="28" actId="6549"/>
        <pc:sldMkLst>
          <pc:docMk/>
          <pc:sldMk cId="0" sldId="398"/>
        </pc:sldMkLst>
        <pc:spChg chg="mod">
          <ac:chgData name="Richard Levine" userId="be0075ead24e3c6f" providerId="LiveId" clId="{B56D168B-F38F-45B1-805E-80C590CF7704}" dt="2019-12-28T20:08:42.503" v="27" actId="6549"/>
          <ac:spMkLst>
            <pc:docMk/>
            <pc:sldMk cId="0" sldId="398"/>
            <ac:spMk id="16387" creationId="{00000000-0000-0000-0000-000000000000}"/>
          </ac:spMkLst>
        </pc:spChg>
      </pc:sldChg>
      <pc:sldChg chg="modSp">
        <pc:chgData name="Richard Levine" userId="be0075ead24e3c6f" providerId="LiveId" clId="{B56D168B-F38F-45B1-805E-80C590CF7704}" dt="2019-12-28T20:11:51.388" v="52" actId="255"/>
        <pc:sldMkLst>
          <pc:docMk/>
          <pc:sldMk cId="0" sldId="402"/>
        </pc:sldMkLst>
        <pc:spChg chg="mod">
          <ac:chgData name="Richard Levine" userId="be0075ead24e3c6f" providerId="LiveId" clId="{B56D168B-F38F-45B1-805E-80C590CF7704}" dt="2019-12-28T20:11:51.388" v="52" actId="255"/>
          <ac:spMkLst>
            <pc:docMk/>
            <pc:sldMk cId="0" sldId="402"/>
            <ac:spMk id="19459" creationId="{00000000-0000-0000-0000-000000000000}"/>
          </ac:spMkLst>
        </pc:spChg>
      </pc:sldChg>
      <pc:sldChg chg="modSp">
        <pc:chgData name="Richard Levine" userId="be0075ead24e3c6f" providerId="LiveId" clId="{B56D168B-F38F-45B1-805E-80C590CF7704}" dt="2019-12-28T20:16:48.604" v="86" actId="1037"/>
        <pc:sldMkLst>
          <pc:docMk/>
          <pc:sldMk cId="2065200379" sldId="483"/>
        </pc:sldMkLst>
        <pc:spChg chg="mod">
          <ac:chgData name="Richard Levine" userId="be0075ead24e3c6f" providerId="LiveId" clId="{B56D168B-F38F-45B1-805E-80C590CF7704}" dt="2019-12-28T20:15:29.165" v="72" actId="6549"/>
          <ac:spMkLst>
            <pc:docMk/>
            <pc:sldMk cId="2065200379" sldId="483"/>
            <ac:spMk id="6" creationId="{00000000-0000-0000-0000-000000000000}"/>
          </ac:spMkLst>
        </pc:spChg>
        <pc:spChg chg="mod">
          <ac:chgData name="Richard Levine" userId="be0075ead24e3c6f" providerId="LiveId" clId="{B56D168B-F38F-45B1-805E-80C590CF7704}" dt="2019-12-28T20:16:27.206" v="83" actId="1038"/>
          <ac:spMkLst>
            <pc:docMk/>
            <pc:sldMk cId="2065200379" sldId="483"/>
            <ac:spMk id="8" creationId="{00000000-0000-0000-0000-000000000000}"/>
          </ac:spMkLst>
        </pc:spChg>
        <pc:spChg chg="mod">
          <ac:chgData name="Richard Levine" userId="be0075ead24e3c6f" providerId="LiveId" clId="{B56D168B-F38F-45B1-805E-80C590CF7704}" dt="2019-12-28T20:16:48.604" v="86" actId="1037"/>
          <ac:spMkLst>
            <pc:docMk/>
            <pc:sldMk cId="2065200379" sldId="483"/>
            <ac:spMk id="9" creationId="{00000000-0000-0000-0000-000000000000}"/>
          </ac:spMkLst>
        </pc:spChg>
        <pc:spChg chg="mod">
          <ac:chgData name="Richard Levine" userId="be0075ead24e3c6f" providerId="LiveId" clId="{B56D168B-F38F-45B1-805E-80C590CF7704}" dt="2019-12-28T20:15:56.579" v="81" actId="1035"/>
          <ac:spMkLst>
            <pc:docMk/>
            <pc:sldMk cId="2065200379" sldId="483"/>
            <ac:spMk id="10" creationId="{00000000-0000-0000-0000-000000000000}"/>
          </ac:spMkLst>
        </pc:spChg>
        <pc:spChg chg="mod">
          <ac:chgData name="Richard Levine" userId="be0075ead24e3c6f" providerId="LiveId" clId="{B56D168B-F38F-45B1-805E-80C590CF7704}" dt="2019-12-28T20:15:56.579" v="81" actId="1035"/>
          <ac:spMkLst>
            <pc:docMk/>
            <pc:sldMk cId="2065200379" sldId="483"/>
            <ac:spMk id="11"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1" fontAlgn="auto" hangingPunct="1">
              <a:spcBef>
                <a:spcPct val="0"/>
              </a:spcBef>
              <a:spcAft>
                <a:spcPts val="0"/>
              </a:spcAft>
              <a:defRPr sz="1300">
                <a:latin typeface="+mn-lt"/>
                <a:ea typeface="+mn-ea"/>
                <a:cs typeface="+mn-cs"/>
              </a:defRPr>
            </a:lvl1pPr>
          </a:lstStyle>
          <a:p>
            <a:pPr>
              <a:defRPr/>
            </a:pPr>
            <a:endParaRPr lang="en-US"/>
          </a:p>
        </p:txBody>
      </p:sp>
      <p:sp>
        <p:nvSpPr>
          <p:cNvPr id="22531"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1" fontAlgn="auto" hangingPunct="1">
              <a:spcBef>
                <a:spcPct val="0"/>
              </a:spcBef>
              <a:spcAft>
                <a:spcPts val="0"/>
              </a:spcAft>
              <a:defRPr sz="1300">
                <a:latin typeface="+mn-lt"/>
                <a:ea typeface="+mn-ea"/>
                <a:cs typeface="+mn-cs"/>
              </a:defRPr>
            </a:lvl1pPr>
          </a:lstStyle>
          <a:p>
            <a:pPr>
              <a:defRPr/>
            </a:pPr>
            <a:endParaRPr lang="en-US"/>
          </a:p>
        </p:txBody>
      </p:sp>
      <p:sp>
        <p:nvSpPr>
          <p:cNvPr id="22532"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1" fontAlgn="auto" hangingPunct="1">
              <a:spcBef>
                <a:spcPct val="0"/>
              </a:spcBef>
              <a:spcAft>
                <a:spcPts val="0"/>
              </a:spcAft>
              <a:defRPr sz="1300">
                <a:latin typeface="+mn-lt"/>
                <a:ea typeface="+mn-ea"/>
                <a:cs typeface="+mn-cs"/>
              </a:defRPr>
            </a:lvl1pPr>
          </a:lstStyle>
          <a:p>
            <a:pPr>
              <a:defRPr/>
            </a:pPr>
            <a:endParaRPr lang="en-US"/>
          </a:p>
        </p:txBody>
      </p:sp>
      <p:sp>
        <p:nvSpPr>
          <p:cNvPr id="22533"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1" hangingPunct="1">
              <a:defRPr sz="1300"/>
            </a:lvl1pPr>
          </a:lstStyle>
          <a:p>
            <a:pPr>
              <a:defRPr/>
            </a:pPr>
            <a:fld id="{9341367C-E063-483A-976E-701E1B78A2B8}" type="slidenum">
              <a:rPr lang="en-US" altLang="en-US"/>
              <a:pPr>
                <a:defRPr/>
              </a:pPr>
              <a:t>‹#›</a:t>
            </a:fld>
            <a:endParaRPr lang="en-US" altLang="en-US"/>
          </a:p>
        </p:txBody>
      </p:sp>
    </p:spTree>
    <p:extLst>
      <p:ext uri="{BB962C8B-B14F-4D97-AF65-F5344CB8AC3E}">
        <p14:creationId xmlns:p14="http://schemas.microsoft.com/office/powerpoint/2010/main" val="667821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4143375" y="0"/>
            <a:ext cx="3170238" cy="481013"/>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E395FA4F-381F-404D-BF6E-002662B65353}" type="datetimeFigureOut">
              <a:rPr lang="en-US" altLang="en-US"/>
              <a:pPr>
                <a:defRPr/>
              </a:pPr>
              <a:t>2/26/2020</a:t>
            </a:fld>
            <a:endParaRPr lang="en-US" alt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A8BD030A-9FCF-4978-B2BB-2A6331F99A19}" type="slidenum">
              <a:rPr lang="en-US" altLang="en-US"/>
              <a:pPr>
                <a:defRPr/>
              </a:pPr>
              <a:t>‹#›</a:t>
            </a:fld>
            <a:endParaRPr lang="en-US" altLang="en-US"/>
          </a:p>
        </p:txBody>
      </p:sp>
    </p:spTree>
    <p:extLst>
      <p:ext uri="{BB962C8B-B14F-4D97-AF65-F5344CB8AC3E}">
        <p14:creationId xmlns:p14="http://schemas.microsoft.com/office/powerpoint/2010/main" val="7340257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xfrm>
            <a:off x="777875" y="1200150"/>
            <a:ext cx="5759450" cy="32400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BB93BBCF-2BE5-4673-9042-0AA1EA25F4FF}" type="slidenum">
              <a:rPr lang="en-US" altLang="en-US" smtClean="0"/>
              <a:pPr/>
              <a:t>3</a:t>
            </a:fld>
            <a:endParaRPr lang="en-US" altLang="en-US"/>
          </a:p>
        </p:txBody>
      </p:sp>
    </p:spTree>
    <p:extLst>
      <p:ext uri="{BB962C8B-B14F-4D97-AF65-F5344CB8AC3E}">
        <p14:creationId xmlns:p14="http://schemas.microsoft.com/office/powerpoint/2010/main" val="1624325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xfrm>
            <a:off x="777875" y="1200150"/>
            <a:ext cx="5759450" cy="32400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latin typeface="Helvetica Neue" charset="0"/>
              <a:ea typeface="Helvetica Neue" charset="0"/>
              <a:cs typeface="Helvetica Neue" charset="0"/>
            </a:endParaRPr>
          </a:p>
        </p:txBody>
      </p:sp>
      <p:sp>
        <p:nvSpPr>
          <p:cNvPr id="153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65DEB718-964C-4A1E-ABB2-164114E42590}" type="slidenum">
              <a:rPr lang="en-US" altLang="en-US" smtClean="0"/>
              <a:pPr/>
              <a:t>5</a:t>
            </a:fld>
            <a:endParaRPr lang="en-US" altLang="en-US"/>
          </a:p>
        </p:txBody>
      </p:sp>
    </p:spTree>
    <p:extLst>
      <p:ext uri="{BB962C8B-B14F-4D97-AF65-F5344CB8AC3E}">
        <p14:creationId xmlns:p14="http://schemas.microsoft.com/office/powerpoint/2010/main" val="12235493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xfrm>
            <a:off x="777875" y="1200150"/>
            <a:ext cx="5759450" cy="32400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184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73F899DE-00F9-44EC-A3AD-B3E74958BD84}" type="slidenum">
              <a:rPr lang="en-US" altLang="en-US" smtClean="0"/>
              <a:pPr/>
              <a:t>7</a:t>
            </a:fld>
            <a:endParaRPr lang="en-US" altLang="en-US"/>
          </a:p>
        </p:txBody>
      </p:sp>
    </p:spTree>
    <p:extLst>
      <p:ext uri="{BB962C8B-B14F-4D97-AF65-F5344CB8AC3E}">
        <p14:creationId xmlns:p14="http://schemas.microsoft.com/office/powerpoint/2010/main" val="20385600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81920" y="1421266"/>
            <a:ext cx="4727575" cy="1330325"/>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2424546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5520941" cy="993775"/>
          </a:xfrm>
          <a:prstGeom prst="rect">
            <a:avLst/>
          </a:prstGeom>
        </p:spPr>
        <p:txBody>
          <a:bodyPr/>
          <a:lstStyle>
            <a:lvl1pPr algn="l">
              <a:defRPr lang="en-US" sz="4400" kern="1200" dirty="0">
                <a:solidFill>
                  <a:schemeClr val="tx1"/>
                </a:solidFill>
                <a:latin typeface="Vitesse Bold"/>
                <a:ea typeface="+mj-ea"/>
                <a:cs typeface="Vitesse Bold"/>
              </a:defRPr>
            </a:lvl1pPr>
          </a:lstStyle>
          <a:p>
            <a:r>
              <a:rPr lang="en-US"/>
              <a:t>Click to edit Master title style</a:t>
            </a:r>
          </a:p>
        </p:txBody>
      </p:sp>
      <p:sp>
        <p:nvSpPr>
          <p:cNvPr id="6" name="Content Placeholder 5"/>
          <p:cNvSpPr>
            <a:spLocks noGrp="1"/>
          </p:cNvSpPr>
          <p:nvPr>
            <p:ph sz="quarter" idx="10"/>
          </p:nvPr>
        </p:nvSpPr>
        <p:spPr>
          <a:xfrm>
            <a:off x="628649" y="1436688"/>
            <a:ext cx="4375430" cy="2994025"/>
          </a:xfrm>
          <a:prstGeom prst="rect">
            <a:avLst/>
          </a:prstGeom>
        </p:spPr>
        <p:txBody>
          <a:bodyPr/>
          <a:lstStyle>
            <a:lvl1pPr>
              <a:defRPr>
                <a:latin typeface="Vitesse Book" charset="0"/>
                <a:ea typeface="Vitesse Book" charset="0"/>
                <a:cs typeface="Vitesse Book" charset="0"/>
              </a:defRPr>
            </a:lvl1pPr>
            <a:lvl2pPr>
              <a:defRPr>
                <a:latin typeface="Vitesse Book" charset="0"/>
                <a:ea typeface="Vitesse Book" charset="0"/>
                <a:cs typeface="Vitesse Book" charset="0"/>
              </a:defRPr>
            </a:lvl2pPr>
            <a:lvl3pPr>
              <a:defRPr>
                <a:latin typeface="Vitesse Book" charset="0"/>
                <a:ea typeface="Vitesse Book" charset="0"/>
                <a:cs typeface="Vitesse Book" charset="0"/>
              </a:defRPr>
            </a:lvl3pPr>
            <a:lvl4pPr>
              <a:defRPr>
                <a:latin typeface="Vitesse Book" charset="0"/>
                <a:ea typeface="Vitesse Book" charset="0"/>
                <a:cs typeface="Vitesse Book" charset="0"/>
              </a:defRPr>
            </a:lvl4pPr>
            <a:lvl5pPr>
              <a:defRPr>
                <a:latin typeface="Vitesse Book" charset="0"/>
                <a:ea typeface="Vitesse Book" charset="0"/>
                <a:cs typeface="Vitesse Book"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8844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628650" y="4767263"/>
            <a:ext cx="2057400" cy="273844"/>
          </a:xfrm>
          <a:prstGeom prst="rect">
            <a:avLst/>
          </a:prstGeom>
        </p:spPr>
        <p:txBody>
          <a:bodyPr/>
          <a:lstStyle>
            <a:lvl1pPr>
              <a:defRPr/>
            </a:lvl1pPr>
          </a:lstStyle>
          <a:p>
            <a:pPr>
              <a:defRPr/>
            </a:pPr>
            <a:endParaRPr lang="en-US"/>
          </a:p>
        </p:txBody>
      </p:sp>
      <p:sp>
        <p:nvSpPr>
          <p:cNvPr id="3"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a:defRPr/>
            </a:pPr>
            <a:endParaRPr lang="en-US"/>
          </a:p>
        </p:txBody>
      </p:sp>
      <p:sp>
        <p:nvSpPr>
          <p:cNvPr id="4"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a:defRPr/>
            </a:pPr>
            <a:fld id="{A2002E78-3C88-9A40-B579-FA4DB2691E4F}" type="slidenum">
              <a:rPr lang="en-US" altLang="en-US"/>
              <a:pPr>
                <a:defRPr/>
              </a:pPr>
              <a:t>‹#›</a:t>
            </a:fld>
            <a:endParaRPr lang="en-US" altLang="en-US"/>
          </a:p>
        </p:txBody>
      </p:sp>
    </p:spTree>
    <p:extLst>
      <p:ext uri="{BB962C8B-B14F-4D97-AF65-F5344CB8AC3E}">
        <p14:creationId xmlns:p14="http://schemas.microsoft.com/office/powerpoint/2010/main" val="685918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2298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369219"/>
            <a:ext cx="78867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4767263"/>
            <a:ext cx="2057400" cy="273844"/>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a:defRPr/>
            </a:pPr>
            <a:fld id="{134F0668-60AC-E24C-8E50-B74DE0FA4F02}" type="slidenum">
              <a:rPr lang="en-US" altLang="en-US"/>
              <a:pPr>
                <a:defRPr/>
              </a:pPr>
              <a:t>‹#›</a:t>
            </a:fld>
            <a:endParaRPr lang="en-US" altLang="en-US"/>
          </a:p>
        </p:txBody>
      </p:sp>
    </p:spTree>
    <p:extLst>
      <p:ext uri="{BB962C8B-B14F-4D97-AF65-F5344CB8AC3E}">
        <p14:creationId xmlns:p14="http://schemas.microsoft.com/office/powerpoint/2010/main" val="2785865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Full Page w/ Graphic">
    <p:spTree>
      <p:nvGrpSpPr>
        <p:cNvPr id="1" name=""/>
        <p:cNvGrpSpPr/>
        <p:nvPr/>
      </p:nvGrpSpPr>
      <p:grpSpPr>
        <a:xfrm>
          <a:off x="0" y="0"/>
          <a:ext cx="0" cy="0"/>
          <a:chOff x="0" y="0"/>
          <a:chExt cx="0" cy="0"/>
        </a:xfrm>
      </p:grpSpPr>
      <p:sp>
        <p:nvSpPr>
          <p:cNvPr id="4" name="Chart Placeholder 3"/>
          <p:cNvSpPr>
            <a:spLocks noGrp="1"/>
          </p:cNvSpPr>
          <p:nvPr>
            <p:ph type="chart" sz="quarter" idx="10"/>
          </p:nvPr>
        </p:nvSpPr>
        <p:spPr>
          <a:xfrm>
            <a:off x="252349" y="1093392"/>
            <a:ext cx="8110832" cy="3739377"/>
          </a:xfrm>
          <a:prstGeom prst="rect">
            <a:avLst/>
          </a:prstGeom>
        </p:spPr>
        <p:txBody>
          <a:bodyPr/>
          <a:lstStyle>
            <a:lvl1pPr marL="0" indent="0">
              <a:buNone/>
              <a:defRPr/>
            </a:lvl1pPr>
          </a:lstStyle>
          <a:p>
            <a:endParaRPr lang="en-US" dirty="0"/>
          </a:p>
        </p:txBody>
      </p:sp>
      <p:sp>
        <p:nvSpPr>
          <p:cNvPr id="5" name="Title 1"/>
          <p:cNvSpPr>
            <a:spLocks noGrp="1"/>
          </p:cNvSpPr>
          <p:nvPr>
            <p:ph type="title"/>
          </p:nvPr>
        </p:nvSpPr>
        <p:spPr>
          <a:xfrm>
            <a:off x="252348" y="274678"/>
            <a:ext cx="8186095"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3196508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3692306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Half Page BLANK">
    <p:spTree>
      <p:nvGrpSpPr>
        <p:cNvPr id="1" name=""/>
        <p:cNvGrpSpPr/>
        <p:nvPr/>
      </p:nvGrpSpPr>
      <p:grpSpPr>
        <a:xfrm>
          <a:off x="0" y="0"/>
          <a:ext cx="0" cy="0"/>
          <a:chOff x="0" y="0"/>
          <a:chExt cx="0" cy="0"/>
        </a:xfrm>
      </p:grpSpPr>
      <p:sp>
        <p:nvSpPr>
          <p:cNvPr id="2" name="Title 1"/>
          <p:cNvSpPr>
            <a:spLocks noGrp="1"/>
          </p:cNvSpPr>
          <p:nvPr>
            <p:ph type="title"/>
          </p:nvPr>
        </p:nvSpPr>
        <p:spPr>
          <a:xfrm>
            <a:off x="252349" y="274679"/>
            <a:ext cx="6182318" cy="993775"/>
          </a:xfrm>
          <a:prstGeom prst="rect">
            <a:avLst/>
          </a:prstGeom>
        </p:spPr>
        <p:txBody>
          <a:bodyPr/>
          <a:lstStyle>
            <a:lvl1pPr algn="l">
              <a:defRPr lang="en-US" sz="30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7126533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1099768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Page w/ Bullets">
    <p:spTree>
      <p:nvGrpSpPr>
        <p:cNvPr id="1" name=""/>
        <p:cNvGrpSpPr/>
        <p:nvPr/>
      </p:nvGrpSpPr>
      <p:grpSpPr>
        <a:xfrm>
          <a:off x="0" y="0"/>
          <a:ext cx="0" cy="0"/>
          <a:chOff x="0" y="0"/>
          <a:chExt cx="0" cy="0"/>
        </a:xfrm>
      </p:grpSpPr>
      <p:sp>
        <p:nvSpPr>
          <p:cNvPr id="10" name="Content Placeholder 5"/>
          <p:cNvSpPr>
            <a:spLocks noGrp="1"/>
          </p:cNvSpPr>
          <p:nvPr>
            <p:ph sz="quarter" idx="10"/>
          </p:nvPr>
        </p:nvSpPr>
        <p:spPr>
          <a:xfrm>
            <a:off x="252349" y="1268453"/>
            <a:ext cx="8280166" cy="3519917"/>
          </a:xfrm>
          <a:prstGeom prst="rect">
            <a:avLst/>
          </a:prstGeom>
        </p:spPr>
        <p:txBody>
          <a:bodyPr/>
          <a:lstStyle>
            <a:lvl1pPr>
              <a:defRPr sz="2000">
                <a:latin typeface="Helvetica" charset="0"/>
                <a:ea typeface="Helvetica" charset="0"/>
                <a:cs typeface="Helvetica" charset="0"/>
              </a:defRPr>
            </a:lvl1pPr>
            <a:lvl2pPr>
              <a:defRPr sz="1800">
                <a:latin typeface="Helvetica" charset="0"/>
                <a:ea typeface="Helvetica" charset="0"/>
                <a:cs typeface="Helvetica" charset="0"/>
              </a:defRPr>
            </a:lvl2pPr>
            <a:lvl3pPr>
              <a:defRPr sz="1800">
                <a:latin typeface="Helvetica" charset="0"/>
                <a:ea typeface="Helvetica" charset="0"/>
                <a:cs typeface="Helvetica" charset="0"/>
              </a:defRPr>
            </a:lvl3pPr>
            <a:lvl4pPr>
              <a:defRPr sz="1800">
                <a:latin typeface="Helvetica" charset="0"/>
                <a:ea typeface="Helvetica" charset="0"/>
                <a:cs typeface="Helvetica" charset="0"/>
              </a:defRPr>
            </a:lvl4pPr>
            <a:lvl5pPr>
              <a:defRPr sz="1800">
                <a:latin typeface="Helvetica" charset="0"/>
                <a:ea typeface="Helvetica" charset="0"/>
                <a:cs typeface="Helvetica"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252349" y="274678"/>
            <a:ext cx="8280166"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1288512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Page w/ Text">
    <p:spTree>
      <p:nvGrpSpPr>
        <p:cNvPr id="1" name=""/>
        <p:cNvGrpSpPr/>
        <p:nvPr/>
      </p:nvGrpSpPr>
      <p:grpSpPr>
        <a:xfrm>
          <a:off x="0" y="0"/>
          <a:ext cx="0" cy="0"/>
          <a:chOff x="0" y="0"/>
          <a:chExt cx="0" cy="0"/>
        </a:xfrm>
      </p:grpSpPr>
      <p:sp>
        <p:nvSpPr>
          <p:cNvPr id="4" name="Content Placeholder 4"/>
          <p:cNvSpPr>
            <a:spLocks noGrp="1"/>
          </p:cNvSpPr>
          <p:nvPr>
            <p:ph sz="quarter" idx="10" hasCustomPrompt="1"/>
          </p:nvPr>
        </p:nvSpPr>
        <p:spPr>
          <a:xfrm>
            <a:off x="252347" y="1268453"/>
            <a:ext cx="8449503" cy="3286125"/>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 </a:t>
            </a:r>
          </a:p>
          <a:p>
            <a:r>
              <a:rPr lang="en-US" sz="1800" dirty="0"/>
              <a:t>of the printing and typesetting industry. </a:t>
            </a:r>
            <a:r>
              <a:rPr lang="en-US" sz="1800" dirty="0" err="1"/>
              <a:t>Lorem</a:t>
            </a:r>
            <a:r>
              <a:rPr lang="en-US" sz="1800" dirty="0"/>
              <a:t> </a:t>
            </a:r>
            <a:r>
              <a:rPr lang="en-US" sz="1800" dirty="0" err="1"/>
              <a:t>Ipsum</a:t>
            </a:r>
            <a:r>
              <a:rPr lang="en-US" sz="1800" dirty="0"/>
              <a:t> has been the industry's standard dummy text ever since the 1500s, when an unknown printer took a galley of type and scrambled it to make a type specimen book. </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5" name="Title 1"/>
          <p:cNvSpPr>
            <a:spLocks noGrp="1"/>
          </p:cNvSpPr>
          <p:nvPr>
            <p:ph type="title"/>
          </p:nvPr>
        </p:nvSpPr>
        <p:spPr>
          <a:xfrm>
            <a:off x="252348" y="274678"/>
            <a:ext cx="8449503"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3040823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Page w/ Text + Graphic">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233538" y="1110075"/>
            <a:ext cx="3595277" cy="3612444"/>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6" name="Chart Placeholder 3"/>
          <p:cNvSpPr>
            <a:spLocks noGrp="1"/>
          </p:cNvSpPr>
          <p:nvPr>
            <p:ph type="chart" sz="quarter" idx="11"/>
          </p:nvPr>
        </p:nvSpPr>
        <p:spPr>
          <a:xfrm>
            <a:off x="3828815" y="1110075"/>
            <a:ext cx="4948296" cy="3612444"/>
          </a:xfrm>
          <a:prstGeom prst="rect">
            <a:avLst/>
          </a:prstGeom>
        </p:spPr>
        <p:txBody>
          <a:bodyPr/>
          <a:lstStyle>
            <a:lvl1pPr marL="0" indent="0">
              <a:buNone/>
              <a:defRPr/>
            </a:lvl1pPr>
          </a:lstStyle>
          <a:p>
            <a:endParaRPr lang="en-US" dirty="0"/>
          </a:p>
        </p:txBody>
      </p:sp>
      <p:sp>
        <p:nvSpPr>
          <p:cNvPr id="10"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936357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Page w/ Graphic">
    <p:spTree>
      <p:nvGrpSpPr>
        <p:cNvPr id="1" name=""/>
        <p:cNvGrpSpPr/>
        <p:nvPr/>
      </p:nvGrpSpPr>
      <p:grpSpPr>
        <a:xfrm>
          <a:off x="0" y="0"/>
          <a:ext cx="0" cy="0"/>
          <a:chOff x="0" y="0"/>
          <a:chExt cx="0" cy="0"/>
        </a:xfrm>
      </p:grpSpPr>
      <p:sp>
        <p:nvSpPr>
          <p:cNvPr id="4" name="Chart Placeholder 3"/>
          <p:cNvSpPr>
            <a:spLocks noGrp="1"/>
          </p:cNvSpPr>
          <p:nvPr>
            <p:ph type="chart" sz="quarter" idx="10"/>
          </p:nvPr>
        </p:nvSpPr>
        <p:spPr>
          <a:xfrm>
            <a:off x="252349" y="1268453"/>
            <a:ext cx="8110832" cy="3564316"/>
          </a:xfrm>
          <a:prstGeom prst="rect">
            <a:avLst/>
          </a:prstGeom>
        </p:spPr>
        <p:txBody>
          <a:bodyPr/>
          <a:lstStyle>
            <a:lvl1pPr marL="0" indent="0">
              <a:buNone/>
              <a:defRPr sz="2000">
                <a:latin typeface="Helvetica" charset="0"/>
                <a:ea typeface="Helvetica" charset="0"/>
                <a:cs typeface="Helvetica" charset="0"/>
              </a:defRPr>
            </a:lvl1pPr>
          </a:lstStyle>
          <a:p>
            <a:endParaRPr lang="en-US" dirty="0"/>
          </a:p>
        </p:txBody>
      </p:sp>
      <p:sp>
        <p:nvSpPr>
          <p:cNvPr id="5"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19483973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alf Page BLANK">
    <p:spTree>
      <p:nvGrpSpPr>
        <p:cNvPr id="1" name=""/>
        <p:cNvGrpSpPr/>
        <p:nvPr/>
      </p:nvGrpSpPr>
      <p:grpSpPr>
        <a:xfrm>
          <a:off x="0" y="0"/>
          <a:ext cx="0" cy="0"/>
          <a:chOff x="0" y="0"/>
          <a:chExt cx="0" cy="0"/>
        </a:xfrm>
      </p:grpSpPr>
      <p:sp>
        <p:nvSpPr>
          <p:cNvPr id="2" name="Title 1"/>
          <p:cNvSpPr>
            <a:spLocks noGrp="1"/>
          </p:cNvSpPr>
          <p:nvPr>
            <p:ph type="title"/>
          </p:nvPr>
        </p:nvSpPr>
        <p:spPr>
          <a:xfrm>
            <a:off x="252349" y="274679"/>
            <a:ext cx="6182318"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3953193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theme" Target="../theme/theme2.xml"/><Relationship Id="rId5" Type="http://schemas.openxmlformats.org/officeDocument/2006/relationships/image" Target="../media/image1.jp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1.xml"/><Relationship Id="rId7" Type="http://schemas.openxmlformats.org/officeDocument/2006/relationships/theme" Target="../theme/theme3.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10" Type="http://schemas.openxmlformats.org/officeDocument/2006/relationships/image" Target="../media/image4.png"/><Relationship Id="rId4" Type="http://schemas.openxmlformats.org/officeDocument/2006/relationships/slideLayout" Target="../slideLayouts/slideLayout12.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3BCFA4D-1CC5-4243-98FC-591DF878C6E5}"/>
              </a:ext>
            </a:extLst>
          </p:cNvPr>
          <p:cNvPicPr>
            <a:picLocks noChangeAspect="1"/>
          </p:cNvPicPr>
          <p:nvPr userDrawn="1"/>
        </p:nvPicPr>
        <p:blipFill>
          <a:blip r:embed="rId10"/>
          <a:stretch>
            <a:fillRect/>
          </a:stretch>
        </p:blipFill>
        <p:spPr>
          <a:xfrm>
            <a:off x="0" y="0"/>
            <a:ext cx="9144000" cy="5143500"/>
          </a:xfrm>
          <a:prstGeom prst="rect">
            <a:avLst/>
          </a:prstGeom>
        </p:spPr>
      </p:pic>
    </p:spTree>
    <p:extLst>
      <p:ext uri="{BB962C8B-B14F-4D97-AF65-F5344CB8AC3E}">
        <p14:creationId xmlns:p14="http://schemas.microsoft.com/office/powerpoint/2010/main" val="1346400015"/>
      </p:ext>
    </p:extLst>
  </p:cSld>
  <p:clrMap bg1="lt1" tx1="dk1" bg2="lt2" tx2="dk2" accent1="accent1" accent2="accent2" accent3="accent3" accent4="accent4" accent5="accent5" accent6="accent6" hlink="hlink" folHlink="folHlink"/>
  <p:sldLayoutIdLst>
    <p:sldLayoutId id="2147484017" r:id="rId1"/>
    <p:sldLayoutId id="2147484018" r:id="rId2"/>
    <p:sldLayoutId id="2147484019" r:id="rId3"/>
    <p:sldLayoutId id="2147484020" r:id="rId4"/>
    <p:sldLayoutId id="2147484021" r:id="rId5"/>
    <p:sldLayoutId id="2147484031" r:id="rId6"/>
    <p:sldLayoutId id="2147484032" r:id="rId7"/>
    <p:sldLayoutId id="2147484033"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5" name="Picture 4"/>
            <p:cNvPicPr>
              <a:picLocks noChangeAspect="1"/>
            </p:cNvPicPr>
            <p:nvPr userDrawn="1"/>
          </p:nvPicPr>
          <p:blipFill>
            <a:blip r:embed="rId2"/>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id="{5BC3A035-B0EE-3A43-AADA-02BA46FB0931}"/>
                </a:ext>
              </a:extLst>
            </p:cNvPr>
            <p:cNvPicPr>
              <a:picLocks noChangeAspect="1"/>
            </p:cNvPicPr>
            <p:nvPr userDrawn="1"/>
          </p:nvPicPr>
          <p:blipFill>
            <a:blip r:embed="rId3"/>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4"/>
            <a:stretch>
              <a:fillRect/>
            </a:stretch>
          </p:blipFill>
          <p:spPr>
            <a:xfrm>
              <a:off x="0" y="0"/>
              <a:ext cx="3719590" cy="2933934"/>
            </a:xfrm>
            <a:prstGeom prst="rect">
              <a:avLst/>
            </a:prstGeom>
          </p:spPr>
        </p:pic>
      </p:grpSp>
      <p:pic>
        <p:nvPicPr>
          <p:cNvPr id="8" name="Picture 7">
            <a:extLst>
              <a:ext uri="{FF2B5EF4-FFF2-40B4-BE49-F238E27FC236}">
                <a16:creationId xmlns:a16="http://schemas.microsoft.com/office/drawing/2014/main" id="{13BCFA4D-1CC5-4243-98FC-591DF878C6E5}"/>
              </a:ext>
            </a:extLst>
          </p:cNvPr>
          <p:cNvPicPr>
            <a:picLocks noChangeAspect="1"/>
          </p:cNvPicPr>
          <p:nvPr userDrawn="1"/>
        </p:nvPicPr>
        <p:blipFill>
          <a:blip r:embed="rId5"/>
          <a:stretch>
            <a:fillRect/>
          </a:stretch>
        </p:blipFill>
        <p:spPr>
          <a:xfrm>
            <a:off x="0" y="0"/>
            <a:ext cx="9144000" cy="5143500"/>
          </a:xfrm>
          <a:prstGeom prst="rect">
            <a:avLst/>
          </a:prstGeom>
        </p:spPr>
      </p:pic>
    </p:spTree>
    <p:extLst>
      <p:ext uri="{BB962C8B-B14F-4D97-AF65-F5344CB8AC3E}">
        <p14:creationId xmlns:p14="http://schemas.microsoft.com/office/powerpoint/2010/main" val="1395730400"/>
      </p:ext>
    </p:extLst>
  </p:cSld>
  <p:clrMap bg1="lt1" tx1="dk1" bg2="lt2" tx2="dk2" accent1="accent1" accent2="accent2" accent3="accent3" accent4="accent4" accent5="accent5" accent6="accent6" hlink="hlink" folHlink="folHlink"/>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4" name="Picture 3"/>
            <p:cNvPicPr>
              <a:picLocks noChangeAspect="1"/>
            </p:cNvPicPr>
            <p:nvPr userDrawn="1"/>
          </p:nvPicPr>
          <p:blipFill>
            <a:blip r:embed="rId8"/>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id="{5BC3A035-B0EE-3A43-AADA-02BA46FB0931}"/>
                </a:ext>
              </a:extLst>
            </p:cNvPr>
            <p:cNvPicPr>
              <a:picLocks noChangeAspect="1"/>
            </p:cNvPicPr>
            <p:nvPr userDrawn="1"/>
          </p:nvPicPr>
          <p:blipFill>
            <a:blip r:embed="rId9"/>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10"/>
            <a:stretch>
              <a:fillRect/>
            </a:stretch>
          </p:blipFill>
          <p:spPr>
            <a:xfrm>
              <a:off x="0" y="0"/>
              <a:ext cx="3719590" cy="2933934"/>
            </a:xfrm>
            <a:prstGeom prst="rect">
              <a:avLst/>
            </a:prstGeom>
          </p:spPr>
        </p:pic>
      </p:grpSp>
    </p:spTree>
    <p:extLst>
      <p:ext uri="{BB962C8B-B14F-4D97-AF65-F5344CB8AC3E}">
        <p14:creationId xmlns:p14="http://schemas.microsoft.com/office/powerpoint/2010/main" val="637576235"/>
      </p:ext>
    </p:extLst>
  </p:cSld>
  <p:clrMap bg1="lt1" tx1="dk1" bg2="lt2" tx2="dk2" accent1="accent1" accent2="accent2" accent3="accent3" accent4="accent4" accent5="accent5" accent6="accent6" hlink="hlink" folHlink="folHlink"/>
  <p:sldLayoutIdLst>
    <p:sldLayoutId id="2147484024" r:id="rId1"/>
    <p:sldLayoutId id="2147484025" r:id="rId2"/>
    <p:sldLayoutId id="2147484026" r:id="rId3"/>
    <p:sldLayoutId id="2147484027" r:id="rId4"/>
    <p:sldLayoutId id="2147484028" r:id="rId5"/>
    <p:sldLayoutId id="2147484029" r:id="rId6"/>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nvSpPr>
        <p:spPr>
          <a:xfrm>
            <a:off x="88468" y="171644"/>
            <a:ext cx="6173436" cy="534636"/>
          </a:xfrm>
          <a:prstGeom prst="rect">
            <a:avLst/>
          </a:prstGeom>
        </p:spPr>
        <p:txBody>
          <a:bodyPr/>
          <a:lstStyle>
            <a:lvl1pPr algn="l" defTabSz="457200" rtl="0" eaLnBrk="1" latinLnBrk="0" hangingPunct="1">
              <a:spcBef>
                <a:spcPct val="0"/>
              </a:spcBef>
              <a:buNone/>
              <a:defRPr lang="en-US" sz="4000" b="0" i="0" kern="1200" dirty="0">
                <a:solidFill>
                  <a:schemeClr val="tx1"/>
                </a:solidFill>
                <a:latin typeface="Vitesse Bold"/>
                <a:ea typeface="Vitesse" charset="0"/>
                <a:cs typeface="Vitesse Bold"/>
              </a:defRPr>
            </a:lvl1pPr>
          </a:lstStyle>
          <a:p>
            <a:r>
              <a:rPr lang="en-US" sz="3600" dirty="0">
                <a:latin typeface="Vitesse" charset="0"/>
                <a:cs typeface="Vitesse" charset="0"/>
              </a:rPr>
              <a:t>Regression Analysis</a:t>
            </a:r>
          </a:p>
        </p:txBody>
      </p:sp>
      <p:sp>
        <p:nvSpPr>
          <p:cNvPr id="4" name="Text Placeholder 2"/>
          <p:cNvSpPr>
            <a:spLocks noGrp="1"/>
          </p:cNvSpPr>
          <p:nvPr/>
        </p:nvSpPr>
        <p:spPr>
          <a:xfrm>
            <a:off x="108550" y="685716"/>
            <a:ext cx="6368450" cy="1024985"/>
          </a:xfrm>
          <a:prstGeom prst="rect">
            <a:avLst/>
          </a:prstGeom>
        </p:spPr>
        <p:txBody>
          <a:bodyPr/>
          <a:lstStyle>
            <a:lvl1pPr marL="0" indent="0" algn="l" defTabSz="457200" rtl="0" eaLnBrk="1" latinLnBrk="0" hangingPunct="1">
              <a:spcBef>
                <a:spcPct val="20000"/>
              </a:spcBef>
              <a:buFont typeface="Arial"/>
              <a:buNone/>
              <a:defRPr lang="en-US" sz="3000" b="0" i="0" kern="1200" dirty="0">
                <a:solidFill>
                  <a:schemeClr val="tx2"/>
                </a:solidFill>
                <a:latin typeface="Vitesse Medium" charset="0"/>
                <a:ea typeface="Vitesse Medium" charset="0"/>
                <a:cs typeface="Vitesse Medium"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zh-CN" sz="2800" dirty="0"/>
              <a:t>Multiple</a:t>
            </a:r>
            <a:r>
              <a:rPr lang="zh-CN" altLang="en-US" sz="2800" dirty="0"/>
              <a:t> </a:t>
            </a:r>
            <a:r>
              <a:rPr lang="en-US" altLang="zh-CN" sz="2800" dirty="0"/>
              <a:t>Linear</a:t>
            </a:r>
            <a:r>
              <a:rPr lang="zh-CN" altLang="en-US" sz="2800" dirty="0"/>
              <a:t> </a:t>
            </a:r>
            <a:r>
              <a:rPr lang="en-US" altLang="zh-CN" sz="2800" dirty="0"/>
              <a:t>Regression</a:t>
            </a:r>
            <a:endParaRPr lang="en-US" sz="2800" dirty="0"/>
          </a:p>
        </p:txBody>
      </p:sp>
      <p:sp>
        <p:nvSpPr>
          <p:cNvPr id="17" name="Text Placeholder 3"/>
          <p:cNvSpPr>
            <a:spLocks noGrp="1"/>
          </p:cNvSpPr>
          <p:nvPr/>
        </p:nvSpPr>
        <p:spPr>
          <a:xfrm>
            <a:off x="117957" y="2018346"/>
            <a:ext cx="4305091" cy="432669"/>
          </a:xfrm>
          <a:prstGeom prst="rect">
            <a:avLst/>
          </a:prstGeom>
        </p:spPr>
        <p:txBody>
          <a:bodyPr anchor="ctr"/>
          <a:lstStyle>
            <a:lvl1pPr marL="0" indent="0" algn="l" defTabSz="457200" rtl="0" eaLnBrk="1" latinLnBrk="0" hangingPunct="1">
              <a:lnSpc>
                <a:spcPts val="1400"/>
              </a:lnSpc>
              <a:spcBef>
                <a:spcPct val="20000"/>
              </a:spcBef>
              <a:buFont typeface="Arial"/>
              <a:buNone/>
              <a:defRPr lang="en-US" sz="2400" b="1" kern="1200" baseline="0" dirty="0">
                <a:solidFill>
                  <a:srgbClr val="EEB21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a:p>
            <a:r>
              <a:rPr lang="en-US" dirty="0" err="1"/>
              <a:t>Nicoleta</a:t>
            </a:r>
            <a:r>
              <a:rPr lang="en-US" dirty="0"/>
              <a:t> </a:t>
            </a:r>
            <a:r>
              <a:rPr lang="en-US" dirty="0" err="1"/>
              <a:t>Serban</a:t>
            </a:r>
            <a:r>
              <a:rPr lang="en-US" dirty="0"/>
              <a:t>, Ph.D. </a:t>
            </a:r>
          </a:p>
        </p:txBody>
      </p:sp>
      <p:sp>
        <p:nvSpPr>
          <p:cNvPr id="18" name="Text Placeholder 4"/>
          <p:cNvSpPr>
            <a:spLocks noGrp="1"/>
          </p:cNvSpPr>
          <p:nvPr/>
        </p:nvSpPr>
        <p:spPr>
          <a:xfrm>
            <a:off x="108550" y="2376336"/>
            <a:ext cx="4305091" cy="254281"/>
          </a:xfrm>
          <a:prstGeom prst="rect">
            <a:avLst/>
          </a:prstGeom>
        </p:spPr>
        <p:txBody>
          <a:bodyPr/>
          <a:lstStyle>
            <a:lvl1pPr marL="0" indent="0" algn="l" defTabSz="457200" rtl="0" eaLnBrk="1" latinLnBrk="0" hangingPunct="1">
              <a:spcBef>
                <a:spcPct val="20000"/>
              </a:spcBef>
              <a:buFont typeface="Arial"/>
              <a:buNone/>
              <a:defRPr sz="1600" b="0" i="1"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Professor </a:t>
            </a:r>
          </a:p>
        </p:txBody>
      </p:sp>
      <p:sp>
        <p:nvSpPr>
          <p:cNvPr id="19" name="Text Placeholder 5"/>
          <p:cNvSpPr>
            <a:spLocks noGrp="1"/>
          </p:cNvSpPr>
          <p:nvPr/>
        </p:nvSpPr>
        <p:spPr>
          <a:xfrm>
            <a:off x="117956" y="3988340"/>
            <a:ext cx="4305091" cy="1004273"/>
          </a:xfrm>
          <a:prstGeom prst="rect">
            <a:avLst/>
          </a:prstGeom>
        </p:spPr>
        <p:txBody>
          <a:bodyPr/>
          <a:lstStyle>
            <a:lvl1pPr marL="0" indent="0" algn="l" defTabSz="457200" rtl="0" eaLnBrk="1" latinLnBrk="0" hangingPunct="1">
              <a:spcBef>
                <a:spcPct val="20000"/>
              </a:spcBef>
              <a:buFont typeface="Arial"/>
              <a:buNone/>
              <a:defRPr sz="1400" b="0" i="0" kern="1200" baseline="0">
                <a:solidFill>
                  <a:schemeClr val="tx2"/>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ct val="50000"/>
              </a:spcBef>
            </a:pPr>
            <a:r>
              <a:rPr lang="en-US" altLang="en-US" sz="2000" dirty="0"/>
              <a:t>Objectives </a:t>
            </a:r>
            <a:r>
              <a:rPr lang="en-US" altLang="zh-CN" sz="2000" dirty="0"/>
              <a:t>and</a:t>
            </a:r>
            <a:r>
              <a:rPr lang="en-US" altLang="en-US" sz="2000" dirty="0"/>
              <a:t> Examples</a:t>
            </a:r>
          </a:p>
        </p:txBody>
      </p:sp>
      <p:sp>
        <p:nvSpPr>
          <p:cNvPr id="20" name="Text Placeholder 6"/>
          <p:cNvSpPr>
            <a:spLocks noGrp="1"/>
          </p:cNvSpPr>
          <p:nvPr/>
        </p:nvSpPr>
        <p:spPr>
          <a:xfrm>
            <a:off x="117956" y="2661666"/>
            <a:ext cx="4305091" cy="322253"/>
          </a:xfrm>
          <a:prstGeom prst="rect">
            <a:avLst/>
          </a:prstGeom>
        </p:spPr>
        <p:txBody>
          <a:bodyPr/>
          <a:lstStyle>
            <a:lvl1pPr marL="0" indent="0" algn="l" defTabSz="457200" rtl="0" eaLnBrk="1" latinLnBrk="0" hangingPunct="1">
              <a:spcBef>
                <a:spcPct val="20000"/>
              </a:spcBef>
              <a:buFont typeface="Arial"/>
              <a:buNone/>
              <a:defRPr sz="1200" b="0" i="0"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School of Industrial and Systems Engineering</a:t>
            </a:r>
          </a:p>
        </p:txBody>
      </p:sp>
    </p:spTree>
    <p:extLst>
      <p:ext uri="{BB962C8B-B14F-4D97-AF65-F5344CB8AC3E}">
        <p14:creationId xmlns:p14="http://schemas.microsoft.com/office/powerpoint/2010/main" val="14313101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
          <p:cNvSpPr>
            <a:spLocks noGrp="1"/>
          </p:cNvSpPr>
          <p:nvPr>
            <p:ph type="body" sz="quarter" idx="10"/>
          </p:nvPr>
        </p:nvSpPr>
        <p:spPr>
          <a:xfrm>
            <a:off x="143478" y="112433"/>
            <a:ext cx="4727575" cy="782917"/>
          </a:xfrm>
        </p:spPr>
        <p:txBody>
          <a:bodyPr anchor="ctr">
            <a:normAutofit/>
          </a:bodyPr>
          <a:lstStyle/>
          <a:p>
            <a:pPr>
              <a:spcBef>
                <a:spcPct val="0"/>
              </a:spcBef>
            </a:pPr>
            <a:r>
              <a:rPr lang="en-US" sz="3600" dirty="0">
                <a:latin typeface="Vitesse" charset="0"/>
                <a:ea typeface="Vitesse" charset="0"/>
                <a:cs typeface="Vitesse" charset="0"/>
              </a:rPr>
              <a:t>About This Lesson</a:t>
            </a:r>
          </a:p>
        </p:txBody>
      </p:sp>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l="15820" t="7499" r="15454" b="5507"/>
          <a:stretch/>
        </p:blipFill>
        <p:spPr>
          <a:xfrm>
            <a:off x="1237534" y="1323904"/>
            <a:ext cx="2069432" cy="2619446"/>
          </a:xfrm>
          <a:prstGeom prst="rect">
            <a:avLst/>
          </a:prstGeom>
        </p:spPr>
      </p:pic>
    </p:spTree>
    <p:extLst>
      <p:ext uri="{BB962C8B-B14F-4D97-AF65-F5344CB8AC3E}">
        <p14:creationId xmlns:p14="http://schemas.microsoft.com/office/powerpoint/2010/main" val="9583001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08" y="177801"/>
            <a:ext cx="8562392" cy="717550"/>
          </a:xfrm>
        </p:spPr>
        <p:txBody>
          <a:bodyPr/>
          <a:lstStyle/>
          <a:p>
            <a:r>
              <a:rPr lang="en-US" altLang="zh-CN" sz="3600" dirty="0" smtClean="0">
                <a:latin typeface="Vitesse"/>
              </a:rPr>
              <a:t>Linear Regression: Example 1</a:t>
            </a:r>
            <a:endParaRPr lang="en-US" sz="3600" dirty="0">
              <a:latin typeface="Vitesse"/>
            </a:endParaRPr>
          </a:p>
        </p:txBody>
      </p:sp>
      <p:grpSp>
        <p:nvGrpSpPr>
          <p:cNvPr id="9" name="Group 8"/>
          <p:cNvGrpSpPr/>
          <p:nvPr/>
        </p:nvGrpSpPr>
        <p:grpSpPr>
          <a:xfrm>
            <a:off x="630045" y="1352550"/>
            <a:ext cx="7218555" cy="2829838"/>
            <a:chOff x="630045" y="1352550"/>
            <a:chExt cx="7218555" cy="2829838"/>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2315" y="1352550"/>
              <a:ext cx="4236285" cy="2829838"/>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8382" y="1711969"/>
              <a:ext cx="2239577" cy="1523066"/>
            </a:xfrm>
            <a:prstGeom prst="rect">
              <a:avLst/>
            </a:prstGeom>
          </p:spPr>
        </p:pic>
        <p:grpSp>
          <p:nvGrpSpPr>
            <p:cNvPr id="6" name="Group 5"/>
            <p:cNvGrpSpPr/>
            <p:nvPr/>
          </p:nvGrpSpPr>
          <p:grpSpPr>
            <a:xfrm>
              <a:off x="4069513" y="1733552"/>
              <a:ext cx="3118306" cy="2001306"/>
              <a:chOff x="2476500" y="1962150"/>
              <a:chExt cx="1378732" cy="1283127"/>
            </a:xfrm>
          </p:grpSpPr>
          <p:sp>
            <p:nvSpPr>
              <p:cNvPr id="5" name="TextBox 4"/>
              <p:cNvSpPr txBox="1"/>
              <p:nvPr/>
            </p:nvSpPr>
            <p:spPr>
              <a:xfrm rot="20626720">
                <a:off x="2476500" y="1962150"/>
                <a:ext cx="723900" cy="381000"/>
              </a:xfrm>
              <a:prstGeom prst="rect">
                <a:avLst/>
              </a:prstGeom>
            </p:spPr>
            <p:txBody>
              <a:bodyPr vert="horz" wrap="square" lIns="91440" tIns="45720" rIns="91440" bIns="45720" rtlCol="0">
                <a:normAutofit/>
              </a:bodyPr>
              <a:lstStyle/>
              <a:p>
                <a:pPr algn="l">
                  <a:lnSpc>
                    <a:spcPts val="1200"/>
                  </a:lnSpc>
                </a:pPr>
                <a:r>
                  <a:rPr lang="en-US" sz="4000" b="1" dirty="0">
                    <a:solidFill>
                      <a:srgbClr val="EEB211"/>
                    </a:solidFill>
                    <a:latin typeface="Helvetica"/>
                    <a:cs typeface="Helvetica"/>
                  </a:rPr>
                  <a:t>?</a:t>
                </a:r>
              </a:p>
            </p:txBody>
          </p:sp>
          <p:sp>
            <p:nvSpPr>
              <p:cNvPr id="7" name="TextBox 6"/>
              <p:cNvSpPr txBox="1"/>
              <p:nvPr/>
            </p:nvSpPr>
            <p:spPr>
              <a:xfrm rot="374389">
                <a:off x="2724639" y="2246067"/>
                <a:ext cx="723900" cy="381000"/>
              </a:xfrm>
              <a:prstGeom prst="rect">
                <a:avLst/>
              </a:prstGeom>
            </p:spPr>
            <p:txBody>
              <a:bodyPr vert="horz" wrap="square" lIns="91440" tIns="45720" rIns="91440" bIns="45720" rtlCol="0">
                <a:normAutofit/>
              </a:bodyPr>
              <a:lstStyle/>
              <a:p>
                <a:pPr algn="l">
                  <a:lnSpc>
                    <a:spcPts val="1200"/>
                  </a:lnSpc>
                </a:pPr>
                <a:r>
                  <a:rPr lang="en-US" sz="6000" b="1" dirty="0">
                    <a:solidFill>
                      <a:srgbClr val="EEB211"/>
                    </a:solidFill>
                    <a:latin typeface="Helvetica"/>
                    <a:cs typeface="Helvetica"/>
                  </a:rPr>
                  <a:t>?</a:t>
                </a:r>
              </a:p>
            </p:txBody>
          </p:sp>
          <p:sp>
            <p:nvSpPr>
              <p:cNvPr id="8" name="TextBox 7"/>
              <p:cNvSpPr txBox="1"/>
              <p:nvPr/>
            </p:nvSpPr>
            <p:spPr>
              <a:xfrm rot="1445310">
                <a:off x="2982961" y="2631107"/>
                <a:ext cx="872271" cy="614170"/>
              </a:xfrm>
              <a:prstGeom prst="rect">
                <a:avLst/>
              </a:prstGeom>
            </p:spPr>
            <p:txBody>
              <a:bodyPr vert="horz" wrap="square" lIns="91440" tIns="45720" rIns="91440" bIns="45720" rtlCol="0">
                <a:normAutofit/>
              </a:bodyPr>
              <a:lstStyle/>
              <a:p>
                <a:pPr algn="l">
                  <a:lnSpc>
                    <a:spcPts val="1200"/>
                  </a:lnSpc>
                </a:pPr>
                <a:r>
                  <a:rPr lang="en-US" sz="8000" b="1" dirty="0">
                    <a:solidFill>
                      <a:srgbClr val="EEB211"/>
                    </a:solidFill>
                    <a:latin typeface="Helvetica"/>
                    <a:cs typeface="Helvetica"/>
                  </a:rPr>
                  <a:t>?</a:t>
                </a:r>
              </a:p>
            </p:txBody>
          </p:sp>
        </p:grpSp>
        <p:sp>
          <p:nvSpPr>
            <p:cNvPr id="10" name="Rectangle 9"/>
            <p:cNvSpPr/>
            <p:nvPr/>
          </p:nvSpPr>
          <p:spPr>
            <a:xfrm rot="16200000">
              <a:off x="372282" y="2350391"/>
              <a:ext cx="761747" cy="246221"/>
            </a:xfrm>
            <a:prstGeom prst="rect">
              <a:avLst/>
            </a:prstGeom>
          </p:spPr>
          <p:txBody>
            <a:bodyPr wrap="none">
              <a:spAutoFit/>
            </a:bodyPr>
            <a:lstStyle/>
            <a:p>
              <a:pPr>
                <a:lnSpc>
                  <a:spcPts val="1200"/>
                </a:lnSpc>
              </a:pPr>
              <a:r>
                <a:rPr lang="en-US" dirty="0">
                  <a:latin typeface="Helvetica" panose="020B0604020202020204" pitchFamily="34" charset="0"/>
                  <a:cs typeface="Helvetica" panose="020B0604020202020204" pitchFamily="34" charset="0"/>
                </a:rPr>
                <a:t>Sales</a:t>
              </a:r>
            </a:p>
          </p:txBody>
        </p:sp>
        <p:sp>
          <p:nvSpPr>
            <p:cNvPr id="11" name="Rectangle 10"/>
            <p:cNvSpPr/>
            <p:nvPr/>
          </p:nvSpPr>
          <p:spPr>
            <a:xfrm>
              <a:off x="1188455" y="3235035"/>
              <a:ext cx="1659429" cy="369332"/>
            </a:xfrm>
            <a:prstGeom prst="rect">
              <a:avLst/>
            </a:prstGeom>
          </p:spPr>
          <p:txBody>
            <a:bodyPr wrap="none">
              <a:spAutoFit/>
            </a:bodyPr>
            <a:lstStyle/>
            <a:p>
              <a:r>
                <a:rPr lang="en-US" dirty="0">
                  <a:latin typeface="Helvetica" panose="020B0604020202020204" pitchFamily="34" charset="0"/>
                  <a:cs typeface="Helvetica" panose="020B0604020202020204" pitchFamily="34" charset="0"/>
                </a:rPr>
                <a:t>Advertisement</a:t>
              </a:r>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Box 1"/>
          <p:cNvSpPr txBox="1">
            <a:spLocks noChangeArrowheads="1"/>
          </p:cNvSpPr>
          <p:nvPr/>
        </p:nvSpPr>
        <p:spPr bwMode="auto">
          <a:xfrm>
            <a:off x="133350" y="1084977"/>
            <a:ext cx="8153400"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50000"/>
              </a:spcBef>
            </a:pPr>
            <a:r>
              <a:rPr lang="en-US" altLang="en-US" b="1" dirty="0">
                <a:latin typeface="Helvetica" panose="020B0604020202020204" pitchFamily="34" charset="0"/>
                <a:ea typeface="Helvetica Neue" charset="0"/>
                <a:cs typeface="Helvetica" panose="020B0604020202020204" pitchFamily="34" charset="0"/>
              </a:rPr>
              <a:t>The response variable is:</a:t>
            </a:r>
          </a:p>
          <a:p>
            <a:pPr marL="685800" lvl="1" eaLnBrk="1" hangingPunct="1">
              <a:spcBef>
                <a:spcPts val="0"/>
              </a:spcBef>
            </a:pPr>
            <a:r>
              <a:rPr lang="en-US" altLang="en-US" b="1" i="1" dirty="0">
                <a:latin typeface="Helvetica" panose="020B0604020202020204" pitchFamily="34" charset="0"/>
                <a:ea typeface="Helvetica Neue" charset="0"/>
                <a:cs typeface="Helvetica" panose="020B0604020202020204" pitchFamily="34" charset="0"/>
              </a:rPr>
              <a:t>Y</a:t>
            </a:r>
            <a:r>
              <a:rPr lang="en-US" altLang="en-US" dirty="0">
                <a:latin typeface="Helvetica" panose="020B0604020202020204" pitchFamily="34" charset="0"/>
                <a:ea typeface="Helvetica Neue" charset="0"/>
                <a:cs typeface="Helvetica" panose="020B0604020202020204" pitchFamily="34" charset="0"/>
              </a:rPr>
              <a:t> = Sales (in thousands of dollars) </a:t>
            </a:r>
          </a:p>
          <a:p>
            <a:pPr eaLnBrk="1" hangingPunct="1">
              <a:spcBef>
                <a:spcPts val="0"/>
              </a:spcBef>
            </a:pPr>
            <a:endParaRPr lang="en-US" altLang="en-US" b="1" dirty="0">
              <a:latin typeface="Helvetica" panose="020B0604020202020204" pitchFamily="34" charset="0"/>
              <a:ea typeface="Helvetica Neue" charset="0"/>
              <a:cs typeface="Helvetica" panose="020B0604020202020204" pitchFamily="34" charset="0"/>
            </a:endParaRPr>
          </a:p>
          <a:p>
            <a:pPr eaLnBrk="1" hangingPunct="1">
              <a:spcBef>
                <a:spcPts val="0"/>
              </a:spcBef>
            </a:pPr>
            <a:r>
              <a:rPr lang="en-US" altLang="en-US" b="1" dirty="0">
                <a:latin typeface="Helvetica" panose="020B0604020202020204" pitchFamily="34" charset="0"/>
                <a:ea typeface="Helvetica Neue" charset="0"/>
                <a:cs typeface="Helvetica" panose="020B0604020202020204" pitchFamily="34" charset="0"/>
              </a:rPr>
              <a:t>The predicting variables are:</a:t>
            </a:r>
          </a:p>
          <a:p>
            <a:pPr marL="685800" lvl="1" eaLnBrk="1" hangingPunct="1"/>
            <a:r>
              <a:rPr lang="en-US" altLang="en-US" b="1" i="1" dirty="0">
                <a:latin typeface="Helvetica" panose="020B0604020202020204" pitchFamily="34" charset="0"/>
                <a:ea typeface="Helvetica Neue" charset="0"/>
                <a:cs typeface="Helvetica" panose="020B0604020202020204" pitchFamily="34" charset="0"/>
              </a:rPr>
              <a:t>X</a:t>
            </a:r>
            <a:r>
              <a:rPr lang="en-US" altLang="en-US" baseline="-25000" dirty="0">
                <a:latin typeface="Helvetica" panose="020B0604020202020204" pitchFamily="34" charset="0"/>
                <a:ea typeface="Helvetica Neue" charset="0"/>
                <a:cs typeface="Helvetica" panose="020B0604020202020204" pitchFamily="34" charset="0"/>
              </a:rPr>
              <a:t>1</a:t>
            </a:r>
            <a:r>
              <a:rPr lang="en-US" altLang="en-US" dirty="0">
                <a:latin typeface="Helvetica" panose="020B0604020202020204" pitchFamily="34" charset="0"/>
                <a:ea typeface="Helvetica Neue" charset="0"/>
                <a:cs typeface="Helvetica" panose="020B0604020202020204" pitchFamily="34" charset="0"/>
              </a:rPr>
              <a:t> = Amount (in hundreds of dollars) spent on advertising </a:t>
            </a:r>
          </a:p>
          <a:p>
            <a:pPr marL="685800" lvl="1" eaLnBrk="1" hangingPunct="1"/>
            <a:r>
              <a:rPr lang="en-US" altLang="en-US" b="1" i="1" dirty="0">
                <a:latin typeface="Helvetica" panose="020B0604020202020204" pitchFamily="34" charset="0"/>
                <a:ea typeface="Helvetica Neue" charset="0"/>
                <a:cs typeface="Helvetica" panose="020B0604020202020204" pitchFamily="34" charset="0"/>
              </a:rPr>
              <a:t>X</a:t>
            </a:r>
            <a:r>
              <a:rPr lang="en-US" altLang="en-US" baseline="-25000" dirty="0">
                <a:latin typeface="Helvetica" panose="020B0604020202020204" pitchFamily="34" charset="0"/>
                <a:ea typeface="Helvetica Neue" charset="0"/>
                <a:cs typeface="Helvetica" panose="020B0604020202020204" pitchFamily="34" charset="0"/>
              </a:rPr>
              <a:t>2</a:t>
            </a:r>
            <a:r>
              <a:rPr lang="en-US" altLang="en-US" dirty="0">
                <a:latin typeface="Helvetica" panose="020B0604020202020204" pitchFamily="34" charset="0"/>
                <a:ea typeface="Helvetica Neue" charset="0"/>
                <a:cs typeface="Helvetica" panose="020B0604020202020204" pitchFamily="34" charset="0"/>
              </a:rPr>
              <a:t> = Total amount of bonuses paid </a:t>
            </a:r>
          </a:p>
          <a:p>
            <a:pPr marL="685800" lvl="1" eaLnBrk="1" hangingPunct="1"/>
            <a:r>
              <a:rPr lang="en-US" altLang="en-US" b="1" i="1" dirty="0">
                <a:latin typeface="Helvetica" panose="020B0604020202020204" pitchFamily="34" charset="0"/>
                <a:ea typeface="Helvetica Neue" charset="0"/>
                <a:cs typeface="Helvetica" panose="020B0604020202020204" pitchFamily="34" charset="0"/>
              </a:rPr>
              <a:t>X</a:t>
            </a:r>
            <a:r>
              <a:rPr lang="en-US" altLang="en-US" baseline="-25000" dirty="0">
                <a:latin typeface="Helvetica" panose="020B0604020202020204" pitchFamily="34" charset="0"/>
                <a:ea typeface="Helvetica Neue" charset="0"/>
                <a:cs typeface="Helvetica" panose="020B0604020202020204" pitchFamily="34" charset="0"/>
              </a:rPr>
              <a:t>3</a:t>
            </a:r>
            <a:r>
              <a:rPr lang="en-US" altLang="en-US" dirty="0">
                <a:latin typeface="Helvetica" panose="020B0604020202020204" pitchFamily="34" charset="0"/>
                <a:ea typeface="Helvetica Neue" charset="0"/>
                <a:cs typeface="Helvetica" panose="020B0604020202020204" pitchFamily="34" charset="0"/>
              </a:rPr>
              <a:t> = Market share in each territory</a:t>
            </a:r>
          </a:p>
          <a:p>
            <a:pPr marL="685800" lvl="1" eaLnBrk="1" hangingPunct="1"/>
            <a:r>
              <a:rPr lang="en-US" altLang="en-US" b="1" i="1" dirty="0">
                <a:latin typeface="Helvetica" panose="020B0604020202020204" pitchFamily="34" charset="0"/>
                <a:ea typeface="Helvetica Neue" charset="0"/>
                <a:cs typeface="Helvetica" panose="020B0604020202020204" pitchFamily="34" charset="0"/>
              </a:rPr>
              <a:t>X</a:t>
            </a:r>
            <a:r>
              <a:rPr lang="en-US" altLang="en-US" baseline="-25000" dirty="0">
                <a:latin typeface="Helvetica" panose="020B0604020202020204" pitchFamily="34" charset="0"/>
                <a:ea typeface="Helvetica Neue" charset="0"/>
                <a:cs typeface="Helvetica" panose="020B0604020202020204" pitchFamily="34" charset="0"/>
              </a:rPr>
              <a:t>4</a:t>
            </a:r>
            <a:r>
              <a:rPr lang="en-US" altLang="en-US" dirty="0">
                <a:latin typeface="Helvetica" panose="020B0604020202020204" pitchFamily="34" charset="0"/>
                <a:ea typeface="Helvetica Neue" charset="0"/>
                <a:cs typeface="Helvetica" panose="020B0604020202020204" pitchFamily="34" charset="0"/>
              </a:rPr>
              <a:t> = Largest competitor's sales</a:t>
            </a:r>
          </a:p>
          <a:p>
            <a:pPr marL="685800" lvl="1" eaLnBrk="1" hangingPunct="1"/>
            <a:r>
              <a:rPr lang="en-US" altLang="en-US" b="1" i="1" dirty="0">
                <a:latin typeface="Helvetica" panose="020B0604020202020204" pitchFamily="34" charset="0"/>
                <a:ea typeface="Helvetica Neue" charset="0"/>
                <a:cs typeface="Helvetica" panose="020B0604020202020204" pitchFamily="34" charset="0"/>
              </a:rPr>
              <a:t>X</a:t>
            </a:r>
            <a:r>
              <a:rPr lang="en-US" altLang="en-US" baseline="-25000" dirty="0">
                <a:latin typeface="Helvetica" panose="020B0604020202020204" pitchFamily="34" charset="0"/>
                <a:ea typeface="Helvetica Neue" charset="0"/>
                <a:cs typeface="Helvetica" panose="020B0604020202020204" pitchFamily="34" charset="0"/>
              </a:rPr>
              <a:t>5</a:t>
            </a:r>
            <a:r>
              <a:rPr lang="en-US" altLang="en-US" dirty="0">
                <a:latin typeface="Helvetica" panose="020B0604020202020204" pitchFamily="34" charset="0"/>
                <a:ea typeface="Helvetica Neue" charset="0"/>
                <a:cs typeface="Helvetica" panose="020B0604020202020204" pitchFamily="34" charset="0"/>
              </a:rPr>
              <a:t> = Region in which territory is located (1 = south, 2 = west, 3 = </a:t>
            </a:r>
            <a:r>
              <a:rPr lang="en-US" altLang="en-US" dirty="0" err="1">
                <a:latin typeface="Helvetica" panose="020B0604020202020204" pitchFamily="34" charset="0"/>
                <a:ea typeface="Helvetica Neue" charset="0"/>
                <a:cs typeface="Helvetica" panose="020B0604020202020204" pitchFamily="34" charset="0"/>
              </a:rPr>
              <a:t>midwest</a:t>
            </a:r>
            <a:r>
              <a:rPr lang="en-US" altLang="en-US" dirty="0">
                <a:latin typeface="Helvetica" panose="020B0604020202020204" pitchFamily="34" charset="0"/>
                <a:ea typeface="Helvetica Neue" charset="0"/>
                <a:cs typeface="Helvetica" panose="020B0604020202020204" pitchFamily="34" charset="0"/>
              </a:rPr>
              <a:t>)</a:t>
            </a:r>
          </a:p>
        </p:txBody>
      </p:sp>
      <p:sp>
        <p:nvSpPr>
          <p:cNvPr id="2" name="Title 1"/>
          <p:cNvSpPr>
            <a:spLocks noGrp="1"/>
          </p:cNvSpPr>
          <p:nvPr>
            <p:ph type="title"/>
          </p:nvPr>
        </p:nvSpPr>
        <p:spPr>
          <a:xfrm>
            <a:off x="107950" y="177801"/>
            <a:ext cx="8562392" cy="717550"/>
          </a:xfrm>
        </p:spPr>
        <p:txBody>
          <a:bodyPr/>
          <a:lstStyle/>
          <a:p>
            <a:r>
              <a:rPr lang="en-US" altLang="zh-CN" sz="3600" dirty="0" smtClean="0">
                <a:latin typeface="Vitesse"/>
              </a:rPr>
              <a:t>Linear Regression: Data Example 1</a:t>
            </a:r>
            <a:endParaRPr lang="en-US" sz="3600" dirty="0">
              <a:latin typeface="Vitesse"/>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31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1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315">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3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07950" y="177800"/>
            <a:ext cx="8562392" cy="620672"/>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spcAft>
                <a:spcPts val="0"/>
              </a:spcAft>
            </a:pPr>
            <a:r>
              <a:rPr lang="en-US" altLang="zh-CN" sz="3600" dirty="0">
                <a:latin typeface="Vitesse"/>
              </a:rPr>
              <a:t>Linear Regression: Example 2</a:t>
            </a:r>
            <a:endParaRPr lang="en-US" sz="3600" dirty="0">
              <a:latin typeface="Vitesse"/>
            </a:endParaRP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4235" y="1358900"/>
            <a:ext cx="4370515" cy="2979219"/>
          </a:xfrm>
          <a:prstGeom prst="rect">
            <a:avLst/>
          </a:prstGeom>
        </p:spPr>
      </p:pic>
      <p:sp>
        <p:nvSpPr>
          <p:cNvPr id="3" name="Rectangle 2"/>
          <p:cNvSpPr/>
          <p:nvPr/>
        </p:nvSpPr>
        <p:spPr>
          <a:xfrm>
            <a:off x="5390208" y="2682009"/>
            <a:ext cx="2971800" cy="276999"/>
          </a:xfrm>
          <a:prstGeom prst="rect">
            <a:avLst/>
          </a:prstGeom>
        </p:spPr>
        <p:txBody>
          <a:bodyPr wrap="square">
            <a:spAutoFit/>
          </a:bodyPr>
          <a:lstStyle/>
          <a:p>
            <a:r>
              <a:rPr lang="en-US" altLang="en-US" sz="1200" dirty="0">
                <a:latin typeface="Helvetica" panose="020B0604020202020204" pitchFamily="34" charset="0"/>
                <a:ea typeface="Helvetica Neue" charset="0"/>
                <a:cs typeface="Helvetica" panose="020B0604020202020204" pitchFamily="34" charset="0"/>
              </a:rPr>
              <a:t>790 (South Carolina) - 1088 (Iowa)</a:t>
            </a:r>
            <a:endParaRPr lang="en-US" sz="1200" dirty="0">
              <a:latin typeface="Helvetica" panose="020B0604020202020204" pitchFamily="34" charset="0"/>
              <a:cs typeface="Helvetica" panose="020B0604020202020204" pitchFamily="34" charset="0"/>
            </a:endParaRPr>
          </a:p>
        </p:txBody>
      </p:sp>
      <p:sp>
        <p:nvSpPr>
          <p:cNvPr id="6" name="Rectangle 5"/>
          <p:cNvSpPr/>
          <p:nvPr/>
        </p:nvSpPr>
        <p:spPr>
          <a:xfrm>
            <a:off x="5390208" y="2355850"/>
            <a:ext cx="3404542" cy="307777"/>
          </a:xfrm>
          <a:prstGeom prst="rect">
            <a:avLst/>
          </a:prstGeom>
        </p:spPr>
        <p:txBody>
          <a:bodyPr wrap="square">
            <a:spAutoFit/>
          </a:bodyPr>
          <a:lstStyle/>
          <a:p>
            <a:r>
              <a:rPr lang="en-US" altLang="en-US" sz="1400" dirty="0">
                <a:latin typeface="Helvetica" panose="020B0604020202020204" pitchFamily="34" charset="0"/>
                <a:ea typeface="Helvetica Neue" charset="0"/>
                <a:cs typeface="Helvetica" panose="020B0604020202020204" pitchFamily="34" charset="0"/>
              </a:rPr>
              <a:t>SAT Mean Score by State – Year 1982</a:t>
            </a:r>
            <a:endParaRPr lang="en-US" sz="1400" dirty="0">
              <a:latin typeface="Helvetica" panose="020B0604020202020204" pitchFamily="34" charset="0"/>
              <a:cs typeface="Helvetica" panose="020B0604020202020204"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Box 1"/>
          <p:cNvSpPr txBox="1">
            <a:spLocks noChangeArrowheads="1"/>
          </p:cNvSpPr>
          <p:nvPr/>
        </p:nvSpPr>
        <p:spPr bwMode="auto">
          <a:xfrm>
            <a:off x="127000" y="1092180"/>
            <a:ext cx="86868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50000"/>
              </a:spcBef>
            </a:pPr>
            <a:r>
              <a:rPr lang="en-US" altLang="en-US" b="1" dirty="0">
                <a:latin typeface="Helvetica" panose="020B0604020202020204" pitchFamily="34" charset="0"/>
                <a:ea typeface="Helvetica Neue" charset="0"/>
                <a:cs typeface="Helvetica" panose="020B0604020202020204" pitchFamily="34" charset="0"/>
              </a:rPr>
              <a:t>The response variable is:</a:t>
            </a:r>
          </a:p>
          <a:p>
            <a:pPr marL="869950" lvl="1" indent="-493713" eaLnBrk="1" hangingPunct="1">
              <a:spcBef>
                <a:spcPts val="0"/>
              </a:spcBef>
            </a:pPr>
            <a:r>
              <a:rPr lang="en-US" altLang="en-US" b="1" i="1" dirty="0">
                <a:latin typeface="Helvetica" panose="020B0604020202020204" pitchFamily="34" charset="0"/>
                <a:ea typeface="Helvetica Neue" charset="0"/>
                <a:cs typeface="Helvetica" panose="020B0604020202020204" pitchFamily="34" charset="0"/>
              </a:rPr>
              <a:t>Y</a:t>
            </a:r>
            <a:r>
              <a:rPr lang="en-US" altLang="en-US" dirty="0">
                <a:latin typeface="Helvetica" panose="020B0604020202020204" pitchFamily="34" charset="0"/>
                <a:ea typeface="Helvetica Neue" charset="0"/>
                <a:cs typeface="Helvetica" panose="020B0604020202020204" pitchFamily="34" charset="0"/>
              </a:rPr>
              <a:t> = State average SAT score (verbal and quantitative combined)</a:t>
            </a:r>
          </a:p>
          <a:p>
            <a:pPr eaLnBrk="1" hangingPunct="1">
              <a:spcBef>
                <a:spcPts val="0"/>
              </a:spcBef>
            </a:pPr>
            <a:endParaRPr lang="en-US" altLang="en-US" b="1" dirty="0">
              <a:latin typeface="Helvetica" panose="020B0604020202020204" pitchFamily="34" charset="0"/>
              <a:ea typeface="Helvetica Neue" charset="0"/>
              <a:cs typeface="Helvetica" panose="020B0604020202020204" pitchFamily="34" charset="0"/>
            </a:endParaRPr>
          </a:p>
          <a:p>
            <a:pPr eaLnBrk="1" hangingPunct="1">
              <a:spcBef>
                <a:spcPts val="0"/>
              </a:spcBef>
            </a:pPr>
            <a:r>
              <a:rPr lang="en-US" altLang="en-US" b="1" dirty="0">
                <a:latin typeface="Helvetica" panose="020B0604020202020204" pitchFamily="34" charset="0"/>
                <a:ea typeface="Helvetica Neue" charset="0"/>
                <a:cs typeface="Helvetica" panose="020B0604020202020204" pitchFamily="34" charset="0"/>
              </a:rPr>
              <a:t>The predicting variables are:</a:t>
            </a:r>
          </a:p>
          <a:p>
            <a:pPr marL="882650" lvl="1" indent="-493713" eaLnBrk="1" hangingPunct="1">
              <a:spcBef>
                <a:spcPts val="0"/>
              </a:spcBef>
            </a:pPr>
            <a:r>
              <a:rPr lang="en-US" altLang="en-US" b="1" i="1" dirty="0">
                <a:latin typeface="Helvetica" panose="020B0604020202020204" pitchFamily="34" charset="0"/>
                <a:ea typeface="Helvetica Neue" charset="0"/>
                <a:cs typeface="Helvetica" panose="020B0604020202020204" pitchFamily="34" charset="0"/>
              </a:rPr>
              <a:t>X</a:t>
            </a:r>
            <a:r>
              <a:rPr lang="en-US" altLang="en-US" baseline="-25000" dirty="0">
                <a:latin typeface="Helvetica" panose="020B0604020202020204" pitchFamily="34" charset="0"/>
                <a:ea typeface="Helvetica Neue" charset="0"/>
                <a:cs typeface="Helvetica" panose="020B0604020202020204" pitchFamily="34" charset="0"/>
              </a:rPr>
              <a:t>1</a:t>
            </a:r>
            <a:r>
              <a:rPr lang="en-US" altLang="en-US" dirty="0">
                <a:latin typeface="Helvetica" panose="020B0604020202020204" pitchFamily="34" charset="0"/>
                <a:ea typeface="Helvetica Neue" charset="0"/>
                <a:cs typeface="Helvetica" panose="020B0604020202020204" pitchFamily="34" charset="0"/>
              </a:rPr>
              <a:t> = % of total eligible high school seniors in the state who took the exam</a:t>
            </a:r>
          </a:p>
          <a:p>
            <a:pPr marL="869950" lvl="1" indent="-493713" eaLnBrk="1" hangingPunct="1">
              <a:spcBef>
                <a:spcPts val="0"/>
              </a:spcBef>
            </a:pPr>
            <a:r>
              <a:rPr lang="en-US" altLang="en-US" b="1" i="1" dirty="0">
                <a:latin typeface="Helvetica" panose="020B0604020202020204" pitchFamily="34" charset="0"/>
                <a:ea typeface="Helvetica Neue" charset="0"/>
                <a:cs typeface="Helvetica" panose="020B0604020202020204" pitchFamily="34" charset="0"/>
              </a:rPr>
              <a:t>X</a:t>
            </a:r>
            <a:r>
              <a:rPr lang="en-US" altLang="en-US" baseline="-25000" dirty="0">
                <a:latin typeface="Helvetica" panose="020B0604020202020204" pitchFamily="34" charset="0"/>
                <a:ea typeface="Helvetica Neue" charset="0"/>
                <a:cs typeface="Helvetica" panose="020B0604020202020204" pitchFamily="34" charset="0"/>
              </a:rPr>
              <a:t>2</a:t>
            </a:r>
            <a:r>
              <a:rPr lang="en-US" altLang="en-US" dirty="0">
                <a:latin typeface="Helvetica" panose="020B0604020202020204" pitchFamily="34" charset="0"/>
                <a:ea typeface="Helvetica Neue" charset="0"/>
                <a:cs typeface="Helvetica" panose="020B0604020202020204" pitchFamily="34" charset="0"/>
              </a:rPr>
              <a:t> = Median income of families of test takers, in hundreds of dollars</a:t>
            </a:r>
          </a:p>
          <a:p>
            <a:pPr marL="869950" lvl="1" indent="-493713" eaLnBrk="1" hangingPunct="1">
              <a:spcBef>
                <a:spcPts val="0"/>
              </a:spcBef>
            </a:pPr>
            <a:r>
              <a:rPr lang="en-US" altLang="en-US" b="1" i="1" dirty="0">
                <a:latin typeface="Helvetica" panose="020B0604020202020204" pitchFamily="34" charset="0"/>
                <a:ea typeface="Helvetica Neue" charset="0"/>
                <a:cs typeface="Helvetica" panose="020B0604020202020204" pitchFamily="34" charset="0"/>
              </a:rPr>
              <a:t>X</a:t>
            </a:r>
            <a:r>
              <a:rPr lang="en-US" altLang="en-US" baseline="-25000" dirty="0">
                <a:latin typeface="Helvetica" panose="020B0604020202020204" pitchFamily="34" charset="0"/>
                <a:ea typeface="Helvetica Neue" charset="0"/>
                <a:cs typeface="Helvetica" panose="020B0604020202020204" pitchFamily="34" charset="0"/>
              </a:rPr>
              <a:t>3</a:t>
            </a:r>
            <a:r>
              <a:rPr lang="en-US" altLang="en-US" dirty="0">
                <a:latin typeface="Helvetica" panose="020B0604020202020204" pitchFamily="34" charset="0"/>
                <a:ea typeface="Helvetica Neue" charset="0"/>
                <a:cs typeface="Helvetica" panose="020B0604020202020204" pitchFamily="34" charset="0"/>
              </a:rPr>
              <a:t> = Average number of years that test takers had in social sciences, natural sciences, and humanities</a:t>
            </a:r>
          </a:p>
          <a:p>
            <a:pPr marL="869950" lvl="1" indent="-493713" eaLnBrk="1" hangingPunct="1">
              <a:spcBef>
                <a:spcPts val="0"/>
              </a:spcBef>
            </a:pPr>
            <a:r>
              <a:rPr lang="en-US" altLang="en-US" b="1" i="1" dirty="0">
                <a:latin typeface="Helvetica" panose="020B0604020202020204" pitchFamily="34" charset="0"/>
                <a:ea typeface="Helvetica Neue" charset="0"/>
                <a:cs typeface="Helvetica" panose="020B0604020202020204" pitchFamily="34" charset="0"/>
              </a:rPr>
              <a:t>X</a:t>
            </a:r>
            <a:r>
              <a:rPr lang="en-US" altLang="en-US" baseline="-25000" dirty="0">
                <a:latin typeface="Helvetica" panose="020B0604020202020204" pitchFamily="34" charset="0"/>
                <a:ea typeface="Helvetica Neue" charset="0"/>
                <a:cs typeface="Helvetica" panose="020B0604020202020204" pitchFamily="34" charset="0"/>
              </a:rPr>
              <a:t>4</a:t>
            </a:r>
            <a:r>
              <a:rPr lang="en-US" altLang="en-US" dirty="0">
                <a:latin typeface="Helvetica" panose="020B0604020202020204" pitchFamily="34" charset="0"/>
                <a:ea typeface="Helvetica Neue" charset="0"/>
                <a:cs typeface="Helvetica" panose="020B0604020202020204" pitchFamily="34" charset="0"/>
              </a:rPr>
              <a:t> = % of test takers who attended public schools</a:t>
            </a:r>
          </a:p>
          <a:p>
            <a:pPr marL="869950" lvl="1" indent="-493713" eaLnBrk="1" hangingPunct="1">
              <a:spcBef>
                <a:spcPts val="0"/>
              </a:spcBef>
            </a:pPr>
            <a:r>
              <a:rPr lang="en-US" altLang="en-US" b="1" i="1" dirty="0">
                <a:latin typeface="Helvetica" panose="020B0604020202020204" pitchFamily="34" charset="0"/>
                <a:ea typeface="Helvetica Neue" charset="0"/>
                <a:cs typeface="Helvetica" panose="020B0604020202020204" pitchFamily="34" charset="0"/>
              </a:rPr>
              <a:t>X</a:t>
            </a:r>
            <a:r>
              <a:rPr lang="en-US" altLang="en-US" baseline="-25000" dirty="0">
                <a:latin typeface="Helvetica" panose="020B0604020202020204" pitchFamily="34" charset="0"/>
                <a:ea typeface="Helvetica Neue" charset="0"/>
                <a:cs typeface="Helvetica" panose="020B0604020202020204" pitchFamily="34" charset="0"/>
              </a:rPr>
              <a:t>5</a:t>
            </a:r>
            <a:r>
              <a:rPr lang="en-US" altLang="en-US" dirty="0">
                <a:latin typeface="Helvetica" panose="020B0604020202020204" pitchFamily="34" charset="0"/>
                <a:ea typeface="Helvetica Neue" charset="0"/>
                <a:cs typeface="Helvetica" panose="020B0604020202020204" pitchFamily="34" charset="0"/>
              </a:rPr>
              <a:t> = State expenditure on secondary schools, in hundreds of dollars per student</a:t>
            </a:r>
          </a:p>
          <a:p>
            <a:pPr marL="869950" lvl="1" indent="-493713" eaLnBrk="1" hangingPunct="1">
              <a:spcBef>
                <a:spcPts val="0"/>
              </a:spcBef>
            </a:pPr>
            <a:r>
              <a:rPr lang="en-US" altLang="en-US" b="1" i="1" dirty="0">
                <a:latin typeface="Helvetica" panose="020B0604020202020204" pitchFamily="34" charset="0"/>
                <a:ea typeface="Helvetica Neue" charset="0"/>
                <a:cs typeface="Helvetica" panose="020B0604020202020204" pitchFamily="34" charset="0"/>
              </a:rPr>
              <a:t>X</a:t>
            </a:r>
            <a:r>
              <a:rPr lang="en-US" altLang="en-US" baseline="-25000" dirty="0">
                <a:latin typeface="Helvetica" panose="020B0604020202020204" pitchFamily="34" charset="0"/>
                <a:ea typeface="Helvetica Neue" charset="0"/>
                <a:cs typeface="Helvetica" panose="020B0604020202020204" pitchFamily="34" charset="0"/>
              </a:rPr>
              <a:t>6</a:t>
            </a:r>
            <a:r>
              <a:rPr lang="en-US" altLang="en-US" dirty="0">
                <a:latin typeface="Helvetica" panose="020B0604020202020204" pitchFamily="34" charset="0"/>
                <a:ea typeface="Helvetica Neue" charset="0"/>
                <a:cs typeface="Helvetica" panose="020B0604020202020204" pitchFamily="34" charset="0"/>
              </a:rPr>
              <a:t> = Median percentile of ranking of test takers within their secondary school classes</a:t>
            </a:r>
          </a:p>
        </p:txBody>
      </p:sp>
      <p:sp>
        <p:nvSpPr>
          <p:cNvPr id="4" name="Title 1"/>
          <p:cNvSpPr txBox="1">
            <a:spLocks/>
          </p:cNvSpPr>
          <p:nvPr/>
        </p:nvSpPr>
        <p:spPr>
          <a:xfrm>
            <a:off x="107950" y="177801"/>
            <a:ext cx="8562392" cy="717550"/>
          </a:xfrm>
          <a:prstGeom prst="rect">
            <a:avLst/>
          </a:prstGeom>
        </p:spPr>
        <p:txBody>
          <a:bodyPr/>
          <a:lstStyle>
            <a:lvl1pPr algn="l" defTabSz="457200" rtl="0" eaLnBrk="1" latinLnBrk="0" hangingPunct="1">
              <a:spcBef>
                <a:spcPct val="0"/>
              </a:spcBef>
              <a:buNone/>
              <a:defRPr lang="en-US" sz="3200" kern="1200" dirty="0">
                <a:solidFill>
                  <a:schemeClr val="tx1"/>
                </a:solidFill>
                <a:latin typeface="Vitesse Bold"/>
                <a:ea typeface="+mj-ea"/>
                <a:cs typeface="Vitesse Bold"/>
              </a:defRPr>
            </a:lvl1pPr>
          </a:lstStyle>
          <a:p>
            <a:pPr fontAlgn="auto">
              <a:spcAft>
                <a:spcPts val="0"/>
              </a:spcAft>
            </a:pPr>
            <a:r>
              <a:rPr lang="en-US" altLang="zh-CN" sz="3600" dirty="0" smtClean="0">
                <a:latin typeface="Vitesse"/>
              </a:rPr>
              <a:t>Linear Regression: Data Example 2</a:t>
            </a:r>
            <a:endParaRPr lang="en-US" sz="3600" dirty="0">
              <a:latin typeface="Vitesse"/>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7">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7">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7">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7">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7">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38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bicycle, outdoor, parked, rack&#10;&#10;Description automatically generated">
            <a:extLst>
              <a:ext uri="{FF2B5EF4-FFF2-40B4-BE49-F238E27FC236}">
                <a16:creationId xmlns:a16="http://schemas.microsoft.com/office/drawing/2014/main" id="{C0B17DC7-4FA6-4008-8596-E06AC2502E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948" y="1358901"/>
            <a:ext cx="3990975" cy="2660650"/>
          </a:xfrm>
          <a:prstGeom prst="rect">
            <a:avLst/>
          </a:prstGeom>
        </p:spPr>
      </p:pic>
      <p:sp>
        <p:nvSpPr>
          <p:cNvPr id="6" name="Rectangle 5">
            <a:extLst>
              <a:ext uri="{FF2B5EF4-FFF2-40B4-BE49-F238E27FC236}">
                <a16:creationId xmlns:a16="http://schemas.microsoft.com/office/drawing/2014/main" id="{A592315F-BECE-4D34-86FD-7B1A1B08B0CE}"/>
              </a:ext>
            </a:extLst>
          </p:cNvPr>
          <p:cNvSpPr/>
          <p:nvPr/>
        </p:nvSpPr>
        <p:spPr>
          <a:xfrm>
            <a:off x="5384800" y="1256308"/>
            <a:ext cx="3429000" cy="2893100"/>
          </a:xfrm>
          <a:prstGeom prst="rect">
            <a:avLst/>
          </a:prstGeom>
        </p:spPr>
        <p:txBody>
          <a:bodyPr wrap="square">
            <a:spAutoFit/>
          </a:bodyPr>
          <a:lstStyle/>
          <a:p>
            <a:r>
              <a:rPr lang="en-US" sz="1600" b="1" dirty="0">
                <a:latin typeface="Helvetica" panose="020B0604020202020204" pitchFamily="34" charset="0"/>
                <a:cs typeface="Helvetica" panose="020B0604020202020204" pitchFamily="34" charset="0"/>
              </a:rPr>
              <a:t>Bike sharing systems are of great interest due to their important role in traffic management.</a:t>
            </a:r>
          </a:p>
          <a:p>
            <a:endParaRPr lang="en-US" sz="1600" b="1" dirty="0">
              <a:latin typeface="Helvetica" panose="020B0604020202020204" pitchFamily="34" charset="0"/>
              <a:cs typeface="Helvetica" panose="020B0604020202020204" pitchFamily="34" charset="0"/>
            </a:endParaRPr>
          </a:p>
          <a:p>
            <a:r>
              <a:rPr lang="en-US" sz="1600" b="1" dirty="0">
                <a:latin typeface="Helvetica" panose="020B0604020202020204" pitchFamily="34" charset="0"/>
                <a:cs typeface="Helvetica" panose="020B0604020202020204" pitchFamily="34" charset="0"/>
              </a:rPr>
              <a:t>Dataset: </a:t>
            </a:r>
            <a:r>
              <a:rPr lang="en-US" sz="1600" dirty="0" smtClean="0">
                <a:latin typeface="Helvetica" panose="020B0604020202020204" pitchFamily="34" charset="0"/>
                <a:cs typeface="Helvetica" panose="020B0604020202020204" pitchFamily="34" charset="0"/>
              </a:rPr>
              <a:t>Historical </a:t>
            </a:r>
            <a:r>
              <a:rPr lang="en-US" sz="1600" dirty="0">
                <a:latin typeface="Helvetica" panose="020B0604020202020204" pitchFamily="34" charset="0"/>
                <a:cs typeface="Helvetica" panose="020B0604020202020204" pitchFamily="34" charset="0"/>
              </a:rPr>
              <a:t>data for years 2011-2012 for the bike sharing system in Washington D.C.</a:t>
            </a:r>
          </a:p>
          <a:p>
            <a:endParaRPr lang="en-US" sz="1600" dirty="0">
              <a:latin typeface="Helvetica" panose="020B0604020202020204" pitchFamily="34" charset="0"/>
              <a:cs typeface="Helvetica" panose="020B0604020202020204" pitchFamily="34" charset="0"/>
            </a:endParaRPr>
          </a:p>
          <a:p>
            <a:r>
              <a:rPr lang="en-US" sz="1600" b="1" dirty="0">
                <a:latin typeface="Helvetica" panose="020B0604020202020204" pitchFamily="34" charset="0"/>
                <a:cs typeface="Helvetica" panose="020B0604020202020204" pitchFamily="34" charset="0"/>
              </a:rPr>
              <a:t>Data Source: </a:t>
            </a:r>
            <a:r>
              <a:rPr lang="en-US" sz="1600" dirty="0">
                <a:latin typeface="Helvetica" panose="020B0604020202020204" pitchFamily="34" charset="0"/>
                <a:cs typeface="Helvetica" panose="020B0604020202020204" pitchFamily="34" charset="0"/>
              </a:rPr>
              <a:t>UCI Machine Learning Repository</a:t>
            </a:r>
            <a:endParaRPr lang="en-US" sz="1600" b="1" dirty="0">
              <a:latin typeface="Helvetica" panose="020B0604020202020204" pitchFamily="34" charset="0"/>
              <a:cs typeface="Helvetica" panose="020B0604020202020204" pitchFamily="34" charset="0"/>
            </a:endParaRPr>
          </a:p>
        </p:txBody>
      </p:sp>
      <p:sp>
        <p:nvSpPr>
          <p:cNvPr id="7" name="Title 1"/>
          <p:cNvSpPr txBox="1">
            <a:spLocks/>
          </p:cNvSpPr>
          <p:nvPr/>
        </p:nvSpPr>
        <p:spPr>
          <a:xfrm>
            <a:off x="107950" y="177800"/>
            <a:ext cx="8562392" cy="620672"/>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spcAft>
                <a:spcPts val="0"/>
              </a:spcAft>
            </a:pPr>
            <a:r>
              <a:rPr lang="en-US" altLang="zh-CN" sz="3600" dirty="0">
                <a:latin typeface="Vitesse"/>
              </a:rPr>
              <a:t>Linear Regression: Example </a:t>
            </a:r>
            <a:r>
              <a:rPr lang="en-US" altLang="zh-CN" sz="3600" dirty="0" smtClean="0">
                <a:latin typeface="Vitesse"/>
              </a:rPr>
              <a:t>3</a:t>
            </a:r>
            <a:endParaRPr lang="en-US" sz="3600" dirty="0">
              <a:latin typeface="Vitesse"/>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Box 1"/>
          <p:cNvSpPr txBox="1">
            <a:spLocks noChangeArrowheads="1"/>
          </p:cNvSpPr>
          <p:nvPr/>
        </p:nvSpPr>
        <p:spPr bwMode="auto">
          <a:xfrm>
            <a:off x="133350" y="1085850"/>
            <a:ext cx="830580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50000"/>
              </a:spcBef>
            </a:pPr>
            <a:r>
              <a:rPr lang="en-US" altLang="en-US" b="1" dirty="0">
                <a:latin typeface="Helvetica" panose="020B0604020202020204" pitchFamily="34" charset="0"/>
                <a:ea typeface="Helvetica Neue" charset="0"/>
                <a:cs typeface="Helvetica" panose="020B0604020202020204" pitchFamily="34" charset="0"/>
              </a:rPr>
              <a:t>The response variable is:</a:t>
            </a:r>
          </a:p>
          <a:p>
            <a:pPr marL="876300" indent="-493713" eaLnBrk="1" hangingPunct="1">
              <a:spcBef>
                <a:spcPts val="0"/>
              </a:spcBef>
            </a:pPr>
            <a:r>
              <a:rPr lang="en-US" altLang="en-US" b="1" i="1" dirty="0">
                <a:latin typeface="Helvetica" panose="020B0604020202020204" pitchFamily="34" charset="0"/>
                <a:ea typeface="Helvetica Neue" charset="0"/>
                <a:cs typeface="Helvetica" panose="020B0604020202020204" pitchFamily="34" charset="0"/>
              </a:rPr>
              <a:t>Y</a:t>
            </a:r>
            <a:r>
              <a:rPr lang="en-US" altLang="en-US" dirty="0">
                <a:latin typeface="Helvetica" panose="020B0604020202020204" pitchFamily="34" charset="0"/>
                <a:ea typeface="Helvetica Neue" charset="0"/>
                <a:cs typeface="Helvetica" panose="020B0604020202020204" pitchFamily="34" charset="0"/>
              </a:rPr>
              <a:t> = Hourly count rentals of bikes </a:t>
            </a:r>
          </a:p>
          <a:p>
            <a:pPr eaLnBrk="1" hangingPunct="1">
              <a:spcBef>
                <a:spcPts val="0"/>
              </a:spcBef>
            </a:pPr>
            <a:endParaRPr lang="en-US" altLang="en-US" b="1" dirty="0">
              <a:latin typeface="Helvetica" panose="020B0604020202020204" pitchFamily="34" charset="0"/>
              <a:ea typeface="Helvetica Neue" charset="0"/>
              <a:cs typeface="Helvetica" panose="020B0604020202020204" pitchFamily="34" charset="0"/>
            </a:endParaRPr>
          </a:p>
          <a:p>
            <a:pPr eaLnBrk="1" hangingPunct="1">
              <a:spcBef>
                <a:spcPts val="0"/>
              </a:spcBef>
            </a:pPr>
            <a:r>
              <a:rPr lang="en-US" altLang="en-US" b="1" dirty="0">
                <a:latin typeface="Helvetica" panose="020B0604020202020204" pitchFamily="34" charset="0"/>
                <a:ea typeface="Helvetica Neue" charset="0"/>
                <a:cs typeface="Helvetica" panose="020B0604020202020204" pitchFamily="34" charset="0"/>
              </a:rPr>
              <a:t>The predicting variables are:</a:t>
            </a:r>
            <a:endParaRPr lang="en-US" altLang="en-US" b="1" dirty="0">
              <a:latin typeface="Helvetica" panose="020B0604020202020204" pitchFamily="34" charset="0"/>
              <a:cs typeface="Helvetica" panose="020B0604020202020204" pitchFamily="34" charset="0"/>
            </a:endParaRPr>
          </a:p>
          <a:p>
            <a:pPr marL="876300" indent="-493713" eaLnBrk="1" hangingPunct="1">
              <a:spcBef>
                <a:spcPts val="0"/>
              </a:spcBef>
            </a:pPr>
            <a:r>
              <a:rPr lang="en-US" altLang="en-US" b="1" i="1" dirty="0">
                <a:latin typeface="Helvetica" panose="020B0604020202020204" pitchFamily="34" charset="0"/>
                <a:ea typeface="Helvetica Neue" charset="0"/>
                <a:cs typeface="Helvetica" panose="020B0604020202020204" pitchFamily="34" charset="0"/>
              </a:rPr>
              <a:t>X</a:t>
            </a:r>
            <a:r>
              <a:rPr lang="en-US" altLang="en-US" baseline="-25000" dirty="0">
                <a:latin typeface="Helvetica" panose="020B0604020202020204" pitchFamily="34" charset="0"/>
                <a:ea typeface="Helvetica Neue" charset="0"/>
                <a:cs typeface="Helvetica" panose="020B0604020202020204" pitchFamily="34" charset="0"/>
              </a:rPr>
              <a:t>1</a:t>
            </a:r>
            <a:r>
              <a:rPr lang="en-US" altLang="en-US" dirty="0">
                <a:latin typeface="Helvetica" panose="020B0604020202020204" pitchFamily="34" charset="0"/>
                <a:ea typeface="Helvetica Neue" charset="0"/>
                <a:cs typeface="Helvetica" panose="020B0604020202020204" pitchFamily="34" charset="0"/>
              </a:rPr>
              <a:t> = Day of the week</a:t>
            </a:r>
          </a:p>
          <a:p>
            <a:pPr marL="876300" indent="-493713" eaLnBrk="1" hangingPunct="1">
              <a:spcBef>
                <a:spcPts val="0"/>
              </a:spcBef>
            </a:pPr>
            <a:r>
              <a:rPr lang="en-US" altLang="en-US" b="1" i="1" dirty="0">
                <a:latin typeface="Helvetica" panose="020B0604020202020204" pitchFamily="34" charset="0"/>
                <a:ea typeface="Helvetica Neue" charset="0"/>
                <a:cs typeface="Helvetica" panose="020B0604020202020204" pitchFamily="34" charset="0"/>
              </a:rPr>
              <a:t>X</a:t>
            </a:r>
            <a:r>
              <a:rPr lang="en-US" altLang="en-US" baseline="-25000" dirty="0">
                <a:latin typeface="Helvetica" panose="020B0604020202020204" pitchFamily="34" charset="0"/>
                <a:ea typeface="Helvetica Neue" charset="0"/>
                <a:cs typeface="Helvetica" panose="020B0604020202020204" pitchFamily="34" charset="0"/>
              </a:rPr>
              <a:t>2</a:t>
            </a:r>
            <a:r>
              <a:rPr lang="en-US" altLang="en-US" dirty="0">
                <a:latin typeface="Helvetica" panose="020B0604020202020204" pitchFamily="34" charset="0"/>
                <a:ea typeface="Helvetica Neue" charset="0"/>
                <a:cs typeface="Helvetica" panose="020B0604020202020204" pitchFamily="34" charset="0"/>
              </a:rPr>
              <a:t> = Month of the year</a:t>
            </a:r>
          </a:p>
          <a:p>
            <a:pPr marL="876300" indent="-493713" eaLnBrk="1" hangingPunct="1">
              <a:spcBef>
                <a:spcPts val="0"/>
              </a:spcBef>
            </a:pPr>
            <a:r>
              <a:rPr lang="en-US" altLang="en-US" b="1" i="1" dirty="0">
                <a:latin typeface="Helvetica" panose="020B0604020202020204" pitchFamily="34" charset="0"/>
                <a:ea typeface="Helvetica Neue" charset="0"/>
                <a:cs typeface="Helvetica" panose="020B0604020202020204" pitchFamily="34" charset="0"/>
              </a:rPr>
              <a:t>X</a:t>
            </a:r>
            <a:r>
              <a:rPr lang="en-US" altLang="en-US" baseline="-25000" dirty="0">
                <a:latin typeface="Helvetica" panose="020B0604020202020204" pitchFamily="34" charset="0"/>
                <a:ea typeface="Helvetica Neue" charset="0"/>
                <a:cs typeface="Helvetica" panose="020B0604020202020204" pitchFamily="34" charset="0"/>
              </a:rPr>
              <a:t>3</a:t>
            </a:r>
            <a:r>
              <a:rPr lang="en-US" altLang="en-US" dirty="0">
                <a:latin typeface="Helvetica" panose="020B0604020202020204" pitchFamily="34" charset="0"/>
                <a:ea typeface="Helvetica Neue" charset="0"/>
                <a:cs typeface="Helvetica" panose="020B0604020202020204" pitchFamily="34" charset="0"/>
              </a:rPr>
              <a:t> = Hour of the day (ranging 0-23)</a:t>
            </a:r>
          </a:p>
          <a:p>
            <a:pPr marL="876300" indent="-493713" eaLnBrk="1" hangingPunct="1">
              <a:spcBef>
                <a:spcPts val="0"/>
              </a:spcBef>
            </a:pPr>
            <a:r>
              <a:rPr lang="en-US" altLang="en-US" b="1" i="1" dirty="0">
                <a:latin typeface="Helvetica" panose="020B0604020202020204" pitchFamily="34" charset="0"/>
                <a:ea typeface="Helvetica Neue" charset="0"/>
                <a:cs typeface="Helvetica" panose="020B0604020202020204" pitchFamily="34" charset="0"/>
              </a:rPr>
              <a:t>X</a:t>
            </a:r>
            <a:r>
              <a:rPr lang="en-US" altLang="en-US" baseline="-25000" dirty="0">
                <a:latin typeface="Helvetica" panose="020B0604020202020204" pitchFamily="34" charset="0"/>
                <a:ea typeface="Helvetica Neue" charset="0"/>
                <a:cs typeface="Helvetica" panose="020B0604020202020204" pitchFamily="34" charset="0"/>
              </a:rPr>
              <a:t>4</a:t>
            </a:r>
            <a:r>
              <a:rPr lang="en-US" altLang="en-US" dirty="0">
                <a:latin typeface="Helvetica" panose="020B0604020202020204" pitchFamily="34" charset="0"/>
                <a:ea typeface="Helvetica Neue" charset="0"/>
                <a:cs typeface="Helvetica" panose="020B0604020202020204" pitchFamily="34" charset="0"/>
              </a:rPr>
              <a:t> = Year (2011, 2012)</a:t>
            </a:r>
          </a:p>
          <a:p>
            <a:pPr marL="876300" indent="-493713" eaLnBrk="1" hangingPunct="1">
              <a:spcBef>
                <a:spcPts val="0"/>
              </a:spcBef>
            </a:pPr>
            <a:r>
              <a:rPr lang="en-US" altLang="en-US" b="1" i="1" dirty="0">
                <a:latin typeface="Helvetica" panose="020B0604020202020204" pitchFamily="34" charset="0"/>
                <a:ea typeface="Helvetica Neue" charset="0"/>
                <a:cs typeface="Helvetica" panose="020B0604020202020204" pitchFamily="34" charset="0"/>
              </a:rPr>
              <a:t>X</a:t>
            </a:r>
            <a:r>
              <a:rPr lang="en-US" altLang="en-US" baseline="-25000" dirty="0">
                <a:latin typeface="Helvetica" panose="020B0604020202020204" pitchFamily="34" charset="0"/>
                <a:ea typeface="Helvetica Neue" charset="0"/>
                <a:cs typeface="Helvetica" panose="020B0604020202020204" pitchFamily="34" charset="0"/>
              </a:rPr>
              <a:t>5</a:t>
            </a:r>
            <a:r>
              <a:rPr lang="en-US" altLang="en-US" dirty="0">
                <a:latin typeface="Helvetica" panose="020B0604020202020204" pitchFamily="34" charset="0"/>
                <a:ea typeface="Helvetica Neue" charset="0"/>
                <a:cs typeface="Helvetica" panose="020B0604020202020204" pitchFamily="34" charset="0"/>
              </a:rPr>
              <a:t> = Holiday Indicator</a:t>
            </a:r>
          </a:p>
          <a:p>
            <a:pPr marL="876300" indent="-493713" eaLnBrk="1" hangingPunct="1">
              <a:spcBef>
                <a:spcPts val="0"/>
              </a:spcBef>
            </a:pPr>
            <a:r>
              <a:rPr lang="en-US" altLang="en-US" b="1" i="1" dirty="0">
                <a:latin typeface="Helvetica" panose="020B0604020202020204" pitchFamily="34" charset="0"/>
                <a:ea typeface="Helvetica Neue" charset="0"/>
                <a:cs typeface="Helvetica" panose="020B0604020202020204" pitchFamily="34" charset="0"/>
              </a:rPr>
              <a:t>X</a:t>
            </a:r>
            <a:r>
              <a:rPr lang="en-US" altLang="en-US" baseline="-25000" dirty="0">
                <a:latin typeface="Helvetica" panose="020B0604020202020204" pitchFamily="34" charset="0"/>
                <a:ea typeface="Helvetica Neue" charset="0"/>
                <a:cs typeface="Helvetica" panose="020B0604020202020204" pitchFamily="34" charset="0"/>
              </a:rPr>
              <a:t>6</a:t>
            </a:r>
            <a:r>
              <a:rPr lang="en-US" altLang="en-US" dirty="0">
                <a:latin typeface="Helvetica" panose="020B0604020202020204" pitchFamily="34" charset="0"/>
                <a:ea typeface="Helvetica Neue" charset="0"/>
                <a:cs typeface="Helvetica" panose="020B0604020202020204" pitchFamily="34" charset="0"/>
              </a:rPr>
              <a:t> = Weather condition (with four levels from good weather for level 1 to severe condition for level 4) </a:t>
            </a:r>
          </a:p>
          <a:p>
            <a:pPr marL="876300" indent="-493713" eaLnBrk="1" hangingPunct="1">
              <a:spcBef>
                <a:spcPts val="0"/>
              </a:spcBef>
            </a:pPr>
            <a:r>
              <a:rPr lang="en-US" altLang="en-US" b="1" i="1" dirty="0">
                <a:latin typeface="Helvetica" panose="020B0604020202020204" pitchFamily="34" charset="0"/>
                <a:ea typeface="Helvetica Neue" charset="0"/>
                <a:cs typeface="Helvetica" panose="020B0604020202020204" pitchFamily="34" charset="0"/>
              </a:rPr>
              <a:t>X</a:t>
            </a:r>
            <a:r>
              <a:rPr lang="en-US" altLang="en-US" baseline="-25000" dirty="0">
                <a:latin typeface="Helvetica" panose="020B0604020202020204" pitchFamily="34" charset="0"/>
                <a:ea typeface="Helvetica Neue" charset="0"/>
                <a:cs typeface="Helvetica" panose="020B0604020202020204" pitchFamily="34" charset="0"/>
              </a:rPr>
              <a:t>7</a:t>
            </a:r>
            <a:r>
              <a:rPr lang="en-US" altLang="en-US" dirty="0">
                <a:latin typeface="Helvetica" panose="020B0604020202020204" pitchFamily="34" charset="0"/>
                <a:ea typeface="Helvetica Neue" charset="0"/>
                <a:cs typeface="Helvetica" panose="020B0604020202020204" pitchFamily="34" charset="0"/>
              </a:rPr>
              <a:t> = Normalized temperature</a:t>
            </a:r>
          </a:p>
          <a:p>
            <a:pPr marL="876300" indent="-493713" eaLnBrk="1" hangingPunct="1">
              <a:spcBef>
                <a:spcPts val="0"/>
              </a:spcBef>
            </a:pPr>
            <a:r>
              <a:rPr lang="en-US" altLang="en-US" b="1" i="1" dirty="0">
                <a:latin typeface="Helvetica" panose="020B0604020202020204" pitchFamily="34" charset="0"/>
                <a:ea typeface="Helvetica Neue" charset="0"/>
                <a:cs typeface="Helvetica" panose="020B0604020202020204" pitchFamily="34" charset="0"/>
              </a:rPr>
              <a:t>X</a:t>
            </a:r>
            <a:r>
              <a:rPr lang="en-US" altLang="en-US" baseline="-25000" dirty="0">
                <a:latin typeface="Helvetica" panose="020B0604020202020204" pitchFamily="34" charset="0"/>
                <a:ea typeface="Helvetica Neue" charset="0"/>
                <a:cs typeface="Helvetica" panose="020B0604020202020204" pitchFamily="34" charset="0"/>
              </a:rPr>
              <a:t>8</a:t>
            </a:r>
            <a:r>
              <a:rPr lang="en-US" altLang="en-US" dirty="0">
                <a:latin typeface="Helvetica" panose="020B0604020202020204" pitchFamily="34" charset="0"/>
                <a:ea typeface="Helvetica Neue" charset="0"/>
                <a:cs typeface="Helvetica" panose="020B0604020202020204" pitchFamily="34" charset="0"/>
              </a:rPr>
              <a:t> = Normalized humidity</a:t>
            </a:r>
          </a:p>
          <a:p>
            <a:pPr marL="876300" indent="-493713" eaLnBrk="1" hangingPunct="1">
              <a:spcBef>
                <a:spcPts val="0"/>
              </a:spcBef>
            </a:pPr>
            <a:r>
              <a:rPr lang="en-US" altLang="en-US" b="1" i="1" dirty="0">
                <a:latin typeface="Helvetica" panose="020B0604020202020204" pitchFamily="34" charset="0"/>
                <a:ea typeface="Helvetica Neue" charset="0"/>
                <a:cs typeface="Helvetica" panose="020B0604020202020204" pitchFamily="34" charset="0"/>
              </a:rPr>
              <a:t>X</a:t>
            </a:r>
            <a:r>
              <a:rPr lang="en-US" altLang="en-US" baseline="-25000" dirty="0">
                <a:latin typeface="Helvetica" panose="020B0604020202020204" pitchFamily="34" charset="0"/>
                <a:ea typeface="Helvetica Neue" charset="0"/>
                <a:cs typeface="Helvetica" panose="020B0604020202020204" pitchFamily="34" charset="0"/>
              </a:rPr>
              <a:t>9</a:t>
            </a:r>
            <a:r>
              <a:rPr lang="en-US" altLang="en-US" dirty="0">
                <a:latin typeface="Helvetica" panose="020B0604020202020204" pitchFamily="34" charset="0"/>
                <a:ea typeface="Helvetica Neue" charset="0"/>
                <a:cs typeface="Helvetica" panose="020B0604020202020204" pitchFamily="34" charset="0"/>
              </a:rPr>
              <a:t> = Wind speed</a:t>
            </a:r>
          </a:p>
        </p:txBody>
      </p:sp>
      <p:sp>
        <p:nvSpPr>
          <p:cNvPr id="5" name="Title 1"/>
          <p:cNvSpPr txBox="1">
            <a:spLocks/>
          </p:cNvSpPr>
          <p:nvPr/>
        </p:nvSpPr>
        <p:spPr>
          <a:xfrm>
            <a:off x="107950" y="177801"/>
            <a:ext cx="8562392" cy="717550"/>
          </a:xfrm>
          <a:prstGeom prst="rect">
            <a:avLst/>
          </a:prstGeom>
        </p:spPr>
        <p:txBody>
          <a:bodyPr/>
          <a:lstStyle>
            <a:lvl1pPr algn="l" defTabSz="457200" rtl="0" eaLnBrk="1" latinLnBrk="0" hangingPunct="1">
              <a:spcBef>
                <a:spcPct val="0"/>
              </a:spcBef>
              <a:buNone/>
              <a:defRPr lang="en-US" sz="3200" kern="1200" dirty="0">
                <a:solidFill>
                  <a:schemeClr val="tx1"/>
                </a:solidFill>
                <a:latin typeface="Vitesse Bold"/>
                <a:ea typeface="+mj-ea"/>
                <a:cs typeface="Vitesse Bold"/>
              </a:defRPr>
            </a:lvl1pPr>
          </a:lstStyle>
          <a:p>
            <a:pPr fontAlgn="auto">
              <a:spcAft>
                <a:spcPts val="0"/>
              </a:spcAft>
            </a:pPr>
            <a:r>
              <a:rPr lang="en-US" altLang="zh-CN" sz="3600" dirty="0" smtClean="0">
                <a:latin typeface="Vitesse"/>
              </a:rPr>
              <a:t>Linear Regression: Data Example 2</a:t>
            </a:r>
            <a:endParaRPr lang="en-US" sz="3600" dirty="0">
              <a:latin typeface="Vitesse"/>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45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459">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459">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459">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459">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459">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459">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459">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45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08" y="180975"/>
            <a:ext cx="8562392" cy="714375"/>
          </a:xfrm>
        </p:spPr>
        <p:txBody>
          <a:bodyPr/>
          <a:lstStyle/>
          <a:p>
            <a:r>
              <a:rPr lang="en-US" altLang="zh-CN" sz="3600" dirty="0" smtClean="0">
                <a:latin typeface="Vitesse"/>
              </a:rPr>
              <a:t>Multiple Linear Regression: Objectives</a:t>
            </a:r>
            <a:endParaRPr lang="en-US" sz="3600" dirty="0">
              <a:latin typeface="Vitesse"/>
            </a:endParaRPr>
          </a:p>
        </p:txBody>
      </p:sp>
      <p:grpSp>
        <p:nvGrpSpPr>
          <p:cNvPr id="3" name="Group 2"/>
          <p:cNvGrpSpPr/>
          <p:nvPr/>
        </p:nvGrpSpPr>
        <p:grpSpPr>
          <a:xfrm>
            <a:off x="152400" y="1090920"/>
            <a:ext cx="8120157" cy="3756650"/>
            <a:chOff x="121309" y="786120"/>
            <a:chExt cx="8120157" cy="3756650"/>
          </a:xfrm>
        </p:grpSpPr>
        <p:sp>
          <p:nvSpPr>
            <p:cNvPr id="6" name="TextBox 4"/>
            <p:cNvSpPr txBox="1">
              <a:spLocks noChangeArrowheads="1"/>
            </p:cNvSpPr>
            <p:nvPr/>
          </p:nvSpPr>
          <p:spPr bwMode="auto">
            <a:xfrm>
              <a:off x="121309" y="786120"/>
              <a:ext cx="8120157" cy="367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a:defRPr/>
              </a:pPr>
              <a:r>
                <a:rPr lang="en-US" altLang="en-US" dirty="0">
                  <a:solidFill>
                    <a:prstClr val="black"/>
                  </a:solidFill>
                  <a:latin typeface="Helvetica" panose="020B0604020202020204" pitchFamily="34" charset="0"/>
                  <a:ea typeface="Helvetica Neue" charset="0"/>
                  <a:cs typeface="Helvetica" panose="020B0604020202020204" pitchFamily="34" charset="0"/>
                </a:rPr>
                <a:t>A regression analysis is used for:</a:t>
              </a:r>
            </a:p>
            <a:p>
              <a:pPr marL="628650" lvl="1">
                <a:spcBef>
                  <a:spcPts val="600"/>
                </a:spcBef>
                <a:buFont typeface="+mj-lt"/>
                <a:buAutoNum type="arabicPeriod"/>
                <a:defRPr/>
              </a:pPr>
              <a:r>
                <a:rPr lang="en-US" altLang="en-US" b="1" u="sng" dirty="0">
                  <a:solidFill>
                    <a:prstClr val="black"/>
                  </a:solidFill>
                  <a:latin typeface="Helvetica" panose="020B0604020202020204" pitchFamily="34" charset="0"/>
                  <a:ea typeface="Helvetica Neue" charset="0"/>
                  <a:cs typeface="Helvetica" panose="020B0604020202020204" pitchFamily="34" charset="0"/>
                </a:rPr>
                <a:t>Prediction</a:t>
              </a:r>
              <a:r>
                <a:rPr lang="en-US" altLang="en-US" dirty="0">
                  <a:solidFill>
                    <a:prstClr val="black"/>
                  </a:solidFill>
                  <a:latin typeface="Helvetica" panose="020B0604020202020204" pitchFamily="34" charset="0"/>
                  <a:ea typeface="Helvetica Neue" charset="0"/>
                  <a:cs typeface="Helvetica" panose="020B0604020202020204" pitchFamily="34" charset="0"/>
                </a:rPr>
                <a:t> of the response variable</a:t>
              </a:r>
            </a:p>
            <a:p>
              <a:pPr marL="628650" lvl="1">
                <a:spcBef>
                  <a:spcPts val="600"/>
                </a:spcBef>
                <a:buFont typeface="+mj-lt"/>
                <a:buAutoNum type="arabicPeriod"/>
                <a:defRPr/>
              </a:pPr>
              <a:r>
                <a:rPr lang="en-US" altLang="en-US" b="1" u="sng" dirty="0">
                  <a:solidFill>
                    <a:prstClr val="black"/>
                  </a:solidFill>
                  <a:latin typeface="Helvetica" panose="020B0604020202020204" pitchFamily="34" charset="0"/>
                  <a:ea typeface="Helvetica Neue" charset="0"/>
                  <a:cs typeface="Helvetica" panose="020B0604020202020204" pitchFamily="34" charset="0"/>
                </a:rPr>
                <a:t>Modelling</a:t>
              </a:r>
              <a:r>
                <a:rPr lang="en-US" altLang="en-US" dirty="0">
                  <a:solidFill>
                    <a:prstClr val="black"/>
                  </a:solidFill>
                  <a:latin typeface="Helvetica" panose="020B0604020202020204" pitchFamily="34" charset="0"/>
                  <a:ea typeface="Helvetica Neue" charset="0"/>
                  <a:cs typeface="Helvetica" panose="020B0604020202020204" pitchFamily="34" charset="0"/>
                </a:rPr>
                <a:t> the relationship between the response variable and explanatory variables</a:t>
              </a:r>
            </a:p>
            <a:p>
              <a:pPr marL="628650" lvl="1">
                <a:spcBef>
                  <a:spcPts val="600"/>
                </a:spcBef>
                <a:buFont typeface="+mj-lt"/>
                <a:buAutoNum type="arabicPeriod"/>
                <a:defRPr/>
              </a:pPr>
              <a:r>
                <a:rPr lang="en-US" altLang="en-US" b="1" u="sng" dirty="0">
                  <a:solidFill>
                    <a:prstClr val="black"/>
                  </a:solidFill>
                  <a:latin typeface="Helvetica" panose="020B0604020202020204" pitchFamily="34" charset="0"/>
                  <a:ea typeface="Helvetica Neue" charset="0"/>
                  <a:cs typeface="Helvetica" panose="020B0604020202020204" pitchFamily="34" charset="0"/>
                </a:rPr>
                <a:t>Testing</a:t>
              </a:r>
              <a:r>
                <a:rPr lang="en-US" altLang="en-US" dirty="0">
                  <a:solidFill>
                    <a:prstClr val="black"/>
                  </a:solidFill>
                  <a:latin typeface="Helvetica" panose="020B0604020202020204" pitchFamily="34" charset="0"/>
                  <a:ea typeface="Helvetica Neue" charset="0"/>
                  <a:cs typeface="Helvetica" panose="020B0604020202020204" pitchFamily="34" charset="0"/>
                </a:rPr>
                <a:t> hypotheses of association relationships</a:t>
              </a:r>
            </a:p>
            <a:p>
              <a:pPr marL="746125" lvl="1">
                <a:buFontTx/>
                <a:buAutoNum type="arabicPeriod"/>
                <a:defRPr/>
              </a:pPr>
              <a:endParaRPr lang="en-US" altLang="en-US" dirty="0">
                <a:solidFill>
                  <a:prstClr val="black"/>
                </a:solidFill>
                <a:latin typeface="Helvetica" panose="020B0604020202020204" pitchFamily="34" charset="0"/>
                <a:ea typeface="Helvetica Neue" charset="0"/>
                <a:cs typeface="Helvetica" panose="020B0604020202020204" pitchFamily="34" charset="0"/>
              </a:endParaRPr>
            </a:p>
            <a:p>
              <a:pPr>
                <a:defRPr/>
              </a:pPr>
              <a:r>
                <a:rPr lang="en-US" altLang="en-US" b="1" dirty="0">
                  <a:solidFill>
                    <a:srgbClr val="EEB211"/>
                  </a:solidFill>
                  <a:latin typeface="Helvetica" panose="020B0604020202020204" pitchFamily="34" charset="0"/>
                  <a:ea typeface="Helvetica Neue" charset="0"/>
                  <a:cs typeface="Helvetica" panose="020B0604020202020204" pitchFamily="34" charset="0"/>
                </a:rPr>
                <a:t>Linear Regression</a:t>
              </a:r>
              <a:r>
                <a:rPr lang="en-US" altLang="en-US" dirty="0">
                  <a:solidFill>
                    <a:srgbClr val="EEB211"/>
                  </a:solidFill>
                  <a:latin typeface="Helvetica" panose="020B0604020202020204" pitchFamily="34" charset="0"/>
                  <a:ea typeface="Helvetica Neue" charset="0"/>
                  <a:cs typeface="Helvetica" panose="020B0604020202020204" pitchFamily="34" charset="0"/>
                </a:rPr>
                <a:t>: </a:t>
              </a:r>
              <a:r>
                <a:rPr lang="en-US" altLang="en-US" dirty="0">
                  <a:solidFill>
                    <a:prstClr val="black"/>
                  </a:solidFill>
                  <a:latin typeface="Helvetica" panose="020B0604020202020204" pitchFamily="34" charset="0"/>
                  <a:ea typeface="Helvetica Neue" charset="0"/>
                  <a:cs typeface="Helvetica" panose="020B0604020202020204" pitchFamily="34" charset="0"/>
                </a:rPr>
                <a:t>The basis of what we will discussing in most of this course is the linear model. Virtually all other methods for studying dependence among variables are variations on the idea of linear regression.</a:t>
              </a:r>
            </a:p>
            <a:p>
              <a:pPr>
                <a:defRPr/>
              </a:pPr>
              <a:endParaRPr lang="en-US" altLang="en-US" sz="1400" dirty="0">
                <a:solidFill>
                  <a:prstClr val="black"/>
                </a:solidFill>
                <a:latin typeface="Helvetica" panose="020B0604020202020204" pitchFamily="34" charset="0"/>
                <a:ea typeface="Helvetica Neue" charset="0"/>
                <a:cs typeface="Helvetica" panose="020B0604020202020204" pitchFamily="34" charset="0"/>
              </a:endParaRPr>
            </a:p>
            <a:p>
              <a:pPr algn="ctr">
                <a:defRPr/>
              </a:pPr>
              <a:r>
                <a:rPr lang="en-US" altLang="ja-JP" sz="1400" i="1" dirty="0">
                  <a:solidFill>
                    <a:prstClr val="black"/>
                  </a:solidFill>
                  <a:latin typeface="Helvetica" panose="020B0604020202020204" pitchFamily="34" charset="0"/>
                  <a:ea typeface="Helvetica Neue" charset="0"/>
                  <a:cs typeface="Helvetica" panose="020B0604020202020204" pitchFamily="34" charset="0"/>
                </a:rPr>
                <a:t>All models are wrong, but some are useful</a:t>
              </a:r>
              <a:r>
                <a:rPr lang="en-US" altLang="ja-JP" sz="1400" dirty="0">
                  <a:solidFill>
                    <a:prstClr val="black"/>
                  </a:solidFill>
                  <a:latin typeface="Helvetica" panose="020B0604020202020204" pitchFamily="34" charset="0"/>
                  <a:ea typeface="Helvetica Neue" charset="0"/>
                  <a:cs typeface="Helvetica" panose="020B0604020202020204" pitchFamily="34" charset="0"/>
                </a:rPr>
                <a:t>.   ‒ George Box</a:t>
              </a:r>
            </a:p>
            <a:p>
              <a:pPr algn="ctr">
                <a:defRPr/>
              </a:pPr>
              <a:endParaRPr lang="en-US" altLang="en-US" sz="1400" dirty="0">
                <a:solidFill>
                  <a:prstClr val="black"/>
                </a:solidFill>
                <a:latin typeface="Helvetica" panose="020B0604020202020204" pitchFamily="34" charset="0"/>
                <a:ea typeface="Helvetica Neue" charset="0"/>
                <a:cs typeface="Helvetica" panose="020B0604020202020204" pitchFamily="34" charset="0"/>
              </a:endParaRPr>
            </a:p>
            <a:p>
              <a:pPr algn="ctr">
                <a:defRPr/>
              </a:pPr>
              <a:r>
                <a:rPr lang="en-US" altLang="ja-JP" sz="1400" i="1" dirty="0">
                  <a:solidFill>
                    <a:prstClr val="black"/>
                  </a:solidFill>
                  <a:latin typeface="Helvetica" panose="020B0604020202020204" pitchFamily="34" charset="0"/>
                  <a:ea typeface="Helvetica Neue" charset="0"/>
                  <a:cs typeface="Helvetica" panose="020B0604020202020204" pitchFamily="34" charset="0"/>
                </a:rPr>
                <a:t>Embrace your data, not your models</a:t>
              </a:r>
              <a:r>
                <a:rPr lang="en-US" altLang="ja-JP" sz="1400" dirty="0">
                  <a:solidFill>
                    <a:prstClr val="black"/>
                  </a:solidFill>
                  <a:latin typeface="Helvetica" panose="020B0604020202020204" pitchFamily="34" charset="0"/>
                  <a:ea typeface="Helvetica Neue" charset="0"/>
                  <a:cs typeface="Helvetica" panose="020B0604020202020204" pitchFamily="34" charset="0"/>
                </a:rPr>
                <a:t>.  </a:t>
              </a:r>
              <a:r>
                <a:rPr lang="en-US" altLang="ja-JP" sz="1400" dirty="0">
                  <a:solidFill>
                    <a:srgbClr val="7030A0"/>
                  </a:solidFill>
                  <a:latin typeface="Helvetica" panose="020B0604020202020204" pitchFamily="34" charset="0"/>
                  <a:ea typeface="Helvetica Neue" charset="0"/>
                  <a:cs typeface="Helvetica" panose="020B0604020202020204" pitchFamily="34" charset="0"/>
                </a:rPr>
                <a:t> </a:t>
              </a:r>
              <a:r>
                <a:rPr lang="en-US" altLang="ja-JP" sz="1400" dirty="0">
                  <a:solidFill>
                    <a:prstClr val="black"/>
                  </a:solidFill>
                  <a:latin typeface="Helvetica" panose="020B0604020202020204" pitchFamily="34" charset="0"/>
                  <a:ea typeface="Helvetica Neue" charset="0"/>
                  <a:cs typeface="Helvetica" panose="020B0604020202020204" pitchFamily="34" charset="0"/>
                </a:rPr>
                <a:t>‒ John Tukey</a:t>
              </a:r>
              <a:endParaRPr lang="en-US" altLang="en-US" sz="1400" dirty="0">
                <a:solidFill>
                  <a:prstClr val="black"/>
                </a:solidFill>
                <a:latin typeface="Helvetica" panose="020B0604020202020204" pitchFamily="34" charset="0"/>
                <a:ea typeface="Helvetica Neue" charset="0"/>
                <a:cs typeface="Helvetica" panose="020B0604020202020204" pitchFamily="34" charset="0"/>
              </a:endParaRPr>
            </a:p>
          </p:txBody>
        </p:sp>
        <p:sp>
          <p:nvSpPr>
            <p:cNvPr id="8" name="TextBox 7"/>
            <p:cNvSpPr txBox="1"/>
            <p:nvPr/>
          </p:nvSpPr>
          <p:spPr>
            <a:xfrm>
              <a:off x="1903656" y="4019550"/>
              <a:ext cx="503653" cy="523220"/>
            </a:xfrm>
            <a:prstGeom prst="rect">
              <a:avLst/>
            </a:prstGeom>
            <a:noFill/>
          </p:spPr>
          <p:txBody>
            <a:bodyPr wrap="square" rtlCol="0">
              <a:spAutoFit/>
            </a:bodyPr>
            <a:lstStyle/>
            <a:p>
              <a:r>
                <a:rPr lang="en-US" altLang="ja-JP" sz="2800" dirty="0">
                  <a:latin typeface="Helvetica" panose="020B0604020202020204" pitchFamily="34" charset="0"/>
                  <a:ea typeface="Helvetica Neue" charset="0"/>
                  <a:cs typeface="Helvetica" panose="020B0604020202020204" pitchFamily="34" charset="0"/>
                </a:rPr>
                <a:t>“</a:t>
              </a:r>
              <a:endParaRPr lang="en-US" sz="2800" dirty="0">
                <a:latin typeface="Helvetica" panose="020B0604020202020204" pitchFamily="34" charset="0"/>
                <a:cs typeface="Helvetica" panose="020B0604020202020204" pitchFamily="34" charset="0"/>
              </a:endParaRPr>
            </a:p>
          </p:txBody>
        </p:sp>
        <p:sp>
          <p:nvSpPr>
            <p:cNvPr id="9" name="TextBox 8"/>
            <p:cNvSpPr txBox="1"/>
            <p:nvPr/>
          </p:nvSpPr>
          <p:spPr>
            <a:xfrm>
              <a:off x="4921909" y="4019550"/>
              <a:ext cx="487050" cy="523220"/>
            </a:xfrm>
            <a:prstGeom prst="rect">
              <a:avLst/>
            </a:prstGeom>
            <a:noFill/>
          </p:spPr>
          <p:txBody>
            <a:bodyPr wrap="square" rtlCol="0">
              <a:spAutoFit/>
            </a:bodyPr>
            <a:lstStyle/>
            <a:p>
              <a:r>
                <a:rPr lang="en-US" altLang="ja-JP" sz="2800" dirty="0">
                  <a:latin typeface="Helvetica" panose="020B0604020202020204" pitchFamily="34" charset="0"/>
                  <a:ea typeface="Helvetica Neue" charset="0"/>
                  <a:cs typeface="Helvetica" panose="020B0604020202020204" pitchFamily="34" charset="0"/>
                </a:rPr>
                <a:t>”</a:t>
              </a:r>
              <a:endParaRPr lang="en-US" sz="2800" dirty="0">
                <a:latin typeface="Helvetica" panose="020B0604020202020204" pitchFamily="34" charset="0"/>
                <a:cs typeface="Helvetica" panose="020B0604020202020204" pitchFamily="34" charset="0"/>
              </a:endParaRPr>
            </a:p>
          </p:txBody>
        </p:sp>
        <p:sp>
          <p:nvSpPr>
            <p:cNvPr id="10" name="TextBox 9"/>
            <p:cNvSpPr txBox="1"/>
            <p:nvPr/>
          </p:nvSpPr>
          <p:spPr>
            <a:xfrm>
              <a:off x="1645309" y="3572530"/>
              <a:ext cx="503653" cy="523220"/>
            </a:xfrm>
            <a:prstGeom prst="rect">
              <a:avLst/>
            </a:prstGeom>
            <a:noFill/>
          </p:spPr>
          <p:txBody>
            <a:bodyPr wrap="square" rtlCol="0">
              <a:spAutoFit/>
            </a:bodyPr>
            <a:lstStyle/>
            <a:p>
              <a:r>
                <a:rPr lang="en-US" altLang="ja-JP" sz="2800" dirty="0">
                  <a:latin typeface="Helvetica" panose="020B0604020202020204" pitchFamily="34" charset="0"/>
                  <a:ea typeface="Helvetica Neue" charset="0"/>
                  <a:cs typeface="Helvetica" panose="020B0604020202020204" pitchFamily="34" charset="0"/>
                </a:rPr>
                <a:t>“</a:t>
              </a:r>
              <a:endParaRPr lang="en-US" sz="2800" dirty="0">
                <a:latin typeface="Helvetica" panose="020B0604020202020204" pitchFamily="34" charset="0"/>
                <a:cs typeface="Helvetica" panose="020B0604020202020204" pitchFamily="34" charset="0"/>
              </a:endParaRPr>
            </a:p>
          </p:txBody>
        </p:sp>
        <p:sp>
          <p:nvSpPr>
            <p:cNvPr id="11" name="TextBox 10"/>
            <p:cNvSpPr txBox="1"/>
            <p:nvPr/>
          </p:nvSpPr>
          <p:spPr>
            <a:xfrm>
              <a:off x="5120659" y="3561199"/>
              <a:ext cx="487050" cy="523220"/>
            </a:xfrm>
            <a:prstGeom prst="rect">
              <a:avLst/>
            </a:prstGeom>
            <a:noFill/>
          </p:spPr>
          <p:txBody>
            <a:bodyPr wrap="square" rtlCol="0">
              <a:spAutoFit/>
            </a:bodyPr>
            <a:lstStyle/>
            <a:p>
              <a:r>
                <a:rPr lang="en-US" altLang="ja-JP" sz="2800" dirty="0">
                  <a:latin typeface="Helvetica" panose="020B0604020202020204" pitchFamily="34" charset="0"/>
                  <a:ea typeface="Helvetica Neue" charset="0"/>
                  <a:cs typeface="Helvetica" panose="020B0604020202020204" pitchFamily="34" charset="0"/>
                </a:rPr>
                <a:t>”</a:t>
              </a:r>
              <a:endParaRPr lang="en-US" sz="2800" dirty="0">
                <a:latin typeface="Helvetica" panose="020B0604020202020204" pitchFamily="34" charset="0"/>
                <a:cs typeface="Helvetica" panose="020B0604020202020204" pitchFamily="34" charset="0"/>
              </a:endParaRPr>
            </a:p>
          </p:txBody>
        </p:sp>
      </p:grpSp>
    </p:spTree>
    <p:extLst>
      <p:ext uri="{BB962C8B-B14F-4D97-AF65-F5344CB8AC3E}">
        <p14:creationId xmlns:p14="http://schemas.microsoft.com/office/powerpoint/2010/main" val="20652003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14300" y="177801"/>
            <a:ext cx="8562392" cy="641350"/>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spcBef>
                <a:spcPct val="50000"/>
              </a:spcBef>
              <a:spcAft>
                <a:spcPts val="0"/>
              </a:spcAft>
            </a:pPr>
            <a:r>
              <a:rPr lang="en-US" altLang="en-US" sz="3600" dirty="0">
                <a:latin typeface="Vitesse"/>
              </a:rPr>
              <a:t>Summary</a:t>
            </a:r>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l="7759" t="6607" r="13881" b="7744"/>
          <a:stretch/>
        </p:blipFill>
        <p:spPr>
          <a:xfrm>
            <a:off x="1161904" y="1352550"/>
            <a:ext cx="2201521" cy="2406315"/>
          </a:xfrm>
          <a:prstGeom prst="rect">
            <a:avLst/>
          </a:prstGeom>
        </p:spPr>
      </p:pic>
    </p:spTree>
    <p:extLst>
      <p:ext uri="{BB962C8B-B14F-4D97-AF65-F5344CB8AC3E}">
        <p14:creationId xmlns:p14="http://schemas.microsoft.com/office/powerpoint/2010/main" val="2022634080"/>
      </p:ext>
    </p:extLst>
  </p:cSld>
  <p:clrMapOvr>
    <a:masterClrMapping/>
  </p:clrMapOvr>
  <p:timing>
    <p:tnLst>
      <p:par>
        <p:cTn id="1" dur="indefinite" restart="never" nodeType="tmRoot"/>
      </p:par>
    </p:tnLst>
  </p:timing>
</p:sld>
</file>

<file path=ppt/theme/theme1.xml><?xml version="1.0" encoding="utf-8"?>
<a:theme xmlns:a="http://schemas.openxmlformats.org/drawingml/2006/main" name="1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2.xml><?xml version="1.0" encoding="utf-8"?>
<a:theme xmlns:a="http://schemas.openxmlformats.org/drawingml/2006/main" name="2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3.xml><?xml version="1.0" encoding="utf-8"?>
<a:theme xmlns:a="http://schemas.openxmlformats.org/drawingml/2006/main" name="1_Full Page Layou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63345</TotalTime>
  <Words>484</Words>
  <Application>Microsoft Office PowerPoint</Application>
  <PresentationFormat>On-screen Show (16:9)</PresentationFormat>
  <Paragraphs>77</Paragraphs>
  <Slides>10</Slides>
  <Notes>3</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10</vt:i4>
      </vt:variant>
    </vt:vector>
  </HeadingPairs>
  <TitlesOfParts>
    <vt:vector size="24" baseType="lpstr">
      <vt:lpstr>ＭＳ Ｐゴシック</vt:lpstr>
      <vt:lpstr>ＭＳ Ｐゴシック</vt:lpstr>
      <vt:lpstr>宋体</vt:lpstr>
      <vt:lpstr>Arial</vt:lpstr>
      <vt:lpstr>Calibri</vt:lpstr>
      <vt:lpstr>Helvetica</vt:lpstr>
      <vt:lpstr>Helvetica Neue</vt:lpstr>
      <vt:lpstr>Vitesse</vt:lpstr>
      <vt:lpstr>Vitesse Bold</vt:lpstr>
      <vt:lpstr>Vitesse Book</vt:lpstr>
      <vt:lpstr>Vitesse Medium</vt:lpstr>
      <vt:lpstr>1_Half Page Slash</vt:lpstr>
      <vt:lpstr>2_Half Page Slash</vt:lpstr>
      <vt:lpstr>1_Full Page Layout</vt:lpstr>
      <vt:lpstr>PowerPoint Presentation</vt:lpstr>
      <vt:lpstr>PowerPoint Presentation</vt:lpstr>
      <vt:lpstr>Linear Regression: Example 1</vt:lpstr>
      <vt:lpstr>Linear Regression: Data Example 1</vt:lpstr>
      <vt:lpstr>PowerPoint Presentation</vt:lpstr>
      <vt:lpstr>PowerPoint Presentation</vt:lpstr>
      <vt:lpstr>PowerPoint Presentation</vt:lpstr>
      <vt:lpstr>PowerPoint Presentation</vt:lpstr>
      <vt:lpstr>Multiple Linear Regression: Objectives</vt:lpstr>
      <vt:lpstr>PowerPoint Presentation</vt:lpstr>
    </vt:vector>
  </TitlesOfParts>
  <Company>GA 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Serban, Nicoleta</dc:creator>
  <cp:lastModifiedBy>Rodriguez, Ramon S</cp:lastModifiedBy>
  <cp:revision>776</cp:revision>
  <dcterms:created xsi:type="dcterms:W3CDTF">2002-04-06T16:20:45Z</dcterms:created>
  <dcterms:modified xsi:type="dcterms:W3CDTF">2020-02-26T20:12:50Z</dcterms:modified>
</cp:coreProperties>
</file>