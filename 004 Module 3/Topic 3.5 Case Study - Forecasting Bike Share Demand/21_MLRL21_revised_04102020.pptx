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 id="2147483717" r:id="rId2"/>
    <p:sldMasterId id="2147483718" r:id="rId3"/>
  </p:sldMasterIdLst>
  <p:notesMasterIdLst>
    <p:notesMasterId r:id="rId17"/>
  </p:notesMasterIdLst>
  <p:sldIdLst>
    <p:sldId id="489" r:id="rId4"/>
    <p:sldId id="343" r:id="rId5"/>
    <p:sldId id="533" r:id="rId6"/>
    <p:sldId id="534" r:id="rId7"/>
    <p:sldId id="535" r:id="rId8"/>
    <p:sldId id="541" r:id="rId9"/>
    <p:sldId id="337" r:id="rId10"/>
    <p:sldId id="548" r:id="rId11"/>
    <p:sldId id="538" r:id="rId12"/>
    <p:sldId id="549" r:id="rId13"/>
    <p:sldId id="546" r:id="rId14"/>
    <p:sldId id="547" r:id="rId15"/>
    <p:sldId id="344" r:id="rId16"/>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904" userDrawn="1">
          <p15:clr>
            <a:srgbClr val="A4A3A4"/>
          </p15:clr>
        </p15:guide>
        <p15:guide id="3" pos="120" userDrawn="1">
          <p15:clr>
            <a:srgbClr val="A4A3A4"/>
          </p15:clr>
        </p15:guide>
        <p15:guide id="4" pos="336" userDrawn="1">
          <p15:clr>
            <a:srgbClr val="A4A3A4"/>
          </p15:clr>
        </p15:guide>
        <p15:guide id="5" orient="horz" pos="396" userDrawn="1">
          <p15:clr>
            <a:srgbClr val="A4A3A4"/>
          </p15:clr>
        </p15:guide>
        <p15:guide id="6" pos="552" userDrawn="1">
          <p15:clr>
            <a:srgbClr val="A4A3A4"/>
          </p15:clr>
        </p15:guide>
        <p15:guide id="7" pos="3456" userDrawn="1">
          <p15:clr>
            <a:srgbClr val="A4A3A4"/>
          </p15:clr>
        </p15:guide>
        <p15:guide id="8" pos="5640" userDrawn="1">
          <p15:clr>
            <a:srgbClr val="A4A3A4"/>
          </p15:clr>
        </p15:guide>
        <p15:guide id="9" orient="horz" pos="708" userDrawn="1">
          <p15:clr>
            <a:srgbClr val="A4A3A4"/>
          </p15:clr>
        </p15:guide>
        <p15:guide id="10" orient="horz" pos="9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AA00"/>
    <a:srgbClr val="F6F7F9"/>
    <a:srgbClr val="003366"/>
    <a:srgbClr val="F2F6F7"/>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8" autoAdjust="0"/>
    <p:restoredTop sz="93596" autoAdjust="0"/>
  </p:normalViewPr>
  <p:slideViewPr>
    <p:cSldViewPr snapToGrid="0">
      <p:cViewPr varScale="1">
        <p:scale>
          <a:sx n="79" d="100"/>
          <a:sy n="79" d="100"/>
        </p:scale>
        <p:origin x="1012" y="52"/>
      </p:cViewPr>
      <p:guideLst>
        <p:guide orient="horz" pos="1620"/>
        <p:guide pos="2904"/>
        <p:guide pos="120"/>
        <p:guide pos="336"/>
        <p:guide orient="horz" pos="396"/>
        <p:guide pos="552"/>
        <p:guide pos="3456"/>
        <p:guide pos="5640"/>
        <p:guide orient="horz" pos="708"/>
        <p:guide orient="horz" pos="9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358C8-D37B-4DB3-A032-059E1BD5A650}" type="datetimeFigureOut">
              <a:rPr lang="en-US" smtClean="0"/>
              <a:t>4/17/2020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E3481-38DB-434B-B170-CFE83842A57C}" type="slidenum">
              <a:rPr lang="en-US" smtClean="0"/>
              <a:t>‹#›</a:t>
            </a:fld>
            <a:endParaRPr lang="en-US"/>
          </a:p>
        </p:txBody>
      </p:sp>
    </p:spTree>
    <p:extLst>
      <p:ext uri="{BB962C8B-B14F-4D97-AF65-F5344CB8AC3E}">
        <p14:creationId xmlns:p14="http://schemas.microsoft.com/office/powerpoint/2010/main" val="274139800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7</a:t>
            </a:fld>
            <a:endParaRPr lang="en-US"/>
          </a:p>
        </p:txBody>
      </p:sp>
    </p:spTree>
    <p:extLst>
      <p:ext uri="{BB962C8B-B14F-4D97-AF65-F5344CB8AC3E}">
        <p14:creationId xmlns:p14="http://schemas.microsoft.com/office/powerpoint/2010/main" val="2599768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8</a:t>
            </a:fld>
            <a:endParaRPr lang="en-US"/>
          </a:p>
        </p:txBody>
      </p:sp>
    </p:spTree>
    <p:extLst>
      <p:ext uri="{BB962C8B-B14F-4D97-AF65-F5344CB8AC3E}">
        <p14:creationId xmlns:p14="http://schemas.microsoft.com/office/powerpoint/2010/main" val="3971984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9</a:t>
            </a:fld>
            <a:endParaRPr lang="en-US"/>
          </a:p>
        </p:txBody>
      </p:sp>
    </p:spTree>
    <p:extLst>
      <p:ext uri="{BB962C8B-B14F-4D97-AF65-F5344CB8AC3E}">
        <p14:creationId xmlns:p14="http://schemas.microsoft.com/office/powerpoint/2010/main" val="1989891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10</a:t>
            </a:fld>
            <a:endParaRPr lang="en-US"/>
          </a:p>
        </p:txBody>
      </p:sp>
    </p:spTree>
    <p:extLst>
      <p:ext uri="{BB962C8B-B14F-4D97-AF65-F5344CB8AC3E}">
        <p14:creationId xmlns:p14="http://schemas.microsoft.com/office/powerpoint/2010/main" val="3715876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11</a:t>
            </a:fld>
            <a:endParaRPr lang="en-US"/>
          </a:p>
        </p:txBody>
      </p:sp>
    </p:spTree>
    <p:extLst>
      <p:ext uri="{BB962C8B-B14F-4D97-AF65-F5344CB8AC3E}">
        <p14:creationId xmlns:p14="http://schemas.microsoft.com/office/powerpoint/2010/main" val="812567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3613070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1194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A2002E78-3C88-9A40-B579-FA4DB2691E4F}"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3929950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4541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134F0668-60AC-E24C-8E50-B74DE0FA4F02}"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427837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46590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255482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86462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106150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130603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800920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436974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973759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0.xml"/><Relationship Id="rId7"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image" Target="../media/image4.png"/><Relationship Id="rId4" Type="http://schemas.openxmlformats.org/officeDocument/2006/relationships/slideLayout" Target="../slideLayouts/slideLayout11.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CFA4D-1CC5-4243-98FC-591DF878C6E5}"/>
              </a:ext>
            </a:extLst>
          </p:cNvPr>
          <p:cNvPicPr>
            <a:picLocks noChangeAspect="1"/>
          </p:cNvPicPr>
          <p:nvPr userDrawn="1"/>
        </p:nvPicPr>
        <p:blipFill>
          <a:blip r:embed="rId9"/>
          <a:stretch>
            <a:fillRect/>
          </a:stretch>
        </p:blipFill>
        <p:spPr>
          <a:xfrm>
            <a:off x="0" y="0"/>
            <a:ext cx="9144000" cy="5143500"/>
          </a:xfrm>
          <a:prstGeom prst="rect">
            <a:avLst/>
          </a:prstGeom>
        </p:spPr>
      </p:pic>
    </p:spTree>
    <p:extLst>
      <p:ext uri="{BB962C8B-B14F-4D97-AF65-F5344CB8AC3E}">
        <p14:creationId xmlns:p14="http://schemas.microsoft.com/office/powerpoint/2010/main" val="399151165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953168401"/>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71213349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72284" y="147368"/>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4" name="Text Placeholder 2"/>
          <p:cNvSpPr>
            <a:spLocks noGrp="1"/>
          </p:cNvSpPr>
          <p:nvPr/>
        </p:nvSpPr>
        <p:spPr>
          <a:xfrm>
            <a:off x="92366" y="685716"/>
            <a:ext cx="6368450" cy="1024985"/>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CN" sz="2400" dirty="0"/>
              <a:t>Multiple</a:t>
            </a:r>
            <a:r>
              <a:rPr lang="zh-CN" altLang="en-US" sz="2400" dirty="0"/>
              <a:t> </a:t>
            </a:r>
            <a:r>
              <a:rPr lang="en-US" altLang="zh-CN" sz="2400" dirty="0"/>
              <a:t>Linear</a:t>
            </a:r>
            <a:r>
              <a:rPr lang="zh-CN" altLang="en-US" sz="2400" dirty="0"/>
              <a:t> </a:t>
            </a:r>
            <a:r>
              <a:rPr lang="en-US" altLang="zh-CN" sz="2400" dirty="0"/>
              <a:t>Regression</a:t>
            </a:r>
            <a:endParaRPr lang="en-US" sz="2400" dirty="0"/>
          </a:p>
        </p:txBody>
      </p:sp>
      <p:sp>
        <p:nvSpPr>
          <p:cNvPr id="17" name="Text Placeholder 3"/>
          <p:cNvSpPr>
            <a:spLocks noGrp="1"/>
          </p:cNvSpPr>
          <p:nvPr/>
        </p:nvSpPr>
        <p:spPr>
          <a:xfrm>
            <a:off x="85589"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solidFill>
                <a:srgbClr val="EAAA00"/>
              </a:solidFill>
            </a:endParaRPr>
          </a:p>
          <a:p>
            <a:r>
              <a:rPr lang="en-US" dirty="0" err="1">
                <a:solidFill>
                  <a:srgbClr val="EAAA00"/>
                </a:solidFill>
              </a:rPr>
              <a:t>Nicoleta</a:t>
            </a:r>
            <a:r>
              <a:rPr lang="en-US" dirty="0">
                <a:solidFill>
                  <a:srgbClr val="EAAA00"/>
                </a:solidFill>
              </a:rPr>
              <a:t> </a:t>
            </a:r>
            <a:r>
              <a:rPr lang="en-US" dirty="0" err="1">
                <a:solidFill>
                  <a:srgbClr val="EAAA00"/>
                </a:solidFill>
              </a:rPr>
              <a:t>Serban</a:t>
            </a:r>
            <a:r>
              <a:rPr lang="en-US" dirty="0">
                <a:solidFill>
                  <a:srgbClr val="EAAA00"/>
                </a:solidFill>
              </a:rPr>
              <a:t>, Ph.D. </a:t>
            </a:r>
          </a:p>
        </p:txBody>
      </p:sp>
      <p:sp>
        <p:nvSpPr>
          <p:cNvPr id="18" name="Text Placeholder 4"/>
          <p:cNvSpPr>
            <a:spLocks noGrp="1"/>
          </p:cNvSpPr>
          <p:nvPr/>
        </p:nvSpPr>
        <p:spPr>
          <a:xfrm>
            <a:off x="92366"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20" name="Text Placeholder 6"/>
          <p:cNvSpPr>
            <a:spLocks noGrp="1"/>
          </p:cNvSpPr>
          <p:nvPr/>
        </p:nvSpPr>
        <p:spPr>
          <a:xfrm>
            <a:off x="101772"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
        <p:nvSpPr>
          <p:cNvPr id="9" name="文本占位符 5">
            <a:extLst>
              <a:ext uri="{FF2B5EF4-FFF2-40B4-BE49-F238E27FC236}">
                <a16:creationId xmlns:a16="http://schemas.microsoft.com/office/drawing/2014/main" id="{2DA12C89-CC5E-46EF-9852-0530A8E7E100}"/>
              </a:ext>
            </a:extLst>
          </p:cNvPr>
          <p:cNvSpPr txBox="1">
            <a:spLocks/>
          </p:cNvSpPr>
          <p:nvPr/>
        </p:nvSpPr>
        <p:spPr>
          <a:xfrm>
            <a:off x="88438" y="4034930"/>
            <a:ext cx="3803831" cy="681037"/>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2000" dirty="0">
                <a:solidFill>
                  <a:schemeClr val="tx2"/>
                </a:solidFill>
                <a:latin typeface="Helvetica" panose="020B0604020202020204" pitchFamily="34" charset="0"/>
                <a:cs typeface="Helvetica" panose="020B0604020202020204" pitchFamily="34" charset="0"/>
              </a:rPr>
              <a:t>Predicting Demand for Rental Bikes: </a:t>
            </a:r>
            <a:r>
              <a:rPr kumimoji="1" lang="en-US" altLang="zh-CN" sz="2000" dirty="0">
                <a:solidFill>
                  <a:schemeClr val="tx2"/>
                </a:solidFill>
                <a:latin typeface="Helvetica" panose="020B0604020202020204" pitchFamily="34" charset="0"/>
                <a:cs typeface="Helvetica" panose="020B0604020202020204" pitchFamily="34" charset="0"/>
              </a:rPr>
              <a:t>P-values and Large Sample Size</a:t>
            </a:r>
            <a:endParaRPr kumimoji="1" lang="zh-CN" altLang="en-US" sz="2000" dirty="0">
              <a:solidFill>
                <a:schemeClr val="tx2"/>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3214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15820" t="7499" r="15454" b="5507"/>
          <a:stretch/>
        </p:blipFill>
        <p:spPr>
          <a:xfrm>
            <a:off x="3422383" y="1033589"/>
            <a:ext cx="2392685" cy="3028613"/>
          </a:xfrm>
          <a:prstGeom prst="rect">
            <a:avLst/>
          </a:prstGeom>
        </p:spPr>
      </p:pic>
      <p:sp>
        <p:nvSpPr>
          <p:cNvPr id="2" name="Text Placeholder 1"/>
          <p:cNvSpPr>
            <a:spLocks noGrp="1"/>
          </p:cNvSpPr>
          <p:nvPr>
            <p:ph type="body" sz="quarter" idx="4294967295"/>
          </p:nvPr>
        </p:nvSpPr>
        <p:spPr>
          <a:xfrm>
            <a:off x="121380" y="154185"/>
            <a:ext cx="4727575" cy="731837"/>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extLst>
      <p:ext uri="{BB962C8B-B14F-4D97-AF65-F5344CB8AC3E}">
        <p14:creationId xmlns:p14="http://schemas.microsoft.com/office/powerpoint/2010/main" val="2065241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Box 4">
                <a:extLst>
                  <a:ext uri="{FF2B5EF4-FFF2-40B4-BE49-F238E27FC236}">
                    <a16:creationId xmlns:a16="http://schemas.microsoft.com/office/drawing/2014/main" id="{7946F123-9170-415B-996C-F44F3F557619}"/>
                  </a:ext>
                </a:extLst>
              </p:cNvPr>
              <p:cNvSpPr txBox="1">
                <a:spLocks noChangeArrowheads="1"/>
              </p:cNvSpPr>
              <p:nvPr/>
            </p:nvSpPr>
            <p:spPr bwMode="auto">
              <a:xfrm>
                <a:off x="99023" y="867011"/>
                <a:ext cx="4632003" cy="326640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457200" indent="-457200">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39725" indent="-339725" eaLnBrk="1" hangingPunct="1">
                  <a:spcBef>
                    <a:spcPct val="50000"/>
                  </a:spcBef>
                  <a:buFont typeface="Arial" panose="020B0604020202020204" pitchFamily="34" charset="0"/>
                  <a:buChar char="•"/>
                </a:pPr>
                <a:r>
                  <a:rPr lang="en-US" altLang="en-US" sz="1800" dirty="0">
                    <a:latin typeface="Helvetica" panose="020B0604020202020204" pitchFamily="34" charset="0"/>
                    <a:ea typeface="Helvetica Neue" charset="0"/>
                    <a:cs typeface="Helvetica" panose="020B0604020202020204" pitchFamily="34" charset="0"/>
                  </a:rPr>
                  <a:t>Basic statistics under large sample size:</a:t>
                </a:r>
              </a:p>
              <a:p>
                <a:pPr marL="339725" indent="0" eaLnBrk="1" hangingPunct="1">
                  <a:spcBef>
                    <a:spcPct val="50000"/>
                  </a:spcBef>
                </a:pPr>
                <a14:m>
                  <m:oMath xmlns:m="http://schemas.openxmlformats.org/officeDocument/2006/math">
                    <m:sSub>
                      <m:sSubPr>
                        <m:ctrlPr>
                          <a:rPr lang="en-US" altLang="en-US" sz="180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𝑍</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1</m:t>
                        </m:r>
                      </m:sub>
                    </m:s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8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i="1">
                            <a:latin typeface="Cambria Math" panose="02040503050406030204" pitchFamily="18" charset="0"/>
                            <a:ea typeface="Cambria Math" panose="02040503050406030204" pitchFamily="18" charset="0"/>
                            <a:cs typeface="Helvetica" panose="020B0604020202020204" pitchFamily="34" charset="0"/>
                          </a:rPr>
                          <m:t>𝑍</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𝑛</m:t>
                        </m:r>
                      </m:sub>
                    </m:s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𝑁</m:t>
                    </m:r>
                    <m:d>
                      <m:dPr>
                        <m:ctrlP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ctrlPr>
                      </m:dPr>
                      <m:e>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𝜇</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m:t>
                        </m:r>
                        <m:sSup>
                          <m:sSupPr>
                            <m:ctrlP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ctrlPr>
                          </m:sSupPr>
                          <m:e>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𝜎</m:t>
                            </m:r>
                          </m:e>
                          <m:sup>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2</m:t>
                            </m:r>
                          </m:sup>
                        </m:sSup>
                      </m:e>
                    </m:d>
                  </m:oMath>
                </a14:m>
                <a:r>
                  <a:rPr lang="en-US" altLang="en-US" sz="1800" b="0" dirty="0">
                    <a:latin typeface="Cambria Math" panose="02040503050406030204" pitchFamily="18" charset="0"/>
                    <a:ea typeface="Cambria Math" panose="02040503050406030204" pitchFamily="18" charset="0"/>
                    <a:cs typeface="Helvetica" panose="020B0604020202020204" pitchFamily="34" charset="0"/>
                  </a:rPr>
                  <a:t> </a:t>
                </a:r>
                <a14:m>
                  <m:oMath xmlns:m="http://schemas.openxmlformats.org/officeDocument/2006/math">
                    <m:r>
                      <a:rPr lang="en-US" altLang="en-US" sz="1800" b="0" i="1" dirty="0" smtClean="0">
                        <a:latin typeface="Cambria Math" panose="02040503050406030204" pitchFamily="18" charset="0"/>
                        <a:ea typeface="Cambria Math" panose="02040503050406030204" pitchFamily="18" charset="0"/>
                        <a:cs typeface="Helvetica" panose="020B0604020202020204" pitchFamily="34" charset="0"/>
                      </a:rPr>
                      <m:t>⇒ </m:t>
                    </m:r>
                    <m:acc>
                      <m:accPr>
                        <m:chr m:val="̅"/>
                        <m:ctrlPr>
                          <a:rPr lang="en-US" altLang="en-US" sz="1800" b="0" i="1" dirty="0" smtClean="0">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800" b="0" i="1" dirty="0" smtClean="0">
                            <a:latin typeface="Cambria Math" panose="02040503050406030204" pitchFamily="18" charset="0"/>
                            <a:ea typeface="Cambria Math" panose="02040503050406030204" pitchFamily="18" charset="0"/>
                            <a:cs typeface="Helvetica" panose="020B0604020202020204" pitchFamily="34" charset="0"/>
                          </a:rPr>
                          <m:t>𝑍</m:t>
                        </m:r>
                      </m:e>
                    </m:acc>
                    <m:r>
                      <a:rPr lang="en-US" altLang="en-US" sz="1800" b="0" i="1" dirty="0"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0" i="1" dirty="0" smtClean="0">
                        <a:latin typeface="Cambria Math" panose="02040503050406030204" pitchFamily="18" charset="0"/>
                        <a:ea typeface="Cambria Math" panose="02040503050406030204" pitchFamily="18" charset="0"/>
                        <a:cs typeface="Helvetica" panose="020B0604020202020204" pitchFamily="34" charset="0"/>
                      </a:rPr>
                      <m:t>𝑁</m:t>
                    </m:r>
                    <m:d>
                      <m:dPr>
                        <m:ctrlPr>
                          <a:rPr lang="en-US" altLang="en-US" sz="1800" b="0" i="1" dirty="0" smtClean="0">
                            <a:latin typeface="Cambria Math" panose="02040503050406030204" pitchFamily="18" charset="0"/>
                            <a:ea typeface="Cambria Math" panose="02040503050406030204" pitchFamily="18" charset="0"/>
                            <a:cs typeface="Helvetica" panose="020B0604020202020204" pitchFamily="34" charset="0"/>
                          </a:rPr>
                        </m:ctrlPr>
                      </m:dPr>
                      <m:e>
                        <m:r>
                          <a:rPr lang="en-US" altLang="en-US" sz="1800" i="1">
                            <a:latin typeface="Cambria Math" panose="02040503050406030204" pitchFamily="18" charset="0"/>
                            <a:ea typeface="Cambria Math" panose="02040503050406030204" pitchFamily="18" charset="0"/>
                            <a:cs typeface="Helvetica" panose="020B0604020202020204" pitchFamily="34" charset="0"/>
                          </a:rPr>
                          <m:t>𝜇</m:t>
                        </m:r>
                        <m:r>
                          <a:rPr lang="en-US" altLang="en-US" sz="1800" i="1">
                            <a:latin typeface="Cambria Math" panose="02040503050406030204" pitchFamily="18" charset="0"/>
                            <a:ea typeface="Cambria Math" panose="02040503050406030204" pitchFamily="18" charset="0"/>
                            <a:cs typeface="Helvetica" panose="020B0604020202020204" pitchFamily="34" charset="0"/>
                          </a:rPr>
                          <m:t>,</m:t>
                        </m:r>
                        <m:f>
                          <m:fPr>
                            <m:ctrlP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ctrlPr>
                          </m:fPr>
                          <m:num>
                            <m:sSup>
                              <m:sSupPr>
                                <m:ctrlPr>
                                  <a:rPr lang="en-US" altLang="en-US" sz="1800" i="1">
                                    <a:latin typeface="Cambria Math" panose="02040503050406030204" pitchFamily="18" charset="0"/>
                                    <a:ea typeface="Cambria Math" panose="02040503050406030204" pitchFamily="18" charset="0"/>
                                    <a:cs typeface="Helvetica" panose="020B0604020202020204" pitchFamily="34" charset="0"/>
                                  </a:rPr>
                                </m:ctrlPr>
                              </m:sSupPr>
                              <m:e>
                                <m:r>
                                  <a:rPr lang="en-US" altLang="en-US" sz="1800" i="1">
                                    <a:latin typeface="Cambria Math" panose="02040503050406030204" pitchFamily="18" charset="0"/>
                                    <a:ea typeface="Cambria Math" panose="02040503050406030204" pitchFamily="18" charset="0"/>
                                    <a:cs typeface="Helvetica" panose="020B0604020202020204" pitchFamily="34" charset="0"/>
                                  </a:rPr>
                                  <m:t>𝜎</m:t>
                                </m:r>
                              </m:e>
                              <m:sup>
                                <m:r>
                                  <a:rPr lang="en-US" altLang="en-US" sz="1800" i="1">
                                    <a:latin typeface="Cambria Math" panose="02040503050406030204" pitchFamily="18" charset="0"/>
                                    <a:ea typeface="Cambria Math" panose="02040503050406030204" pitchFamily="18" charset="0"/>
                                    <a:cs typeface="Helvetica" panose="020B0604020202020204" pitchFamily="34" charset="0"/>
                                  </a:rPr>
                                  <m:t>2</m:t>
                                </m:r>
                              </m:sup>
                            </m:sSup>
                          </m:num>
                          <m:den>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𝑛</m:t>
                            </m:r>
                          </m:den>
                        </m:f>
                      </m:e>
                    </m:d>
                  </m:oMath>
                </a14:m>
                <a:endParaRPr lang="en-US" altLang="en-US" sz="1800" b="0" dirty="0">
                  <a:latin typeface="Cambria Math" panose="02040503050406030204" pitchFamily="18" charset="0"/>
                  <a:ea typeface="Cambria Math" panose="02040503050406030204" pitchFamily="18" charset="0"/>
                  <a:cs typeface="Helvetica" panose="020B0604020202020204" pitchFamily="34" charset="0"/>
                </a:endParaRPr>
              </a:p>
              <a:p>
                <a:pPr marL="339725" indent="-339725">
                  <a:spcBef>
                    <a:spcPct val="50000"/>
                  </a:spcBef>
                  <a:buFont typeface="Arial" panose="020B0604020202020204" pitchFamily="34" charset="0"/>
                  <a:buChar char="•"/>
                </a:pPr>
                <a:r>
                  <a:rPr lang="en-US" altLang="en-US" sz="1800" dirty="0">
                    <a:latin typeface="Helvetica" panose="020B0604020202020204" pitchFamily="34" charset="0"/>
                    <a:ea typeface="Cambria Math" panose="02040503050406030204" pitchFamily="18" charset="0"/>
                    <a:cs typeface="Helvetica" panose="020B0604020202020204" pitchFamily="34" charset="0"/>
                  </a:rPr>
                  <a:t>Hypothesis testing for the mean:</a:t>
                </a:r>
              </a:p>
              <a:p>
                <a:pPr marL="339725" indent="0">
                  <a:spcBef>
                    <a:spcPct val="50000"/>
                  </a:spcBef>
                </a:pPr>
                <a14:m>
                  <m:oMath xmlns:m="http://schemas.openxmlformats.org/officeDocument/2006/math">
                    <m:sSub>
                      <m:sSubPr>
                        <m:ctrlP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𝐻</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0</m:t>
                        </m:r>
                      </m:sub>
                    </m:s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 </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𝜇</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=0</m:t>
                    </m:r>
                  </m:oMath>
                </a14:m>
                <a:r>
                  <a:rPr lang="en-US" altLang="en-US" sz="1800" b="0" dirty="0">
                    <a:latin typeface="Cambria Math" panose="02040503050406030204" pitchFamily="18" charset="0"/>
                    <a:ea typeface="Cambria Math" panose="02040503050406030204" pitchFamily="18" charset="0"/>
                    <a:cs typeface="Helvetica" panose="020B0604020202020204" pitchFamily="34" charset="0"/>
                  </a:rPr>
                  <a:t> vs. </a:t>
                </a:r>
                <a14:m>
                  <m:oMath xmlns:m="http://schemas.openxmlformats.org/officeDocument/2006/math">
                    <m:sSub>
                      <m:sSubPr>
                        <m:ctrlPr>
                          <a:rPr lang="en-US" altLang="en-US" sz="18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i="1">
                            <a:latin typeface="Cambria Math" panose="02040503050406030204" pitchFamily="18" charset="0"/>
                            <a:ea typeface="Cambria Math" panose="02040503050406030204" pitchFamily="18" charset="0"/>
                            <a:cs typeface="Helvetica" panose="020B0604020202020204" pitchFamily="34" charset="0"/>
                          </a:rPr>
                          <m:t>𝐻</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𝐴</m:t>
                        </m:r>
                      </m:sub>
                    </m:sSub>
                    <m:r>
                      <a:rPr lang="en-US" altLang="en-US" sz="1800" i="1">
                        <a:latin typeface="Cambria Math" panose="02040503050406030204" pitchFamily="18" charset="0"/>
                        <a:ea typeface="Cambria Math" panose="02040503050406030204" pitchFamily="18" charset="0"/>
                        <a:cs typeface="Helvetica" panose="020B0604020202020204" pitchFamily="34" charset="0"/>
                      </a:rPr>
                      <m:t>: </m:t>
                    </m:r>
                    <m:r>
                      <a:rPr lang="en-US" altLang="en-US" sz="1800" i="1">
                        <a:latin typeface="Cambria Math" panose="02040503050406030204" pitchFamily="18" charset="0"/>
                        <a:ea typeface="Cambria Math" panose="02040503050406030204" pitchFamily="18" charset="0"/>
                        <a:cs typeface="Helvetica" panose="020B0604020202020204" pitchFamily="34" charset="0"/>
                      </a:rPr>
                      <m:t>𝜇</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 ≠</m:t>
                    </m:r>
                    <m:r>
                      <a:rPr lang="en-US" altLang="en-US" sz="1800" i="1">
                        <a:latin typeface="Cambria Math" panose="02040503050406030204" pitchFamily="18" charset="0"/>
                        <a:ea typeface="Cambria Math" panose="02040503050406030204" pitchFamily="18" charset="0"/>
                        <a:cs typeface="Helvetica" panose="020B0604020202020204" pitchFamily="34" charset="0"/>
                      </a:rPr>
                      <m:t>0</m:t>
                    </m:r>
                  </m:oMath>
                </a14:m>
                <a:r>
                  <a:rPr lang="en-US" altLang="en-US" sz="1800" dirty="0">
                    <a:latin typeface="Cambria Math" panose="02040503050406030204" pitchFamily="18" charset="0"/>
                    <a:ea typeface="Cambria Math" panose="02040503050406030204" pitchFamily="18" charset="0"/>
                    <a:cs typeface="Helvetica" panose="020B0604020202020204" pitchFamily="34" charset="0"/>
                  </a:rPr>
                  <a:t> </a:t>
                </a:r>
              </a:p>
              <a:p>
                <a:pPr marL="339725" indent="-339725">
                  <a:spcBef>
                    <a:spcPct val="50000"/>
                  </a:spcBef>
                  <a:buFont typeface="Arial" panose="020B0604020202020204" pitchFamily="34" charset="0"/>
                  <a:buChar char="•"/>
                </a:pPr>
                <a:r>
                  <a:rPr lang="en-US" altLang="en-US" sz="1800" dirty="0">
                    <a:latin typeface="Helvetica" panose="020B0604020202020204" pitchFamily="34" charset="0"/>
                    <a:ea typeface="Cambria Math" panose="02040503050406030204" pitchFamily="18" charset="0"/>
                    <a:cs typeface="Helvetica" panose="020B0604020202020204" pitchFamily="34" charset="0"/>
                  </a:rPr>
                  <a:t>P-value and sample size:</a:t>
                </a:r>
              </a:p>
              <a:p>
                <a:pPr marL="339725" indent="0">
                  <a:spcBef>
                    <a:spcPct val="50000"/>
                  </a:spcBef>
                </a:pPr>
                <a14:m>
                  <m:oMath xmlns:m="http://schemas.openxmlformats.org/officeDocument/2006/math">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𝒑</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𝒗𝒂𝒍𝒖𝒆</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𝟐</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𝑷</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𝒁</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&gt;√</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𝒏</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m:t>
                    </m:r>
                    <m:f>
                      <m:fPr>
                        <m:ctrlP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ctrlPr>
                      </m:fPr>
                      <m:num>
                        <m:acc>
                          <m:accPr>
                            <m:chr m:val="̅"/>
                            <m:ctrlP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𝒁</m:t>
                            </m:r>
                          </m:e>
                        </m:acc>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𝟎</m:t>
                        </m:r>
                      </m:num>
                      <m:den>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𝝈</m:t>
                        </m:r>
                      </m:den>
                    </m:f>
                    <m:r>
                      <a:rPr lang="en-US" altLang="en-US" sz="1800" b="1" i="1" smtClean="0">
                        <a:latin typeface="Cambria Math" panose="02040503050406030204" pitchFamily="18" charset="0"/>
                        <a:ea typeface="Cambria Math" panose="02040503050406030204" pitchFamily="18" charset="0"/>
                        <a:cs typeface="Helvetica" panose="020B0604020202020204" pitchFamily="34" charset="0"/>
                      </a:rPr>
                      <m:t>|)</m:t>
                    </m:r>
                  </m:oMath>
                </a14:m>
                <a:r>
                  <a:rPr lang="en-US" altLang="en-US" sz="1800" b="1" dirty="0">
                    <a:latin typeface="Cambria Math" panose="02040503050406030204" pitchFamily="18" charset="0"/>
                    <a:ea typeface="Cambria Math" panose="02040503050406030204" pitchFamily="18" charset="0"/>
                    <a:cs typeface="Helvetica" panose="020B0604020202020204" pitchFamily="34" charset="0"/>
                  </a:rPr>
                  <a:t> </a:t>
                </a:r>
                <a:r>
                  <a:rPr lang="en-US" altLang="en-US" sz="1800" b="1" dirty="0">
                    <a:latin typeface="Helvetica" panose="020B0604020202020204" pitchFamily="34" charset="0"/>
                    <a:ea typeface="Cambria Math" panose="02040503050406030204" pitchFamily="18" charset="0"/>
                    <a:cs typeface="Helvetica" panose="020B0604020202020204" pitchFamily="34" charset="0"/>
                  </a:rPr>
                  <a:t>is approximately </a:t>
                </a:r>
                <a:r>
                  <a:rPr lang="en-US" altLang="en-US" sz="1800" b="1" i="1" dirty="0">
                    <a:latin typeface="Helvetica" panose="020B0604020202020204" pitchFamily="34" charset="0"/>
                    <a:ea typeface="Cambria Math" panose="02040503050406030204" pitchFamily="18" charset="0"/>
                    <a:cs typeface="Helvetica" panose="020B0604020202020204" pitchFamily="34" charset="0"/>
                  </a:rPr>
                  <a:t>0</a:t>
                </a:r>
                <a:r>
                  <a:rPr lang="en-US" altLang="en-US" sz="1800" b="1" dirty="0">
                    <a:latin typeface="Helvetica" panose="020B0604020202020204" pitchFamily="34" charset="0"/>
                    <a:ea typeface="Cambria Math" panose="02040503050406030204" pitchFamily="18" charset="0"/>
                    <a:cs typeface="Helvetica" panose="020B0604020202020204" pitchFamily="34" charset="0"/>
                  </a:rPr>
                  <a:t> with </a:t>
                </a:r>
                <a:r>
                  <a:rPr lang="en-US" altLang="en-US" sz="1800" b="1" i="1" dirty="0">
                    <a:latin typeface="Helvetica" panose="020B0604020202020204" pitchFamily="34" charset="0"/>
                    <a:ea typeface="Cambria Math" panose="02040503050406030204" pitchFamily="18" charset="0"/>
                    <a:cs typeface="Helvetica" panose="020B0604020202020204" pitchFamily="34" charset="0"/>
                  </a:rPr>
                  <a:t>n</a:t>
                </a:r>
                <a:r>
                  <a:rPr lang="en-US" altLang="en-US" sz="1800" b="1" dirty="0">
                    <a:latin typeface="Helvetica" panose="020B0604020202020204" pitchFamily="34" charset="0"/>
                    <a:ea typeface="Cambria Math" panose="02040503050406030204" pitchFamily="18" charset="0"/>
                    <a:cs typeface="Helvetica" panose="020B0604020202020204" pitchFamily="34" charset="0"/>
                  </a:rPr>
                  <a:t> very large</a:t>
                </a:r>
              </a:p>
            </p:txBody>
          </p:sp>
        </mc:Choice>
        <mc:Fallback xmlns="">
          <p:sp>
            <p:nvSpPr>
              <p:cNvPr id="4" name="Text Box 4">
                <a:extLst>
                  <a:ext uri="{FF2B5EF4-FFF2-40B4-BE49-F238E27FC236}">
                    <a16:creationId xmlns:a16="http://schemas.microsoft.com/office/drawing/2014/main" id="{7946F123-9170-415B-996C-F44F3F557619}"/>
                  </a:ext>
                </a:extLst>
              </p:cNvPr>
              <p:cNvSpPr txBox="1">
                <a:spLocks noRot="1" noChangeAspect="1" noMove="1" noResize="1" noEditPoints="1" noAdjustHandles="1" noChangeArrowheads="1" noChangeShapeType="1" noTextEdit="1"/>
              </p:cNvSpPr>
              <p:nvPr/>
            </p:nvSpPr>
            <p:spPr bwMode="auto">
              <a:xfrm>
                <a:off x="99023" y="867011"/>
                <a:ext cx="4632003" cy="3266407"/>
              </a:xfrm>
              <a:prstGeom prst="rect">
                <a:avLst/>
              </a:prstGeom>
              <a:blipFill>
                <a:blip r:embed="rId2"/>
                <a:stretch>
                  <a:fillRect l="-789" t="-933" b="-205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Title 1"/>
          <p:cNvSpPr txBox="1">
            <a:spLocks/>
          </p:cNvSpPr>
          <p:nvPr/>
        </p:nvSpPr>
        <p:spPr>
          <a:xfrm>
            <a:off x="104688" y="153921"/>
            <a:ext cx="8562392" cy="656717"/>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lvl="0">
              <a:spcBef>
                <a:spcPct val="50000"/>
              </a:spcBef>
              <a:defRPr/>
            </a:pPr>
            <a:r>
              <a:rPr kumimoji="1" lang="en-US" altLang="zh-CN" sz="3600" dirty="0">
                <a:latin typeface="Vitesse"/>
              </a:rPr>
              <a:t>The P-value Problem: Basis Statistics</a:t>
            </a:r>
            <a:endParaRPr kumimoji="0" lang="en-US" altLang="en-US" sz="3600" b="0" i="0" u="none" strike="noStrike" kern="1200" cap="none" spc="0" normalizeH="0" baseline="0" noProof="0" dirty="0">
              <a:ln>
                <a:noFill/>
              </a:ln>
              <a:solidFill>
                <a:prstClr val="black"/>
              </a:solidFill>
              <a:effectLst/>
              <a:uLnTx/>
              <a:uFillTx/>
              <a:latin typeface="Vitesse"/>
            </a:endParaRPr>
          </a:p>
        </p:txBody>
      </p:sp>
      <p:sp>
        <p:nvSpPr>
          <p:cNvPr id="6" name="Rectangle 5">
            <a:extLst>
              <a:ext uri="{FF2B5EF4-FFF2-40B4-BE49-F238E27FC236}">
                <a16:creationId xmlns:a16="http://schemas.microsoft.com/office/drawing/2014/main" id="{21A1305C-B442-44C1-9B45-4C47C4BE515A}"/>
              </a:ext>
            </a:extLst>
          </p:cNvPr>
          <p:cNvSpPr/>
          <p:nvPr/>
        </p:nvSpPr>
        <p:spPr>
          <a:xfrm>
            <a:off x="5486400" y="1131259"/>
            <a:ext cx="3467100" cy="2400657"/>
          </a:xfrm>
          <a:prstGeom prst="rect">
            <a:avLst/>
          </a:prstGeom>
          <a:noFill/>
          <a:ln w="19050">
            <a:solidFill>
              <a:schemeClr val="tx2"/>
            </a:solidFill>
          </a:ln>
        </p:spPr>
        <p:txBody>
          <a:bodyPr wrap="square" tIns="91440" bIns="91440">
            <a:spAutoFit/>
          </a:bodyPr>
          <a:lstStyle/>
          <a:p>
            <a:r>
              <a:rPr lang="en-US" sz="1800" b="1" i="1" dirty="0">
                <a:latin typeface="Helvetica" charset="0"/>
                <a:ea typeface="Helvetica" charset="0"/>
                <a:cs typeface="Helvetica" charset="0"/>
              </a:rPr>
              <a:t>“Inflated” Significance</a:t>
            </a:r>
            <a:r>
              <a:rPr lang="en-US" sz="1800" dirty="0">
                <a:latin typeface="Helvetica" charset="0"/>
                <a:ea typeface="Helvetica" charset="0"/>
                <a:cs typeface="Helvetica" charset="0"/>
              </a:rPr>
              <a:t>: Conclusions based on small-sample statistical inferences using large samples can be misleading.</a:t>
            </a:r>
          </a:p>
          <a:p>
            <a:endParaRPr lang="en-US" sz="1800" dirty="0">
              <a:latin typeface="Helvetica" charset="0"/>
              <a:ea typeface="Helvetica" charset="0"/>
              <a:cs typeface="Helvetica" charset="0"/>
            </a:endParaRPr>
          </a:p>
          <a:p>
            <a:r>
              <a:rPr lang="en-US" sz="1800" b="1" dirty="0">
                <a:latin typeface="Helvetica" charset="0"/>
                <a:ea typeface="Helvetica" charset="0"/>
                <a:cs typeface="Helvetica" charset="0"/>
              </a:rPr>
              <a:t>Samples Can Make the Insignificant...Significant!</a:t>
            </a:r>
          </a:p>
        </p:txBody>
      </p:sp>
    </p:spTree>
    <p:extLst>
      <p:ext uri="{BB962C8B-B14F-4D97-AF65-F5344CB8AC3E}">
        <p14:creationId xmlns:p14="http://schemas.microsoft.com/office/powerpoint/2010/main" val="200702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Box 4">
                <a:extLst>
                  <a:ext uri="{FF2B5EF4-FFF2-40B4-BE49-F238E27FC236}">
                    <a16:creationId xmlns:a16="http://schemas.microsoft.com/office/drawing/2014/main" id="{7946F123-9170-415B-996C-F44F3F557619}"/>
                  </a:ext>
                </a:extLst>
              </p:cNvPr>
              <p:cNvSpPr txBox="1">
                <a:spLocks noChangeArrowheads="1"/>
              </p:cNvSpPr>
              <p:nvPr/>
            </p:nvSpPr>
            <p:spPr bwMode="auto">
              <a:xfrm>
                <a:off x="147575" y="885347"/>
                <a:ext cx="4462525" cy="344844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457200" indent="-457200">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285750" indent="-285750">
                  <a:spcBef>
                    <a:spcPct val="50000"/>
                  </a:spcBef>
                  <a:buFont typeface="Arial" panose="020B0604020202020204" pitchFamily="34" charset="0"/>
                  <a:buChar char="•"/>
                </a:pPr>
                <a:r>
                  <a:rPr lang="en-US" altLang="en-US" sz="1800" dirty="0">
                    <a:latin typeface="Helvetica" panose="020B0604020202020204" pitchFamily="34" charset="0"/>
                    <a:ea typeface="Cambria Math" panose="02040503050406030204" pitchFamily="18" charset="0"/>
                    <a:cs typeface="Helvetica" panose="020B0604020202020204" pitchFamily="34" charset="0"/>
                  </a:rPr>
                  <a:t>Hypothesis testing for the statistical significance of the regression coefficients:</a:t>
                </a:r>
              </a:p>
              <a:p>
                <a:pPr marL="284163" indent="0">
                  <a:spcBef>
                    <a:spcPct val="50000"/>
                  </a:spcBef>
                </a:pPr>
                <a14:m>
                  <m:oMath xmlns:m="http://schemas.openxmlformats.org/officeDocument/2006/math">
                    <m:sSub>
                      <m:sSubPr>
                        <m:ctrlP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𝐻</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0</m:t>
                        </m:r>
                      </m:sub>
                    </m:s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𝛽</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𝑖</m:t>
                        </m:r>
                      </m:sub>
                    </m:s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=0</m:t>
                    </m:r>
                  </m:oMath>
                </a14:m>
                <a:r>
                  <a:rPr lang="en-US" altLang="en-US" sz="1800" b="0" dirty="0">
                    <a:latin typeface="Cambria Math" panose="02040503050406030204" pitchFamily="18" charset="0"/>
                    <a:ea typeface="Cambria Math" panose="02040503050406030204" pitchFamily="18" charset="0"/>
                    <a:cs typeface="Helvetica" panose="020B0604020202020204" pitchFamily="34" charset="0"/>
                  </a:rPr>
                  <a:t> vs. </a:t>
                </a:r>
                <a14:m>
                  <m:oMath xmlns:m="http://schemas.openxmlformats.org/officeDocument/2006/math">
                    <m:sSub>
                      <m:sSubPr>
                        <m:ctrlPr>
                          <a:rPr lang="en-US" altLang="en-US" sz="18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i="1">
                            <a:latin typeface="Cambria Math" panose="02040503050406030204" pitchFamily="18" charset="0"/>
                            <a:ea typeface="Cambria Math" panose="02040503050406030204" pitchFamily="18" charset="0"/>
                            <a:cs typeface="Helvetica" panose="020B0604020202020204" pitchFamily="34" charset="0"/>
                          </a:rPr>
                          <m:t>𝐻</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𝐴</m:t>
                        </m:r>
                      </m:sub>
                    </m:sSub>
                    <m:r>
                      <a:rPr lang="en-US" altLang="en-US" sz="18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80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i="1" smtClean="0">
                            <a:latin typeface="Cambria Math" panose="02040503050406030204" pitchFamily="18" charset="0"/>
                            <a:ea typeface="Cambria Math" panose="02040503050406030204" pitchFamily="18" charset="0"/>
                            <a:cs typeface="Helvetica" panose="020B0604020202020204" pitchFamily="34" charset="0"/>
                          </a:rPr>
                          <m:t>𝛽</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𝑖</m:t>
                        </m:r>
                      </m:sub>
                    </m:s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 ≠</m:t>
                    </m:r>
                    <m:r>
                      <a:rPr lang="en-US" altLang="en-US" sz="1800" i="1">
                        <a:latin typeface="Cambria Math" panose="02040503050406030204" pitchFamily="18" charset="0"/>
                        <a:ea typeface="Cambria Math" panose="02040503050406030204" pitchFamily="18" charset="0"/>
                        <a:cs typeface="Helvetica" panose="020B0604020202020204" pitchFamily="34" charset="0"/>
                      </a:rPr>
                      <m:t>0</m:t>
                    </m:r>
                  </m:oMath>
                </a14:m>
                <a:r>
                  <a:rPr lang="en-US" altLang="en-US" sz="1800" dirty="0">
                    <a:latin typeface="Cambria Math" panose="02040503050406030204" pitchFamily="18" charset="0"/>
                    <a:ea typeface="Cambria Math" panose="02040503050406030204" pitchFamily="18" charset="0"/>
                    <a:cs typeface="Helvetica" panose="020B0604020202020204" pitchFamily="34" charset="0"/>
                  </a:rPr>
                  <a:t> </a:t>
                </a:r>
              </a:p>
              <a:p>
                <a:pPr marL="285750" indent="-285750">
                  <a:spcBef>
                    <a:spcPct val="50000"/>
                  </a:spcBef>
                  <a:buFont typeface="Arial" panose="020B0604020202020204" pitchFamily="34" charset="0"/>
                  <a:buChar char="•"/>
                </a:pPr>
                <a:r>
                  <a:rPr lang="en-US" altLang="en-US" sz="1800" dirty="0">
                    <a:latin typeface="Helvetica" panose="020B0604020202020204" pitchFamily="34" charset="0"/>
                    <a:ea typeface="Cambria Math" panose="02040503050406030204" pitchFamily="18" charset="0"/>
                    <a:cs typeface="Helvetica" panose="020B0604020202020204" pitchFamily="34" charset="0"/>
                  </a:rPr>
                  <a:t>P-value and sample size:</a:t>
                </a:r>
              </a:p>
              <a:p>
                <a:pPr marL="284163" indent="0">
                  <a:spcBef>
                    <a:spcPct val="50000"/>
                  </a:spcBef>
                </a:pPr>
                <a14:m>
                  <m:oMath xmlns:m="http://schemas.openxmlformats.org/officeDocument/2006/math">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𝑝</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𝑣𝑎𝑙𝑢𝑒</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=2</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𝑃</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𝑇</m:t>
                        </m:r>
                      </m:e>
                      <m: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𝑛</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𝑝</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−1</m:t>
                        </m:r>
                      </m:sub>
                    </m:sSub>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&gt;|</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𝑡</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𝑣𝑎𝑙𝑢𝑒</m:t>
                    </m:r>
                    <m:r>
                      <a:rPr lang="en-US" altLang="en-US" sz="1800" b="0" i="1" smtClean="0">
                        <a:latin typeface="Cambria Math" panose="02040503050406030204" pitchFamily="18" charset="0"/>
                        <a:ea typeface="Cambria Math" panose="02040503050406030204" pitchFamily="18" charset="0"/>
                        <a:cs typeface="Helvetica" panose="020B0604020202020204" pitchFamily="34" charset="0"/>
                      </a:rPr>
                      <m:t>|)</m:t>
                    </m:r>
                  </m:oMath>
                </a14:m>
                <a:r>
                  <a:rPr lang="en-US" altLang="en-US" sz="1800" b="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800" dirty="0">
                    <a:latin typeface="Helvetica" panose="020B0604020202020204" pitchFamily="34" charset="0"/>
                    <a:ea typeface="Cambria Math" panose="02040503050406030204" pitchFamily="18" charset="0"/>
                    <a:cs typeface="Helvetica" panose="020B0604020202020204" pitchFamily="34" charset="0"/>
                  </a:rPr>
                  <a:t>is approximately </a:t>
                </a:r>
                <a:r>
                  <a:rPr lang="en-US" altLang="en-US" sz="1800" i="1" dirty="0">
                    <a:latin typeface="Helvetica" panose="020B0604020202020204" pitchFamily="34" charset="0"/>
                    <a:ea typeface="Cambria Math" panose="02040503050406030204" pitchFamily="18" charset="0"/>
                    <a:cs typeface="Helvetica" panose="020B0604020202020204" pitchFamily="34" charset="0"/>
                  </a:rPr>
                  <a:t>0</a:t>
                </a:r>
                <a:r>
                  <a:rPr lang="en-US" altLang="en-US" sz="1800" dirty="0">
                    <a:latin typeface="Helvetica" panose="020B0604020202020204" pitchFamily="34" charset="0"/>
                    <a:ea typeface="Cambria Math" panose="02040503050406030204" pitchFamily="18" charset="0"/>
                    <a:cs typeface="Helvetica" panose="020B0604020202020204" pitchFamily="34" charset="0"/>
                  </a:rPr>
                  <a:t> with </a:t>
                </a:r>
                <a:r>
                  <a:rPr lang="en-US" altLang="en-US" sz="1800" i="1" dirty="0">
                    <a:latin typeface="Helvetica" panose="020B0604020202020204" pitchFamily="34" charset="0"/>
                    <a:ea typeface="Cambria Math" panose="02040503050406030204" pitchFamily="18" charset="0"/>
                    <a:cs typeface="Helvetica" panose="020B0604020202020204" pitchFamily="34" charset="0"/>
                  </a:rPr>
                  <a:t>n</a:t>
                </a:r>
                <a:r>
                  <a:rPr lang="en-US" altLang="en-US" sz="1800" dirty="0">
                    <a:latin typeface="Helvetica" panose="020B0604020202020204" pitchFamily="34" charset="0"/>
                    <a:ea typeface="Cambria Math" panose="02040503050406030204" pitchFamily="18" charset="0"/>
                    <a:cs typeface="Helvetica" panose="020B0604020202020204" pitchFamily="34" charset="0"/>
                  </a:rPr>
                  <a:t> very large </a:t>
                </a:r>
              </a:p>
              <a:p>
                <a:pPr marL="285750" indent="-285750">
                  <a:spcBef>
                    <a:spcPct val="50000"/>
                  </a:spcBef>
                  <a:buFont typeface="Arial" panose="020B0604020202020204" pitchFamily="34" charset="0"/>
                  <a:buChar char="•"/>
                </a:pPr>
                <a:r>
                  <a:rPr lang="en-US" altLang="en-US" sz="1800" dirty="0">
                    <a:latin typeface="Helvetica" panose="020B0604020202020204" pitchFamily="34" charset="0"/>
                    <a:ea typeface="Cambria Math" panose="02040503050406030204" pitchFamily="18" charset="0"/>
                    <a:cs typeface="Helvetica" panose="020B0604020202020204" pitchFamily="34" charset="0"/>
                  </a:rPr>
                  <a:t>Misleadingly, reject the null hypothesis of zero coefficient – all or most relationship are statistically significant.</a:t>
                </a:r>
                <a:endParaRPr lang="en-US" altLang="en-US" sz="1800" b="0" dirty="0">
                  <a:latin typeface="Helvetica" panose="020B0604020202020204" pitchFamily="34" charset="0"/>
                  <a:ea typeface="Cambria Math" panose="02040503050406030204" pitchFamily="18" charset="0"/>
                  <a:cs typeface="Helvetica" panose="020B0604020202020204" pitchFamily="34" charset="0"/>
                </a:endParaRPr>
              </a:p>
            </p:txBody>
          </p:sp>
        </mc:Choice>
        <mc:Fallback xmlns="">
          <p:sp>
            <p:nvSpPr>
              <p:cNvPr id="4" name="Text Box 4">
                <a:extLst>
                  <a:ext uri="{FF2B5EF4-FFF2-40B4-BE49-F238E27FC236}">
                    <a16:creationId xmlns:a16="http://schemas.microsoft.com/office/drawing/2014/main" id="{7946F123-9170-415B-996C-F44F3F557619}"/>
                  </a:ext>
                </a:extLst>
              </p:cNvPr>
              <p:cNvSpPr txBox="1">
                <a:spLocks noRot="1" noChangeAspect="1" noMove="1" noResize="1" noEditPoints="1" noAdjustHandles="1" noChangeArrowheads="1" noChangeShapeType="1" noTextEdit="1"/>
              </p:cNvSpPr>
              <p:nvPr/>
            </p:nvSpPr>
            <p:spPr bwMode="auto">
              <a:xfrm>
                <a:off x="147575" y="885347"/>
                <a:ext cx="4462525" cy="3448445"/>
              </a:xfrm>
              <a:prstGeom prst="rect">
                <a:avLst/>
              </a:prstGeom>
              <a:blipFill>
                <a:blip r:embed="rId2"/>
                <a:stretch>
                  <a:fillRect l="-820" t="-883" r="-137" b="-194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Title 1"/>
          <p:cNvSpPr txBox="1">
            <a:spLocks/>
          </p:cNvSpPr>
          <p:nvPr/>
        </p:nvSpPr>
        <p:spPr>
          <a:xfrm>
            <a:off x="104688" y="153921"/>
            <a:ext cx="8562392" cy="656717"/>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lvl="0">
              <a:spcBef>
                <a:spcPct val="50000"/>
              </a:spcBef>
              <a:defRPr/>
            </a:pPr>
            <a:r>
              <a:rPr kumimoji="1" lang="en-US" altLang="zh-CN" sz="3600" dirty="0">
                <a:latin typeface="Vitesse"/>
              </a:rPr>
              <a:t>The P-value Problem: Regression Analysis</a:t>
            </a:r>
            <a:endParaRPr kumimoji="0" lang="en-US" altLang="en-US" sz="3600" b="0" i="0" u="none" strike="noStrike" kern="1200" cap="none" spc="0" normalizeH="0" baseline="0" noProof="0" dirty="0">
              <a:ln>
                <a:noFill/>
              </a:ln>
              <a:solidFill>
                <a:prstClr val="black"/>
              </a:solidFill>
              <a:effectLst/>
              <a:uLnTx/>
              <a:uFillTx/>
              <a:latin typeface="Vitesse"/>
            </a:endParaRPr>
          </a:p>
        </p:txBody>
      </p:sp>
      <p:sp>
        <p:nvSpPr>
          <p:cNvPr id="6" name="Rectangle 5">
            <a:extLst>
              <a:ext uri="{FF2B5EF4-FFF2-40B4-BE49-F238E27FC236}">
                <a16:creationId xmlns:a16="http://schemas.microsoft.com/office/drawing/2014/main" id="{21A1305C-B442-44C1-9B45-4C47C4BE515A}"/>
              </a:ext>
            </a:extLst>
          </p:cNvPr>
          <p:cNvSpPr/>
          <p:nvPr/>
        </p:nvSpPr>
        <p:spPr>
          <a:xfrm>
            <a:off x="5486399" y="1120902"/>
            <a:ext cx="3467497" cy="2123658"/>
          </a:xfrm>
          <a:prstGeom prst="rect">
            <a:avLst/>
          </a:prstGeom>
          <a:noFill/>
          <a:ln w="19050">
            <a:solidFill>
              <a:schemeClr val="tx2"/>
            </a:solidFill>
          </a:ln>
        </p:spPr>
        <p:txBody>
          <a:bodyPr wrap="square" tIns="91440" bIns="91440">
            <a:spAutoFit/>
          </a:bodyPr>
          <a:lstStyle/>
          <a:p>
            <a:r>
              <a:rPr lang="en-US" sz="1800" b="1" i="1" dirty="0">
                <a:latin typeface="Helvetica" charset="0"/>
                <a:ea typeface="Helvetica" charset="0"/>
                <a:cs typeface="Helvetica" charset="0"/>
              </a:rPr>
              <a:t>“Inflated” Statistical Significance</a:t>
            </a:r>
            <a:r>
              <a:rPr lang="en-US" sz="1800" dirty="0">
                <a:latin typeface="Helvetica" charset="0"/>
                <a:ea typeface="Helvetica" charset="0"/>
                <a:cs typeface="Helvetica" charset="0"/>
              </a:rPr>
              <a:t>: Conclusions based on small-sample statistical inferences on the regression coefficients using large samples can be misleading.</a:t>
            </a:r>
          </a:p>
        </p:txBody>
      </p:sp>
    </p:spTree>
    <p:extLst>
      <p:ext uri="{BB962C8B-B14F-4D97-AF65-F5344CB8AC3E}">
        <p14:creationId xmlns:p14="http://schemas.microsoft.com/office/powerpoint/2010/main" val="3022564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Box 4">
                <a:extLst>
                  <a:ext uri="{FF2B5EF4-FFF2-40B4-BE49-F238E27FC236}">
                    <a16:creationId xmlns:a16="http://schemas.microsoft.com/office/drawing/2014/main" id="{7946F123-9170-415B-996C-F44F3F557619}"/>
                  </a:ext>
                </a:extLst>
              </p:cNvPr>
              <p:cNvSpPr txBox="1">
                <a:spLocks noChangeArrowheads="1"/>
              </p:cNvSpPr>
              <p:nvPr/>
            </p:nvSpPr>
            <p:spPr bwMode="auto">
              <a:xfrm>
                <a:off x="83965" y="901201"/>
                <a:ext cx="5078753" cy="41696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457200" indent="-457200">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41313" indent="-341313">
                  <a:spcBef>
                    <a:spcPct val="50000"/>
                  </a:spcBef>
                  <a:buFont typeface="Arial" panose="020B0604020202020204" pitchFamily="34" charset="0"/>
                  <a:buChar char="•"/>
                </a:pPr>
                <a:r>
                  <a:rPr lang="en-US" altLang="en-US" sz="1400" b="0" u="sng" dirty="0">
                    <a:latin typeface="Helvetica" panose="020B0604020202020204" pitchFamily="34" charset="0"/>
                    <a:ea typeface="Cambria Math" panose="02040503050406030204" pitchFamily="18" charset="0"/>
                    <a:cs typeface="Helvetica" panose="020B0604020202020204" pitchFamily="34" charset="0"/>
                  </a:rPr>
                  <a:t>Sub-sampling</a:t>
                </a:r>
                <a:r>
                  <a:rPr lang="en-US" altLang="en-US" sz="1400" b="0" dirty="0">
                    <a:latin typeface="Helvetica" panose="020B0604020202020204" pitchFamily="34" charset="0"/>
                    <a:ea typeface="Cambria Math" panose="02040503050406030204" pitchFamily="18" charset="0"/>
                    <a:cs typeface="Helvetica" panose="020B0604020202020204" pitchFamily="34" charset="0"/>
                  </a:rPr>
                  <a:t>: Sample the observed data</a:t>
                </a:r>
                <a:r>
                  <a:rPr lang="en-US" altLang="en-US" sz="1400" dirty="0">
                    <a:latin typeface="Helvetica" panose="020B0604020202020204" pitchFamily="34" charset="0"/>
                    <a:ea typeface="Cambria Math" panose="02040503050406030204" pitchFamily="18" charset="0"/>
                    <a:cs typeface="Helvetica" panose="020B0604020202020204" pitchFamily="34" charset="0"/>
                  </a:rPr>
                  <a:t>, e.g. 10-20% of the sample size</a:t>
                </a:r>
              </a:p>
              <a:p>
                <a:pPr marL="341313" indent="-341313">
                  <a:spcBef>
                    <a:spcPct val="50000"/>
                  </a:spcBef>
                  <a:buFont typeface="Arial" panose="020B0604020202020204" pitchFamily="34" charset="0"/>
                  <a:buChar char="•"/>
                </a:pPr>
                <a:r>
                  <a:rPr lang="en-US" altLang="en-US" sz="1400" b="0" dirty="0">
                    <a:latin typeface="Helvetica" panose="020B0604020202020204" pitchFamily="34" charset="0"/>
                    <a:ea typeface="Cambria Math" panose="02040503050406030204" pitchFamily="18" charset="0"/>
                    <a:cs typeface="Helvetica" panose="020B0604020202020204" pitchFamily="34" charset="0"/>
                  </a:rPr>
                  <a:t>Apply the regression mode</a:t>
                </a:r>
                <a:r>
                  <a:rPr lang="en-US" altLang="en-US" sz="1400" dirty="0">
                    <a:latin typeface="Helvetica" panose="020B0604020202020204" pitchFamily="34" charset="0"/>
                    <a:ea typeface="Cambria Math" panose="02040503050406030204" pitchFamily="18" charset="0"/>
                    <a:cs typeface="Helvetica" panose="020B0604020202020204" pitchFamily="34" charset="0"/>
                  </a:rPr>
                  <a:t>l to each sub-sampled data</a:t>
                </a:r>
              </a:p>
              <a:p>
                <a:pPr marL="341313" indent="-341313">
                  <a:spcBef>
                    <a:spcPct val="50000"/>
                  </a:spcBef>
                  <a:buFont typeface="Arial" panose="020B0604020202020204" pitchFamily="34" charset="0"/>
                  <a:buChar char="•"/>
                </a:pPr>
                <a:r>
                  <a:rPr lang="en-US" altLang="en-US" sz="1400" b="0" u="sng" dirty="0">
                    <a:latin typeface="Helvetica" panose="020B0604020202020204" pitchFamily="34" charset="0"/>
                    <a:ea typeface="Cambria Math" panose="02040503050406030204" pitchFamily="18" charset="0"/>
                    <a:cs typeface="Helvetica" panose="020B0604020202020204" pitchFamily="34" charset="0"/>
                  </a:rPr>
                  <a:t>Repeat</a:t>
                </a:r>
                <a:r>
                  <a:rPr lang="en-US" altLang="en-US" sz="1400" b="0" dirty="0">
                    <a:latin typeface="Helvetica" panose="020B0604020202020204" pitchFamily="34" charset="0"/>
                    <a:ea typeface="Cambria Math" panose="02040503050406030204" pitchFamily="18" charset="0"/>
                    <a:cs typeface="Helvetica" panose="020B0604020202020204" pitchFamily="34" charset="0"/>
                  </a:rPr>
                  <a:t> for B times, e.g. B=100</a:t>
                </a:r>
              </a:p>
              <a:p>
                <a:pPr marL="341313" indent="-341313">
                  <a:spcBef>
                    <a:spcPct val="50000"/>
                  </a:spcBef>
                  <a:buFont typeface="Arial" panose="020B0604020202020204" pitchFamily="34" charset="0"/>
                  <a:buChar char="•"/>
                </a:pPr>
                <a:r>
                  <a:rPr lang="en-US" altLang="en-US" sz="1400" b="1" dirty="0">
                    <a:latin typeface="Helvetica" panose="020B0604020202020204" pitchFamily="34" charset="0"/>
                    <a:ea typeface="Cambria Math" panose="02040503050406030204" pitchFamily="18" charset="0"/>
                    <a:cs typeface="Helvetica" panose="020B0604020202020204" pitchFamily="34" charset="0"/>
                  </a:rPr>
                  <a:t>Output</a:t>
                </a:r>
                <a:r>
                  <a:rPr lang="en-US" altLang="en-US" sz="1400" dirty="0">
                    <a:latin typeface="Helvetica" panose="020B0604020202020204" pitchFamily="34" charset="0"/>
                    <a:ea typeface="Cambria Math" panose="02040503050406030204" pitchFamily="18" charset="0"/>
                    <a:cs typeface="Helvetica" panose="020B0604020202020204" pitchFamily="34" charset="0"/>
                  </a:rPr>
                  <a:t>:</a:t>
                </a:r>
              </a:p>
              <a:p>
                <a:pPr marL="341313" indent="0">
                  <a:spcBef>
                    <a:spcPct val="50000"/>
                  </a:spcBef>
                </a:pPr>
                <a:r>
                  <a:rPr lang="en-US" altLang="en-US" sz="1400" b="0" i="1" dirty="0">
                    <a:latin typeface="Helvetica" panose="020B0604020202020204" pitchFamily="34" charset="0"/>
                    <a:ea typeface="Cambria Math" panose="02040503050406030204" pitchFamily="18" charset="0"/>
                    <a:cs typeface="Helvetica" panose="020B0604020202020204" pitchFamily="34" charset="0"/>
                  </a:rPr>
                  <a:t>Sub-sample 1</a:t>
                </a:r>
                <a:r>
                  <a:rPr lang="en-US" altLang="en-US" sz="1400" b="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sSub>
                      <m:sSubPr>
                        <m:ctrlP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0,1</m:t>
                        </m:r>
                      </m:sub>
                    </m:s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1</m:t>
                        </m:r>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sub>
                    </m:s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sub>
                    </m:sSub>
                  </m:oMath>
                </a14:m>
                <a:r>
                  <a:rPr lang="en-US" altLang="en-US" sz="1400" b="0" dirty="0">
                    <a:latin typeface="Helvetica" panose="020B0604020202020204" pitchFamily="34" charset="0"/>
                    <a:ea typeface="Cambria Math" panose="02040503050406030204" pitchFamily="18" charset="0"/>
                    <a:cs typeface="Helvetica" panose="020B0604020202020204" pitchFamily="34" charset="0"/>
                  </a:rPr>
                  <a:t> &amp; corresponding p-values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0,1</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1,1</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sub>
                    </m:sSub>
                  </m:oMath>
                </a14:m>
                <a:endParaRPr lang="en-US" altLang="en-US" sz="1400" dirty="0">
                  <a:latin typeface="Helvetica" panose="020B0604020202020204" pitchFamily="34" charset="0"/>
                  <a:ea typeface="Cambria Math" panose="02040503050406030204" pitchFamily="18" charset="0"/>
                  <a:cs typeface="Helvetica" panose="020B0604020202020204" pitchFamily="34" charset="0"/>
                </a:endParaRPr>
              </a:p>
              <a:p>
                <a:pPr marL="341313" indent="0">
                  <a:spcBef>
                    <a:spcPct val="50000"/>
                  </a:spcBef>
                </a:pPr>
                <a:r>
                  <a:rPr lang="en-US" altLang="en-US" sz="1400" i="1" dirty="0">
                    <a:latin typeface="Helvetica" panose="020B0604020202020204" pitchFamily="34" charset="0"/>
                    <a:ea typeface="Cambria Math" panose="02040503050406030204" pitchFamily="18" charset="0"/>
                    <a:cs typeface="Helvetica" panose="020B0604020202020204" pitchFamily="34" charset="0"/>
                  </a:rPr>
                  <a:t>Sub-sample 2</a:t>
                </a:r>
                <a:r>
                  <a:rPr lang="en-US" altLang="en-US" sz="140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,2</m:t>
                        </m:r>
                      </m:sub>
                    </m:sSub>
                  </m:oMath>
                </a14:m>
                <a:r>
                  <a:rPr lang="en-US" altLang="en-US" sz="1400" dirty="0">
                    <a:latin typeface="Helvetica" panose="020B0604020202020204" pitchFamily="34" charset="0"/>
                    <a:ea typeface="Cambria Math" panose="02040503050406030204" pitchFamily="18" charset="0"/>
                    <a:cs typeface="Helvetica" panose="020B0604020202020204" pitchFamily="34" charset="0"/>
                  </a:rPr>
                  <a:t> &amp; corresponding p-values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,2</m:t>
                        </m:r>
                      </m:sub>
                    </m:sSub>
                  </m:oMath>
                </a14:m>
                <a:endParaRPr lang="en-US" altLang="en-US" sz="1400" dirty="0">
                  <a:latin typeface="Helvetica" panose="020B0604020202020204" pitchFamily="34" charset="0"/>
                  <a:ea typeface="Cambria Math" panose="02040503050406030204" pitchFamily="18" charset="0"/>
                  <a:cs typeface="Helvetica" panose="020B0604020202020204" pitchFamily="34" charset="0"/>
                </a:endParaRPr>
              </a:p>
              <a:p>
                <a:pPr marL="341313" indent="0">
                  <a:spcBef>
                    <a:spcPct val="50000"/>
                  </a:spcBef>
                </a:pPr>
                <a:r>
                  <a:rPr lang="en-US" altLang="en-US" sz="1400" dirty="0">
                    <a:latin typeface="Helvetica" panose="020B0604020202020204" pitchFamily="34" charset="0"/>
                    <a:ea typeface="Cambria Math" panose="02040503050406030204" pitchFamily="18" charset="0"/>
                    <a:cs typeface="Helvetica" panose="020B0604020202020204" pitchFamily="34" charset="0"/>
                  </a:rPr>
                  <a:t>…..</a:t>
                </a:r>
              </a:p>
              <a:p>
                <a:pPr marL="341313" indent="0">
                  <a:spcBef>
                    <a:spcPct val="50000"/>
                  </a:spcBef>
                </a:pPr>
                <a:r>
                  <a:rPr lang="en-US" altLang="en-US" sz="1400" i="1" dirty="0">
                    <a:latin typeface="Helvetica" panose="020B0604020202020204" pitchFamily="34" charset="0"/>
                    <a:ea typeface="Cambria Math" panose="02040503050406030204" pitchFamily="18" charset="0"/>
                    <a:cs typeface="Helvetica" panose="020B0604020202020204" pitchFamily="34" charset="0"/>
                  </a:rPr>
                  <a:t>Sub-sample B</a:t>
                </a:r>
                <a:r>
                  <a:rPr lang="en-US" altLang="en-US" sz="140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smtClean="0">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oMath>
                </a14:m>
                <a:r>
                  <a:rPr lang="en-US" altLang="en-US" sz="1400" dirty="0">
                    <a:latin typeface="Helvetica" panose="020B0604020202020204" pitchFamily="34" charset="0"/>
                    <a:ea typeface="Cambria Math" panose="02040503050406030204" pitchFamily="18" charset="0"/>
                    <a:cs typeface="Helvetica" panose="020B0604020202020204" pitchFamily="34" charset="0"/>
                  </a:rPr>
                  <a:t> &amp; corresponding p-values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oMath>
                </a14:m>
                <a:endParaRPr lang="en-US" altLang="en-US" sz="1400" dirty="0">
                  <a:latin typeface="Helvetica" panose="020B0604020202020204" pitchFamily="34" charset="0"/>
                  <a:ea typeface="Cambria Math" panose="02040503050406030204" pitchFamily="18" charset="0"/>
                  <a:cs typeface="Helvetica" panose="020B0604020202020204" pitchFamily="34" charset="0"/>
                </a:endParaRPr>
              </a:p>
              <a:p>
                <a:pPr marL="341313" indent="-341313">
                  <a:spcBef>
                    <a:spcPct val="50000"/>
                  </a:spcBef>
                  <a:buFont typeface="Arial" panose="020B0604020202020204" pitchFamily="34" charset="0"/>
                  <a:buChar char="•"/>
                </a:pPr>
                <a:r>
                  <a:rPr lang="en-US" altLang="en-US" sz="1400" dirty="0">
                    <a:latin typeface="Helvetica" panose="020B0604020202020204" pitchFamily="34" charset="0"/>
                    <a:ea typeface="Cambria Math" panose="02040503050406030204" pitchFamily="18" charset="0"/>
                    <a:cs typeface="Helvetica" panose="020B0604020202020204" pitchFamily="34" charset="0"/>
                  </a:rPr>
                  <a:t>Empirical distributions of the regression coefficients and the p-values</a:t>
                </a:r>
              </a:p>
            </p:txBody>
          </p:sp>
        </mc:Choice>
        <mc:Fallback xmlns="">
          <p:sp>
            <p:nvSpPr>
              <p:cNvPr id="4" name="Text Box 4">
                <a:extLst>
                  <a:ext uri="{FF2B5EF4-FFF2-40B4-BE49-F238E27FC236}">
                    <a16:creationId xmlns:a16="http://schemas.microsoft.com/office/drawing/2014/main" id="{7946F123-9170-415B-996C-F44F3F557619}"/>
                  </a:ext>
                </a:extLst>
              </p:cNvPr>
              <p:cNvSpPr txBox="1">
                <a:spLocks noRot="1" noChangeAspect="1" noMove="1" noResize="1" noEditPoints="1" noAdjustHandles="1" noChangeArrowheads="1" noChangeShapeType="1" noTextEdit="1"/>
              </p:cNvSpPr>
              <p:nvPr/>
            </p:nvSpPr>
            <p:spPr bwMode="auto">
              <a:xfrm>
                <a:off x="83965" y="901201"/>
                <a:ext cx="5078753" cy="4169603"/>
              </a:xfrm>
              <a:prstGeom prst="rect">
                <a:avLst/>
              </a:prstGeom>
              <a:blipFill>
                <a:blip r:embed="rId2"/>
                <a:stretch>
                  <a:fillRect l="-240" t="-292" r="-840" b="-58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Title 1"/>
          <p:cNvSpPr txBox="1">
            <a:spLocks/>
          </p:cNvSpPr>
          <p:nvPr/>
        </p:nvSpPr>
        <p:spPr>
          <a:xfrm>
            <a:off x="107931" y="155613"/>
            <a:ext cx="8562392" cy="656717"/>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lvl="0">
              <a:spcBef>
                <a:spcPct val="50000"/>
              </a:spcBef>
              <a:defRPr/>
            </a:pPr>
            <a:r>
              <a:rPr kumimoji="1" lang="en-US" altLang="zh-CN" sz="3600" dirty="0">
                <a:latin typeface="Vitesse"/>
              </a:rPr>
              <a:t>The P-value Problem: Approach</a:t>
            </a:r>
            <a:endParaRPr kumimoji="0" lang="en-US" altLang="en-US" sz="3600" b="0" i="0" u="none" strike="noStrike" kern="1200" cap="none" spc="0" normalizeH="0" baseline="0" noProof="0" dirty="0">
              <a:ln>
                <a:noFill/>
              </a:ln>
              <a:solidFill>
                <a:prstClr val="black"/>
              </a:solidFill>
              <a:effectLst/>
              <a:uLnTx/>
              <a:uFillTx/>
              <a:latin typeface="Vitesse"/>
            </a:endParaRPr>
          </a:p>
        </p:txBody>
      </p:sp>
    </p:spTree>
    <p:extLst>
      <p:ext uri="{BB962C8B-B14F-4D97-AF65-F5344CB8AC3E}">
        <p14:creationId xmlns:p14="http://schemas.microsoft.com/office/powerpoint/2010/main" val="2761399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07931" y="155613"/>
            <a:ext cx="8562392" cy="656717"/>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lvl="0">
              <a:spcBef>
                <a:spcPct val="50000"/>
              </a:spcBef>
              <a:defRPr/>
            </a:pPr>
            <a:r>
              <a:rPr kumimoji="1" lang="en-US" altLang="zh-CN" sz="3600" dirty="0">
                <a:latin typeface="Vitesse"/>
              </a:rPr>
              <a:t>The P-value Problem: Approach</a:t>
            </a:r>
            <a:endParaRPr kumimoji="0" lang="en-US" altLang="en-US" sz="3600" b="0" i="0" u="none" strike="noStrike" kern="1200" cap="none" spc="0" normalizeH="0" baseline="0" noProof="0" dirty="0">
              <a:ln>
                <a:noFill/>
              </a:ln>
              <a:solidFill>
                <a:prstClr val="black"/>
              </a:solidFill>
              <a:effectLst/>
              <a:uLnTx/>
              <a:uFillTx/>
              <a:latin typeface="Vitesse"/>
            </a:endParaRPr>
          </a:p>
        </p:txBody>
      </p:sp>
      <p:sp>
        <p:nvSpPr>
          <p:cNvPr id="6" name="Rectangle 5">
            <a:extLst>
              <a:ext uri="{FF2B5EF4-FFF2-40B4-BE49-F238E27FC236}">
                <a16:creationId xmlns:a16="http://schemas.microsoft.com/office/drawing/2014/main" id="{AB189836-CFD7-41AA-9A16-3F7FB1598F6B}"/>
              </a:ext>
            </a:extLst>
          </p:cNvPr>
          <p:cNvSpPr/>
          <p:nvPr/>
        </p:nvSpPr>
        <p:spPr>
          <a:xfrm>
            <a:off x="5486400" y="1127585"/>
            <a:ext cx="3467100" cy="2985433"/>
          </a:xfrm>
          <a:prstGeom prst="rect">
            <a:avLst/>
          </a:prstGeom>
          <a:noFill/>
          <a:ln w="19050">
            <a:solidFill>
              <a:schemeClr val="tx2"/>
            </a:solidFill>
          </a:ln>
        </p:spPr>
        <p:txBody>
          <a:bodyPr wrap="square" tIns="91440" bIns="91440">
            <a:spAutoFit/>
          </a:bodyPr>
          <a:lstStyle/>
          <a:p>
            <a:r>
              <a:rPr lang="en-US" sz="1400" b="1" dirty="0">
                <a:latin typeface="Helvetica" charset="0"/>
                <a:ea typeface="Helvetica" charset="0"/>
                <a:cs typeface="Helvetica" charset="0"/>
              </a:rPr>
              <a:t>Theoretical Underpinning</a:t>
            </a:r>
            <a:r>
              <a:rPr lang="en-US" sz="1400" dirty="0">
                <a:latin typeface="Helvetica" charset="0"/>
                <a:ea typeface="Helvetica" charset="0"/>
                <a:cs typeface="Helvetica" charset="0"/>
              </a:rPr>
              <a:t>: </a:t>
            </a:r>
          </a:p>
          <a:p>
            <a:pPr marL="285750" indent="-285750">
              <a:buFont typeface="Arial" panose="020B0604020202020204" pitchFamily="34" charset="0"/>
              <a:buChar char="•"/>
            </a:pPr>
            <a:r>
              <a:rPr lang="en-US" sz="1400" dirty="0">
                <a:latin typeface="Helvetica" charset="0"/>
                <a:ea typeface="Helvetica" charset="0"/>
                <a:cs typeface="Helvetica" charset="0"/>
              </a:rPr>
              <a:t>Statistical significance (or lack of it) can be identified based on the distribution of the p-values; specifically, if the empirical distribution is approximately uniform between 0 and 1, then we don’t have statistical significance.</a:t>
            </a:r>
          </a:p>
          <a:p>
            <a:pPr marL="285750" indent="-285750">
              <a:buFont typeface="Arial" panose="020B0604020202020204" pitchFamily="34" charset="0"/>
              <a:buChar char="•"/>
            </a:pPr>
            <a:r>
              <a:rPr lang="en-US" sz="1400" dirty="0">
                <a:latin typeface="Helvetica" charset="0"/>
                <a:ea typeface="Helvetica" charset="0"/>
                <a:cs typeface="Helvetica" charset="0"/>
              </a:rPr>
              <a:t>Statistical significance (or lack of it) can be identified based on the confidence interval of the regression coefficient derived from the empirical distribution.</a:t>
            </a:r>
          </a:p>
        </p:txBody>
      </p:sp>
      <mc:AlternateContent xmlns:mc="http://schemas.openxmlformats.org/markup-compatibility/2006" xmlns:a14="http://schemas.microsoft.com/office/drawing/2010/main">
        <mc:Choice Requires="a14">
          <p:sp>
            <p:nvSpPr>
              <p:cNvPr id="7" name="Text Box 4">
                <a:extLst>
                  <a:ext uri="{FF2B5EF4-FFF2-40B4-BE49-F238E27FC236}">
                    <a16:creationId xmlns:a16="http://schemas.microsoft.com/office/drawing/2014/main" id="{4EEF45C7-1B84-4CC0-8D66-7BB8735965E3}"/>
                  </a:ext>
                </a:extLst>
              </p:cNvPr>
              <p:cNvSpPr txBox="1">
                <a:spLocks noChangeArrowheads="1"/>
              </p:cNvSpPr>
              <p:nvPr/>
            </p:nvSpPr>
            <p:spPr bwMode="auto">
              <a:xfrm>
                <a:off x="83965" y="901201"/>
                <a:ext cx="5078753" cy="41696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457200" indent="-457200">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41313" indent="-341313">
                  <a:spcBef>
                    <a:spcPct val="50000"/>
                  </a:spcBef>
                  <a:buFont typeface="Arial" panose="020B0604020202020204" pitchFamily="34" charset="0"/>
                  <a:buChar char="•"/>
                </a:pPr>
                <a:r>
                  <a:rPr lang="en-US" altLang="en-US" sz="1400" b="0" u="sng" dirty="0">
                    <a:latin typeface="Helvetica" panose="020B0604020202020204" pitchFamily="34" charset="0"/>
                    <a:ea typeface="Cambria Math" panose="02040503050406030204" pitchFamily="18" charset="0"/>
                    <a:cs typeface="Helvetica" panose="020B0604020202020204" pitchFamily="34" charset="0"/>
                  </a:rPr>
                  <a:t>Sub-sampling</a:t>
                </a:r>
                <a:r>
                  <a:rPr lang="en-US" altLang="en-US" sz="1400" b="0" dirty="0">
                    <a:latin typeface="Helvetica" panose="020B0604020202020204" pitchFamily="34" charset="0"/>
                    <a:ea typeface="Cambria Math" panose="02040503050406030204" pitchFamily="18" charset="0"/>
                    <a:cs typeface="Helvetica" panose="020B0604020202020204" pitchFamily="34" charset="0"/>
                  </a:rPr>
                  <a:t>: Sample the observed data</a:t>
                </a:r>
                <a:r>
                  <a:rPr lang="en-US" altLang="en-US" sz="1400" dirty="0">
                    <a:latin typeface="Helvetica" panose="020B0604020202020204" pitchFamily="34" charset="0"/>
                    <a:ea typeface="Cambria Math" panose="02040503050406030204" pitchFamily="18" charset="0"/>
                    <a:cs typeface="Helvetica" panose="020B0604020202020204" pitchFamily="34" charset="0"/>
                  </a:rPr>
                  <a:t>, e.g. 10-20% of the sample size</a:t>
                </a:r>
              </a:p>
              <a:p>
                <a:pPr marL="341313" indent="-341313">
                  <a:spcBef>
                    <a:spcPct val="50000"/>
                  </a:spcBef>
                  <a:buFont typeface="Arial" panose="020B0604020202020204" pitchFamily="34" charset="0"/>
                  <a:buChar char="•"/>
                </a:pPr>
                <a:r>
                  <a:rPr lang="en-US" altLang="en-US" sz="1400" b="0" dirty="0">
                    <a:latin typeface="Helvetica" panose="020B0604020202020204" pitchFamily="34" charset="0"/>
                    <a:ea typeface="Cambria Math" panose="02040503050406030204" pitchFamily="18" charset="0"/>
                    <a:cs typeface="Helvetica" panose="020B0604020202020204" pitchFamily="34" charset="0"/>
                  </a:rPr>
                  <a:t>Apply the regression mode</a:t>
                </a:r>
                <a:r>
                  <a:rPr lang="en-US" altLang="en-US" sz="1400" dirty="0">
                    <a:latin typeface="Helvetica" panose="020B0604020202020204" pitchFamily="34" charset="0"/>
                    <a:ea typeface="Cambria Math" panose="02040503050406030204" pitchFamily="18" charset="0"/>
                    <a:cs typeface="Helvetica" panose="020B0604020202020204" pitchFamily="34" charset="0"/>
                  </a:rPr>
                  <a:t>l to each sub-sampled data</a:t>
                </a:r>
              </a:p>
              <a:p>
                <a:pPr marL="341313" indent="-341313">
                  <a:spcBef>
                    <a:spcPct val="50000"/>
                  </a:spcBef>
                  <a:buFont typeface="Arial" panose="020B0604020202020204" pitchFamily="34" charset="0"/>
                  <a:buChar char="•"/>
                </a:pPr>
                <a:r>
                  <a:rPr lang="en-US" altLang="en-US" sz="1400" b="0" u="sng" dirty="0">
                    <a:latin typeface="Helvetica" panose="020B0604020202020204" pitchFamily="34" charset="0"/>
                    <a:ea typeface="Cambria Math" panose="02040503050406030204" pitchFamily="18" charset="0"/>
                    <a:cs typeface="Helvetica" panose="020B0604020202020204" pitchFamily="34" charset="0"/>
                  </a:rPr>
                  <a:t>Repeat</a:t>
                </a:r>
                <a:r>
                  <a:rPr lang="en-US" altLang="en-US" sz="1400" b="0" dirty="0">
                    <a:latin typeface="Helvetica" panose="020B0604020202020204" pitchFamily="34" charset="0"/>
                    <a:ea typeface="Cambria Math" panose="02040503050406030204" pitchFamily="18" charset="0"/>
                    <a:cs typeface="Helvetica" panose="020B0604020202020204" pitchFamily="34" charset="0"/>
                  </a:rPr>
                  <a:t> for B times, e.g. B=100</a:t>
                </a:r>
              </a:p>
              <a:p>
                <a:pPr marL="341313" indent="-341313">
                  <a:spcBef>
                    <a:spcPct val="50000"/>
                  </a:spcBef>
                  <a:buFont typeface="Arial" panose="020B0604020202020204" pitchFamily="34" charset="0"/>
                  <a:buChar char="•"/>
                </a:pPr>
                <a:r>
                  <a:rPr lang="en-US" altLang="en-US" sz="1400" b="1" dirty="0">
                    <a:latin typeface="Helvetica" panose="020B0604020202020204" pitchFamily="34" charset="0"/>
                    <a:ea typeface="Cambria Math" panose="02040503050406030204" pitchFamily="18" charset="0"/>
                    <a:cs typeface="Helvetica" panose="020B0604020202020204" pitchFamily="34" charset="0"/>
                  </a:rPr>
                  <a:t>Output</a:t>
                </a:r>
                <a:r>
                  <a:rPr lang="en-US" altLang="en-US" sz="1400" dirty="0">
                    <a:latin typeface="Helvetica" panose="020B0604020202020204" pitchFamily="34" charset="0"/>
                    <a:ea typeface="Cambria Math" panose="02040503050406030204" pitchFamily="18" charset="0"/>
                    <a:cs typeface="Helvetica" panose="020B0604020202020204" pitchFamily="34" charset="0"/>
                  </a:rPr>
                  <a:t>:</a:t>
                </a:r>
              </a:p>
              <a:p>
                <a:pPr marL="341313" indent="0">
                  <a:spcBef>
                    <a:spcPct val="50000"/>
                  </a:spcBef>
                </a:pPr>
                <a:r>
                  <a:rPr lang="en-US" altLang="en-US" sz="1400" b="0" i="1" dirty="0">
                    <a:latin typeface="Helvetica" panose="020B0604020202020204" pitchFamily="34" charset="0"/>
                    <a:ea typeface="Cambria Math" panose="02040503050406030204" pitchFamily="18" charset="0"/>
                    <a:cs typeface="Helvetica" panose="020B0604020202020204" pitchFamily="34" charset="0"/>
                  </a:rPr>
                  <a:t>Sub-sample 1</a:t>
                </a:r>
                <a:r>
                  <a:rPr lang="en-US" altLang="en-US" sz="1400" b="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sSub>
                      <m:sSubPr>
                        <m:ctrlP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0,1</m:t>
                        </m:r>
                      </m:sub>
                    </m:s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1</m:t>
                        </m:r>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sub>
                    </m:s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sub>
                    </m:sSub>
                  </m:oMath>
                </a14:m>
                <a:r>
                  <a:rPr lang="en-US" altLang="en-US" sz="1400" b="0" dirty="0">
                    <a:latin typeface="Helvetica" panose="020B0604020202020204" pitchFamily="34" charset="0"/>
                    <a:ea typeface="Cambria Math" panose="02040503050406030204" pitchFamily="18" charset="0"/>
                    <a:cs typeface="Helvetica" panose="020B0604020202020204" pitchFamily="34" charset="0"/>
                  </a:rPr>
                  <a:t> &amp; corresponding p-values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0,1</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1,1</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sub>
                    </m:sSub>
                  </m:oMath>
                </a14:m>
                <a:endParaRPr lang="en-US" altLang="en-US" sz="1400" dirty="0">
                  <a:latin typeface="Helvetica" panose="020B0604020202020204" pitchFamily="34" charset="0"/>
                  <a:ea typeface="Cambria Math" panose="02040503050406030204" pitchFamily="18" charset="0"/>
                  <a:cs typeface="Helvetica" panose="020B0604020202020204" pitchFamily="34" charset="0"/>
                </a:endParaRPr>
              </a:p>
              <a:p>
                <a:pPr marL="341313" indent="0">
                  <a:spcBef>
                    <a:spcPct val="50000"/>
                  </a:spcBef>
                </a:pPr>
                <a:r>
                  <a:rPr lang="en-US" altLang="en-US" sz="1400" i="1" dirty="0">
                    <a:latin typeface="Helvetica" panose="020B0604020202020204" pitchFamily="34" charset="0"/>
                    <a:ea typeface="Cambria Math" panose="02040503050406030204" pitchFamily="18" charset="0"/>
                    <a:cs typeface="Helvetica" panose="020B0604020202020204" pitchFamily="34" charset="0"/>
                  </a:rPr>
                  <a:t>Sub-sample 2</a:t>
                </a:r>
                <a:r>
                  <a:rPr lang="en-US" altLang="en-US" sz="140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,2</m:t>
                        </m:r>
                      </m:sub>
                    </m:sSub>
                  </m:oMath>
                </a14:m>
                <a:r>
                  <a:rPr lang="en-US" altLang="en-US" sz="1400" dirty="0">
                    <a:latin typeface="Helvetica" panose="020B0604020202020204" pitchFamily="34" charset="0"/>
                    <a:ea typeface="Cambria Math" panose="02040503050406030204" pitchFamily="18" charset="0"/>
                    <a:cs typeface="Helvetica" panose="020B0604020202020204" pitchFamily="34" charset="0"/>
                  </a:rPr>
                  <a:t> &amp; corresponding p-values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2</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,2</m:t>
                        </m:r>
                      </m:sub>
                    </m:sSub>
                  </m:oMath>
                </a14:m>
                <a:endParaRPr lang="en-US" altLang="en-US" sz="1400" dirty="0">
                  <a:latin typeface="Helvetica" panose="020B0604020202020204" pitchFamily="34" charset="0"/>
                  <a:ea typeface="Cambria Math" panose="02040503050406030204" pitchFamily="18" charset="0"/>
                  <a:cs typeface="Helvetica" panose="020B0604020202020204" pitchFamily="34" charset="0"/>
                </a:endParaRPr>
              </a:p>
              <a:p>
                <a:pPr marL="341313" indent="0">
                  <a:spcBef>
                    <a:spcPct val="50000"/>
                  </a:spcBef>
                </a:pPr>
                <a:r>
                  <a:rPr lang="en-US" altLang="en-US" sz="1400" dirty="0">
                    <a:latin typeface="Helvetica" panose="020B0604020202020204" pitchFamily="34" charset="0"/>
                    <a:ea typeface="Cambria Math" panose="02040503050406030204" pitchFamily="18" charset="0"/>
                    <a:cs typeface="Helvetica" panose="020B0604020202020204" pitchFamily="34" charset="0"/>
                  </a:rPr>
                  <a:t>…..</a:t>
                </a:r>
              </a:p>
              <a:p>
                <a:pPr marL="341313" indent="0">
                  <a:spcBef>
                    <a:spcPct val="50000"/>
                  </a:spcBef>
                </a:pPr>
                <a:r>
                  <a:rPr lang="en-US" altLang="en-US" sz="1400" i="1" dirty="0">
                    <a:latin typeface="Helvetica" panose="020B0604020202020204" pitchFamily="34" charset="0"/>
                    <a:ea typeface="Cambria Math" panose="02040503050406030204" pitchFamily="18" charset="0"/>
                    <a:cs typeface="Helvetica" panose="020B0604020202020204" pitchFamily="34" charset="0"/>
                  </a:rPr>
                  <a:t>Sub-sample B</a:t>
                </a:r>
                <a:r>
                  <a:rPr lang="en-US" altLang="en-US" sz="140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smtClean="0">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acc>
                          <m:accPr>
                            <m:chr m:val="̂"/>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accPr>
                          <m:e>
                            <m:r>
                              <a:rPr lang="en-US" altLang="en-US" sz="1400" i="1">
                                <a:latin typeface="Cambria Math" panose="02040503050406030204" pitchFamily="18" charset="0"/>
                                <a:ea typeface="Cambria Math" panose="02040503050406030204" pitchFamily="18" charset="0"/>
                                <a:cs typeface="Helvetica" panose="020B0604020202020204" pitchFamily="34" charset="0"/>
                              </a:rPr>
                              <m:t>𝛽</m:t>
                            </m:r>
                          </m:e>
                        </m:acc>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oMath>
                </a14:m>
                <a:r>
                  <a:rPr lang="en-US" altLang="en-US" sz="1400" dirty="0">
                    <a:latin typeface="Helvetica" panose="020B0604020202020204" pitchFamily="34" charset="0"/>
                    <a:ea typeface="Cambria Math" panose="02040503050406030204" pitchFamily="18" charset="0"/>
                    <a:cs typeface="Helvetica" panose="020B0604020202020204" pitchFamily="34" charset="0"/>
                  </a:rPr>
                  <a:t> &amp; corresponding p-values </a:t>
                </a:r>
                <a14:m>
                  <m:oMath xmlns:m="http://schemas.openxmlformats.org/officeDocument/2006/math">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0,</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1,</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r>
                      <a:rPr lang="en-US" altLang="en-US" sz="1400" i="1">
                        <a:latin typeface="Cambria Math" panose="02040503050406030204" pitchFamily="18" charset="0"/>
                        <a:ea typeface="Cambria Math" panose="02040503050406030204" pitchFamily="18" charset="0"/>
                        <a:cs typeface="Helvetica" panose="020B0604020202020204" pitchFamily="34" charset="0"/>
                      </a:rPr>
                      <m:t>, …,</m:t>
                    </m:r>
                    <m:sSub>
                      <m:sSubPr>
                        <m:ctrlPr>
                          <a:rPr lang="en-US" altLang="en-US" sz="14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𝑝𝑣</m:t>
                        </m:r>
                      </m:e>
                      <m:sub>
                        <m:r>
                          <a:rPr lang="en-US" altLang="en-US" sz="1400" i="1">
                            <a:latin typeface="Cambria Math" panose="02040503050406030204" pitchFamily="18" charset="0"/>
                            <a:ea typeface="Cambria Math" panose="02040503050406030204" pitchFamily="18" charset="0"/>
                            <a:cs typeface="Helvetica" panose="020B0604020202020204" pitchFamily="34" charset="0"/>
                          </a:rPr>
                          <m:t>𝑝</m:t>
                        </m:r>
                        <m:r>
                          <a:rPr lang="en-US" altLang="en-US" sz="1400" i="1">
                            <a:latin typeface="Cambria Math" panose="02040503050406030204" pitchFamily="18" charset="0"/>
                            <a:ea typeface="Cambria Math" panose="02040503050406030204" pitchFamily="18" charset="0"/>
                            <a:cs typeface="Helvetica" panose="020B0604020202020204" pitchFamily="34" charset="0"/>
                          </a:rPr>
                          <m:t>,</m:t>
                        </m:r>
                        <m:r>
                          <a:rPr lang="en-US" altLang="en-US" sz="1400" b="0" i="1" smtClean="0">
                            <a:latin typeface="Cambria Math" panose="02040503050406030204" pitchFamily="18" charset="0"/>
                            <a:ea typeface="Cambria Math" panose="02040503050406030204" pitchFamily="18" charset="0"/>
                            <a:cs typeface="Helvetica" panose="020B0604020202020204" pitchFamily="34" charset="0"/>
                          </a:rPr>
                          <m:t>𝐵</m:t>
                        </m:r>
                      </m:sub>
                    </m:sSub>
                  </m:oMath>
                </a14:m>
                <a:endParaRPr lang="en-US" altLang="en-US" sz="1400" dirty="0">
                  <a:latin typeface="Helvetica" panose="020B0604020202020204" pitchFamily="34" charset="0"/>
                  <a:ea typeface="Cambria Math" panose="02040503050406030204" pitchFamily="18" charset="0"/>
                  <a:cs typeface="Helvetica" panose="020B0604020202020204" pitchFamily="34" charset="0"/>
                </a:endParaRPr>
              </a:p>
              <a:p>
                <a:pPr marL="341313" indent="-341313">
                  <a:spcBef>
                    <a:spcPct val="50000"/>
                  </a:spcBef>
                  <a:buFont typeface="Arial" panose="020B0604020202020204" pitchFamily="34" charset="0"/>
                  <a:buChar char="•"/>
                </a:pPr>
                <a:r>
                  <a:rPr lang="en-US" altLang="en-US" sz="1400" dirty="0">
                    <a:latin typeface="Helvetica" panose="020B0604020202020204" pitchFamily="34" charset="0"/>
                    <a:ea typeface="Cambria Math" panose="02040503050406030204" pitchFamily="18" charset="0"/>
                    <a:cs typeface="Helvetica" panose="020B0604020202020204" pitchFamily="34" charset="0"/>
                  </a:rPr>
                  <a:t>Empirical distributions of the regression coefficients and the p-values</a:t>
                </a:r>
              </a:p>
            </p:txBody>
          </p:sp>
        </mc:Choice>
        <mc:Fallback xmlns="">
          <p:sp>
            <p:nvSpPr>
              <p:cNvPr id="7" name="Text Box 4">
                <a:extLst>
                  <a:ext uri="{FF2B5EF4-FFF2-40B4-BE49-F238E27FC236}">
                    <a16:creationId xmlns:a16="http://schemas.microsoft.com/office/drawing/2014/main" id="{4EEF45C7-1B84-4CC0-8D66-7BB8735965E3}"/>
                  </a:ext>
                </a:extLst>
              </p:cNvPr>
              <p:cNvSpPr txBox="1">
                <a:spLocks noRot="1" noChangeAspect="1" noMove="1" noResize="1" noEditPoints="1" noAdjustHandles="1" noChangeArrowheads="1" noChangeShapeType="1" noTextEdit="1"/>
              </p:cNvSpPr>
              <p:nvPr/>
            </p:nvSpPr>
            <p:spPr bwMode="auto">
              <a:xfrm>
                <a:off x="83965" y="901201"/>
                <a:ext cx="5078753" cy="4169603"/>
              </a:xfrm>
              <a:prstGeom prst="rect">
                <a:avLst/>
              </a:prstGeom>
              <a:blipFill>
                <a:blip r:embed="rId2"/>
                <a:stretch>
                  <a:fillRect l="-240" t="-292" r="-840" b="-58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16609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858" y="923663"/>
            <a:ext cx="8142801" cy="3970318"/>
          </a:xfrm>
          <a:prstGeom prst="rect">
            <a:avLst/>
          </a:prstGeom>
          <a:noFill/>
        </p:spPr>
        <p:txBody>
          <a:bodyPr wrap="square" rtlCol="0">
            <a:spAutoFit/>
          </a:bodyPr>
          <a:lstStyle/>
          <a:p>
            <a:r>
              <a:rPr lang="en-US" sz="1200" b="1" dirty="0">
                <a:solidFill>
                  <a:srgbClr val="EAAA00"/>
                </a:solidFill>
                <a:latin typeface="Helvetica" panose="020B0604020202020204" pitchFamily="34" charset="0"/>
                <a:ea typeface="Helvetica" charset="0"/>
                <a:cs typeface="Helvetica" panose="020B0604020202020204" pitchFamily="34" charset="0"/>
              </a:rPr>
              <a:t>## Approach: Subsample 40% of the initial data sample &amp; repeat 100 times</a:t>
            </a:r>
          </a:p>
          <a:p>
            <a:r>
              <a:rPr lang="en-US" sz="1200" dirty="0">
                <a:latin typeface="Helvetica" panose="020B0604020202020204" pitchFamily="34" charset="0"/>
                <a:ea typeface="Cambria" panose="02040503050406030204" pitchFamily="18" charset="0"/>
                <a:cs typeface="Helvetica" panose="020B0604020202020204" pitchFamily="34" charset="0"/>
              </a:rPr>
              <a:t>count = 1</a:t>
            </a:r>
          </a:p>
          <a:p>
            <a:r>
              <a:rPr lang="en-US" sz="1200" i="1" dirty="0">
                <a:latin typeface="Helvetica" panose="020B0604020202020204" pitchFamily="34" charset="0"/>
                <a:ea typeface="Cambria" panose="02040503050406030204" pitchFamily="18" charset="0"/>
                <a:cs typeface="Helvetica" panose="020B0604020202020204" pitchFamily="34" charset="0"/>
              </a:rPr>
              <a:t>n = </a:t>
            </a:r>
            <a:r>
              <a:rPr lang="en-US" sz="1200" i="1" dirty="0" err="1">
                <a:latin typeface="Helvetica" panose="020B0604020202020204" pitchFamily="34" charset="0"/>
                <a:ea typeface="Cambria" panose="02040503050406030204" pitchFamily="18" charset="0"/>
                <a:cs typeface="Helvetica" panose="020B0604020202020204" pitchFamily="34" charset="0"/>
              </a:rPr>
              <a:t>nrow</a:t>
            </a:r>
            <a:r>
              <a:rPr lang="en-US" sz="1200" i="1" dirty="0">
                <a:latin typeface="Helvetica" panose="020B0604020202020204" pitchFamily="34" charset="0"/>
                <a:ea typeface="Cambria" panose="02040503050406030204" pitchFamily="18" charset="0"/>
                <a:cs typeface="Helvetica" panose="020B0604020202020204" pitchFamily="34" charset="0"/>
              </a:rPr>
              <a:t>(train)</a:t>
            </a:r>
          </a:p>
          <a:p>
            <a:r>
              <a:rPr lang="en-US" sz="1200" i="1" dirty="0">
                <a:latin typeface="Helvetica" panose="020B0604020202020204" pitchFamily="34" charset="0"/>
                <a:ea typeface="Cambria" panose="02040503050406030204" pitchFamily="18" charset="0"/>
                <a:cs typeface="Helvetica" panose="020B0604020202020204" pitchFamily="34" charset="0"/>
              </a:rPr>
              <a:t>B = 100</a:t>
            </a:r>
          </a:p>
          <a:p>
            <a:r>
              <a:rPr lang="en-US" sz="1200" i="1" dirty="0" err="1">
                <a:latin typeface="Helvetica" panose="020B0604020202020204" pitchFamily="34" charset="0"/>
                <a:ea typeface="Cambria" panose="02040503050406030204" pitchFamily="18" charset="0"/>
                <a:cs typeface="Helvetica" panose="020B0604020202020204" pitchFamily="34" charset="0"/>
              </a:rPr>
              <a:t>ncoef</a:t>
            </a:r>
            <a:r>
              <a:rPr lang="en-US" sz="1200" i="1" dirty="0">
                <a:latin typeface="Helvetica" panose="020B0604020202020204" pitchFamily="34" charset="0"/>
                <a:ea typeface="Cambria" panose="02040503050406030204" pitchFamily="18" charset="0"/>
                <a:cs typeface="Helvetica" panose="020B0604020202020204" pitchFamily="34" charset="0"/>
              </a:rPr>
              <a:t> = dim(summary(model1)$</a:t>
            </a:r>
            <a:r>
              <a:rPr lang="en-US" sz="1200" i="1" dirty="0" err="1">
                <a:latin typeface="Helvetica" panose="020B0604020202020204" pitchFamily="34" charset="0"/>
                <a:ea typeface="Cambria" panose="02040503050406030204" pitchFamily="18" charset="0"/>
                <a:cs typeface="Helvetica" panose="020B0604020202020204" pitchFamily="34" charset="0"/>
              </a:rPr>
              <a:t>coeff</a:t>
            </a:r>
            <a:r>
              <a:rPr lang="en-US" sz="1200" i="1" dirty="0">
                <a:latin typeface="Helvetica" panose="020B0604020202020204" pitchFamily="34" charset="0"/>
                <a:ea typeface="Cambria" panose="02040503050406030204" pitchFamily="18" charset="0"/>
                <a:cs typeface="Helvetica" panose="020B0604020202020204" pitchFamily="34" charset="0"/>
              </a:rPr>
              <a:t>)[1]</a:t>
            </a:r>
          </a:p>
          <a:p>
            <a:r>
              <a:rPr lang="en-US" sz="1200" i="1" dirty="0" err="1">
                <a:latin typeface="Helvetica" panose="020B0604020202020204" pitchFamily="34" charset="0"/>
                <a:ea typeface="Cambria" panose="02040503050406030204" pitchFamily="18" charset="0"/>
                <a:cs typeface="Helvetica" panose="020B0604020202020204" pitchFamily="34" charset="0"/>
              </a:rPr>
              <a:t>pv_matrix</a:t>
            </a:r>
            <a:r>
              <a:rPr lang="en-US" sz="1200" i="1" dirty="0">
                <a:latin typeface="Helvetica" panose="020B0604020202020204" pitchFamily="34" charset="0"/>
                <a:ea typeface="Cambria" panose="02040503050406030204" pitchFamily="18" charset="0"/>
                <a:cs typeface="Helvetica" panose="020B0604020202020204" pitchFamily="34" charset="0"/>
              </a:rPr>
              <a:t> = matrix(0,nrow = </a:t>
            </a:r>
            <a:r>
              <a:rPr lang="en-US" sz="1200" i="1" dirty="0" err="1">
                <a:latin typeface="Helvetica" panose="020B0604020202020204" pitchFamily="34" charset="0"/>
                <a:ea typeface="Cambria" panose="02040503050406030204" pitchFamily="18" charset="0"/>
                <a:cs typeface="Helvetica" panose="020B0604020202020204" pitchFamily="34" charset="0"/>
              </a:rPr>
              <a:t>ncoef,ncol</a:t>
            </a:r>
            <a:r>
              <a:rPr lang="en-US" sz="1200" i="1" dirty="0">
                <a:latin typeface="Helvetica" panose="020B0604020202020204" pitchFamily="34" charset="0"/>
                <a:ea typeface="Cambria" panose="02040503050406030204" pitchFamily="18" charset="0"/>
                <a:cs typeface="Helvetica" panose="020B0604020202020204" pitchFamily="34" charset="0"/>
              </a:rPr>
              <a:t> = B)</a:t>
            </a:r>
          </a:p>
          <a:p>
            <a:r>
              <a:rPr lang="en-US" sz="1200" i="1" dirty="0">
                <a:latin typeface="Helvetica" panose="020B0604020202020204" pitchFamily="34" charset="0"/>
                <a:ea typeface="Helvetica" charset="0"/>
                <a:cs typeface="Helvetica" panose="020B0604020202020204" pitchFamily="34" charset="0"/>
              </a:rPr>
              <a:t>while (count &lt;= B) {</a:t>
            </a:r>
          </a:p>
          <a:p>
            <a:pPr marL="339725"/>
            <a:r>
              <a:rPr lang="en-US" sz="1200" b="1" dirty="0">
                <a:solidFill>
                  <a:srgbClr val="EAAA00"/>
                </a:solidFill>
                <a:latin typeface="Helvetica" panose="020B0604020202020204" pitchFamily="34" charset="0"/>
                <a:ea typeface="Helvetica" charset="0"/>
                <a:cs typeface="Helvetica" panose="020B0604020202020204" pitchFamily="34" charset="0"/>
              </a:rPr>
              <a:t># 40% random sample of indices</a:t>
            </a:r>
          </a:p>
          <a:p>
            <a:pPr marL="339725"/>
            <a:r>
              <a:rPr lang="en-US" sz="1200" i="1" dirty="0">
                <a:latin typeface="Helvetica" panose="020B0604020202020204" pitchFamily="34" charset="0"/>
                <a:ea typeface="Helvetica" charset="0"/>
                <a:cs typeface="Helvetica" panose="020B0604020202020204" pitchFamily="34" charset="0"/>
              </a:rPr>
              <a:t>subsample = sample(n, floor(n*0.4), replace=FALSE)</a:t>
            </a:r>
          </a:p>
          <a:p>
            <a:pPr marL="339725"/>
            <a:r>
              <a:rPr lang="en-US" sz="1200" b="1" dirty="0">
                <a:solidFill>
                  <a:srgbClr val="EAAA00"/>
                </a:solidFill>
                <a:latin typeface="Helvetica" panose="020B0604020202020204" pitchFamily="34" charset="0"/>
                <a:ea typeface="Helvetica" charset="0"/>
                <a:cs typeface="Helvetica" panose="020B0604020202020204" pitchFamily="34" charset="0"/>
              </a:rPr>
              <a:t># Extract the random subsample data</a:t>
            </a:r>
          </a:p>
          <a:p>
            <a:pPr marL="339725"/>
            <a:r>
              <a:rPr lang="en-US" sz="1200" i="1" dirty="0" err="1">
                <a:latin typeface="Helvetica" panose="020B0604020202020204" pitchFamily="34" charset="0"/>
                <a:ea typeface="Helvetica" charset="0"/>
                <a:cs typeface="Helvetica" panose="020B0604020202020204" pitchFamily="34" charset="0"/>
              </a:rPr>
              <a:t>subdata</a:t>
            </a:r>
            <a:r>
              <a:rPr lang="en-US" sz="1200" i="1" dirty="0">
                <a:latin typeface="Helvetica" panose="020B0604020202020204" pitchFamily="34" charset="0"/>
                <a:ea typeface="Helvetica" charset="0"/>
                <a:cs typeface="Helvetica" panose="020B0604020202020204" pitchFamily="34" charset="0"/>
              </a:rPr>
              <a:t> = train[subsample,]</a:t>
            </a:r>
          </a:p>
          <a:p>
            <a:pPr marL="339725"/>
            <a:r>
              <a:rPr lang="en-US" sz="1200" b="1" dirty="0">
                <a:solidFill>
                  <a:srgbClr val="EAAA00"/>
                </a:solidFill>
                <a:latin typeface="Helvetica" panose="020B0604020202020204" pitchFamily="34" charset="0"/>
                <a:ea typeface="Helvetica" charset="0"/>
                <a:cs typeface="Helvetica" panose="020B0604020202020204" pitchFamily="34" charset="0"/>
              </a:rPr>
              <a:t># Fit the regression for each subsample</a:t>
            </a:r>
          </a:p>
          <a:p>
            <a:pPr marL="339725"/>
            <a:r>
              <a:rPr lang="en-US" sz="1200" i="1" dirty="0" err="1">
                <a:latin typeface="Helvetica" panose="020B0604020202020204" pitchFamily="34" charset="0"/>
                <a:ea typeface="Helvetica" charset="0"/>
                <a:cs typeface="Helvetica" panose="020B0604020202020204" pitchFamily="34" charset="0"/>
              </a:rPr>
              <a:t>submod</a:t>
            </a:r>
            <a:r>
              <a:rPr lang="en-US" sz="1200" i="1" dirty="0">
                <a:latin typeface="Helvetica" panose="020B0604020202020204" pitchFamily="34" charset="0"/>
                <a:ea typeface="Helvetica" charset="0"/>
                <a:cs typeface="Helvetica" panose="020B0604020202020204" pitchFamily="34" charset="0"/>
              </a:rPr>
              <a:t> = </a:t>
            </a:r>
            <a:r>
              <a:rPr lang="en-US" sz="1200" i="1" dirty="0" err="1">
                <a:latin typeface="Helvetica" panose="020B0604020202020204" pitchFamily="34" charset="0"/>
                <a:ea typeface="Helvetica" charset="0"/>
                <a:cs typeface="Helvetica" panose="020B0604020202020204" pitchFamily="34" charset="0"/>
              </a:rPr>
              <a:t>lm</a:t>
            </a:r>
            <a:r>
              <a:rPr lang="en-US" sz="1200" i="1" dirty="0">
                <a:latin typeface="Helvetica" panose="020B0604020202020204" pitchFamily="34" charset="0"/>
                <a:ea typeface="Helvetica" charset="0"/>
                <a:cs typeface="Helvetica" panose="020B0604020202020204" pitchFamily="34" charset="0"/>
              </a:rPr>
              <a:t>(sqrt(</a:t>
            </a:r>
            <a:r>
              <a:rPr lang="en-US" sz="1200" i="1" dirty="0" err="1">
                <a:latin typeface="Helvetica" panose="020B0604020202020204" pitchFamily="34" charset="0"/>
                <a:ea typeface="Helvetica" charset="0"/>
                <a:cs typeface="Helvetica" panose="020B0604020202020204" pitchFamily="34" charset="0"/>
              </a:rPr>
              <a:t>cnt</a:t>
            </a:r>
            <a:r>
              <a:rPr lang="en-US" sz="1200" i="1" dirty="0">
                <a:latin typeface="Helvetica" panose="020B0604020202020204" pitchFamily="34" charset="0"/>
                <a:ea typeface="Helvetica" charset="0"/>
                <a:cs typeface="Helvetica" panose="020B0604020202020204" pitchFamily="34" charset="0"/>
              </a:rPr>
              <a:t>)~.,data=</a:t>
            </a:r>
            <a:r>
              <a:rPr lang="en-US" sz="1200" i="1" dirty="0" err="1">
                <a:latin typeface="Helvetica" panose="020B0604020202020204" pitchFamily="34" charset="0"/>
                <a:ea typeface="Helvetica" charset="0"/>
                <a:cs typeface="Helvetica" panose="020B0604020202020204" pitchFamily="34" charset="0"/>
              </a:rPr>
              <a:t>subdata</a:t>
            </a:r>
            <a:r>
              <a:rPr lang="en-US" sz="1200" i="1" dirty="0">
                <a:latin typeface="Helvetica" panose="020B0604020202020204" pitchFamily="34" charset="0"/>
                <a:ea typeface="Helvetica" charset="0"/>
                <a:cs typeface="Helvetica" panose="020B0604020202020204" pitchFamily="34" charset="0"/>
              </a:rPr>
              <a:t>)</a:t>
            </a:r>
          </a:p>
          <a:p>
            <a:pPr marL="339725"/>
            <a:r>
              <a:rPr lang="en-US" sz="1200" b="1" dirty="0">
                <a:solidFill>
                  <a:srgbClr val="EAAA00"/>
                </a:solidFill>
                <a:latin typeface="Helvetica" panose="020B0604020202020204" pitchFamily="34" charset="0"/>
                <a:ea typeface="Helvetica" charset="0"/>
                <a:cs typeface="Helvetica" panose="020B0604020202020204" pitchFamily="34" charset="0"/>
              </a:rPr>
              <a:t># Save the p-values</a:t>
            </a:r>
          </a:p>
          <a:p>
            <a:pPr marL="339725"/>
            <a:r>
              <a:rPr lang="en-US" sz="1200" i="1" dirty="0" err="1">
                <a:latin typeface="Helvetica" panose="020B0604020202020204" pitchFamily="34" charset="0"/>
                <a:ea typeface="Helvetica" charset="0"/>
                <a:cs typeface="Helvetica" panose="020B0604020202020204" pitchFamily="34" charset="0"/>
              </a:rPr>
              <a:t>pv_matrix</a:t>
            </a:r>
            <a:r>
              <a:rPr lang="en-US" sz="1200" i="1" dirty="0">
                <a:latin typeface="Helvetica" panose="020B0604020202020204" pitchFamily="34" charset="0"/>
                <a:ea typeface="Helvetica" charset="0"/>
                <a:cs typeface="Helvetica" panose="020B0604020202020204" pitchFamily="34" charset="0"/>
              </a:rPr>
              <a:t>[,count] = summary(</a:t>
            </a:r>
            <a:r>
              <a:rPr lang="en-US" sz="1200" i="1" dirty="0" err="1">
                <a:latin typeface="Helvetica" panose="020B0604020202020204" pitchFamily="34" charset="0"/>
                <a:ea typeface="Helvetica" charset="0"/>
                <a:cs typeface="Helvetica" panose="020B0604020202020204" pitchFamily="34" charset="0"/>
              </a:rPr>
              <a:t>submod</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coeff</a:t>
            </a:r>
            <a:r>
              <a:rPr lang="en-US" sz="1200" i="1" dirty="0">
                <a:latin typeface="Helvetica" panose="020B0604020202020204" pitchFamily="34" charset="0"/>
                <a:ea typeface="Helvetica" charset="0"/>
                <a:cs typeface="Helvetica" panose="020B0604020202020204" pitchFamily="34" charset="0"/>
              </a:rPr>
              <a:t>[,4]</a:t>
            </a:r>
          </a:p>
          <a:p>
            <a:pPr marL="339725"/>
            <a:r>
              <a:rPr lang="en-US" sz="1200" b="1" dirty="0">
                <a:solidFill>
                  <a:srgbClr val="EAAA00"/>
                </a:solidFill>
                <a:latin typeface="Helvetica" panose="020B0604020202020204" pitchFamily="34" charset="0"/>
                <a:ea typeface="Helvetica" charset="0"/>
                <a:cs typeface="Helvetica" panose="020B0604020202020204" pitchFamily="34" charset="0"/>
              </a:rPr>
              <a:t># Increment to the next subsample</a:t>
            </a:r>
          </a:p>
          <a:p>
            <a:pPr marL="339725"/>
            <a:r>
              <a:rPr lang="en-US" sz="1200" i="1" dirty="0">
                <a:latin typeface="Helvetica" panose="020B0604020202020204" pitchFamily="34" charset="0"/>
                <a:ea typeface="Helvetica" charset="0"/>
                <a:cs typeface="Helvetica" panose="020B0604020202020204" pitchFamily="34" charset="0"/>
              </a:rPr>
              <a:t>count = count + 1</a:t>
            </a:r>
          </a:p>
          <a:p>
            <a:r>
              <a:rPr lang="en-US" sz="1200" i="1" dirty="0">
                <a:latin typeface="Helvetica" panose="020B0604020202020204" pitchFamily="34" charset="0"/>
                <a:ea typeface="Helvetica" charset="0"/>
                <a:cs typeface="Helvetica" panose="020B0604020202020204" pitchFamily="34" charset="0"/>
              </a:rPr>
              <a:t>}</a:t>
            </a:r>
          </a:p>
          <a:p>
            <a:r>
              <a:rPr lang="en-US" sz="1200" b="1" dirty="0">
                <a:solidFill>
                  <a:srgbClr val="EAAA00"/>
                </a:solidFill>
                <a:latin typeface="Helvetica" panose="020B0604020202020204" pitchFamily="34" charset="0"/>
                <a:ea typeface="Helvetica" charset="0"/>
                <a:cs typeface="Helvetica" panose="020B0604020202020204" pitchFamily="34" charset="0"/>
              </a:rPr>
              <a:t># Count </a:t>
            </a:r>
            <a:r>
              <a:rPr lang="en-US" sz="1200" b="1" dirty="0" err="1">
                <a:solidFill>
                  <a:srgbClr val="EAAA00"/>
                </a:solidFill>
                <a:latin typeface="Helvetica" panose="020B0604020202020204" pitchFamily="34" charset="0"/>
                <a:ea typeface="Helvetica" charset="0"/>
                <a:cs typeface="Helvetica" panose="020B0604020202020204" pitchFamily="34" charset="0"/>
              </a:rPr>
              <a:t>pvalues</a:t>
            </a:r>
            <a:r>
              <a:rPr lang="en-US" sz="1200" b="1" dirty="0">
                <a:solidFill>
                  <a:srgbClr val="EAAA00"/>
                </a:solidFill>
                <a:latin typeface="Helvetica" panose="020B0604020202020204" pitchFamily="34" charset="0"/>
                <a:ea typeface="Helvetica" charset="0"/>
                <a:cs typeface="Helvetica" panose="020B0604020202020204" pitchFamily="34" charset="0"/>
              </a:rPr>
              <a:t> smaller than 0.01 across the 100 (sub)models</a:t>
            </a:r>
          </a:p>
          <a:p>
            <a:r>
              <a:rPr lang="en-US" sz="1200" i="1" dirty="0">
                <a:latin typeface="Helvetica" panose="020B0604020202020204" pitchFamily="34" charset="0"/>
                <a:ea typeface="Helvetica" charset="0"/>
                <a:cs typeface="Helvetica" panose="020B0604020202020204" pitchFamily="34" charset="0"/>
              </a:rPr>
              <a:t>alpha = 0.01</a:t>
            </a:r>
          </a:p>
          <a:p>
            <a:r>
              <a:rPr lang="en-US" sz="1200" i="1" dirty="0" err="1">
                <a:latin typeface="Helvetica" panose="020B0604020202020204" pitchFamily="34" charset="0"/>
                <a:ea typeface="Helvetica" charset="0"/>
                <a:cs typeface="Helvetica" panose="020B0604020202020204" pitchFamily="34" charset="0"/>
              </a:rPr>
              <a:t>pv_significant</a:t>
            </a:r>
            <a:r>
              <a:rPr lang="en-US" sz="1200" i="1" dirty="0">
                <a:latin typeface="Helvetica" panose="020B0604020202020204" pitchFamily="34" charset="0"/>
                <a:ea typeface="Helvetica" charset="0"/>
                <a:cs typeface="Helvetica" panose="020B0604020202020204" pitchFamily="34" charset="0"/>
              </a:rPr>
              <a:t> = </a:t>
            </a:r>
            <a:r>
              <a:rPr lang="en-US" sz="1200" i="1" dirty="0" err="1">
                <a:latin typeface="Helvetica" panose="020B0604020202020204" pitchFamily="34" charset="0"/>
                <a:ea typeface="Helvetica" charset="0"/>
                <a:cs typeface="Helvetica" panose="020B0604020202020204" pitchFamily="34" charset="0"/>
              </a:rPr>
              <a:t>rowSums</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pv_matrix</a:t>
            </a:r>
            <a:r>
              <a:rPr lang="en-US" sz="1200" i="1" dirty="0">
                <a:latin typeface="Helvetica" panose="020B0604020202020204" pitchFamily="34" charset="0"/>
                <a:ea typeface="Helvetica" charset="0"/>
                <a:cs typeface="Helvetica" panose="020B0604020202020204" pitchFamily="34" charset="0"/>
              </a:rPr>
              <a:t> &lt; alpha)</a:t>
            </a:r>
            <a:endParaRPr lang="en-US" sz="1200" i="1" dirty="0">
              <a:solidFill>
                <a:schemeClr val="accent6">
                  <a:lumMod val="50000"/>
                </a:schemeClr>
              </a:solidFill>
              <a:latin typeface="Helvetica" panose="020B0604020202020204" pitchFamily="34" charset="0"/>
              <a:ea typeface="Helvetica" charset="0"/>
              <a:cs typeface="Helvetica" panose="020B0604020202020204" pitchFamily="34" charset="0"/>
            </a:endParaRPr>
          </a:p>
        </p:txBody>
      </p:sp>
      <p:sp>
        <p:nvSpPr>
          <p:cNvPr id="2" name="标题 1"/>
          <p:cNvSpPr>
            <a:spLocks noGrp="1"/>
          </p:cNvSpPr>
          <p:nvPr>
            <p:ph type="title"/>
          </p:nvPr>
        </p:nvSpPr>
        <p:spPr>
          <a:xfrm>
            <a:off x="106045" y="155807"/>
            <a:ext cx="8562392" cy="639722"/>
          </a:xfrm>
        </p:spPr>
        <p:txBody>
          <a:bodyPr/>
          <a:lstStyle/>
          <a:p>
            <a:r>
              <a:rPr kumimoji="1" lang="en-US" altLang="zh-CN" sz="3600" dirty="0">
                <a:latin typeface="Vitesse"/>
              </a:rPr>
              <a:t>The P-value Problem: Approach (cont’d)</a:t>
            </a:r>
            <a:endParaRPr kumimoji="1" lang="zh-CN" altLang="en-US" sz="3600" dirty="0">
              <a:latin typeface="Vitesse"/>
            </a:endParaRPr>
          </a:p>
        </p:txBody>
      </p:sp>
    </p:spTree>
    <p:extLst>
      <p:ext uri="{BB962C8B-B14F-4D97-AF65-F5344CB8AC3E}">
        <p14:creationId xmlns:p14="http://schemas.microsoft.com/office/powerpoint/2010/main" val="2985515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859" y="907479"/>
            <a:ext cx="4739270" cy="2308324"/>
          </a:xfrm>
          <a:prstGeom prst="rect">
            <a:avLst/>
          </a:prstGeom>
          <a:noFill/>
        </p:spPr>
        <p:txBody>
          <a:bodyPr wrap="square" rtlCol="0">
            <a:spAutoFit/>
          </a:bodyPr>
          <a:lstStyle/>
          <a:p>
            <a:r>
              <a:rPr lang="en-US" sz="1200" b="1" dirty="0">
                <a:solidFill>
                  <a:srgbClr val="EAAA00"/>
                </a:solidFill>
                <a:latin typeface="Helvetica" panose="020B0604020202020204" pitchFamily="34" charset="0"/>
                <a:ea typeface="Helvetica" charset="0"/>
                <a:cs typeface="Helvetica" panose="020B0604020202020204" pitchFamily="34" charset="0"/>
              </a:rPr>
              <a:t>## Which regression coefficients are statistically significant?</a:t>
            </a:r>
          </a:p>
          <a:p>
            <a:r>
              <a:rPr lang="en-US" sz="1200" i="1" dirty="0" err="1">
                <a:latin typeface="Helvetica" panose="020B0604020202020204" pitchFamily="34" charset="0"/>
                <a:ea typeface="Cambria" panose="02040503050406030204" pitchFamily="18" charset="0"/>
                <a:cs typeface="Helvetica" panose="020B0604020202020204" pitchFamily="34" charset="0"/>
              </a:rPr>
              <a:t>idx_scoef</a:t>
            </a:r>
            <a:r>
              <a:rPr lang="en-US" sz="1200" i="1" dirty="0">
                <a:latin typeface="Helvetica" panose="020B0604020202020204" pitchFamily="34" charset="0"/>
                <a:ea typeface="Cambria" panose="02040503050406030204" pitchFamily="18" charset="0"/>
                <a:cs typeface="Helvetica" panose="020B0604020202020204" pitchFamily="34" charset="0"/>
              </a:rPr>
              <a:t> = which(</a:t>
            </a:r>
            <a:r>
              <a:rPr lang="en-US" sz="1200" i="1" dirty="0" err="1">
                <a:latin typeface="Helvetica" panose="020B0604020202020204" pitchFamily="34" charset="0"/>
                <a:ea typeface="Cambria" panose="02040503050406030204" pitchFamily="18" charset="0"/>
                <a:cs typeface="Helvetica" panose="020B0604020202020204" pitchFamily="34" charset="0"/>
              </a:rPr>
              <a:t>pv_significant</a:t>
            </a:r>
            <a:r>
              <a:rPr lang="en-US" sz="1200" i="1" dirty="0">
                <a:latin typeface="Helvetica" panose="020B0604020202020204" pitchFamily="34" charset="0"/>
                <a:ea typeface="Cambria" panose="02040503050406030204" pitchFamily="18" charset="0"/>
                <a:cs typeface="Helvetica" panose="020B0604020202020204" pitchFamily="34" charset="0"/>
              </a:rPr>
              <a:t>&gt;=95)</a:t>
            </a:r>
          </a:p>
          <a:p>
            <a:r>
              <a:rPr lang="en-US" sz="1200" b="1" dirty="0">
                <a:solidFill>
                  <a:srgbClr val="EAAA00"/>
                </a:solidFill>
                <a:latin typeface="Helvetica" panose="020B0604020202020204" pitchFamily="34" charset="0"/>
                <a:ea typeface="Helvetica" charset="0"/>
                <a:cs typeface="Helvetica" panose="020B0604020202020204" pitchFamily="34" charset="0"/>
              </a:rPr>
              <a:t>## Show the p-values of the significant coefficients in model2</a:t>
            </a:r>
          </a:p>
          <a:p>
            <a:r>
              <a:rPr lang="en-US" sz="1200" i="1" dirty="0" err="1">
                <a:latin typeface="Helvetica" panose="020B0604020202020204" pitchFamily="34" charset="0"/>
                <a:ea typeface="Cambria" panose="02040503050406030204" pitchFamily="18" charset="0"/>
                <a:cs typeface="Helvetica" panose="020B0604020202020204" pitchFamily="34" charset="0"/>
              </a:rPr>
              <a:t>cbind</a:t>
            </a:r>
            <a:r>
              <a:rPr lang="en-US" sz="1200" i="1" dirty="0">
                <a:latin typeface="Helvetica" panose="020B0604020202020204" pitchFamily="34" charset="0"/>
                <a:ea typeface="Cambria" panose="02040503050406030204" pitchFamily="18" charset="0"/>
                <a:cs typeface="Helvetica" panose="020B0604020202020204" pitchFamily="34" charset="0"/>
              </a:rPr>
              <a:t>(summary(model2)$</a:t>
            </a:r>
            <a:r>
              <a:rPr lang="en-US" sz="1200" i="1" dirty="0" err="1">
                <a:latin typeface="Helvetica" panose="020B0604020202020204" pitchFamily="34" charset="0"/>
                <a:ea typeface="Cambria" panose="02040503050406030204" pitchFamily="18" charset="0"/>
                <a:cs typeface="Helvetica" panose="020B0604020202020204" pitchFamily="34" charset="0"/>
              </a:rPr>
              <a:t>coeff</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i="1" dirty="0" err="1">
                <a:latin typeface="Helvetica" panose="020B0604020202020204" pitchFamily="34" charset="0"/>
                <a:ea typeface="Cambria" panose="02040503050406030204" pitchFamily="18" charset="0"/>
                <a:cs typeface="Helvetica" panose="020B0604020202020204" pitchFamily="34" charset="0"/>
              </a:rPr>
              <a:t>idx_scoef,c</a:t>
            </a:r>
            <a:r>
              <a:rPr lang="en-US" sz="1200" i="1" dirty="0">
                <a:latin typeface="Helvetica" panose="020B0604020202020204" pitchFamily="34" charset="0"/>
                <a:ea typeface="Cambria" panose="02040503050406030204" pitchFamily="18" charset="0"/>
                <a:cs typeface="Helvetica" panose="020B0604020202020204" pitchFamily="34" charset="0"/>
              </a:rPr>
              <a:t>(1,4)],</a:t>
            </a:r>
          </a:p>
          <a:p>
            <a:pPr marL="112713"/>
            <a:r>
              <a:rPr lang="en-US" sz="1200" i="1" dirty="0">
                <a:latin typeface="Helvetica" panose="020B0604020202020204" pitchFamily="34" charset="0"/>
                <a:ea typeface="Cambria" panose="02040503050406030204" pitchFamily="18" charset="0"/>
                <a:cs typeface="Helvetica" panose="020B0604020202020204" pitchFamily="34" charset="0"/>
              </a:rPr>
              <a:t>      Freq=</a:t>
            </a:r>
            <a:r>
              <a:rPr lang="en-US" sz="1200" i="1" dirty="0" err="1">
                <a:latin typeface="Helvetica" panose="020B0604020202020204" pitchFamily="34" charset="0"/>
                <a:ea typeface="Cambria" panose="02040503050406030204" pitchFamily="18" charset="0"/>
                <a:cs typeface="Helvetica" panose="020B0604020202020204" pitchFamily="34" charset="0"/>
              </a:rPr>
              <a:t>pv_significant</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i="1" dirty="0" err="1">
                <a:latin typeface="Helvetica" panose="020B0604020202020204" pitchFamily="34" charset="0"/>
                <a:ea typeface="Cambria" panose="02040503050406030204" pitchFamily="18" charset="0"/>
                <a:cs typeface="Helvetica" panose="020B0604020202020204" pitchFamily="34" charset="0"/>
              </a:rPr>
              <a:t>idx_scoef</a:t>
            </a:r>
            <a:r>
              <a:rPr lang="en-US" sz="1200" i="1" dirty="0">
                <a:latin typeface="Helvetica" panose="020B0604020202020204" pitchFamily="34" charset="0"/>
                <a:ea typeface="Cambria" panose="02040503050406030204" pitchFamily="18" charset="0"/>
                <a:cs typeface="Helvetica" panose="020B0604020202020204" pitchFamily="34" charset="0"/>
              </a:rPr>
              <a:t>])</a:t>
            </a:r>
          </a:p>
          <a:p>
            <a:r>
              <a:rPr lang="en-US" sz="1200" b="1" dirty="0">
                <a:solidFill>
                  <a:srgbClr val="EAAA00"/>
                </a:solidFill>
                <a:latin typeface="Helvetica" panose="020B0604020202020204" pitchFamily="34" charset="0"/>
                <a:ea typeface="Helvetica" charset="0"/>
                <a:cs typeface="Helvetica" panose="020B0604020202020204" pitchFamily="34" charset="0"/>
              </a:rPr>
              <a:t>## Plot the 100 p-values of the significant coefficients</a:t>
            </a:r>
          </a:p>
          <a:p>
            <a:r>
              <a:rPr lang="en-US" sz="1200" i="1" dirty="0" err="1">
                <a:latin typeface="Helvetica" panose="020B0604020202020204" pitchFamily="34" charset="0"/>
                <a:ea typeface="Cambria" panose="02040503050406030204" pitchFamily="18" charset="0"/>
                <a:cs typeface="Helvetica" panose="020B0604020202020204" pitchFamily="34" charset="0"/>
              </a:rPr>
              <a:t>matplot</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i="1" dirty="0" err="1">
                <a:latin typeface="Helvetica" panose="020B0604020202020204" pitchFamily="34" charset="0"/>
                <a:ea typeface="Cambria" panose="02040503050406030204" pitchFamily="18" charset="0"/>
                <a:cs typeface="Helvetica" panose="020B0604020202020204" pitchFamily="34" charset="0"/>
              </a:rPr>
              <a:t>pv_matrix</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i="1" dirty="0" err="1">
                <a:latin typeface="Helvetica" panose="020B0604020202020204" pitchFamily="34" charset="0"/>
                <a:ea typeface="Cambria" panose="02040503050406030204" pitchFamily="18" charset="0"/>
                <a:cs typeface="Helvetica" panose="020B0604020202020204" pitchFamily="34" charset="0"/>
              </a:rPr>
              <a:t>idx_scoef</a:t>
            </a:r>
            <a:r>
              <a:rPr lang="en-US" sz="1200" i="1" dirty="0">
                <a:latin typeface="Helvetica" panose="020B0604020202020204" pitchFamily="34" charset="0"/>
                <a:ea typeface="Cambria" panose="02040503050406030204" pitchFamily="18" charset="0"/>
                <a:cs typeface="Helvetica" panose="020B0604020202020204" pitchFamily="34" charset="0"/>
              </a:rPr>
              <a:t>,],</a:t>
            </a:r>
          </a:p>
          <a:p>
            <a:pPr marL="112713"/>
            <a:r>
              <a:rPr lang="en-US" sz="1200" i="1" dirty="0">
                <a:latin typeface="Helvetica" panose="020B0604020202020204" pitchFamily="34" charset="0"/>
                <a:ea typeface="Cambria" panose="02040503050406030204" pitchFamily="18" charset="0"/>
                <a:cs typeface="Helvetica" panose="020B0604020202020204" pitchFamily="34" charset="0"/>
              </a:rPr>
              <a:t>     </a:t>
            </a:r>
            <a:r>
              <a:rPr lang="en-US" sz="1200" i="1" dirty="0" err="1">
                <a:latin typeface="Helvetica" panose="020B0604020202020204" pitchFamily="34" charset="0"/>
                <a:ea typeface="Cambria" panose="02040503050406030204" pitchFamily="18" charset="0"/>
                <a:cs typeface="Helvetica" panose="020B0604020202020204" pitchFamily="34" charset="0"/>
              </a:rPr>
              <a:t>xlab</a:t>
            </a:r>
            <a:r>
              <a:rPr lang="en-US" sz="1200" i="1" dirty="0">
                <a:latin typeface="Helvetica" panose="020B0604020202020204" pitchFamily="34" charset="0"/>
                <a:ea typeface="Cambria" panose="02040503050406030204" pitchFamily="18" charset="0"/>
                <a:cs typeface="Helvetica" panose="020B0604020202020204" pitchFamily="34" charset="0"/>
              </a:rPr>
              <a:t>="Regression Coefficient Index",</a:t>
            </a:r>
          </a:p>
          <a:p>
            <a:pPr marL="112713"/>
            <a:r>
              <a:rPr lang="en-US" sz="1200" i="1" dirty="0">
                <a:latin typeface="Helvetica" panose="020B0604020202020204" pitchFamily="34" charset="0"/>
                <a:ea typeface="Cambria" panose="02040503050406030204" pitchFamily="18" charset="0"/>
                <a:cs typeface="Helvetica" panose="020B0604020202020204" pitchFamily="34" charset="0"/>
              </a:rPr>
              <a:t>     </a:t>
            </a:r>
            <a:r>
              <a:rPr lang="en-US" sz="1200" i="1" dirty="0" err="1">
                <a:latin typeface="Helvetica" panose="020B0604020202020204" pitchFamily="34" charset="0"/>
                <a:ea typeface="Cambria" panose="02040503050406030204" pitchFamily="18" charset="0"/>
                <a:cs typeface="Helvetica" panose="020B0604020202020204" pitchFamily="34" charset="0"/>
              </a:rPr>
              <a:t>ylab</a:t>
            </a:r>
            <a:r>
              <a:rPr lang="en-US" sz="1200" i="1" dirty="0">
                <a:latin typeface="Helvetica" panose="020B0604020202020204" pitchFamily="34" charset="0"/>
                <a:ea typeface="Cambria" panose="02040503050406030204" pitchFamily="18" charset="0"/>
                <a:cs typeface="Helvetica" panose="020B0604020202020204" pitchFamily="34" charset="0"/>
              </a:rPr>
              <a:t>="P-values across 100 Samples",</a:t>
            </a:r>
          </a:p>
          <a:p>
            <a:pPr marL="112713"/>
            <a:r>
              <a:rPr lang="en-US" sz="1200" i="1" dirty="0">
                <a:latin typeface="Helvetica" panose="020B0604020202020204" pitchFamily="34" charset="0"/>
                <a:ea typeface="Cambria" panose="02040503050406030204" pitchFamily="18" charset="0"/>
                <a:cs typeface="Helvetica" panose="020B0604020202020204" pitchFamily="34" charset="0"/>
              </a:rPr>
              <a:t>     type="p",</a:t>
            </a:r>
          </a:p>
          <a:p>
            <a:pPr marL="112713"/>
            <a:r>
              <a:rPr lang="en-US" sz="1200" i="1" dirty="0">
                <a:latin typeface="Helvetica" panose="020B0604020202020204" pitchFamily="34" charset="0"/>
                <a:ea typeface="Cambria" panose="02040503050406030204" pitchFamily="18" charset="0"/>
                <a:cs typeface="Helvetica" panose="020B0604020202020204" pitchFamily="34" charset="0"/>
              </a:rPr>
              <a:t>     </a:t>
            </a:r>
            <a:r>
              <a:rPr lang="en-US" sz="1200" i="1" dirty="0" err="1">
                <a:latin typeface="Helvetica" panose="020B0604020202020204" pitchFamily="34" charset="0"/>
                <a:ea typeface="Cambria" panose="02040503050406030204" pitchFamily="18" charset="0"/>
                <a:cs typeface="Helvetica" panose="020B0604020202020204" pitchFamily="34" charset="0"/>
              </a:rPr>
              <a:t>pch</a:t>
            </a:r>
            <a:r>
              <a:rPr lang="en-US" sz="1200" i="1" dirty="0">
                <a:latin typeface="Helvetica" panose="020B0604020202020204" pitchFamily="34" charset="0"/>
                <a:ea typeface="Cambria" panose="02040503050406030204" pitchFamily="18" charset="0"/>
                <a:cs typeface="Helvetica" panose="020B0604020202020204" pitchFamily="34" charset="0"/>
              </a:rPr>
              <a:t>="o",</a:t>
            </a:r>
          </a:p>
          <a:p>
            <a:pPr marL="112713"/>
            <a:r>
              <a:rPr lang="en-US" sz="1200" i="1" dirty="0">
                <a:latin typeface="Helvetica" panose="020B0604020202020204" pitchFamily="34" charset="0"/>
                <a:ea typeface="Cambria" panose="02040503050406030204" pitchFamily="18" charset="0"/>
                <a:cs typeface="Helvetica" panose="020B0604020202020204" pitchFamily="34" charset="0"/>
              </a:rPr>
              <a:t>     col=</a:t>
            </a:r>
            <a:r>
              <a:rPr lang="en-US" sz="1200" i="1" dirty="0" err="1">
                <a:latin typeface="Helvetica" panose="020B0604020202020204" pitchFamily="34" charset="0"/>
                <a:ea typeface="Cambria" panose="02040503050406030204" pitchFamily="18" charset="0"/>
                <a:cs typeface="Helvetica" panose="020B0604020202020204" pitchFamily="34" charset="0"/>
              </a:rPr>
              <a:t>gtblue</a:t>
            </a:r>
            <a:r>
              <a:rPr lang="en-US" sz="1200" i="1" dirty="0">
                <a:latin typeface="Helvetica" panose="020B0604020202020204" pitchFamily="34" charset="0"/>
                <a:ea typeface="Cambria" panose="02040503050406030204" pitchFamily="18" charset="0"/>
                <a:cs typeface="Helvetica" panose="020B0604020202020204" pitchFamily="34" charset="0"/>
              </a:rPr>
              <a:t>)</a:t>
            </a:r>
          </a:p>
        </p:txBody>
      </p:sp>
      <p:sp>
        <p:nvSpPr>
          <p:cNvPr id="2" name="标题 1"/>
          <p:cNvSpPr>
            <a:spLocks noGrp="1"/>
          </p:cNvSpPr>
          <p:nvPr>
            <p:ph type="title"/>
          </p:nvPr>
        </p:nvSpPr>
        <p:spPr>
          <a:xfrm>
            <a:off x="106045" y="155807"/>
            <a:ext cx="8562392" cy="575714"/>
          </a:xfrm>
        </p:spPr>
        <p:txBody>
          <a:bodyPr/>
          <a:lstStyle/>
          <a:p>
            <a:r>
              <a:rPr kumimoji="1" lang="en-US" altLang="zh-CN" sz="3600" dirty="0">
                <a:latin typeface="Vitesse"/>
              </a:rPr>
              <a:t>Statistical Significance</a:t>
            </a:r>
            <a:endParaRPr kumimoji="1" lang="zh-CN" altLang="en-US" sz="3600" dirty="0">
              <a:latin typeface="Vitesse"/>
            </a:endParaRPr>
          </a:p>
        </p:txBody>
      </p:sp>
      <p:graphicFrame>
        <p:nvGraphicFramePr>
          <p:cNvPr id="3" name="Table 2">
            <a:extLst>
              <a:ext uri="{FF2B5EF4-FFF2-40B4-BE49-F238E27FC236}">
                <a16:creationId xmlns:a16="http://schemas.microsoft.com/office/drawing/2014/main" id="{925EA51B-23B3-42D5-8107-15A2369106D0}"/>
              </a:ext>
            </a:extLst>
          </p:cNvPr>
          <p:cNvGraphicFramePr>
            <a:graphicFrameLocks noGrp="1"/>
          </p:cNvGraphicFramePr>
          <p:nvPr>
            <p:extLst>
              <p:ext uri="{D42A27DB-BD31-4B8C-83A1-F6EECF244321}">
                <p14:modId xmlns:p14="http://schemas.microsoft.com/office/powerpoint/2010/main" val="2892220322"/>
              </p:ext>
            </p:extLst>
          </p:nvPr>
        </p:nvGraphicFramePr>
        <p:xfrm>
          <a:off x="5462124" y="902036"/>
          <a:ext cx="2225309" cy="4055570"/>
        </p:xfrm>
        <a:graphic>
          <a:graphicData uri="http://schemas.openxmlformats.org/drawingml/2006/table">
            <a:tbl>
              <a:tblPr firstRow="1" firstCol="1" bandRow="1">
                <a:tableStyleId>{5C22544A-7EE6-4342-B048-85BDC9FD1C3A}</a:tableStyleId>
              </a:tblPr>
              <a:tblGrid>
                <a:gridCol w="731737">
                  <a:extLst>
                    <a:ext uri="{9D8B030D-6E8A-4147-A177-3AD203B41FA5}">
                      <a16:colId xmlns:a16="http://schemas.microsoft.com/office/drawing/2014/main" val="3414674365"/>
                    </a:ext>
                  </a:extLst>
                </a:gridCol>
                <a:gridCol w="566220">
                  <a:extLst>
                    <a:ext uri="{9D8B030D-6E8A-4147-A177-3AD203B41FA5}">
                      <a16:colId xmlns:a16="http://schemas.microsoft.com/office/drawing/2014/main" val="4036954045"/>
                    </a:ext>
                  </a:extLst>
                </a:gridCol>
                <a:gridCol w="526094">
                  <a:extLst>
                    <a:ext uri="{9D8B030D-6E8A-4147-A177-3AD203B41FA5}">
                      <a16:colId xmlns:a16="http://schemas.microsoft.com/office/drawing/2014/main" val="2542873242"/>
                    </a:ext>
                  </a:extLst>
                </a:gridCol>
                <a:gridCol w="401258">
                  <a:extLst>
                    <a:ext uri="{9D8B030D-6E8A-4147-A177-3AD203B41FA5}">
                      <a16:colId xmlns:a16="http://schemas.microsoft.com/office/drawing/2014/main" val="3681749499"/>
                    </a:ext>
                  </a:extLst>
                </a:gridCol>
              </a:tblGrid>
              <a:tr h="18459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Estimate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Pr(&gt;|t|)</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Freq</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231653516"/>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(Intercept)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1.670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426660742"/>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season2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1.370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024855470"/>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season3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1.380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508188265"/>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season4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2.720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753416610"/>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yr1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2.800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2609492256"/>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-1.630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344870662"/>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hr2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-2.570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197482865"/>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hr3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-3.770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128843239"/>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hr4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-4.190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993069985"/>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hr5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-2.360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221550533"/>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hr6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1.480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973197032"/>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hr7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6.820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053715009"/>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hr8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10.700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500627405"/>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hr9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7.500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865402551"/>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5.440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688667351"/>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hr11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6.210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001293932"/>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hr12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7.450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2559803347"/>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hr13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7.310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2268571838"/>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hr14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6.770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855455336"/>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hr15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7.090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51566785"/>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hr16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9.020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577039106"/>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hr17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12.700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2068377943"/>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hr18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12.100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917162049"/>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hr19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9.440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756266942"/>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hr20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7.020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628531953"/>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hr21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5.380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569301272"/>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hr22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3.860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525983782"/>
                  </a:ext>
                </a:extLst>
              </a:tr>
              <a:tr h="117384">
                <a:tc>
                  <a:txBody>
                    <a:bodyPr/>
                    <a:lstStyle/>
                    <a:p>
                      <a:pPr marL="0" marR="0">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hr23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2.000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100</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298681237"/>
                  </a:ext>
                </a:extLst>
              </a:tr>
              <a:tr h="117384">
                <a:tc>
                  <a:txBody>
                    <a:bodyPr/>
                    <a:lstStyle/>
                    <a:p>
                      <a:pPr marL="0" marR="0">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holiday1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-0.986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98</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1616021260"/>
                  </a:ext>
                </a:extLst>
              </a:tr>
              <a:tr h="117384">
                <a:tc>
                  <a:txBody>
                    <a:bodyPr/>
                    <a:lstStyle/>
                    <a:p>
                      <a:pPr marL="0" marR="0">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weekday5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0.723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99</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91326785"/>
                  </a:ext>
                </a:extLst>
              </a:tr>
              <a:tr h="115275">
                <a:tc>
                  <a:txBody>
                    <a:bodyPr/>
                    <a:lstStyle/>
                    <a:p>
                      <a:pPr marL="0" marR="0">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weathersit3</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-2.650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0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100</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2121981597"/>
                  </a:ext>
                </a:extLst>
              </a:tr>
              <a:tr h="117384">
                <a:tc>
                  <a:txBody>
                    <a:bodyPr/>
                    <a:lstStyle/>
                    <a:p>
                      <a:pPr marL="0" marR="0">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hum           </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-2.580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a:solidFill>
                            <a:schemeClr val="tx1"/>
                          </a:solidFill>
                          <a:effectLst/>
                          <a:latin typeface="Helvetica" panose="020B0604020202020204" pitchFamily="34" charset="0"/>
                          <a:cs typeface="Helvetica" panose="020B0604020202020204" pitchFamily="34" charset="0"/>
                        </a:rPr>
                        <a:t>0      </a:t>
                      </a:r>
                      <a:endParaRPr lang="en-US" sz="8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tc>
                  <a:txBody>
                    <a:bodyPr/>
                    <a:lstStyle/>
                    <a:p>
                      <a:pPr marL="0" marR="0" algn="r">
                        <a:lnSpc>
                          <a:spcPct val="107000"/>
                        </a:lnSpc>
                        <a:spcBef>
                          <a:spcPts val="0"/>
                        </a:spcBef>
                        <a:spcAft>
                          <a:spcPts val="0"/>
                        </a:spcAft>
                      </a:pPr>
                      <a:r>
                        <a:rPr lang="en-US" sz="800" b="0" dirty="0">
                          <a:solidFill>
                            <a:schemeClr val="tx1"/>
                          </a:solidFill>
                          <a:effectLst/>
                          <a:latin typeface="Helvetica" panose="020B0604020202020204" pitchFamily="34" charset="0"/>
                          <a:cs typeface="Helvetica" panose="020B0604020202020204" pitchFamily="34" charset="0"/>
                        </a:rPr>
                        <a:t>100</a:t>
                      </a:r>
                      <a:endParaRPr lang="en-US" sz="8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37185" marR="37185" marT="0" marB="0">
                    <a:noFill/>
                  </a:tcPr>
                </a:tc>
                <a:extLst>
                  <a:ext uri="{0D108BD9-81ED-4DB2-BD59-A6C34878D82A}">
                    <a16:rowId xmlns:a16="http://schemas.microsoft.com/office/drawing/2014/main" val="3495741556"/>
                  </a:ext>
                </a:extLst>
              </a:tr>
            </a:tbl>
          </a:graphicData>
        </a:graphic>
      </p:graphicFrame>
    </p:spTree>
    <p:extLst>
      <p:ext uri="{BB962C8B-B14F-4D97-AF65-F5344CB8AC3E}">
        <p14:creationId xmlns:p14="http://schemas.microsoft.com/office/powerpoint/2010/main" val="3209402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045" y="155807"/>
            <a:ext cx="8562392" cy="575714"/>
          </a:xfrm>
        </p:spPr>
        <p:txBody>
          <a:bodyPr/>
          <a:lstStyle/>
          <a:p>
            <a:r>
              <a:rPr kumimoji="1" lang="en-US" altLang="zh-CN" sz="3600" dirty="0">
                <a:latin typeface="Vitesse"/>
              </a:rPr>
              <a:t>Statistical Significance (cont’d)</a:t>
            </a:r>
            <a:endParaRPr kumimoji="1" lang="zh-CN" altLang="en-US" sz="3600" dirty="0">
              <a:latin typeface="Vitesse"/>
            </a:endParaRPr>
          </a:p>
        </p:txBody>
      </p:sp>
      <p:pic>
        <p:nvPicPr>
          <p:cNvPr id="8" name="Picture 7" descr="A screenshot of a cell phone&#10;&#10;Description automatically generated">
            <a:extLst>
              <a:ext uri="{FF2B5EF4-FFF2-40B4-BE49-F238E27FC236}">
                <a16:creationId xmlns:a16="http://schemas.microsoft.com/office/drawing/2014/main" id="{1A4C1E16-B716-4219-90F5-35851A14E6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359" y="1138390"/>
            <a:ext cx="5316041" cy="3173637"/>
          </a:xfrm>
          <a:prstGeom prst="rect">
            <a:avLst/>
          </a:prstGeom>
        </p:spPr>
      </p:pic>
      <p:sp>
        <p:nvSpPr>
          <p:cNvPr id="9" name="TextBox 8">
            <a:extLst>
              <a:ext uri="{FF2B5EF4-FFF2-40B4-BE49-F238E27FC236}">
                <a16:creationId xmlns:a16="http://schemas.microsoft.com/office/drawing/2014/main" id="{EBE6A2A2-C284-480E-B6A3-3BBE5B50BBA8}"/>
              </a:ext>
            </a:extLst>
          </p:cNvPr>
          <p:cNvSpPr txBox="1"/>
          <p:nvPr/>
        </p:nvSpPr>
        <p:spPr>
          <a:xfrm>
            <a:off x="190333" y="4438877"/>
            <a:ext cx="5811904" cy="400110"/>
          </a:xfrm>
          <a:prstGeom prst="rect">
            <a:avLst/>
          </a:prstGeom>
          <a:noFill/>
          <a:ln w="19050">
            <a:solidFill>
              <a:schemeClr val="tx2"/>
            </a:solidFill>
          </a:ln>
        </p:spPr>
        <p:txBody>
          <a:bodyPr wrap="square" lIns="91440" tIns="91440" rIns="91440" bIns="91440" rtlCol="0">
            <a:spAutoFit/>
          </a:bodyPr>
          <a:lstStyle>
            <a:defPPr>
              <a:defRPr lang="en-US"/>
            </a:defPPr>
            <a:lvl1pPr indent="0">
              <a:spcBef>
                <a:spcPts val="600"/>
              </a:spcBef>
              <a:spcAft>
                <a:spcPts val="600"/>
              </a:spcAft>
              <a:buFont typeface="Arial" panose="020B0604020202020204" pitchFamily="34" charset="0"/>
              <a:buNone/>
              <a:defRPr sz="1400">
                <a:latin typeface="Helvetica" panose="020B0604020202020204" pitchFamily="34" charset="0"/>
                <a:ea typeface="Cambria" panose="02040503050406030204" pitchFamily="18" charset="0"/>
                <a:cs typeface="Helvetica" panose="020B0604020202020204" pitchFamily="34" charset="0"/>
              </a:defRPr>
            </a:lvl1pPr>
          </a:lstStyle>
          <a:p>
            <a:r>
              <a:rPr lang="en-US" dirty="0"/>
              <a:t>Statistical significance: Most P-values are small across all sub-samples</a:t>
            </a:r>
          </a:p>
        </p:txBody>
      </p:sp>
    </p:spTree>
    <p:extLst>
      <p:ext uri="{BB962C8B-B14F-4D97-AF65-F5344CB8AC3E}">
        <p14:creationId xmlns:p14="http://schemas.microsoft.com/office/powerpoint/2010/main" val="3141270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858" y="931755"/>
            <a:ext cx="6279972" cy="2308324"/>
          </a:xfrm>
          <a:prstGeom prst="rect">
            <a:avLst/>
          </a:prstGeom>
          <a:noFill/>
        </p:spPr>
        <p:txBody>
          <a:bodyPr wrap="square" rtlCol="0">
            <a:spAutoFit/>
          </a:bodyPr>
          <a:lstStyle/>
          <a:p>
            <a:r>
              <a:rPr lang="en-US" sz="1200" b="1" dirty="0">
                <a:solidFill>
                  <a:srgbClr val="EAAA00"/>
                </a:solidFill>
                <a:latin typeface="Helvetica" panose="020B0604020202020204" pitchFamily="34" charset="0"/>
                <a:ea typeface="Helvetica" charset="0"/>
                <a:cs typeface="Helvetica" panose="020B0604020202020204" pitchFamily="34" charset="0"/>
              </a:rPr>
              <a:t># Which regression coefficients are not statistically significant?</a:t>
            </a:r>
          </a:p>
          <a:p>
            <a:r>
              <a:rPr lang="en-US" sz="1200" i="1" dirty="0" err="1">
                <a:latin typeface="Helvetica" panose="020B0604020202020204" pitchFamily="34" charset="0"/>
                <a:ea typeface="Helvetica" charset="0"/>
                <a:cs typeface="Helvetica" panose="020B0604020202020204" pitchFamily="34" charset="0"/>
              </a:rPr>
              <a:t>idx_icoef</a:t>
            </a:r>
            <a:r>
              <a:rPr lang="en-US" sz="1200" i="1" dirty="0">
                <a:latin typeface="Helvetica" panose="020B0604020202020204" pitchFamily="34" charset="0"/>
                <a:ea typeface="Helvetica" charset="0"/>
                <a:cs typeface="Helvetica" panose="020B0604020202020204" pitchFamily="34" charset="0"/>
              </a:rPr>
              <a:t> = which(</a:t>
            </a:r>
            <a:r>
              <a:rPr lang="en-US" sz="1200" i="1" dirty="0" err="1">
                <a:latin typeface="Helvetica" panose="020B0604020202020204" pitchFamily="34" charset="0"/>
                <a:ea typeface="Helvetica" charset="0"/>
                <a:cs typeface="Helvetica" panose="020B0604020202020204" pitchFamily="34" charset="0"/>
              </a:rPr>
              <a:t>pv_significant</a:t>
            </a:r>
            <a:r>
              <a:rPr lang="en-US" sz="1200" i="1" dirty="0">
                <a:latin typeface="Helvetica" panose="020B0604020202020204" pitchFamily="34" charset="0"/>
                <a:ea typeface="Helvetica" charset="0"/>
                <a:cs typeface="Helvetica" panose="020B0604020202020204" pitchFamily="34" charset="0"/>
              </a:rPr>
              <a:t>&lt;85)</a:t>
            </a:r>
          </a:p>
          <a:p>
            <a:r>
              <a:rPr lang="en-US" sz="1200" b="1" dirty="0">
                <a:solidFill>
                  <a:srgbClr val="EAAA00"/>
                </a:solidFill>
                <a:latin typeface="Helvetica" panose="020B0604020202020204" pitchFamily="34" charset="0"/>
                <a:ea typeface="Helvetica" charset="0"/>
                <a:cs typeface="Helvetica" panose="020B0604020202020204" pitchFamily="34" charset="0"/>
              </a:rPr>
              <a:t># Show the p-values of the significant coefficients in model2</a:t>
            </a:r>
          </a:p>
          <a:p>
            <a:r>
              <a:rPr lang="en-US" sz="1200" i="1" dirty="0" err="1">
                <a:latin typeface="Helvetica" panose="020B0604020202020204" pitchFamily="34" charset="0"/>
                <a:ea typeface="Helvetica" charset="0"/>
                <a:cs typeface="Helvetica" panose="020B0604020202020204" pitchFamily="34" charset="0"/>
              </a:rPr>
              <a:t>cbind</a:t>
            </a:r>
            <a:r>
              <a:rPr lang="en-US" sz="1200" i="1" dirty="0">
                <a:latin typeface="Helvetica" panose="020B0604020202020204" pitchFamily="34" charset="0"/>
                <a:ea typeface="Helvetica" charset="0"/>
                <a:cs typeface="Helvetica" panose="020B0604020202020204" pitchFamily="34" charset="0"/>
              </a:rPr>
              <a:t>(summary(model2)$</a:t>
            </a:r>
            <a:r>
              <a:rPr lang="en-US" sz="1200" i="1" dirty="0" err="1">
                <a:latin typeface="Helvetica" panose="020B0604020202020204" pitchFamily="34" charset="0"/>
                <a:ea typeface="Helvetica" charset="0"/>
                <a:cs typeface="Helvetica" panose="020B0604020202020204" pitchFamily="34" charset="0"/>
              </a:rPr>
              <a:t>coeff</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idx_icoef,c</a:t>
            </a:r>
            <a:r>
              <a:rPr lang="en-US" sz="1200" i="1" dirty="0">
                <a:latin typeface="Helvetica" panose="020B0604020202020204" pitchFamily="34" charset="0"/>
                <a:ea typeface="Helvetica" charset="0"/>
                <a:cs typeface="Helvetica" panose="020B0604020202020204" pitchFamily="34" charset="0"/>
              </a:rPr>
              <a:t>(1,4)],</a:t>
            </a:r>
          </a:p>
          <a:p>
            <a:pPr marL="112713"/>
            <a:r>
              <a:rPr lang="en-US" sz="1200" i="1" dirty="0">
                <a:latin typeface="Helvetica" panose="020B0604020202020204" pitchFamily="34" charset="0"/>
                <a:ea typeface="Helvetica" charset="0"/>
                <a:cs typeface="Helvetica" panose="020B0604020202020204" pitchFamily="34" charset="0"/>
              </a:rPr>
              <a:t>      Freq=</a:t>
            </a:r>
            <a:r>
              <a:rPr lang="en-US" sz="1200" i="1" dirty="0" err="1">
                <a:latin typeface="Helvetica" panose="020B0604020202020204" pitchFamily="34" charset="0"/>
                <a:ea typeface="Helvetica" charset="0"/>
                <a:cs typeface="Helvetica" panose="020B0604020202020204" pitchFamily="34" charset="0"/>
              </a:rPr>
              <a:t>pv_significant</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idx_icoef</a:t>
            </a:r>
            <a:r>
              <a:rPr lang="en-US" sz="1200" i="1" dirty="0">
                <a:latin typeface="Helvetica" panose="020B0604020202020204" pitchFamily="34" charset="0"/>
                <a:ea typeface="Helvetica" charset="0"/>
                <a:cs typeface="Helvetica" panose="020B0604020202020204" pitchFamily="34" charset="0"/>
              </a:rPr>
              <a:t>])</a:t>
            </a:r>
          </a:p>
          <a:p>
            <a:r>
              <a:rPr lang="en-US" sz="1200" b="1" dirty="0">
                <a:solidFill>
                  <a:srgbClr val="EAAA00"/>
                </a:solidFill>
                <a:latin typeface="Helvetica" panose="020B0604020202020204" pitchFamily="34" charset="0"/>
                <a:ea typeface="Helvetica" charset="0"/>
                <a:cs typeface="Helvetica" panose="020B0604020202020204" pitchFamily="34" charset="0"/>
              </a:rPr>
              <a:t># Plot the 100 p-values of the significant coefficients</a:t>
            </a:r>
          </a:p>
          <a:p>
            <a:r>
              <a:rPr lang="en-US" sz="1200" i="1" dirty="0" err="1">
                <a:latin typeface="Helvetica" panose="020B0604020202020204" pitchFamily="34" charset="0"/>
                <a:ea typeface="Helvetica" charset="0"/>
                <a:cs typeface="Helvetica" panose="020B0604020202020204" pitchFamily="34" charset="0"/>
              </a:rPr>
              <a:t>matplot</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pv_matrix</a:t>
            </a:r>
            <a:r>
              <a:rPr lang="en-US" sz="1200" i="1" dirty="0">
                <a:latin typeface="Helvetica" panose="020B0604020202020204" pitchFamily="34" charset="0"/>
                <a:ea typeface="Helvetica" charset="0"/>
                <a:cs typeface="Helvetica" panose="020B0604020202020204" pitchFamily="34" charset="0"/>
              </a:rPr>
              <a:t>[</a:t>
            </a:r>
            <a:r>
              <a:rPr lang="en-US" sz="1200" i="1" dirty="0" err="1">
                <a:latin typeface="Helvetica" panose="020B0604020202020204" pitchFamily="34" charset="0"/>
                <a:ea typeface="Helvetica" charset="0"/>
                <a:cs typeface="Helvetica" panose="020B0604020202020204" pitchFamily="34" charset="0"/>
              </a:rPr>
              <a:t>idx_icoef</a:t>
            </a:r>
            <a:r>
              <a:rPr lang="en-US" sz="1200" i="1" dirty="0">
                <a:latin typeface="Helvetica" panose="020B0604020202020204" pitchFamily="34" charset="0"/>
                <a:ea typeface="Helvetica" charset="0"/>
                <a:cs typeface="Helvetica" panose="020B0604020202020204" pitchFamily="34" charset="0"/>
              </a:rPr>
              <a:t>,],</a:t>
            </a:r>
          </a:p>
          <a:p>
            <a:pPr marL="112713"/>
            <a:r>
              <a:rPr lang="en-US" sz="1200" i="1" dirty="0">
                <a:latin typeface="Helvetica" panose="020B0604020202020204" pitchFamily="34" charset="0"/>
                <a:ea typeface="Helvetica" charset="0"/>
                <a:cs typeface="Helvetica" panose="020B0604020202020204" pitchFamily="34" charset="0"/>
              </a:rPr>
              <a:t>     </a:t>
            </a:r>
            <a:r>
              <a:rPr lang="en-US" sz="1200" i="1" dirty="0" err="1">
                <a:latin typeface="Helvetica" panose="020B0604020202020204" pitchFamily="34" charset="0"/>
                <a:ea typeface="Helvetica" charset="0"/>
                <a:cs typeface="Helvetica" panose="020B0604020202020204" pitchFamily="34" charset="0"/>
              </a:rPr>
              <a:t>xlab</a:t>
            </a:r>
            <a:r>
              <a:rPr lang="en-US" sz="1200" i="1" dirty="0">
                <a:latin typeface="Helvetica" panose="020B0604020202020204" pitchFamily="34" charset="0"/>
                <a:ea typeface="Helvetica" charset="0"/>
                <a:cs typeface="Helvetica" panose="020B0604020202020204" pitchFamily="34" charset="0"/>
              </a:rPr>
              <a:t>="Regression Coefficient Index",</a:t>
            </a:r>
          </a:p>
          <a:p>
            <a:pPr marL="112713"/>
            <a:r>
              <a:rPr lang="en-US" sz="1200" i="1" dirty="0">
                <a:latin typeface="Helvetica" panose="020B0604020202020204" pitchFamily="34" charset="0"/>
                <a:ea typeface="Helvetica" charset="0"/>
                <a:cs typeface="Helvetica" panose="020B0604020202020204" pitchFamily="34" charset="0"/>
              </a:rPr>
              <a:t>     </a:t>
            </a:r>
            <a:r>
              <a:rPr lang="en-US" sz="1200" i="1" dirty="0" err="1">
                <a:latin typeface="Helvetica" panose="020B0604020202020204" pitchFamily="34" charset="0"/>
                <a:ea typeface="Helvetica" charset="0"/>
                <a:cs typeface="Helvetica" panose="020B0604020202020204" pitchFamily="34" charset="0"/>
              </a:rPr>
              <a:t>ylab</a:t>
            </a:r>
            <a:r>
              <a:rPr lang="en-US" sz="1200" i="1" dirty="0">
                <a:latin typeface="Helvetica" panose="020B0604020202020204" pitchFamily="34" charset="0"/>
                <a:ea typeface="Helvetica" charset="0"/>
                <a:cs typeface="Helvetica" panose="020B0604020202020204" pitchFamily="34" charset="0"/>
              </a:rPr>
              <a:t>="P-values across 100 Samples",</a:t>
            </a:r>
          </a:p>
          <a:p>
            <a:pPr marL="112713"/>
            <a:r>
              <a:rPr lang="en-US" sz="1200" i="1" dirty="0">
                <a:latin typeface="Helvetica" panose="020B0604020202020204" pitchFamily="34" charset="0"/>
                <a:ea typeface="Helvetica" charset="0"/>
                <a:cs typeface="Helvetica" panose="020B0604020202020204" pitchFamily="34" charset="0"/>
              </a:rPr>
              <a:t>     type="p",</a:t>
            </a:r>
          </a:p>
          <a:p>
            <a:pPr marL="112713"/>
            <a:r>
              <a:rPr lang="en-US" sz="1200" i="1" dirty="0">
                <a:latin typeface="Helvetica" panose="020B0604020202020204" pitchFamily="34" charset="0"/>
                <a:ea typeface="Helvetica" charset="0"/>
                <a:cs typeface="Helvetica" panose="020B0604020202020204" pitchFamily="34" charset="0"/>
              </a:rPr>
              <a:t>     </a:t>
            </a:r>
            <a:r>
              <a:rPr lang="en-US" sz="1200" i="1" dirty="0" err="1">
                <a:latin typeface="Helvetica" panose="020B0604020202020204" pitchFamily="34" charset="0"/>
                <a:ea typeface="Helvetica" charset="0"/>
                <a:cs typeface="Helvetica" panose="020B0604020202020204" pitchFamily="34" charset="0"/>
              </a:rPr>
              <a:t>pch</a:t>
            </a:r>
            <a:r>
              <a:rPr lang="en-US" sz="1200" i="1" dirty="0">
                <a:latin typeface="Helvetica" panose="020B0604020202020204" pitchFamily="34" charset="0"/>
                <a:ea typeface="Helvetica" charset="0"/>
                <a:cs typeface="Helvetica" panose="020B0604020202020204" pitchFamily="34" charset="0"/>
              </a:rPr>
              <a:t>="o",</a:t>
            </a:r>
          </a:p>
          <a:p>
            <a:pPr marL="112713"/>
            <a:r>
              <a:rPr lang="en-US" sz="1200" i="1" dirty="0">
                <a:latin typeface="Helvetica" panose="020B0604020202020204" pitchFamily="34" charset="0"/>
                <a:ea typeface="Helvetica" charset="0"/>
                <a:cs typeface="Helvetica" panose="020B0604020202020204" pitchFamily="34" charset="0"/>
              </a:rPr>
              <a:t>     col=</a:t>
            </a:r>
            <a:r>
              <a:rPr lang="en-US" sz="1200" i="1" dirty="0" err="1">
                <a:latin typeface="Helvetica" panose="020B0604020202020204" pitchFamily="34" charset="0"/>
                <a:ea typeface="Helvetica" charset="0"/>
                <a:cs typeface="Helvetica" panose="020B0604020202020204" pitchFamily="34" charset="0"/>
              </a:rPr>
              <a:t>gtblue</a:t>
            </a:r>
            <a:r>
              <a:rPr lang="en-US" sz="1200" i="1" dirty="0">
                <a:latin typeface="Helvetica" panose="020B0604020202020204" pitchFamily="34" charset="0"/>
                <a:ea typeface="Helvetica" charset="0"/>
                <a:cs typeface="Helvetica" panose="020B0604020202020204" pitchFamily="34" charset="0"/>
              </a:rPr>
              <a:t>)</a:t>
            </a:r>
          </a:p>
        </p:txBody>
      </p:sp>
      <p:graphicFrame>
        <p:nvGraphicFramePr>
          <p:cNvPr id="3" name="Table 2">
            <a:extLst>
              <a:ext uri="{FF2B5EF4-FFF2-40B4-BE49-F238E27FC236}">
                <a16:creationId xmlns:a16="http://schemas.microsoft.com/office/drawing/2014/main" id="{F14CF3BA-284E-450C-B6EB-0104DEF6E7F9}"/>
              </a:ext>
            </a:extLst>
          </p:cNvPr>
          <p:cNvGraphicFramePr>
            <a:graphicFrameLocks noGrp="1"/>
          </p:cNvGraphicFramePr>
          <p:nvPr>
            <p:extLst>
              <p:ext uri="{D42A27DB-BD31-4B8C-83A1-F6EECF244321}">
                <p14:modId xmlns:p14="http://schemas.microsoft.com/office/powerpoint/2010/main" val="1446125822"/>
              </p:ext>
            </p:extLst>
          </p:nvPr>
        </p:nvGraphicFramePr>
        <p:xfrm>
          <a:off x="5437846" y="949437"/>
          <a:ext cx="2767478" cy="3493770"/>
        </p:xfrm>
        <a:graphic>
          <a:graphicData uri="http://schemas.openxmlformats.org/drawingml/2006/table">
            <a:tbl>
              <a:tblPr firstRow="1" firstCol="1" bandRow="1">
                <a:tableStyleId>{5C22544A-7EE6-4342-B048-85BDC9FD1C3A}</a:tableStyleId>
              </a:tblPr>
              <a:tblGrid>
                <a:gridCol w="922492">
                  <a:extLst>
                    <a:ext uri="{9D8B030D-6E8A-4147-A177-3AD203B41FA5}">
                      <a16:colId xmlns:a16="http://schemas.microsoft.com/office/drawing/2014/main" val="644964021"/>
                    </a:ext>
                  </a:extLst>
                </a:gridCol>
                <a:gridCol w="717495">
                  <a:extLst>
                    <a:ext uri="{9D8B030D-6E8A-4147-A177-3AD203B41FA5}">
                      <a16:colId xmlns:a16="http://schemas.microsoft.com/office/drawing/2014/main" val="2913012800"/>
                    </a:ext>
                  </a:extLst>
                </a:gridCol>
                <a:gridCol w="614995">
                  <a:extLst>
                    <a:ext uri="{9D8B030D-6E8A-4147-A177-3AD203B41FA5}">
                      <a16:colId xmlns:a16="http://schemas.microsoft.com/office/drawing/2014/main" val="3767651488"/>
                    </a:ext>
                  </a:extLst>
                </a:gridCol>
                <a:gridCol w="512496">
                  <a:extLst>
                    <a:ext uri="{9D8B030D-6E8A-4147-A177-3AD203B41FA5}">
                      <a16:colId xmlns:a16="http://schemas.microsoft.com/office/drawing/2014/main" val="3157781025"/>
                    </a:ext>
                  </a:extLst>
                </a:gridCol>
              </a:tblGrid>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Estimate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Pr(&gt;|t|)</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Freq</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4152142963"/>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mnth2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0.379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12</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1302079639"/>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0.676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68</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2761581366"/>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0.516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0.021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11</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2358387373"/>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1.108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66</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380326359"/>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0.499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0.043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7</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4188204419"/>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-0.326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0.240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1598500027"/>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0.300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0.267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353386163"/>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1.052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64</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1943724021"/>
                  </a:ext>
                </a:extLst>
              </a:tr>
              <a:tr h="15593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mnth10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0.516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0.020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7</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2089476548"/>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mnth11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-0.241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0.260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4067879158"/>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mnth12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-0.038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0.826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4221451288"/>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weekday1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0.229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0.024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9</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3089960723"/>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weekday2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0.174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0.080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4</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4229521033"/>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weekday3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0.283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16</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2773828178"/>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weekday4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0.344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35</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1851810250"/>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weekday6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0.530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79</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4276575243"/>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weathersit2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-0.346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74</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1530349270"/>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temp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3.847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38</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550571326"/>
                  </a:ext>
                </a:extLst>
              </a:tr>
              <a:tr h="155348">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atemp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4.879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0.000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84</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3478736217"/>
                  </a:ext>
                </a:extLst>
              </a:tr>
              <a:tr h="155348">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windspeed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-1.101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0.000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59</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2139" marR="62139" marT="0" marB="0">
                    <a:noFill/>
                  </a:tcPr>
                </a:tc>
                <a:extLst>
                  <a:ext uri="{0D108BD9-81ED-4DB2-BD59-A6C34878D82A}">
                    <a16:rowId xmlns:a16="http://schemas.microsoft.com/office/drawing/2014/main" val="2801449248"/>
                  </a:ext>
                </a:extLst>
              </a:tr>
            </a:tbl>
          </a:graphicData>
        </a:graphic>
      </p:graphicFrame>
      <p:sp>
        <p:nvSpPr>
          <p:cNvPr id="9" name="标题 1">
            <a:extLst>
              <a:ext uri="{FF2B5EF4-FFF2-40B4-BE49-F238E27FC236}">
                <a16:creationId xmlns:a16="http://schemas.microsoft.com/office/drawing/2014/main" id="{C943B5B0-6AB6-44CC-9279-E72E2DA1A63E}"/>
              </a:ext>
            </a:extLst>
          </p:cNvPr>
          <p:cNvSpPr txBox="1">
            <a:spLocks/>
          </p:cNvSpPr>
          <p:nvPr/>
        </p:nvSpPr>
        <p:spPr>
          <a:xfrm>
            <a:off x="73677" y="147715"/>
            <a:ext cx="8562392" cy="639722"/>
          </a:xfrm>
          <a:prstGeom prst="rect">
            <a:avLst/>
          </a:prstGeom>
        </p:spPr>
        <p:txBody>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r>
              <a:rPr kumimoji="1" lang="en-US" altLang="zh-CN" sz="3600">
                <a:latin typeface="Vitesse"/>
              </a:rPr>
              <a:t>Lack Statistical Significance</a:t>
            </a:r>
          </a:p>
        </p:txBody>
      </p:sp>
    </p:spTree>
    <p:extLst>
      <p:ext uri="{BB962C8B-B14F-4D97-AF65-F5344CB8AC3E}">
        <p14:creationId xmlns:p14="http://schemas.microsoft.com/office/powerpoint/2010/main" val="350422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ell phone&#10;&#10;Description automatically generated">
            <a:extLst>
              <a:ext uri="{FF2B5EF4-FFF2-40B4-BE49-F238E27FC236}">
                <a16:creationId xmlns:a16="http://schemas.microsoft.com/office/drawing/2014/main" id="{8DC8F332-18CE-4E7F-9F5D-AFA5956272EC}"/>
              </a:ext>
            </a:extLst>
          </p:cNvPr>
          <p:cNvPicPr>
            <a:picLocks noChangeAspect="1"/>
          </p:cNvPicPr>
          <p:nvPr/>
        </p:nvPicPr>
        <p:blipFill rotWithShape="1">
          <a:blip r:embed="rId3">
            <a:extLst>
              <a:ext uri="{28A0092B-C50C-407E-A947-70E740481C1C}">
                <a14:useLocalDpi xmlns:a14="http://schemas.microsoft.com/office/drawing/2010/main" val="0"/>
              </a:ext>
            </a:extLst>
          </a:blip>
          <a:srcRect t="8292" r="4889" b="4641"/>
          <a:stretch/>
        </p:blipFill>
        <p:spPr>
          <a:xfrm>
            <a:off x="161882" y="1100517"/>
            <a:ext cx="5371299" cy="3034513"/>
          </a:xfrm>
          <a:prstGeom prst="rect">
            <a:avLst/>
          </a:prstGeom>
        </p:spPr>
      </p:pic>
      <p:sp>
        <p:nvSpPr>
          <p:cNvPr id="2" name="标题 1"/>
          <p:cNvSpPr>
            <a:spLocks noGrp="1"/>
          </p:cNvSpPr>
          <p:nvPr>
            <p:ph type="title"/>
          </p:nvPr>
        </p:nvSpPr>
        <p:spPr>
          <a:xfrm>
            <a:off x="73677" y="147715"/>
            <a:ext cx="8562392" cy="639722"/>
          </a:xfrm>
        </p:spPr>
        <p:txBody>
          <a:bodyPr/>
          <a:lstStyle/>
          <a:p>
            <a:r>
              <a:rPr kumimoji="1" lang="en-US" altLang="zh-CN" sz="3600" dirty="0">
                <a:latin typeface="Vitesse"/>
              </a:rPr>
              <a:t>Lack Statistical Significance</a:t>
            </a:r>
            <a:endParaRPr kumimoji="1" lang="zh-CN" altLang="en-US" sz="3600" dirty="0">
              <a:latin typeface="Vitesse"/>
            </a:endParaRPr>
          </a:p>
        </p:txBody>
      </p:sp>
      <p:sp>
        <p:nvSpPr>
          <p:cNvPr id="13" name="TextBox 12">
            <a:extLst>
              <a:ext uri="{FF2B5EF4-FFF2-40B4-BE49-F238E27FC236}">
                <a16:creationId xmlns:a16="http://schemas.microsoft.com/office/drawing/2014/main" id="{35FE9854-65BE-451D-9F32-7F1C5102F97B}"/>
              </a:ext>
            </a:extLst>
          </p:cNvPr>
          <p:cNvSpPr txBox="1"/>
          <p:nvPr/>
        </p:nvSpPr>
        <p:spPr>
          <a:xfrm>
            <a:off x="198425" y="4382233"/>
            <a:ext cx="5287975" cy="400110"/>
          </a:xfrm>
          <a:prstGeom prst="rect">
            <a:avLst/>
          </a:prstGeom>
          <a:noFill/>
          <a:ln w="19050">
            <a:solidFill>
              <a:schemeClr val="tx2"/>
            </a:solidFill>
          </a:ln>
        </p:spPr>
        <p:txBody>
          <a:bodyPr wrap="square" lIns="91440" tIns="91440" rIns="91440" bIns="91440" rtlCol="0">
            <a:spAutoFit/>
          </a:bodyPr>
          <a:lstStyle>
            <a:defPPr>
              <a:defRPr lang="en-US"/>
            </a:defPPr>
            <a:lvl1pPr indent="0">
              <a:spcBef>
                <a:spcPts val="600"/>
              </a:spcBef>
              <a:spcAft>
                <a:spcPts val="600"/>
              </a:spcAft>
              <a:buFont typeface="Arial" panose="020B0604020202020204" pitchFamily="34" charset="0"/>
              <a:buNone/>
              <a:defRPr sz="1400">
                <a:latin typeface="Helvetica" panose="020B0604020202020204" pitchFamily="34" charset="0"/>
                <a:ea typeface="Cambria" panose="02040503050406030204" pitchFamily="18" charset="0"/>
                <a:cs typeface="Helvetica" panose="020B0604020202020204" pitchFamily="34" charset="0"/>
              </a:defRPr>
            </a:lvl1pPr>
          </a:lstStyle>
          <a:p>
            <a:r>
              <a:rPr lang="en-US" dirty="0"/>
              <a:t>Lack of statistical significance: Uniform Distribution of P-values</a:t>
            </a:r>
          </a:p>
        </p:txBody>
      </p:sp>
    </p:spTree>
    <p:extLst>
      <p:ext uri="{BB962C8B-B14F-4D97-AF65-F5344CB8AC3E}">
        <p14:creationId xmlns:p14="http://schemas.microsoft.com/office/powerpoint/2010/main" val="64086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E40B-0ED7-4142-88F2-F20202C72E05}"/>
              </a:ext>
            </a:extLst>
          </p:cNvPr>
          <p:cNvSpPr>
            <a:spLocks noGrp="1"/>
          </p:cNvSpPr>
          <p:nvPr>
            <p:ph type="title"/>
          </p:nvPr>
        </p:nvSpPr>
        <p:spPr>
          <a:xfrm>
            <a:off x="69469" y="155807"/>
            <a:ext cx="8562392" cy="566570"/>
          </a:xfrm>
        </p:spPr>
        <p:txBody>
          <a:bodyPr/>
          <a:lstStyle/>
          <a:p>
            <a:r>
              <a:rPr lang="en-US" sz="3600" dirty="0">
                <a:latin typeface="Vitesse"/>
              </a:rPr>
              <a:t>Statistical Significance Summary</a:t>
            </a:r>
          </a:p>
        </p:txBody>
      </p:sp>
      <p:sp>
        <p:nvSpPr>
          <p:cNvPr id="5" name="Rectangle 4">
            <a:extLst>
              <a:ext uri="{FF2B5EF4-FFF2-40B4-BE49-F238E27FC236}">
                <a16:creationId xmlns:a16="http://schemas.microsoft.com/office/drawing/2014/main" id="{C4604614-D8B4-440D-BC89-1C7459B2EB03}"/>
              </a:ext>
            </a:extLst>
          </p:cNvPr>
          <p:cNvSpPr/>
          <p:nvPr/>
        </p:nvSpPr>
        <p:spPr>
          <a:xfrm>
            <a:off x="93745" y="864247"/>
            <a:ext cx="7407572" cy="3416320"/>
          </a:xfrm>
          <a:prstGeom prst="rect">
            <a:avLst/>
          </a:prstGeom>
        </p:spPr>
        <p:txBody>
          <a:bodyPr wrap="square">
            <a:spAutoFit/>
          </a:bodyPr>
          <a:lstStyle/>
          <a:p>
            <a:pPr marL="396875" indent="-396875">
              <a:buFont typeface="Arial" panose="020B0604020202020204" pitchFamily="34" charset="0"/>
              <a:buChar char="•"/>
            </a:pPr>
            <a:r>
              <a:rPr lang="en-US" sz="1800" dirty="0">
                <a:latin typeface="Helvetica" charset="0"/>
                <a:ea typeface="Helvetica" charset="0"/>
                <a:cs typeface="Helvetica" charset="0"/>
              </a:rPr>
              <a:t>Most regression coefficients remain statistically significant for 95% of the sub-samples, supporting statistical significance for these factors</a:t>
            </a:r>
          </a:p>
          <a:p>
            <a:pPr marL="396875" indent="-396875">
              <a:buFont typeface="Arial" panose="020B0604020202020204" pitchFamily="34" charset="0"/>
              <a:buChar char="•"/>
            </a:pPr>
            <a:endParaRPr lang="en-US" sz="1800" dirty="0">
              <a:latin typeface="Helvetica" charset="0"/>
              <a:ea typeface="Helvetica" charset="0"/>
              <a:cs typeface="Helvetica" charset="0"/>
            </a:endParaRPr>
          </a:p>
          <a:p>
            <a:pPr marL="396875" indent="-396875">
              <a:buFont typeface="Arial" panose="020B0604020202020204" pitchFamily="34" charset="0"/>
              <a:buChar char="•"/>
            </a:pPr>
            <a:r>
              <a:rPr lang="en-US" sz="1800" dirty="0">
                <a:latin typeface="Helvetica" charset="0"/>
                <a:ea typeface="Helvetica" charset="0"/>
                <a:cs typeface="Helvetica" charset="0"/>
              </a:rPr>
              <a:t>Statistical significance is not supported for most of months and weekdays as well as for temperature and windspeed factors given that other relevant factors, such as season and weather situation are in the model.</a:t>
            </a:r>
          </a:p>
          <a:p>
            <a:pPr marL="396875" indent="-396875">
              <a:buFont typeface="Arial" panose="020B0604020202020204" pitchFamily="34" charset="0"/>
              <a:buChar char="•"/>
            </a:pPr>
            <a:endParaRPr lang="en-US" sz="1800" dirty="0">
              <a:latin typeface="Helvetica" charset="0"/>
              <a:ea typeface="Helvetica" charset="0"/>
              <a:cs typeface="Helvetica" charset="0"/>
            </a:endParaRPr>
          </a:p>
          <a:p>
            <a:pPr marL="396875" indent="-396875">
              <a:buFont typeface="Arial" panose="020B0604020202020204" pitchFamily="34" charset="0"/>
              <a:buChar char="•"/>
            </a:pPr>
            <a:r>
              <a:rPr lang="en-US" sz="1800" dirty="0">
                <a:latin typeface="Helvetica" charset="0"/>
                <a:ea typeface="Helvetica" charset="0"/>
                <a:cs typeface="Helvetica" charset="0"/>
              </a:rPr>
              <a:t>While the 85% cutoff was used for the frequency of p-values being smaller than the significance level 0.01, other lower cut-offs, such as 50%, can be used.</a:t>
            </a:r>
          </a:p>
        </p:txBody>
      </p:sp>
    </p:spTree>
    <p:extLst>
      <p:ext uri="{BB962C8B-B14F-4D97-AF65-F5344CB8AC3E}">
        <p14:creationId xmlns:p14="http://schemas.microsoft.com/office/powerpoint/2010/main" val="428423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05196" y="147217"/>
            <a:ext cx="4727575" cy="795337"/>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7759" t="6607" r="13881" b="7744"/>
          <a:stretch/>
        </p:blipFill>
        <p:spPr>
          <a:xfrm>
            <a:off x="3236327" y="1171154"/>
            <a:ext cx="2573755" cy="2813176"/>
          </a:xfrm>
          <a:prstGeom prst="rect">
            <a:avLst/>
          </a:prstGeom>
        </p:spPr>
      </p:pic>
    </p:spTree>
    <p:extLst>
      <p:ext uri="{BB962C8B-B14F-4D97-AF65-F5344CB8AC3E}">
        <p14:creationId xmlns:p14="http://schemas.microsoft.com/office/powerpoint/2010/main" val="390196560"/>
      </p:ext>
    </p:extLst>
  </p:cSld>
  <p:clrMapOvr>
    <a:masterClrMapping/>
  </p:clrMapOvr>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20680</TotalTime>
  <Words>1267</Words>
  <Application>Microsoft Office PowerPoint</Application>
  <PresentationFormat>On-screen Show (16:9)</PresentationFormat>
  <Paragraphs>328</Paragraphs>
  <Slides>13</Slides>
  <Notes>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13</vt:i4>
      </vt:variant>
    </vt:vector>
  </HeadingPairs>
  <TitlesOfParts>
    <vt:vector size="24" baseType="lpstr">
      <vt:lpstr>Arial</vt:lpstr>
      <vt:lpstr>Calibri</vt:lpstr>
      <vt:lpstr>Cambria Math</vt:lpstr>
      <vt:lpstr>Helvetica</vt:lpstr>
      <vt:lpstr>Vitesse</vt:lpstr>
      <vt:lpstr>Vitesse Bold</vt:lpstr>
      <vt:lpstr>Vitesse Book</vt:lpstr>
      <vt:lpstr>Vitesse Medium</vt:lpstr>
      <vt:lpstr>1_Half Page Slash</vt:lpstr>
      <vt:lpstr>2_Half Page Slash</vt:lpstr>
      <vt:lpstr>1_Full Page Layout</vt:lpstr>
      <vt:lpstr>PowerPoint Presentation</vt:lpstr>
      <vt:lpstr>PowerPoint Presentation</vt:lpstr>
      <vt:lpstr>PowerPoint Presentation</vt:lpstr>
      <vt:lpstr>PowerPoint Presentation</vt:lpstr>
      <vt:lpstr>PowerPoint Presentation</vt:lpstr>
      <vt:lpstr>PowerPoint Presentation</vt:lpstr>
      <vt:lpstr>The P-value Problem: Approach (cont’d)</vt:lpstr>
      <vt:lpstr>Statistical Significance</vt:lpstr>
      <vt:lpstr>Statistical Significance (cont’d)</vt:lpstr>
      <vt:lpstr>PowerPoint Presentation</vt:lpstr>
      <vt:lpstr>Lack Statistical Significance</vt:lpstr>
      <vt:lpstr>Statistical Significance Summary</vt:lpstr>
      <vt:lpstr>PowerPoint Presentation</vt:lpstr>
    </vt:vector>
  </TitlesOfParts>
  <Company>gt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Linear Regression R Examples</dc:title>
  <dc:creator>Serban, Nicoleta</dc:creator>
  <cp:lastModifiedBy>Rodriguez, Ramon S</cp:lastModifiedBy>
  <cp:revision>545</cp:revision>
  <dcterms:created xsi:type="dcterms:W3CDTF">2017-01-02T15:06:50Z</dcterms:created>
  <dcterms:modified xsi:type="dcterms:W3CDTF">2020-04-17T20:03:56Z</dcterms:modified>
</cp:coreProperties>
</file>