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  <p:sldMasterId id="2147483717" r:id="rId2"/>
    <p:sldMasterId id="2147483718" r:id="rId3"/>
  </p:sldMasterIdLst>
  <p:notesMasterIdLst>
    <p:notesMasterId r:id="rId17"/>
  </p:notesMasterIdLst>
  <p:sldIdLst>
    <p:sldId id="489" r:id="rId4"/>
    <p:sldId id="343" r:id="rId5"/>
    <p:sldId id="401" r:id="rId6"/>
    <p:sldId id="292" r:id="rId7"/>
    <p:sldId id="341" r:id="rId8"/>
    <p:sldId id="345" r:id="rId9"/>
    <p:sldId id="348" r:id="rId10"/>
    <p:sldId id="350" r:id="rId11"/>
    <p:sldId id="402" r:id="rId12"/>
    <p:sldId id="342" r:id="rId13"/>
    <p:sldId id="500" r:id="rId14"/>
    <p:sldId id="368" r:id="rId15"/>
    <p:sldId id="344" r:id="rId16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20" userDrawn="1">
          <p15:clr>
            <a:srgbClr val="A4A3A4"/>
          </p15:clr>
        </p15:guide>
        <p15:guide id="4" pos="336" userDrawn="1">
          <p15:clr>
            <a:srgbClr val="A4A3A4"/>
          </p15:clr>
        </p15:guide>
        <p15:guide id="5" pos="552" userDrawn="1">
          <p15:clr>
            <a:srgbClr val="A4A3A4"/>
          </p15:clr>
        </p15:guide>
        <p15:guide id="6" pos="3456" userDrawn="1">
          <p15:clr>
            <a:srgbClr val="A4A3A4"/>
          </p15:clr>
        </p15:guide>
        <p15:guide id="7" orient="horz" pos="396" userDrawn="1">
          <p15:clr>
            <a:srgbClr val="A4A3A4"/>
          </p15:clr>
        </p15:guide>
        <p15:guide id="8" orient="horz" pos="780" userDrawn="1">
          <p15:clr>
            <a:srgbClr val="A4A3A4"/>
          </p15:clr>
        </p15:guide>
        <p15:guide id="9" orient="horz" pos="2772" userDrawn="1">
          <p15:clr>
            <a:srgbClr val="A4A3A4"/>
          </p15:clr>
        </p15:guide>
        <p15:guide id="10" pos="5640" userDrawn="1">
          <p15:clr>
            <a:srgbClr val="A4A3A4"/>
          </p15:clr>
        </p15:guide>
        <p15:guide id="11" orient="horz" pos="30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AA00"/>
    <a:srgbClr val="F6F7F9"/>
    <a:srgbClr val="003366"/>
    <a:srgbClr val="1F497D"/>
    <a:srgbClr val="8E4221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2" autoAdjust="0"/>
    <p:restoredTop sz="93673" autoAdjust="0"/>
  </p:normalViewPr>
  <p:slideViewPr>
    <p:cSldViewPr snapToGrid="0">
      <p:cViewPr varScale="1">
        <p:scale>
          <a:sx n="106" d="100"/>
          <a:sy n="106" d="100"/>
        </p:scale>
        <p:origin x="662" y="67"/>
      </p:cViewPr>
      <p:guideLst>
        <p:guide orient="horz" pos="1620"/>
        <p:guide pos="2880"/>
        <p:guide pos="120"/>
        <p:guide pos="336"/>
        <p:guide pos="552"/>
        <p:guide pos="3456"/>
        <p:guide orient="horz" pos="396"/>
        <p:guide orient="horz" pos="780"/>
        <p:guide orient="horz" pos="2772"/>
        <p:guide pos="5640"/>
        <p:guide orient="horz" pos="30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358C8-D37B-4DB3-A032-059E1BD5A650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E3481-38DB-434B-B170-CFE83842A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98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73F899DE-00F9-44EC-A3AD-B3E74958BD84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8560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47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381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357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69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627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13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34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799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83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6014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985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2504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4308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7902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456768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554199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350852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522724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15075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132512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11076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8238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768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62486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7359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72284" y="171644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4" name="Text Placeholder 2"/>
          <p:cNvSpPr>
            <a:spLocks noGrp="1"/>
          </p:cNvSpPr>
          <p:nvPr/>
        </p:nvSpPr>
        <p:spPr>
          <a:xfrm>
            <a:off x="92366" y="685716"/>
            <a:ext cx="6368450" cy="10249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Multiple</a:t>
            </a:r>
            <a:r>
              <a:rPr lang="zh-CN" altLang="en-US" sz="2400" dirty="0"/>
              <a:t> </a:t>
            </a:r>
            <a:r>
              <a:rPr lang="en-US" altLang="zh-CN" sz="2400" dirty="0"/>
              <a:t>Linear</a:t>
            </a:r>
            <a:r>
              <a:rPr lang="zh-CN" altLang="en-US" sz="2400" dirty="0"/>
              <a:t> </a:t>
            </a:r>
            <a:r>
              <a:rPr lang="en-US" altLang="zh-CN" sz="2400" dirty="0"/>
              <a:t>Regression</a:t>
            </a:r>
            <a:endParaRPr lang="en-US" sz="2400" dirty="0"/>
          </a:p>
        </p:txBody>
      </p:sp>
      <p:sp>
        <p:nvSpPr>
          <p:cNvPr id="17" name="Text Placeholder 3"/>
          <p:cNvSpPr>
            <a:spLocks noGrp="1"/>
          </p:cNvSpPr>
          <p:nvPr/>
        </p:nvSpPr>
        <p:spPr>
          <a:xfrm>
            <a:off x="85589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EAAA00"/>
              </a:solidFill>
            </a:endParaRPr>
          </a:p>
          <a:p>
            <a:r>
              <a:rPr lang="en-US" dirty="0" err="1">
                <a:solidFill>
                  <a:srgbClr val="EAAA00"/>
                </a:solidFill>
              </a:rPr>
              <a:t>Nicoleta</a:t>
            </a:r>
            <a:r>
              <a:rPr lang="en-US" dirty="0">
                <a:solidFill>
                  <a:srgbClr val="EAAA00"/>
                </a:solidFill>
              </a:rPr>
              <a:t> </a:t>
            </a:r>
            <a:r>
              <a:rPr lang="en-US" dirty="0" err="1">
                <a:solidFill>
                  <a:srgbClr val="EAAA00"/>
                </a:solidFill>
              </a:rPr>
              <a:t>Serban</a:t>
            </a:r>
            <a:r>
              <a:rPr lang="en-US" dirty="0">
                <a:solidFill>
                  <a:srgbClr val="EAAA00"/>
                </a:solidFill>
              </a:rPr>
              <a:t>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92366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20" name="Text Placeholder 6"/>
          <p:cNvSpPr>
            <a:spLocks noGrp="1"/>
          </p:cNvSpPr>
          <p:nvPr/>
        </p:nvSpPr>
        <p:spPr>
          <a:xfrm>
            <a:off x="101772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  <p:sp>
        <p:nvSpPr>
          <p:cNvPr id="8" name="文本占位符 5">
            <a:extLst>
              <a:ext uri="{FF2B5EF4-FFF2-40B4-BE49-F238E27FC236}">
                <a16:creationId xmlns:a16="http://schemas.microsoft.com/office/drawing/2014/main" xmlns="" id="{E10AF41C-D281-4182-A746-53E53C70D8B1}"/>
              </a:ext>
            </a:extLst>
          </p:cNvPr>
          <p:cNvSpPr txBox="1">
            <a:spLocks/>
          </p:cNvSpPr>
          <p:nvPr/>
        </p:nvSpPr>
        <p:spPr>
          <a:xfrm>
            <a:off x="85809" y="4115850"/>
            <a:ext cx="4057314" cy="68103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Predicting Demand for Rental Bikes: Exploratory Data Analysis</a:t>
            </a:r>
            <a:endParaRPr kumimoji="1" lang="zh-CN" altLang="en-US" sz="2000" dirty="0">
              <a:solidFill>
                <a:schemeClr val="tx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14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3422383" y="1276349"/>
            <a:ext cx="2392685" cy="3028613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21380" y="154185"/>
            <a:ext cx="4727575" cy="731837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2065241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74325" y="145207"/>
            <a:ext cx="8562392" cy="62067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1" lang="en-US" altLang="zh-CN" sz="3600" dirty="0">
                <a:latin typeface="Vitesse"/>
              </a:rPr>
              <a:t>Predicting Demand for Rental Bikes</a:t>
            </a:r>
            <a:endParaRPr lang="en-US" sz="3600" dirty="0">
              <a:latin typeface="Vitess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A592315F-BECE-4D34-86FD-7B1A1B08B0CE}"/>
              </a:ext>
            </a:extLst>
          </p:cNvPr>
          <p:cNvSpPr/>
          <p:nvPr/>
        </p:nvSpPr>
        <p:spPr>
          <a:xfrm>
            <a:off x="5388299" y="1132434"/>
            <a:ext cx="3429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Bike sharing systems are of great interest due to their important role in traffic management.</a:t>
            </a:r>
          </a:p>
          <a:p>
            <a:r>
              <a:rPr lang="en-US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Dataset: 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Historical data for years 2011-2012 for the bike sharing system in Washington D.C.</a:t>
            </a:r>
          </a:p>
          <a:p>
            <a:r>
              <a:rPr lang="en-US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Data Source: 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UCI Machine Learning Repository</a:t>
            </a:r>
            <a:endParaRPr lang="en-US" sz="1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C0CEBEA-6F01-41BC-94CC-890CBB705AA1}"/>
              </a:ext>
            </a:extLst>
          </p:cNvPr>
          <p:cNvSpPr txBox="1"/>
          <p:nvPr/>
        </p:nvSpPr>
        <p:spPr>
          <a:xfrm>
            <a:off x="448081" y="4075801"/>
            <a:ext cx="7302759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algn="l">
              <a:lnSpc>
                <a:spcPts val="1200"/>
              </a:lnSpc>
              <a:spcAft>
                <a:spcPts val="600"/>
              </a:spcAft>
            </a:pPr>
            <a:r>
              <a:rPr lang="en-US" sz="1400" b="1" i="1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Acknowledgement</a:t>
            </a:r>
            <a:r>
              <a:rPr lang="en-US" sz="1400" i="1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: This example was prepared with support from students in the </a:t>
            </a:r>
          </a:p>
          <a:p>
            <a:pPr algn="l">
              <a:lnSpc>
                <a:spcPts val="1200"/>
              </a:lnSpc>
              <a:spcAft>
                <a:spcPts val="600"/>
              </a:spcAft>
            </a:pPr>
            <a:r>
              <a:rPr lang="en-US" sz="1400" i="1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Masters of Analytics program, including </a:t>
            </a:r>
            <a:r>
              <a:rPr lang="it-IT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Naman Arora, Puneeth Banisetti, </a:t>
            </a:r>
          </a:p>
          <a:p>
            <a:pPr>
              <a:lnSpc>
                <a:spcPts val="1200"/>
              </a:lnSpc>
              <a:spcAft>
                <a:spcPts val="600"/>
              </a:spcAft>
            </a:pPr>
            <a:r>
              <a:rPr lang="it-IT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Mani Chandana Chalasani</a:t>
            </a:r>
            <a:r>
              <a:rPr lang="en-US" sz="1400" i="1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Joseph (Mike) Tritchler and Kevin West </a:t>
            </a:r>
          </a:p>
        </p:txBody>
      </p:sp>
      <p:pic>
        <p:nvPicPr>
          <p:cNvPr id="7" name="Picture 6" descr="A bicycle parked on the side of a building&#10;&#10;Description automatically generated">
            <a:extLst>
              <a:ext uri="{FF2B5EF4-FFF2-40B4-BE49-F238E27FC236}">
                <a16:creationId xmlns:a16="http://schemas.microsoft.com/office/drawing/2014/main" xmlns="" id="{CB23F6E2-63A0-4BF8-8305-43DB049BB4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86" y="1245722"/>
            <a:ext cx="4334312" cy="24416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25" y="153298"/>
            <a:ext cx="8562392" cy="588997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Response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&amp;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Predicting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Variables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xmlns="" id="{5A80DA0C-458D-4026-9C19-F689E413C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2" y="1025515"/>
            <a:ext cx="8333509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response variable is:</a:t>
            </a:r>
          </a:p>
          <a:p>
            <a:pPr marL="832104" indent="-493776"/>
            <a:r>
              <a:rPr lang="en-US" altLang="en-US" sz="1400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(</a:t>
            </a:r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Cnt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): Total bikes rented by both casual &amp; registered users together</a:t>
            </a:r>
          </a:p>
          <a:p>
            <a:pPr eaLnBrk="1" hangingPunct="1">
              <a:spcBef>
                <a:spcPts val="0"/>
              </a:spcBef>
            </a:pPr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14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qualitative predicting variables are:</a:t>
            </a:r>
            <a:endParaRPr lang="en-US" altLang="en-US" sz="1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32104" indent="-493776"/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Season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Season which the observation is made (1 = Winter, 2 = Spring, 3 = Summer, 4 = Fall)</a:t>
            </a:r>
          </a:p>
          <a:p>
            <a:pPr marL="832104" indent="-493776"/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Yr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Year on which the observation is made</a:t>
            </a:r>
          </a:p>
          <a:p>
            <a:pPr marL="832104" indent="-493776"/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Mnth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Month on which the observation is made</a:t>
            </a:r>
          </a:p>
          <a:p>
            <a:pPr marL="832104" indent="-493776"/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Hr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Day on which the observation is made (0 through 23)</a:t>
            </a:r>
          </a:p>
          <a:p>
            <a:pPr marL="832104" indent="-493776"/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Holiday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Indictor of a public holiday or not (1 = public holiday, 0 = not a public holiday)</a:t>
            </a:r>
          </a:p>
          <a:p>
            <a:pPr marL="832104" indent="-493776"/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Weekday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Day of week (0 through 6)</a:t>
            </a:r>
          </a:p>
          <a:p>
            <a:pPr marL="687388" indent="-349250"/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Weathersit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Weather condition (1 = Clear, Few clouds, Partly cloudy, Partly cloudy, 2 = Mist &amp; Cloudy, Mist &amp; Broken clouds, Mist &amp; Few clouds, Mist, 3 = Snow,  Rain, Thunderstorm &amp; Scattered clouds, Ice Pallets &amp; Fog)</a:t>
            </a:r>
          </a:p>
          <a:p>
            <a:r>
              <a:rPr lang="en-US" altLang="en-US" sz="14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quantitative predicting variables are:</a:t>
            </a:r>
            <a:endParaRPr lang="en-US" altLang="en-US" sz="1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32104" indent="-493776"/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Temp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Normalized temperature in Celsius</a:t>
            </a:r>
          </a:p>
          <a:p>
            <a:pPr marL="832104" indent="-493776"/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Atemp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Normalized feeling temperature in Celsius</a:t>
            </a:r>
          </a:p>
          <a:p>
            <a:pPr marL="832104" indent="-493776"/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Hum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Normalized humidity</a:t>
            </a:r>
          </a:p>
          <a:p>
            <a:pPr marL="832104" indent="-493776"/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Windspeed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Normalized wind speed</a:t>
            </a:r>
          </a:p>
        </p:txBody>
      </p:sp>
    </p:spTree>
    <p:extLst>
      <p:ext uri="{BB962C8B-B14F-4D97-AF65-F5344CB8AC3E}">
        <p14:creationId xmlns:p14="http://schemas.microsoft.com/office/powerpoint/2010/main" val="269697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0811" y="1068107"/>
            <a:ext cx="4371189" cy="25853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Read data using read.csv </a:t>
            </a:r>
          </a:p>
          <a:p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data&lt;-read.csv(“Bikes.csv")</a:t>
            </a:r>
          </a:p>
          <a:p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dim(data)[1]</a:t>
            </a:r>
            <a:r>
              <a:rPr lang="en-US" sz="1400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</a:t>
            </a:r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how many observations?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[1] 17379</a:t>
            </a:r>
          </a:p>
          <a:p>
            <a:r>
              <a:rPr lang="en-US" sz="14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Test initial intuitions/assumptions on the behavior of the data </a:t>
            </a:r>
          </a:p>
          <a:p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hist(</a:t>
            </a:r>
            <a:r>
              <a:rPr lang="en-US" sz="14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data</a:t>
            </a:r>
            <a:r>
              <a:rPr lang="en-US" sz="1400" b="1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4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cnt</a:t>
            </a: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</a:t>
            </a:r>
            <a:b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main="", </a:t>
            </a:r>
            <a:b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</a:t>
            </a:r>
            <a:r>
              <a:rPr lang="en-US" sz="14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xlab</a:t>
            </a: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="Count of Bike Shares", </a:t>
            </a:r>
            <a:b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border="gold", </a:t>
            </a:r>
            <a:b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col="</a:t>
            </a:r>
            <a:r>
              <a:rPr lang="en-US" sz="14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darkblue</a:t>
            </a: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")</a:t>
            </a:r>
          </a:p>
          <a:p>
            <a:endParaRPr lang="en-US" sz="1400" dirty="0">
              <a:solidFill>
                <a:srgbClr val="8E4221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4325" y="153298"/>
            <a:ext cx="8562392" cy="639681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Exploratory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Data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Analysis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in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R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F68F6E9-AAE8-4788-BC04-80376369E54F}"/>
              </a:ext>
            </a:extLst>
          </p:cNvPr>
          <p:cNvSpPr txBox="1"/>
          <p:nvPr/>
        </p:nvSpPr>
        <p:spPr>
          <a:xfrm>
            <a:off x="538315" y="3600892"/>
            <a:ext cx="4033685" cy="8002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  <a:effectLst/>
        </p:spPr>
        <p:txBody>
          <a:bodyPr wrap="square" lIns="182880" tIns="182880" rIns="182880" bIns="182880" rtlCol="0">
            <a:spAutoFit/>
          </a:bodyPr>
          <a:lstStyle/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The frequency of zero bike shares is high, which skews the demand data.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CB5A8DBC-1E44-4604-A839-F129B1B281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399" y="1206256"/>
            <a:ext cx="3456789" cy="235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343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4325" y="153299"/>
            <a:ext cx="8562392" cy="720642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Exploratory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Data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Analysis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in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R (cont’d) 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E99239E-EC06-4DF0-8A38-6836780D6A4B}"/>
              </a:ext>
            </a:extLst>
          </p:cNvPr>
          <p:cNvSpPr txBox="1"/>
          <p:nvPr/>
        </p:nvSpPr>
        <p:spPr>
          <a:xfrm>
            <a:off x="538457" y="3178655"/>
            <a:ext cx="4033544" cy="12311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  <a:effectLst/>
        </p:spPr>
        <p:txBody>
          <a:bodyPr wrap="square" lIns="182880" tIns="182880" rIns="182880" bIns="182880" rtlCol="0">
            <a:spAutoFit/>
          </a:bodyPr>
          <a:lstStyle/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The number of bike shares between hour 0 and hour 6 is low. The majority activity as expected is focused between hour 7 and hour 23, peaking at hour 8 and hour 17.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1" y="1078133"/>
            <a:ext cx="4381500" cy="20672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Evaluate intuitions/assumptions on the behavior of the data and understand patterns</a:t>
            </a:r>
          </a:p>
          <a:p>
            <a:pPr latinLnBrk="1">
              <a:spcAft>
                <a:spcPts val="1000"/>
              </a:spcAft>
            </a:pPr>
            <a:r>
              <a:rPr lang="en-US" sz="14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boxplot</a:t>
            </a: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cnt</a:t>
            </a:r>
            <a:r>
              <a:rPr lang="en-US" sz="1400" b="1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~</a:t>
            </a:r>
            <a:r>
              <a:rPr lang="en-US" sz="14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hr</a:t>
            </a: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</a:t>
            </a:r>
            <a:b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 main="",</a:t>
            </a:r>
            <a:b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 </a:t>
            </a:r>
            <a:r>
              <a:rPr lang="en-US" sz="14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xlab</a:t>
            </a: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="Hour",</a:t>
            </a:r>
            <a:b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 </a:t>
            </a:r>
            <a:r>
              <a:rPr lang="en-US" sz="14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ylab</a:t>
            </a: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="Count of Bike Shares",</a:t>
            </a:r>
            <a:b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 col=blues9,</a:t>
            </a:r>
            <a:b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 data=data)</a:t>
            </a:r>
          </a:p>
          <a:p>
            <a:endParaRPr lang="en-US" sz="1400" dirty="0">
              <a:solidFill>
                <a:srgbClr val="8E4221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37B0FBE-F322-41CB-96DA-75FD7CF4A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492" y="1242211"/>
            <a:ext cx="3491286" cy="201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534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E99239E-EC06-4DF0-8A38-6836780D6A4B}"/>
              </a:ext>
            </a:extLst>
          </p:cNvPr>
          <p:cNvSpPr txBox="1"/>
          <p:nvPr/>
        </p:nvSpPr>
        <p:spPr>
          <a:xfrm>
            <a:off x="5486400" y="3602412"/>
            <a:ext cx="3467100" cy="800219"/>
          </a:xfrm>
          <a:prstGeom prst="rect">
            <a:avLst/>
          </a:prstGeom>
          <a:noFill/>
          <a:ln w="19050">
            <a:solidFill>
              <a:schemeClr val="tx2"/>
            </a:solidFill>
          </a:ln>
          <a:effectLst/>
        </p:spPr>
        <p:txBody>
          <a:bodyPr wrap="square" lIns="182880" tIns="182880" rIns="182880" bIns="182880" rtlCol="0">
            <a:spAutoFit/>
          </a:bodyPr>
          <a:lstStyle/>
          <a:p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The number of bikes decreases as the weather becomes unfavorable.</a:t>
            </a:r>
            <a:endParaRPr lang="en-US" sz="14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14C61AC-D7AF-488D-8889-CEE068072DEA}"/>
              </a:ext>
            </a:extLst>
          </p:cNvPr>
          <p:cNvSpPr txBox="1"/>
          <p:nvPr/>
        </p:nvSpPr>
        <p:spPr>
          <a:xfrm>
            <a:off x="531728" y="3602412"/>
            <a:ext cx="3467100" cy="8002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  <a:effectLst/>
        </p:spPr>
        <p:txBody>
          <a:bodyPr wrap="square" lIns="182880" tIns="182880" rIns="182880" bIns="182880" rtlCol="0">
            <a:spAutoFit/>
          </a:bodyPr>
          <a:lstStyle/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The number of bikes rented during winter are the lowest.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81DB091-28D7-46B7-ABBA-4073017AA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78" y="1187109"/>
            <a:ext cx="3391492" cy="2323800"/>
          </a:xfrm>
          <a:prstGeom prst="rect">
            <a:avLst/>
          </a:prstGeom>
        </p:spPr>
      </p:pic>
      <p:pic>
        <p:nvPicPr>
          <p:cNvPr id="3" name="Picture 2" descr="A picture containing clock&#10;&#10;Description automatically generated">
            <a:extLst>
              <a:ext uri="{FF2B5EF4-FFF2-40B4-BE49-F238E27FC236}">
                <a16:creationId xmlns:a16="http://schemas.microsoft.com/office/drawing/2014/main" xmlns="" id="{3280D92E-18E4-4C70-8C0B-A247A4C32A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180" y="1180736"/>
            <a:ext cx="2805684" cy="2382207"/>
          </a:xfrm>
          <a:prstGeom prst="rect">
            <a:avLst/>
          </a:prstGeom>
        </p:spPr>
      </p:pic>
      <p:sp>
        <p:nvSpPr>
          <p:cNvPr id="11" name="标题 3">
            <a:extLst>
              <a:ext uri="{FF2B5EF4-FFF2-40B4-BE49-F238E27FC236}">
                <a16:creationId xmlns:a16="http://schemas.microsoft.com/office/drawing/2014/main" xmlns="" id="{38C5E890-4D74-4D52-8887-4F03E876B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5" y="153299"/>
            <a:ext cx="8562392" cy="720642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Exploratory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Data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Analysis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in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R (cont’d) </a:t>
            </a:r>
            <a:endParaRPr kumimoji="1" lang="zh-CN" alt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1316202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1465" y="1059747"/>
            <a:ext cx="4064157" cy="18517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atinLnBrk="1">
              <a:spcAft>
                <a:spcPts val="1000"/>
              </a:spcAft>
            </a:pP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plot(</a:t>
            </a:r>
            <a:r>
              <a:rPr lang="en-US" sz="14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data$windspeed</a:t>
            </a: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</a:t>
            </a:r>
            <a:b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</a:t>
            </a:r>
            <a:r>
              <a:rPr lang="en-US" sz="14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data$cnt</a:t>
            </a: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</a:t>
            </a:r>
            <a:b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</a:t>
            </a:r>
            <a:r>
              <a:rPr lang="en-US" sz="14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xlab</a:t>
            </a: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='Scaled Wind Speed',</a:t>
            </a:r>
            <a:b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</a:t>
            </a:r>
            <a:r>
              <a:rPr lang="en-US" sz="14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ylab</a:t>
            </a: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='Count of Bike Share',</a:t>
            </a:r>
            <a:b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main=‘’,  col="</a:t>
            </a:r>
            <a:r>
              <a:rPr lang="en-US" sz="14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darkblue</a:t>
            </a:r>
            <a:r>
              <a:rPr lang="en-US" sz="14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")</a:t>
            </a:r>
          </a:p>
          <a:p>
            <a:r>
              <a:rPr 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abline</a:t>
            </a:r>
            <a:r>
              <a:rPr 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lm</a:t>
            </a:r>
            <a:r>
              <a:rPr 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cnt~windspeed</a:t>
            </a:r>
            <a:r>
              <a:rPr 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data=data), </a:t>
            </a:r>
          </a:p>
          <a:p>
            <a:r>
              <a:rPr 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  col=</a:t>
            </a:r>
            <a:r>
              <a:rPr 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buzzgold</a:t>
            </a:r>
            <a:r>
              <a:rPr 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</a:t>
            </a:r>
          </a:p>
          <a:p>
            <a:r>
              <a:rPr 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  </a:t>
            </a:r>
            <a:r>
              <a:rPr 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lty</a:t>
            </a:r>
            <a:r>
              <a:rPr 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=2, </a:t>
            </a:r>
            <a:r>
              <a:rPr 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lwd</a:t>
            </a:r>
            <a:r>
              <a:rPr 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E99239E-EC06-4DF0-8A38-6836780D6A4B}"/>
              </a:ext>
            </a:extLst>
          </p:cNvPr>
          <p:cNvSpPr txBox="1"/>
          <p:nvPr/>
        </p:nvSpPr>
        <p:spPr>
          <a:xfrm>
            <a:off x="539196" y="3606833"/>
            <a:ext cx="4032803" cy="8002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  <a:effectLst/>
        </p:spPr>
        <p:txBody>
          <a:bodyPr wrap="square" lIns="182880" tIns="182880" rIns="182880" bIns="182880" rtlCol="0">
            <a:spAutoFit/>
          </a:bodyPr>
          <a:lstStyle/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The count of rental bikes seems to decrease as windspeed increases.</a:t>
            </a:r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xmlns="" id="{E4BA55C9-9D60-4696-BD9E-90550A0676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018796"/>
            <a:ext cx="3556112" cy="2513803"/>
          </a:xfrm>
          <a:prstGeom prst="rect">
            <a:avLst/>
          </a:prstGeom>
        </p:spPr>
      </p:pic>
      <p:sp>
        <p:nvSpPr>
          <p:cNvPr id="8" name="标题 3">
            <a:extLst>
              <a:ext uri="{FF2B5EF4-FFF2-40B4-BE49-F238E27FC236}">
                <a16:creationId xmlns:a16="http://schemas.microsoft.com/office/drawing/2014/main" xmlns="" id="{1525A8E0-5B0B-409A-98D6-C6B9A61AB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5" y="153299"/>
            <a:ext cx="8562392" cy="720642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Exploratory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Data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Analysis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in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R (cont’d) </a:t>
            </a:r>
            <a:endParaRPr kumimoji="1" lang="zh-CN" alt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2027422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E99239E-EC06-4DF0-8A38-6836780D6A4B}"/>
              </a:ext>
            </a:extLst>
          </p:cNvPr>
          <p:cNvSpPr txBox="1"/>
          <p:nvPr/>
        </p:nvSpPr>
        <p:spPr>
          <a:xfrm>
            <a:off x="540184" y="3175657"/>
            <a:ext cx="3627214" cy="1231106"/>
          </a:xfrm>
          <a:prstGeom prst="rect">
            <a:avLst/>
          </a:prstGeom>
          <a:noFill/>
          <a:ln w="19050">
            <a:solidFill>
              <a:schemeClr val="tx2"/>
            </a:solidFill>
          </a:ln>
          <a:effectLst/>
        </p:spPr>
        <p:txBody>
          <a:bodyPr wrap="square" lIns="182880" tIns="182880" rIns="182880" bIns="182880" rtlCol="0">
            <a:spAutoFit/>
          </a:bodyPr>
          <a:lstStyle/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The count of rental bikes seems to decrease as humidity increases although the demand varies within similar ranges at varying humidity levels.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xmlns="" id="{C1E2EE06-DBA6-4995-A9D3-46F31AC342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736" y="1182261"/>
            <a:ext cx="2840735" cy="1955579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xmlns="" id="{E3A2AB92-B0FB-41FB-ADF9-8FA8671851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492" y="1193220"/>
            <a:ext cx="2840735" cy="19704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74305491-0E43-4F71-AE56-02F1C260866B}"/>
              </a:ext>
            </a:extLst>
          </p:cNvPr>
          <p:cNvSpPr txBox="1"/>
          <p:nvPr/>
        </p:nvSpPr>
        <p:spPr>
          <a:xfrm>
            <a:off x="5496578" y="3167565"/>
            <a:ext cx="3456921" cy="1231106"/>
          </a:xfrm>
          <a:prstGeom prst="rect">
            <a:avLst/>
          </a:prstGeom>
          <a:noFill/>
          <a:ln w="19050">
            <a:solidFill>
              <a:schemeClr val="tx2"/>
            </a:solidFill>
          </a:ln>
          <a:effectLst/>
        </p:spPr>
        <p:txBody>
          <a:bodyPr wrap="square" lIns="182880" tIns="182880" rIns="182880" bIns="182880" rtlCol="0">
            <a:spAutoFit/>
          </a:bodyPr>
          <a:lstStyle/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The count of rental bikes seems to increase as temperature increases however with much wider variability at larger temperature levels.</a:t>
            </a:r>
          </a:p>
        </p:txBody>
      </p:sp>
      <p:sp>
        <p:nvSpPr>
          <p:cNvPr id="11" name="标题 3">
            <a:extLst>
              <a:ext uri="{FF2B5EF4-FFF2-40B4-BE49-F238E27FC236}">
                <a16:creationId xmlns:a16="http://schemas.microsoft.com/office/drawing/2014/main" xmlns="" id="{CC3A6495-C270-4A5B-826F-432FDE1BC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5" y="153299"/>
            <a:ext cx="8562392" cy="720642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Exploratory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Data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Analysis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in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R (cont’d) </a:t>
            </a:r>
            <a:endParaRPr kumimoji="1" lang="zh-CN" alt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2268084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8592" y="1079914"/>
            <a:ext cx="8108870" cy="4201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3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Divide data into train and test data</a:t>
            </a:r>
          </a:p>
          <a:p>
            <a:r>
              <a:rPr lang="en-US" sz="13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Set seed for reproducibility</a:t>
            </a:r>
          </a:p>
          <a:p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set.seed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(9)</a:t>
            </a:r>
          </a:p>
          <a:p>
            <a:r>
              <a:rPr lang="en-US" sz="13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Test Train split</a:t>
            </a:r>
          </a:p>
          <a:p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sample_size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floor(0.8</a:t>
            </a:r>
            <a:r>
              <a:rPr lang="en-US" sz="13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*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nrow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(data))</a:t>
            </a:r>
            <a:b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picked = sample(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seq_len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nrow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(data)),size = 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sample_size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</a:p>
          <a:p>
            <a:endParaRPr lang="en-US" sz="1300" dirty="0">
              <a:solidFill>
                <a:srgbClr val="000000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r>
              <a:rPr lang="en-US" sz="13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Remove irrelevant columns from training data</a:t>
            </a:r>
          </a:p>
          <a:p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train = data[picked,]</a:t>
            </a:r>
            <a:b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train &lt;- train[</a:t>
            </a:r>
            <a:r>
              <a:rPr lang="en-US" sz="13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-c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(1,2,9,15,16)]</a:t>
            </a:r>
          </a:p>
          <a:p>
            <a:endParaRPr lang="en-US" sz="1300" dirty="0">
              <a:solidFill>
                <a:srgbClr val="000000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r>
              <a:rPr lang="en-US" sz="13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Converting the numerical </a:t>
            </a:r>
            <a:r>
              <a:rPr lang="en-US" sz="1300" b="1" dirty="0" err="1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cateogrical</a:t>
            </a:r>
            <a:r>
              <a:rPr lang="en-US" sz="13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variables to predictors</a:t>
            </a:r>
          </a:p>
          <a:p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train</a:t>
            </a:r>
            <a:r>
              <a:rPr lang="en-US" sz="1300" b="1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season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train</a:t>
            </a:r>
            <a:r>
              <a:rPr lang="en-US" sz="1300" b="1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season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b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train</a:t>
            </a:r>
            <a:r>
              <a:rPr lang="en-US" sz="1300" b="1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yr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train</a:t>
            </a:r>
            <a:r>
              <a:rPr lang="en-US" sz="1300" b="1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yr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b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train</a:t>
            </a:r>
            <a:r>
              <a:rPr lang="en-US" sz="1300" b="1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mnth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train</a:t>
            </a:r>
            <a:r>
              <a:rPr lang="en-US" sz="1300" b="1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mnth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b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train</a:t>
            </a:r>
            <a:r>
              <a:rPr lang="en-US" sz="1300" b="1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hr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train</a:t>
            </a:r>
            <a:r>
              <a:rPr lang="en-US" sz="1300" b="1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hr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b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train</a:t>
            </a:r>
            <a:r>
              <a:rPr lang="en-US" sz="1300" b="1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holiday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train</a:t>
            </a:r>
            <a:r>
              <a:rPr lang="en-US" sz="1300" b="1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holiday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b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train</a:t>
            </a:r>
            <a:r>
              <a:rPr lang="en-US" sz="1300" b="1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weekday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train</a:t>
            </a:r>
            <a:r>
              <a:rPr lang="en-US" sz="1300" b="1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weekday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b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train</a:t>
            </a:r>
            <a:r>
              <a:rPr lang="en-US" sz="1300" b="1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weathersit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train</a:t>
            </a:r>
            <a:r>
              <a:rPr lang="en-US" sz="1300" b="1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weathersit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</a:p>
          <a:p>
            <a:endParaRPr lang="en-US" sz="1300" dirty="0">
              <a:solidFill>
                <a:srgbClr val="000000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endParaRPr lang="en-US" sz="1300" dirty="0">
              <a:solidFill>
                <a:srgbClr val="8E4221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4325" y="137114"/>
            <a:ext cx="8562392" cy="993775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Preparing the Data</a:t>
            </a:r>
            <a:endParaRPr kumimoji="1" lang="zh-CN" alt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16612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25" y="153298"/>
            <a:ext cx="8562392" cy="668885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Fitting the Regression Model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C653B76-D689-4BBE-8C97-6744A5D4F313}"/>
              </a:ext>
            </a:extLst>
          </p:cNvPr>
          <p:cNvSpPr txBox="1"/>
          <p:nvPr/>
        </p:nvSpPr>
        <p:spPr>
          <a:xfrm>
            <a:off x="5486401" y="2088174"/>
            <a:ext cx="3467100" cy="486287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tIns="27432" bIns="27432" rtlCol="0">
            <a:spAutoFit/>
          </a:bodyPr>
          <a:lstStyle/>
          <a:p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In the full output there are 51 predictor rows in addition to the intercept.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D5865F5E-8ADD-4B45-8641-714E57CBF385}"/>
              </a:ext>
            </a:extLst>
          </p:cNvPr>
          <p:cNvSpPr/>
          <p:nvPr/>
        </p:nvSpPr>
        <p:spPr>
          <a:xfrm>
            <a:off x="5401428" y="1023461"/>
            <a:ext cx="3552073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rgbClr val="EAAA00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# Applying multiple linear regression model</a:t>
            </a:r>
          </a:p>
          <a:p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model1 = 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lm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cnt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</a:t>
            </a:r>
            <a:r>
              <a:rPr lang="en-US" sz="13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~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.,data=train)</a:t>
            </a:r>
            <a:b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summary(model1)</a:t>
            </a:r>
            <a:endParaRPr lang="en-US" sz="1300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xmlns="" id="{03B5378A-FE0F-4F6C-B27C-74951D52D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15" y="1108053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xmlns="" id="{27038048-8AED-4934-AE1C-89BF0480A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670691"/>
              </p:ext>
            </p:extLst>
          </p:nvPr>
        </p:nvGraphicFramePr>
        <p:xfrm>
          <a:off x="183320" y="1023461"/>
          <a:ext cx="4384171" cy="31877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89851">
                  <a:extLst>
                    <a:ext uri="{9D8B030D-6E8A-4147-A177-3AD203B41FA5}">
                      <a16:colId xmlns:a16="http://schemas.microsoft.com/office/drawing/2014/main" xmlns="" val="3441720901"/>
                    </a:ext>
                  </a:extLst>
                </a:gridCol>
                <a:gridCol w="819318">
                  <a:extLst>
                    <a:ext uri="{9D8B030D-6E8A-4147-A177-3AD203B41FA5}">
                      <a16:colId xmlns:a16="http://schemas.microsoft.com/office/drawing/2014/main" xmlns="" val="4168521588"/>
                    </a:ext>
                  </a:extLst>
                </a:gridCol>
                <a:gridCol w="819318">
                  <a:extLst>
                    <a:ext uri="{9D8B030D-6E8A-4147-A177-3AD203B41FA5}">
                      <a16:colId xmlns:a16="http://schemas.microsoft.com/office/drawing/2014/main" xmlns="" val="431165766"/>
                    </a:ext>
                  </a:extLst>
                </a:gridCol>
                <a:gridCol w="760796">
                  <a:extLst>
                    <a:ext uri="{9D8B030D-6E8A-4147-A177-3AD203B41FA5}">
                      <a16:colId xmlns:a16="http://schemas.microsoft.com/office/drawing/2014/main" xmlns="" val="1295312483"/>
                    </a:ext>
                  </a:extLst>
                </a:gridCol>
                <a:gridCol w="994888">
                  <a:extLst>
                    <a:ext uri="{9D8B030D-6E8A-4147-A177-3AD203B41FA5}">
                      <a16:colId xmlns:a16="http://schemas.microsoft.com/office/drawing/2014/main" xmlns="" val="285096359"/>
                    </a:ext>
                  </a:extLst>
                </a:gridCol>
              </a:tblGrid>
              <a:tr h="26564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Estimate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Std. Error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 value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err="1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(&gt;|t|)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48073783"/>
                  </a:ext>
                </a:extLst>
              </a:tr>
              <a:tr h="26564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(Intercept)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-79.4356 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7.4390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-10.678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&lt; 2e-16 ***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79258749"/>
                  </a:ext>
                </a:extLst>
              </a:tr>
              <a:tr h="26564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season2 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34.9268 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5.4110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6.455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1.12e-10</a:t>
                      </a: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***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36960750"/>
                  </a:ext>
                </a:extLst>
              </a:tr>
              <a:tr h="26564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season3 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27.0055 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6.4438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4.191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2.80e-05 ***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93491951"/>
                  </a:ext>
                </a:extLst>
              </a:tr>
              <a:tr h="26564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season4 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65.3435 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5.4690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11.948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&lt; 2e-16 ***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07204359"/>
                  </a:ext>
                </a:extLst>
              </a:tr>
              <a:tr h="26564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yr1          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85.3415 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1.7487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48.804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&lt; 2e-16 ***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80958188"/>
                  </a:ext>
                </a:extLst>
              </a:tr>
              <a:tr h="26564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mnth2       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4.1666 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4.3853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0.950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0.342060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87696551"/>
                  </a:ext>
                </a:extLst>
              </a:tr>
              <a:tr h="26564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mnth3     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16.4733 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4.9267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3.344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0.000829***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59621856"/>
                  </a:ext>
                </a:extLst>
              </a:tr>
              <a:tr h="26564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mnth4     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12.5834  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7.3038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1.723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0.084936 .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08948270"/>
                  </a:ext>
                </a:extLst>
              </a:tr>
              <a:tr h="26564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mnth5     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26.4616 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7.8357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3.377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0.000735 ***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32733644"/>
                  </a:ext>
                </a:extLst>
              </a:tr>
              <a:tr h="26564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mnth6       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11.5056 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8.0535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1.429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0.153131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30801961"/>
                  </a:ext>
                </a:extLst>
              </a:tr>
              <a:tr h="26564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mnth7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 -7.8872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9.0547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-0.871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0.383736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83320" y="4211249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latin typeface="Helvetica" panose="020B0604020202020204" pitchFamily="34" charset="0"/>
                <a:ea typeface="Cambria Math" panose="02040503050406030204" pitchFamily="18" charset="0"/>
                <a:cs typeface="Helvetica" panose="020B0604020202020204" pitchFamily="34" charset="0"/>
              </a:rPr>
              <a:t>⋮</a:t>
            </a:r>
            <a:endParaRPr lang="en-US" sz="14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---</a:t>
            </a:r>
            <a:endParaRPr lang="en-US" sz="14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732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4786" y="1028552"/>
            <a:ext cx="4514792" cy="194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300" b="1" dirty="0">
                <a:solidFill>
                  <a:srgbClr val="EAAA00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# Applying multiple linear regression model</a:t>
            </a:r>
          </a:p>
          <a:p>
            <a:pPr lvl="0"/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model1 </a:t>
            </a:r>
            <a:r>
              <a:rPr lang="en-US" sz="13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 </a:t>
            </a:r>
            <a:r>
              <a:rPr lang="en-US" sz="1300" b="1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l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cnt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</a:t>
            </a:r>
            <a:r>
              <a:rPr lang="en-US" sz="13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~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.,data=train)</a:t>
            </a:r>
            <a:b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summary(model1)</a:t>
            </a:r>
          </a:p>
          <a:p>
            <a:endParaRPr lang="en-US" sz="1300" dirty="0">
              <a:solidFill>
                <a:srgbClr val="000000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r>
              <a:rPr lang="en-US" sz="1300" b="1" dirty="0">
                <a:solidFill>
                  <a:srgbClr val="EAAA00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# Find insignificant values</a:t>
            </a:r>
          </a:p>
          <a:p>
            <a:pPr latinLnBrk="1">
              <a:spcAft>
                <a:spcPts val="1000"/>
              </a:spcAft>
            </a:pP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which(summary(model1)</a:t>
            </a:r>
            <a:r>
              <a:rPr lang="en-US" sz="13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3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coeff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[,4]</a:t>
            </a:r>
            <a:r>
              <a:rPr lang="en-US" sz="13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&gt;</a:t>
            </a:r>
            <a:r>
              <a:rPr lang="en-US" sz="13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0.05)</a:t>
            </a:r>
          </a:p>
          <a:p>
            <a:pPr latinLnBrk="1">
              <a:spcAft>
                <a:spcPts val="1000"/>
              </a:spcAft>
            </a:pPr>
            <a:endParaRPr lang="en-US" sz="1300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endParaRPr lang="en-US" sz="13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601" y="145206"/>
            <a:ext cx="8562392" cy="602269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Statistical Significance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444722B-2D0D-45E1-A290-C29B9E7FE903}"/>
              </a:ext>
            </a:extLst>
          </p:cNvPr>
          <p:cNvSpPr txBox="1"/>
          <p:nvPr/>
        </p:nvSpPr>
        <p:spPr>
          <a:xfrm>
            <a:off x="892969" y="3514725"/>
            <a:ext cx="507206" cy="77866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algn="l">
              <a:lnSpc>
                <a:spcPts val="1200"/>
              </a:lnSpc>
            </a:pPr>
            <a:endParaRPr lang="en-US" sz="1200" dirty="0">
              <a:solidFill>
                <a:srgbClr val="000000"/>
              </a:solidFill>
              <a:latin typeface="Helvetica"/>
              <a:cs typeface="Helvetic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C57FA119-A568-40B4-9DDB-8211A0C9AF07}"/>
              </a:ext>
            </a:extLst>
          </p:cNvPr>
          <p:cNvSpPr txBox="1"/>
          <p:nvPr/>
        </p:nvSpPr>
        <p:spPr>
          <a:xfrm>
            <a:off x="190500" y="3415809"/>
            <a:ext cx="4834654" cy="144655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lIns="182880" tIns="182880" rIns="182880" bIns="182880" rtlCol="0">
            <a:spAutoFit/>
          </a:bodyPr>
          <a:lstStyle/>
          <a:p>
            <a:r>
              <a:rPr lang="en-US" sz="14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Statistically insignificant variables at 0.05 significance level: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Month-2, month-4, month-6, month-7, month-8, month-11, month-12 are not statistically different from month-1 (baseline)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xmlns="" id="{69186BAB-FAD4-493F-89EC-4A106D50A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096454"/>
              </p:ext>
            </p:extLst>
          </p:nvPr>
        </p:nvGraphicFramePr>
        <p:xfrm>
          <a:off x="473720" y="2459230"/>
          <a:ext cx="4680908" cy="5266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38143">
                  <a:extLst>
                    <a:ext uri="{9D8B030D-6E8A-4147-A177-3AD203B41FA5}">
                      <a16:colId xmlns:a16="http://schemas.microsoft.com/office/drawing/2014/main" xmlns="" val="2956195833"/>
                    </a:ext>
                  </a:extLst>
                </a:gridCol>
                <a:gridCol w="641709">
                  <a:extLst>
                    <a:ext uri="{9D8B030D-6E8A-4147-A177-3AD203B41FA5}">
                      <a16:colId xmlns:a16="http://schemas.microsoft.com/office/drawing/2014/main" xmlns="" val="2065114199"/>
                    </a:ext>
                  </a:extLst>
                </a:gridCol>
                <a:gridCol w="641709">
                  <a:extLst>
                    <a:ext uri="{9D8B030D-6E8A-4147-A177-3AD203B41FA5}">
                      <a16:colId xmlns:a16="http://schemas.microsoft.com/office/drawing/2014/main" xmlns="" val="643616023"/>
                    </a:ext>
                  </a:extLst>
                </a:gridCol>
                <a:gridCol w="641709">
                  <a:extLst>
                    <a:ext uri="{9D8B030D-6E8A-4147-A177-3AD203B41FA5}">
                      <a16:colId xmlns:a16="http://schemas.microsoft.com/office/drawing/2014/main" xmlns="" val="858287299"/>
                    </a:ext>
                  </a:extLst>
                </a:gridCol>
                <a:gridCol w="641709">
                  <a:extLst>
                    <a:ext uri="{9D8B030D-6E8A-4147-A177-3AD203B41FA5}">
                      <a16:colId xmlns:a16="http://schemas.microsoft.com/office/drawing/2014/main" xmlns="" val="2230747440"/>
                    </a:ext>
                  </a:extLst>
                </a:gridCol>
                <a:gridCol w="705879">
                  <a:extLst>
                    <a:ext uri="{9D8B030D-6E8A-4147-A177-3AD203B41FA5}">
                      <a16:colId xmlns:a16="http://schemas.microsoft.com/office/drawing/2014/main" xmlns="" val="1602208110"/>
                    </a:ext>
                  </a:extLst>
                </a:gridCol>
                <a:gridCol w="770050">
                  <a:extLst>
                    <a:ext uri="{9D8B030D-6E8A-4147-A177-3AD203B41FA5}">
                      <a16:colId xmlns:a16="http://schemas.microsoft.com/office/drawing/2014/main" xmlns="" val="3861638111"/>
                    </a:ext>
                  </a:extLst>
                </a:gridCol>
              </a:tblGrid>
              <a:tr h="26333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mnth2  </a:t>
                      </a:r>
                      <a:endParaRPr lang="en-US" sz="13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mnth4  </a:t>
                      </a:r>
                      <a:endParaRPr lang="en-US" sz="13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mnth6  </a:t>
                      </a:r>
                      <a:endParaRPr lang="en-US" sz="13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mnth7  </a:t>
                      </a:r>
                      <a:endParaRPr lang="en-US" sz="13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mnth8 </a:t>
                      </a:r>
                      <a:endParaRPr lang="en-US" sz="13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mnth11</a:t>
                      </a:r>
                      <a:endParaRPr lang="en-US" sz="13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mnth12 </a:t>
                      </a:r>
                      <a:endParaRPr lang="en-US" sz="13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60261148"/>
                  </a:ext>
                </a:extLst>
              </a:tr>
              <a:tr h="26333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      </a:t>
                      </a:r>
                      <a:endParaRPr lang="en-US" sz="13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     </a:t>
                      </a:r>
                      <a:endParaRPr lang="en-US" sz="13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10     </a:t>
                      </a:r>
                      <a:endParaRPr lang="en-US" sz="13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11     </a:t>
                      </a:r>
                      <a:endParaRPr lang="en-US" sz="13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12     </a:t>
                      </a:r>
                      <a:endParaRPr lang="en-US" sz="13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15     </a:t>
                      </a:r>
                      <a:endParaRPr lang="en-US" sz="13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16 </a:t>
                      </a:r>
                      <a:endParaRPr lang="en-US" sz="13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48140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3266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37564" y="155309"/>
            <a:ext cx="4727575" cy="7953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3268695" y="1276350"/>
            <a:ext cx="2573755" cy="281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6560"/>
      </p:ext>
    </p:extLst>
  </p:cSld>
  <p:clrMapOvr>
    <a:masterClrMapping/>
  </p:clrMapOvr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17211</TotalTime>
  <Words>738</Words>
  <Application>Microsoft Office PowerPoint</Application>
  <PresentationFormat>On-screen Show (16:9)</PresentationFormat>
  <Paragraphs>167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8" baseType="lpstr">
      <vt:lpstr>MS PGothic</vt:lpstr>
      <vt:lpstr>宋体</vt:lpstr>
      <vt:lpstr>Arial</vt:lpstr>
      <vt:lpstr>Calibri</vt:lpstr>
      <vt:lpstr>Cambria</vt:lpstr>
      <vt:lpstr>Cambria Math</vt:lpstr>
      <vt:lpstr>Helvetica</vt:lpstr>
      <vt:lpstr>Helvetica Neue</vt:lpstr>
      <vt:lpstr>Vitesse</vt:lpstr>
      <vt:lpstr>Vitesse Bold</vt:lpstr>
      <vt:lpstr>Vitesse Book</vt:lpstr>
      <vt:lpstr>Vitesse Medium</vt:lpstr>
      <vt:lpstr>1_Half Page Slash</vt:lpstr>
      <vt:lpstr>2_Half Page Slash</vt:lpstr>
      <vt:lpstr>1_Full Page Layout</vt:lpstr>
      <vt:lpstr>PowerPoint Presentation</vt:lpstr>
      <vt:lpstr>PowerPoint Presentation</vt:lpstr>
      <vt:lpstr>PowerPoint Presentation</vt:lpstr>
      <vt:lpstr>Response &amp; Predicting Variables</vt:lpstr>
      <vt:lpstr>Exploratory Data Analysis in R</vt:lpstr>
      <vt:lpstr>Exploratory Data Analysis in R (cont’d) </vt:lpstr>
      <vt:lpstr>Exploratory Data Analysis in R (cont’d) </vt:lpstr>
      <vt:lpstr>Exploratory Data Analysis in R (cont’d) </vt:lpstr>
      <vt:lpstr>Exploratory Data Analysis in R (cont’d) </vt:lpstr>
      <vt:lpstr>Preparing the Data</vt:lpstr>
      <vt:lpstr>Fitting the Regression Model</vt:lpstr>
      <vt:lpstr>Statistical Significance</vt:lpstr>
      <vt:lpstr>PowerPoint Presentation</vt:lpstr>
    </vt:vector>
  </TitlesOfParts>
  <Company>gt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Linear Regression R Examples</dc:title>
  <dc:creator>Serban, Nicoleta</dc:creator>
  <cp:lastModifiedBy>Aymee Garcia</cp:lastModifiedBy>
  <cp:revision>547</cp:revision>
  <dcterms:created xsi:type="dcterms:W3CDTF">2017-01-02T15:06:50Z</dcterms:created>
  <dcterms:modified xsi:type="dcterms:W3CDTF">2020-06-29T13:01:10Z</dcterms:modified>
</cp:coreProperties>
</file>