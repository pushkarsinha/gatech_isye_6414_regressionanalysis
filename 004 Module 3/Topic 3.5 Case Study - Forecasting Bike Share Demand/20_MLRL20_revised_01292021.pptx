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7" r:id="rId2"/>
    <p:sldMasterId id="2147483718" r:id="rId3"/>
  </p:sldMasterIdLst>
  <p:notesMasterIdLst>
    <p:notesMasterId r:id="rId15"/>
  </p:notesMasterIdLst>
  <p:sldIdLst>
    <p:sldId id="489" r:id="rId4"/>
    <p:sldId id="343" r:id="rId5"/>
    <p:sldId id="337" r:id="rId6"/>
    <p:sldId id="499" r:id="rId7"/>
    <p:sldId id="501" r:id="rId8"/>
    <p:sldId id="502" r:id="rId9"/>
    <p:sldId id="503" r:id="rId10"/>
    <p:sldId id="339" r:id="rId11"/>
    <p:sldId id="364" r:id="rId12"/>
    <p:sldId id="500" r:id="rId13"/>
    <p:sldId id="344" r:id="rId1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552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pos="5616" userDrawn="1">
          <p15:clr>
            <a:srgbClr val="A4A3A4"/>
          </p15:clr>
        </p15:guide>
        <p15:guide id="8" orient="horz" pos="636" userDrawn="1">
          <p15:clr>
            <a:srgbClr val="A4A3A4"/>
          </p15:clr>
        </p15:guide>
        <p15:guide id="9" orient="horz" pos="396" userDrawn="1">
          <p15:clr>
            <a:srgbClr val="A4A3A4"/>
          </p15:clr>
        </p15:guide>
        <p15:guide id="10" orient="horz" pos="31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EAAA00"/>
    <a:srgbClr val="F6F7F9"/>
    <a:srgbClr val="F2F6F7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8" autoAdjust="0"/>
    <p:restoredTop sz="93596" autoAdjust="0"/>
  </p:normalViewPr>
  <p:slideViewPr>
    <p:cSldViewPr snapToGrid="0">
      <p:cViewPr varScale="1">
        <p:scale>
          <a:sx n="108" d="100"/>
          <a:sy n="108" d="100"/>
        </p:scale>
        <p:origin x="930" y="96"/>
      </p:cViewPr>
      <p:guideLst>
        <p:guide orient="horz" pos="1620"/>
        <p:guide pos="2880"/>
        <p:guide pos="120"/>
        <p:guide pos="336"/>
        <p:guide pos="552"/>
        <p:guide pos="3456"/>
        <p:guide pos="5616"/>
        <p:guide orient="horz" pos="636"/>
        <p:guide orient="horz" pos="396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" userId="bb0e33b0-108c-4ffa-a215-da39b9fa78f1" providerId="ADAL" clId="{DF60F1ED-B3AE-47D1-9D84-98C780C4D603}"/>
    <pc:docChg chg="modSld">
      <pc:chgData name="Joseph" userId="bb0e33b0-108c-4ffa-a215-da39b9fa78f1" providerId="ADAL" clId="{DF60F1ED-B3AE-47D1-9D84-98C780C4D603}" dt="2020-06-08T00:03:09.477" v="3" actId="6549"/>
      <pc:docMkLst>
        <pc:docMk/>
      </pc:docMkLst>
      <pc:sldChg chg="modSp mod">
        <pc:chgData name="Joseph" userId="bb0e33b0-108c-4ffa-a215-da39b9fa78f1" providerId="ADAL" clId="{DF60F1ED-B3AE-47D1-9D84-98C780C4D603}" dt="2020-06-08T00:03:09.477" v="3" actId="6549"/>
        <pc:sldMkLst>
          <pc:docMk/>
          <pc:sldMk cId="3501602515" sldId="500"/>
        </pc:sldMkLst>
        <pc:spChg chg="mod">
          <ac:chgData name="Joseph" userId="bb0e33b0-108c-4ffa-a215-da39b9fa78f1" providerId="ADAL" clId="{DF60F1ED-B3AE-47D1-9D84-98C780C4D603}" dt="2020-06-08T00:03:09.477" v="3" actId="6549"/>
          <ac:spMkLst>
            <pc:docMk/>
            <pc:sldMk cId="3501602515" sldId="500"/>
            <ac:spMk id="7" creationId="{354273F5-7CED-491D-8D05-58331BA235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1/29/2021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68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80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14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47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24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59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07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56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760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71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58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37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421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0024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28184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17910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116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8676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56815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64202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0227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5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0617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422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2284" y="147368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92366" y="685716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EAAA00"/>
              </a:solidFill>
            </a:endParaRPr>
          </a:p>
          <a:p>
            <a:r>
              <a:rPr lang="en-US" dirty="0" err="1">
                <a:solidFill>
                  <a:srgbClr val="EAAA00"/>
                </a:solidFill>
              </a:rPr>
              <a:t>Nicoleta</a:t>
            </a:r>
            <a:r>
              <a:rPr lang="en-US" dirty="0">
                <a:solidFill>
                  <a:srgbClr val="EAAA00"/>
                </a:solidFill>
              </a:rPr>
              <a:t> </a:t>
            </a:r>
            <a:r>
              <a:rPr lang="en-US" dirty="0" err="1">
                <a:solidFill>
                  <a:srgbClr val="EAAA00"/>
                </a:solidFill>
              </a:rPr>
              <a:t>Serban</a:t>
            </a:r>
            <a:r>
              <a:rPr lang="en-US" dirty="0">
                <a:solidFill>
                  <a:srgbClr val="EAAA00"/>
                </a:solidFill>
              </a:rPr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01772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xmlns="" id="{B0BD2DC8-1161-4EB9-AB7F-D7AA5F4350EE}"/>
              </a:ext>
            </a:extLst>
          </p:cNvPr>
          <p:cNvSpPr txBox="1">
            <a:spLocks/>
          </p:cNvSpPr>
          <p:nvPr/>
        </p:nvSpPr>
        <p:spPr>
          <a:xfrm>
            <a:off x="88438" y="4026838"/>
            <a:ext cx="3852383" cy="68103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Predicting Demand for Rental Bikes: Prediction,</a:t>
            </a:r>
            <a:r>
              <a:rPr lang="zh-CN" altLang="en-US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Interpretation</a:t>
            </a:r>
            <a:endParaRPr kumimoji="1" lang="zh-CN" altLang="en-US" sz="2000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3358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2065241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3039" y="832627"/>
            <a:ext cx="4458961" cy="335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Read New Data (Test Data)</a:t>
            </a:r>
          </a:p>
          <a:p>
            <a:pPr latinLnBrk="1">
              <a:spcAft>
                <a:spcPts val="1000"/>
              </a:spcAft>
            </a:pP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test=data[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picked,]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 &lt;- test[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-c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(1,2,9,15,16)]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Prepare the test data the same as the training data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Convert the numerical categorical variables to predictors in the test data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test$season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test$season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test$yr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test$yr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test$mnth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test$mnth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test$holiday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test$holiday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test$weekday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test$weekday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test$weathersit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test$weathersit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endParaRPr lang="en-US" sz="12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Build a prediction for model1 with the test data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Specify whether a confidence or prediction interval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predict(model1, test, interval = 'prediction')</a:t>
            </a:r>
            <a:endParaRPr lang="en-US" sz="12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9926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3DFF8F6-ADE3-4FF5-886B-6AD3C73FB91A}"/>
              </a:ext>
            </a:extLst>
          </p:cNvPr>
          <p:cNvSpPr/>
          <p:nvPr/>
        </p:nvSpPr>
        <p:spPr>
          <a:xfrm>
            <a:off x="190500" y="4375609"/>
            <a:ext cx="382315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Apply similar R code for the other two models.</a:t>
            </a:r>
          </a:p>
        </p:txBody>
      </p:sp>
    </p:spTree>
    <p:extLst>
      <p:ext uri="{BB962C8B-B14F-4D97-AF65-F5344CB8AC3E}">
        <p14:creationId xmlns:p14="http://schemas.microsoft.com/office/powerpoint/2010/main" val="298551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9926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 (cont’d)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C675ACC-AD3C-4512-88B9-14975A2D3D52}"/>
              </a:ext>
            </a:extLst>
          </p:cNvPr>
          <p:cNvSpPr txBox="1"/>
          <p:nvPr/>
        </p:nvSpPr>
        <p:spPr>
          <a:xfrm>
            <a:off x="113039" y="832627"/>
            <a:ext cx="4458961" cy="335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Read New Data (Test Data)</a:t>
            </a:r>
          </a:p>
          <a:p>
            <a:pPr latinLnBrk="1">
              <a:spcAft>
                <a:spcPts val="1000"/>
              </a:spcAft>
            </a:pP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test=data[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picked,]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 &lt;- test[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-c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(1,2,9,15,16)]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Prepare the test data the same as the training data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Convert the numerical categorical variables to predictors in the test data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test$season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test$season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test$yr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test$yr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test$mnth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test$mnth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test$holiday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test$holiday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test$weekday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test$weekday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test$weathersit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test$weathersit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endParaRPr lang="en-US" sz="12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Build a prediction for model1 with the test data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Specify whether a confidence or prediction interval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predict(model1, test, interval = 'prediction')</a:t>
            </a:r>
            <a:endParaRPr lang="en-US" sz="12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DBBA010-2FAB-4D86-9F0C-F6BA2E84699A}"/>
              </a:ext>
            </a:extLst>
          </p:cNvPr>
          <p:cNvSpPr/>
          <p:nvPr/>
        </p:nvSpPr>
        <p:spPr>
          <a:xfrm>
            <a:off x="190500" y="4375609"/>
            <a:ext cx="382315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Apply similar R code for the other two models.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E50B9C38-4269-4AC7-A395-D1FD30824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508984"/>
              </p:ext>
            </p:extLst>
          </p:nvPr>
        </p:nvGraphicFramePr>
        <p:xfrm>
          <a:off x="5494485" y="1115847"/>
          <a:ext cx="3434597" cy="2994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5692">
                  <a:extLst>
                    <a:ext uri="{9D8B030D-6E8A-4147-A177-3AD203B41FA5}">
                      <a16:colId xmlns:a16="http://schemas.microsoft.com/office/drawing/2014/main" xmlns="" val="1274160649"/>
                    </a:ext>
                  </a:extLst>
                </a:gridCol>
                <a:gridCol w="1028510">
                  <a:extLst>
                    <a:ext uri="{9D8B030D-6E8A-4147-A177-3AD203B41FA5}">
                      <a16:colId xmlns:a16="http://schemas.microsoft.com/office/drawing/2014/main" xmlns="" val="103452645"/>
                    </a:ext>
                  </a:extLst>
                </a:gridCol>
                <a:gridCol w="1124934">
                  <a:extLst>
                    <a:ext uri="{9D8B030D-6E8A-4147-A177-3AD203B41FA5}">
                      <a16:colId xmlns:a16="http://schemas.microsoft.com/office/drawing/2014/main" xmlns="" val="3705539681"/>
                    </a:ext>
                  </a:extLst>
                </a:gridCol>
                <a:gridCol w="895461">
                  <a:extLst>
                    <a:ext uri="{9D8B030D-6E8A-4147-A177-3AD203B41FA5}">
                      <a16:colId xmlns:a16="http://schemas.microsoft.com/office/drawing/2014/main" xmlns="" val="2098541428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Prediction Output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28517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Fit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lwr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upr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6619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-104.3303581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-3.038988e+02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95.238132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6761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239.0013629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3.941481e+01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438.587917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7287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30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-82.5358710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-2.822639e+02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117.192193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25723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35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58.5579012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-1.410152e+02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258.130976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41724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38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22.5421861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-1.770914e+02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222.175777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0644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44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102.8402463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-9.671724e+01 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302.397729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9131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47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-40.1522581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-2.396963e+02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159.391774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07150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48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-69.0241889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-2.685984e+02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130.549996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72159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63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334.4570824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1.349013e+02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534.012852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4499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65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176.2306906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-2.336174e+01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375.823119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3680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68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-31.2412576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-2.308027e+02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168.320195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13227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69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-45.1215422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-2.446761e+02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154.433034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11491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78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69.0246421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-1.305309e+02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268.580201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15407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82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99.6552263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-9.989334e+01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299.203794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4842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85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176.4458539  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-2.309072e+01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375.982429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79300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87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289.1456026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8.960119e+01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488.690014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2198636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939014D-35FE-4A3F-8D2D-C256ABF06DB4}"/>
              </a:ext>
            </a:extLst>
          </p:cNvPr>
          <p:cNvSpPr/>
          <p:nvPr/>
        </p:nvSpPr>
        <p:spPr>
          <a:xfrm>
            <a:off x="5494484" y="1014653"/>
            <a:ext cx="3434598" cy="316083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endParaRPr lang="en-US" sz="1400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62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233" y="145206"/>
            <a:ext cx="8562392" cy="63162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Accuracy</a:t>
            </a:r>
            <a:endParaRPr kumimoji="1" lang="zh-CN" alt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8DF77EB1-FB9E-4427-9888-A25EBC57D4F1}"/>
                  </a:ext>
                </a:extLst>
              </p:cNvPr>
              <p:cNvSpPr txBox="1"/>
              <p:nvPr/>
            </p:nvSpPr>
            <p:spPr>
              <a:xfrm>
                <a:off x="5853" y="634982"/>
                <a:ext cx="7147473" cy="361419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lIns="182880" tIns="182880" rIns="182880" bIns="182880" rtlCol="0">
                <a:spAutoFit/>
              </a:bodyPr>
              <a:lstStyle/>
              <a:p>
                <a:r>
                  <a:rPr lang="en-US" sz="1800" b="1" dirty="0">
                    <a:latin typeface="Helvetica" charset="0"/>
                    <a:ea typeface="Helvetica" charset="0"/>
                    <a:cs typeface="Helvetica" charset="0"/>
                  </a:rPr>
                  <a:t>Prediction Error Measures</a:t>
                </a:r>
              </a:p>
              <a:p>
                <a:endParaRPr lang="en-US" sz="1800" b="1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 marL="339725" indent="-339725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Compare observed response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𝑌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 to the predicted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𝑌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* </a:t>
                </a:r>
              </a:p>
              <a:p>
                <a:pPr marL="339725" indent="-339725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Mean squared prediction error (MSPE)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800" i="1" smtClean="0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18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latin typeface="Helvetica" charset="0"/>
                                    <a:ea typeface="Helvetica" charset="0"/>
                                    <a:cs typeface="Helvetica" charset="0"/>
                                  </a:rPr>
                                  <m:t>∗</m:t>
                                </m:r>
                              </m:e>
                            </m:d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18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 marL="339725" indent="-339725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Mean absolute prediction errors (MAE)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  <a:cs typeface="Helvetica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1800" dirty="0">
                                <a:latin typeface="Helvetica" charset="0"/>
                                <a:ea typeface="Helvetica" charset="0"/>
                                <a:cs typeface="Helvetica" charset="0"/>
                              </a:rPr>
                              <m:t>∗</m:t>
                            </m:r>
                          </m:e>
                        </m:d>
                      </m:e>
                    </m:nary>
                  </m:oMath>
                </a14:m>
                <a:endParaRPr lang="en-US" sz="18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 marL="339725" indent="-339725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Mean absolute percentage error (MAPE)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latin typeface="Helvetica" charset="0"/>
                                    <a:ea typeface="Helvetica" charset="0"/>
                                    <a:cs typeface="Helvetica" charset="0"/>
                                  </a:rPr>
                                  <m:t>∗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sz="18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 marL="339725" indent="-339725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Precision error (PM)</a:t>
                </a:r>
                <a:r>
                  <a:rPr lang="en-US" sz="1800" dirty="0"/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=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cs typeface="Helvetica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cs typeface="Helvetica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cs typeface="Helvetica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800" dirty="0">
                                        <a:latin typeface="Helvetica" charset="0"/>
                                        <a:ea typeface="Helvetica" charset="0"/>
                                        <a:cs typeface="Helvetica" charset="0"/>
                                      </a:rPr>
                                      <m:t>∗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39725" indent="-339725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Confidence Interval error (CIM)  </a:t>
                </a:r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sup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𝐼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cs typeface="Helvetica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cs typeface="Helvetica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800" dirty="0">
                            <a:latin typeface="Helvetica" charset="0"/>
                            <a:ea typeface="Helvetica" charset="0"/>
                            <a:cs typeface="Helvetica" charset="0"/>
                          </a:rPr>
                          <m:t>∗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∉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𝐶𝐼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F77EB1-FB9E-4427-9888-A25EBC57D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" y="634982"/>
                <a:ext cx="7147473" cy="3614195"/>
              </a:xfrm>
              <a:prstGeom prst="rect">
                <a:avLst/>
              </a:prstGeom>
              <a:blipFill>
                <a:blip r:embed="rId3"/>
                <a:stretch>
                  <a:fillRect b="-1281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95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233" y="145206"/>
            <a:ext cx="8562392" cy="63162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Error Measure Insights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DF77EB1-FB9E-4427-9888-A25EBC57D4F1}"/>
              </a:ext>
            </a:extLst>
          </p:cNvPr>
          <p:cNvSpPr txBox="1"/>
          <p:nvPr/>
        </p:nvSpPr>
        <p:spPr>
          <a:xfrm>
            <a:off x="7223" y="616734"/>
            <a:ext cx="4564777" cy="4450834"/>
          </a:xfrm>
          <a:prstGeom prst="rect">
            <a:avLst/>
          </a:prstGeom>
          <a:noFill/>
          <a:ln w="19050">
            <a:noFill/>
          </a:ln>
        </p:spPr>
        <p:txBody>
          <a:bodyPr wrap="square" lIns="182880" tIns="182880" rIns="182880" bIns="18288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Mean squared prediction error 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(MSPE)</a:t>
            </a:r>
          </a:p>
          <a:p>
            <a:pPr marL="339725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Appropriate for linear regression model prediction but depends on scale and it is sensitive to outliers</a:t>
            </a:r>
          </a:p>
          <a:p>
            <a:pPr>
              <a:lnSpc>
                <a:spcPct val="114000"/>
              </a:lnSpc>
            </a:pPr>
            <a:r>
              <a:rPr lang="en-US" sz="16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Mean absolute prediction errors 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(MAE)</a:t>
            </a:r>
          </a:p>
          <a:p>
            <a:pPr marL="339725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Not appropriate for linear regression model prediction and depends on scale but robust to outliers</a:t>
            </a:r>
          </a:p>
          <a:p>
            <a:pPr>
              <a:lnSpc>
                <a:spcPct val="114000"/>
              </a:lnSpc>
            </a:pPr>
            <a:r>
              <a:rPr lang="en-US" sz="16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Mean absolute percentage error 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(MAPE)</a:t>
            </a:r>
          </a:p>
          <a:p>
            <a:pPr marL="339725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Not appropriate for linear regression model prediction but it does not depend on scale and robust to outliers</a:t>
            </a:r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Precision error 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(PM)</a:t>
            </a:r>
            <a:endParaRPr lang="en-US" sz="16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pPr marL="339725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Appropriate for linear regression model and does not depend on scale</a:t>
            </a:r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Confidence Interval error (CIM)</a:t>
            </a:r>
            <a:endParaRPr lang="en-US" sz="16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95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233" y="145206"/>
            <a:ext cx="8562392" cy="63162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Error Measure Insights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AF3B399-6A80-4E25-9DA0-934E6C7F5C0D}"/>
              </a:ext>
            </a:extLst>
          </p:cNvPr>
          <p:cNvSpPr txBox="1"/>
          <p:nvPr/>
        </p:nvSpPr>
        <p:spPr>
          <a:xfrm>
            <a:off x="5486397" y="1016840"/>
            <a:ext cx="3429003" cy="2277547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txBody>
          <a:bodyPr wrap="square" lIns="91440" tIns="91440" rIns="91440" bIns="91440" rtlCol="0">
            <a:spAutoFit/>
          </a:bodyPr>
          <a:lstStyle>
            <a:defPPr>
              <a:defRPr lang="en-US"/>
            </a:defPPr>
            <a:lvl1pPr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defRPr>
            </a:lvl1pPr>
          </a:lstStyle>
          <a:p>
            <a:r>
              <a:rPr lang="en-US" b="1" dirty="0"/>
              <a:t>While MAE and MAPE are commonly used to evaluate prediction error, I recommend using the precision measure.</a:t>
            </a:r>
          </a:p>
          <a:p>
            <a:r>
              <a:rPr lang="en-US" b="1" dirty="0"/>
              <a:t>-- Regression models are estimated using by minimizing sum of least squares hence the accuracy error shall be best of squared differences not absolute differences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8B7B35E-71A0-4BDF-BD05-43E0AE20E710}"/>
              </a:ext>
            </a:extLst>
          </p:cNvPr>
          <p:cNvSpPr txBox="1"/>
          <p:nvPr/>
        </p:nvSpPr>
        <p:spPr>
          <a:xfrm>
            <a:off x="7223" y="616734"/>
            <a:ext cx="4564777" cy="4450834"/>
          </a:xfrm>
          <a:prstGeom prst="rect">
            <a:avLst/>
          </a:prstGeom>
          <a:noFill/>
          <a:ln w="19050">
            <a:noFill/>
          </a:ln>
        </p:spPr>
        <p:txBody>
          <a:bodyPr wrap="square" lIns="182880" tIns="182880" rIns="182880" bIns="18288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Mean squared prediction error 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(MSPE)</a:t>
            </a:r>
          </a:p>
          <a:p>
            <a:pPr marL="339725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Appropriate for linear regression model prediction but depends on scale and it is sensitive to outliers</a:t>
            </a:r>
          </a:p>
          <a:p>
            <a:pPr>
              <a:lnSpc>
                <a:spcPct val="114000"/>
              </a:lnSpc>
            </a:pPr>
            <a:r>
              <a:rPr lang="en-US" sz="16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Mean absolute prediction errors 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(MAE)</a:t>
            </a:r>
          </a:p>
          <a:p>
            <a:pPr marL="339725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Not appropriate for linear regression model prediction and depends on scale but robust to outliers</a:t>
            </a:r>
          </a:p>
          <a:p>
            <a:pPr>
              <a:lnSpc>
                <a:spcPct val="114000"/>
              </a:lnSpc>
            </a:pPr>
            <a:r>
              <a:rPr lang="en-US" sz="16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Mean absolute percentage error 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(MAPE)</a:t>
            </a:r>
          </a:p>
          <a:p>
            <a:pPr marL="339725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Not appropriate for linear regression model prediction but it does not depend on scale and robust to outliers</a:t>
            </a:r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Precision error 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(PM)</a:t>
            </a:r>
            <a:endParaRPr lang="en-US" sz="16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pPr marL="339725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Appropriate for linear regression model and does not depend on scale</a:t>
            </a:r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Confidence Interval error (CIM)</a:t>
            </a:r>
            <a:endParaRPr lang="en-US" sz="16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38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4785" y="826669"/>
            <a:ext cx="445721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Save Predictions to compare with observed data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pred1 &lt;- predict(model1, test, interval = 'prediction')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test.pred1 &lt;- pred1[,1]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test.lwr1 &lt;- pred1[,2]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test.upr1 &lt;- pred1[,3]</a:t>
            </a:r>
          </a:p>
          <a:p>
            <a:endParaRPr lang="en-US" sz="12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Mean Squared Prediction Error (MSPE)</a:t>
            </a:r>
            <a:endParaRPr lang="en-US" sz="1200" b="1" i="1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mean((test.pred1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cnt)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^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2)</a:t>
            </a:r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latinLnBrk="1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10304.95</a:t>
            </a: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Mean Absolute Prediction Error (MAE)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mean(abs(test.pred1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cnt)) </a:t>
            </a:r>
          </a:p>
          <a:p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74.52024</a:t>
            </a: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Mean Absolute Percentage Error (MAPE)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mean(abs(test.pred1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cnt)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/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latinLnBrk="1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2.724609</a:t>
            </a: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Precision Measure (PM)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sum((test.pred1-test$cnt)^2)/sum((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test$cnt-mean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test$cnt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))^2) </a:t>
            </a:r>
          </a:p>
          <a:p>
            <a:pPr latinLnBrk="1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0.3101164</a:t>
            </a: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CI Measure (CIM)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sum(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test$cnt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&lt;test.lwr1)+sum(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test$cnt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&gt;test.upr1)/</a:t>
            </a:r>
            <a:r>
              <a:rPr lang="en-US" sz="1200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nrow</a:t>
            </a:r>
            <a:r>
              <a:rPr lang="en-US" sz="12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(test)</a:t>
            </a:r>
            <a:endParaRPr lang="en-US" sz="1200" i="1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0.06904488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233" y="145206"/>
            <a:ext cx="8562392" cy="63162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Accuracy: Model 1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49A48D-9B35-4870-985A-2A0A1D5AACC8}"/>
              </a:ext>
            </a:extLst>
          </p:cNvPr>
          <p:cNvSpPr txBox="1"/>
          <p:nvPr/>
        </p:nvSpPr>
        <p:spPr>
          <a:xfrm>
            <a:off x="5486400" y="3733621"/>
            <a:ext cx="2239787" cy="120032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57150"/>
            <a:r>
              <a:rPr lang="en-US" sz="12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Prediction Accuracy</a:t>
            </a:r>
            <a:endParaRPr lang="en-US" sz="12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MSPE = 10304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MAE = 74.52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MAPE = 2.72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PM = 0.31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CIM = 0.069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8DF77EB1-FB9E-4427-9888-A25EBC57D4F1}"/>
                  </a:ext>
                </a:extLst>
              </p:cNvPr>
              <p:cNvSpPr txBox="1"/>
              <p:nvPr/>
            </p:nvSpPr>
            <p:spPr>
              <a:xfrm>
                <a:off x="5486400" y="1009650"/>
                <a:ext cx="2239787" cy="26024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182880" tIns="182880" rIns="182880" bIns="182880" rtlCol="0">
                <a:spAutoFit/>
              </a:bodyPr>
              <a:lstStyle/>
              <a:p>
                <a:r>
                  <a:rPr lang="en-US" sz="1200" b="1" dirty="0">
                    <a:latin typeface="Helvetica" charset="0"/>
                    <a:ea typeface="Helvetica" charset="0"/>
                    <a:cs typeface="Helvetica" charset="0"/>
                  </a:rPr>
                  <a:t>Accuracy Measures</a:t>
                </a:r>
                <a:endParaRPr lang="en-US" sz="12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200" dirty="0">
                    <a:latin typeface="Helvetica" charset="0"/>
                    <a:ea typeface="Helvetica" charset="0"/>
                    <a:cs typeface="Helvetica" charset="0"/>
                  </a:rPr>
                  <a:t>MSPE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400" i="1" smtClean="0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sub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lim>
                                        <m:r>
                                          <a:rPr lang="en-US" sz="1400" i="1" baseline="-1000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14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200" dirty="0">
                    <a:latin typeface="Helvetica" charset="0"/>
                    <a:ea typeface="Helvetica" charset="0"/>
                    <a:cs typeface="Helvetica" charset="0"/>
                  </a:rPr>
                  <a:t>MAE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  <a:cs typeface="Helvetica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limUpp>
                                  <m:limUp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lim>
                                    <m:r>
                                      <a:rPr lang="en-US" sz="1400" i="1" baseline="-1000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lim>
                                </m:limUpp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14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200" dirty="0">
                    <a:latin typeface="Helvetica" charset="0"/>
                    <a:ea typeface="Helvetica" charset="0"/>
                    <a:cs typeface="Helvetica" charset="0"/>
                  </a:rPr>
                  <a:t>MAPE =</a:t>
                </a:r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lim>
                                        <m:r>
                                          <a:rPr lang="en-US" sz="1600" i="1" baseline="-1000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sz="16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PM</a:t>
                </a:r>
                <a:r>
                  <a:rPr lang="en-US" sz="1200" dirty="0"/>
                  <a:t> 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=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cs typeface="Helvetica" charset="0"/>
                                          </a:rPr>
                                        </m:ctrlPr>
                                      </m:sSubPr>
                                      <m:e>
                                        <m:limUpp>
                                          <m:limUpp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Upp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lim>
                                            <m:r>
                                              <a:rPr lang="en-US" sz="1800" i="1" baseline="-10000"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lim>
                                        </m:limUpp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cs typeface="Helvetica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F77EB1-FB9E-4427-9888-A25EBC57D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1009650"/>
                <a:ext cx="2239787" cy="2602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365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6692" y="818577"/>
            <a:ext cx="50069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Save Predictions to compare with observed data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pred3 &lt;- predict(model3,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test_red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interval = 'prediction')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test.pred3 &lt;- pred3[,1</a:t>
            </a:r>
            <a:r>
              <a:rPr lang="en-US" sz="1200" i="1" dirty="0" smtClean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]^2</a:t>
            </a:r>
            <a:endParaRPr lang="en-US" sz="1200" i="1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test.lwr3 &lt;- pred3[,2]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test.upr3 &lt;- pred3[,3]</a:t>
            </a:r>
          </a:p>
          <a:p>
            <a:endParaRPr lang="en-US" sz="12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</a:t>
            </a: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Mean Squared Prediction Error (MSPE)</a:t>
            </a:r>
            <a:endParaRPr lang="en-US" sz="1200" b="1" i="1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mean((test.pred3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cnt)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^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2)</a:t>
            </a:r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57150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11271.78</a:t>
            </a:r>
            <a:endParaRPr lang="en-US" sz="12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Mean Absolute Prediction Error (MAE)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mean(abs(test.pred3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cnt)) </a:t>
            </a:r>
          </a:p>
          <a:p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78.67701</a:t>
            </a: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Mean Absolute Percentage Error (MAPE)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mean(abs(test.pred3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cnt)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/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latinLnBrk="1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0.5172032</a:t>
            </a: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Precision Measure (PM)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sum((test.pred3-test$cnt)^2)/sum((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test$cnt-mean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test$cnt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))^2) </a:t>
            </a:r>
          </a:p>
          <a:p>
            <a:pPr latinLnBrk="1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0.316168</a:t>
            </a: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CI Measure (CIM)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sum(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test$cnt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&lt;test.lwr3)+sum(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test$cnt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&gt;test.upr3)/</a:t>
            </a:r>
            <a:r>
              <a:rPr lang="en-US" sz="1200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nrow</a:t>
            </a:r>
            <a:r>
              <a:rPr lang="en-US" sz="12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(test)</a:t>
            </a:r>
            <a:endParaRPr lang="en-US" sz="1200" i="1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0.060984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45206"/>
            <a:ext cx="8562392" cy="61095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Accuracy: Model 3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3823340-2BAC-4B8C-91D4-BCBF3E4B82A3}"/>
              </a:ext>
            </a:extLst>
          </p:cNvPr>
          <p:cNvSpPr txBox="1"/>
          <p:nvPr/>
        </p:nvSpPr>
        <p:spPr>
          <a:xfrm>
            <a:off x="5494488" y="1009650"/>
            <a:ext cx="2239787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57150"/>
            <a:r>
              <a:rPr lang="en-US" sz="12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Prediction Accuracy</a:t>
            </a:r>
            <a:endParaRPr lang="en-US" sz="12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MSPE = 11271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MAE = 78.67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MAPE = 0.517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PM = 0.361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CIM = 0.061</a:t>
            </a:r>
          </a:p>
        </p:txBody>
      </p:sp>
    </p:spTree>
    <p:extLst>
      <p:ext uri="{BB962C8B-B14F-4D97-AF65-F5344CB8AC3E}">
        <p14:creationId xmlns:p14="http://schemas.microsoft.com/office/powerpoint/2010/main" val="3404753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679953"/>
          </a:xfrm>
        </p:spPr>
        <p:txBody>
          <a:bodyPr/>
          <a:lstStyle/>
          <a:p>
            <a:r>
              <a:rPr kumimoji="1" lang="en-US" altLang="zh-CN" sz="3600" dirty="0">
                <a:latin typeface="Vitesse" charset="0"/>
                <a:ea typeface="Vitesse" charset="0"/>
                <a:cs typeface="Vitesse" charset="0"/>
              </a:rPr>
              <a:t>Model Comparison</a:t>
            </a:r>
            <a:endParaRPr kumimoji="1" lang="zh-CN" altLang="en-US" sz="3600" b="1" dirty="0">
              <a:latin typeface="Vitesse" charset="0"/>
              <a:ea typeface="Vitesse" charset="0"/>
              <a:cs typeface="Vitesse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8EB74DCC-29E3-4C44-89FD-D0A48F710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83642"/>
              </p:ext>
            </p:extLst>
          </p:nvPr>
        </p:nvGraphicFramePr>
        <p:xfrm>
          <a:off x="195705" y="807309"/>
          <a:ext cx="7785760" cy="2550160"/>
        </p:xfrm>
        <a:graphic>
          <a:graphicData uri="http://schemas.openxmlformats.org/drawingml/2006/table">
            <a:tbl>
              <a:tblPr firstRow="1" firstCol="1" lastRow="1" lastCol="1"/>
              <a:tblGrid>
                <a:gridCol w="1652600">
                  <a:extLst>
                    <a:ext uri="{9D8B030D-6E8A-4147-A177-3AD203B41FA5}">
                      <a16:colId xmlns:a16="http://schemas.microsoft.com/office/drawing/2014/main" xmlns="" val="51444775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4280516498"/>
                    </a:ext>
                  </a:extLst>
                </a:gridCol>
                <a:gridCol w="1652600">
                  <a:extLst>
                    <a:ext uri="{9D8B030D-6E8A-4147-A177-3AD203B41FA5}">
                      <a16:colId xmlns:a16="http://schemas.microsoft.com/office/drawing/2014/main" xmlns="" val="161822185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199513990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42893296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Model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MSPE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 err="1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Precision.Measure</a:t>
                      </a:r>
                      <a:endParaRPr lang="en-US" sz="1400" dirty="0">
                        <a:effectLst/>
                        <a:latin typeface="Helvetica" panose="020B0604020202020204" pitchFamily="34" charset="0"/>
                        <a:ea typeface="Cambria" panose="02040503050406030204" pitchFamily="18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Adjusted.R.Squared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R squared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37665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Full MLR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10304.95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0.310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0.684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0.685</a:t>
                      </a:r>
                    </a:p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endParaRPr lang="en-US" sz="1400" dirty="0">
                        <a:effectLst/>
                        <a:latin typeface="Helvetica" panose="020B0604020202020204" pitchFamily="34" charset="0"/>
                        <a:ea typeface="Cambria" panose="02040503050406030204" pitchFamily="18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36047322"/>
                  </a:ext>
                </a:extLst>
              </a:tr>
              <a:tr h="75604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MLR </a:t>
                      </a:r>
                    </a:p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(sqrt transformation)</a:t>
                      </a:r>
                    </a:p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endParaRPr lang="en-US" sz="1400" dirty="0">
                        <a:effectLst/>
                        <a:latin typeface="Helvetica" panose="020B0604020202020204" pitchFamily="34" charset="0"/>
                        <a:ea typeface="Cambria" panose="02040503050406030204" pitchFamily="18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8955.41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0.271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0.784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0.785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60839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MLR</a:t>
                      </a:r>
                    </a:p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(sqrt transformation-no low demand data)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11271.78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0.362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0.656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0.658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121000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54273F5-7CED-491D-8D05-58331BA23503}"/>
              </a:ext>
            </a:extLst>
          </p:cNvPr>
          <p:cNvSpPr txBox="1"/>
          <p:nvPr/>
        </p:nvSpPr>
        <p:spPr>
          <a:xfrm>
            <a:off x="205038" y="3947850"/>
            <a:ext cx="7776427" cy="98488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91440" tIns="91440" rIns="91440" bIns="91440" rtlCol="0">
            <a:spAutoFit/>
          </a:bodyPr>
          <a:lstStyle>
            <a:defPPr>
              <a:defRPr lang="en-US"/>
            </a:defPPr>
            <a:lvl1pPr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model with the square-root transformation outperforms the other models in terms of predictive power as reflected in the Precision Measure and R squared.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constant variance assumption is violated across all models.</a:t>
            </a:r>
          </a:p>
        </p:txBody>
      </p:sp>
    </p:spTree>
    <p:extLst>
      <p:ext uri="{BB962C8B-B14F-4D97-AF65-F5344CB8AC3E}">
        <p14:creationId xmlns:p14="http://schemas.microsoft.com/office/powerpoint/2010/main" val="350160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025498"/>
            <a:ext cx="2573755" cy="28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15756</TotalTime>
  <Words>573</Words>
  <Application>Microsoft Office PowerPoint</Application>
  <PresentationFormat>On-screen Show (16:9)</PresentationFormat>
  <Paragraphs>223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MS PGothic</vt:lpstr>
      <vt:lpstr>宋体</vt:lpstr>
      <vt:lpstr>Arial</vt:lpstr>
      <vt:lpstr>Calibri</vt:lpstr>
      <vt:lpstr>Cambria</vt:lpstr>
      <vt:lpstr>Cambria Math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Prediction</vt:lpstr>
      <vt:lpstr>Prediction (cont’d)</vt:lpstr>
      <vt:lpstr>Prediction Accuracy</vt:lpstr>
      <vt:lpstr>Prediction Error Measure Insights</vt:lpstr>
      <vt:lpstr>Prediction Error Measure Insights</vt:lpstr>
      <vt:lpstr>Prediction Accuracy: Model 1</vt:lpstr>
      <vt:lpstr>Prediction Accuracy: Model 3</vt:lpstr>
      <vt:lpstr>Model Comparison</vt:lpstr>
      <vt:lpstr>PowerPoint Presentation</vt:lpstr>
    </vt:vector>
  </TitlesOfParts>
  <Company>gt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Aymee Garcia</cp:lastModifiedBy>
  <cp:revision>513</cp:revision>
  <dcterms:created xsi:type="dcterms:W3CDTF">2017-01-02T15:06:50Z</dcterms:created>
  <dcterms:modified xsi:type="dcterms:W3CDTF">2021-01-29T10:48:46Z</dcterms:modified>
</cp:coreProperties>
</file>