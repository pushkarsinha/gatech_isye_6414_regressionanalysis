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1" r:id="rId1"/>
    <p:sldMasterId id="2147484059" r:id="rId2"/>
    <p:sldMasterId id="2147484060" r:id="rId3"/>
  </p:sldMasterIdLst>
  <p:notesMasterIdLst>
    <p:notesMasterId r:id="rId12"/>
  </p:notesMasterIdLst>
  <p:handoutMasterIdLst>
    <p:handoutMasterId r:id="rId13"/>
  </p:handoutMasterIdLst>
  <p:sldIdLst>
    <p:sldId id="521" r:id="rId4"/>
    <p:sldId id="536" r:id="rId5"/>
    <p:sldId id="372" r:id="rId6"/>
    <p:sldId id="533" r:id="rId7"/>
    <p:sldId id="534" r:id="rId8"/>
    <p:sldId id="529" r:id="rId9"/>
    <p:sldId id="531" r:id="rId10"/>
    <p:sldId id="535" r:id="rId11"/>
  </p:sldIdLst>
  <p:sldSz cx="9144000" cy="5143500" type="screen16x9"/>
  <p:notesSz cx="7315200" cy="9601200"/>
  <p:custDataLst>
    <p:tags r:id="rId14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28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6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DF671-6F83-4BBD-85CA-2D0E83D5E4AF}" v="97" dt="2020-01-02T18:01:36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31" autoAdjust="0"/>
    <p:restoredTop sz="96201" autoAdjust="0"/>
  </p:normalViewPr>
  <p:slideViewPr>
    <p:cSldViewPr>
      <p:cViewPr varScale="1">
        <p:scale>
          <a:sx n="76" d="100"/>
          <a:sy n="76" d="100"/>
        </p:scale>
        <p:origin x="932" y="52"/>
      </p:cViewPr>
      <p:guideLst>
        <p:guide orient="horz" pos="1620"/>
        <p:guide pos="2880"/>
        <p:guide pos="144"/>
        <p:guide pos="336"/>
        <p:guide pos="528"/>
        <p:guide pos="3456"/>
        <p:guide orient="horz" pos="468"/>
        <p:guide orient="horz" pos="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44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5/11/2020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15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07B4D7-B579-406C-B358-967632134DB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283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611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824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38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93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413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8920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2583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5103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6152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4499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47454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9189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3985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651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6" y="3986785"/>
            <a:ext cx="4606444" cy="56616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 err="1"/>
              <a:t>Multicollinearity</a:t>
            </a:r>
            <a:r>
              <a:rPr lang="en-US" altLang="en-US" sz="2000" dirty="0"/>
              <a:t>: Data Example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88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344774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55" y="1003008"/>
            <a:ext cx="49059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804863" marR="0" lvl="0" indent="-517525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4863" algn="l"/>
              </a:tabLst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amount (in hundreds of dollars) spent on advertising </a:t>
            </a:r>
          </a:p>
          <a:p>
            <a:pPr marL="804863" marR="0" lvl="0" indent="-517525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4863" algn="l"/>
              </a:tabLst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total amount of bonuses paid </a:t>
            </a:r>
          </a:p>
          <a:p>
            <a:pPr marL="804863" marR="0" lvl="0" indent="-517525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4863" algn="l"/>
              </a:tabLst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market share in each territory </a:t>
            </a:r>
          </a:p>
          <a:p>
            <a:pPr marL="804863" marR="0" lvl="0" indent="-517525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4863" algn="l"/>
              </a:tabLst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largest competitor's sales </a:t>
            </a:r>
          </a:p>
          <a:p>
            <a:pPr marL="22860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Variable: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804863" marR="0" lvl="0" indent="-517525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4863" algn="l"/>
              </a:tabLst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a variable to indicate the region in which office is located (1 = south,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 = west, 3 =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midwest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Variable: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804863" marR="0" lvl="0" indent="-517525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4863" algn="l"/>
              </a:tabLst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yearly sales (in thousands of dollars)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1" y="2999131"/>
            <a:ext cx="2504806" cy="16732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629" y="1070900"/>
            <a:ext cx="2239577" cy="15230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6200000">
            <a:off x="5225529" y="1702044"/>
            <a:ext cx="761747" cy="260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  <a:cs typeface="Helvetica"/>
              </a:rPr>
              <a:t>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1702" y="2593966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  <a:cs typeface="Helvetica"/>
              </a:rPr>
              <a:t>Advertisement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3449" y="251025"/>
            <a:ext cx="8562392" cy="65671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Model Evaluation: Example 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7946F123-9170-415B-996C-F44F3F557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74" y="1006275"/>
            <a:ext cx="838682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287338" indent="-287338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are the correlation coefficients between the quantitative predicting variables? Any potential multicollinearity?</a:t>
            </a:r>
          </a:p>
          <a:p>
            <a:pPr marL="287338" indent="-287338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Obtain the variance inflation factors for the quantitative predicting variables. Any potential multicollinearity?</a:t>
            </a:r>
          </a:p>
          <a:p>
            <a:pPr marL="287338" indent="-287338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the coefficient of determination? Interpret.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3449" y="251025"/>
            <a:ext cx="8562392" cy="65671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Model Evaluation: Example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702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102992-BCBA-4BB0-936A-F871224E1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59278"/>
              </p:ext>
            </p:extLst>
          </p:nvPr>
        </p:nvGraphicFramePr>
        <p:xfrm>
          <a:off x="152400" y="1349178"/>
          <a:ext cx="5105400" cy="907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6015">
                  <a:extLst>
                    <a:ext uri="{9D8B030D-6E8A-4147-A177-3AD203B41FA5}">
                      <a16:colId xmlns:a16="http://schemas.microsoft.com/office/drawing/2014/main" val="2586340671"/>
                    </a:ext>
                  </a:extLst>
                </a:gridCol>
                <a:gridCol w="990854">
                  <a:extLst>
                    <a:ext uri="{9D8B030D-6E8A-4147-A177-3AD203B41FA5}">
                      <a16:colId xmlns:a16="http://schemas.microsoft.com/office/drawing/2014/main" val="2804480625"/>
                    </a:ext>
                  </a:extLst>
                </a:gridCol>
                <a:gridCol w="995277">
                  <a:extLst>
                    <a:ext uri="{9D8B030D-6E8A-4147-A177-3AD203B41FA5}">
                      <a16:colId xmlns:a16="http://schemas.microsoft.com/office/drawing/2014/main" val="2606289108"/>
                    </a:ext>
                  </a:extLst>
                </a:gridCol>
                <a:gridCol w="1061627">
                  <a:extLst>
                    <a:ext uri="{9D8B030D-6E8A-4147-A177-3AD203B41FA5}">
                      <a16:colId xmlns:a16="http://schemas.microsoft.com/office/drawing/2014/main" val="462167523"/>
                    </a:ext>
                  </a:extLst>
                </a:gridCol>
                <a:gridCol w="1061627">
                  <a:extLst>
                    <a:ext uri="{9D8B030D-6E8A-4147-A177-3AD203B41FA5}">
                      <a16:colId xmlns:a16="http://schemas.microsoft.com/office/drawing/2014/main" val="367885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0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0.41868215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-0.02029937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0.4524897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14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0.41868215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-0.08484673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0.2286563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16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-0.02029937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-0.08484673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-0.2872159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408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0.45248974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0.22865628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-0.28721592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248188"/>
                  </a:ext>
                </a:extLst>
              </a:tr>
            </a:tbl>
          </a:graphicData>
        </a:graphic>
      </p:graphicFrame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146604" y="1082475"/>
            <a:ext cx="5683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cor(meddcor[,2:5])</a:t>
            </a:r>
          </a:p>
          <a:p>
            <a:pPr eaLnBrk="1" hangingPunct="1">
              <a:defRPr/>
            </a:pPr>
            <a:r>
              <a:rPr lang="de-DE" sz="1200" dirty="0">
                <a:solidFill>
                  <a:srgbClr val="00254C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295CADF-2D3A-4B54-8347-1B4FD6639D02}"/>
              </a:ext>
            </a:extLst>
          </p:cNvPr>
          <p:cNvSpPr/>
          <p:nvPr/>
        </p:nvSpPr>
        <p:spPr>
          <a:xfrm>
            <a:off x="1066800" y="2059254"/>
            <a:ext cx="1066804" cy="232319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72F035-DF92-4AE2-919F-7FC79438FC59}"/>
              </a:ext>
            </a:extLst>
          </p:cNvPr>
          <p:cNvSpPr/>
          <p:nvPr/>
        </p:nvSpPr>
        <p:spPr>
          <a:xfrm>
            <a:off x="4148135" y="1501578"/>
            <a:ext cx="957265" cy="232319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BC122-DFB0-4B25-A4F0-874475CE5481}"/>
              </a:ext>
            </a:extLst>
          </p:cNvPr>
          <p:cNvSpPr txBox="1">
            <a:spLocks/>
          </p:cNvSpPr>
          <p:nvPr/>
        </p:nvSpPr>
        <p:spPr>
          <a:xfrm>
            <a:off x="5486399" y="1289875"/>
            <a:ext cx="3189441" cy="1015663"/>
          </a:xfrm>
          <a:prstGeom prst="rect">
            <a:avLst/>
          </a:prstGeom>
          <a:solidFill>
            <a:schemeClr val="bg1"/>
          </a:solidFill>
          <a:ln w="19050">
            <a:solidFill>
              <a:srgbClr val="1F497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marL="342900" indent="-342900">
              <a:buFont typeface="+mj-lt"/>
              <a:buAutoNum type="alphaLcPeriod"/>
              <a:defRPr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maximum correlation between predicting variables is </a:t>
            </a: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0.452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3449" y="251025"/>
            <a:ext cx="8562392" cy="65671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Model Evaluation: Example 1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AC0FB4A-5014-4704-86C0-5339E098D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2" y="2526784"/>
            <a:ext cx="94840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412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20993C-72EA-4B06-A457-0AD40DD13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78107"/>
              </p:ext>
            </p:extLst>
          </p:nvPr>
        </p:nvGraphicFramePr>
        <p:xfrm>
          <a:off x="152400" y="2701668"/>
          <a:ext cx="3352800" cy="1089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9710">
                  <a:extLst>
                    <a:ext uri="{9D8B030D-6E8A-4147-A177-3AD203B41FA5}">
                      <a16:colId xmlns:a16="http://schemas.microsoft.com/office/drawing/2014/main" val="2227017829"/>
                    </a:ext>
                  </a:extLst>
                </a:gridCol>
                <a:gridCol w="823248">
                  <a:extLst>
                    <a:ext uri="{9D8B030D-6E8A-4147-A177-3AD203B41FA5}">
                      <a16:colId xmlns:a16="http://schemas.microsoft.com/office/drawing/2014/main" val="128693578"/>
                    </a:ext>
                  </a:extLst>
                </a:gridCol>
                <a:gridCol w="316634">
                  <a:extLst>
                    <a:ext uri="{9D8B030D-6E8A-4147-A177-3AD203B41FA5}">
                      <a16:colId xmlns:a16="http://schemas.microsoft.com/office/drawing/2014/main" val="3938359641"/>
                    </a:ext>
                  </a:extLst>
                </a:gridCol>
                <a:gridCol w="1203208">
                  <a:extLst>
                    <a:ext uri="{9D8B030D-6E8A-4147-A177-3AD203B41FA5}">
                      <a16:colId xmlns:a16="http://schemas.microsoft.com/office/drawing/2014/main" val="3158166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GVIF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GVIF^(1/(2*Df))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53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3.081657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1.755465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5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1.359601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1.166019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8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1.311265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1.145105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568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1.569851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1.252937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9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3.784660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1.394783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61718"/>
                  </a:ext>
                </a:extLst>
              </a:tr>
            </a:tbl>
          </a:graphicData>
        </a:graphic>
      </p:graphicFrame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146604" y="2433251"/>
            <a:ext cx="5683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vif(model)</a:t>
            </a:r>
          </a:p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A78A5B-7FA7-483F-B642-E694F3831A1B}"/>
              </a:ext>
            </a:extLst>
          </p:cNvPr>
          <p:cNvSpPr/>
          <p:nvPr/>
        </p:nvSpPr>
        <p:spPr>
          <a:xfrm>
            <a:off x="1154695" y="2633189"/>
            <a:ext cx="758694" cy="121920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1F054-4323-4808-AD40-55494F2C9CCF}"/>
              </a:ext>
            </a:extLst>
          </p:cNvPr>
          <p:cNvSpPr txBox="1">
            <a:spLocks/>
          </p:cNvSpPr>
          <p:nvPr/>
        </p:nvSpPr>
        <p:spPr>
          <a:xfrm>
            <a:off x="5486400" y="1276350"/>
            <a:ext cx="3189441" cy="1846659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vert="horz" wrap="square" lIns="91440" tIns="91440" rIns="91440" bIns="91440" rtlCol="0">
            <a:spAutoFit/>
          </a:bodyPr>
          <a:lstStyle/>
          <a:p>
            <a:pPr marL="342900" indent="-342900" algn="l">
              <a:buFont typeface="+mj-lt"/>
              <a:buAutoNum type="alphaLcPeriod" startAt="2"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R function </a:t>
            </a:r>
            <a:r>
              <a:rPr lang="en-US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vif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() outputs the generalized VIF (GVIF), which specializes to the usual VIF in the case of a single coefficient.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13449" y="251025"/>
            <a:ext cx="8562392" cy="65671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Model Evaluation: Example 1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46604" y="1082475"/>
            <a:ext cx="5187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cor(meddcor[,2:5])</a:t>
            </a:r>
          </a:p>
          <a:p>
            <a:pPr eaLnBrk="1" hangingPunct="1">
              <a:defRPr/>
            </a:pPr>
            <a:r>
              <a:rPr lang="de-DE" sz="1200" dirty="0">
                <a:solidFill>
                  <a:srgbClr val="00254C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39636-31E9-46A3-B700-2DB61FA72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719580"/>
              </p:ext>
            </p:extLst>
          </p:nvPr>
        </p:nvGraphicFramePr>
        <p:xfrm>
          <a:off x="152400" y="1349178"/>
          <a:ext cx="5105400" cy="907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6015">
                  <a:extLst>
                    <a:ext uri="{9D8B030D-6E8A-4147-A177-3AD203B41FA5}">
                      <a16:colId xmlns:a16="http://schemas.microsoft.com/office/drawing/2014/main" val="2586340671"/>
                    </a:ext>
                  </a:extLst>
                </a:gridCol>
                <a:gridCol w="990854">
                  <a:extLst>
                    <a:ext uri="{9D8B030D-6E8A-4147-A177-3AD203B41FA5}">
                      <a16:colId xmlns:a16="http://schemas.microsoft.com/office/drawing/2014/main" val="2804480625"/>
                    </a:ext>
                  </a:extLst>
                </a:gridCol>
                <a:gridCol w="995277">
                  <a:extLst>
                    <a:ext uri="{9D8B030D-6E8A-4147-A177-3AD203B41FA5}">
                      <a16:colId xmlns:a16="http://schemas.microsoft.com/office/drawing/2014/main" val="2606289108"/>
                    </a:ext>
                  </a:extLst>
                </a:gridCol>
                <a:gridCol w="1061627">
                  <a:extLst>
                    <a:ext uri="{9D8B030D-6E8A-4147-A177-3AD203B41FA5}">
                      <a16:colId xmlns:a16="http://schemas.microsoft.com/office/drawing/2014/main" val="462167523"/>
                    </a:ext>
                  </a:extLst>
                </a:gridCol>
                <a:gridCol w="1061627">
                  <a:extLst>
                    <a:ext uri="{9D8B030D-6E8A-4147-A177-3AD203B41FA5}">
                      <a16:colId xmlns:a16="http://schemas.microsoft.com/office/drawing/2014/main" val="367885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0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0.41868215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-0.02029937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0.4524897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14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0.41868215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-0.08484673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0.2286563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16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-0.02029937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-0.08484673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-0.2872159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408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0.45248974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0.22865628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-0.28721592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24818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3254634-83DD-4261-B851-2BB94DBC6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1" y="366569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98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146604" y="3837424"/>
            <a:ext cx="56837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summary(model)$r.squared</a:t>
            </a:r>
          </a:p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0.9555032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9A6C5-F2FD-4197-A432-C1013F1C80FA}"/>
              </a:ext>
            </a:extLst>
          </p:cNvPr>
          <p:cNvSpPr txBox="1"/>
          <p:nvPr/>
        </p:nvSpPr>
        <p:spPr>
          <a:xfrm>
            <a:off x="5486400" y="1297762"/>
            <a:ext cx="3189441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pPr marL="342900" indent="-342900">
              <a:buFont typeface="+mj-lt"/>
              <a:buAutoNum type="alphaLcPeriod" startAt="3"/>
              <a:defRPr/>
            </a:pP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coefficient of determination is </a:t>
            </a: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0.955</a:t>
            </a:r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 Thus the model explains 95.5% of the variability in sales.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3441FE-4467-4382-B337-B6DC9EB2031E}"/>
              </a:ext>
            </a:extLst>
          </p:cNvPr>
          <p:cNvSpPr/>
          <p:nvPr/>
        </p:nvSpPr>
        <p:spPr>
          <a:xfrm>
            <a:off x="7520650" y="1634147"/>
            <a:ext cx="742454" cy="30480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060E44-AD42-4605-9A24-116D2F5389FD}"/>
              </a:ext>
            </a:extLst>
          </p:cNvPr>
          <p:cNvSpPr/>
          <p:nvPr/>
        </p:nvSpPr>
        <p:spPr>
          <a:xfrm>
            <a:off x="160114" y="4198193"/>
            <a:ext cx="914400" cy="254792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3449" y="251025"/>
            <a:ext cx="8562392" cy="65671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Model Evaluation: Example 1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AAE08B-D497-4828-BEDD-B6C35A776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03460"/>
              </p:ext>
            </p:extLst>
          </p:nvPr>
        </p:nvGraphicFramePr>
        <p:xfrm>
          <a:off x="152400" y="2701668"/>
          <a:ext cx="3352800" cy="1089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9710">
                  <a:extLst>
                    <a:ext uri="{9D8B030D-6E8A-4147-A177-3AD203B41FA5}">
                      <a16:colId xmlns:a16="http://schemas.microsoft.com/office/drawing/2014/main" val="2227017829"/>
                    </a:ext>
                  </a:extLst>
                </a:gridCol>
                <a:gridCol w="823248">
                  <a:extLst>
                    <a:ext uri="{9D8B030D-6E8A-4147-A177-3AD203B41FA5}">
                      <a16:colId xmlns:a16="http://schemas.microsoft.com/office/drawing/2014/main" val="128693578"/>
                    </a:ext>
                  </a:extLst>
                </a:gridCol>
                <a:gridCol w="316634">
                  <a:extLst>
                    <a:ext uri="{9D8B030D-6E8A-4147-A177-3AD203B41FA5}">
                      <a16:colId xmlns:a16="http://schemas.microsoft.com/office/drawing/2014/main" val="3938359641"/>
                    </a:ext>
                  </a:extLst>
                </a:gridCol>
                <a:gridCol w="1203208">
                  <a:extLst>
                    <a:ext uri="{9D8B030D-6E8A-4147-A177-3AD203B41FA5}">
                      <a16:colId xmlns:a16="http://schemas.microsoft.com/office/drawing/2014/main" val="3158166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GVIF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GVIF^(1/(2*Df))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53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3.081657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1.755465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5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1.359601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1.166019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8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1.311265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1.145105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568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1.569851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1.252937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9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3.784660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1.394783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61718"/>
                  </a:ext>
                </a:extLst>
              </a:tr>
            </a:tbl>
          </a:graphicData>
        </a:graphic>
      </p:graphicFrame>
      <p:sp>
        <p:nvSpPr>
          <p:cNvPr id="13" name="Text Box 3">
            <a:extLst>
              <a:ext uri="{FF2B5EF4-FFF2-40B4-BE49-F238E27FC236}">
                <a16:creationId xmlns:a16="http://schemas.microsoft.com/office/drawing/2014/main" id="{221EECA0-02E4-4D2A-B94E-0A59DBE12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04" y="2433251"/>
            <a:ext cx="5683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vif(model)</a:t>
            </a:r>
          </a:p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67996A66-A2AE-4FFB-922D-AF5689B61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04" y="1082475"/>
            <a:ext cx="5187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cor(meddcor[,2:5])</a:t>
            </a:r>
          </a:p>
          <a:p>
            <a:pPr eaLnBrk="1" hangingPunct="1">
              <a:defRPr/>
            </a:pPr>
            <a:r>
              <a:rPr lang="de-DE" sz="1200" dirty="0">
                <a:solidFill>
                  <a:srgbClr val="00254C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DB0C179-9EFB-4492-B4A9-3A071CC18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07990"/>
              </p:ext>
            </p:extLst>
          </p:nvPr>
        </p:nvGraphicFramePr>
        <p:xfrm>
          <a:off x="152400" y="1349178"/>
          <a:ext cx="5105400" cy="907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6015">
                  <a:extLst>
                    <a:ext uri="{9D8B030D-6E8A-4147-A177-3AD203B41FA5}">
                      <a16:colId xmlns:a16="http://schemas.microsoft.com/office/drawing/2014/main" val="2586340671"/>
                    </a:ext>
                  </a:extLst>
                </a:gridCol>
                <a:gridCol w="990854">
                  <a:extLst>
                    <a:ext uri="{9D8B030D-6E8A-4147-A177-3AD203B41FA5}">
                      <a16:colId xmlns:a16="http://schemas.microsoft.com/office/drawing/2014/main" val="2804480625"/>
                    </a:ext>
                  </a:extLst>
                </a:gridCol>
                <a:gridCol w="995277">
                  <a:extLst>
                    <a:ext uri="{9D8B030D-6E8A-4147-A177-3AD203B41FA5}">
                      <a16:colId xmlns:a16="http://schemas.microsoft.com/office/drawing/2014/main" val="2606289108"/>
                    </a:ext>
                  </a:extLst>
                </a:gridCol>
                <a:gridCol w="1061627">
                  <a:extLst>
                    <a:ext uri="{9D8B030D-6E8A-4147-A177-3AD203B41FA5}">
                      <a16:colId xmlns:a16="http://schemas.microsoft.com/office/drawing/2014/main" val="462167523"/>
                    </a:ext>
                  </a:extLst>
                </a:gridCol>
                <a:gridCol w="1061627">
                  <a:extLst>
                    <a:ext uri="{9D8B030D-6E8A-4147-A177-3AD203B41FA5}">
                      <a16:colId xmlns:a16="http://schemas.microsoft.com/office/drawing/2014/main" val="367885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0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0.41868215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-0.02029937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0.4524897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14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0.41868215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-0.08484673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0.2286563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16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-0.02029937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-0.08484673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-0.2872159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408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0.45248974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0.22865628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-0.28721592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1.0000000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24818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316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13154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58339</TotalTime>
  <Words>349</Words>
  <Application>Microsoft Office PowerPoint</Application>
  <PresentationFormat>On-screen Show (16:9)</PresentationFormat>
  <Paragraphs>170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2_Full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781</cp:revision>
  <dcterms:created xsi:type="dcterms:W3CDTF">2002-04-06T16:20:45Z</dcterms:created>
  <dcterms:modified xsi:type="dcterms:W3CDTF">2020-05-11T18:03:01Z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0E9D3D6A-82BA-4403-A540-CAE5D747ED99</vt:lpwstr>
  </property>
  <property fmtid="{D5CDD505-2E9C-101B-9397-08002B2CF9AE}" pid="3" name="ArticulatePath">
    <vt:lpwstr>14_MLRL14_revised_03092020</vt:lpwstr>
  </property>
</Properties>
</file>