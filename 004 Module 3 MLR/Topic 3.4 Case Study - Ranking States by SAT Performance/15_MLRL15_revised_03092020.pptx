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17" r:id="rId2"/>
    <p:sldMasterId id="2147483718" r:id="rId3"/>
  </p:sldMasterIdLst>
  <p:notesMasterIdLst>
    <p:notesMasterId r:id="rId15"/>
  </p:notesMasterIdLst>
  <p:sldIdLst>
    <p:sldId id="257" r:id="rId4"/>
    <p:sldId id="522" r:id="rId5"/>
    <p:sldId id="519" r:id="rId6"/>
    <p:sldId id="258" r:id="rId7"/>
    <p:sldId id="280" r:id="rId8"/>
    <p:sldId id="281" r:id="rId9"/>
    <p:sldId id="260" r:id="rId10"/>
    <p:sldId id="261" r:id="rId11"/>
    <p:sldId id="521" r:id="rId12"/>
    <p:sldId id="283" r:id="rId13"/>
    <p:sldId id="523" r:id="rId14"/>
  </p:sldIdLst>
  <p:sldSz cx="9144000" cy="5143500" type="screen16x9"/>
  <p:notesSz cx="6858000" cy="9144000"/>
  <p:custDataLst>
    <p:tags r:id="rId16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576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orient="horz" pos="468" userDrawn="1">
          <p15:clr>
            <a:srgbClr val="A4A3A4"/>
          </p15:clr>
        </p15:guide>
        <p15:guide id="8" orient="horz" pos="8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ard Levine" initials="RL" lastIdx="1" clrIdx="0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8E4221"/>
    <a:srgbClr val="CC00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7379C2-D3C7-4250-BD67-F994E27C7831}" v="2" dt="2020-01-03T07:25:33.0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3590" autoAdjust="0"/>
  </p:normalViewPr>
  <p:slideViewPr>
    <p:cSldViewPr snapToGrid="0">
      <p:cViewPr varScale="1">
        <p:scale>
          <a:sx n="71" d="100"/>
          <a:sy n="71" d="100"/>
        </p:scale>
        <p:origin x="64" y="40"/>
      </p:cViewPr>
      <p:guideLst>
        <p:guide orient="horz" pos="1620"/>
        <p:guide pos="2880"/>
        <p:guide pos="144"/>
        <p:guide pos="360"/>
        <p:guide pos="576"/>
        <p:guide pos="3456"/>
        <p:guide orient="horz" pos="468"/>
        <p:guide orient="horz" pos="80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358C8-D37B-4DB3-A032-059E1BD5A650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3481-38DB-434B-B170-CFE83842A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9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3B5AB6F8-2CD3-471F-8409-89BCAD2E4898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617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39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85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48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45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3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57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183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2395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5014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324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8584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6375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28758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7651" y="274639"/>
            <a:ext cx="6121165" cy="712848"/>
          </a:xfrm>
          <a:prstGeom prst="rect">
            <a:avLst/>
          </a:prstGeom>
        </p:spPr>
        <p:txBody>
          <a:bodyPr/>
          <a:lstStyle>
            <a:lvl1pPr algn="l"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/>
              <a:t>Course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2" y="796334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9" y="2292986"/>
            <a:ext cx="5095759" cy="432669"/>
          </a:xfrm>
          <a:prstGeom prst="rect">
            <a:avLst/>
          </a:prstGeom>
        </p:spPr>
        <p:txBody>
          <a:bodyPr anchor="ctr"/>
          <a:lstStyle>
            <a:lvl1pPr marL="0" indent="0" algn="l" defTabSz="457189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/>
          </a:p>
          <a:p>
            <a:pPr lvl="0"/>
            <a:r>
              <a:rPr lang="en-US" dirty="0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2" y="2650976"/>
            <a:ext cx="4888796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8" y="4379684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8" y="2896114"/>
            <a:ext cx="4794723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School Name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081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09085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2239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143472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44620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67776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26750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659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25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15602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604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32462" y="2292986"/>
            <a:ext cx="5095759" cy="432669"/>
          </a:xfrm>
        </p:spPr>
        <p:txBody>
          <a:bodyPr/>
          <a:lstStyle/>
          <a:p>
            <a:r>
              <a:rPr kumimoji="1" lang="en-US" altLang="zh-CN" dirty="0"/>
              <a:t>Nicoleta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Serban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Ph.D.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32462" y="2556603"/>
            <a:ext cx="4888796" cy="254281"/>
          </a:xfrm>
        </p:spPr>
        <p:txBody>
          <a:bodyPr/>
          <a:lstStyle/>
          <a:p>
            <a:r>
              <a:rPr kumimoji="1" lang="en-US" altLang="zh-CN" dirty="0"/>
              <a:t>Professor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132462" y="3887709"/>
            <a:ext cx="4031765" cy="681037"/>
          </a:xfrm>
        </p:spPr>
        <p:txBody>
          <a:bodyPr/>
          <a:lstStyle/>
          <a:p>
            <a:r>
              <a:rPr kumimoji="1" lang="en-US" altLang="zh-CN" sz="2000" dirty="0"/>
              <a:t>Ranking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States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SAT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Performance: Exploratory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Analysis</a:t>
            </a:r>
          </a:p>
          <a:p>
            <a:endParaRPr kumimoji="1" lang="zh-CN" alt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34AEABA-C275-446A-BBE9-1807ABA86CB8}"/>
              </a:ext>
            </a:extLst>
          </p:cNvPr>
          <p:cNvSpPr>
            <a:spLocks noGrp="1"/>
          </p:cNvSpPr>
          <p:nvPr/>
        </p:nvSpPr>
        <p:spPr>
          <a:xfrm>
            <a:off x="116439" y="252669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AB406A4-8059-47B7-9A57-6535C7813A24}"/>
              </a:ext>
            </a:extLst>
          </p:cNvPr>
          <p:cNvSpPr>
            <a:spLocks noGrp="1"/>
          </p:cNvSpPr>
          <p:nvPr/>
        </p:nvSpPr>
        <p:spPr>
          <a:xfrm>
            <a:off x="126875" y="750040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3" name="Text Placeholder 6"/>
          <p:cNvSpPr>
            <a:spLocks noGrp="1"/>
          </p:cNvSpPr>
          <p:nvPr/>
        </p:nvSpPr>
        <p:spPr>
          <a:xfrm>
            <a:off x="130313" y="278523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2487227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251103"/>
            <a:ext cx="4727575" cy="731706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4221631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54458" y="1058048"/>
            <a:ext cx="5158947" cy="370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ts val="1800"/>
              </a:lnSpc>
              <a:spcAft>
                <a:spcPts val="200"/>
              </a:spcAft>
            </a:pPr>
            <a:r>
              <a:rPr lang="en-US" altLang="en-US" sz="18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Controlling Factors</a:t>
            </a:r>
            <a:r>
              <a:rPr lang="en-US" altLang="en-US" sz="18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</a:t>
            </a:r>
          </a:p>
          <a:p>
            <a:pPr marL="800100" indent="-454025" eaLnBrk="1" hangingPunct="1">
              <a:lnSpc>
                <a:spcPts val="1800"/>
              </a:lnSpc>
              <a:spcAft>
                <a:spcPts val="200"/>
              </a:spcAft>
              <a:tabLst>
                <a:tab pos="800100" algn="l"/>
              </a:tabLst>
            </a:pPr>
            <a:r>
              <a:rPr lang="en-US" altLang="en-US" sz="16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sz="1600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1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% of total eligible students in the state who took the exam</a:t>
            </a:r>
          </a:p>
          <a:p>
            <a:pPr marL="800100" indent="-454025" eaLnBrk="1" hangingPunct="1">
              <a:lnSpc>
                <a:spcPts val="1800"/>
              </a:lnSpc>
              <a:tabLst>
                <a:tab pos="800100" algn="l"/>
              </a:tabLst>
            </a:pPr>
            <a:r>
              <a:rPr lang="en-US" altLang="en-US" sz="16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sz="1600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6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Median percentile of ranking of test takers within their secondary school classes</a:t>
            </a:r>
          </a:p>
          <a:p>
            <a:pPr eaLnBrk="1" hangingPunct="1">
              <a:lnSpc>
                <a:spcPts val="1800"/>
              </a:lnSpc>
            </a:pPr>
            <a:endParaRPr lang="en-US" altLang="en-US" sz="18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>
              <a:lnSpc>
                <a:spcPts val="1800"/>
              </a:lnSpc>
              <a:spcAft>
                <a:spcPts val="200"/>
              </a:spcAft>
            </a:pPr>
            <a:r>
              <a:rPr lang="en-US" altLang="en-US" sz="18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Explanatory Factors:</a:t>
            </a:r>
          </a:p>
          <a:p>
            <a:pPr marL="800100" indent="-454025" eaLnBrk="1" hangingPunct="1">
              <a:lnSpc>
                <a:spcPts val="1800"/>
              </a:lnSpc>
              <a:spcAft>
                <a:spcPts val="200"/>
              </a:spcAft>
              <a:tabLst>
                <a:tab pos="800100" algn="l"/>
              </a:tabLst>
            </a:pPr>
            <a:r>
              <a:rPr lang="en-US" altLang="en-US" sz="16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sz="1600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Median income of families of test takers, in hundreds of dollars</a:t>
            </a:r>
          </a:p>
          <a:p>
            <a:pPr marL="800100" indent="-454025" eaLnBrk="1" hangingPunct="1">
              <a:lnSpc>
                <a:spcPts val="1800"/>
              </a:lnSpc>
              <a:spcAft>
                <a:spcPts val="200"/>
              </a:spcAft>
              <a:tabLst>
                <a:tab pos="800100" algn="l"/>
              </a:tabLst>
            </a:pPr>
            <a:r>
              <a:rPr lang="en-US" altLang="en-US" sz="16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sz="1600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3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Average number of years that test takers had in social sciences, natural sciences, and humanities</a:t>
            </a:r>
          </a:p>
          <a:p>
            <a:pPr marL="800100" indent="-454025" eaLnBrk="1" hangingPunct="1">
              <a:lnSpc>
                <a:spcPts val="1800"/>
              </a:lnSpc>
              <a:spcAft>
                <a:spcPts val="200"/>
              </a:spcAft>
              <a:tabLst>
                <a:tab pos="800100" algn="l"/>
              </a:tabLst>
            </a:pPr>
            <a:r>
              <a:rPr lang="en-US" altLang="en-US" sz="16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sz="1600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4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% of test takers who attended public schools</a:t>
            </a:r>
          </a:p>
          <a:p>
            <a:pPr marL="800100" indent="-454025" eaLnBrk="1" hangingPunct="1">
              <a:lnSpc>
                <a:spcPts val="1800"/>
              </a:lnSpc>
              <a:tabLst>
                <a:tab pos="800100" algn="l"/>
              </a:tabLst>
            </a:pPr>
            <a:r>
              <a:rPr lang="en-US" altLang="en-US" sz="16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sz="1600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5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State expenditure on secondary schools, in hundreds of dollars per student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803" y="1276350"/>
            <a:ext cx="3197368" cy="2179528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28779" y="248680"/>
            <a:ext cx="8562392" cy="5575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sz="3600" dirty="0">
                <a:latin typeface="Vitesse"/>
              </a:rPr>
              <a:t>Linear Regression: Example 2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Box 1"/>
          <p:cNvSpPr txBox="1">
            <a:spLocks noChangeArrowheads="1"/>
          </p:cNvSpPr>
          <p:nvPr/>
        </p:nvSpPr>
        <p:spPr bwMode="auto">
          <a:xfrm>
            <a:off x="153493" y="1008956"/>
            <a:ext cx="441850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b="1" i="1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rPr>
              <a:t>Which variables are associated with state average SAT scores?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800" b="1" i="1" dirty="0">
              <a:solidFill>
                <a:srgbClr val="EEB211"/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b="1" i="1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rPr>
              <a:t>After accounting for selection biases, how do the states rank?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800" b="1" i="1" dirty="0">
              <a:solidFill>
                <a:srgbClr val="EEB211"/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b="1" i="1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rPr>
              <a:t>Which states perform best for the amount of money they spend?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422" y="249965"/>
            <a:ext cx="8562392" cy="664436"/>
          </a:xfrm>
        </p:spPr>
        <p:txBody>
          <a:bodyPr/>
          <a:lstStyle/>
          <a:p>
            <a:r>
              <a:rPr lang="en-US" altLang="zh-CN" sz="3600" dirty="0">
                <a:latin typeface="Vitesse"/>
              </a:rPr>
              <a:t>Ranking States by SAT Performance</a:t>
            </a:r>
            <a:endParaRPr lang="zh-CN" altLang="en-US" sz="3600" dirty="0">
              <a:latin typeface="Vitesse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803" y="1276350"/>
            <a:ext cx="3197368" cy="21795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5787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141135" y="1010275"/>
            <a:ext cx="8817514" cy="3039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Response Variable:</a:t>
            </a:r>
          </a:p>
          <a:p>
            <a:pPr marL="1371600" lvl="1" indent="-1025525">
              <a:spcBef>
                <a:spcPts val="300"/>
              </a:spcBef>
              <a:tabLst>
                <a:tab pos="1371600" algn="l"/>
              </a:tabLst>
            </a:pPr>
            <a:r>
              <a:rPr lang="en-US" altLang="en-US" sz="16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sat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State average SAT score (verbal and quantitative combined)</a:t>
            </a:r>
          </a:p>
          <a:p>
            <a:pPr>
              <a:spcBef>
                <a:spcPts val="1200"/>
              </a:spcBef>
            </a:pPr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Predicting Variables:</a:t>
            </a:r>
          </a:p>
          <a:p>
            <a:pPr marL="1371600" lvl="1" indent="-1025525">
              <a:spcBef>
                <a:spcPts val="300"/>
              </a:spcBef>
              <a:tabLst>
                <a:tab pos="1371600" algn="l"/>
              </a:tabLst>
            </a:pPr>
            <a:r>
              <a:rPr lang="en-US" altLang="en-US" sz="16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takers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% of eligible students (high school seniors) in state who took the exam</a:t>
            </a:r>
          </a:p>
          <a:p>
            <a:pPr marL="1371600" lvl="1" indent="-1025525">
              <a:spcBef>
                <a:spcPts val="300"/>
              </a:spcBef>
              <a:tabLst>
                <a:tab pos="1371600" algn="l"/>
              </a:tabLst>
            </a:pPr>
            <a:r>
              <a:rPr lang="en-US" altLang="en-US" sz="16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Median percentile of ranking of test takers within their secondary school classes</a:t>
            </a:r>
          </a:p>
          <a:p>
            <a:pPr marL="1371600" lvl="1" indent="-1025525">
              <a:spcBef>
                <a:spcPts val="300"/>
              </a:spcBef>
              <a:tabLst>
                <a:tab pos="1371600" algn="l"/>
              </a:tabLst>
            </a:pPr>
            <a:r>
              <a:rPr lang="en-US" altLang="en-US" sz="16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income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Median income of families of test takers, in hundreds of dollars</a:t>
            </a:r>
          </a:p>
          <a:p>
            <a:pPr marL="1371600" lvl="1" indent="-1025525">
              <a:spcBef>
                <a:spcPts val="300"/>
              </a:spcBef>
              <a:tabLst>
                <a:tab pos="1371600" algn="l"/>
              </a:tabLst>
            </a:pPr>
            <a:r>
              <a:rPr lang="en-US" altLang="en-US" sz="16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years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Average number of years that test takers had in social sciences, natural sciences, and humanities</a:t>
            </a:r>
          </a:p>
          <a:p>
            <a:pPr marL="1371600" lvl="1" indent="-1025525">
              <a:spcBef>
                <a:spcPts val="300"/>
              </a:spcBef>
              <a:tabLst>
                <a:tab pos="1371600" algn="l"/>
              </a:tabLst>
            </a:pPr>
            <a:r>
              <a:rPr lang="en-US" altLang="en-US" sz="16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public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% of test takers who attended public schools</a:t>
            </a:r>
          </a:p>
          <a:p>
            <a:pPr marL="1371600" lvl="1" indent="-1025525">
              <a:spcBef>
                <a:spcPts val="300"/>
              </a:spcBef>
              <a:tabLst>
                <a:tab pos="1371600" algn="l"/>
              </a:tabLst>
            </a:pPr>
            <a:r>
              <a:rPr lang="en-US" altLang="en-US" sz="16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expend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State expenditure on secondary schools, in hundreds of dollars per student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686169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Response &amp; Predicting Variables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658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141136" y="1001509"/>
            <a:ext cx="8805156" cy="3016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Selection Bias</a:t>
            </a:r>
            <a:r>
              <a:rPr 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:</a:t>
            </a:r>
          </a:p>
          <a:p>
            <a:pPr marL="346075" indent="-346075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 states with high average SAT scores had low percentages of takers.</a:t>
            </a:r>
          </a:p>
          <a:p>
            <a:pPr marL="346075" indent="-346075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Those taking the test tend to be in the higher </a:t>
            </a: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median percentiles of rankings of test takers within their secondary school classes.</a:t>
            </a:r>
            <a:endParaRPr lang="en-US" sz="18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defTabSz="342900">
              <a:defRPr/>
            </a:pPr>
            <a:endParaRPr lang="en-US" sz="1800" b="1" dirty="0">
              <a:solidFill>
                <a:srgbClr val="000000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defTabSz="342900">
              <a:spcBef>
                <a:spcPts val="1200"/>
              </a:spcBef>
              <a:defRPr/>
            </a:pPr>
            <a:r>
              <a:rPr lang="en-US" sz="1800" b="1" dirty="0">
                <a:solidFill>
                  <a:srgbClr val="0000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Controlling Factors</a:t>
            </a:r>
            <a:r>
              <a:rPr lang="en-US" sz="1800" dirty="0">
                <a:solidFill>
                  <a:srgbClr val="0000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:</a:t>
            </a:r>
          </a:p>
          <a:p>
            <a:pPr marL="1371600" lvl="1" indent="-1025525">
              <a:spcBef>
                <a:spcPts val="1200"/>
              </a:spcBef>
              <a:tabLst>
                <a:tab pos="401638" algn="l"/>
                <a:tab pos="1371600" algn="l"/>
              </a:tabLst>
            </a:pPr>
            <a:r>
              <a:rPr lang="en-US" altLang="en-US" sz="16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takers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% of eligible students (high school seniors) in state who took the exam</a:t>
            </a:r>
          </a:p>
          <a:p>
            <a:pPr marL="1371600" lvl="1" indent="-1025525">
              <a:spcBef>
                <a:spcPts val="1200"/>
              </a:spcBef>
              <a:tabLst>
                <a:tab pos="401638" algn="l"/>
                <a:tab pos="1371600" algn="l"/>
              </a:tabLst>
            </a:pPr>
            <a:r>
              <a:rPr lang="en-US" altLang="en-US" sz="16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Median percentile of ranking of test takers within their secondary school classes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627365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Controlling Variables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763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9377" y="1082680"/>
            <a:ext cx="848590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Read the data using the '</a:t>
            </a:r>
            <a:r>
              <a:rPr lang="en-US" sz="1200" b="1" dirty="0" err="1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read.table</a:t>
            </a: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()' R command because it is an ASCII file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 = 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read.table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("SATData.txt", header = TRUE)</a:t>
            </a:r>
          </a:p>
          <a:p>
            <a:endParaRPr lang="en-US" sz="1200" dirty="0">
              <a:solidFill>
                <a:schemeClr val="accent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Check data to make sure correctly read in R</a:t>
            </a:r>
          </a:p>
          <a:p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data[1:4,]</a:t>
            </a:r>
          </a:p>
          <a:p>
            <a:endParaRPr lang="en-US" sz="11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endParaRPr lang="en-US" sz="11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endParaRPr lang="en-US" sz="11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endParaRPr lang="en-US" sz="11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endParaRPr lang="en-US" sz="11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endParaRPr lang="en-US" sz="11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endParaRPr lang="en-US" sz="11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Check dimensionality of the data file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dim(data)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50 8</a:t>
            </a:r>
          </a:p>
          <a:p>
            <a:endParaRPr lang="en-US" sz="12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Attach data to automatically recognize the columns in the data as individual vectors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attach(data)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119" y="4530007"/>
            <a:ext cx="6707338" cy="43088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tIns="91440" bIns="91440" rtlCol="0">
            <a:spAutoFit/>
          </a:bodyPr>
          <a:lstStyle/>
          <a:p>
            <a:r>
              <a:rPr lang="en-US" sz="1600" dirty="0">
                <a:latin typeface="Helvetica" charset="0"/>
                <a:ea typeface="Helvetica" charset="0"/>
                <a:cs typeface="Helvetica" charset="0"/>
              </a:rPr>
              <a:t>The data consist of 50 rows, each corresponding to a U.S. state.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779" y="249965"/>
            <a:ext cx="8562392" cy="684432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Read the Data in R</a:t>
            </a:r>
            <a:endParaRPr kumimoji="1" lang="zh-CN" altLang="en-US" sz="3600" dirty="0">
              <a:latin typeface="Vitesse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F40233-82CA-4C7B-9A7B-199467D01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138266"/>
              </p:ext>
            </p:extLst>
          </p:nvPr>
        </p:nvGraphicFramePr>
        <p:xfrm>
          <a:off x="174662" y="2174559"/>
          <a:ext cx="5398013" cy="9077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6703">
                  <a:extLst>
                    <a:ext uri="{9D8B030D-6E8A-4147-A177-3AD203B41FA5}">
                      <a16:colId xmlns:a16="http://schemas.microsoft.com/office/drawing/2014/main" val="1118883715"/>
                    </a:ext>
                  </a:extLst>
                </a:gridCol>
                <a:gridCol w="1041277">
                  <a:extLst>
                    <a:ext uri="{9D8B030D-6E8A-4147-A177-3AD203B41FA5}">
                      <a16:colId xmlns:a16="http://schemas.microsoft.com/office/drawing/2014/main" val="3903127456"/>
                    </a:ext>
                  </a:extLst>
                </a:gridCol>
                <a:gridCol w="520639">
                  <a:extLst>
                    <a:ext uri="{9D8B030D-6E8A-4147-A177-3AD203B41FA5}">
                      <a16:colId xmlns:a16="http://schemas.microsoft.com/office/drawing/2014/main" val="4074534548"/>
                    </a:ext>
                  </a:extLst>
                </a:gridCol>
                <a:gridCol w="585719">
                  <a:extLst>
                    <a:ext uri="{9D8B030D-6E8A-4147-A177-3AD203B41FA5}">
                      <a16:colId xmlns:a16="http://schemas.microsoft.com/office/drawing/2014/main" val="2417302600"/>
                    </a:ext>
                  </a:extLst>
                </a:gridCol>
                <a:gridCol w="650799">
                  <a:extLst>
                    <a:ext uri="{9D8B030D-6E8A-4147-A177-3AD203B41FA5}">
                      <a16:colId xmlns:a16="http://schemas.microsoft.com/office/drawing/2014/main" val="4024212385"/>
                    </a:ext>
                  </a:extLst>
                </a:gridCol>
                <a:gridCol w="585719">
                  <a:extLst>
                    <a:ext uri="{9D8B030D-6E8A-4147-A177-3AD203B41FA5}">
                      <a16:colId xmlns:a16="http://schemas.microsoft.com/office/drawing/2014/main" val="2146631724"/>
                    </a:ext>
                  </a:extLst>
                </a:gridCol>
                <a:gridCol w="585719">
                  <a:extLst>
                    <a:ext uri="{9D8B030D-6E8A-4147-A177-3AD203B41FA5}">
                      <a16:colId xmlns:a16="http://schemas.microsoft.com/office/drawing/2014/main" val="1599407007"/>
                    </a:ext>
                  </a:extLst>
                </a:gridCol>
                <a:gridCol w="650799">
                  <a:extLst>
                    <a:ext uri="{9D8B030D-6E8A-4147-A177-3AD203B41FA5}">
                      <a16:colId xmlns:a16="http://schemas.microsoft.com/office/drawing/2014/main" val="1143601075"/>
                    </a:ext>
                  </a:extLst>
                </a:gridCol>
                <a:gridCol w="520639">
                  <a:extLst>
                    <a:ext uri="{9D8B030D-6E8A-4147-A177-3AD203B41FA5}">
                      <a16:colId xmlns:a16="http://schemas.microsoft.com/office/drawing/2014/main" val="1754870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State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sat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takers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income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years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public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expend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11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Iowa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1088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326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16.79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87.8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25.60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89.7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146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SouthDakota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1075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264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16.07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86.2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19.95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90.6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85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NorthDakota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1068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     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317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16.57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88.3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20.62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89.8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466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Kansas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1045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338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16.30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83.9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27.14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86.3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591267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B8CF0F68-11DB-4302-855A-7F706D003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863" y="25733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1171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5851" y="1082774"/>
            <a:ext cx="856239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Evaluate the shape of the distribution of each predicting variable and of the response variable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par(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mfrow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c(2, 4))</a:t>
            </a:r>
          </a:p>
          <a:p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hist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(sat, main = "Histogram of SAT Scores", 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"Mean SAT Score", col = 1)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hist(takers, main = "Histogram of Takers", 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"Percentage of Students Tested", col = 2)</a:t>
            </a:r>
          </a:p>
          <a:p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hist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(income, main = "Histogram of Income", 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"Mean Household Income ($100s)", col = 3)</a:t>
            </a:r>
          </a:p>
          <a:p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hist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(years, main = "Histogram of Years", 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"Mean Years of Sciences and Humanities", col = 4)</a:t>
            </a:r>
          </a:p>
          <a:p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hist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(public, main = "Public Schools Percentage", 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"Percentage of Students in Public Schools", col = 5)</a:t>
            </a:r>
          </a:p>
          <a:p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hist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(expend, main = "Histogram of Expenditures", 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"Schooling Expenditures/Student ($100s)", col = 6)</a:t>
            </a:r>
          </a:p>
          <a:p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hist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(rank, main = "Histogram of Class Rank", 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"Median Class Ranking Percentile", col = 7)</a:t>
            </a:r>
          </a:p>
          <a:p>
            <a:endParaRPr lang="en-US" sz="12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Evaluate the scatter plot matrix of the data, ignoring the first column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par(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mfrow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c(1, 1))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plot(data[,-1])</a:t>
            </a:r>
          </a:p>
          <a:p>
            <a:endParaRPr lang="en-US" sz="12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Explore the correlation coefficients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round(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cor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(data[,-1]), 2)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422" y="249964"/>
            <a:ext cx="8562392" cy="676793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Exploratory Data Analysis in R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981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DA1BFD0C-5653-478C-B455-22568A5AC6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75" y="1287206"/>
            <a:ext cx="7224295" cy="3416599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EFB8F3C-4CE8-41EE-A6AA-56BDD621DD95}"/>
              </a:ext>
            </a:extLst>
          </p:cNvPr>
          <p:cNvSpPr/>
          <p:nvPr/>
        </p:nvSpPr>
        <p:spPr>
          <a:xfrm>
            <a:off x="3724785" y="4084643"/>
            <a:ext cx="365299" cy="203149"/>
          </a:xfrm>
          <a:prstGeom prst="ellipse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38B1A1-9021-4638-A185-0DCADD426B6F}"/>
              </a:ext>
            </a:extLst>
          </p:cNvPr>
          <p:cNvSpPr/>
          <p:nvPr/>
        </p:nvSpPr>
        <p:spPr>
          <a:xfrm>
            <a:off x="921612" y="4106525"/>
            <a:ext cx="363491" cy="193624"/>
          </a:xfrm>
          <a:prstGeom prst="ellipse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116422" y="249964"/>
            <a:ext cx="8562392" cy="676793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>
                <a:latin typeface="Vitesse"/>
              </a:rPr>
              <a:t>Exploratory Data Analysis in 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0292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222" y="1276350"/>
            <a:ext cx="4265944" cy="326404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6815" y="1078633"/>
            <a:ext cx="42659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      sat  takers  income  years public expend  rank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sat        1.00   -0.86      0.58    0.33  -0.08    -0.06   0.88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takers  -0.86    1.00     -0.66   -0.10   0.12     0.28  -0.94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income  0.58  -0.66       1.00   0.13  -0.31     0.13    0.53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years     0.33  -0.10      0.13    1.00  -0.42     0.06    0.07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public   -0.08   0.12     -0.31   -0.42   1.00     0.28    0.05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expend -0.06   0.28      0.13    0.06   0.28     1.00   -0.26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       0.88  -0.94      0.53    0.07   0.05    -0.26    1.00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422" y="249964"/>
            <a:ext cx="8727744" cy="993775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Exploratory Data Analysis in R (Cont’d)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3530E21-0B76-4359-A932-2EF2CA257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23161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2984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52813"/>
            <a:ext cx="4727575" cy="7949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0849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2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11140</TotalTime>
  <Words>627</Words>
  <Application>Microsoft Office PowerPoint</Application>
  <PresentationFormat>On-screen Show (16:9)</PresentationFormat>
  <Paragraphs>141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Helvetica</vt:lpstr>
      <vt:lpstr>Vitesse</vt:lpstr>
      <vt:lpstr>Vitesse Bold</vt:lpstr>
      <vt:lpstr>Vitesse Book</vt:lpstr>
      <vt:lpstr>Vitesse Medium</vt:lpstr>
      <vt:lpstr>1_Half Page Slash</vt:lpstr>
      <vt:lpstr>2_Half Page Slash</vt:lpstr>
      <vt:lpstr>2_Full Page Layout</vt:lpstr>
      <vt:lpstr>PowerPoint Presentation</vt:lpstr>
      <vt:lpstr>PowerPoint Presentation</vt:lpstr>
      <vt:lpstr>PowerPoint Presentation</vt:lpstr>
      <vt:lpstr>Ranking States by SAT Performance</vt:lpstr>
      <vt:lpstr>Response &amp; Predicting Variables</vt:lpstr>
      <vt:lpstr>Controlling Variables</vt:lpstr>
      <vt:lpstr>Read the Data in R</vt:lpstr>
      <vt:lpstr>Exploratory Data Analysis in R</vt:lpstr>
      <vt:lpstr>PowerPoint Presentation</vt:lpstr>
      <vt:lpstr>Exploratory Data Analysis in R (Cont’d)</vt:lpstr>
      <vt:lpstr>PowerPoint Presentation</vt:lpstr>
    </vt:vector>
  </TitlesOfParts>
  <Company>gt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 R Examples</dc:title>
  <dc:creator>Serban, Nicoleta</dc:creator>
  <cp:lastModifiedBy>Rodriguez, Ramon S</cp:lastModifiedBy>
  <cp:revision>445</cp:revision>
  <dcterms:created xsi:type="dcterms:W3CDTF">2017-01-02T15:06:50Z</dcterms:created>
  <dcterms:modified xsi:type="dcterms:W3CDTF">2020-05-11T18:40:31Z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CFC2645A-D9B1-4EC7-AFAA-51F2C0BFBC01</vt:lpwstr>
  </property>
  <property fmtid="{D5CDD505-2E9C-101B-9397-08002B2CF9AE}" pid="3" name="ArticulatePath">
    <vt:lpwstr>15_MLRL15_revised_03092020</vt:lpwstr>
  </property>
</Properties>
</file>