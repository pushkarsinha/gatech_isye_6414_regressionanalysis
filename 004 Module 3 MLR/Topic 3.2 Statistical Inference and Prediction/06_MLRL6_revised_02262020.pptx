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  <p:sldMasterId id="2147484024" r:id="rId2"/>
    <p:sldMasterId id="2147484025" r:id="rId3"/>
  </p:sldMasterIdLst>
  <p:notesMasterIdLst>
    <p:notesMasterId r:id="rId14"/>
  </p:notesMasterIdLst>
  <p:handoutMasterIdLst>
    <p:handoutMasterId r:id="rId15"/>
  </p:handoutMasterIdLst>
  <p:sldIdLst>
    <p:sldId id="489" r:id="rId4"/>
    <p:sldId id="497" r:id="rId5"/>
    <p:sldId id="454" r:id="rId6"/>
    <p:sldId id="492" r:id="rId7"/>
    <p:sldId id="475" r:id="rId8"/>
    <p:sldId id="493" r:id="rId9"/>
    <p:sldId id="269" r:id="rId10"/>
    <p:sldId id="457" r:id="rId11"/>
    <p:sldId id="496" r:id="rId12"/>
    <p:sldId id="498" r:id="rId13"/>
  </p:sldIdLst>
  <p:sldSz cx="9144000" cy="5143500" type="screen16x9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orient="horz" pos="1620" userDrawn="1">
          <p15:clr>
            <a:srgbClr val="A4A3A4"/>
          </p15:clr>
        </p15:guide>
        <p15:guide id="7" orient="horz" pos="804" userDrawn="1">
          <p15:clr>
            <a:srgbClr val="A4A3A4"/>
          </p15:clr>
        </p15:guide>
        <p15:guide id="8" orient="horz" pos="21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A00"/>
    <a:srgbClr val="00254C"/>
    <a:srgbClr val="EEB211"/>
    <a:srgbClr val="F8E0A3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B1A418-C813-4938-863B-202FF484D53B}" v="13" dt="2019-12-29T03:17:56.1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88087" autoAdjust="0"/>
  </p:normalViewPr>
  <p:slideViewPr>
    <p:cSldViewPr>
      <p:cViewPr varScale="1">
        <p:scale>
          <a:sx n="104" d="100"/>
          <a:sy n="104" d="100"/>
        </p:scale>
        <p:origin x="1032" y="72"/>
      </p:cViewPr>
      <p:guideLst>
        <p:guide orient="horz" pos="420"/>
        <p:guide pos="2880"/>
        <p:guide pos="144"/>
        <p:guide pos="384"/>
        <p:guide pos="3456"/>
        <p:guide orient="horz" pos="1620"/>
        <p:guide orient="horz" pos="804"/>
        <p:guide orient="horz" pos="2148"/>
      </p:guideLst>
    </p:cSldViewPr>
  </p:slideViewPr>
  <p:outlineViewPr>
    <p:cViewPr>
      <p:scale>
        <a:sx n="33" d="100"/>
        <a:sy n="33" d="100"/>
      </p:scale>
      <p:origin x="0" y="-14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Levine" userId="be0075ead24e3c6f" providerId="LiveId" clId="{62B1A418-C813-4938-863B-202FF484D53B}"/>
    <pc:docChg chg="modSld">
      <pc:chgData name="Richard Levine" userId="be0075ead24e3c6f" providerId="LiveId" clId="{62B1A418-C813-4938-863B-202FF484D53B}" dt="2019-12-29T03:18:06.995" v="15" actId="1076"/>
      <pc:docMkLst>
        <pc:docMk/>
      </pc:docMkLst>
      <pc:sldChg chg="modSp">
        <pc:chgData name="Richard Levine" userId="be0075ead24e3c6f" providerId="LiveId" clId="{62B1A418-C813-4938-863B-202FF484D53B}" dt="2019-12-29T03:18:06.995" v="15" actId="1076"/>
        <pc:sldMkLst>
          <pc:docMk/>
          <pc:sldMk cId="0" sldId="269"/>
        </pc:sldMkLst>
        <pc:spChg chg="mod">
          <ac:chgData name="Richard Levine" userId="be0075ead24e3c6f" providerId="LiveId" clId="{62B1A418-C813-4938-863B-202FF484D53B}" dt="2019-12-29T03:18:06.995" v="15" actId="1076"/>
          <ac:spMkLst>
            <pc:docMk/>
            <pc:sldMk cId="0" sldId="269"/>
            <ac:spMk id="5" creationId="{E982F160-240E-4623-B28F-297D52498E7D}"/>
          </ac:spMkLst>
        </pc:spChg>
      </pc:sldChg>
      <pc:sldChg chg="modSp">
        <pc:chgData name="Richard Levine" userId="be0075ead24e3c6f" providerId="LiveId" clId="{62B1A418-C813-4938-863B-202FF484D53B}" dt="2019-12-29T03:12:51.117" v="1" actId="114"/>
        <pc:sldMkLst>
          <pc:docMk/>
          <pc:sldMk cId="3235869625" sldId="454"/>
        </pc:sldMkLst>
        <pc:spChg chg="mod">
          <ac:chgData name="Richard Levine" userId="be0075ead24e3c6f" providerId="LiveId" clId="{62B1A418-C813-4938-863B-202FF484D53B}" dt="2019-12-29T03:12:51.117" v="1" actId="114"/>
          <ac:spMkLst>
            <pc:docMk/>
            <pc:sldMk cId="3235869625" sldId="454"/>
            <ac:spMk id="4" creationId="{A770A225-CDF7-4B7E-9999-FBCFB6ACEE7C}"/>
          </ac:spMkLst>
        </pc:spChg>
      </pc:sldChg>
      <pc:sldChg chg="modSp">
        <pc:chgData name="Richard Levine" userId="be0075ead24e3c6f" providerId="LiveId" clId="{62B1A418-C813-4938-863B-202FF484D53B}" dt="2019-12-29T03:17:25.715" v="12" actId="14861"/>
        <pc:sldMkLst>
          <pc:docMk/>
          <pc:sldMk cId="2785950246" sldId="457"/>
        </pc:sldMkLst>
        <pc:spChg chg="mod">
          <ac:chgData name="Richard Levine" userId="be0075ead24e3c6f" providerId="LiveId" clId="{62B1A418-C813-4938-863B-202FF484D53B}" dt="2019-12-29T03:16:47.727" v="8"/>
          <ac:spMkLst>
            <pc:docMk/>
            <pc:sldMk cId="2785950246" sldId="457"/>
            <ac:spMk id="19" creationId="{256BFF52-473B-4F3E-B946-97F59086D87B}"/>
          </ac:spMkLst>
        </pc:spChg>
        <pc:spChg chg="mod">
          <ac:chgData name="Richard Levine" userId="be0075ead24e3c6f" providerId="LiveId" clId="{62B1A418-C813-4938-863B-202FF484D53B}" dt="2019-12-29T03:16:54.086" v="10"/>
          <ac:spMkLst>
            <pc:docMk/>
            <pc:sldMk cId="2785950246" sldId="457"/>
            <ac:spMk id="24" creationId="{FAFCD4F5-0CC7-4853-91B9-ECEFBE5FFEB0}"/>
          </ac:spMkLst>
        </pc:spChg>
        <pc:cxnChg chg="mod">
          <ac:chgData name="Richard Levine" userId="be0075ead24e3c6f" providerId="LiveId" clId="{62B1A418-C813-4938-863B-202FF484D53B}" dt="2019-12-29T03:17:25.715" v="12" actId="14861"/>
          <ac:cxnSpMkLst>
            <pc:docMk/>
            <pc:sldMk cId="2785950246" sldId="457"/>
            <ac:cxnSpMk id="25" creationId="{8267CEF8-5C1A-4D3A-953D-FD490E11453B}"/>
          </ac:cxnSpMkLst>
        </pc:cxnChg>
        <pc:cxnChg chg="mod">
          <ac:chgData name="Richard Levine" userId="be0075ead24e3c6f" providerId="LiveId" clId="{62B1A418-C813-4938-863B-202FF484D53B}" dt="2019-12-29T03:17:13.903" v="11" actId="14861"/>
          <ac:cxnSpMkLst>
            <pc:docMk/>
            <pc:sldMk cId="2785950246" sldId="457"/>
            <ac:cxnSpMk id="26" creationId="{39A173EE-6051-4B2F-ADB0-3BCDA65E2497}"/>
          </ac:cxnSpMkLst>
        </pc:cxnChg>
      </pc:sldChg>
      <pc:sldChg chg="modSp">
        <pc:chgData name="Richard Levine" userId="be0075ead24e3c6f" providerId="LiveId" clId="{62B1A418-C813-4938-863B-202FF484D53B}" dt="2019-12-29T03:14:55.882" v="6" actId="114"/>
        <pc:sldMkLst>
          <pc:docMk/>
          <pc:sldMk cId="3930543937" sldId="475"/>
        </pc:sldMkLst>
        <pc:spChg chg="mod">
          <ac:chgData name="Richard Levine" userId="be0075ead24e3c6f" providerId="LiveId" clId="{62B1A418-C813-4938-863B-202FF484D53B}" dt="2019-12-29T03:14:55.882" v="6" actId="114"/>
          <ac:spMkLst>
            <pc:docMk/>
            <pc:sldMk cId="3930543937" sldId="475"/>
            <ac:spMk id="2" creationId="{00000000-0000-0000-0000-000000000000}"/>
          </ac:spMkLst>
        </pc:spChg>
      </pc:sldChg>
      <pc:sldChg chg="modSp">
        <pc:chgData name="Richard Levine" userId="be0075ead24e3c6f" providerId="LiveId" clId="{62B1A418-C813-4938-863B-202FF484D53B}" dt="2019-12-29T03:14:35.539" v="5" actId="20577"/>
        <pc:sldMkLst>
          <pc:docMk/>
          <pc:sldMk cId="157277875" sldId="492"/>
        </pc:sldMkLst>
        <pc:spChg chg="mod">
          <ac:chgData name="Richard Levine" userId="be0075ead24e3c6f" providerId="LiveId" clId="{62B1A418-C813-4938-863B-202FF484D53B}" dt="2019-12-29T03:14:35.539" v="5" actId="20577"/>
          <ac:spMkLst>
            <pc:docMk/>
            <pc:sldMk cId="157277875" sldId="492"/>
            <ac:spMk id="19" creationId="{D40051B6-3E6A-4A3B-8BE9-45F93474CD99}"/>
          </ac:spMkLst>
        </pc:spChg>
      </pc:sldChg>
      <pc:sldChg chg="modSp">
        <pc:chgData name="Richard Levine" userId="be0075ead24e3c6f" providerId="LiveId" clId="{62B1A418-C813-4938-863B-202FF484D53B}" dt="2019-12-29T03:13:48.698" v="3" actId="114"/>
        <pc:sldMkLst>
          <pc:docMk/>
          <pc:sldMk cId="3978054933" sldId="495"/>
        </pc:sldMkLst>
        <pc:spChg chg="mod">
          <ac:chgData name="Richard Levine" userId="be0075ead24e3c6f" providerId="LiveId" clId="{62B1A418-C813-4938-863B-202FF484D53B}" dt="2019-12-29T03:13:48.698" v="3" actId="114"/>
          <ac:spMkLst>
            <pc:docMk/>
            <pc:sldMk cId="3978054933" sldId="495"/>
            <ac:spMk id="4" creationId="{A770A225-CDF7-4B7E-9999-FBCFB6ACEE7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821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5/19/2021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0257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B7BA7A5B-FE00-483A-81C1-F154B7FFAE51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4359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BD030A-9FCF-4978-B2BB-2A6331F99A19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55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BD030A-9FCF-4978-B2BB-2A6331F99A19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621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BD030A-9FCF-4978-B2BB-2A6331F99A19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477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355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6202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99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2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46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6064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2392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13460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262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5520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45430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14700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4560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7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0294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291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88468" y="171644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108550" y="685716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EAAA00"/>
              </a:solidFill>
            </a:endParaRPr>
          </a:p>
          <a:p>
            <a:r>
              <a:rPr lang="en-US" dirty="0" err="1">
                <a:solidFill>
                  <a:srgbClr val="EAAA00"/>
                </a:solidFill>
              </a:rPr>
              <a:t>Nicoleta</a:t>
            </a:r>
            <a:r>
              <a:rPr lang="en-US" dirty="0">
                <a:solidFill>
                  <a:srgbClr val="EAAA00"/>
                </a:solidFill>
              </a:rPr>
              <a:t> </a:t>
            </a:r>
            <a:r>
              <a:rPr lang="en-US" dirty="0" err="1">
                <a:solidFill>
                  <a:srgbClr val="EAAA00"/>
                </a:solidFill>
              </a:rPr>
              <a:t>Serban</a:t>
            </a:r>
            <a:r>
              <a:rPr lang="en-US" dirty="0">
                <a:solidFill>
                  <a:srgbClr val="EAAA00"/>
                </a:solidFill>
              </a:rPr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76200" y="3790950"/>
            <a:ext cx="5063644" cy="100427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Inference for Regression Parameters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18165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79741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5304" name="Oval 11"/>
              <p:cNvSpPr>
                <a:spLocks noChangeArrowheads="1"/>
              </p:cNvSpPr>
              <p:nvPr/>
            </p:nvSpPr>
            <p:spPr bwMode="auto">
              <a:xfrm>
                <a:off x="611871" y="2876550"/>
                <a:ext cx="1756768" cy="621468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b="1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304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871" y="2876550"/>
                <a:ext cx="1756768" cy="62146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7"/>
              <p:cNvSpPr txBox="1">
                <a:spLocks noChangeArrowheads="1"/>
              </p:cNvSpPr>
              <p:nvPr/>
            </p:nvSpPr>
            <p:spPr bwMode="auto">
              <a:xfrm>
                <a:off x="133082" y="1962150"/>
                <a:ext cx="8555953" cy="711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>
                  <a:lnSpc>
                    <a:spcPct val="106000"/>
                  </a:lnSpc>
                  <a:spcBef>
                    <a:spcPct val="50000"/>
                  </a:spcBef>
                </a:pPr>
                <a:r>
                  <a:rPr lang="en-US" alt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Furthermore,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a linear combination of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{</a:t>
                </a:r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y</a:t>
                </a:r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1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,…,</a:t>
                </a:r>
                <a:r>
                  <a:rPr lang="en-US" alt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y</a:t>
                </a:r>
                <a:r>
                  <a:rPr lang="en-US" altLang="en-U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n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 Neue" charset="0"/>
                  </a:rPr>
                  <a:t>}.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we assume </a:t>
                </a:r>
                <a:r>
                  <a:rPr lang="en-US" alt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that </a:t>
                </a:r>
                <a:r>
                  <a:rPr lang="el-GR" alt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ε</a:t>
                </a:r>
                <a:r>
                  <a:rPr lang="en-US" altLang="en-U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~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Normal</a:t>
                </a: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(0, </a:t>
                </a:r>
                <a:r>
                  <a:rPr lang="el-GR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σ</a:t>
                </a:r>
                <a:r>
                  <a:rPr lang="en-US" altLang="en-US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),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then</a:t>
                </a:r>
                <a:r>
                  <a:rPr lang="en-US" altLang="en-US" dirty="0">
                    <a:latin typeface="Times New Roman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also distributed </a:t>
                </a:r>
                <a:r>
                  <a:rPr lang="en-US" alt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</a:t>
                </a:r>
                <a:endParaRPr lang="en-US" alt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>
          <p:sp>
            <p:nvSpPr>
              <p:cNvPr id="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082" y="1962150"/>
                <a:ext cx="8555953" cy="711092"/>
              </a:xfrm>
              <a:prstGeom prst="rect">
                <a:avLst/>
              </a:prstGeom>
              <a:blipFill rotWithShape="0">
                <a:blip r:embed="rId3"/>
                <a:stretch>
                  <a:fillRect l="-641" t="-4274" b="-940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644" y="170917"/>
            <a:ext cx="8562392" cy="660242"/>
          </a:xfrm>
        </p:spPr>
        <p:txBody>
          <a:bodyPr/>
          <a:lstStyle/>
          <a:p>
            <a:r>
              <a:rPr lang="en-US" sz="3600" dirty="0">
                <a:latin typeface="Vitesse"/>
                <a:ea typeface="Vitesse" charset="0"/>
                <a:cs typeface="Vitesse" charset="0"/>
              </a:rPr>
              <a:t>Sampling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id="{A770A225-CDF7-4B7E-9999-FBCFB6ACEE7C}"/>
                  </a:ext>
                </a:extLst>
              </p:cNvPr>
              <p:cNvSpPr/>
              <p:nvPr/>
            </p:nvSpPr>
            <p:spPr>
              <a:xfrm>
                <a:off x="515151" y="990867"/>
                <a:ext cx="2605200" cy="7733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i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770A225-CDF7-4B7E-9999-FBCFB6ACE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51" y="990867"/>
                <a:ext cx="2605200" cy="773353"/>
              </a:xfrm>
              <a:prstGeom prst="rect">
                <a:avLst/>
              </a:prstGeom>
              <a:blipFill>
                <a:blip r:embed="rId4"/>
                <a:stretch>
                  <a:fillRect t="-3175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86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右大括号 22"/>
          <p:cNvSpPr/>
          <p:nvPr/>
        </p:nvSpPr>
        <p:spPr>
          <a:xfrm>
            <a:off x="3441433" y="2412911"/>
            <a:ext cx="292367" cy="745549"/>
          </a:xfrm>
          <a:prstGeom prst="rightBrace">
            <a:avLst/>
          </a:prstGeom>
          <a:noFill/>
          <a:ln w="19050" cap="flat" cmpd="sng" algn="ctr">
            <a:solidFill>
              <a:schemeClr val="tx2"/>
            </a:solidFill>
            <a:prstDash val="solid"/>
          </a:ln>
          <a:effectLst/>
        </p:spPr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783">
              <a:defRPr/>
            </a:pPr>
            <a:endParaRPr lang="en-US" sz="1500" kern="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66" y="183794"/>
            <a:ext cx="8562392" cy="993775"/>
          </a:xfrm>
        </p:spPr>
        <p:txBody>
          <a:bodyPr/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Properties of Regression Estimators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p:cxnSp>
        <p:nvCxnSpPr>
          <p:cNvPr id="13" name="直线箭头连接符 1"/>
          <p:cNvCxnSpPr>
            <a:cxnSpLocks/>
          </p:cNvCxnSpPr>
          <p:nvPr/>
        </p:nvCxnSpPr>
        <p:spPr>
          <a:xfrm>
            <a:off x="3962400" y="2787472"/>
            <a:ext cx="1004957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sm" len="lg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322EA5D9-6DCB-4023-B81B-D0E2CED59289}"/>
                  </a:ext>
                </a:extLst>
              </p:cNvPr>
              <p:cNvSpPr txBox="1"/>
              <p:nvPr/>
            </p:nvSpPr>
            <p:spPr>
              <a:xfrm>
                <a:off x="152400" y="1657350"/>
                <a:ext cx="3657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is unknown!</a:t>
                </a:r>
              </a:p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Replace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Helvetica Neue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MSE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2EA5D9-6DCB-4023-B81B-D0E2CED59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657350"/>
                <a:ext cx="3657600" cy="646331"/>
              </a:xfrm>
              <a:prstGeom prst="rect">
                <a:avLst/>
              </a:prstGeom>
              <a:blipFill>
                <a:blip r:embed="rId3"/>
                <a:stretch>
                  <a:fillRect l="-1333" t="-6604" b="-16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="" xmlns:a16="http://schemas.microsoft.com/office/drawing/2014/main" id="{85E0E81F-CEB9-4069-BBA5-EF948D2F1CA0}"/>
                  </a:ext>
                </a:extLst>
              </p:cNvPr>
              <p:cNvSpPr/>
              <p:nvPr/>
            </p:nvSpPr>
            <p:spPr>
              <a:xfrm>
                <a:off x="520522" y="2419350"/>
                <a:ext cx="2514600" cy="7039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p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2 </m:t>
                          </m:r>
                        </m:sup>
                      </m:sSup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ε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</m:t>
                      </m:r>
                      <m:r>
                        <m:rPr>
                          <m:nor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5E0E81F-CEB9-4069-BBA5-EF948D2F1C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22" y="2419350"/>
                <a:ext cx="2514600" cy="7039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9CC83A60-F75E-4E02-A8A3-8508F9FE360D}"/>
                  </a:ext>
                </a:extLst>
              </p:cNvPr>
              <p:cNvSpPr txBox="1"/>
              <p:nvPr/>
            </p:nvSpPr>
            <p:spPr>
              <a:xfrm>
                <a:off x="2102837" y="3181350"/>
                <a:ext cx="163096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US" sz="14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chi-squared distribution with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14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1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400" dirty="0">
                    <a:latin typeface="Helvetica Neue"/>
                    <a:ea typeface="KishoreFont Medium" charset="0"/>
                    <a:cs typeface="KishoreFont Medium" charset="0"/>
                  </a:rPr>
                  <a:t> </a:t>
                </a:r>
                <a:r>
                  <a:rPr lang="en-US" sz="14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degrees of freedom)</a:t>
                </a:r>
                <a:endParaRPr lang="en-US" sz="14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C83A60-F75E-4E02-A8A3-8508F9FE3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837" y="3181350"/>
                <a:ext cx="1630963" cy="954107"/>
              </a:xfrm>
              <a:prstGeom prst="rect">
                <a:avLst/>
              </a:prstGeom>
              <a:blipFill>
                <a:blip r:embed="rId5"/>
                <a:stretch>
                  <a:fillRect l="-1119" t="-1282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="" xmlns:a16="http://schemas.microsoft.com/office/drawing/2014/main" id="{53F8A7CF-EACC-4606-B6D4-0C7700FD0926}"/>
                  </a:ext>
                </a:extLst>
              </p:cNvPr>
              <p:cNvSpPr/>
              <p:nvPr/>
            </p:nvSpPr>
            <p:spPr>
              <a:xfrm>
                <a:off x="5059103" y="2317253"/>
                <a:ext cx="2148089" cy="10164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3F8A7CF-EACC-4606-B6D4-0C7700FD0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103" y="2317253"/>
                <a:ext cx="2148089" cy="10164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D40051B6-3E6A-4A3B-8BE9-45F93474CD99}"/>
                  </a:ext>
                </a:extLst>
              </p:cNvPr>
              <p:cNvSpPr txBox="1"/>
              <p:nvPr/>
            </p:nvSpPr>
            <p:spPr>
              <a:xfrm>
                <a:off x="6133147" y="3191541"/>
                <a:ext cx="1639253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:r>
                  <a:rPr lang="en-US" sz="1400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t</a:t>
                </a:r>
                <a:r>
                  <a:rPr lang="en-US" sz="14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-distribution with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i="1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1400" i="1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1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400" dirty="0">
                    <a:latin typeface="Helvetica Neue"/>
                    <a:ea typeface="KishoreFont Medium" charset="0"/>
                    <a:cs typeface="KishoreFont Medium" charset="0"/>
                  </a:rPr>
                  <a:t> </a:t>
                </a:r>
                <a:r>
                  <a:rPr lang="en-US" sz="14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degrees of freedom)</a:t>
                </a:r>
                <a:endParaRPr lang="en-US" sz="14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40051B6-3E6A-4A3B-8BE9-45F93474C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147" y="3191541"/>
                <a:ext cx="1639253" cy="738664"/>
              </a:xfrm>
              <a:prstGeom prst="rect">
                <a:avLst/>
              </a:prstGeom>
              <a:blipFill>
                <a:blip r:embed="rId7"/>
                <a:stretch>
                  <a:fillRect l="-1115" t="-1653" r="-3346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1"/>
              <p:cNvSpPr>
                <a:spLocks noChangeArrowheads="1"/>
              </p:cNvSpPr>
              <p:nvPr/>
            </p:nvSpPr>
            <p:spPr bwMode="auto">
              <a:xfrm>
                <a:off x="617242" y="872241"/>
                <a:ext cx="1756768" cy="621468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b="1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242" y="872241"/>
                <a:ext cx="1756768" cy="6214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27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28799" y="2190750"/>
                <a:ext cx="7848600" cy="1222642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 smtClean="0">
                    <a:solidFill>
                      <a:srgbClr val="EAAA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</a:t>
                </a:r>
                <a:r>
                  <a:rPr lang="en-US" b="1" dirty="0">
                    <a:solidFill>
                      <a:srgbClr val="EAAA00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EA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EAAA0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solidFill>
                              <a:srgbClr val="EAAA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b="1" baseline="-25000" dirty="0">
                    <a:solidFill>
                      <a:srgbClr val="EAAA00"/>
                    </a:solidFill>
                    <a:ea typeface="+mn-ea"/>
                  </a:rPr>
                  <a:t>  </a:t>
                </a:r>
                <a:r>
                  <a:rPr lang="en-US" b="1" dirty="0">
                    <a:solidFill>
                      <a:srgbClr val="EAAA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statistically significant? </a:t>
                </a:r>
              </a:p>
              <a:p>
                <a:pPr marL="685800" lvl="1" indent="-342900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Check whether zero is in the confidence interval</a:t>
                </a:r>
              </a:p>
              <a:p>
                <a:pPr marL="342900" indent="-342900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endParaRPr lang="en-US" dirty="0">
                  <a:solidFill>
                    <a:srgbClr val="000000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dirty="0">
                    <a:solidFill>
                      <a:srgbClr val="EAAA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Why is this a </a:t>
                </a:r>
                <a:r>
                  <a:rPr lang="en-US" b="1" i="1" dirty="0">
                    <a:solidFill>
                      <a:srgbClr val="EAAA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</a:t>
                </a:r>
                <a:r>
                  <a:rPr lang="en-US" b="1" dirty="0">
                    <a:solidFill>
                      <a:srgbClr val="EAAA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-interval?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99" y="2190750"/>
                <a:ext cx="7848600" cy="1222642"/>
              </a:xfrm>
              <a:prstGeom prst="rect">
                <a:avLst/>
              </a:prstGeom>
              <a:blipFill>
                <a:blip r:embed="rId2"/>
                <a:stretch>
                  <a:fillRect l="-621" t="-2488" b="-497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 flipH="1">
                <a:off x="152400" y="1015752"/>
                <a:ext cx="7705355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We can derive confidence intervals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using this </a:t>
                </a:r>
                <a:r>
                  <a:rPr 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</a:t>
                </a:r>
                <a:r>
                  <a:rPr 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sampling distribution:</a:t>
                </a:r>
                <a:endParaRPr lang="en-US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2400" y="1015752"/>
                <a:ext cx="7705355" cy="391646"/>
              </a:xfrm>
              <a:prstGeom prst="rect">
                <a:avLst/>
              </a:prstGeom>
              <a:blipFill>
                <a:blip r:embed="rId3"/>
                <a:stretch>
                  <a:fillRect l="-633" t="-9375" r="-554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1273" y="177355"/>
            <a:ext cx="8562392" cy="641795"/>
          </a:xfrm>
        </p:spPr>
        <p:txBody>
          <a:bodyPr/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Confidence Interval Estimation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id="{E624ACF2-1380-4D57-9F87-BDE7FFD6DB66}"/>
                  </a:ext>
                </a:extLst>
              </p:cNvPr>
              <p:cNvSpPr/>
              <p:nvPr/>
            </p:nvSpPr>
            <p:spPr>
              <a:xfrm>
                <a:off x="609600" y="1504950"/>
                <a:ext cx="2832378" cy="505331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wrap="none" tIns="91440" bIns="9144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SE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624ACF2-1380-4D57-9F87-BDE7FFD6DB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04950"/>
                <a:ext cx="2832378" cy="505331"/>
              </a:xfrm>
              <a:prstGeom prst="rect">
                <a:avLst/>
              </a:prstGeom>
              <a:blipFill>
                <a:blip r:embed="rId4"/>
                <a:stretch>
                  <a:fillRect t="-23256" b="-81395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54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7"/>
              <p:cNvSpPr txBox="1"/>
              <p:nvPr/>
            </p:nvSpPr>
            <p:spPr>
              <a:xfrm>
                <a:off x="4450727" y="2989118"/>
                <a:ext cx="870025" cy="3829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r>
                  <a:rPr lang="en-US" sz="1200" kern="100" dirty="0"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Estimate </a:t>
                </a:r>
              </a:p>
              <a:p>
                <a:pPr algn="r"/>
                <a:r>
                  <a:rPr lang="en-US" sz="1200" kern="100" dirty="0"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of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1200" kern="100" dirty="0">
                  <a:latin typeface="KishoreFont Medium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9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727" y="2989118"/>
                <a:ext cx="870025" cy="382905"/>
              </a:xfrm>
              <a:prstGeom prst="rect">
                <a:avLst/>
              </a:prstGeom>
              <a:blipFill>
                <a:blip r:embed="rId3"/>
                <a:stretch>
                  <a:fillRect t="-4762" r="-5594" b="-269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="" xmlns:a16="http://schemas.microsoft.com/office/drawing/2014/main" id="{4091D022-DBD4-4A7C-92AD-510AD14683CD}"/>
                  </a:ext>
                </a:extLst>
              </p:cNvPr>
              <p:cNvSpPr/>
              <p:nvPr/>
            </p:nvSpPr>
            <p:spPr>
              <a:xfrm>
                <a:off x="4911183" y="2571750"/>
                <a:ext cx="2832378" cy="412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SE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091D022-DBD4-4A7C-92AD-510AD14683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183" y="2571750"/>
                <a:ext cx="2832378" cy="412998"/>
              </a:xfrm>
              <a:prstGeom prst="rect">
                <a:avLst/>
              </a:prstGeom>
              <a:blipFill>
                <a:blip r:embed="rId4"/>
                <a:stretch>
                  <a:fillRect t="-41176" b="-1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572000" y="1666021"/>
                <a:ext cx="1741952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i="1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t</a:t>
                </a:r>
                <a:r>
                  <a:rPr lang="en-US" altLang="zh-CN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-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interval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kern="100" dirty="0">
                  <a:latin typeface="Helvetica Neue"/>
                  <a:ea typeface="DengXian" charset="-122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666021"/>
                <a:ext cx="1741952" cy="391646"/>
              </a:xfrm>
              <a:prstGeom prst="rect">
                <a:avLst/>
              </a:prstGeom>
              <a:blipFill>
                <a:blip r:embed="rId5"/>
                <a:stretch>
                  <a:fillRect l="-2797" t="-7692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10"/>
          <p:cNvSpPr txBox="1"/>
          <p:nvPr/>
        </p:nvSpPr>
        <p:spPr>
          <a:xfrm>
            <a:off x="5803424" y="2990217"/>
            <a:ext cx="711053" cy="47815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i="1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t</a:t>
            </a:r>
            <a:r>
              <a:rPr lang="en-US" sz="12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-critical </a:t>
            </a:r>
            <a:br>
              <a:rPr lang="en-US" sz="12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</a:br>
            <a:r>
              <a:rPr lang="en-US" sz="12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point</a:t>
            </a:r>
          </a:p>
          <a:p>
            <a:pPr algn="ctr"/>
            <a:r>
              <a:rPr lang="en-US" sz="12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 </a:t>
            </a:r>
          </a:p>
          <a:p>
            <a:pPr algn="ctr"/>
            <a:r>
              <a:rPr lang="en-US" sz="12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 </a:t>
            </a:r>
          </a:p>
          <a:p>
            <a:pPr algn="ctr"/>
            <a:r>
              <a:rPr lang="en-US" sz="12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5"/>
              <p:cNvSpPr txBox="1"/>
              <p:nvPr/>
            </p:nvSpPr>
            <p:spPr>
              <a:xfrm>
                <a:off x="6799229" y="2995301"/>
                <a:ext cx="1569522" cy="4730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1200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Standard Deviation/Error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kern="100" dirty="0">
                    <a:ea typeface="DengXian" charset="-122"/>
                    <a:cs typeface="Times New Roman" charset="0"/>
                  </a:rPr>
                  <a:t> </a:t>
                </a:r>
              </a:p>
              <a:p>
                <a:pPr algn="just"/>
                <a:r>
                  <a:rPr lang="en-US" sz="1200" kern="100" dirty="0">
                    <a:ea typeface="DengXian" charset="-122"/>
                    <a:cs typeface="Times New Roman" charset="0"/>
                  </a:rPr>
                  <a:t>     </a:t>
                </a:r>
              </a:p>
            </p:txBody>
          </p:sp>
        </mc:Choice>
        <mc:Fallback xmlns="">
          <p:sp>
            <p:nvSpPr>
              <p:cNvPr id="11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229" y="2995301"/>
                <a:ext cx="1569522" cy="473072"/>
              </a:xfrm>
              <a:prstGeom prst="rect">
                <a:avLst/>
              </a:prstGeom>
              <a:blipFill>
                <a:blip r:embed="rId6"/>
                <a:stretch>
                  <a:fillRect l="-1550" t="-3846" r="-775" b="-51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线连接符 25"/>
          <p:cNvCxnSpPr>
            <a:cxnSpLocks/>
          </p:cNvCxnSpPr>
          <p:nvPr/>
        </p:nvCxnSpPr>
        <p:spPr>
          <a:xfrm flipV="1">
            <a:off x="4648200" y="2995300"/>
            <a:ext cx="576886" cy="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26"/>
          <p:cNvCxnSpPr>
            <a:cxnSpLocks/>
          </p:cNvCxnSpPr>
          <p:nvPr/>
        </p:nvCxnSpPr>
        <p:spPr>
          <a:xfrm>
            <a:off x="5625551" y="2998906"/>
            <a:ext cx="10668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1257301" y="755563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1028701" y="2532500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1257301" y="650015"/>
            <a:ext cx="138564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783"/>
            <a:r>
              <a:rPr lang="en-US" altLang="en-US">
                <a:latin typeface="Arial" charset="0"/>
              </a:rPr>
              <a:t/>
            </a:r>
            <a:br>
              <a:rPr lang="en-US" altLang="en-US">
                <a:latin typeface="Arial" charset="0"/>
              </a:rPr>
            </a:br>
            <a:endParaRPr lang="en-US" altLang="en-US">
              <a:latin typeface="Arial" charset="0"/>
            </a:endParaRPr>
          </a:p>
          <a:p>
            <a:pPr defTabSz="685783"/>
            <a:endParaRPr lang="en-US" altLang="en-US">
              <a:latin typeface="Arial" charset="0"/>
            </a:endParaRPr>
          </a:p>
        </p:txBody>
      </p:sp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1257301" y="788517"/>
            <a:ext cx="138564" cy="62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783"/>
            <a:endParaRPr lang="en-US" altLang="en-US">
              <a:latin typeface="Arial" charset="0"/>
            </a:endParaRPr>
          </a:p>
          <a:p>
            <a:pPr defTabSz="685783"/>
            <a:endParaRPr lang="en-US" altLang="en-US">
              <a:latin typeface="Arial" charset="0"/>
            </a:endParaRPr>
          </a:p>
        </p:txBody>
      </p:sp>
      <p:cxnSp>
        <p:nvCxnSpPr>
          <p:cNvPr id="29" name="直线连接符 25"/>
          <p:cNvCxnSpPr>
            <a:cxnSpLocks/>
          </p:cNvCxnSpPr>
          <p:nvPr/>
        </p:nvCxnSpPr>
        <p:spPr>
          <a:xfrm>
            <a:off x="6858000" y="2995300"/>
            <a:ext cx="13716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77A3617D-ED7E-4AE0-BB0A-D944324F2A79}"/>
              </a:ext>
            </a:extLst>
          </p:cNvPr>
          <p:cNvSpPr/>
          <p:nvPr/>
        </p:nvSpPr>
        <p:spPr>
          <a:xfrm>
            <a:off x="152400" y="1003745"/>
            <a:ext cx="297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Why is this a </a:t>
            </a:r>
            <a:r>
              <a:rPr lang="en-US" b="1" i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</a:t>
            </a:r>
            <a:r>
              <a:rPr lang="en-US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-interval?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="" xmlns:a16="http://schemas.microsoft.com/office/drawing/2014/main" id="{905B1F57-6F65-41D2-BD99-DBC048082905}"/>
                  </a:ext>
                </a:extLst>
              </p:cNvPr>
              <p:cNvSpPr/>
              <p:nvPr/>
            </p:nvSpPr>
            <p:spPr>
              <a:xfrm>
                <a:off x="501205" y="1479053"/>
                <a:ext cx="3101618" cy="10164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SE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05B1F57-6F65-41D2-BD99-DBC0480829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05" y="1479053"/>
                <a:ext cx="3101618" cy="10164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线箭头连接符 1">
            <a:extLst>
              <a:ext uri="{FF2B5EF4-FFF2-40B4-BE49-F238E27FC236}">
                <a16:creationId xmlns="" xmlns:a16="http://schemas.microsoft.com/office/drawing/2014/main" id="{DCD67E5E-B830-4AA8-992B-74C8CE24BA25}"/>
              </a:ext>
            </a:extLst>
          </p:cNvPr>
          <p:cNvCxnSpPr>
            <a:cxnSpLocks/>
          </p:cNvCxnSpPr>
          <p:nvPr/>
        </p:nvCxnSpPr>
        <p:spPr>
          <a:xfrm>
            <a:off x="3733800" y="1866633"/>
            <a:ext cx="583760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sm" len="lg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="" xmlns:a16="http://schemas.microsoft.com/office/drawing/2014/main" id="{5E04EB76-B9FB-4FA2-AEB7-005DCE7869CB}"/>
                  </a:ext>
                </a:extLst>
              </p:cNvPr>
              <p:cNvSpPr/>
              <p:nvPr/>
            </p:nvSpPr>
            <p:spPr>
              <a:xfrm>
                <a:off x="520522" y="2865904"/>
                <a:ext cx="3234347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1-</a:t>
                </a:r>
                <a:r>
                  <a:rPr lang="el-GR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α</a:t>
                </a:r>
                <a:r>
                  <a:rPr lang="en-US" kern="100" dirty="0">
                    <a:latin typeface="Helvetica Neue"/>
                    <a:ea typeface="KishoreFont Medium" charset="0"/>
                    <a:cs typeface="KishoreFont Medium" charset="0"/>
                  </a:rPr>
                  <a:t> 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Confidence Interval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kern="100" dirty="0">
                  <a:latin typeface="Helvetica Neue"/>
                  <a:ea typeface="DengXian" charset="-122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E04EB76-B9FB-4FA2-AEB7-005DCE7869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22" y="2865904"/>
                <a:ext cx="3234347" cy="391646"/>
              </a:xfrm>
              <a:prstGeom prst="rect">
                <a:avLst/>
              </a:prstGeom>
              <a:blipFill>
                <a:blip r:embed="rId8"/>
                <a:stretch>
                  <a:fillRect l="-1507" t="-9375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线箭头连接符 1">
            <a:extLst>
              <a:ext uri="{FF2B5EF4-FFF2-40B4-BE49-F238E27FC236}">
                <a16:creationId xmlns="" xmlns:a16="http://schemas.microsoft.com/office/drawing/2014/main" id="{0E01FC87-DBAF-4781-AB6C-D61542EEE1C6}"/>
              </a:ext>
            </a:extLst>
          </p:cNvPr>
          <p:cNvCxnSpPr>
            <a:cxnSpLocks/>
          </p:cNvCxnSpPr>
          <p:nvPr/>
        </p:nvCxnSpPr>
        <p:spPr>
          <a:xfrm>
            <a:off x="3733800" y="3028950"/>
            <a:ext cx="583760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sm" len="lg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itle 2"/>
          <p:cNvSpPr txBox="1">
            <a:spLocks/>
          </p:cNvSpPr>
          <p:nvPr/>
        </p:nvSpPr>
        <p:spPr>
          <a:xfrm>
            <a:off x="121273" y="177355"/>
            <a:ext cx="8562392" cy="64179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3600" dirty="0" smtClean="0">
                <a:latin typeface="Vitesse"/>
                <a:ea typeface="Vitesse" charset="0"/>
                <a:cs typeface="Vitesse" charset="0"/>
              </a:rPr>
              <a:t>Confidence Interval Estimation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56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9395" name="Rectangle 7"/>
              <p:cNvSpPr>
                <a:spLocks noChangeArrowheads="1"/>
              </p:cNvSpPr>
              <p:nvPr/>
            </p:nvSpPr>
            <p:spPr bwMode="auto">
              <a:xfrm>
                <a:off x="145961" y="1009116"/>
                <a:ext cx="7620000" cy="66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To test for statistical significance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baseline="-250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given all other predicting variables in the model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use a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-test for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and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:</a:t>
                </a:r>
                <a:endParaRPr lang="en-US" altLang="en-US" dirty="0">
                  <a:latin typeface="Times New Roman" panose="02020603050405020304" pitchFamily="18" charset="0"/>
                  <a:sym typeface="Math1" pitchFamily="2" charset="2"/>
                </a:endParaRPr>
              </a:p>
            </p:txBody>
          </p:sp>
        </mc:Choice>
        <mc:Fallback xmlns="">
          <p:sp>
            <p:nvSpPr>
              <p:cNvPr id="5939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961" y="1009116"/>
                <a:ext cx="7620000" cy="668645"/>
              </a:xfrm>
              <a:prstGeom prst="rect">
                <a:avLst/>
              </a:prstGeom>
              <a:blipFill>
                <a:blip r:embed="rId2"/>
                <a:stretch>
                  <a:fillRect l="-720" t="-5505" b="-146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3083" y="178423"/>
            <a:ext cx="8562392" cy="664807"/>
          </a:xfrm>
        </p:spPr>
        <p:txBody>
          <a:bodyPr/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Testing Statistical Significance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id="{E9A3064A-52E8-4F44-BC98-9E5ED74FB04F}"/>
                  </a:ext>
                </a:extLst>
              </p:cNvPr>
              <p:cNvSpPr/>
              <p:nvPr/>
            </p:nvSpPr>
            <p:spPr>
              <a:xfrm>
                <a:off x="152400" y="3895974"/>
                <a:ext cx="7848600" cy="7609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1313" indent="-341313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|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-value| gets too large</a:t>
                </a:r>
                <a:b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</a:br>
                <a:endParaRPr lang="en-US" altLang="en-US" sz="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341313" indent="-341313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Interpret rejecting the null hypothesis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baseline="-250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being statistically significant</a:t>
                </a:r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9A3064A-52E8-4F44-BC98-9E5ED74FB0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895974"/>
                <a:ext cx="7848600" cy="760978"/>
              </a:xfrm>
              <a:prstGeom prst="rect">
                <a:avLst/>
              </a:prstGeom>
              <a:blipFill>
                <a:blip r:embed="rId3"/>
                <a:stretch>
                  <a:fillRect l="-466" t="-4000" b="-8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id="{E982F160-240E-4623-B28F-297D52498E7D}"/>
                  </a:ext>
                </a:extLst>
              </p:cNvPr>
              <p:cNvSpPr/>
              <p:nvPr/>
            </p:nvSpPr>
            <p:spPr>
              <a:xfrm>
                <a:off x="609600" y="2880219"/>
                <a:ext cx="1999009" cy="865814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wrap="none" lIns="91440" tIns="91440" rIns="91440" bIns="9144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m:rPr>
                          <m:nor/>
                        </m:rPr>
                        <a:rPr lang="en-US" alt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value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SE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982F160-240E-4623-B28F-297D52498E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80219"/>
                <a:ext cx="1999009" cy="865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1AFE1742-FF55-4C03-961A-2269581A47CD}"/>
              </a:ext>
            </a:extLst>
          </p:cNvPr>
          <p:cNvGrpSpPr/>
          <p:nvPr/>
        </p:nvGrpSpPr>
        <p:grpSpPr>
          <a:xfrm>
            <a:off x="609600" y="1873082"/>
            <a:ext cx="1498442" cy="931556"/>
            <a:chOff x="3822779" y="1581150"/>
            <a:chExt cx="1498442" cy="9315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="" xmlns:a16="http://schemas.microsoft.com/office/drawing/2014/main" id="{16C7EB9C-1B14-456D-815D-6ABE37DACA54}"/>
                    </a:ext>
                  </a:extLst>
                </p:cNvPr>
                <p:cNvSpPr/>
                <p:nvPr/>
              </p:nvSpPr>
              <p:spPr>
                <a:xfrm>
                  <a:off x="4021818" y="2147594"/>
                  <a:ext cx="1105174" cy="299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≠0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6C7EB9C-1B14-456D-815D-6ABE37DAC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1818" y="2147594"/>
                  <a:ext cx="1105174" cy="299313"/>
                </a:xfrm>
                <a:prstGeom prst="rect">
                  <a:avLst/>
                </a:prstGeom>
                <a:blipFill>
                  <a:blip r:embed="rId5"/>
                  <a:stretch>
                    <a:fillRect l="-4972" r="-4420" b="-2653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="" xmlns:a16="http://schemas.microsoft.com/office/drawing/2014/main" id="{925FA77E-5B54-41DE-8DEA-03E33E5F5D1D}"/>
                    </a:ext>
                  </a:extLst>
                </p:cNvPr>
                <p:cNvSpPr/>
                <p:nvPr/>
              </p:nvSpPr>
              <p:spPr>
                <a:xfrm>
                  <a:off x="4017008" y="1623415"/>
                  <a:ext cx="1109984" cy="299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925FA77E-5B54-41DE-8DEA-03E33E5F5D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7008" y="1623415"/>
                  <a:ext cx="1109984" cy="299313"/>
                </a:xfrm>
                <a:prstGeom prst="rect">
                  <a:avLst/>
                </a:prstGeom>
                <a:blipFill>
                  <a:blip r:embed="rId6"/>
                  <a:stretch>
                    <a:fillRect l="-4945" r="-4396" b="-2653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8BF92995-9889-4844-A3DC-7C0AB0A07254}"/>
                </a:ext>
              </a:extLst>
            </p:cNvPr>
            <p:cNvSpPr txBox="1"/>
            <p:nvPr/>
          </p:nvSpPr>
          <p:spPr>
            <a:xfrm>
              <a:off x="4413210" y="1888666"/>
              <a:ext cx="31119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>
                  <a:latin typeface="Helvetica" panose="020B0604020202020204" pitchFamily="34" charset="0"/>
                  <a:cs typeface="Helvetica" panose="020B0604020202020204" pitchFamily="34" charset="0"/>
                </a:rPr>
                <a:t>vs.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="" xmlns:a16="http://schemas.microsoft.com/office/drawing/2014/main" id="{BBF52757-A592-43CD-A3F8-292CF3B844E8}"/>
                </a:ext>
              </a:extLst>
            </p:cNvPr>
            <p:cNvSpPr/>
            <p:nvPr/>
          </p:nvSpPr>
          <p:spPr>
            <a:xfrm>
              <a:off x="3822779" y="1581150"/>
              <a:ext cx="1498442" cy="931556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33083" y="1295221"/>
            <a:ext cx="4064750" cy="120032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EAAA00"/>
                </a:solidFill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How will the procedure change if </a:t>
            </a:r>
            <a:endParaRPr lang="en-US" altLang="en-US" b="1" dirty="0" smtClean="0">
              <a:solidFill>
                <a:srgbClr val="EAAA00"/>
              </a:solidFill>
              <a:latin typeface="Helvetica" panose="020B0604020202020204" pitchFamily="34" charset="0"/>
              <a:ea typeface="KishoreFont Medium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b="1" dirty="0">
              <a:solidFill>
                <a:srgbClr val="EAAA00"/>
              </a:solidFill>
              <a:latin typeface="Helvetica" panose="020B0604020202020204" pitchFamily="34" charset="0"/>
              <a:ea typeface="KishoreFont Medium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b="1" dirty="0" smtClean="0">
              <a:solidFill>
                <a:srgbClr val="EAAA00"/>
              </a:solidFill>
              <a:latin typeface="Helvetica" panose="020B0604020202020204" pitchFamily="34" charset="0"/>
              <a:ea typeface="KishoreFont Medium" charset="0"/>
              <a:cs typeface="Helvetica" panose="020B0604020202020204" pitchFamily="34" charset="0"/>
            </a:endParaRPr>
          </a:p>
          <a:p>
            <a:pPr eaLnBrk="1" hangingPunct="1"/>
            <a:r>
              <a:rPr lang="en-US" altLang="en-US" b="1" dirty="0" smtClean="0">
                <a:solidFill>
                  <a:srgbClr val="EAAA00"/>
                </a:solidFill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we </a:t>
            </a:r>
            <a:r>
              <a:rPr lang="en-US" altLang="en-US" b="1" dirty="0">
                <a:solidFill>
                  <a:srgbClr val="EAAA00"/>
                </a:solidFill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test</a:t>
            </a: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401053" y="5121101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60312794-7E60-41D7-AABB-B6131F218B45}"/>
              </a:ext>
            </a:extLst>
          </p:cNvPr>
          <p:cNvSpPr/>
          <p:nvPr/>
        </p:nvSpPr>
        <p:spPr>
          <a:xfrm>
            <a:off x="5645239" y="1288018"/>
            <a:ext cx="2300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en-US" b="1" dirty="0">
                <a:solidFill>
                  <a:srgbClr val="EAAA00"/>
                </a:solidFill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  <a:sym typeface="Math1" charset="0"/>
              </a:rPr>
              <a:t>for some known b?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="" xmlns:a16="http://schemas.microsoft.com/office/drawing/2014/main" id="{FAFCD4F5-0CC7-4853-91B9-ECEFBE5FFEB0}"/>
                  </a:ext>
                </a:extLst>
              </p:cNvPr>
              <p:cNvSpPr/>
              <p:nvPr/>
            </p:nvSpPr>
            <p:spPr>
              <a:xfrm>
                <a:off x="126250" y="2805009"/>
                <a:ext cx="8408150" cy="20527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98463" indent="-398463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|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-value| is large</a:t>
                </a:r>
              </a:p>
              <a:p>
                <a:pPr marL="798513" lvl="1" indent="-396875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significance level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en-US" sz="1600" dirty="0">
                    <a:latin typeface="Helvetica Neue" charset="0"/>
                    <a:ea typeface="Helvetica Neue" charset="0"/>
                    <a:cs typeface="Helvetica Neue" charset="0"/>
                  </a:rPr>
                  <a:t>, 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nor/>
                              </m:rPr>
                              <a:rPr lang="en-US" altLang="en-US" sz="16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value</m:t>
                            </m:r>
                          </m:e>
                        </m:d>
                        <m: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 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</m:t>
                    </m:r>
                  </m:oMath>
                </a14:m>
                <a:r>
                  <a:rPr lang="en-US" sz="1600" dirty="0">
                    <a:latin typeface="Helvetica Neue" charset="0"/>
                    <a:ea typeface="Cambria Math" panose="02040503050406030204" pitchFamily="18" charset="0"/>
                  </a:rPr>
                  <a:t> </a:t>
                </a:r>
                <a:r>
                  <a:rPr lang="en-US" sz="1600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Helvetica Neue" charset="0"/>
                  <a:ea typeface="Cambria Math" panose="02040503050406030204" pitchFamily="18" charset="0"/>
                </a:endParaRPr>
              </a:p>
              <a:p>
                <a:pPr marL="398463" lvl="1" indent="-398463">
                  <a:buFont typeface="Arial" panose="020B0604020202020204" pitchFamily="34" charset="0"/>
                  <a:buChar char="•"/>
                </a:pP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Alternatively, compute a p-value based on the probability that the </a:t>
                </a:r>
                <a:r>
                  <a:rPr lang="en-US" i="1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t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distribution is greater than the </a:t>
                </a:r>
                <a:r>
                  <a:rPr lang="en-US" i="1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t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-value:</a:t>
                </a:r>
                <a:b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</a:br>
                <a:r>
                  <a:rPr lang="en-US" kern="100" dirty="0">
                    <a:latin typeface="Helvetica Neue"/>
                    <a:ea typeface="KishoreFont Medium" charset="0"/>
                    <a:cs typeface="KishoreFont Medium" charset="0"/>
                  </a:rPr>
                  <a:t/>
                </a:r>
                <a:br>
                  <a:rPr lang="en-US" kern="100" dirty="0">
                    <a:latin typeface="Helvetica Neue"/>
                    <a:ea typeface="KishoreFont Medium" charset="0"/>
                    <a:cs typeface="KishoreFont Medium" charset="0"/>
                  </a:rPr>
                </a:br>
                <a:endParaRPr lang="en-US" kern="100" dirty="0" smtClean="0">
                  <a:latin typeface="Helvetica Neue"/>
                  <a:ea typeface="KishoreFont Medium" charset="0"/>
                  <a:cs typeface="KishoreFont Medium" charset="0"/>
                </a:endParaRPr>
              </a:p>
              <a:p>
                <a:pPr marL="398463" lvl="1" indent="-398463">
                  <a:buFont typeface="Arial" panose="020B0604020202020204" pitchFamily="34" charset="0"/>
                  <a:buChar char="•"/>
                </a:pPr>
                <a:r>
                  <a:rPr lang="en-US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If 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p-value is small (e.g., &lt; 0.01)</a:t>
                </a:r>
                <a:r>
                  <a:rPr lang="en-US" kern="100" dirty="0">
                    <a:latin typeface="Helvetica Neue"/>
                    <a:ea typeface="KishoreFont Medium" charset="0"/>
                    <a:cs typeface="KishoreFont Medium" charset="0"/>
                  </a:rPr>
                  <a:t>             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kern="100" dirty="0">
                  <a:latin typeface="KishoreFont Medium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AFCD4F5-0CC7-4853-91B9-ECEFBE5FFE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50" y="2805009"/>
                <a:ext cx="8408150" cy="2052741"/>
              </a:xfrm>
              <a:prstGeom prst="rect">
                <a:avLst/>
              </a:prstGeom>
              <a:blipFill>
                <a:blip r:embed="rId3"/>
                <a:stretch>
                  <a:fillRect l="-508" t="-1484" b="-2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58227F1D-EFAC-4318-84A7-352680C86290}"/>
              </a:ext>
            </a:extLst>
          </p:cNvPr>
          <p:cNvSpPr/>
          <p:nvPr/>
        </p:nvSpPr>
        <p:spPr>
          <a:xfrm>
            <a:off x="965912" y="4032728"/>
            <a:ext cx="3614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 = 2Prob(T</a:t>
            </a:r>
            <a:r>
              <a:rPr lang="en-US" i="1" baseline="-25000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n-p-</a:t>
            </a:r>
            <a:r>
              <a:rPr lang="en-US" baseline="-25000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|</a:t>
            </a:r>
            <a:r>
              <a:rPr lang="en-US" i="1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US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value|)</a:t>
            </a:r>
            <a:endParaRPr lang="en-US" dirty="0"/>
          </a:p>
        </p:txBody>
      </p:sp>
      <p:cxnSp>
        <p:nvCxnSpPr>
          <p:cNvPr id="25" name="直线箭头连接符 1">
            <a:extLst>
              <a:ext uri="{FF2B5EF4-FFF2-40B4-BE49-F238E27FC236}">
                <a16:creationId xmlns="" xmlns:a16="http://schemas.microsoft.com/office/drawing/2014/main" id="{8267CEF8-5C1A-4D3A-953D-FD490E11453B}"/>
              </a:ext>
            </a:extLst>
          </p:cNvPr>
          <p:cNvCxnSpPr>
            <a:cxnSpLocks/>
          </p:cNvCxnSpPr>
          <p:nvPr/>
        </p:nvCxnSpPr>
        <p:spPr>
          <a:xfrm>
            <a:off x="3886284" y="4670524"/>
            <a:ext cx="583760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sm" len="lg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1">
            <a:extLst>
              <a:ext uri="{FF2B5EF4-FFF2-40B4-BE49-F238E27FC236}">
                <a16:creationId xmlns="" xmlns:a16="http://schemas.microsoft.com/office/drawing/2014/main" id="{39A173EE-6051-4B2F-ADB0-3BCDA65E2497}"/>
              </a:ext>
            </a:extLst>
          </p:cNvPr>
          <p:cNvCxnSpPr>
            <a:cxnSpLocks/>
          </p:cNvCxnSpPr>
          <p:nvPr/>
        </p:nvCxnSpPr>
        <p:spPr>
          <a:xfrm>
            <a:off x="5427568" y="3257550"/>
            <a:ext cx="583760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sm" len="lg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itle 2"/>
          <p:cNvSpPr>
            <a:spLocks noGrp="1"/>
          </p:cNvSpPr>
          <p:nvPr>
            <p:ph type="title"/>
          </p:nvPr>
        </p:nvSpPr>
        <p:spPr>
          <a:xfrm>
            <a:off x="133083" y="178423"/>
            <a:ext cx="8562392" cy="664807"/>
          </a:xfrm>
        </p:spPr>
        <p:txBody>
          <a:bodyPr/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Testing Statistical Significance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1AFE1742-FF55-4C03-961A-2269581A47CD}"/>
              </a:ext>
            </a:extLst>
          </p:cNvPr>
          <p:cNvGrpSpPr/>
          <p:nvPr/>
        </p:nvGrpSpPr>
        <p:grpSpPr>
          <a:xfrm>
            <a:off x="4038600" y="1016710"/>
            <a:ext cx="1498442" cy="931556"/>
            <a:chOff x="3822779" y="1581150"/>
            <a:chExt cx="1498442" cy="9315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="" xmlns:a16="http://schemas.microsoft.com/office/drawing/2014/main" id="{16C7EB9C-1B14-456D-815D-6ABE37DACA54}"/>
                    </a:ext>
                  </a:extLst>
                </p:cNvPr>
                <p:cNvSpPr/>
                <p:nvPr/>
              </p:nvSpPr>
              <p:spPr>
                <a:xfrm>
                  <a:off x="4021818" y="2147594"/>
                  <a:ext cx="1105174" cy="299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16C7EB9C-1B14-456D-815D-6ABE37DAC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1818" y="2147594"/>
                  <a:ext cx="1105174" cy="29931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4420" t="-2041" r="-4420" b="-2653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="" xmlns:a16="http://schemas.microsoft.com/office/drawing/2014/main" id="{925FA77E-5B54-41DE-8DEA-03E33E5F5D1D}"/>
                    </a:ext>
                  </a:extLst>
                </p:cNvPr>
                <p:cNvSpPr/>
                <p:nvPr/>
              </p:nvSpPr>
              <p:spPr>
                <a:xfrm>
                  <a:off x="4017008" y="1623415"/>
                  <a:ext cx="1111843" cy="299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25FA77E-5B54-41DE-8DEA-03E33E5F5D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7008" y="1623415"/>
                  <a:ext cx="1111843" cy="29931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4372" t="-2041" r="-3825" b="-2653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8BF92995-9889-4844-A3DC-7C0AB0A07254}"/>
                </a:ext>
              </a:extLst>
            </p:cNvPr>
            <p:cNvSpPr txBox="1"/>
            <p:nvPr/>
          </p:nvSpPr>
          <p:spPr>
            <a:xfrm>
              <a:off x="4413210" y="1888666"/>
              <a:ext cx="31119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dirty="0">
                  <a:latin typeface="Helvetica" panose="020B0604020202020204" pitchFamily="34" charset="0"/>
                  <a:cs typeface="Helvetica" panose="020B0604020202020204" pitchFamily="34" charset="0"/>
                </a:rPr>
                <a:t>vs.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BBF52757-A592-43CD-A3F8-292CF3B844E8}"/>
                </a:ext>
              </a:extLst>
            </p:cNvPr>
            <p:cNvSpPr/>
            <p:nvPr/>
          </p:nvSpPr>
          <p:spPr>
            <a:xfrm>
              <a:off x="3822779" y="1581150"/>
              <a:ext cx="1498442" cy="931556"/>
            </a:xfrm>
            <a:prstGeom prst="rect">
              <a:avLst/>
            </a:prstGeom>
            <a:noFill/>
            <a:ln w="190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="" xmlns:a16="http://schemas.microsoft.com/office/drawing/2014/main" id="{E982F160-240E-4623-B28F-297D52498E7D}"/>
                  </a:ext>
                </a:extLst>
              </p:cNvPr>
              <p:cNvSpPr/>
              <p:nvPr/>
            </p:nvSpPr>
            <p:spPr>
              <a:xfrm>
                <a:off x="1219200" y="1809750"/>
                <a:ext cx="1999009" cy="865814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  <p:txBody>
              <a:bodyPr wrap="none" lIns="91440" tIns="91440" rIns="91440" bIns="9144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m:rPr>
                          <m:nor/>
                        </m:rPr>
                        <a:rPr lang="en-US" alt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value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SE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982F160-240E-4623-B28F-297D52498E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809750"/>
                <a:ext cx="1999009" cy="86581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95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33083" y="1003745"/>
            <a:ext cx="8629917" cy="64633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EAAA00"/>
                </a:solidFill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How will the procedure change if we test whether a coefficient is statistically positive or negative?</a:t>
            </a: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401053" y="5121101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515151" y="2114550"/>
            <a:ext cx="7275032" cy="1828800"/>
            <a:chOff x="1035401" y="2114550"/>
            <a:chExt cx="7275032" cy="1828800"/>
          </a:xfrm>
        </p:grpSpPr>
        <p:grpSp>
          <p:nvGrpSpPr>
            <p:cNvPr id="3" name="Group 2">
              <a:extLst>
                <a:ext uri="{FF2B5EF4-FFF2-40B4-BE49-F238E27FC236}">
                  <a16:creationId xmlns="" xmlns:a16="http://schemas.microsoft.com/office/drawing/2014/main" id="{DDE3B11E-9E44-421E-9FC4-4AF18F94B179}"/>
                </a:ext>
              </a:extLst>
            </p:cNvPr>
            <p:cNvGrpSpPr/>
            <p:nvPr/>
          </p:nvGrpSpPr>
          <p:grpSpPr>
            <a:xfrm>
              <a:off x="2730435" y="2554594"/>
              <a:ext cx="1498442" cy="931556"/>
              <a:chOff x="2730435" y="2554594"/>
              <a:chExt cx="1498442" cy="9315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="" xmlns:a16="http://schemas.microsoft.com/office/drawing/2014/main" id="{7AE1908C-34DA-4199-BCAA-8ABC68BA20BC}"/>
                      </a:ext>
                    </a:extLst>
                  </p:cNvPr>
                  <p:cNvSpPr/>
                  <p:nvPr/>
                </p:nvSpPr>
                <p:spPr>
                  <a:xfrm>
                    <a:off x="2903919" y="3121342"/>
                    <a:ext cx="1105174" cy="2993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7AE1908C-34DA-4199-BCAA-8ABC68BA20B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3919" y="3121342"/>
                    <a:ext cx="1105174" cy="29931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396" r="-4396" b="-2653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="" xmlns:a16="http://schemas.microsoft.com/office/drawing/2014/main" id="{BD4518F0-9632-487B-BC4A-1451EC95FD55}"/>
                      </a:ext>
                    </a:extLst>
                  </p:cNvPr>
                  <p:cNvSpPr/>
                  <p:nvPr/>
                </p:nvSpPr>
                <p:spPr>
                  <a:xfrm>
                    <a:off x="2899109" y="2597163"/>
                    <a:ext cx="1109984" cy="2993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BD4518F0-9632-487B-BC4A-1451EC95FD5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9109" y="2597163"/>
                    <a:ext cx="1109984" cy="29931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945" r="-4396" b="-2653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CF0BED1D-C737-428F-951E-3B21FE273BBF}"/>
                  </a:ext>
                </a:extLst>
              </p:cNvPr>
              <p:cNvSpPr txBox="1"/>
              <p:nvPr/>
            </p:nvSpPr>
            <p:spPr>
              <a:xfrm>
                <a:off x="3295311" y="2862414"/>
                <a:ext cx="31119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vs.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="" xmlns:a16="http://schemas.microsoft.com/office/drawing/2014/main" id="{95272BF0-9E7D-431C-B013-220A2EF5F415}"/>
                  </a:ext>
                </a:extLst>
              </p:cNvPr>
              <p:cNvSpPr/>
              <p:nvPr/>
            </p:nvSpPr>
            <p:spPr>
              <a:xfrm>
                <a:off x="2730435" y="2554594"/>
                <a:ext cx="1498442" cy="931556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58227F1D-EFAC-4318-84A7-352680C86290}"/>
                </a:ext>
              </a:extLst>
            </p:cNvPr>
            <p:cNvSpPr/>
            <p:nvPr/>
          </p:nvSpPr>
          <p:spPr>
            <a:xfrm>
              <a:off x="1035401" y="3574018"/>
              <a:ext cx="3384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p-value = Prob(T</a:t>
              </a:r>
              <a:r>
                <a:rPr lang="en-US" i="1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n-p-</a:t>
              </a:r>
              <a:r>
                <a:rPr lang="en-US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 &gt; </a:t>
              </a:r>
              <a:r>
                <a: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-value)</a:t>
              </a:r>
              <a:endParaRPr lang="en-US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="" xmlns:a16="http://schemas.microsoft.com/office/drawing/2014/main" id="{B8EAC9A7-ECCF-4CA4-924F-EBDEC76DC39E}"/>
                </a:ext>
              </a:extLst>
            </p:cNvPr>
            <p:cNvGrpSpPr/>
            <p:nvPr/>
          </p:nvGrpSpPr>
          <p:grpSpPr>
            <a:xfrm>
              <a:off x="4958380" y="2544656"/>
              <a:ext cx="1498442" cy="931556"/>
              <a:chOff x="4958380" y="2544656"/>
              <a:chExt cx="1498442" cy="9315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="" xmlns:a16="http://schemas.microsoft.com/office/drawing/2014/main" id="{A4BAA441-BEB8-4CB2-BCB1-D2D4D893E1FE}"/>
                      </a:ext>
                    </a:extLst>
                  </p:cNvPr>
                  <p:cNvSpPr/>
                  <p:nvPr/>
                </p:nvSpPr>
                <p:spPr>
                  <a:xfrm>
                    <a:off x="5131864" y="3111404"/>
                    <a:ext cx="1105174" cy="2993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A4BAA441-BEB8-4CB2-BCB1-D2D4D893E1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1864" y="3111404"/>
                    <a:ext cx="1105174" cy="29931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972" r="-4420" b="-24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="" xmlns:a16="http://schemas.microsoft.com/office/drawing/2014/main" id="{F0E05D8F-2810-4B2F-99D9-E45ADC76CAA7}"/>
                      </a:ext>
                    </a:extLst>
                  </p:cNvPr>
                  <p:cNvSpPr/>
                  <p:nvPr/>
                </p:nvSpPr>
                <p:spPr>
                  <a:xfrm>
                    <a:off x="5127054" y="2587225"/>
                    <a:ext cx="1109984" cy="2993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F0E05D8F-2810-4B2F-99D9-E45ADC76CAA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7054" y="2587225"/>
                    <a:ext cx="1109984" cy="29931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396" r="-4945" b="-24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EEDB8858-EB92-414C-AAAA-0EECDFC43CC9}"/>
                  </a:ext>
                </a:extLst>
              </p:cNvPr>
              <p:cNvSpPr txBox="1"/>
              <p:nvPr/>
            </p:nvSpPr>
            <p:spPr>
              <a:xfrm>
                <a:off x="5523256" y="2852476"/>
                <a:ext cx="31119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vs.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="" xmlns:a16="http://schemas.microsoft.com/office/drawing/2014/main" id="{4386CF3C-777C-487F-BF7F-2B000E1D0153}"/>
                  </a:ext>
                </a:extLst>
              </p:cNvPr>
              <p:cNvSpPr/>
              <p:nvPr/>
            </p:nvSpPr>
            <p:spPr>
              <a:xfrm>
                <a:off x="4958380" y="2544656"/>
                <a:ext cx="1498442" cy="931556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D7B298DB-79AE-45CC-90D8-9C93C0BC2172}"/>
                </a:ext>
              </a:extLst>
            </p:cNvPr>
            <p:cNvSpPr txBox="1"/>
            <p:nvPr/>
          </p:nvSpPr>
          <p:spPr>
            <a:xfrm>
              <a:off x="1600205" y="2114550"/>
              <a:ext cx="27879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Test for Statistically Positive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52A6C396-0684-44F5-B677-A14357A8D662}"/>
                </a:ext>
              </a:extLst>
            </p:cNvPr>
            <p:cNvSpPr txBox="1"/>
            <p:nvPr/>
          </p:nvSpPr>
          <p:spPr>
            <a:xfrm>
              <a:off x="4849565" y="2127384"/>
              <a:ext cx="28471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Test for Statistically Negative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="" xmlns:a16="http://schemas.microsoft.com/office/drawing/2014/main" id="{6848D08D-79F3-45F4-9FE4-8B138642E77C}"/>
                    </a:ext>
                  </a:extLst>
                </p:cNvPr>
                <p:cNvSpPr/>
                <p:nvPr/>
              </p:nvSpPr>
              <p:spPr>
                <a:xfrm>
                  <a:off x="4849564" y="3574018"/>
                  <a:ext cx="346086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p-value = Prob(T</a:t>
                  </a:r>
                  <a:r>
                    <a:rPr lang="en-US" i="1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n-p-</a:t>
                  </a:r>
                  <a:r>
                    <a:rPr lang="en-US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</m:t>
                      </m:r>
                    </m:oMath>
                  </a14:m>
                  <a:r>
                    <a:rPr lang="en-US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-value)</a:t>
                  </a:r>
                  <a:endParaRPr lang="en-US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848D08D-79F3-45F4-9FE4-8B138642E7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9564" y="3574018"/>
                  <a:ext cx="3460869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408" t="-9836" b="-22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>
              <a:extLst>
                <a:ext uri="{FF2B5EF4-FFF2-40B4-BE49-F238E27FC236}">
                  <a16:creationId xmlns="" xmlns:a16="http://schemas.microsoft.com/office/drawing/2014/main" id="{A53BD751-06B1-45A8-81D6-9F7DC2443E46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2127384"/>
              <a:ext cx="0" cy="1815966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itle 2"/>
          <p:cNvSpPr>
            <a:spLocks noGrp="1"/>
          </p:cNvSpPr>
          <p:nvPr>
            <p:ph type="title"/>
          </p:nvPr>
        </p:nvSpPr>
        <p:spPr>
          <a:xfrm>
            <a:off x="133083" y="178423"/>
            <a:ext cx="8562392" cy="664807"/>
          </a:xfrm>
        </p:spPr>
        <p:txBody>
          <a:bodyPr/>
          <a:lstStyle/>
          <a:p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Testing Statistical Significance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63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178976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98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59732</TotalTime>
  <Words>191</Words>
  <Application>Microsoft Office PowerPoint</Application>
  <PresentationFormat>On-screen Show (16:9)</PresentationFormat>
  <Paragraphs>83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8" baseType="lpstr">
      <vt:lpstr>MS PGothic</vt:lpstr>
      <vt:lpstr>MS PGothic</vt:lpstr>
      <vt:lpstr>Arial</vt:lpstr>
      <vt:lpstr>Calibri</vt:lpstr>
      <vt:lpstr>Cambria Math</vt:lpstr>
      <vt:lpstr>DengXian</vt:lpstr>
      <vt:lpstr>Helvetica</vt:lpstr>
      <vt:lpstr>Helvetica Neue</vt:lpstr>
      <vt:lpstr>KishoreFont Medium</vt:lpstr>
      <vt:lpstr>Math1</vt:lpstr>
      <vt:lpstr>Times New Roman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Sampling Distribution</vt:lpstr>
      <vt:lpstr>Properties of Regression Estimators</vt:lpstr>
      <vt:lpstr>Confidence Interval Estimation</vt:lpstr>
      <vt:lpstr>PowerPoint Presentation</vt:lpstr>
      <vt:lpstr>Testing Statistical Significance</vt:lpstr>
      <vt:lpstr>Testing Statistical Significance</vt:lpstr>
      <vt:lpstr>Testing Statistical Significance</vt:lpstr>
      <vt:lpstr>PowerPoint Presentation</vt:lpstr>
    </vt:vector>
  </TitlesOfParts>
  <Company>GA Tech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804</cp:revision>
  <dcterms:created xsi:type="dcterms:W3CDTF">2002-04-06T16:20:45Z</dcterms:created>
  <dcterms:modified xsi:type="dcterms:W3CDTF">2021-05-19T07:19:47Z</dcterms:modified>
</cp:coreProperties>
</file>