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7" r:id="rId1"/>
    <p:sldMasterId id="2147484025" r:id="rId2"/>
    <p:sldMasterId id="2147484026" r:id="rId3"/>
  </p:sldMasterIdLst>
  <p:notesMasterIdLst>
    <p:notesMasterId r:id="rId13"/>
  </p:notesMasterIdLst>
  <p:handoutMasterIdLst>
    <p:handoutMasterId r:id="rId14"/>
  </p:handoutMasterIdLst>
  <p:sldIdLst>
    <p:sldId id="492" r:id="rId4"/>
    <p:sldId id="505" r:id="rId5"/>
    <p:sldId id="497" r:id="rId6"/>
    <p:sldId id="501" r:id="rId7"/>
    <p:sldId id="502" r:id="rId8"/>
    <p:sldId id="496" r:id="rId9"/>
    <p:sldId id="503" r:id="rId10"/>
    <p:sldId id="504" r:id="rId11"/>
    <p:sldId id="506" r:id="rId12"/>
  </p:sldIdLst>
  <p:sldSz cx="9144000" cy="5143500" type="screen16x9"/>
  <p:notesSz cx="7315200" cy="9601200"/>
  <p:custDataLst>
    <p:tags r:id="rId15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84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orient="horz" pos="804" userDrawn="1">
          <p15:clr>
            <a:srgbClr val="A4A3A4"/>
          </p15:clr>
        </p15:guide>
        <p15:guide id="7" orient="horz" pos="420" userDrawn="1">
          <p15:clr>
            <a:srgbClr val="A4A3A4"/>
          </p15:clr>
        </p15:guide>
        <p15:guide id="8" pos="62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ban, Nicoleta" initials="SN" lastIdx="19" clrIdx="0"/>
  <p:cmAuthor id="2" name="zwen42@gatech.com" initials="z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AA00"/>
    <a:srgbClr val="003057"/>
    <a:srgbClr val="376092"/>
    <a:srgbClr val="EEB211"/>
    <a:srgbClr val="F8E0A3"/>
    <a:srgbClr val="00254C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40" autoAdjust="0"/>
    <p:restoredTop sz="89043"/>
  </p:normalViewPr>
  <p:slideViewPr>
    <p:cSldViewPr>
      <p:cViewPr varScale="1">
        <p:scale>
          <a:sx n="70" d="100"/>
          <a:sy n="70" d="100"/>
        </p:scale>
        <p:origin x="1104" y="52"/>
      </p:cViewPr>
      <p:guideLst>
        <p:guide orient="horz" pos="1620"/>
        <p:guide pos="2880"/>
        <p:guide pos="144"/>
        <p:guide pos="384"/>
        <p:guide pos="3456"/>
        <p:guide orient="horz" pos="804"/>
        <p:guide orient="horz" pos="420"/>
        <p:guide pos="624"/>
      </p:guideLst>
    </p:cSldViewPr>
  </p:slideViewPr>
  <p:outlineViewPr>
    <p:cViewPr>
      <p:scale>
        <a:sx n="33" d="100"/>
        <a:sy n="33" d="100"/>
      </p:scale>
      <p:origin x="0" y="-14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gs" Target="tags/tag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pPr>
              <a:defRPr/>
            </a:pPr>
            <a:fld id="{9341367C-E063-483A-976E-701E1B78A2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7821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395FA4F-381F-404D-BF6E-002662B65353}" type="datetimeFigureOut">
              <a:rPr lang="en-US" altLang="en-US"/>
              <a:pPr>
                <a:defRPr/>
              </a:pPr>
              <a:t>5/11/2020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8BD030A-9FCF-4978-B2BB-2A6331F99A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40257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BD030A-9FCF-4978-B2BB-2A6331F99A19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1029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8940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8835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3459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4666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75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333859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444641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97907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003274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90364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406354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8358668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078931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314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9" r:id="rId2"/>
    <p:sldLayoutId id="2147484020" r:id="rId3"/>
    <p:sldLayoutId id="2147484021" r:id="rId4"/>
    <p:sldLayoutId id="2147484022" r:id="rId5"/>
    <p:sldLayoutId id="2147484023" r:id="rId6"/>
    <p:sldLayoutId id="2147484024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939212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5473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  <p:sldLayoutId id="2147484028" r:id="rId2"/>
    <p:sldLayoutId id="2147484029" r:id="rId3"/>
    <p:sldLayoutId id="2147484030" r:id="rId4"/>
    <p:sldLayoutId id="2147484031" r:id="rId5"/>
    <p:sldLayoutId id="2147484032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Relationship Id="rId5" Type="http://schemas.openxmlformats.org/officeDocument/2006/relationships/image" Target="../media/image8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>
          <a:xfrm>
            <a:off x="88468" y="171644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4" name="Text Placeholder 2"/>
          <p:cNvSpPr>
            <a:spLocks noGrp="1"/>
          </p:cNvSpPr>
          <p:nvPr/>
        </p:nvSpPr>
        <p:spPr>
          <a:xfrm>
            <a:off x="108550" y="685716"/>
            <a:ext cx="6368450" cy="10249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Multiple</a:t>
            </a:r>
            <a:r>
              <a:rPr lang="zh-CN" altLang="en-US" sz="2400" dirty="0"/>
              <a:t> </a:t>
            </a:r>
            <a:r>
              <a:rPr lang="en-US" altLang="zh-CN" sz="2400" dirty="0"/>
              <a:t>Linear</a:t>
            </a:r>
            <a:r>
              <a:rPr lang="zh-CN" altLang="en-US" sz="2400" dirty="0"/>
              <a:t> </a:t>
            </a:r>
            <a:r>
              <a:rPr lang="en-US" altLang="zh-CN" sz="2400" dirty="0"/>
              <a:t>Regression</a:t>
            </a:r>
            <a:endParaRPr lang="en-US" sz="2400" dirty="0"/>
          </a:p>
        </p:txBody>
      </p:sp>
      <p:sp>
        <p:nvSpPr>
          <p:cNvPr id="1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EAAA00"/>
              </a:solidFill>
            </a:endParaRPr>
          </a:p>
          <a:p>
            <a:r>
              <a:rPr lang="en-US" dirty="0" err="1">
                <a:solidFill>
                  <a:srgbClr val="EAAA00"/>
                </a:solidFill>
              </a:rPr>
              <a:t>Nicoleta</a:t>
            </a:r>
            <a:r>
              <a:rPr lang="en-US" dirty="0">
                <a:solidFill>
                  <a:srgbClr val="EAAA00"/>
                </a:solidFill>
              </a:rPr>
              <a:t> </a:t>
            </a:r>
            <a:r>
              <a:rPr lang="en-US" dirty="0" err="1">
                <a:solidFill>
                  <a:srgbClr val="EAAA00"/>
                </a:solidFill>
              </a:rPr>
              <a:t>Serban</a:t>
            </a:r>
            <a:r>
              <a:rPr lang="en-US" dirty="0">
                <a:solidFill>
                  <a:srgbClr val="EAAA00"/>
                </a:solidFill>
              </a:rPr>
              <a:t>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19" name="Text Placeholder 5"/>
          <p:cNvSpPr>
            <a:spLocks noGrp="1"/>
          </p:cNvSpPr>
          <p:nvPr/>
        </p:nvSpPr>
        <p:spPr>
          <a:xfrm>
            <a:off x="130656" y="4019550"/>
            <a:ext cx="3311044" cy="100427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dirty="0"/>
              <a:t>Testing for Subsets of Regression Parameters</a:t>
            </a:r>
          </a:p>
        </p:txBody>
      </p:sp>
      <p:sp>
        <p:nvSpPr>
          <p:cNvPr id="2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22232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50104" y="181653"/>
            <a:ext cx="4727575" cy="731706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4202753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" y="1008618"/>
            <a:ext cx="805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Analysis of Variance (ANOVA) for multiple regression: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3350" y="171451"/>
            <a:ext cx="8562392" cy="647700"/>
          </a:xfrm>
        </p:spPr>
        <p:txBody>
          <a:bodyPr/>
          <a:lstStyle/>
          <a:p>
            <a:r>
              <a:rPr lang="en-US" altLang="en-US" sz="3600" dirty="0">
                <a:latin typeface="Vitesse"/>
                <a:ea typeface="Vitesse" charset="0"/>
                <a:cs typeface="Vitesse" charset="0"/>
              </a:rPr>
              <a:t>Testing Overall Regression</a:t>
            </a:r>
            <a:endParaRPr lang="en-US" sz="3600" dirty="0">
              <a:latin typeface="Vitesse"/>
              <a:ea typeface="Vitesse" charset="0"/>
              <a:cs typeface="Vitesse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8762CB9-6CD1-469D-975C-1923B3F23354}"/>
                  </a:ext>
                </a:extLst>
              </p:cNvPr>
              <p:cNvSpPr/>
              <p:nvPr/>
            </p:nvSpPr>
            <p:spPr>
              <a:xfrm>
                <a:off x="119709" y="3181350"/>
                <a:ext cx="8490891" cy="19604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Null hypothesis: All predictor coefficients are 0,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=⋯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  <m:r>
                      <m:rPr>
                        <m:nor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.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600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Reject </a:t>
                </a:r>
                <a:r>
                  <a:rPr 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H</a:t>
                </a:r>
                <a:r>
                  <a:rPr lang="en-US" b="1" baseline="-250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0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if F-statistic is large (&gt; F</a:t>
                </a:r>
                <a:r>
                  <a:rPr lang="el-GR" baseline="-250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α</a:t>
                </a:r>
                <a:r>
                  <a:rPr lang="en-US" baseline="-250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, p, n-p-1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for </a:t>
                </a:r>
                <a:r>
                  <a:rPr lang="el-GR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α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significance level, </a:t>
                </a:r>
                <a:r>
                  <a:rPr 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and </a:t>
                </a:r>
                <a:r>
                  <a:rPr 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n-p-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1 df).</a:t>
                </a:r>
              </a:p>
              <a:p>
                <a:pPr marL="400050" indent="-4000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At least one of the coefficients is different from zero at the </a:t>
                </a:r>
                <a:r>
                  <a:rPr lang="el-GR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α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significance level.</a:t>
                </a:r>
              </a:p>
              <a:p>
                <a:endParaRPr lang="en-US" sz="6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p-value = Prob(</a:t>
                </a:r>
                <a:r>
                  <a:rPr lang="en-US" dirty="0" err="1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</a:t>
                </a:r>
                <a:r>
                  <a:rPr lang="en-US" baseline="-25000" dirty="0" err="1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</a:t>
                </a:r>
                <a:r>
                  <a:rPr lang="en-US" baseline="-250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, n-p-1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&gt; F-statistic) for F-distribution with </a:t>
                </a:r>
                <a:r>
                  <a:rPr 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and </a:t>
                </a:r>
                <a:r>
                  <a:rPr 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n-p-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1 df.</a:t>
                </a:r>
              </a:p>
              <a:p>
                <a:pPr marL="400050" indent="-4000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Reject </a:t>
                </a:r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H</a:t>
                </a:r>
                <a:r>
                  <a:rPr lang="en-US" sz="1600" b="1" baseline="-250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0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if p-value is small.</a:t>
                </a:r>
              </a:p>
              <a:p>
                <a:endParaRPr lang="en-US" dirty="0"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8762CB9-6CD1-469D-975C-1923B3F233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09" y="3181350"/>
                <a:ext cx="8490891" cy="1960408"/>
              </a:xfrm>
              <a:prstGeom prst="rect">
                <a:avLst/>
              </a:prstGeom>
              <a:blipFill>
                <a:blip r:embed="rId4"/>
                <a:stretch>
                  <a:fillRect l="-646" t="-1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2C75D21-7ACC-4D1E-B694-BD2E9F07FE86}"/>
                  </a:ext>
                </a:extLst>
              </p:cNvPr>
              <p:cNvSpPr/>
              <p:nvPr/>
            </p:nvSpPr>
            <p:spPr>
              <a:xfrm>
                <a:off x="606939" y="2495550"/>
                <a:ext cx="6819901" cy="672172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smtClean="0">
                          <a:latin typeface="Cambria Math" panose="02040503050406030204" pitchFamily="18" charset="0"/>
                        </a:rPr>
                        <m:t>SSReg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sty m:val="p"/>
                        </m:rPr>
                        <a:rPr lang="en-US" sz="1600">
                          <a:latin typeface="Cambria Math" panose="02040503050406030204" pitchFamily="18" charset="0"/>
                        </a:rPr>
                        <m:t>SSE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>
                          <a:latin typeface="Cambria Math" panose="02040503050406030204" pitchFamily="18" charset="0"/>
                        </a:rPr>
                        <m:t>SST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2C75D21-7ACC-4D1E-B694-BD2E9F07FE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39" y="2495550"/>
                <a:ext cx="6819901" cy="6721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C039DD3-F6F3-40DB-A309-48B49977C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657139"/>
              </p:ext>
            </p:extLst>
          </p:nvPr>
        </p:nvGraphicFramePr>
        <p:xfrm>
          <a:off x="609600" y="1408826"/>
          <a:ext cx="4876800" cy="949327"/>
        </p:xfrm>
        <a:graphic>
          <a:graphicData uri="http://schemas.openxmlformats.org/drawingml/2006/table">
            <a:tbl>
              <a:tblPr firstRow="1"/>
              <a:tblGrid>
                <a:gridCol w="1015921">
                  <a:extLst>
                    <a:ext uri="{9D8B030D-6E8A-4147-A177-3AD203B41FA5}">
                      <a16:colId xmlns:a16="http://schemas.microsoft.com/office/drawing/2014/main" val="1933231937"/>
                    </a:ext>
                  </a:extLst>
                </a:gridCol>
                <a:gridCol w="556923">
                  <a:extLst>
                    <a:ext uri="{9D8B030D-6E8A-4147-A177-3AD203B41FA5}">
                      <a16:colId xmlns:a16="http://schemas.microsoft.com/office/drawing/2014/main" val="990309592"/>
                    </a:ext>
                  </a:extLst>
                </a:gridCol>
                <a:gridCol w="826661">
                  <a:extLst>
                    <a:ext uri="{9D8B030D-6E8A-4147-A177-3AD203B41FA5}">
                      <a16:colId xmlns:a16="http://schemas.microsoft.com/office/drawing/2014/main" val="146444112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395196064"/>
                    </a:ext>
                  </a:extLst>
                </a:gridCol>
                <a:gridCol w="1334295">
                  <a:extLst>
                    <a:ext uri="{9D8B030D-6E8A-4147-A177-3AD203B41FA5}">
                      <a16:colId xmlns:a16="http://schemas.microsoft.com/office/drawing/2014/main" val="31472546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Variability Source</a:t>
                      </a:r>
                      <a:endParaRPr lang="en-US" sz="1000" b="1" dirty="0">
                        <a:solidFill>
                          <a:schemeClr val="bg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27432" marB="914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DF</a:t>
                      </a:r>
                      <a:endParaRPr lang="en-US" sz="1000" b="1" dirty="0">
                        <a:solidFill>
                          <a:schemeClr val="bg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27432" marB="914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Sum of Squares</a:t>
                      </a:r>
                      <a:endParaRPr lang="en-US" sz="1000" b="1" dirty="0">
                        <a:solidFill>
                          <a:schemeClr val="bg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27432" marB="914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Mean SS</a:t>
                      </a:r>
                      <a:endParaRPr lang="en-US" sz="1000" b="1" dirty="0">
                        <a:solidFill>
                          <a:schemeClr val="bg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27432" marB="914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F-Statistic</a:t>
                      </a:r>
                      <a:endParaRPr lang="en-US" sz="1000" b="1" dirty="0">
                        <a:solidFill>
                          <a:schemeClr val="bg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27432" marB="914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417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Regression</a:t>
                      </a:r>
                      <a:endParaRPr lang="en-US" sz="1000" b="1" dirty="0">
                        <a:solidFill>
                          <a:schemeClr val="bg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1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p</a:t>
                      </a:r>
                      <a:endParaRPr lang="en-US" sz="1000" b="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>
                        <a:alpha val="2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err="1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SSReg</a:t>
                      </a:r>
                      <a:endParaRPr lang="en-US" sz="1000" b="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>
                        <a:alpha val="2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err="1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SSReg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 / </a:t>
                      </a:r>
                      <a:r>
                        <a:rPr lang="en-US" sz="1200" b="0" i="1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p</a:t>
                      </a:r>
                      <a:endParaRPr lang="en-US" sz="1000" b="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>
                        <a:alpha val="2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 err="1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MSSReg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 / MSE</a:t>
                      </a:r>
                      <a:endParaRPr lang="en-US" sz="1000" b="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>
                        <a:alpha val="2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593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Residual</a:t>
                      </a:r>
                      <a:endParaRPr lang="en-US" sz="1000" b="1" dirty="0">
                        <a:solidFill>
                          <a:schemeClr val="bg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1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n-p-</a:t>
                      </a: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1</a:t>
                      </a:r>
                      <a:endParaRPr lang="en-US" sz="1000" b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>
                        <a:alpha val="2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SSE</a:t>
                      </a:r>
                      <a:endParaRPr lang="en-US" sz="1000" b="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>
                        <a:alpha val="2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SSE / (</a:t>
                      </a:r>
                      <a:r>
                        <a:rPr lang="en-US" sz="1200" b="0" i="1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n-p-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1)</a:t>
                      </a:r>
                      <a:endParaRPr lang="en-US" sz="1000" b="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>
                        <a:alpha val="2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000" b="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>
                        <a:alpha val="2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896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Total</a:t>
                      </a:r>
                      <a:endParaRPr lang="en-US" sz="1000" b="1" dirty="0">
                        <a:solidFill>
                          <a:schemeClr val="bg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1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n-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1</a:t>
                      </a:r>
                      <a:endParaRPr lang="en-US" sz="1000" b="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>
                        <a:alpha val="2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SST</a:t>
                      </a:r>
                      <a:endParaRPr lang="en-US" sz="1000" b="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>
                        <a:alpha val="2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000" b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>
                        <a:alpha val="2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000" b="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>
                        <a:alpha val="2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51210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43109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3491" name="Rectangle 2"/>
              <p:cNvSpPr>
                <a:spLocks noChangeArrowheads="1"/>
              </p:cNvSpPr>
              <p:nvPr/>
            </p:nvSpPr>
            <p:spPr bwMode="auto">
              <a:xfrm>
                <a:off x="606217" y="2800350"/>
                <a:ext cx="8309184" cy="16827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EAAA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𝐒𝐒𝐑𝐞𝐠</m:t>
                    </m:r>
                    <m:d>
                      <m:dPr>
                        <m:ctrlPr>
                          <a:rPr lang="en-US" b="1" i="1">
                            <a:solidFill>
                              <a:srgbClr val="EAAA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EAAA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EAAA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EAAA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b="1" dirty="0">
                    <a:solidFill>
                      <a:srgbClr val="EAAA00"/>
                    </a:solidFill>
                    <a:latin typeface="Helvetica Neue" charset="0"/>
                    <a:ea typeface="Helvetica Neue" charset="0"/>
                    <a:cs typeface="Helvetica Neue" charset="0"/>
                    <a:sym typeface="Math1" pitchFamily="2" charset="2"/>
                  </a:rPr>
                  <a:t>: </a:t>
                </a:r>
                <a:r>
                  <a:rPr lang="en-US" altLang="en-US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Sum of squares (SS) explained using only </a:t>
                </a:r>
                <a:r>
                  <a:rPr lang="en-US" altLang="en-US" i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X</a:t>
                </a:r>
                <a:r>
                  <a:rPr lang="en-US" altLang="en-US" baseline="-25000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1</a:t>
                </a:r>
                <a:endParaRPr lang="en-US" altLang="en-US" dirty="0">
                  <a:solidFill>
                    <a:srgbClr val="000000"/>
                  </a:solidFill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  <a:sym typeface="Math1" pitchFamily="2" charset="2"/>
                </a:endParaRPr>
              </a:p>
              <a:p>
                <a:pPr eaLnBrk="1" hangingPunct="1"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EAAA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𝐒𝐒𝐑𝐞𝐠</m:t>
                    </m:r>
                    <m:d>
                      <m:dPr>
                        <m:ctrlPr>
                          <a:rPr lang="en-US" b="1" i="1">
                            <a:solidFill>
                              <a:srgbClr val="EAAA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EAAA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EAAA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solidFill>
                                      <a:srgbClr val="EAAA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b="1" i="1">
                                    <a:solidFill>
                                      <a:srgbClr val="EAAA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b="1" i="1">
                                <a:solidFill>
                                  <a:srgbClr val="EAAA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  <m:r>
                              <a:rPr lang="en-US" b="1" i="1">
                                <a:solidFill>
                                  <a:srgbClr val="EAAA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EAAA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b="1" dirty="0">
                    <a:solidFill>
                      <a:srgbClr val="EAAA00"/>
                    </a:solidFill>
                    <a:latin typeface="Helvetica Neue" charset="0"/>
                    <a:ea typeface="Helvetica Neue" charset="0"/>
                    <a:cs typeface="Helvetica Neue" charset="0"/>
                    <a:sym typeface="Math1" pitchFamily="2" charset="2"/>
                  </a:rPr>
                  <a:t>: </a:t>
                </a:r>
                <a:r>
                  <a:rPr lang="en-US" altLang="en-US" b="1" i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Extra</a:t>
                </a:r>
                <a:r>
                  <a:rPr lang="en-US" altLang="en-US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 SS explained using </a:t>
                </a:r>
                <a:r>
                  <a:rPr lang="en-US" altLang="en-US" i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X</a:t>
                </a:r>
                <a:r>
                  <a:rPr lang="en-US" altLang="en-US" baseline="-25000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2</a:t>
                </a:r>
                <a:r>
                  <a:rPr lang="en-US" altLang="en-US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 in addition to </a:t>
                </a:r>
                <a:r>
                  <a:rPr lang="en-US" altLang="en-US" i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X</a:t>
                </a:r>
                <a:r>
                  <a:rPr lang="en-US" altLang="en-US" baseline="-25000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1</a:t>
                </a:r>
                <a:endParaRPr lang="en-US" altLang="en-US" dirty="0">
                  <a:solidFill>
                    <a:srgbClr val="000000"/>
                  </a:solidFill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  <a:sym typeface="Math1" pitchFamily="2" charset="2"/>
                </a:endParaRPr>
              </a:p>
              <a:p>
                <a:pPr eaLnBrk="1" hangingPunct="1"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EAAA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𝐒𝐒𝐑𝐞𝐠</m:t>
                    </m:r>
                    <m:d>
                      <m:dPr>
                        <m:ctrlPr>
                          <a:rPr lang="en-US" b="1" i="1">
                            <a:solidFill>
                              <a:srgbClr val="EAAA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EAAA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EAAA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solidFill>
                                      <a:srgbClr val="EAAA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b="1" i="1">
                                    <a:solidFill>
                                      <a:srgbClr val="EAAA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b="1" i="1">
                                <a:solidFill>
                                  <a:srgbClr val="EAAA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  <m:r>
                              <a:rPr lang="en-US" b="1" i="1">
                                <a:solidFill>
                                  <a:srgbClr val="EAAA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EAAA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>
                            <a:solidFill>
                              <a:srgbClr val="EAAA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EAAA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EAAA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EAAA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b="1" dirty="0">
                    <a:solidFill>
                      <a:srgbClr val="EAAA00"/>
                    </a:solidFill>
                    <a:latin typeface="Helvetica Neue" charset="0"/>
                    <a:ea typeface="Helvetica Neue" charset="0"/>
                    <a:cs typeface="Helvetica Neue" charset="0"/>
                    <a:sym typeface="Math1" pitchFamily="2" charset="2"/>
                  </a:rPr>
                  <a:t>: </a:t>
                </a:r>
                <a:r>
                  <a:rPr lang="en-US" altLang="en-US" b="1" i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Extra</a:t>
                </a:r>
                <a:r>
                  <a:rPr lang="en-US" altLang="en-US" b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 </a:t>
                </a:r>
                <a:r>
                  <a:rPr lang="en-US" altLang="en-US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SS</a:t>
                </a:r>
                <a:r>
                  <a:rPr lang="en-US" altLang="en-US" b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 </a:t>
                </a:r>
                <a:r>
                  <a:rPr lang="en-US" altLang="en-US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explained using </a:t>
                </a:r>
                <a:r>
                  <a:rPr lang="en-US" altLang="en-US" i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X</a:t>
                </a:r>
                <a:r>
                  <a:rPr lang="en-US" altLang="en-US" baseline="-25000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3</a:t>
                </a:r>
                <a:r>
                  <a:rPr lang="en-US" altLang="en-US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 in addition to </a:t>
                </a:r>
                <a:r>
                  <a:rPr lang="en-US" altLang="en-US" i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X</a:t>
                </a:r>
                <a:r>
                  <a:rPr lang="en-US" altLang="en-US" baseline="-25000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1 </a:t>
                </a:r>
                <a:r>
                  <a:rPr lang="en-US" altLang="en-US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and </a:t>
                </a:r>
                <a:r>
                  <a:rPr lang="en-US" altLang="en-US" i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X</a:t>
                </a:r>
                <a:r>
                  <a:rPr lang="en-US" altLang="en-US" baseline="-25000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2</a:t>
                </a:r>
                <a:endParaRPr lang="en-US" altLang="en-US" dirty="0">
                  <a:solidFill>
                    <a:srgbClr val="000000"/>
                  </a:solidFill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  <a:sym typeface="Math1" pitchFamily="2" charset="2"/>
                </a:endParaRPr>
              </a:p>
              <a:p>
                <a:pPr eaLnBrk="1" hangingPunct="1"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EAAA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𝐒𝐒𝐑𝐞𝐠</m:t>
                    </m:r>
                    <m:d>
                      <m:dPr>
                        <m:ctrlPr>
                          <a:rPr lang="en-US" b="1" i="1">
                            <a:solidFill>
                              <a:srgbClr val="EAAA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EAAA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EAAA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EAAA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sub>
                        </m:sSub>
                        <m:r>
                          <a:rPr lang="en-US" b="1" i="1">
                            <a:solidFill>
                              <a:srgbClr val="EAAA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EAAA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EAAA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EAAA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>
                            <a:solidFill>
                              <a:srgbClr val="EAAA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EAAA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EAAA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EAAA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  <m:r>
                              <a:rPr lang="en-US" b="1" i="1">
                                <a:solidFill>
                                  <a:srgbClr val="EAAA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solidFill>
                                  <a:srgbClr val="EAAA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b="1" dirty="0">
                    <a:solidFill>
                      <a:srgbClr val="EAAA00"/>
                    </a:solidFill>
                    <a:latin typeface="Helvetica Neue" charset="0"/>
                    <a:ea typeface="Helvetica Neue" charset="0"/>
                    <a:cs typeface="Helvetica Neue" charset="0"/>
                    <a:sym typeface="Math1" pitchFamily="2" charset="2"/>
                  </a:rPr>
                  <a:t>: </a:t>
                </a:r>
                <a:r>
                  <a:rPr lang="en-US" altLang="en-US" b="1" i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Extra</a:t>
                </a:r>
                <a:r>
                  <a:rPr lang="en-US" altLang="en-US" b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 </a:t>
                </a:r>
                <a:r>
                  <a:rPr lang="en-US" altLang="en-US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SS</a:t>
                </a:r>
                <a:r>
                  <a:rPr lang="en-US" altLang="en-US" b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 </a:t>
                </a:r>
                <a:r>
                  <a:rPr lang="en-US" altLang="en-US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explained using </a:t>
                </a:r>
                <a:r>
                  <a:rPr lang="en-US" altLang="en-US" i="1" dirty="0" err="1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X</a:t>
                </a:r>
                <a:r>
                  <a:rPr lang="en-US" altLang="en-US" i="1" baseline="-25000" dirty="0" err="1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p</a:t>
                </a:r>
                <a:r>
                  <a:rPr lang="en-US" altLang="en-US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 in addition to </a:t>
                </a:r>
                <a:r>
                  <a:rPr lang="en-US" altLang="en-US" i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X</a:t>
                </a:r>
                <a:r>
                  <a:rPr lang="en-US" altLang="en-US" baseline="-25000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1 </a:t>
                </a:r>
                <a:r>
                  <a:rPr lang="en-US" altLang="en-US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, </a:t>
                </a:r>
                <a:r>
                  <a:rPr lang="en-US" altLang="en-US" i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X</a:t>
                </a:r>
                <a:r>
                  <a:rPr lang="en-US" altLang="en-US" baseline="-25000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2 </a:t>
                </a:r>
                <a:r>
                  <a:rPr lang="en-US" altLang="en-US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… </a:t>
                </a:r>
                <a:r>
                  <a:rPr lang="en-US" altLang="en-US" i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X</a:t>
                </a:r>
                <a:r>
                  <a:rPr lang="en-US" altLang="en-US" i="1" baseline="-25000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p-</a:t>
                </a:r>
                <a:r>
                  <a:rPr lang="en-US" altLang="en-US" baseline="-25000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pitchFamily="2" charset="2"/>
                  </a:rPr>
                  <a:t>1</a:t>
                </a:r>
                <a:endParaRPr lang="en-US" altLang="en-US" dirty="0">
                  <a:solidFill>
                    <a:srgbClr val="000000"/>
                  </a:solidFill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  <a:sym typeface="Math1" pitchFamily="2" charset="2"/>
                </a:endParaRPr>
              </a:p>
            </p:txBody>
          </p:sp>
        </mc:Choice>
        <mc:Fallback xmlns="">
          <p:sp>
            <p:nvSpPr>
              <p:cNvPr id="63491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6217" y="2800350"/>
                <a:ext cx="8309184" cy="1682768"/>
              </a:xfrm>
              <a:prstGeom prst="rect">
                <a:avLst/>
              </a:prstGeom>
              <a:blipFill>
                <a:blip r:embed="rId3"/>
                <a:stretch>
                  <a:fillRect l="-1246" t="-1812" b="-32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3350" y="177800"/>
            <a:ext cx="8562392" cy="667839"/>
          </a:xfrm>
        </p:spPr>
        <p:txBody>
          <a:bodyPr/>
          <a:lstStyle/>
          <a:p>
            <a:r>
              <a:rPr lang="en-US" altLang="en-US" sz="3600" dirty="0">
                <a:latin typeface="Vitesse"/>
                <a:ea typeface="Vitesse" charset="0"/>
                <a:cs typeface="Vitesse" charset="0"/>
              </a:rPr>
              <a:t>Testing Subsets of Coefficients</a:t>
            </a:r>
            <a:endParaRPr lang="en-US" sz="3600" dirty="0">
              <a:latin typeface="Vitesse"/>
              <a:ea typeface="Vitesse" charset="0"/>
              <a:cs typeface="Vitesse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AC0F365-439C-4F43-8BCD-59AA7A9245A8}"/>
                  </a:ext>
                </a:extLst>
              </p:cNvPr>
              <p:cNvSpPr/>
              <p:nvPr/>
            </p:nvSpPr>
            <p:spPr>
              <a:xfrm>
                <a:off x="590550" y="2038350"/>
                <a:ext cx="7943850" cy="666849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0" marR="0">
                  <a:lnSpc>
                    <a:spcPts val="18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SSReg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SSReg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SSReg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</m:oMath>
                  </m:oMathPara>
                </a14:m>
                <a:endParaRPr lang="en-US" sz="1800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ts val="18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                                           </m:t>
                      </m:r>
                      <m:r>
                        <m:rPr>
                          <m:sty m:val="p"/>
                        </m:rPr>
                        <a:rPr lang="en-US" sz="18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SSReg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+⋯+</m:t>
                      </m:r>
                      <m:r>
                        <m:rPr>
                          <m:sty m:val="p"/>
                        </m:rPr>
                        <a:rPr lang="en-US" sz="18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SSReg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1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AC0F365-439C-4F43-8BCD-59AA7A9245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50" y="2038350"/>
                <a:ext cx="7943850" cy="666849"/>
              </a:xfrm>
              <a:prstGeom prst="rect">
                <a:avLst/>
              </a:prstGeom>
              <a:blipFill>
                <a:blip r:embed="rId4"/>
                <a:stretch>
                  <a:fillRect l="-1381" t="-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12E0E31A-04B6-4041-AFC0-66B63F086C8D}"/>
              </a:ext>
            </a:extLst>
          </p:cNvPr>
          <p:cNvSpPr/>
          <p:nvPr/>
        </p:nvSpPr>
        <p:spPr>
          <a:xfrm>
            <a:off x="244168" y="1009650"/>
            <a:ext cx="3419782" cy="369332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pitchFamily="2" charset="2"/>
              </a:rPr>
              <a:t>Analysis of Variance (ANOVA):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D70A801-97D4-4BDB-B8E0-483E684B28C0}"/>
                  </a:ext>
                </a:extLst>
              </p:cNvPr>
              <p:cNvSpPr/>
              <p:nvPr/>
            </p:nvSpPr>
            <p:spPr>
              <a:xfrm>
                <a:off x="609600" y="1508647"/>
                <a:ext cx="5257800" cy="318164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SST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SSReg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SSE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D70A801-97D4-4BDB-B8E0-483E684B28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508647"/>
                <a:ext cx="5257800" cy="318164"/>
              </a:xfrm>
              <a:prstGeom prst="rect">
                <a:avLst/>
              </a:prstGeom>
              <a:blipFill>
                <a:blip r:embed="rId5"/>
                <a:stretch>
                  <a:fillRect l="-1506" b="-22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593776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ChangeArrowheads="1"/>
          </p:cNvSpPr>
          <p:nvPr/>
        </p:nvSpPr>
        <p:spPr bwMode="auto">
          <a:xfrm>
            <a:off x="131136" y="1007385"/>
            <a:ext cx="8202957" cy="3508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396875" indent="-396875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pitchFamily="2" charset="2"/>
              </a:rPr>
              <a:t>Does </a:t>
            </a:r>
            <a:r>
              <a:rPr lang="en-US" altLang="en-US" i="1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1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pitchFamily="2" charset="2"/>
              </a:rPr>
              <a:t>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pitchFamily="2" charset="2"/>
              </a:rPr>
              <a:t>alone significantly aid in predicting 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Y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pitchFamily="2" charset="2"/>
              </a:rPr>
              <a:t>?</a:t>
            </a:r>
          </a:p>
          <a:p>
            <a:pPr marL="687388" lvl="1">
              <a:buFont typeface="Arial" panose="020B0604020202020204" pitchFamily="34" charset="0"/>
              <a:buChar char="•"/>
            </a:pPr>
            <a:r>
              <a:rPr lang="en-US" altLang="en-US" sz="1600" b="1" dirty="0" err="1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SSReg</a:t>
            </a:r>
            <a:r>
              <a:rPr lang="en-US" altLang="en-US" sz="1600" b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(</a:t>
            </a:r>
            <a:r>
              <a:rPr lang="en-US" altLang="en-US" sz="1600" b="1" i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sz="1600" b="1" baseline="-25000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1</a:t>
            </a:r>
            <a:r>
              <a:rPr lang="en-US" altLang="en-US" sz="1600" b="1" dirty="0">
                <a:solidFill>
                  <a:srgbClr val="EAAA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pitchFamily="2" charset="2"/>
              </a:rPr>
              <a:t>) vs. </a:t>
            </a:r>
            <a:r>
              <a:rPr lang="en-US" altLang="en-US" sz="1600" b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SSE(</a:t>
            </a:r>
            <a:r>
              <a:rPr lang="en-US" altLang="en-US" sz="1600" b="1" i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sz="1600" b="1" baseline="-25000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1</a:t>
            </a:r>
            <a:r>
              <a:rPr lang="en-US" altLang="en-US" sz="1600" b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)</a:t>
            </a:r>
          </a:p>
          <a:p>
            <a:pPr marL="687388" lvl="1">
              <a:buFont typeface="Arial" panose="020B0604020202020204" pitchFamily="34" charset="0"/>
              <a:buChar char="•"/>
            </a:pPr>
            <a:endParaRPr lang="en-US" altLang="en-US" sz="800" b="1" dirty="0">
              <a:solidFill>
                <a:schemeClr val="accent1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  <a:sym typeface="Math1" pitchFamily="2" charset="2"/>
            </a:endParaRPr>
          </a:p>
          <a:p>
            <a:pPr marL="396875" indent="-396875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pitchFamily="2" charset="2"/>
              </a:rPr>
              <a:t>Does the addition of </a:t>
            </a:r>
            <a:r>
              <a:rPr lang="en-US" altLang="en-US" i="1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2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pitchFamily="2" charset="2"/>
              </a:rPr>
              <a:t>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pitchFamily="2" charset="2"/>
              </a:rPr>
              <a:t>significantly contribute to the prediction of </a:t>
            </a:r>
            <a:r>
              <a:rPr lang="en-US" altLang="en-US" i="1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Y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pitchFamily="2" charset="2"/>
              </a:rPr>
              <a:t> after accounting (controlling) for the contribution of </a:t>
            </a:r>
            <a:r>
              <a:rPr lang="en-US" altLang="en-US" i="1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1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pitchFamily="2" charset="2"/>
              </a:rPr>
              <a:t>?</a:t>
            </a:r>
          </a:p>
          <a:p>
            <a:pPr marL="687388" lvl="1">
              <a:buFont typeface="Arial" panose="020B0604020202020204" pitchFamily="34" charset="0"/>
              <a:buChar char="•"/>
            </a:pPr>
            <a:r>
              <a:rPr lang="en-US" altLang="en-US" sz="1600" b="1" dirty="0" err="1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SSReg</a:t>
            </a:r>
            <a:r>
              <a:rPr lang="en-US" altLang="en-US" sz="1600" b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(</a:t>
            </a:r>
            <a:r>
              <a:rPr lang="en-US" altLang="en-US" sz="1600" b="1" i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sz="1600" b="1" baseline="-25000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2</a:t>
            </a:r>
            <a:r>
              <a:rPr lang="en-US" altLang="en-US" sz="1600" b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 | </a:t>
            </a:r>
            <a:r>
              <a:rPr lang="en-US" altLang="en-US" sz="1600" b="1" i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sz="1600" b="1" baseline="-25000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1</a:t>
            </a:r>
            <a:r>
              <a:rPr lang="en-US" altLang="en-US" sz="1600" b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) </a:t>
            </a:r>
            <a:r>
              <a:rPr lang="en-US" altLang="en-US" sz="1600" b="1" dirty="0">
                <a:solidFill>
                  <a:srgbClr val="EAAA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pitchFamily="2" charset="2"/>
              </a:rPr>
              <a:t>vs. </a:t>
            </a:r>
            <a:r>
              <a:rPr lang="en-US" altLang="en-US" sz="1600" b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SSE(</a:t>
            </a:r>
            <a:r>
              <a:rPr lang="en-US" altLang="en-US" sz="1600" b="1" i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sz="1600" b="1" baseline="-25000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1</a:t>
            </a:r>
            <a:r>
              <a:rPr lang="en-US" altLang="en-US" sz="1600" b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, </a:t>
            </a:r>
            <a:r>
              <a:rPr lang="en-US" altLang="en-US" sz="1600" b="1" i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sz="1600" b="1" baseline="-25000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2</a:t>
            </a:r>
            <a:r>
              <a:rPr lang="en-US" altLang="en-US" sz="1600" b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)</a:t>
            </a:r>
          </a:p>
          <a:p>
            <a:pPr marL="687388" lvl="1">
              <a:buFont typeface="Arial" panose="020B0604020202020204" pitchFamily="34" charset="0"/>
              <a:buChar char="•"/>
            </a:pPr>
            <a:endParaRPr lang="en-US" altLang="en-US" sz="800" dirty="0">
              <a:solidFill>
                <a:schemeClr val="accent1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  <a:sym typeface="Math1" pitchFamily="2" charset="2"/>
            </a:endParaRPr>
          </a:p>
          <a:p>
            <a:pPr marL="396875" indent="-396875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pitchFamily="2" charset="2"/>
              </a:rPr>
              <a:t>Does the addition of </a:t>
            </a:r>
            <a:r>
              <a:rPr lang="en-US" altLang="en-US" i="1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3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pitchFamily="2" charset="2"/>
              </a:rPr>
              <a:t>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pitchFamily="2" charset="2"/>
              </a:rPr>
              <a:t>significantly contribute to the prediction of </a:t>
            </a:r>
            <a:r>
              <a:rPr lang="en-US" altLang="en-US" i="1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Y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pitchFamily="2" charset="2"/>
              </a:rPr>
              <a:t> after accounting (controlling) for the contribution of </a:t>
            </a:r>
            <a:r>
              <a:rPr lang="en-US" altLang="en-US" i="1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1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pitchFamily="2" charset="2"/>
              </a:rPr>
              <a:t>and </a:t>
            </a:r>
            <a:r>
              <a:rPr lang="en-US" altLang="en-US" i="1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2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pitchFamily="2" charset="2"/>
              </a:rPr>
              <a:t>?</a:t>
            </a:r>
          </a:p>
          <a:p>
            <a:pPr marL="687388" lvl="1">
              <a:buFont typeface="Arial" panose="020B0604020202020204" pitchFamily="34" charset="0"/>
              <a:buChar char="•"/>
            </a:pPr>
            <a:r>
              <a:rPr lang="en-US" altLang="en-US" sz="1600" b="1" dirty="0" err="1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SSReg</a:t>
            </a:r>
            <a:r>
              <a:rPr lang="en-US" altLang="en-US" sz="1600" b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(</a:t>
            </a:r>
            <a:r>
              <a:rPr lang="en-US" altLang="en-US" sz="1600" b="1" i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sz="1600" b="1" baseline="-25000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3</a:t>
            </a:r>
            <a:r>
              <a:rPr lang="en-US" altLang="en-US" sz="1600" b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 | </a:t>
            </a:r>
            <a:r>
              <a:rPr lang="en-US" altLang="en-US" sz="1600" b="1" i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sz="1600" b="1" baseline="-25000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1</a:t>
            </a:r>
            <a:r>
              <a:rPr lang="en-US" altLang="en-US" sz="1600" b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, </a:t>
            </a:r>
            <a:r>
              <a:rPr lang="en-US" altLang="en-US" sz="1600" b="1" i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sz="1600" b="1" baseline="-25000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2</a:t>
            </a:r>
            <a:r>
              <a:rPr lang="en-US" altLang="en-US" sz="1600" b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) </a:t>
            </a:r>
            <a:r>
              <a:rPr lang="en-US" altLang="en-US" sz="1600" b="1" dirty="0">
                <a:solidFill>
                  <a:srgbClr val="EAAA00"/>
                </a:solidFill>
                <a:latin typeface="Helvetica" panose="020B0604020202020204" pitchFamily="34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vs</a:t>
            </a:r>
            <a:r>
              <a:rPr lang="en-US" altLang="en-US" sz="1600" b="1" dirty="0">
                <a:solidFill>
                  <a:srgbClr val="EAAA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pitchFamily="2" charset="2"/>
              </a:rPr>
              <a:t>. </a:t>
            </a:r>
            <a:r>
              <a:rPr lang="en-US" altLang="en-US" sz="1600" b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SSE(</a:t>
            </a:r>
            <a:r>
              <a:rPr lang="en-US" altLang="en-US" sz="1600" b="1" i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sz="1600" b="1" baseline="-25000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1</a:t>
            </a:r>
            <a:r>
              <a:rPr lang="en-US" altLang="en-US" sz="1600" b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, </a:t>
            </a:r>
            <a:r>
              <a:rPr lang="en-US" altLang="en-US" sz="1600" b="1" i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sz="1600" b="1" baseline="-25000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2</a:t>
            </a:r>
            <a:r>
              <a:rPr lang="en-US" altLang="en-US" sz="1600" b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, </a:t>
            </a:r>
            <a:r>
              <a:rPr lang="en-US" altLang="en-US" sz="1600" b="1" i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sz="1600" b="1" baseline="-25000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3</a:t>
            </a:r>
            <a:r>
              <a:rPr lang="en-US" altLang="en-US" sz="1600" b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)</a:t>
            </a:r>
          </a:p>
          <a:p>
            <a:pPr marL="687388" lvl="1">
              <a:buFont typeface="Arial" panose="020B0604020202020204" pitchFamily="34" charset="0"/>
              <a:buChar char="•"/>
            </a:pPr>
            <a:endParaRPr lang="en-US" altLang="en-US" sz="800" dirty="0">
              <a:solidFill>
                <a:schemeClr val="accent1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  <a:sym typeface="Math1" pitchFamily="2" charset="2"/>
            </a:endParaRPr>
          </a:p>
          <a:p>
            <a:pPr marL="396875" indent="-396875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pitchFamily="2" charset="2"/>
              </a:rPr>
              <a:t>Does the addition of </a:t>
            </a:r>
            <a:r>
              <a:rPr lang="en-US" altLang="en-US" i="1" dirty="0" err="1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i="1" baseline="-25000" dirty="0" err="1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p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pitchFamily="2" charset="2"/>
              </a:rPr>
              <a:t>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pitchFamily="2" charset="2"/>
              </a:rPr>
              <a:t>significantly contribute to the prediction of </a:t>
            </a:r>
            <a:r>
              <a:rPr lang="en-US" altLang="en-US" i="1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Y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pitchFamily="2" charset="2"/>
              </a:rPr>
              <a:t> after accounting (controlling) for the contribution of </a:t>
            </a:r>
            <a:r>
              <a:rPr lang="en-US" altLang="en-US" i="1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1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,…, </a:t>
            </a:r>
            <a:r>
              <a:rPr lang="en-US" altLang="en-US" i="1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p-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1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pitchFamily="2" charset="2"/>
              </a:rPr>
              <a:t>?</a:t>
            </a:r>
          </a:p>
          <a:p>
            <a:pPr marL="687388" lvl="1">
              <a:buFont typeface="Arial" panose="020B0604020202020204" pitchFamily="34" charset="0"/>
              <a:buChar char="•"/>
            </a:pPr>
            <a:r>
              <a:rPr lang="en-US" altLang="en-US" sz="1600" b="1" dirty="0" err="1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SSReg</a:t>
            </a:r>
            <a:r>
              <a:rPr lang="en-US" altLang="en-US" sz="1600" b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(</a:t>
            </a:r>
            <a:r>
              <a:rPr lang="en-US" altLang="en-US" sz="1600" b="1" i="1" dirty="0" err="1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sz="1600" b="1" i="1" baseline="-25000" dirty="0" err="1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p</a:t>
            </a:r>
            <a:r>
              <a:rPr lang="en-US" altLang="en-US" sz="1600" b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 | </a:t>
            </a:r>
            <a:r>
              <a:rPr lang="en-US" altLang="en-US" sz="1600" b="1" i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sz="1600" b="1" baseline="-25000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1</a:t>
            </a:r>
            <a:r>
              <a:rPr lang="en-US" altLang="en-US" sz="1600" b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, …, </a:t>
            </a:r>
            <a:r>
              <a:rPr lang="en-US" altLang="en-US" sz="1600" b="1" i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sz="1600" b="1" i="1" baseline="-25000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p-</a:t>
            </a:r>
            <a:r>
              <a:rPr lang="en-US" altLang="en-US" sz="1600" b="1" baseline="-25000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1</a:t>
            </a:r>
            <a:r>
              <a:rPr lang="en-US" altLang="en-US" sz="1600" b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) </a:t>
            </a:r>
            <a:r>
              <a:rPr lang="en-US" altLang="en-US" sz="1600" b="1" dirty="0">
                <a:solidFill>
                  <a:srgbClr val="EAAA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pitchFamily="2" charset="2"/>
              </a:rPr>
              <a:t>vs. </a:t>
            </a:r>
            <a:r>
              <a:rPr lang="en-US" altLang="en-US" sz="1600" b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SSE(</a:t>
            </a:r>
            <a:r>
              <a:rPr lang="en-US" altLang="en-US" sz="1600" b="1" i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sz="1600" b="1" baseline="-25000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1</a:t>
            </a:r>
            <a:r>
              <a:rPr lang="en-US" altLang="en-US" sz="1600" b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, </a:t>
            </a:r>
            <a:r>
              <a:rPr lang="en-US" altLang="en-US" sz="1600" b="1" i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sz="1600" b="1" baseline="-25000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2</a:t>
            </a:r>
            <a:r>
              <a:rPr lang="en-US" altLang="en-US" sz="1600" b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, …, </a:t>
            </a:r>
            <a:r>
              <a:rPr lang="en-US" altLang="en-US" sz="1600" b="1" i="1" dirty="0" err="1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X</a:t>
            </a:r>
            <a:r>
              <a:rPr lang="en-US" altLang="en-US" sz="1600" b="1" i="1" baseline="-25000" dirty="0" err="1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p</a:t>
            </a:r>
            <a:r>
              <a:rPr lang="en-US" altLang="en-US" sz="1600" b="1" dirty="0">
                <a:solidFill>
                  <a:srgbClr val="EAAA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  <a:sym typeface="Math1" pitchFamily="2" charset="2"/>
              </a:rPr>
              <a:t>)</a:t>
            </a:r>
          </a:p>
        </p:txBody>
      </p:sp>
      <p:sp>
        <p:nvSpPr>
          <p:cNvPr id="5" name="Title 2"/>
          <p:cNvSpPr txBox="1">
            <a:spLocks/>
          </p:cNvSpPr>
          <p:nvPr/>
        </p:nvSpPr>
        <p:spPr>
          <a:xfrm>
            <a:off x="133350" y="177800"/>
            <a:ext cx="8562392" cy="66783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en-US" sz="3600" dirty="0">
                <a:latin typeface="Vitesse"/>
                <a:ea typeface="Vitesse" charset="0"/>
                <a:cs typeface="Vitesse" charset="0"/>
              </a:rPr>
              <a:t>Testing Subsets of Coefficients</a:t>
            </a:r>
            <a:endParaRPr lang="en-US" sz="3600" dirty="0">
              <a:latin typeface="Vitesse"/>
              <a:ea typeface="Vitesse" charset="0"/>
              <a:cs typeface="Vitesse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208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52400" y="1355720"/>
                <a:ext cx="8543342" cy="17449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39725" indent="-339725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Consider a full model with two sets of predictors,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X</a:t>
                </a:r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1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…, </a:t>
                </a:r>
                <a:r>
                  <a:rPr lang="en-US" i="1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X</a:t>
                </a:r>
                <a:r>
                  <a:rPr lang="en-US" i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p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(perhaps controlling factors) and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(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Z</a:t>
                </a:r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1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…, </a:t>
                </a:r>
                <a:r>
                  <a:rPr lang="en-US" i="1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Z</a:t>
                </a:r>
                <a:r>
                  <a:rPr lang="en-US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q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(perhaps additional explanatory factors):</a:t>
                </a:r>
              </a:p>
              <a:p>
                <a:endParaRPr lang="en-US" sz="800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pPr marL="744538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  <a:p>
                <a:endParaRPr lang="en-US" sz="600" dirty="0"/>
              </a:p>
              <a:p>
                <a:pPr marL="339725" indent="-339725">
                  <a:lnSpc>
                    <a:spcPts val="18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Test whether any of the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Z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factors add explanatory power to the model:</a:t>
                </a:r>
              </a:p>
              <a:p>
                <a:endParaRPr lang="en-US" sz="800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pPr marL="744538">
                  <a:lnSpc>
                    <a:spcPts val="1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=⋯=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    vs.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𝐚</m:t>
                        </m:r>
                      </m:sub>
                    </m:sSub>
                    <m:r>
                      <a:rPr lang="en-US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for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at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least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one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q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355720"/>
                <a:ext cx="8543342" cy="1744965"/>
              </a:xfrm>
              <a:prstGeom prst="rect">
                <a:avLst/>
              </a:prstGeom>
              <a:blipFill>
                <a:blip r:embed="rId3"/>
                <a:stretch>
                  <a:fillRect l="-428" t="-1742" r="-999" b="-4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19EB7B1-8A8F-4A24-9E16-280CA69CA151}"/>
              </a:ext>
            </a:extLst>
          </p:cNvPr>
          <p:cNvSpPr/>
          <p:nvPr/>
        </p:nvSpPr>
        <p:spPr>
          <a:xfrm>
            <a:off x="126843" y="917279"/>
            <a:ext cx="1659429" cy="4565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Partial F-test:</a:t>
            </a:r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2149E1A-4378-439E-9658-05C72C85D7FF}"/>
                  </a:ext>
                </a:extLst>
              </p:cNvPr>
              <p:cNvSpPr/>
              <p:nvPr/>
            </p:nvSpPr>
            <p:spPr>
              <a:xfrm>
                <a:off x="152400" y="4134475"/>
                <a:ext cx="8126679" cy="6924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39725" indent="-339725"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Reject</a:t>
                </a:r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if F-statistic is large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(F-statistic &gt; F</a:t>
                </a:r>
                <a:r>
                  <a:rPr lang="el-GR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α</a:t>
                </a:r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</a:t>
                </a:r>
                <a:r>
                  <a:rPr lang="en-US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q, n-p-q-</a:t>
                </a:r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1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</a:t>
                </a:r>
              </a:p>
              <a:p>
                <a:pPr marL="742950" lvl="1" indent="-403225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At least one coefficient is different from zero at the </a:t>
                </a:r>
                <a:r>
                  <a:rPr lang="el-GR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α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significance level</a:t>
                </a: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2149E1A-4378-439E-9658-05C72C85D7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4134475"/>
                <a:ext cx="8126679" cy="692497"/>
              </a:xfrm>
              <a:prstGeom prst="rect">
                <a:avLst/>
              </a:prstGeom>
              <a:blipFill>
                <a:blip r:embed="rId4"/>
                <a:stretch>
                  <a:fillRect l="-450" t="-5263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5E42FC8-B963-4DC2-8388-A859E0942B7D}"/>
                  </a:ext>
                </a:extLst>
              </p:cNvPr>
              <p:cNvSpPr/>
              <p:nvPr/>
            </p:nvSpPr>
            <p:spPr>
              <a:xfrm>
                <a:off x="903761" y="3293517"/>
                <a:ext cx="6905848" cy="7260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statistic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𝑝𝑎𝑟𝑡𝑖𝑎𝑙</m:t>
                          </m:r>
                          <m:r>
                            <a:rPr lang="en-US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SSReg</m:t>
                          </m:r>
                          <m:r>
                            <a:rPr lang="en-US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q</m:t>
                          </m:r>
                        </m:num>
                        <m:den>
                          <m:d>
                            <m:dPr>
                              <m:begChr m:val="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SSE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,…</m:t>
                              </m:r>
                              <m:r>
                                <m:rPr>
                                  <m:nor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,…</m:t>
                              </m:r>
                              <m:r>
                                <m:rPr>
                                  <m:nor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f>
                                <m:fPr>
                                  <m:type m:val="li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5E42FC8-B963-4DC2-8388-A859E0942B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61" y="3293517"/>
                <a:ext cx="6905848" cy="7260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2"/>
          <p:cNvSpPr txBox="1">
            <a:spLocks/>
          </p:cNvSpPr>
          <p:nvPr/>
        </p:nvSpPr>
        <p:spPr>
          <a:xfrm>
            <a:off x="133350" y="177800"/>
            <a:ext cx="8562392" cy="66783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en-US" sz="3600" dirty="0">
                <a:latin typeface="Vitesse"/>
                <a:ea typeface="Vitesse" charset="0"/>
                <a:cs typeface="Vitesse" charset="0"/>
              </a:rPr>
              <a:t>Testing Subsets of Coefficients</a:t>
            </a:r>
            <a:endParaRPr lang="en-US" sz="3600" dirty="0">
              <a:latin typeface="Vitesse"/>
              <a:ea typeface="Vitesse" charset="0"/>
              <a:cs typeface="Vitesse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5596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40884" y="1019398"/>
                <a:ext cx="5345516" cy="16040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96875" indent="-396875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Consider a full model with the set of predictors, </a:t>
                </a:r>
                <a:r>
                  <a:rPr lang="en-US" sz="16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X</a:t>
                </a:r>
                <a:r>
                  <a:rPr lang="en-US" sz="16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1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…, </a:t>
                </a:r>
                <a:r>
                  <a:rPr lang="en-US" sz="1600" i="1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X</a:t>
                </a:r>
                <a:r>
                  <a:rPr lang="en-US" sz="1600" i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p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and an additional predicting variable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Z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</a:t>
                </a:r>
              </a:p>
              <a:p>
                <a:endParaRPr lang="en-US" sz="7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744538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5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96875" indent="-396875">
                  <a:lnSpc>
                    <a:spcPts val="18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Test whether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Z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has explanatory or predictive power:</a:t>
                </a:r>
              </a:p>
              <a:p>
                <a:endParaRPr lang="en-US" sz="7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744538">
                  <a:lnSpc>
                    <a:spcPts val="1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6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𝐚</m:t>
                        </m:r>
                      </m:sub>
                    </m:sSub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 </m:t>
                    </m:r>
                  </m:oMath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84" y="1019398"/>
                <a:ext cx="5345516" cy="1604029"/>
              </a:xfrm>
              <a:prstGeom prst="rect">
                <a:avLst/>
              </a:prstGeom>
              <a:blipFill>
                <a:blip r:embed="rId3"/>
                <a:stretch>
                  <a:fillRect l="-456" t="-1141" b="-3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1853" y="175879"/>
            <a:ext cx="8562392" cy="643272"/>
          </a:xfrm>
        </p:spPr>
        <p:txBody>
          <a:bodyPr/>
          <a:lstStyle/>
          <a:p>
            <a:pPr eaLnBrk="0" fontAlgn="base" hangingPunct="0">
              <a:spcAft>
                <a:spcPct val="0"/>
              </a:spcAft>
            </a:pPr>
            <a:r>
              <a:rPr lang="en-US" altLang="en-US" sz="3600" dirty="0">
                <a:latin typeface="Vitesse"/>
                <a:ea typeface="Vitesse" charset="0"/>
                <a:cs typeface="Vitesse" charset="0"/>
              </a:rPr>
              <a:t>Testing for Statistical Significance</a:t>
            </a:r>
            <a:endParaRPr lang="en-US" sz="3600" dirty="0">
              <a:latin typeface="Vitesse"/>
              <a:ea typeface="Vitesse" charset="0"/>
              <a:cs typeface="Vitesse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2149E1A-4378-439E-9658-05C72C85D7FF}"/>
                  </a:ext>
                </a:extLst>
              </p:cNvPr>
              <p:cNvSpPr/>
              <p:nvPr/>
            </p:nvSpPr>
            <p:spPr>
              <a:xfrm>
                <a:off x="145313" y="3714750"/>
                <a:ext cx="5341088" cy="9387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96875" indent="-396875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Reject</a:t>
                </a:r>
                <a:r>
                  <a:rPr lang="en-US" altLang="en-US" sz="1600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if F-statistic is large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(F-statistic &gt; F</a:t>
                </a:r>
                <a:r>
                  <a:rPr lang="el-GR" sz="16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α</a:t>
                </a:r>
                <a:r>
                  <a:rPr lang="en-US" sz="16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</a:t>
                </a:r>
                <a:r>
                  <a:rPr lang="en-US" sz="16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1, n-p-2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</a:t>
                </a:r>
              </a:p>
              <a:p>
                <a:pPr marL="396875" indent="-396875">
                  <a:buFont typeface="Arial" panose="020B0604020202020204" pitchFamily="34" charset="0"/>
                  <a:buChar char="•"/>
                </a:pPr>
                <a:endParaRPr lang="en-US" sz="700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This is equivalent to testing for statistical significance using the t-test</a:t>
                </a: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2149E1A-4378-439E-9658-05C72C85D7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313" y="3714750"/>
                <a:ext cx="5341088" cy="938719"/>
              </a:xfrm>
              <a:prstGeom prst="rect">
                <a:avLst/>
              </a:prstGeom>
              <a:blipFill>
                <a:blip r:embed="rId4"/>
                <a:stretch>
                  <a:fillRect l="-685" t="-2597" b="-7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5E42FC8-B963-4DC2-8388-A859E0942B7D}"/>
                  </a:ext>
                </a:extLst>
              </p:cNvPr>
              <p:cNvSpPr/>
              <p:nvPr/>
            </p:nvSpPr>
            <p:spPr>
              <a:xfrm>
                <a:off x="907312" y="2901053"/>
                <a:ext cx="8001000" cy="5850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sz="1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statistic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𝑝𝑎𝑟𝑡𝑖𝑎𝑙</m:t>
                          </m:r>
                          <m:r>
                            <a:rPr lang="en-US" sz="14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4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SSReg</m:t>
                          </m:r>
                          <m:r>
                            <a:rPr lang="en-US" sz="14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14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</m:t>
                          </m:r>
                          <m:r>
                            <m:rPr>
                              <m:nor/>
                            </m:r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sz="14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nor/>
                            </m:r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"/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SSE</m:t>
                              </m:r>
                              <m:r>
                                <a:rPr lang="en-US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Z</m:t>
                              </m:r>
                              <m:r>
                                <m:rPr>
                                  <m:nor/>
                                </m:r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,…</m:t>
                              </m:r>
                              <m:r>
                                <m:rPr>
                                  <m:nor/>
                                </m:r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f>
                                <m:fPr>
                                  <m:type m:val="lin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</m:den>
                              </m:f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5E42FC8-B963-4DC2-8388-A859E0942B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312" y="2901053"/>
                <a:ext cx="8001000" cy="585097"/>
              </a:xfrm>
              <a:prstGeom prst="rect">
                <a:avLst/>
              </a:prstGeom>
              <a:blipFill>
                <a:blip r:embed="rId5"/>
                <a:stretch>
                  <a:fillRect t="-35417" b="-1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886936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131853" y="175879"/>
            <a:ext cx="8562392" cy="643272"/>
          </a:xfrm>
        </p:spPr>
        <p:txBody>
          <a:bodyPr/>
          <a:lstStyle/>
          <a:p>
            <a:pPr eaLnBrk="0" fontAlgn="base" hangingPunct="0">
              <a:spcAft>
                <a:spcPct val="0"/>
              </a:spcAft>
            </a:pPr>
            <a:r>
              <a:rPr lang="en-US" altLang="en-US" sz="3600" dirty="0">
                <a:latin typeface="Vitesse"/>
                <a:ea typeface="Vitesse" charset="0"/>
                <a:cs typeface="Vitesse" charset="0"/>
              </a:rPr>
              <a:t>Testing for Statistical Significance</a:t>
            </a:r>
            <a:endParaRPr lang="en-US" sz="3600" dirty="0">
              <a:latin typeface="Vitesse"/>
              <a:ea typeface="Vitesse" charset="0"/>
              <a:cs typeface="Vitesse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435C5F-AFFC-4759-A402-23335EFC5EE9}"/>
              </a:ext>
            </a:extLst>
          </p:cNvPr>
          <p:cNvSpPr txBox="1"/>
          <p:nvPr/>
        </p:nvSpPr>
        <p:spPr>
          <a:xfrm>
            <a:off x="5486400" y="1039832"/>
            <a:ext cx="3421912" cy="3046988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Interpretation of the t-test for statistical significance is conditional on other predicting variables being in the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The relationship between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Y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X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is statistically significant given all other predicting variables being in the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600" b="1" dirty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Do not perform variable selection based on the p-values of the t-tests!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140884" y="1019398"/>
                <a:ext cx="5345516" cy="16040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96875" indent="-396875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Consider a full model with the set of predictors, </a:t>
                </a:r>
                <a:r>
                  <a:rPr lang="en-US" sz="16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X</a:t>
                </a:r>
                <a:r>
                  <a:rPr lang="en-US" sz="16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1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…, </a:t>
                </a:r>
                <a:r>
                  <a:rPr lang="en-US" sz="1600" i="1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X</a:t>
                </a:r>
                <a:r>
                  <a:rPr lang="en-US" sz="1600" i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p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and an additional predicting variable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Z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</a:t>
                </a:r>
              </a:p>
              <a:p>
                <a:endParaRPr lang="en-US" sz="7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744538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5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96875" indent="-396875">
                  <a:lnSpc>
                    <a:spcPts val="18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Test whether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Z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has explanatory or predictive power:</a:t>
                </a:r>
              </a:p>
              <a:p>
                <a:endParaRPr lang="en-US" sz="7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744538">
                  <a:lnSpc>
                    <a:spcPts val="1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6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𝐚</m:t>
                        </m:r>
                      </m:sub>
                    </m:sSub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 </m:t>
                    </m:r>
                  </m:oMath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84" y="1019398"/>
                <a:ext cx="5345516" cy="1604029"/>
              </a:xfrm>
              <a:prstGeom prst="rect">
                <a:avLst/>
              </a:prstGeom>
              <a:blipFill>
                <a:blip r:embed="rId3"/>
                <a:stretch>
                  <a:fillRect l="-456" t="-1521" r="-1254" b="-3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2149E1A-4378-439E-9658-05C72C85D7FF}"/>
                  </a:ext>
                </a:extLst>
              </p:cNvPr>
              <p:cNvSpPr/>
              <p:nvPr/>
            </p:nvSpPr>
            <p:spPr>
              <a:xfrm>
                <a:off x="145313" y="3714750"/>
                <a:ext cx="5341088" cy="9387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96875" indent="-396875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Reject</a:t>
                </a:r>
                <a:r>
                  <a:rPr lang="en-US" altLang="en-US" sz="1600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if F-statistic is large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(F-statistic &gt; F</a:t>
                </a:r>
                <a:r>
                  <a:rPr lang="el-GR" sz="16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α</a:t>
                </a:r>
                <a:r>
                  <a:rPr lang="en-US" sz="16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</a:t>
                </a:r>
                <a:r>
                  <a:rPr lang="en-US" sz="16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1, n-p-2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</a:t>
                </a:r>
              </a:p>
              <a:p>
                <a:pPr marL="396875" indent="-396875">
                  <a:buFont typeface="Arial" panose="020B0604020202020204" pitchFamily="34" charset="0"/>
                  <a:buChar char="•"/>
                </a:pPr>
                <a:endParaRPr lang="en-US" sz="700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This is equivalent to testing for statistical significance using the t-test</a:t>
                </a:r>
              </a:p>
            </p:txBody>
          </p:sp>
        </mc:Choice>
        <mc:Fallback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2149E1A-4378-439E-9658-05C72C85D7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313" y="3714750"/>
                <a:ext cx="5341088" cy="938719"/>
              </a:xfrm>
              <a:prstGeom prst="rect">
                <a:avLst/>
              </a:prstGeom>
              <a:blipFill>
                <a:blip r:embed="rId4"/>
                <a:stretch>
                  <a:fillRect l="-685" t="-2597" b="-7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5E42FC8-B963-4DC2-8388-A859E0942B7D}"/>
                  </a:ext>
                </a:extLst>
              </p:cNvPr>
              <p:cNvSpPr/>
              <p:nvPr/>
            </p:nvSpPr>
            <p:spPr>
              <a:xfrm>
                <a:off x="907312" y="2901053"/>
                <a:ext cx="8001000" cy="5850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sz="1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statistic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𝑝𝑎𝑟𝑡𝑖𝑎𝑙</m:t>
                          </m:r>
                          <m:r>
                            <a:rPr lang="en-US" sz="14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4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SSReg</m:t>
                          </m:r>
                          <m:r>
                            <a:rPr lang="en-US" sz="14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14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</m:t>
                          </m:r>
                          <m:r>
                            <m:rPr>
                              <m:nor/>
                            </m:r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sz="14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nor/>
                            </m:r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"/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SSE</m:t>
                              </m:r>
                              <m:r>
                                <a:rPr lang="en-US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Z</m:t>
                              </m:r>
                              <m:r>
                                <m:rPr>
                                  <m:nor/>
                                </m:r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,…</m:t>
                              </m:r>
                              <m:r>
                                <m:rPr>
                                  <m:nor/>
                                </m:r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f>
                                <m:fPr>
                                  <m:type m:val="lin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</m:den>
                              </m:f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5E42FC8-B963-4DC2-8388-A859E0942B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312" y="2901053"/>
                <a:ext cx="8001000" cy="585097"/>
              </a:xfrm>
              <a:prstGeom prst="rect">
                <a:avLst/>
              </a:prstGeom>
              <a:blipFill>
                <a:blip r:embed="rId5"/>
                <a:stretch>
                  <a:fillRect t="-35417" b="-1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227231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178976"/>
            <a:ext cx="4727575" cy="7949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026639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58735</TotalTime>
  <Words>773</Words>
  <Application>Microsoft Office PowerPoint</Application>
  <PresentationFormat>On-screen Show (16:9)</PresentationFormat>
  <Paragraphs>101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Arial</vt:lpstr>
      <vt:lpstr>Calibri</vt:lpstr>
      <vt:lpstr>Cambria Math</vt:lpstr>
      <vt:lpstr>Helvetica</vt:lpstr>
      <vt:lpstr>Helvetica Neue</vt:lpstr>
      <vt:lpstr>Vitesse</vt:lpstr>
      <vt:lpstr>Vitesse Bold</vt:lpstr>
      <vt:lpstr>Vitesse Book</vt:lpstr>
      <vt:lpstr>Vitesse Medium</vt:lpstr>
      <vt:lpstr>1_Half Page Slash</vt:lpstr>
      <vt:lpstr>2_Half Page Slash</vt:lpstr>
      <vt:lpstr>1_Full Page Layout</vt:lpstr>
      <vt:lpstr>PowerPoint Presentation</vt:lpstr>
      <vt:lpstr>PowerPoint Presentation</vt:lpstr>
      <vt:lpstr>Testing Overall Regression</vt:lpstr>
      <vt:lpstr>Testing Subsets of Coefficients</vt:lpstr>
      <vt:lpstr>PowerPoint Presentation</vt:lpstr>
      <vt:lpstr>PowerPoint Presentation</vt:lpstr>
      <vt:lpstr>Testing for Statistical Significance</vt:lpstr>
      <vt:lpstr>Testing for Statistical Significance</vt:lpstr>
      <vt:lpstr>PowerPoint Presentation</vt:lpstr>
    </vt:vector>
  </TitlesOfParts>
  <Company>GA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Rodriguez, Ramon S</cp:lastModifiedBy>
  <cp:revision>806</cp:revision>
  <dcterms:created xsi:type="dcterms:W3CDTF">2002-04-06T16:20:45Z</dcterms:created>
  <dcterms:modified xsi:type="dcterms:W3CDTF">2020-05-11T15:40:46Z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6308B0A8-F384-4644-9E4E-080AC764B46C</vt:lpwstr>
  </property>
  <property fmtid="{D5CDD505-2E9C-101B-9397-08002B2CF9AE}" pid="3" name="ArticulatePath">
    <vt:lpwstr>07_MLRL7_revised_03102020</vt:lpwstr>
  </property>
</Properties>
</file>