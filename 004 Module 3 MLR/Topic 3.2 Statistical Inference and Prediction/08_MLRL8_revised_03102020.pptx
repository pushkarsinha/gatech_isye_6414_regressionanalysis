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7" r:id="rId1"/>
    <p:sldMasterId id="2147484025" r:id="rId2"/>
    <p:sldMasterId id="2147484026" r:id="rId3"/>
  </p:sldMasterIdLst>
  <p:notesMasterIdLst>
    <p:notesMasterId r:id="rId15"/>
  </p:notesMasterIdLst>
  <p:handoutMasterIdLst>
    <p:handoutMasterId r:id="rId16"/>
  </p:handoutMasterIdLst>
  <p:sldIdLst>
    <p:sldId id="515" r:id="rId4"/>
    <p:sldId id="523" r:id="rId5"/>
    <p:sldId id="413" r:id="rId6"/>
    <p:sldId id="381" r:id="rId7"/>
    <p:sldId id="462" r:id="rId8"/>
    <p:sldId id="522" r:id="rId9"/>
    <p:sldId id="519" r:id="rId10"/>
    <p:sldId id="470" r:id="rId11"/>
    <p:sldId id="520" r:id="rId12"/>
    <p:sldId id="521" r:id="rId13"/>
    <p:sldId id="524" r:id="rId14"/>
  </p:sldIdLst>
  <p:sldSz cx="9144000" cy="5143500" type="screen16x9"/>
  <p:notesSz cx="7315200" cy="9601200"/>
  <p:custDataLst>
    <p:tags r:id="rId17"/>
  </p:custDataLst>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32" userDrawn="1">
          <p15:clr>
            <a:srgbClr val="A4A3A4"/>
          </p15:clr>
        </p15:guide>
        <p15:guide id="3" pos="144" userDrawn="1">
          <p15:clr>
            <a:srgbClr val="A4A3A4"/>
          </p15:clr>
        </p15:guide>
        <p15:guide id="4" pos="384" userDrawn="1">
          <p15:clr>
            <a:srgbClr val="A4A3A4"/>
          </p15:clr>
        </p15:guide>
        <p15:guide id="5" pos="3456" userDrawn="1">
          <p15:clr>
            <a:srgbClr val="A4A3A4"/>
          </p15:clr>
        </p15:guide>
        <p15:guide id="6" orient="horz" pos="420" userDrawn="1">
          <p15:clr>
            <a:srgbClr val="A4A3A4"/>
          </p15:clr>
        </p15:guide>
        <p15:guide id="7" orient="horz" pos="804" userDrawn="1">
          <p15:clr>
            <a:srgbClr val="A4A3A4"/>
          </p15:clr>
        </p15:guide>
        <p15:guide id="8" pos="53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rban, Nicoleta" initials="SN" lastIdx="19" clrIdx="0"/>
  <p:cmAuthor id="2" name="zwen42@gatech.com" initials="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003057"/>
    <a:srgbClr val="00254C"/>
    <a:srgbClr val="F8E0A3"/>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FD12D-4889-40C1-9FE1-6E433ABF0787}" v="10" dt="2019-12-29T04:47:30.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49" autoAdjust="0"/>
    <p:restoredTop sz="91633" autoAdjust="0"/>
  </p:normalViewPr>
  <p:slideViewPr>
    <p:cSldViewPr>
      <p:cViewPr varScale="1">
        <p:scale>
          <a:sx n="72" d="100"/>
          <a:sy n="72" d="100"/>
        </p:scale>
        <p:origin x="1380" y="56"/>
      </p:cViewPr>
      <p:guideLst>
        <p:guide orient="horz" pos="1620"/>
        <p:guide pos="2832"/>
        <p:guide pos="144"/>
        <p:guide pos="384"/>
        <p:guide pos="3456"/>
        <p:guide orient="horz" pos="420"/>
        <p:guide orient="horz" pos="804"/>
        <p:guide pos="5376"/>
      </p:guideLst>
    </p:cSldViewPr>
  </p:slideViewPr>
  <p:outlineViewPr>
    <p:cViewPr>
      <p:scale>
        <a:sx n="33" d="100"/>
        <a:sy n="33" d="100"/>
      </p:scale>
      <p:origin x="0" y="-143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fontAlgn="auto" hangingPunct="1">
              <a:spcBef>
                <a:spcPct val="0"/>
              </a:spcBef>
              <a:spcAft>
                <a:spcPts val="0"/>
              </a:spcAft>
              <a:defRPr sz="1300">
                <a:latin typeface="+mn-lt"/>
                <a:ea typeface="+mn-ea"/>
                <a:cs typeface="+mn-cs"/>
              </a:defRPr>
            </a:lvl1pPr>
          </a:lstStyle>
          <a:p>
            <a:pPr>
              <a:defRPr/>
            </a:pPr>
            <a:endParaRPr lang="en-US"/>
          </a:p>
        </p:txBody>
      </p:sp>
      <p:sp>
        <p:nvSpPr>
          <p:cNvPr id="22531"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fontAlgn="auto" hangingPunct="1">
              <a:spcBef>
                <a:spcPct val="0"/>
              </a:spcBef>
              <a:spcAft>
                <a:spcPts val="0"/>
              </a:spcAft>
              <a:defRPr sz="1300">
                <a:latin typeface="+mn-lt"/>
                <a:ea typeface="+mn-ea"/>
                <a:cs typeface="+mn-cs"/>
              </a:defRPr>
            </a:lvl1pPr>
          </a:lstStyle>
          <a:p>
            <a:pPr>
              <a:defRPr/>
            </a:pPr>
            <a:endParaRPr lang="en-US"/>
          </a:p>
        </p:txBody>
      </p:sp>
      <p:sp>
        <p:nvSpPr>
          <p:cNvPr id="22532"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fontAlgn="auto" hangingPunct="1">
              <a:spcBef>
                <a:spcPct val="0"/>
              </a:spcBef>
              <a:spcAft>
                <a:spcPts val="0"/>
              </a:spcAft>
              <a:defRPr sz="1300">
                <a:latin typeface="+mn-lt"/>
                <a:ea typeface="+mn-ea"/>
                <a:cs typeface="+mn-cs"/>
              </a:defRPr>
            </a:lvl1pPr>
          </a:lstStyle>
          <a:p>
            <a:pPr>
              <a:defRPr/>
            </a:pPr>
            <a:endParaRPr lang="en-US"/>
          </a:p>
        </p:txBody>
      </p:sp>
      <p:sp>
        <p:nvSpPr>
          <p:cNvPr id="22533"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pPr>
              <a:defRPr/>
            </a:pPr>
            <a:fld id="{9341367C-E063-483A-976E-701E1B78A2B8}" type="slidenum">
              <a:rPr lang="en-US" altLang="en-US"/>
              <a:pPr>
                <a:defRPr/>
              </a:pPr>
              <a:t>‹#›</a:t>
            </a:fld>
            <a:endParaRPr lang="en-US" altLang="en-US"/>
          </a:p>
        </p:txBody>
      </p:sp>
    </p:spTree>
    <p:extLst>
      <p:ext uri="{BB962C8B-B14F-4D97-AF65-F5344CB8AC3E}">
        <p14:creationId xmlns:p14="http://schemas.microsoft.com/office/powerpoint/2010/main" val="667821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4143375" y="0"/>
            <a:ext cx="3170238" cy="481013"/>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395FA4F-381F-404D-BF6E-002662B65353}" type="datetimeFigureOut">
              <a:rPr lang="en-US" altLang="en-US"/>
              <a:pPr>
                <a:defRPr/>
              </a:pPr>
              <a:t>5/11/2020</a:t>
            </a:fld>
            <a:endParaRPr lang="en-US" alt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8BD030A-9FCF-4978-B2BB-2A6331F99A19}" type="slidenum">
              <a:rPr lang="en-US" altLang="en-US"/>
              <a:pPr>
                <a:defRPr/>
              </a:pPr>
              <a:t>‹#›</a:t>
            </a:fld>
            <a:endParaRPr lang="en-US" altLang="en-US"/>
          </a:p>
        </p:txBody>
      </p:sp>
    </p:spTree>
    <p:extLst>
      <p:ext uri="{BB962C8B-B14F-4D97-AF65-F5344CB8AC3E}">
        <p14:creationId xmlns:p14="http://schemas.microsoft.com/office/powerpoint/2010/main" val="7340257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B5AB6F8-2CD3-471F-8409-89BCAD2E4898}" type="slidenum">
              <a:rPr lang="en-US" altLang="en-US" smtClean="0"/>
              <a:pPr/>
              <a:t>3</a:t>
            </a:fld>
            <a:endParaRPr lang="en-US" altLang="en-US"/>
          </a:p>
        </p:txBody>
      </p:sp>
    </p:spTree>
    <p:extLst>
      <p:ext uri="{BB962C8B-B14F-4D97-AF65-F5344CB8AC3E}">
        <p14:creationId xmlns:p14="http://schemas.microsoft.com/office/powerpoint/2010/main" val="388617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2916C25-A3DA-4708-BAC5-BA4E65F43CC8}" type="slidenum">
              <a:rPr lang="en-US" altLang="en-US" smtClean="0"/>
              <a:pPr/>
              <a:t>5</a:t>
            </a:fld>
            <a:endParaRPr lang="en-US" altLang="en-US"/>
          </a:p>
        </p:txBody>
      </p:sp>
    </p:spTree>
    <p:extLst>
      <p:ext uri="{BB962C8B-B14F-4D97-AF65-F5344CB8AC3E}">
        <p14:creationId xmlns:p14="http://schemas.microsoft.com/office/powerpoint/2010/main" val="3582375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2916C25-A3DA-4708-BAC5-BA4E65F43CC8}" type="slidenum">
              <a:rPr lang="en-US" altLang="en-US" smtClean="0"/>
              <a:pPr/>
              <a:t>6</a:t>
            </a:fld>
            <a:endParaRPr lang="en-US" altLang="en-US"/>
          </a:p>
        </p:txBody>
      </p:sp>
    </p:spTree>
    <p:extLst>
      <p:ext uri="{BB962C8B-B14F-4D97-AF65-F5344CB8AC3E}">
        <p14:creationId xmlns:p14="http://schemas.microsoft.com/office/powerpoint/2010/main" val="2900640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425933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97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888942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344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2339898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021876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219779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398499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7525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004640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21501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70836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84417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image" Target="../media/image4.png"/><Relationship Id="rId4" Type="http://schemas.openxmlformats.org/officeDocument/2006/relationships/slideLayout" Target="../slideLayouts/slideLayout11.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9"/>
          <a:stretch>
            <a:fillRect/>
          </a:stretch>
        </p:blipFill>
        <p:spPr>
          <a:xfrm>
            <a:off x="0" y="0"/>
            <a:ext cx="9144000" cy="5143500"/>
          </a:xfrm>
          <a:prstGeom prst="rect">
            <a:avLst/>
          </a:prstGeom>
        </p:spPr>
      </p:pic>
    </p:spTree>
    <p:extLst>
      <p:ext uri="{BB962C8B-B14F-4D97-AF65-F5344CB8AC3E}">
        <p14:creationId xmlns:p14="http://schemas.microsoft.com/office/powerpoint/2010/main" val="708973230"/>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958796412"/>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381599272"/>
      </p:ext>
    </p:extLst>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107624" y="177864"/>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4" name="Text Placeholder 2"/>
          <p:cNvSpPr>
            <a:spLocks noGrp="1"/>
          </p:cNvSpPr>
          <p:nvPr/>
        </p:nvSpPr>
        <p:spPr>
          <a:xfrm>
            <a:off x="120990" y="685717"/>
            <a:ext cx="6368450" cy="590634"/>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CN" sz="2400" dirty="0"/>
              <a:t>Multiple</a:t>
            </a:r>
            <a:r>
              <a:rPr lang="zh-CN" altLang="en-US" sz="2400" dirty="0"/>
              <a:t> </a:t>
            </a:r>
            <a:r>
              <a:rPr lang="en-US" altLang="zh-CN" sz="2400" dirty="0"/>
              <a:t>Linear</a:t>
            </a:r>
            <a:r>
              <a:rPr lang="zh-CN" altLang="en-US" sz="2400" dirty="0"/>
              <a:t> </a:t>
            </a:r>
            <a:r>
              <a:rPr lang="en-US" altLang="zh-CN" sz="2400" dirty="0"/>
              <a:t>Regression</a:t>
            </a:r>
            <a:endParaRPr lang="en-US" sz="2400" dirty="0"/>
          </a:p>
        </p:txBody>
      </p:sp>
      <p:sp>
        <p:nvSpPr>
          <p:cNvPr id="1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1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19" name="Text Placeholder 5"/>
          <p:cNvSpPr>
            <a:spLocks noGrp="1"/>
          </p:cNvSpPr>
          <p:nvPr/>
        </p:nvSpPr>
        <p:spPr>
          <a:xfrm>
            <a:off x="117956" y="4019550"/>
            <a:ext cx="3996843" cy="1004273"/>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ct val="50000"/>
              </a:spcBef>
            </a:pPr>
            <a:r>
              <a:rPr lang="en-US" altLang="en-US" sz="2000" dirty="0"/>
              <a:t>Statistical Inference: </a:t>
            </a:r>
            <a:br>
              <a:rPr lang="en-US" altLang="en-US" sz="2000" dirty="0"/>
            </a:br>
            <a:r>
              <a:rPr lang="en-US" altLang="en-US" sz="2000" dirty="0"/>
              <a:t>Data Example</a:t>
            </a:r>
          </a:p>
        </p:txBody>
      </p:sp>
      <p:sp>
        <p:nvSpPr>
          <p:cNvPr id="2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27154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5820" t="7499" r="15454" b="5507"/>
          <a:stretch/>
        </p:blipFill>
        <p:spPr>
          <a:xfrm>
            <a:off x="1237534" y="1285661"/>
            <a:ext cx="2069432" cy="2619446"/>
          </a:xfrm>
          <a:prstGeom prst="rect">
            <a:avLst/>
          </a:prstGeom>
        </p:spPr>
      </p:pic>
      <p:sp>
        <p:nvSpPr>
          <p:cNvPr id="2" name="Text Placeholder 1"/>
          <p:cNvSpPr>
            <a:spLocks noGrp="1"/>
          </p:cNvSpPr>
          <p:nvPr>
            <p:ph type="body" sz="quarter" idx="10"/>
          </p:nvPr>
        </p:nvSpPr>
        <p:spPr>
          <a:xfrm>
            <a:off x="150104" y="181653"/>
            <a:ext cx="4727575" cy="731706"/>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custDataLst>
      <p:tags r:id="rId1"/>
    </p:custDataLst>
    <p:extLst>
      <p:ext uri="{BB962C8B-B14F-4D97-AF65-F5344CB8AC3E}">
        <p14:creationId xmlns:p14="http://schemas.microsoft.com/office/powerpoint/2010/main" val="190293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35297" y="1062085"/>
            <a:ext cx="4893903"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lnSpc>
                <a:spcPts val="1800"/>
              </a:lnSpc>
              <a:spcAft>
                <a:spcPts val="200"/>
              </a:spcAft>
            </a:pPr>
            <a:r>
              <a:rPr lang="en-US" altLang="en-US" b="1" dirty="0">
                <a:latin typeface="Helvetica" panose="020B0604020202020204" pitchFamily="34" charset="0"/>
                <a:ea typeface="Helvetica Neue" charset="0"/>
                <a:cs typeface="Helvetica" panose="020B0604020202020204" pitchFamily="34" charset="0"/>
              </a:rPr>
              <a:t>Controlling factors</a:t>
            </a:r>
            <a:r>
              <a:rPr lang="en-US" altLang="en-US" dirty="0">
                <a:latin typeface="Helvetica" panose="020B0604020202020204" pitchFamily="34" charset="0"/>
                <a:ea typeface="Helvetica Neue" charset="0"/>
                <a:cs typeface="Helvetica" panose="020B0604020202020204" pitchFamily="34" charset="0"/>
              </a:rPr>
              <a:t>:</a:t>
            </a:r>
          </a:p>
          <a:p>
            <a:pPr marL="914400" indent="-569913" eaLnBrk="1" hangingPunct="1">
              <a:lnSpc>
                <a:spcPts val="1800"/>
              </a:lnSpc>
              <a:spcAft>
                <a:spcPts val="200"/>
              </a:spcAft>
              <a:tabLst>
                <a:tab pos="914400" algn="l"/>
              </a:tabLst>
            </a:pPr>
            <a:r>
              <a:rPr lang="en-US" altLang="en-US" sz="1600" b="1" i="1" dirty="0">
                <a:latin typeface="Helvetica" panose="020B0604020202020204" pitchFamily="34" charset="0"/>
                <a:ea typeface="Helvetica Neue" charset="0"/>
                <a:cs typeface="Helvetica" panose="020B0604020202020204" pitchFamily="34" charset="0"/>
              </a:rPr>
              <a:t>X</a:t>
            </a:r>
            <a:r>
              <a:rPr lang="en-US" altLang="en-US" sz="1600" baseline="-25000" dirty="0">
                <a:latin typeface="Helvetica" panose="020B0604020202020204" pitchFamily="34" charset="0"/>
                <a:ea typeface="Helvetica Neue" charset="0"/>
                <a:cs typeface="Helvetica" panose="020B0604020202020204" pitchFamily="34" charset="0"/>
              </a:rPr>
              <a:t>1</a:t>
            </a:r>
            <a:r>
              <a:rPr lang="en-US" altLang="en-US" sz="1600" dirty="0">
                <a:latin typeface="Helvetica" panose="020B0604020202020204" pitchFamily="34" charset="0"/>
                <a:ea typeface="Helvetica Neue" charset="0"/>
                <a:cs typeface="Helvetica" panose="020B0604020202020204" pitchFamily="34" charset="0"/>
              </a:rPr>
              <a:t> =	% of total eligible students in the state who took the exam</a:t>
            </a:r>
          </a:p>
          <a:p>
            <a:pPr marL="914400" indent="-569913" eaLnBrk="1" hangingPunct="1">
              <a:lnSpc>
                <a:spcPts val="1800"/>
              </a:lnSpc>
              <a:tabLst>
                <a:tab pos="914400" algn="l"/>
              </a:tabLst>
            </a:pPr>
            <a:r>
              <a:rPr lang="en-US" altLang="en-US" sz="1600" b="1" i="1" dirty="0">
                <a:latin typeface="Helvetica" panose="020B0604020202020204" pitchFamily="34" charset="0"/>
                <a:ea typeface="Helvetica Neue" charset="0"/>
                <a:cs typeface="Helvetica" panose="020B0604020202020204" pitchFamily="34" charset="0"/>
              </a:rPr>
              <a:t>X</a:t>
            </a:r>
            <a:r>
              <a:rPr lang="en-US" altLang="en-US" sz="1600" baseline="-25000" dirty="0">
                <a:latin typeface="Helvetica" panose="020B0604020202020204" pitchFamily="34" charset="0"/>
                <a:ea typeface="Helvetica Neue" charset="0"/>
                <a:cs typeface="Helvetica" panose="020B0604020202020204" pitchFamily="34" charset="0"/>
              </a:rPr>
              <a:t>6</a:t>
            </a:r>
            <a:r>
              <a:rPr lang="en-US" altLang="en-US" sz="1600" dirty="0">
                <a:latin typeface="Helvetica" panose="020B0604020202020204" pitchFamily="34" charset="0"/>
                <a:ea typeface="Helvetica Neue" charset="0"/>
                <a:cs typeface="Helvetica" panose="020B0604020202020204" pitchFamily="34" charset="0"/>
              </a:rPr>
              <a:t> =	median percentile of ranking of test takers within their secondary school classes</a:t>
            </a:r>
            <a:endParaRPr lang="en-US" altLang="en-US" dirty="0">
              <a:latin typeface="Helvetica" panose="020B0604020202020204" pitchFamily="34" charset="0"/>
              <a:ea typeface="Helvetica Neue" charset="0"/>
              <a:cs typeface="Helvetica" panose="020B0604020202020204" pitchFamily="34" charset="0"/>
            </a:endParaRPr>
          </a:p>
          <a:p>
            <a:pPr eaLnBrk="1" hangingPunct="1">
              <a:lnSpc>
                <a:spcPts val="1800"/>
              </a:lnSpc>
              <a:spcAft>
                <a:spcPts val="200"/>
              </a:spcAft>
            </a:pPr>
            <a:r>
              <a:rPr lang="en-US" altLang="en-US" b="1" dirty="0">
                <a:latin typeface="Helvetica" panose="020B0604020202020204" pitchFamily="34" charset="0"/>
                <a:ea typeface="Helvetica Neue" charset="0"/>
                <a:cs typeface="Helvetica" panose="020B0604020202020204" pitchFamily="34" charset="0"/>
              </a:rPr>
              <a:t>Explanatory Factors:</a:t>
            </a:r>
          </a:p>
          <a:p>
            <a:pPr marL="914400" indent="-569913" eaLnBrk="1" hangingPunct="1">
              <a:lnSpc>
                <a:spcPts val="1800"/>
              </a:lnSpc>
              <a:spcAft>
                <a:spcPts val="200"/>
              </a:spcAft>
              <a:tabLst>
                <a:tab pos="914400" algn="l"/>
              </a:tabLst>
            </a:pPr>
            <a:r>
              <a:rPr lang="en-US" altLang="en-US" sz="1600" b="1" i="1" dirty="0">
                <a:latin typeface="Helvetica" panose="020B0604020202020204" pitchFamily="34" charset="0"/>
                <a:ea typeface="Helvetica Neue" charset="0"/>
                <a:cs typeface="Helvetica" panose="020B0604020202020204" pitchFamily="34" charset="0"/>
              </a:rPr>
              <a:t>X</a:t>
            </a:r>
            <a:r>
              <a:rPr lang="en-US" altLang="en-US" sz="1600" baseline="-25000" dirty="0">
                <a:latin typeface="Helvetica" panose="020B0604020202020204" pitchFamily="34" charset="0"/>
                <a:ea typeface="Helvetica Neue" charset="0"/>
                <a:cs typeface="Helvetica" panose="020B0604020202020204" pitchFamily="34" charset="0"/>
              </a:rPr>
              <a:t>2</a:t>
            </a:r>
            <a:r>
              <a:rPr lang="en-US" altLang="en-US" sz="1600" dirty="0">
                <a:latin typeface="Helvetica" panose="020B0604020202020204" pitchFamily="34" charset="0"/>
                <a:ea typeface="Helvetica Neue" charset="0"/>
                <a:cs typeface="Helvetica" panose="020B0604020202020204" pitchFamily="34" charset="0"/>
              </a:rPr>
              <a:t> =	median income of families of test takers, in hundreds of dollars</a:t>
            </a:r>
          </a:p>
          <a:p>
            <a:pPr marL="914400" indent="-569913" eaLnBrk="1" hangingPunct="1">
              <a:lnSpc>
                <a:spcPts val="1800"/>
              </a:lnSpc>
              <a:spcAft>
                <a:spcPts val="200"/>
              </a:spcAft>
              <a:tabLst>
                <a:tab pos="914400" algn="l"/>
              </a:tabLst>
            </a:pPr>
            <a:r>
              <a:rPr lang="en-US" altLang="en-US" sz="1600" b="1" i="1" dirty="0">
                <a:latin typeface="Helvetica" panose="020B0604020202020204" pitchFamily="34" charset="0"/>
                <a:ea typeface="Helvetica Neue" charset="0"/>
                <a:cs typeface="Helvetica" panose="020B0604020202020204" pitchFamily="34" charset="0"/>
              </a:rPr>
              <a:t>X</a:t>
            </a:r>
            <a:r>
              <a:rPr lang="en-US" altLang="en-US" sz="1600" baseline="-25000" dirty="0">
                <a:latin typeface="Helvetica" panose="020B0604020202020204" pitchFamily="34" charset="0"/>
                <a:ea typeface="Helvetica Neue" charset="0"/>
                <a:cs typeface="Helvetica" panose="020B0604020202020204" pitchFamily="34" charset="0"/>
              </a:rPr>
              <a:t>3</a:t>
            </a:r>
            <a:r>
              <a:rPr lang="en-US" altLang="en-US" sz="1600" dirty="0">
                <a:latin typeface="Helvetica" panose="020B0604020202020204" pitchFamily="34" charset="0"/>
                <a:ea typeface="Helvetica Neue" charset="0"/>
                <a:cs typeface="Helvetica" panose="020B0604020202020204" pitchFamily="34" charset="0"/>
              </a:rPr>
              <a:t> =	average number of years that test takers had in social sciences, natural sciences, and humanities</a:t>
            </a:r>
          </a:p>
          <a:p>
            <a:pPr marL="914400" indent="-569913" eaLnBrk="1" hangingPunct="1">
              <a:lnSpc>
                <a:spcPts val="1800"/>
              </a:lnSpc>
              <a:spcAft>
                <a:spcPts val="200"/>
              </a:spcAft>
              <a:tabLst>
                <a:tab pos="914400" algn="l"/>
              </a:tabLst>
            </a:pPr>
            <a:r>
              <a:rPr lang="en-US" altLang="en-US" sz="1600" b="1" i="1" dirty="0">
                <a:latin typeface="Helvetica" panose="020B0604020202020204" pitchFamily="34" charset="0"/>
                <a:ea typeface="Helvetica Neue" charset="0"/>
                <a:cs typeface="Helvetica" panose="020B0604020202020204" pitchFamily="34" charset="0"/>
              </a:rPr>
              <a:t>X</a:t>
            </a:r>
            <a:r>
              <a:rPr lang="en-US" altLang="en-US" sz="1600" baseline="-25000" dirty="0">
                <a:latin typeface="Helvetica" panose="020B0604020202020204" pitchFamily="34" charset="0"/>
                <a:ea typeface="Helvetica Neue" charset="0"/>
                <a:cs typeface="Helvetica" panose="020B0604020202020204" pitchFamily="34" charset="0"/>
              </a:rPr>
              <a:t>4</a:t>
            </a:r>
            <a:r>
              <a:rPr lang="en-US" altLang="en-US" sz="1600" dirty="0">
                <a:latin typeface="Helvetica" panose="020B0604020202020204" pitchFamily="34" charset="0"/>
                <a:ea typeface="Helvetica Neue" charset="0"/>
                <a:cs typeface="Helvetica" panose="020B0604020202020204" pitchFamily="34" charset="0"/>
              </a:rPr>
              <a:t> =	% of test takers who attended public schools</a:t>
            </a:r>
          </a:p>
          <a:p>
            <a:pPr marL="914400" indent="-569913" eaLnBrk="1" hangingPunct="1">
              <a:lnSpc>
                <a:spcPts val="1800"/>
              </a:lnSpc>
              <a:tabLst>
                <a:tab pos="914400" algn="l"/>
              </a:tabLst>
            </a:pPr>
            <a:r>
              <a:rPr lang="en-US" altLang="en-US" sz="1600" b="1" i="1" dirty="0">
                <a:latin typeface="Helvetica" panose="020B0604020202020204" pitchFamily="34" charset="0"/>
                <a:ea typeface="Helvetica Neue" charset="0"/>
                <a:cs typeface="Helvetica" panose="020B0604020202020204" pitchFamily="34" charset="0"/>
              </a:rPr>
              <a:t>X</a:t>
            </a:r>
            <a:r>
              <a:rPr lang="en-US" altLang="en-US" sz="1600" baseline="-25000" dirty="0">
                <a:latin typeface="Helvetica" panose="020B0604020202020204" pitchFamily="34" charset="0"/>
                <a:ea typeface="Helvetica Neue" charset="0"/>
                <a:cs typeface="Helvetica" panose="020B0604020202020204" pitchFamily="34" charset="0"/>
              </a:rPr>
              <a:t>5</a:t>
            </a:r>
            <a:r>
              <a:rPr lang="en-US" altLang="en-US" sz="1600" dirty="0">
                <a:latin typeface="Helvetica" panose="020B0604020202020204" pitchFamily="34" charset="0"/>
                <a:ea typeface="Helvetica Neue" charset="0"/>
                <a:cs typeface="Helvetica" panose="020B0604020202020204" pitchFamily="34" charset="0"/>
              </a:rPr>
              <a:t> =	state expenditure on secondary schools, in hundreds of dollars per student</a:t>
            </a: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92619" y="1281995"/>
            <a:ext cx="3345281" cy="2280355"/>
          </a:xfrm>
          <a:prstGeom prst="rect">
            <a:avLst/>
          </a:prstGeom>
        </p:spPr>
      </p:pic>
      <p:sp>
        <p:nvSpPr>
          <p:cNvPr id="7" name="Title 1"/>
          <p:cNvSpPr txBox="1">
            <a:spLocks/>
          </p:cNvSpPr>
          <p:nvPr/>
        </p:nvSpPr>
        <p:spPr>
          <a:xfrm>
            <a:off x="115080" y="178450"/>
            <a:ext cx="8562392" cy="55750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spcBef>
                <a:spcPct val="50000"/>
              </a:spcBef>
              <a:spcAft>
                <a:spcPts val="0"/>
              </a:spcAft>
            </a:pPr>
            <a:r>
              <a:rPr lang="en-US" altLang="en-US" sz="3600" dirty="0">
                <a:latin typeface="Vitesse"/>
              </a:rPr>
              <a:t>Linear Regression: Example 2</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ChangeArrowheads="1"/>
          </p:cNvSpPr>
          <p:nvPr/>
        </p:nvSpPr>
        <p:spPr bwMode="auto">
          <a:xfrm>
            <a:off x="3829050" y="1943100"/>
            <a:ext cx="685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pPr>
            <a:endParaRPr lang="en-US"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0660" name="Text Box 4"/>
              <p:cNvSpPr txBox="1">
                <a:spLocks noChangeArrowheads="1"/>
              </p:cNvSpPr>
              <p:nvPr/>
            </p:nvSpPr>
            <p:spPr bwMode="auto">
              <a:xfrm>
                <a:off x="139700" y="1009630"/>
                <a:ext cx="8077200" cy="3416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457200" indent="-457200">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68300" indent="-368300" eaLnBrk="1" hangingPunct="1">
                  <a:spcBef>
                    <a:spcPct val="50000"/>
                  </a:spcBef>
                  <a:buFontTx/>
                  <a:buAutoNum type="alphaLcPeriod"/>
                </a:pPr>
                <a:r>
                  <a:rPr lang="en-US" altLang="en-US" dirty="0">
                    <a:latin typeface="Helvetica" panose="020B0604020202020204" pitchFamily="34" charset="0"/>
                    <a:ea typeface="Helvetica Neue" charset="0"/>
                    <a:cs typeface="Helvetica" panose="020B0604020202020204" pitchFamily="34" charset="0"/>
                  </a:rPr>
                  <a:t>What is the estimate of the coefficient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oMath>
                </a14:m>
                <a:r>
                  <a:rPr lang="en-US" altLang="en-US" baseline="-25000" dirty="0">
                    <a:latin typeface="Times New Roman" panose="02020603050405020304" pitchFamily="18" charset="0"/>
                  </a:rPr>
                  <a:t> </a:t>
                </a:r>
                <a:r>
                  <a:rPr lang="en-US" altLang="en-US" dirty="0">
                    <a:latin typeface="Helvetica" panose="020B0604020202020204" pitchFamily="34" charset="0"/>
                    <a:ea typeface="Helvetica Neue" charset="0"/>
                    <a:cs typeface="Helvetica" panose="020B0604020202020204" pitchFamily="34" charset="0"/>
                  </a:rPr>
                  <a:t>and its variance? Interpret. What is its sampling distribution?</a:t>
                </a:r>
              </a:p>
              <a:p>
                <a:pPr marL="368300" indent="-368300" eaLnBrk="1" hangingPunct="1">
                  <a:spcBef>
                    <a:spcPct val="50000"/>
                  </a:spcBef>
                  <a:buFontTx/>
                  <a:buAutoNum type="alphaLcPeriod"/>
                </a:pPr>
                <a:r>
                  <a:rPr lang="en-US" altLang="en-US" dirty="0">
                    <a:latin typeface="Helvetica" panose="020B0604020202020204" pitchFamily="34" charset="0"/>
                    <a:ea typeface="Helvetica Neue" charset="0"/>
                    <a:cs typeface="Helvetica" panose="020B0604020202020204" pitchFamily="34" charset="0"/>
                  </a:rPr>
                  <a:t>Is the coefficient</a:t>
                </a:r>
                <a:r>
                  <a:rPr lang="en-US" altLang="en-US" dirty="0">
                    <a:latin typeface="Times New Roman" panose="020206030504050203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oMath>
                </a14:m>
                <a:r>
                  <a:rPr lang="en-US" altLang="en-US" dirty="0">
                    <a:latin typeface="Times New Roman" panose="02020603050405020304" pitchFamily="18" charset="0"/>
                  </a:rPr>
                  <a:t> </a:t>
                </a:r>
                <a:r>
                  <a:rPr lang="en-US" altLang="en-US" dirty="0">
                    <a:latin typeface="Helvetica" panose="020B0604020202020204" pitchFamily="34" charset="0"/>
                    <a:ea typeface="Helvetica Neue" charset="0"/>
                    <a:cs typeface="Helvetica" panose="020B0604020202020204" pitchFamily="34" charset="0"/>
                  </a:rPr>
                  <a:t>statistically significant? What is the p-value of the test. Interpret. </a:t>
                </a:r>
              </a:p>
              <a:p>
                <a:pPr marL="368300" indent="-368300" eaLnBrk="1" hangingPunct="1">
                  <a:spcBef>
                    <a:spcPct val="50000"/>
                  </a:spcBef>
                  <a:buFontTx/>
                  <a:buAutoNum type="alphaLcPeriod"/>
                </a:pPr>
                <a:r>
                  <a:rPr lang="en-US" altLang="en-US" dirty="0">
                    <a:latin typeface="Helvetica" panose="020B0604020202020204" pitchFamily="34" charset="0"/>
                    <a:ea typeface="Helvetica Neue" charset="0"/>
                    <a:cs typeface="Helvetica" panose="020B0604020202020204" pitchFamily="34" charset="0"/>
                  </a:rPr>
                  <a:t>What is the F-statistic for overall regression? Do we reject the null hypothesis that all regression coefficients are zero?</a:t>
                </a:r>
              </a:p>
              <a:p>
                <a:pPr marL="368300" indent="-368300" eaLnBrk="1" hangingPunct="1">
                  <a:spcBef>
                    <a:spcPct val="50000"/>
                  </a:spcBef>
                  <a:buFontTx/>
                  <a:buAutoNum type="alphaLcPeriod"/>
                </a:pPr>
                <a:r>
                  <a:rPr lang="en-US" altLang="en-US" dirty="0">
                    <a:latin typeface="Helvetica" panose="020B0604020202020204" pitchFamily="34" charset="0"/>
                    <a:ea typeface="Helvetica Neue" charset="0"/>
                    <a:cs typeface="Helvetica" panose="020B0604020202020204" pitchFamily="34" charset="0"/>
                  </a:rPr>
                  <a:t>Obtain the 99% confidence interval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oMath>
                </a14:m>
                <a:r>
                  <a:rPr lang="en-US" altLang="en-US" dirty="0">
                    <a:latin typeface="Helvetica Neue" charset="0"/>
                    <a:ea typeface="Helvetica Neue" charset="0"/>
                    <a:cs typeface="Helvetica Neue" charset="0"/>
                  </a:rPr>
                  <a:t>.</a:t>
                </a:r>
                <a:endParaRPr lang="en-US" altLang="en-US" baseline="-25000" dirty="0">
                  <a:latin typeface="Times New Roman" panose="02020603050405020304" pitchFamily="18" charset="0"/>
                </a:endParaRPr>
              </a:p>
              <a:p>
                <a:pPr marL="368300" indent="-368300" eaLnBrk="1" hangingPunct="1">
                  <a:spcBef>
                    <a:spcPct val="50000"/>
                  </a:spcBef>
                  <a:buFontTx/>
                  <a:buAutoNum type="alphaLcPeriod"/>
                </a:pPr>
                <a:r>
                  <a:rPr lang="en-US" altLang="en-US" dirty="0">
                    <a:latin typeface="Helvetica" panose="020B0604020202020204" pitchFamily="34" charset="0"/>
                    <a:ea typeface="Helvetica Neue" charset="0"/>
                    <a:cs typeface="Helvetica" panose="020B0604020202020204" pitchFamily="34" charset="0"/>
                  </a:rPr>
                  <a:t>Given the controlling factors, test the null hypothesis that the coefficients of the other variables are zero. Clearly state the hypothesis test. Show how you perform the test. Interpret the results.  </a:t>
                </a:r>
              </a:p>
            </p:txBody>
          </p:sp>
        </mc:Choice>
        <mc:Fallback xmlns="">
          <p:sp>
            <p:nvSpPr>
              <p:cNvPr id="70660" name="Text Box 4"/>
              <p:cNvSpPr txBox="1">
                <a:spLocks noRot="1" noChangeAspect="1" noMove="1" noResize="1" noEditPoints="1" noAdjustHandles="1" noChangeArrowheads="1" noChangeShapeType="1" noTextEdit="1"/>
              </p:cNvSpPr>
              <p:nvPr/>
            </p:nvSpPr>
            <p:spPr bwMode="auto">
              <a:xfrm>
                <a:off x="139700" y="1009630"/>
                <a:ext cx="8077200" cy="3416320"/>
              </a:xfrm>
              <a:prstGeom prst="rect">
                <a:avLst/>
              </a:prstGeom>
              <a:blipFill>
                <a:blip r:embed="rId3"/>
                <a:stretch>
                  <a:fillRect l="-528" t="-1071" r="-377" b="-19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B06B8F0-BFC6-44E2-A249-D4A05C3EEA3D}"/>
              </a:ext>
            </a:extLst>
          </p:cNvPr>
          <p:cNvGraphicFramePr>
            <a:graphicFrameLocks noGrp="1"/>
          </p:cNvGraphicFramePr>
          <p:nvPr>
            <p:extLst>
              <p:ext uri="{D42A27DB-BD31-4B8C-83A1-F6EECF244321}">
                <p14:modId xmlns:p14="http://schemas.microsoft.com/office/powerpoint/2010/main" val="268031549"/>
              </p:ext>
            </p:extLst>
          </p:nvPr>
        </p:nvGraphicFramePr>
        <p:xfrm>
          <a:off x="152400" y="2190750"/>
          <a:ext cx="4484688" cy="1452376"/>
        </p:xfrm>
        <a:graphic>
          <a:graphicData uri="http://schemas.openxmlformats.org/drawingml/2006/table">
            <a:tbl>
              <a:tblPr firstRow="1" firstCol="1" bandRow="1">
                <a:tableStyleId>{5C22544A-7EE6-4342-B048-85BDC9FD1C3A}</a:tableStyleId>
              </a:tblPr>
              <a:tblGrid>
                <a:gridCol w="847790">
                  <a:extLst>
                    <a:ext uri="{9D8B030D-6E8A-4147-A177-3AD203B41FA5}">
                      <a16:colId xmlns:a16="http://schemas.microsoft.com/office/drawing/2014/main" val="1493531966"/>
                    </a:ext>
                  </a:extLst>
                </a:gridCol>
                <a:gridCol w="904888">
                  <a:extLst>
                    <a:ext uri="{9D8B030D-6E8A-4147-A177-3AD203B41FA5}">
                      <a16:colId xmlns:a16="http://schemas.microsoft.com/office/drawing/2014/main" val="1253998440"/>
                    </a:ext>
                  </a:extLst>
                </a:gridCol>
                <a:gridCol w="975718">
                  <a:extLst>
                    <a:ext uri="{9D8B030D-6E8A-4147-A177-3AD203B41FA5}">
                      <a16:colId xmlns:a16="http://schemas.microsoft.com/office/drawing/2014/main" val="1034567570"/>
                    </a:ext>
                  </a:extLst>
                </a:gridCol>
                <a:gridCol w="650479">
                  <a:extLst>
                    <a:ext uri="{9D8B030D-6E8A-4147-A177-3AD203B41FA5}">
                      <a16:colId xmlns:a16="http://schemas.microsoft.com/office/drawing/2014/main" val="1245951573"/>
                    </a:ext>
                  </a:extLst>
                </a:gridCol>
                <a:gridCol w="1105813">
                  <a:extLst>
                    <a:ext uri="{9D8B030D-6E8A-4147-A177-3AD203B41FA5}">
                      <a16:colId xmlns:a16="http://schemas.microsoft.com/office/drawing/2014/main" val="207992658"/>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Estimate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Std. Error</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t value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Pr(&gt;|t|)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78646339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-94.659109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211.509584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-0.448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0.656731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618788288"/>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takers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-0.480080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0.693711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-0.692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0.492628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63258682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rank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8.476217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2.107807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4.021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0.000230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04358379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income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-0.008195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0.152358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-0.054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0.957353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503372411"/>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years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22.610082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6.314577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3.581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0.000866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38834333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public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-0.464152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0.579104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-0.802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0.427249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95985016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expend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2.212005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0.845972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2.615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0.012263 *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703696266"/>
                  </a:ext>
                </a:extLst>
              </a:tr>
            </a:tbl>
          </a:graphicData>
        </a:graphic>
      </p:graphicFrame>
      <p:sp>
        <p:nvSpPr>
          <p:cNvPr id="71683" name="TextBox 4"/>
          <p:cNvSpPr txBox="1">
            <a:spLocks noChangeArrowheads="1"/>
          </p:cNvSpPr>
          <p:nvPr/>
        </p:nvSpPr>
        <p:spPr bwMode="auto">
          <a:xfrm>
            <a:off x="152400" y="1084282"/>
            <a:ext cx="752348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r>
              <a:rPr lang="en-US" altLang="en-US" sz="1200" b="1" dirty="0">
                <a:solidFill>
                  <a:srgbClr val="EEB211"/>
                </a:solidFill>
                <a:latin typeface="Helvetica" panose="020B0604020202020204" pitchFamily="34" charset="0"/>
                <a:ea typeface="Helvetica Neue" charset="0"/>
                <a:cs typeface="Helvetica" panose="020B0604020202020204" pitchFamily="34" charset="0"/>
              </a:rPr>
              <a:t>## Read the data using the '</a:t>
            </a:r>
            <a:r>
              <a:rPr lang="en-US" altLang="en-US" sz="1200" b="1" dirty="0" err="1">
                <a:solidFill>
                  <a:srgbClr val="EEB211"/>
                </a:solidFill>
                <a:latin typeface="Helvetica" panose="020B0604020202020204" pitchFamily="34" charset="0"/>
                <a:ea typeface="Helvetica Neue" charset="0"/>
                <a:cs typeface="Helvetica" panose="020B0604020202020204" pitchFamily="34" charset="0"/>
              </a:rPr>
              <a:t>read.table</a:t>
            </a:r>
            <a:r>
              <a:rPr lang="en-US" altLang="en-US" sz="1200" b="1" dirty="0">
                <a:solidFill>
                  <a:srgbClr val="EEB211"/>
                </a:solidFill>
                <a:latin typeface="Helvetica" panose="020B0604020202020204" pitchFamily="34" charset="0"/>
                <a:ea typeface="Helvetica Neue" charset="0"/>
                <a:cs typeface="Helvetica" panose="020B0604020202020204" pitchFamily="34" charset="0"/>
              </a:rPr>
              <a:t>()' R command </a:t>
            </a:r>
          </a:p>
          <a:p>
            <a:r>
              <a:rPr lang="en-US" altLang="en-US" sz="1200" i="1" dirty="0">
                <a:latin typeface="Helvetica" panose="020B0604020202020204" pitchFamily="34" charset="0"/>
                <a:ea typeface="Helvetica Neue" charset="0"/>
                <a:cs typeface="Helvetica" panose="020B0604020202020204" pitchFamily="34" charset="0"/>
              </a:rPr>
              <a:t>data = </a:t>
            </a:r>
            <a:r>
              <a:rPr lang="en-US" altLang="en-US" sz="1200" i="1" dirty="0" err="1">
                <a:latin typeface="Helvetica" panose="020B0604020202020204" pitchFamily="34" charset="0"/>
                <a:ea typeface="Helvetica Neue" charset="0"/>
                <a:cs typeface="Helvetica" panose="020B0604020202020204" pitchFamily="34" charset="0"/>
              </a:rPr>
              <a:t>read.table</a:t>
            </a:r>
            <a:r>
              <a:rPr lang="en-US" altLang="en-US" sz="1200" i="1" dirty="0">
                <a:latin typeface="Helvetica" panose="020B0604020202020204" pitchFamily="34" charset="0"/>
                <a:ea typeface="Helvetica Neue" charset="0"/>
                <a:cs typeface="Helvetica" panose="020B0604020202020204" pitchFamily="34" charset="0"/>
              </a:rPr>
              <a:t>("SATData.txt", header = TRUE)</a:t>
            </a:r>
          </a:p>
          <a:p>
            <a:r>
              <a:rPr lang="en-US" altLang="en-US" sz="1200" i="1" dirty="0">
                <a:latin typeface="Helvetica" panose="020B0604020202020204" pitchFamily="34" charset="0"/>
                <a:ea typeface="Helvetica Neue" charset="0"/>
                <a:cs typeface="Helvetica" panose="020B0604020202020204" pitchFamily="34" charset="0"/>
              </a:rPr>
              <a:t>attach(data)</a:t>
            </a:r>
          </a:p>
          <a:p>
            <a:r>
              <a:rPr lang="en-US" altLang="en-US" sz="1200" i="1" dirty="0" err="1">
                <a:latin typeface="Helvetica" panose="020B0604020202020204" pitchFamily="34" charset="0"/>
                <a:ea typeface="Helvetica Neue" charset="0"/>
                <a:cs typeface="Helvetica" panose="020B0604020202020204" pitchFamily="34" charset="0"/>
              </a:rPr>
              <a:t>regression.line</a:t>
            </a:r>
            <a:r>
              <a:rPr lang="en-US" altLang="en-US" sz="1200" i="1" dirty="0">
                <a:latin typeface="Helvetica" panose="020B0604020202020204" pitchFamily="34" charset="0"/>
                <a:ea typeface="Helvetica Neue" charset="0"/>
                <a:cs typeface="Helvetica" panose="020B0604020202020204" pitchFamily="34" charset="0"/>
              </a:rPr>
              <a:t> = lm(sat ~ takers + rank + income + years + public + expend)</a:t>
            </a:r>
          </a:p>
          <a:p>
            <a:r>
              <a:rPr lang="en-US" altLang="en-US" sz="1200" i="1" dirty="0">
                <a:latin typeface="Helvetica" panose="020B0604020202020204" pitchFamily="34" charset="0"/>
                <a:ea typeface="Helvetica Neue" charset="0"/>
                <a:cs typeface="Helvetica" panose="020B0604020202020204" pitchFamily="34" charset="0"/>
              </a:rPr>
              <a:t>summary(</a:t>
            </a:r>
            <a:r>
              <a:rPr lang="en-US" altLang="en-US" sz="1200" i="1" dirty="0" err="1">
                <a:latin typeface="Helvetica" panose="020B0604020202020204" pitchFamily="34" charset="0"/>
                <a:ea typeface="Helvetica Neue" charset="0"/>
                <a:cs typeface="Helvetica" panose="020B0604020202020204" pitchFamily="34" charset="0"/>
              </a:rPr>
              <a:t>regression.line</a:t>
            </a:r>
            <a:r>
              <a:rPr lang="en-US" altLang="en-US" sz="1200" i="1" dirty="0">
                <a:latin typeface="Helvetica" panose="020B0604020202020204" pitchFamily="34" charset="0"/>
                <a:ea typeface="Helvetica Neue" charset="0"/>
                <a:cs typeface="Helvetica" panose="020B0604020202020204" pitchFamily="34" charset="0"/>
              </a:rPr>
              <a:t>)</a:t>
            </a:r>
            <a:endParaRPr lang="en-US" altLang="en-US" sz="1200" b="1" i="1" dirty="0">
              <a:latin typeface="Helvetica" panose="020B0604020202020204" pitchFamily="34" charset="0"/>
              <a:ea typeface="Helvetica Neue" charset="0"/>
              <a:cs typeface="Helvetica" panose="020B0604020202020204" pitchFamily="34" charset="0"/>
            </a:endParaRPr>
          </a:p>
          <a:p>
            <a:r>
              <a:rPr lang="en-US" altLang="en-US" sz="1200" b="1" dirty="0">
                <a:latin typeface="Helvetica" panose="020B0604020202020204" pitchFamily="34" charset="0"/>
                <a:ea typeface="Helvetica Neue" charset="0"/>
                <a:cs typeface="Helvetica" panose="020B0604020202020204" pitchFamily="34" charset="0"/>
              </a:rPr>
              <a:t>Coefficients:</a:t>
            </a: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r>
              <a:rPr lang="en-US" altLang="en-US" sz="1200" b="1" dirty="0">
                <a:latin typeface="Helvetica" panose="020B0604020202020204" pitchFamily="34" charset="0"/>
                <a:ea typeface="Helvetica Neue" charset="0"/>
                <a:cs typeface="Helvetica" panose="020B0604020202020204" pitchFamily="34" charset="0"/>
              </a:rPr>
              <a:t>---</a:t>
            </a:r>
          </a:p>
          <a:p>
            <a:r>
              <a:rPr lang="en-US" altLang="en-US" sz="1200" dirty="0" err="1">
                <a:latin typeface="Helvetica" panose="020B0604020202020204" pitchFamily="34" charset="0"/>
                <a:ea typeface="Helvetica Neue" charset="0"/>
                <a:cs typeface="Helvetica" panose="020B0604020202020204" pitchFamily="34" charset="0"/>
              </a:rPr>
              <a:t>Signif</a:t>
            </a:r>
            <a:r>
              <a:rPr lang="en-US" altLang="en-US" sz="1200" dirty="0">
                <a:latin typeface="Helvetica" panose="020B0604020202020204" pitchFamily="34" charset="0"/>
                <a:ea typeface="Helvetica Neue" charset="0"/>
                <a:cs typeface="Helvetica" panose="020B0604020202020204" pitchFamily="34" charset="0"/>
              </a:rPr>
              <a:t>. codes:  0 ‘***’ 0.001 ‘**’ 0.01 ‘*’ 0.05 ‘.’ 0.1 ‘ ’ 1</a:t>
            </a:r>
          </a:p>
          <a:p>
            <a:endParaRPr lang="en-US" altLang="en-US" sz="1200" dirty="0">
              <a:latin typeface="Helvetica" panose="020B0604020202020204" pitchFamily="34" charset="0"/>
              <a:ea typeface="Helvetica Neue" charset="0"/>
              <a:cs typeface="Helvetica" panose="020B0604020202020204" pitchFamily="34" charset="0"/>
            </a:endParaRPr>
          </a:p>
          <a:p>
            <a:r>
              <a:rPr lang="en-US" altLang="en-US" sz="1200" dirty="0">
                <a:latin typeface="Helvetica" panose="020B0604020202020204" pitchFamily="34" charset="0"/>
                <a:ea typeface="Helvetica Neue" charset="0"/>
                <a:cs typeface="Helvetica" panose="020B0604020202020204" pitchFamily="34" charset="0"/>
              </a:rPr>
              <a:t>Residual standard error: 26.34 on 43 degrees of freedom</a:t>
            </a:r>
          </a:p>
          <a:p>
            <a:r>
              <a:rPr lang="en-US" altLang="en-US" sz="1200" dirty="0">
                <a:latin typeface="Helvetica" panose="020B0604020202020204" pitchFamily="34" charset="0"/>
                <a:ea typeface="Helvetica Neue" charset="0"/>
                <a:cs typeface="Helvetica" panose="020B0604020202020204" pitchFamily="34" charset="0"/>
              </a:rPr>
              <a:t>Multiple R-squared:  0.8787,    Adjusted R-squared:  0.8618 </a:t>
            </a:r>
          </a:p>
          <a:p>
            <a:r>
              <a:rPr lang="en-US" altLang="en-US" sz="1200" dirty="0">
                <a:latin typeface="Helvetica" panose="020B0604020202020204" pitchFamily="34" charset="0"/>
                <a:ea typeface="Helvetica Neue" charset="0"/>
                <a:cs typeface="Helvetica" panose="020B0604020202020204" pitchFamily="34" charset="0"/>
              </a:rPr>
              <a:t>F-statistic: 51.91 on 6 and 43 DF,  p-value: &lt; 2.2e-16</a:t>
            </a:r>
            <a:endParaRPr lang="en-US" altLang="en-US" sz="1200" i="1" dirty="0">
              <a:latin typeface="Helvetica" panose="020B0604020202020204" pitchFamily="34" charset="0"/>
              <a:ea typeface="Helvetica Neue" charset="0"/>
              <a:cs typeface="Helvetica" panose="020B0604020202020204" pitchFamily="34" charset="0"/>
            </a:endParaRPr>
          </a:p>
        </p:txBody>
      </p:sp>
      <p:sp>
        <p:nvSpPr>
          <p:cNvPr id="5"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p:sp>
        <p:nvSpPr>
          <p:cNvPr id="3" name="Rectangle 1">
            <a:extLst>
              <a:ext uri="{FF2B5EF4-FFF2-40B4-BE49-F238E27FC236}">
                <a16:creationId xmlns:a16="http://schemas.microsoft.com/office/drawing/2014/main" id="{C9FD22CD-95A5-4AC3-ABB5-53D036AD713B}"/>
              </a:ext>
            </a:extLst>
          </p:cNvPr>
          <p:cNvSpPr>
            <a:spLocks noChangeArrowheads="1"/>
          </p:cNvSpPr>
          <p:nvPr/>
        </p:nvSpPr>
        <p:spPr bwMode="auto">
          <a:xfrm>
            <a:off x="2601913" y="23161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ustDataLst>
      <p:tags r:id="rId1"/>
    </p:custDataLst>
    <p:extLst>
      <p:ext uri="{BB962C8B-B14F-4D97-AF65-F5344CB8AC3E}">
        <p14:creationId xmlns:p14="http://schemas.microsoft.com/office/powerpoint/2010/main" val="1341483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FE73B0C7-FDB0-4B0A-A9FD-263CA3B032E3}"/>
              </a:ext>
            </a:extLst>
          </p:cNvPr>
          <p:cNvGraphicFramePr>
            <a:graphicFrameLocks noGrp="1"/>
          </p:cNvGraphicFramePr>
          <p:nvPr>
            <p:extLst>
              <p:ext uri="{D42A27DB-BD31-4B8C-83A1-F6EECF244321}">
                <p14:modId xmlns:p14="http://schemas.microsoft.com/office/powerpoint/2010/main" val="3419997070"/>
              </p:ext>
            </p:extLst>
          </p:nvPr>
        </p:nvGraphicFramePr>
        <p:xfrm>
          <a:off x="152400" y="2190750"/>
          <a:ext cx="4484688" cy="1452376"/>
        </p:xfrm>
        <a:graphic>
          <a:graphicData uri="http://schemas.openxmlformats.org/drawingml/2006/table">
            <a:tbl>
              <a:tblPr firstRow="1" firstCol="1" bandRow="1">
                <a:tableStyleId>{5C22544A-7EE6-4342-B048-85BDC9FD1C3A}</a:tableStyleId>
              </a:tblPr>
              <a:tblGrid>
                <a:gridCol w="847790">
                  <a:extLst>
                    <a:ext uri="{9D8B030D-6E8A-4147-A177-3AD203B41FA5}">
                      <a16:colId xmlns:a16="http://schemas.microsoft.com/office/drawing/2014/main" val="1493531966"/>
                    </a:ext>
                  </a:extLst>
                </a:gridCol>
                <a:gridCol w="904888">
                  <a:extLst>
                    <a:ext uri="{9D8B030D-6E8A-4147-A177-3AD203B41FA5}">
                      <a16:colId xmlns:a16="http://schemas.microsoft.com/office/drawing/2014/main" val="1253998440"/>
                    </a:ext>
                  </a:extLst>
                </a:gridCol>
                <a:gridCol w="975718">
                  <a:extLst>
                    <a:ext uri="{9D8B030D-6E8A-4147-A177-3AD203B41FA5}">
                      <a16:colId xmlns:a16="http://schemas.microsoft.com/office/drawing/2014/main" val="1034567570"/>
                    </a:ext>
                  </a:extLst>
                </a:gridCol>
                <a:gridCol w="650479">
                  <a:extLst>
                    <a:ext uri="{9D8B030D-6E8A-4147-A177-3AD203B41FA5}">
                      <a16:colId xmlns:a16="http://schemas.microsoft.com/office/drawing/2014/main" val="1245951573"/>
                    </a:ext>
                  </a:extLst>
                </a:gridCol>
                <a:gridCol w="1105813">
                  <a:extLst>
                    <a:ext uri="{9D8B030D-6E8A-4147-A177-3AD203B41FA5}">
                      <a16:colId xmlns:a16="http://schemas.microsoft.com/office/drawing/2014/main" val="207992658"/>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Estimate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Std. Error</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t value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Pr(&gt;|t|)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78646339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-94.659109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211.509584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-0.448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0.656731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618788288"/>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takers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-0.480080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0.693711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-0.692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0.492628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63258682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rank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8.476217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2.107807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4.021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0.000230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04358379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income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-0.008195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0.152358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-0.054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0.957353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503372411"/>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years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22.610082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6.314577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3.581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0.000866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38834333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public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-0.464152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0.579104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-0.802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0.427249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95985016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expend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2.212005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0.845972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2.615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0.012263 *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703696266"/>
                  </a:ext>
                </a:extLst>
              </a:tr>
            </a:tbl>
          </a:graphicData>
        </a:graphic>
      </p:graphicFrame>
      <p:sp>
        <p:nvSpPr>
          <p:cNvPr id="22" name="TextBox 4"/>
          <p:cNvSpPr txBox="1">
            <a:spLocks noChangeArrowheads="1"/>
          </p:cNvSpPr>
          <p:nvPr/>
        </p:nvSpPr>
        <p:spPr bwMode="auto">
          <a:xfrm>
            <a:off x="152400" y="1084282"/>
            <a:ext cx="752348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r>
              <a:rPr lang="en-US" altLang="en-US" sz="1200" b="1" dirty="0">
                <a:solidFill>
                  <a:srgbClr val="EEB211"/>
                </a:solidFill>
                <a:latin typeface="Helvetica" panose="020B0604020202020204" pitchFamily="34" charset="0"/>
                <a:ea typeface="Helvetica Neue" charset="0"/>
                <a:cs typeface="Helvetica" panose="020B0604020202020204" pitchFamily="34" charset="0"/>
              </a:rPr>
              <a:t>## Read the data using the '</a:t>
            </a:r>
            <a:r>
              <a:rPr lang="en-US" altLang="en-US" sz="1200" b="1" dirty="0" err="1">
                <a:solidFill>
                  <a:srgbClr val="EEB211"/>
                </a:solidFill>
                <a:latin typeface="Helvetica" panose="020B0604020202020204" pitchFamily="34" charset="0"/>
                <a:ea typeface="Helvetica Neue" charset="0"/>
                <a:cs typeface="Helvetica" panose="020B0604020202020204" pitchFamily="34" charset="0"/>
              </a:rPr>
              <a:t>read.table</a:t>
            </a:r>
            <a:r>
              <a:rPr lang="en-US" altLang="en-US" sz="1200" b="1" dirty="0">
                <a:solidFill>
                  <a:srgbClr val="EEB211"/>
                </a:solidFill>
                <a:latin typeface="Helvetica" panose="020B0604020202020204" pitchFamily="34" charset="0"/>
                <a:ea typeface="Helvetica Neue" charset="0"/>
                <a:cs typeface="Helvetica" panose="020B0604020202020204" pitchFamily="34" charset="0"/>
              </a:rPr>
              <a:t>()' R command </a:t>
            </a:r>
          </a:p>
          <a:p>
            <a:r>
              <a:rPr lang="en-US" altLang="en-US" sz="1200" i="1" dirty="0">
                <a:latin typeface="Helvetica" panose="020B0604020202020204" pitchFamily="34" charset="0"/>
                <a:ea typeface="Helvetica Neue" charset="0"/>
                <a:cs typeface="Helvetica" panose="020B0604020202020204" pitchFamily="34" charset="0"/>
              </a:rPr>
              <a:t>data = </a:t>
            </a:r>
            <a:r>
              <a:rPr lang="en-US" altLang="en-US" sz="1200" i="1" dirty="0" err="1">
                <a:latin typeface="Helvetica" panose="020B0604020202020204" pitchFamily="34" charset="0"/>
                <a:ea typeface="Helvetica Neue" charset="0"/>
                <a:cs typeface="Helvetica" panose="020B0604020202020204" pitchFamily="34" charset="0"/>
              </a:rPr>
              <a:t>read.table</a:t>
            </a:r>
            <a:r>
              <a:rPr lang="en-US" altLang="en-US" sz="1200" i="1" dirty="0">
                <a:latin typeface="Helvetica" panose="020B0604020202020204" pitchFamily="34" charset="0"/>
                <a:ea typeface="Helvetica Neue" charset="0"/>
                <a:cs typeface="Helvetica" panose="020B0604020202020204" pitchFamily="34" charset="0"/>
              </a:rPr>
              <a:t>("SATData.txt", header = TRUE)</a:t>
            </a:r>
          </a:p>
          <a:p>
            <a:r>
              <a:rPr lang="en-US" altLang="en-US" sz="1200" i="1" dirty="0">
                <a:latin typeface="Helvetica" panose="020B0604020202020204" pitchFamily="34" charset="0"/>
                <a:ea typeface="Helvetica Neue" charset="0"/>
                <a:cs typeface="Helvetica" panose="020B0604020202020204" pitchFamily="34" charset="0"/>
              </a:rPr>
              <a:t>attach(data)</a:t>
            </a:r>
          </a:p>
          <a:p>
            <a:r>
              <a:rPr lang="en-US" altLang="en-US" sz="1200" i="1" dirty="0" err="1">
                <a:latin typeface="Helvetica" panose="020B0604020202020204" pitchFamily="34" charset="0"/>
                <a:ea typeface="Helvetica Neue" charset="0"/>
                <a:cs typeface="Helvetica" panose="020B0604020202020204" pitchFamily="34" charset="0"/>
              </a:rPr>
              <a:t>regression.line</a:t>
            </a:r>
            <a:r>
              <a:rPr lang="en-US" altLang="en-US" sz="1200" i="1" dirty="0">
                <a:latin typeface="Helvetica" panose="020B0604020202020204" pitchFamily="34" charset="0"/>
                <a:ea typeface="Helvetica Neue" charset="0"/>
                <a:cs typeface="Helvetica" panose="020B0604020202020204" pitchFamily="34" charset="0"/>
              </a:rPr>
              <a:t> = lm(sat ~ takers + rank + income + years + public + expend)</a:t>
            </a:r>
          </a:p>
          <a:p>
            <a:r>
              <a:rPr lang="en-US" altLang="en-US" sz="1200" i="1" dirty="0">
                <a:latin typeface="Helvetica" panose="020B0604020202020204" pitchFamily="34" charset="0"/>
                <a:ea typeface="Helvetica Neue" charset="0"/>
                <a:cs typeface="Helvetica" panose="020B0604020202020204" pitchFamily="34" charset="0"/>
              </a:rPr>
              <a:t>summary(</a:t>
            </a:r>
            <a:r>
              <a:rPr lang="en-US" altLang="en-US" sz="1200" i="1" dirty="0" err="1">
                <a:latin typeface="Helvetica" panose="020B0604020202020204" pitchFamily="34" charset="0"/>
                <a:ea typeface="Helvetica Neue" charset="0"/>
                <a:cs typeface="Helvetica" panose="020B0604020202020204" pitchFamily="34" charset="0"/>
              </a:rPr>
              <a:t>regression.line</a:t>
            </a:r>
            <a:r>
              <a:rPr lang="en-US" altLang="en-US" sz="1200" i="1" dirty="0">
                <a:latin typeface="Helvetica" panose="020B0604020202020204" pitchFamily="34" charset="0"/>
                <a:ea typeface="Helvetica Neue" charset="0"/>
                <a:cs typeface="Helvetica" panose="020B0604020202020204" pitchFamily="34" charset="0"/>
              </a:rPr>
              <a:t>)</a:t>
            </a:r>
            <a:endParaRPr lang="en-US" altLang="en-US" sz="1200" b="1" i="1" dirty="0">
              <a:latin typeface="Helvetica" panose="020B0604020202020204" pitchFamily="34" charset="0"/>
              <a:ea typeface="Helvetica Neue" charset="0"/>
              <a:cs typeface="Helvetica" panose="020B0604020202020204" pitchFamily="34" charset="0"/>
            </a:endParaRPr>
          </a:p>
          <a:p>
            <a:r>
              <a:rPr lang="en-US" altLang="en-US" sz="1200" b="1" dirty="0">
                <a:latin typeface="Helvetica" panose="020B0604020202020204" pitchFamily="34" charset="0"/>
                <a:ea typeface="Helvetica Neue" charset="0"/>
                <a:cs typeface="Helvetica" panose="020B0604020202020204" pitchFamily="34" charset="0"/>
              </a:rPr>
              <a:t>Coefficients:</a:t>
            </a: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endParaRPr lang="en-US" altLang="en-US" sz="1200" b="1" dirty="0">
              <a:latin typeface="Helvetica" panose="020B0604020202020204" pitchFamily="34" charset="0"/>
              <a:ea typeface="Helvetica Neue" charset="0"/>
              <a:cs typeface="Helvetica" panose="020B0604020202020204" pitchFamily="34" charset="0"/>
            </a:endParaRPr>
          </a:p>
          <a:p>
            <a:r>
              <a:rPr lang="en-US" altLang="en-US" sz="1200" b="1" dirty="0">
                <a:latin typeface="Helvetica" panose="020B0604020202020204" pitchFamily="34" charset="0"/>
                <a:ea typeface="Helvetica Neue" charset="0"/>
                <a:cs typeface="Helvetica" panose="020B0604020202020204" pitchFamily="34" charset="0"/>
              </a:rPr>
              <a:t>---</a:t>
            </a:r>
          </a:p>
          <a:p>
            <a:r>
              <a:rPr lang="en-US" altLang="en-US" sz="1200" dirty="0" err="1">
                <a:latin typeface="Helvetica" panose="020B0604020202020204" pitchFamily="34" charset="0"/>
                <a:ea typeface="Helvetica Neue" charset="0"/>
                <a:cs typeface="Helvetica" panose="020B0604020202020204" pitchFamily="34" charset="0"/>
              </a:rPr>
              <a:t>Signif</a:t>
            </a:r>
            <a:r>
              <a:rPr lang="en-US" altLang="en-US" sz="1200" dirty="0">
                <a:latin typeface="Helvetica" panose="020B0604020202020204" pitchFamily="34" charset="0"/>
                <a:ea typeface="Helvetica Neue" charset="0"/>
                <a:cs typeface="Helvetica" panose="020B0604020202020204" pitchFamily="34" charset="0"/>
              </a:rPr>
              <a:t>. codes:  0 ‘***’ 0.001 ‘**’ 0.01 ‘*’ 0.05 ‘.’ 0.1 ‘ ’ 1</a:t>
            </a:r>
          </a:p>
          <a:p>
            <a:endParaRPr lang="en-US" altLang="en-US" sz="1200" dirty="0">
              <a:latin typeface="Helvetica" panose="020B0604020202020204" pitchFamily="34" charset="0"/>
              <a:ea typeface="Helvetica Neue" charset="0"/>
              <a:cs typeface="Helvetica" panose="020B0604020202020204" pitchFamily="34" charset="0"/>
            </a:endParaRPr>
          </a:p>
          <a:p>
            <a:r>
              <a:rPr lang="en-US" altLang="en-US" sz="1200" dirty="0">
                <a:latin typeface="Helvetica" panose="020B0604020202020204" pitchFamily="34" charset="0"/>
                <a:ea typeface="Helvetica Neue" charset="0"/>
                <a:cs typeface="Helvetica" panose="020B0604020202020204" pitchFamily="34" charset="0"/>
              </a:rPr>
              <a:t>Residual standard error: 26.34 on 43 degrees of freedom</a:t>
            </a:r>
          </a:p>
          <a:p>
            <a:r>
              <a:rPr lang="en-US" altLang="en-US" sz="1200" dirty="0">
                <a:latin typeface="Helvetica" panose="020B0604020202020204" pitchFamily="34" charset="0"/>
                <a:ea typeface="Helvetica Neue" charset="0"/>
                <a:cs typeface="Helvetica" panose="020B0604020202020204" pitchFamily="34" charset="0"/>
              </a:rPr>
              <a:t>Multiple R-squared:  0.8787,    Adjusted R-squared:  0.8618 </a:t>
            </a:r>
          </a:p>
          <a:p>
            <a:r>
              <a:rPr lang="en-US" altLang="en-US" sz="1200" dirty="0">
                <a:latin typeface="Helvetica" panose="020B0604020202020204" pitchFamily="34" charset="0"/>
                <a:ea typeface="Helvetica Neue" charset="0"/>
                <a:cs typeface="Helvetica" panose="020B0604020202020204" pitchFamily="34" charset="0"/>
              </a:rPr>
              <a:t>F-statistic: 51.91 on 6 and 43 DF,  p-value: &lt; 2.2e-16</a:t>
            </a:r>
            <a:endParaRPr lang="en-US" altLang="en-US" sz="1200" i="1" dirty="0">
              <a:latin typeface="Helvetica" panose="020B0604020202020204" pitchFamily="34" charset="0"/>
              <a:ea typeface="Helvetica Neue" charset="0"/>
              <a:cs typeface="Helvetica" panose="020B0604020202020204" pitchFamily="34" charset="0"/>
            </a:endParaRPr>
          </a:p>
        </p:txBody>
      </p:sp>
      <p:sp>
        <p:nvSpPr>
          <p:cNvPr id="23"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A91078C-3A85-4658-A257-C6CE710E9CD9}"/>
                  </a:ext>
                </a:extLst>
              </p:cNvPr>
              <p:cNvSpPr txBox="1"/>
              <p:nvPr/>
            </p:nvSpPr>
            <p:spPr>
              <a:xfrm>
                <a:off x="5486400" y="1276350"/>
                <a:ext cx="3045620" cy="977447"/>
              </a:xfrm>
              <a:prstGeom prst="rect">
                <a:avLst/>
              </a:prstGeom>
              <a:noFill/>
              <a:ln w="19050">
                <a:solidFill>
                  <a:schemeClr val="tx2"/>
                </a:solidFill>
              </a:ln>
            </p:spPr>
            <p:txBody>
              <a:bodyPr wrap="square" rtlCol="0">
                <a:spAutoFit/>
              </a:bodyPr>
              <a:lstStyle/>
              <a:p>
                <a:pPr>
                  <a:tabLst>
                    <a:tab pos="230188" algn="l"/>
                  </a:tabLst>
                </a:pPr>
                <a:r>
                  <a:rPr lang="en-US" sz="1400" b="1" dirty="0">
                    <a:latin typeface="Helvetica" panose="020B0604020202020204" pitchFamily="34" charset="0"/>
                    <a:ea typeface="Helvetica Neue" charset="0"/>
                    <a:cs typeface="Helvetica" panose="020B0604020202020204" pitchFamily="34" charset="0"/>
                  </a:rPr>
                  <a:t>a.	</a:t>
                </a:r>
                <a:r>
                  <a:rPr lang="en-US" sz="1400" b="1" dirty="0">
                    <a:solidFill>
                      <a:schemeClr val="tx1"/>
                    </a:solidFill>
                    <a:latin typeface="Helvetica" panose="020B0604020202020204" pitchFamily="34" charset="0"/>
                    <a:ea typeface="Helvetica Neue" charset="0"/>
                    <a:cs typeface="Helvetica" panose="020B0604020202020204" pitchFamily="34" charset="0"/>
                  </a:rPr>
                  <a:t>Estimation and distribution</a:t>
                </a:r>
                <a:r>
                  <a:rPr lang="en-US" sz="1400" dirty="0">
                    <a:solidFill>
                      <a:schemeClr val="tx1"/>
                    </a:solidFill>
                    <a:latin typeface="Helvetica" panose="020B0604020202020204" pitchFamily="34" charset="0"/>
                    <a:ea typeface="Helvetica Neue" charset="0"/>
                    <a:cs typeface="Helvetica" panose="020B0604020202020204" pitchFamily="34" charset="0"/>
                  </a:rPr>
                  <a:t>:</a:t>
                </a:r>
              </a:p>
              <a:p>
                <a:pPr marL="230188"/>
                <a14:m>
                  <m:oMath xmlns:m="http://schemas.openxmlformats.org/officeDocument/2006/math">
                    <m:sSub>
                      <m:sSubPr>
                        <m:ctrlPr>
                          <a:rPr lang="en-US" sz="1400" i="1">
                            <a:solidFill>
                              <a:schemeClr val="tx1"/>
                            </a:solidFill>
                            <a:latin typeface="Cambria Math" panose="02040503050406030204" pitchFamily="18" charset="0"/>
                            <a:ea typeface="Helvetica Neue" charset="0"/>
                            <a:cs typeface="Helvetica Neue" charset="0"/>
                          </a:rPr>
                        </m:ctrlPr>
                      </m:sSubPr>
                      <m:e>
                        <m:acc>
                          <m:accPr>
                            <m:chr m:val="̂"/>
                            <m:ctrlPr>
                              <a:rPr lang="en-US" sz="1400" i="1">
                                <a:solidFill>
                                  <a:schemeClr val="tx1"/>
                                </a:solidFill>
                                <a:latin typeface="Cambria Math" panose="02040503050406030204" pitchFamily="18" charset="0"/>
                                <a:ea typeface="Helvetica Neue" charset="0"/>
                                <a:cs typeface="Helvetica Neue" charset="0"/>
                              </a:rPr>
                            </m:ctrlPr>
                          </m:accPr>
                          <m:e>
                            <m:r>
                              <a:rPr lang="en-US" sz="1400" b="0" i="1">
                                <a:solidFill>
                                  <a:schemeClr val="tx1"/>
                                </a:solidFill>
                                <a:latin typeface="Cambria Math" charset="0"/>
                                <a:ea typeface="Helvetica Neue" charset="0"/>
                                <a:cs typeface="Helvetica Neue" charset="0"/>
                              </a:rPr>
                              <m:t>𝛽</m:t>
                            </m:r>
                          </m:e>
                        </m:acc>
                      </m:e>
                      <m:sub>
                        <m:r>
                          <a:rPr lang="en-US" sz="1400" b="0" i="1">
                            <a:solidFill>
                              <a:schemeClr val="tx1"/>
                            </a:solidFill>
                            <a:latin typeface="Cambria Math" charset="0"/>
                            <a:ea typeface="Helvetica Neue" charset="0"/>
                            <a:cs typeface="Helvetica Neue" charset="0"/>
                          </a:rPr>
                          <m:t>𝑡𝑎𝑘𝑒𝑟𝑠</m:t>
                        </m:r>
                      </m:sub>
                    </m:sSub>
                  </m:oMath>
                </a14:m>
                <a:r>
                  <a:rPr lang="en-US" sz="1400" dirty="0">
                    <a:solidFill>
                      <a:schemeClr val="tx1"/>
                    </a:solidFill>
                    <a:latin typeface="Helvetica Neue" charset="0"/>
                    <a:ea typeface="Helvetica Neue" charset="0"/>
                    <a:cs typeface="Helvetica Neue" charset="0"/>
                  </a:rPr>
                  <a:t> = </a:t>
                </a:r>
                <a:r>
                  <a:rPr lang="en-US" sz="1400" b="1" dirty="0">
                    <a:solidFill>
                      <a:schemeClr val="tx1"/>
                    </a:solidFill>
                    <a:latin typeface="Helvetica Neue" charset="0"/>
                    <a:ea typeface="Helvetica Neue" charset="0"/>
                    <a:cs typeface="Helvetica Neue" charset="0"/>
                  </a:rPr>
                  <a:t>-0.480</a:t>
                </a:r>
              </a:p>
              <a:p>
                <a:pPr marL="230188"/>
                <a14:m>
                  <m:oMath xmlns:m="http://schemas.openxmlformats.org/officeDocument/2006/math">
                    <m:sSub>
                      <m:sSubPr>
                        <m:ctrlPr>
                          <a:rPr lang="en-US" sz="1400" i="1">
                            <a:solidFill>
                              <a:schemeClr val="tx1"/>
                            </a:solidFill>
                            <a:latin typeface="Cambria Math" panose="02040503050406030204" pitchFamily="18" charset="0"/>
                            <a:ea typeface="Helvetica Neue" charset="0"/>
                            <a:cs typeface="Helvetica Neue" charset="0"/>
                          </a:rPr>
                        </m:ctrlPr>
                      </m:sSubPr>
                      <m:e>
                        <m:r>
                          <a:rPr lang="en-US" sz="1400" b="0" i="1">
                            <a:solidFill>
                              <a:schemeClr val="tx1"/>
                            </a:solidFill>
                            <a:latin typeface="Cambria Math" charset="0"/>
                            <a:ea typeface="Helvetica Neue" charset="0"/>
                            <a:cs typeface="Helvetica Neue" charset="0"/>
                          </a:rPr>
                          <m:t>𝑠𝑒</m:t>
                        </m:r>
                        <m:r>
                          <a:rPr lang="en-US" sz="1400" b="0" i="1">
                            <a:solidFill>
                              <a:schemeClr val="tx1"/>
                            </a:solidFill>
                            <a:latin typeface="Cambria Math" charset="0"/>
                            <a:ea typeface="Helvetica Neue" charset="0"/>
                            <a:cs typeface="Helvetica Neue" charset="0"/>
                          </a:rPr>
                          <m:t>(</m:t>
                        </m:r>
                        <m:acc>
                          <m:accPr>
                            <m:chr m:val="̂"/>
                            <m:ctrlPr>
                              <a:rPr lang="en-US" sz="1400" i="1">
                                <a:solidFill>
                                  <a:schemeClr val="tx1"/>
                                </a:solidFill>
                                <a:latin typeface="Cambria Math" panose="02040503050406030204" pitchFamily="18" charset="0"/>
                                <a:ea typeface="Helvetica Neue" charset="0"/>
                                <a:cs typeface="Helvetica Neue" charset="0"/>
                              </a:rPr>
                            </m:ctrlPr>
                          </m:accPr>
                          <m:e>
                            <m:r>
                              <a:rPr lang="en-US" sz="1400" b="0" i="1">
                                <a:solidFill>
                                  <a:schemeClr val="tx1"/>
                                </a:solidFill>
                                <a:latin typeface="Cambria Math" charset="0"/>
                                <a:ea typeface="Helvetica Neue" charset="0"/>
                                <a:cs typeface="Helvetica Neue" charset="0"/>
                              </a:rPr>
                              <m:t>𝛽</m:t>
                            </m:r>
                          </m:e>
                        </m:acc>
                      </m:e>
                      <m:sub>
                        <m:r>
                          <a:rPr lang="en-US" sz="1400" b="0" i="1">
                            <a:solidFill>
                              <a:schemeClr val="tx1"/>
                            </a:solidFill>
                            <a:latin typeface="Cambria Math" charset="0"/>
                            <a:ea typeface="Helvetica Neue" charset="0"/>
                            <a:cs typeface="Helvetica Neue" charset="0"/>
                          </a:rPr>
                          <m:t>𝑡𝑎𝑘𝑒𝑟𝑠</m:t>
                        </m:r>
                      </m:sub>
                    </m:sSub>
                    <m:r>
                      <a:rPr lang="en-US" sz="1400" b="0" i="1">
                        <a:solidFill>
                          <a:schemeClr val="tx1"/>
                        </a:solidFill>
                        <a:latin typeface="Cambria Math" charset="0"/>
                        <a:ea typeface="Helvetica Neue" charset="0"/>
                        <a:cs typeface="Helvetica Neue" charset="0"/>
                      </a:rPr>
                      <m:t>)</m:t>
                    </m:r>
                  </m:oMath>
                </a14:m>
                <a:r>
                  <a:rPr lang="en-US" sz="1400" dirty="0">
                    <a:solidFill>
                      <a:schemeClr val="tx1"/>
                    </a:solidFill>
                    <a:latin typeface="Helvetica Neue" charset="0"/>
                    <a:ea typeface="Helvetica Neue" charset="0"/>
                    <a:cs typeface="Helvetica Neue" charset="0"/>
                  </a:rPr>
                  <a:t> = </a:t>
                </a:r>
                <a:r>
                  <a:rPr lang="en-US" sz="1400" b="1" dirty="0">
                    <a:solidFill>
                      <a:schemeClr val="tx1"/>
                    </a:solidFill>
                    <a:latin typeface="Helvetica Neue" charset="0"/>
                    <a:ea typeface="Helvetica Neue" charset="0"/>
                    <a:cs typeface="Helvetica Neue" charset="0"/>
                  </a:rPr>
                  <a:t>0.693</a:t>
                </a:r>
              </a:p>
              <a:p>
                <a:pPr marL="230188"/>
                <a:r>
                  <a:rPr lang="en-US" sz="1400" i="1" dirty="0">
                    <a:solidFill>
                      <a:schemeClr val="tx1"/>
                    </a:solidFill>
                    <a:latin typeface="Helvetica" panose="020B0604020202020204" pitchFamily="34" charset="0"/>
                    <a:ea typeface="Helvetica Neue" charset="0"/>
                    <a:cs typeface="Helvetica" panose="020B0604020202020204" pitchFamily="34" charset="0"/>
                  </a:rPr>
                  <a:t>t</a:t>
                </a:r>
                <a:r>
                  <a:rPr lang="en-US" sz="1400" dirty="0">
                    <a:solidFill>
                      <a:schemeClr val="tx1"/>
                    </a:solidFill>
                    <a:latin typeface="Helvetica" panose="020B0604020202020204" pitchFamily="34" charset="0"/>
                    <a:ea typeface="Helvetica Neue" charset="0"/>
                    <a:cs typeface="Helvetica" panose="020B0604020202020204" pitchFamily="34" charset="0"/>
                  </a:rPr>
                  <a:t>-dist. with </a:t>
                </a:r>
                <a:r>
                  <a:rPr lang="en-US" sz="1400" b="1" dirty="0">
                    <a:solidFill>
                      <a:schemeClr val="tx1"/>
                    </a:solidFill>
                    <a:latin typeface="Helvetica" panose="020B0604020202020204" pitchFamily="34" charset="0"/>
                    <a:ea typeface="Helvetica Neue" charset="0"/>
                    <a:cs typeface="Helvetica" panose="020B0604020202020204" pitchFamily="34" charset="0"/>
                  </a:rPr>
                  <a:t>43</a:t>
                </a:r>
                <a:r>
                  <a:rPr lang="en-US" sz="1400" dirty="0">
                    <a:solidFill>
                      <a:schemeClr val="tx1"/>
                    </a:solidFill>
                    <a:latin typeface="Helvetica" panose="020B0604020202020204" pitchFamily="34" charset="0"/>
                    <a:ea typeface="Helvetica Neue" charset="0"/>
                    <a:cs typeface="Helvetica" panose="020B0604020202020204" pitchFamily="34" charset="0"/>
                  </a:rPr>
                  <a:t> degrees of freedom</a:t>
                </a:r>
              </a:p>
            </p:txBody>
          </p:sp>
        </mc:Choice>
        <mc:Fallback xmlns="">
          <p:sp>
            <p:nvSpPr>
              <p:cNvPr id="4" name="TextBox 3">
                <a:extLst>
                  <a:ext uri="{FF2B5EF4-FFF2-40B4-BE49-F238E27FC236}">
                    <a16:creationId xmlns:a16="http://schemas.microsoft.com/office/drawing/2014/main" id="{0A91078C-3A85-4658-A257-C6CE710E9CD9}"/>
                  </a:ext>
                </a:extLst>
              </p:cNvPr>
              <p:cNvSpPr txBox="1">
                <a:spLocks noRot="1" noChangeAspect="1" noMove="1" noResize="1" noEditPoints="1" noAdjustHandles="1" noChangeArrowheads="1" noChangeShapeType="1" noTextEdit="1"/>
              </p:cNvSpPr>
              <p:nvPr/>
            </p:nvSpPr>
            <p:spPr>
              <a:xfrm>
                <a:off x="5486400" y="1276350"/>
                <a:ext cx="3045620" cy="977447"/>
              </a:xfrm>
              <a:prstGeom prst="rect">
                <a:avLst/>
              </a:prstGeom>
              <a:blipFill>
                <a:blip r:embed="rId4"/>
                <a:stretch>
                  <a:fillRect l="-398" r="-199" b="-4268"/>
                </a:stretch>
              </a:blipFill>
              <a:ln w="19050">
                <a:solidFill>
                  <a:schemeClr val="tx2"/>
                </a:solid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2B02CC63-FFC4-4F54-86FA-C59150E560EC}"/>
              </a:ext>
            </a:extLst>
          </p:cNvPr>
          <p:cNvSpPr/>
          <p:nvPr/>
        </p:nvSpPr>
        <p:spPr>
          <a:xfrm>
            <a:off x="1026112" y="2571750"/>
            <a:ext cx="775793" cy="18521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solidFill>
                <a:schemeClr val="tx2"/>
              </a:solidFill>
            </a:endParaRPr>
          </a:p>
        </p:txBody>
      </p:sp>
      <p:sp>
        <p:nvSpPr>
          <p:cNvPr id="6" name="Oval 5">
            <a:extLst>
              <a:ext uri="{FF2B5EF4-FFF2-40B4-BE49-F238E27FC236}">
                <a16:creationId xmlns:a16="http://schemas.microsoft.com/office/drawing/2014/main" id="{CFB1496B-592D-41A4-BB62-68BEA4A206C2}"/>
              </a:ext>
            </a:extLst>
          </p:cNvPr>
          <p:cNvSpPr/>
          <p:nvPr/>
        </p:nvSpPr>
        <p:spPr>
          <a:xfrm>
            <a:off x="935154" y="4579461"/>
            <a:ext cx="469106" cy="228000"/>
          </a:xfrm>
          <a:prstGeom prst="ellipse">
            <a:avLst/>
          </a:prstGeom>
          <a:noFill/>
          <a:ln w="19050">
            <a:solidFill>
              <a:srgbClr val="EEB21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7" name="Oval 6">
            <a:extLst>
              <a:ext uri="{FF2B5EF4-FFF2-40B4-BE49-F238E27FC236}">
                <a16:creationId xmlns:a16="http://schemas.microsoft.com/office/drawing/2014/main" id="{4848D878-56ED-4885-9C07-DE8AF0071817}"/>
              </a:ext>
            </a:extLst>
          </p:cNvPr>
          <p:cNvSpPr/>
          <p:nvPr/>
        </p:nvSpPr>
        <p:spPr>
          <a:xfrm>
            <a:off x="3159919" y="4576139"/>
            <a:ext cx="802481" cy="231322"/>
          </a:xfrm>
          <a:prstGeom prst="ellipse">
            <a:avLst/>
          </a:prstGeom>
          <a:noFill/>
          <a:ln w="19050">
            <a:solidFill>
              <a:srgbClr val="EEB21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8" name="TextBox 7">
            <a:extLst>
              <a:ext uri="{FF2B5EF4-FFF2-40B4-BE49-F238E27FC236}">
                <a16:creationId xmlns:a16="http://schemas.microsoft.com/office/drawing/2014/main" id="{961FCC24-8A45-43FF-AABF-A7BC582FFB4B}"/>
              </a:ext>
            </a:extLst>
          </p:cNvPr>
          <p:cNvSpPr txBox="1"/>
          <p:nvPr/>
        </p:nvSpPr>
        <p:spPr>
          <a:xfrm>
            <a:off x="5486401" y="3221491"/>
            <a:ext cx="3040948" cy="738664"/>
          </a:xfrm>
          <a:prstGeom prst="rect">
            <a:avLst/>
          </a:prstGeom>
          <a:noFill/>
          <a:ln w="19050">
            <a:solidFill>
              <a:schemeClr val="tx2"/>
            </a:solidFill>
          </a:ln>
        </p:spPr>
        <p:txBody>
          <a:bodyPr wrap="square" rtlCol="0">
            <a:spAutoFit/>
          </a:bodyPr>
          <a:lstStyle/>
          <a:p>
            <a:pPr>
              <a:tabLst>
                <a:tab pos="228600" algn="l"/>
              </a:tabLst>
            </a:pPr>
            <a:r>
              <a:rPr lang="en-US" sz="1400" b="1" dirty="0">
                <a:latin typeface="Helvetica" panose="020B0604020202020204" pitchFamily="34" charset="0"/>
                <a:ea typeface="Helvetica Neue" charset="0"/>
                <a:cs typeface="Helvetica" panose="020B0604020202020204" pitchFamily="34" charset="0"/>
              </a:rPr>
              <a:t>c.	Test for overall regression:</a:t>
            </a:r>
            <a:endParaRPr lang="en-US" sz="1400" dirty="0">
              <a:latin typeface="Helvetica" panose="020B0604020202020204" pitchFamily="34" charset="0"/>
              <a:ea typeface="Helvetica Neue" charset="0"/>
              <a:cs typeface="Helvetica" panose="020B0604020202020204" pitchFamily="34" charset="0"/>
            </a:endParaRPr>
          </a:p>
          <a:p>
            <a:pPr marL="228600" indent="-228600">
              <a:tabLst>
                <a:tab pos="228600" algn="l"/>
              </a:tabLst>
            </a:pPr>
            <a:r>
              <a:rPr lang="en-US" sz="1400" dirty="0">
                <a:latin typeface="Helvetica Neue" charset="0"/>
                <a:ea typeface="Helvetica Neue" charset="0"/>
                <a:cs typeface="Helvetica Neue" charset="0"/>
              </a:rPr>
              <a:t>	F-value = </a:t>
            </a:r>
            <a:r>
              <a:rPr lang="en-US" sz="1400" b="1" dirty="0">
                <a:latin typeface="Helvetica Neue" charset="0"/>
                <a:ea typeface="Helvetica Neue" charset="0"/>
                <a:cs typeface="Helvetica Neue" charset="0"/>
              </a:rPr>
              <a:t>51.91</a:t>
            </a:r>
          </a:p>
          <a:p>
            <a:pPr marL="228600" indent="-228600"/>
            <a:r>
              <a:rPr lang="en-US" sz="1400" dirty="0">
                <a:latin typeface="Helvetica Neue" charset="0"/>
                <a:ea typeface="Helvetica Neue" charset="0"/>
                <a:cs typeface="Helvetica Neue" charset="0"/>
              </a:rPr>
              <a:t>	p-value </a:t>
            </a:r>
            <a:r>
              <a:rPr lang="en-US" sz="1400" b="1" dirty="0">
                <a:latin typeface="Helvetica Neue" charset="0"/>
                <a:ea typeface="Helvetica Neue" charset="0"/>
                <a:cs typeface="Helvetica Neue" charset="0"/>
              </a:rPr>
              <a:t>≈ 0</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1FFD1ED-6CDD-448F-9E09-5B9FB0EAD4A1}"/>
                  </a:ext>
                </a:extLst>
              </p:cNvPr>
              <p:cNvSpPr txBox="1"/>
              <p:nvPr/>
            </p:nvSpPr>
            <p:spPr>
              <a:xfrm>
                <a:off x="5491073" y="2362477"/>
                <a:ext cx="3040947" cy="750334"/>
              </a:xfrm>
              <a:prstGeom prst="rect">
                <a:avLst/>
              </a:prstGeom>
              <a:noFill/>
              <a:ln w="19050">
                <a:solidFill>
                  <a:schemeClr val="tx2"/>
                </a:solidFill>
              </a:ln>
            </p:spPr>
            <p:txBody>
              <a:bodyPr wrap="square" rtlCol="0">
                <a:spAutoFit/>
              </a:bodyPr>
              <a:lstStyle/>
              <a:p>
                <a:pPr>
                  <a:tabLst>
                    <a:tab pos="228600" algn="l"/>
                  </a:tabLst>
                </a:pPr>
                <a:r>
                  <a:rPr lang="en-US" sz="1400" b="1" dirty="0">
                    <a:latin typeface="Helvetica" panose="020B0604020202020204" pitchFamily="34" charset="0"/>
                    <a:ea typeface="Helvetica Neue" charset="0"/>
                    <a:cs typeface="Helvetica" panose="020B0604020202020204" pitchFamily="34" charset="0"/>
                  </a:rPr>
                  <a:t>b.	</a:t>
                </a:r>
                <a:r>
                  <a:rPr lang="en-US" sz="1400" b="1" dirty="0">
                    <a:solidFill>
                      <a:schemeClr val="tx1"/>
                    </a:solidFill>
                    <a:latin typeface="Helvetica" panose="020B0604020202020204" pitchFamily="34" charset="0"/>
                    <a:ea typeface="Helvetica Neue" charset="0"/>
                    <a:cs typeface="Helvetica" panose="020B0604020202020204" pitchFamily="34" charset="0"/>
                  </a:rPr>
                  <a:t>Test for statistical significance</a:t>
                </a:r>
                <a:r>
                  <a:rPr lang="en-US" sz="1400" dirty="0">
                    <a:solidFill>
                      <a:schemeClr val="tx1"/>
                    </a:solidFill>
                    <a:latin typeface="Helvetica" panose="020B0604020202020204" pitchFamily="34" charset="0"/>
                    <a:ea typeface="Helvetica Neue" charset="0"/>
                    <a:cs typeface="Helvetica" panose="020B0604020202020204" pitchFamily="34" charset="0"/>
                  </a:rPr>
                  <a:t>:</a:t>
                </a:r>
              </a:p>
              <a:p>
                <a:pPr marL="228600"/>
                <a14:m>
                  <m:oMath xmlns:m="http://schemas.openxmlformats.org/officeDocument/2006/math">
                    <m:sSub>
                      <m:sSubPr>
                        <m:ctrlPr>
                          <a:rPr lang="en-US" sz="1400" i="1">
                            <a:solidFill>
                              <a:schemeClr val="tx1"/>
                            </a:solidFill>
                            <a:latin typeface="Cambria Math" panose="02040503050406030204" pitchFamily="18" charset="0"/>
                            <a:ea typeface="Helvetica Neue" charset="0"/>
                            <a:cs typeface="Helvetica Neue" charset="0"/>
                          </a:rPr>
                        </m:ctrlPr>
                      </m:sSubPr>
                      <m:e>
                        <m:acc>
                          <m:accPr>
                            <m:chr m:val="̂"/>
                            <m:ctrlPr>
                              <a:rPr lang="en-US" sz="1400" i="1">
                                <a:solidFill>
                                  <a:schemeClr val="tx1"/>
                                </a:solidFill>
                                <a:latin typeface="Cambria Math" panose="02040503050406030204" pitchFamily="18" charset="0"/>
                                <a:ea typeface="Helvetica Neue" charset="0"/>
                                <a:cs typeface="Helvetica Neue" charset="0"/>
                              </a:rPr>
                            </m:ctrlPr>
                          </m:accPr>
                          <m:e>
                            <m:r>
                              <a:rPr lang="en-US" sz="1400" b="0" i="1">
                                <a:solidFill>
                                  <a:schemeClr val="tx1"/>
                                </a:solidFill>
                                <a:latin typeface="Cambria Math" charset="0"/>
                                <a:ea typeface="Helvetica Neue" charset="0"/>
                                <a:cs typeface="Helvetica Neue" charset="0"/>
                              </a:rPr>
                              <m:t>𝛽</m:t>
                            </m:r>
                          </m:e>
                        </m:acc>
                      </m:e>
                      <m:sub>
                        <m:r>
                          <a:rPr lang="en-US" sz="1400" b="0" i="1">
                            <a:solidFill>
                              <a:schemeClr val="tx1"/>
                            </a:solidFill>
                            <a:latin typeface="Cambria Math" charset="0"/>
                            <a:ea typeface="Helvetica Neue" charset="0"/>
                            <a:cs typeface="Helvetica Neue" charset="0"/>
                          </a:rPr>
                          <m:t>𝑡𝑎𝑘𝑒𝑟𝑠</m:t>
                        </m:r>
                      </m:sub>
                    </m:sSub>
                    <m:r>
                      <a:rPr lang="en-US" sz="1400" b="0">
                        <a:solidFill>
                          <a:schemeClr val="tx1"/>
                        </a:solidFill>
                        <a:latin typeface="Cambria Math" charset="0"/>
                        <a:ea typeface="Helvetica Neue" charset="0"/>
                        <a:cs typeface="Helvetica Neue" charset="0"/>
                      </a:rPr>
                      <m:t>:</m:t>
                    </m:r>
                  </m:oMath>
                </a14:m>
                <a:r>
                  <a:rPr lang="en-US" sz="1400" dirty="0">
                    <a:solidFill>
                      <a:schemeClr val="tx1"/>
                    </a:solidFill>
                    <a:latin typeface="Helvetica Neue" charset="0"/>
                    <a:ea typeface="Helvetica Neue" charset="0"/>
                    <a:cs typeface="Helvetica Neue" charset="0"/>
                  </a:rPr>
                  <a:t> </a:t>
                </a:r>
                <a:r>
                  <a:rPr lang="en-US" sz="1400" i="1" dirty="0">
                    <a:solidFill>
                      <a:schemeClr val="tx1"/>
                    </a:solidFill>
                    <a:latin typeface="Helvetica Neue" charset="0"/>
                    <a:ea typeface="Helvetica Neue" charset="0"/>
                    <a:cs typeface="Helvetica Neue" charset="0"/>
                  </a:rPr>
                  <a:t>t</a:t>
                </a:r>
                <a:r>
                  <a:rPr lang="en-US" sz="1400" dirty="0">
                    <a:solidFill>
                      <a:schemeClr val="tx1"/>
                    </a:solidFill>
                    <a:latin typeface="Helvetica Neue" charset="0"/>
                    <a:ea typeface="Helvetica Neue" charset="0"/>
                    <a:cs typeface="Helvetica Neue" charset="0"/>
                  </a:rPr>
                  <a:t>-value = </a:t>
                </a:r>
                <a:r>
                  <a:rPr lang="en-US" sz="1400" b="1" dirty="0">
                    <a:solidFill>
                      <a:schemeClr val="tx1"/>
                    </a:solidFill>
                    <a:latin typeface="Helvetica Neue" charset="0"/>
                    <a:ea typeface="Helvetica Neue" charset="0"/>
                    <a:cs typeface="Helvetica Neue" charset="0"/>
                  </a:rPr>
                  <a:t>-0.692</a:t>
                </a:r>
              </a:p>
              <a:p>
                <a:pPr marL="228600"/>
                <a:r>
                  <a:rPr lang="en-US" sz="1400" dirty="0">
                    <a:solidFill>
                      <a:schemeClr val="tx1"/>
                    </a:solidFill>
                    <a:latin typeface="Helvetica Neue" charset="0"/>
                    <a:ea typeface="Helvetica Neue" charset="0"/>
                    <a:cs typeface="Helvetica Neue" charset="0"/>
                  </a:rPr>
                  <a:t>p-value </a:t>
                </a:r>
                <a:r>
                  <a:rPr lang="en-US" sz="1400" b="1" dirty="0">
                    <a:solidFill>
                      <a:schemeClr val="tx1"/>
                    </a:solidFill>
                    <a:latin typeface="Helvetica Neue" charset="0"/>
                    <a:ea typeface="Helvetica Neue" charset="0"/>
                    <a:cs typeface="Helvetica Neue" charset="0"/>
                  </a:rPr>
                  <a:t>&gt; 0.1</a:t>
                </a:r>
              </a:p>
            </p:txBody>
          </p:sp>
        </mc:Choice>
        <mc:Fallback xmlns="">
          <p:sp>
            <p:nvSpPr>
              <p:cNvPr id="9" name="TextBox 8">
                <a:extLst>
                  <a:ext uri="{FF2B5EF4-FFF2-40B4-BE49-F238E27FC236}">
                    <a16:creationId xmlns:a16="http://schemas.microsoft.com/office/drawing/2014/main" id="{81FFD1ED-6CDD-448F-9E09-5B9FB0EAD4A1}"/>
                  </a:ext>
                </a:extLst>
              </p:cNvPr>
              <p:cNvSpPr txBox="1">
                <a:spLocks noRot="1" noChangeAspect="1" noMove="1" noResize="1" noEditPoints="1" noAdjustHandles="1" noChangeArrowheads="1" noChangeShapeType="1" noTextEdit="1"/>
              </p:cNvSpPr>
              <p:nvPr/>
            </p:nvSpPr>
            <p:spPr>
              <a:xfrm>
                <a:off x="5491073" y="2362477"/>
                <a:ext cx="3040947" cy="750334"/>
              </a:xfrm>
              <a:prstGeom prst="rect">
                <a:avLst/>
              </a:prstGeom>
              <a:blipFill>
                <a:blip r:embed="rId5"/>
                <a:stretch>
                  <a:fillRect l="-398" t="-794" b="-5556"/>
                </a:stretch>
              </a:blipFill>
              <a:ln w="19050">
                <a:solidFill>
                  <a:schemeClr val="tx2"/>
                </a:solidFill>
              </a:ln>
            </p:spPr>
            <p:txBody>
              <a:bodyPr/>
              <a:lstStyle/>
              <a:p>
                <a:r>
                  <a:rPr lang="en-US">
                    <a:noFill/>
                  </a:rPr>
                  <a:t> </a:t>
                </a:r>
              </a:p>
            </p:txBody>
          </p:sp>
        </mc:Fallback>
      </mc:AlternateContent>
      <p:sp>
        <p:nvSpPr>
          <p:cNvPr id="10" name="Rectangle 9">
            <a:extLst>
              <a:ext uri="{FF2B5EF4-FFF2-40B4-BE49-F238E27FC236}">
                <a16:creationId xmlns:a16="http://schemas.microsoft.com/office/drawing/2014/main" id="{CCBA1643-D363-4BEE-B009-41FFD945E456}"/>
              </a:ext>
            </a:extLst>
          </p:cNvPr>
          <p:cNvSpPr/>
          <p:nvPr/>
        </p:nvSpPr>
        <p:spPr>
          <a:xfrm>
            <a:off x="6826859" y="1785280"/>
            <a:ext cx="503236" cy="193675"/>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solidFill>
            </a:endParaRPr>
          </a:p>
        </p:txBody>
      </p:sp>
      <p:sp>
        <p:nvSpPr>
          <p:cNvPr id="11" name="Oval 10">
            <a:extLst>
              <a:ext uri="{FF2B5EF4-FFF2-40B4-BE49-F238E27FC236}">
                <a16:creationId xmlns:a16="http://schemas.microsoft.com/office/drawing/2014/main" id="{BFD1D3DD-6041-4251-B488-988EEAB5FFF5}"/>
              </a:ext>
            </a:extLst>
          </p:cNvPr>
          <p:cNvSpPr/>
          <p:nvPr/>
        </p:nvSpPr>
        <p:spPr>
          <a:xfrm>
            <a:off x="7122133" y="2624193"/>
            <a:ext cx="630237" cy="238069"/>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solidFill>
                <a:schemeClr val="tx2"/>
              </a:solidFill>
            </a:endParaRPr>
          </a:p>
        </p:txBody>
      </p:sp>
      <p:sp>
        <p:nvSpPr>
          <p:cNvPr id="12" name="Oval 11">
            <a:extLst>
              <a:ext uri="{FF2B5EF4-FFF2-40B4-BE49-F238E27FC236}">
                <a16:creationId xmlns:a16="http://schemas.microsoft.com/office/drawing/2014/main" id="{26118533-F5ED-4171-AD8A-42C6424E12D9}"/>
              </a:ext>
            </a:extLst>
          </p:cNvPr>
          <p:cNvSpPr/>
          <p:nvPr/>
        </p:nvSpPr>
        <p:spPr>
          <a:xfrm>
            <a:off x="6396938" y="2840216"/>
            <a:ext cx="489284" cy="2286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solidFill>
                <a:schemeClr val="tx2"/>
              </a:solidFill>
            </a:endParaRPr>
          </a:p>
        </p:txBody>
      </p:sp>
      <p:sp>
        <p:nvSpPr>
          <p:cNvPr id="13" name="Oval 12">
            <a:extLst>
              <a:ext uri="{FF2B5EF4-FFF2-40B4-BE49-F238E27FC236}">
                <a16:creationId xmlns:a16="http://schemas.microsoft.com/office/drawing/2014/main" id="{428AFA51-5720-4DE6-AB35-4C95D03CE2F7}"/>
              </a:ext>
            </a:extLst>
          </p:cNvPr>
          <p:cNvSpPr/>
          <p:nvPr/>
        </p:nvSpPr>
        <p:spPr>
          <a:xfrm>
            <a:off x="6556983" y="3469618"/>
            <a:ext cx="531019" cy="235210"/>
          </a:xfrm>
          <a:prstGeom prst="ellipse">
            <a:avLst/>
          </a:prstGeom>
          <a:noFill/>
          <a:ln w="19050">
            <a:solidFill>
              <a:srgbClr val="EEB21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14" name="Oval 13">
            <a:extLst>
              <a:ext uri="{FF2B5EF4-FFF2-40B4-BE49-F238E27FC236}">
                <a16:creationId xmlns:a16="http://schemas.microsoft.com/office/drawing/2014/main" id="{EF80AE27-AFAC-4DBC-B172-1AB7CED6E4BA}"/>
              </a:ext>
            </a:extLst>
          </p:cNvPr>
          <p:cNvSpPr/>
          <p:nvPr/>
        </p:nvSpPr>
        <p:spPr>
          <a:xfrm>
            <a:off x="6400948" y="3702479"/>
            <a:ext cx="352927" cy="196515"/>
          </a:xfrm>
          <a:prstGeom prst="ellipse">
            <a:avLst/>
          </a:prstGeom>
          <a:noFill/>
          <a:ln w="19050">
            <a:solidFill>
              <a:srgbClr val="EEB21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p>
        </p:txBody>
      </p:sp>
      <p:sp>
        <p:nvSpPr>
          <p:cNvPr id="15" name="Rectangle 14">
            <a:extLst>
              <a:ext uri="{FF2B5EF4-FFF2-40B4-BE49-F238E27FC236}">
                <a16:creationId xmlns:a16="http://schemas.microsoft.com/office/drawing/2014/main" id="{FA700795-F0F8-4B77-AE59-260FE07A5789}"/>
              </a:ext>
            </a:extLst>
          </p:cNvPr>
          <p:cNvSpPr/>
          <p:nvPr/>
        </p:nvSpPr>
        <p:spPr>
          <a:xfrm>
            <a:off x="6633184" y="2003573"/>
            <a:ext cx="247650" cy="174477"/>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solidFill>
            </a:endParaRPr>
          </a:p>
        </p:txBody>
      </p:sp>
      <p:sp>
        <p:nvSpPr>
          <p:cNvPr id="16" name="Rectangle 15">
            <a:extLst>
              <a:ext uri="{FF2B5EF4-FFF2-40B4-BE49-F238E27FC236}">
                <a16:creationId xmlns:a16="http://schemas.microsoft.com/office/drawing/2014/main" id="{FA0DDA60-471F-438F-8E9F-FF1924A5FA49}"/>
              </a:ext>
            </a:extLst>
          </p:cNvPr>
          <p:cNvSpPr/>
          <p:nvPr/>
        </p:nvSpPr>
        <p:spPr>
          <a:xfrm>
            <a:off x="2508914" y="4252999"/>
            <a:ext cx="240506" cy="160339"/>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solidFill>
            </a:endParaRPr>
          </a:p>
        </p:txBody>
      </p:sp>
      <p:sp>
        <p:nvSpPr>
          <p:cNvPr id="17" name="Rectangle 16">
            <a:extLst>
              <a:ext uri="{FF2B5EF4-FFF2-40B4-BE49-F238E27FC236}">
                <a16:creationId xmlns:a16="http://schemas.microsoft.com/office/drawing/2014/main" id="{300CE2B8-04E0-44D0-8CB3-3296D259FADD}"/>
              </a:ext>
            </a:extLst>
          </p:cNvPr>
          <p:cNvSpPr/>
          <p:nvPr/>
        </p:nvSpPr>
        <p:spPr>
          <a:xfrm>
            <a:off x="1937380" y="2572885"/>
            <a:ext cx="685800" cy="183645"/>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solidFill>
                <a:schemeClr val="tx2"/>
              </a:solidFill>
            </a:endParaRPr>
          </a:p>
        </p:txBody>
      </p:sp>
      <p:sp>
        <p:nvSpPr>
          <p:cNvPr id="18" name="Oval 17">
            <a:extLst>
              <a:ext uri="{FF2B5EF4-FFF2-40B4-BE49-F238E27FC236}">
                <a16:creationId xmlns:a16="http://schemas.microsoft.com/office/drawing/2014/main" id="{D058130C-AB45-49E9-99BB-AB1EE591DCAD}"/>
              </a:ext>
            </a:extLst>
          </p:cNvPr>
          <p:cNvSpPr/>
          <p:nvPr/>
        </p:nvSpPr>
        <p:spPr>
          <a:xfrm>
            <a:off x="2916068" y="2545116"/>
            <a:ext cx="533400" cy="214399"/>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solidFill>
                <a:schemeClr val="tx2"/>
              </a:solidFill>
            </a:endParaRPr>
          </a:p>
        </p:txBody>
      </p:sp>
      <p:sp>
        <p:nvSpPr>
          <p:cNvPr id="19" name="Oval 18">
            <a:extLst>
              <a:ext uri="{FF2B5EF4-FFF2-40B4-BE49-F238E27FC236}">
                <a16:creationId xmlns:a16="http://schemas.microsoft.com/office/drawing/2014/main" id="{D9A5C397-C5DF-4BBD-862E-D8C1BDD9F18C}"/>
              </a:ext>
            </a:extLst>
          </p:cNvPr>
          <p:cNvSpPr/>
          <p:nvPr/>
        </p:nvSpPr>
        <p:spPr>
          <a:xfrm>
            <a:off x="3556822" y="2544020"/>
            <a:ext cx="756858" cy="215495"/>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a:solidFill>
                <a:schemeClr val="tx2"/>
              </a:solidFill>
            </a:endParaRPr>
          </a:p>
        </p:txBody>
      </p:sp>
      <p:sp>
        <p:nvSpPr>
          <p:cNvPr id="20" name="Rectangle 19">
            <a:extLst>
              <a:ext uri="{FF2B5EF4-FFF2-40B4-BE49-F238E27FC236}">
                <a16:creationId xmlns:a16="http://schemas.microsoft.com/office/drawing/2014/main" id="{91F9DAF4-FA1D-4D25-8AF9-01D07AC6D067}"/>
              </a:ext>
            </a:extLst>
          </p:cNvPr>
          <p:cNvSpPr/>
          <p:nvPr/>
        </p:nvSpPr>
        <p:spPr>
          <a:xfrm>
            <a:off x="6509359" y="1559855"/>
            <a:ext cx="561180" cy="193675"/>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solidFill>
            </a:endParaRPr>
          </a:p>
        </p:txBody>
      </p:sp>
    </p:spTree>
    <p:custDataLst>
      <p:tags r:id="rId1"/>
    </p:custDataLst>
    <p:extLst>
      <p:ext uri="{BB962C8B-B14F-4D97-AF65-F5344CB8AC3E}">
        <p14:creationId xmlns:p14="http://schemas.microsoft.com/office/powerpoint/2010/main" val="379984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52400" y="1074202"/>
            <a:ext cx="7203440" cy="830997"/>
          </a:xfrm>
          <a:prstGeom prst="rect">
            <a:avLst/>
          </a:prstGeom>
          <a:noFill/>
          <a:ln w="19050">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defRPr/>
            </a:pPr>
            <a:r>
              <a:rPr lang="en-US" sz="1200" i="1" dirty="0" err="1">
                <a:latin typeface="Helvetica" panose="020B0604020202020204" pitchFamily="34" charset="0"/>
                <a:ea typeface="Helvetica Neue" charset="0"/>
                <a:cs typeface="Helvetica" panose="020B0604020202020204" pitchFamily="34" charset="0"/>
              </a:rPr>
              <a:t>confint</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regression.line</a:t>
            </a:r>
            <a:r>
              <a:rPr lang="en-US" sz="1200" i="1" dirty="0">
                <a:latin typeface="Helvetica" panose="020B0604020202020204" pitchFamily="34" charset="0"/>
                <a:ea typeface="Helvetica Neue" charset="0"/>
                <a:cs typeface="Helvetica" panose="020B0604020202020204" pitchFamily="34" charset="0"/>
              </a:rPr>
              <a:t>, "takers", level = 0.99)</a:t>
            </a:r>
          </a:p>
          <a:p>
            <a:pPr eaLnBrk="1" hangingPunct="1">
              <a:defRPr/>
            </a:pPr>
            <a:endParaRPr lang="en-US" sz="1200" i="1" dirty="0">
              <a:latin typeface="Helvetica" panose="020B0604020202020204" pitchFamily="34" charset="0"/>
              <a:ea typeface="Helvetica Neue" charset="0"/>
              <a:cs typeface="Helvetica" panose="020B0604020202020204" pitchFamily="34" charset="0"/>
            </a:endParaRPr>
          </a:p>
          <a:p>
            <a:pPr eaLnBrk="1" hangingPunct="1">
              <a:defRPr/>
            </a:pPr>
            <a:r>
              <a:rPr lang="en-US" sz="1200" dirty="0">
                <a:latin typeface="Helvetica" panose="020B0604020202020204" pitchFamily="34" charset="0"/>
                <a:ea typeface="Helvetica Neue" charset="0"/>
                <a:cs typeface="Helvetica" panose="020B0604020202020204" pitchFamily="34" charset="0"/>
              </a:rPr>
              <a:t>            	0.5 %    	99.5 %</a:t>
            </a:r>
          </a:p>
          <a:p>
            <a:pPr eaLnBrk="1" hangingPunct="1">
              <a:defRPr/>
            </a:pPr>
            <a:r>
              <a:rPr lang="en-US" sz="1200" dirty="0">
                <a:latin typeface="Helvetica" panose="020B0604020202020204" pitchFamily="34" charset="0"/>
                <a:ea typeface="Helvetica Neue" charset="0"/>
                <a:cs typeface="Helvetica" panose="020B0604020202020204" pitchFamily="34" charset="0"/>
              </a:rPr>
              <a:t>takers     -2.349701        1.389541</a:t>
            </a:r>
          </a:p>
        </p:txBody>
      </p:sp>
      <mc:AlternateContent xmlns:mc="http://schemas.openxmlformats.org/markup-compatibility/2006" xmlns:a14="http://schemas.microsoft.com/office/drawing/2010/main">
        <mc:Choice Requires="a14">
          <p:sp>
            <p:nvSpPr>
              <p:cNvPr id="6" name="TextBox 5"/>
              <p:cNvSpPr txBox="1"/>
              <p:nvPr/>
            </p:nvSpPr>
            <p:spPr>
              <a:xfrm>
                <a:off x="5486399" y="1276350"/>
                <a:ext cx="3048001" cy="2369880"/>
              </a:xfrm>
              <a:prstGeom prst="rect">
                <a:avLst/>
              </a:prstGeom>
              <a:noFill/>
              <a:ln w="19050">
                <a:solidFill>
                  <a:schemeClr val="tx2"/>
                </a:solidFill>
              </a:ln>
            </p:spPr>
            <p:txBody>
              <a:bodyPr wrap="square" rtlCol="0">
                <a:spAutoFit/>
              </a:bodyPr>
              <a:lstStyle/>
              <a:p>
                <a:pPr marL="342900" indent="-342900">
                  <a:buAutoNum type="alphaLcPeriod" startAt="4"/>
                  <a:tabLst>
                    <a:tab pos="288925" algn="l"/>
                  </a:tabLst>
                </a:pPr>
                <a:r>
                  <a:rPr lang="en-US" sz="1400" b="1" dirty="0">
                    <a:latin typeface="Helvetica" panose="020B0604020202020204" pitchFamily="34" charset="0"/>
                    <a:ea typeface="Helvetica Neue" charset="0"/>
                    <a:cs typeface="Helvetica" panose="020B0604020202020204" pitchFamily="34" charset="0"/>
                  </a:rPr>
                  <a:t>Confidence Interval for Regression Coefficients</a:t>
                </a:r>
                <a:r>
                  <a:rPr lang="en-US" sz="1400" dirty="0">
                    <a:latin typeface="Helvetica" panose="020B0604020202020204" pitchFamily="34" charset="0"/>
                    <a:ea typeface="Helvetica Neue" charset="0"/>
                    <a:cs typeface="Helvetica" panose="020B0604020202020204" pitchFamily="34" charset="0"/>
                  </a:rPr>
                  <a:t>:</a:t>
                </a:r>
              </a:p>
              <a:p>
                <a:pPr marL="342900" indent="-342900">
                  <a:buAutoNum type="alphaLcPeriod" startAt="4"/>
                  <a:tabLst>
                    <a:tab pos="288925" algn="l"/>
                  </a:tabLst>
                </a:pPr>
                <a:endParaRPr lang="en-US" dirty="0">
                  <a:latin typeface="Helvetica Neue" charset="0"/>
                  <a:ea typeface="Helvetica Neue" charset="0"/>
                  <a:cs typeface="Helvetica Neue" charset="0"/>
                </a:endParaRPr>
              </a:p>
              <a:p>
                <a:pPr marL="288925">
                  <a:tabLst>
                    <a:tab pos="288925" algn="l"/>
                  </a:tabLst>
                </a:pPr>
                <a14:m>
                  <m:oMath xmlns:m="http://schemas.openxmlformats.org/officeDocument/2006/math">
                    <m:sSub>
                      <m:sSubPr>
                        <m:ctrlPr>
                          <a:rPr lang="en-US" sz="1400" i="1" smtClean="0">
                            <a:solidFill>
                              <a:schemeClr val="tx1"/>
                            </a:solidFill>
                            <a:latin typeface="Cambria Math" panose="02040503050406030204" pitchFamily="18" charset="0"/>
                            <a:ea typeface="Helvetica Neue" charset="0"/>
                            <a:cs typeface="Helvetica Neue" charset="0"/>
                          </a:rPr>
                        </m:ctrlPr>
                      </m:sSubPr>
                      <m:e>
                        <m:r>
                          <a:rPr lang="en-US" sz="1400" b="0" i="1">
                            <a:solidFill>
                              <a:schemeClr val="tx1"/>
                            </a:solidFill>
                            <a:latin typeface="Cambria Math" charset="0"/>
                            <a:ea typeface="Helvetica Neue" charset="0"/>
                            <a:cs typeface="Helvetica Neue" charset="0"/>
                          </a:rPr>
                          <m:t>𝛽</m:t>
                        </m:r>
                      </m:e>
                      <m:sub>
                        <m:r>
                          <a:rPr lang="en-US" sz="1400" b="0" i="1">
                            <a:solidFill>
                              <a:schemeClr val="tx1"/>
                            </a:solidFill>
                            <a:latin typeface="Cambria Math" charset="0"/>
                            <a:ea typeface="Helvetica Neue" charset="0"/>
                            <a:cs typeface="Helvetica Neue" charset="0"/>
                          </a:rPr>
                          <m:t>𝑡𝑎𝑘𝑒𝑟𝑠</m:t>
                        </m:r>
                      </m:sub>
                    </m:sSub>
                    <m:r>
                      <a:rPr lang="en-US" sz="1400" b="0" i="1">
                        <a:solidFill>
                          <a:schemeClr val="tx1"/>
                        </a:solidFill>
                        <a:latin typeface="Cambria Math" charset="0"/>
                        <a:ea typeface="Helvetica Neue" charset="0"/>
                        <a:cs typeface="Helvetica Neue" charset="0"/>
                      </a:rPr>
                      <m:t>:</m:t>
                    </m:r>
                    <m:r>
                      <a:rPr lang="en-US" sz="1400" b="0" i="1" smtClean="0">
                        <a:solidFill>
                          <a:schemeClr val="tx1"/>
                        </a:solidFill>
                        <a:latin typeface="Cambria Math" panose="02040503050406030204" pitchFamily="18" charset="0"/>
                        <a:ea typeface="Helvetica Neue" charset="0"/>
                        <a:cs typeface="Helvetica Neue" charset="0"/>
                      </a:rPr>
                      <m:t>   </m:t>
                    </m:r>
                  </m:oMath>
                </a14:m>
                <a:r>
                  <a:rPr lang="en-US" sz="1400" b="1" dirty="0">
                    <a:solidFill>
                      <a:schemeClr val="tx1"/>
                    </a:solidFill>
                    <a:latin typeface="Helvetica Neue"/>
                    <a:ea typeface="Helvetica Neue" charset="0"/>
                    <a:cs typeface="Helvetica Neue" charset="0"/>
                  </a:rPr>
                  <a:t>[-2.349701, 1.389541]</a:t>
                </a:r>
              </a:p>
              <a:p>
                <a:pPr marL="288925">
                  <a:tabLst>
                    <a:tab pos="288925" algn="l"/>
                  </a:tabLst>
                </a:pPr>
                <a:endParaRPr lang="en-US" dirty="0">
                  <a:solidFill>
                    <a:schemeClr val="tx1"/>
                  </a:solidFill>
                  <a:latin typeface="Helvetica Neue" charset="0"/>
                  <a:ea typeface="Helvetica Neue" charset="0"/>
                  <a:cs typeface="Helvetica Neue" charset="0"/>
                </a:endParaRPr>
              </a:p>
              <a:p>
                <a:r>
                  <a:rPr lang="en-US" sz="1400" b="1" dirty="0">
                    <a:solidFill>
                      <a:schemeClr val="tx1"/>
                    </a:solidFill>
                    <a:latin typeface="Helvetica" panose="020B0604020202020204" pitchFamily="34" charset="0"/>
                    <a:ea typeface="Helvetica Neue" charset="0"/>
                    <a:cs typeface="Helvetica" panose="020B0604020202020204" pitchFamily="34" charset="0"/>
                  </a:rPr>
                  <a:t>Interpretation: </a:t>
                </a:r>
                <a:r>
                  <a:rPr lang="en-US" sz="1400" dirty="0">
                    <a:solidFill>
                      <a:schemeClr val="tx1"/>
                    </a:solidFill>
                    <a:latin typeface="Helvetica" panose="020B0604020202020204" pitchFamily="34" charset="0"/>
                    <a:ea typeface="Helvetica Neue" charset="0"/>
                    <a:cs typeface="Helvetica" panose="020B0604020202020204" pitchFamily="34" charset="0"/>
                  </a:rPr>
                  <a:t>The interval includes zero, thus it is plausible that the regression coefficient to be zero given all other predicting variables in the model.</a:t>
                </a:r>
              </a:p>
            </p:txBody>
          </p:sp>
        </mc:Choice>
        <mc:Fallback xmlns="">
          <p:sp>
            <p:nvSpPr>
              <p:cNvPr id="6" name="TextBox 5"/>
              <p:cNvSpPr txBox="1">
                <a:spLocks noRot="1" noChangeAspect="1" noMove="1" noResize="1" noEditPoints="1" noAdjustHandles="1" noChangeArrowheads="1" noChangeShapeType="1" noTextEdit="1"/>
              </p:cNvSpPr>
              <p:nvPr/>
            </p:nvSpPr>
            <p:spPr>
              <a:xfrm>
                <a:off x="5486399" y="1276350"/>
                <a:ext cx="3048001" cy="2369880"/>
              </a:xfrm>
              <a:prstGeom prst="rect">
                <a:avLst/>
              </a:prstGeom>
              <a:blipFill>
                <a:blip r:embed="rId3"/>
                <a:stretch>
                  <a:fillRect l="-398" b="-1276"/>
                </a:stretch>
              </a:blipFill>
              <a:ln w="19050">
                <a:solidFill>
                  <a:schemeClr val="tx2"/>
                </a:solidFill>
              </a:ln>
            </p:spPr>
            <p:txBody>
              <a:bodyPr/>
              <a:lstStyle/>
              <a:p>
                <a:r>
                  <a:rPr lang="en-US">
                    <a:noFill/>
                  </a:rPr>
                  <a:t> </a:t>
                </a:r>
              </a:p>
            </p:txBody>
          </p:sp>
        </mc:Fallback>
      </mc:AlternateContent>
      <p:sp>
        <p:nvSpPr>
          <p:cNvPr id="7" name="Oval 6"/>
          <p:cNvSpPr/>
          <p:nvPr/>
        </p:nvSpPr>
        <p:spPr>
          <a:xfrm>
            <a:off x="762000" y="1617986"/>
            <a:ext cx="1908493" cy="287123"/>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6481660" y="1980810"/>
            <a:ext cx="1976540" cy="325947"/>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p:spTree>
    <p:custDataLst>
      <p:tags r:id="rId1"/>
    </p:custDataLst>
    <p:extLst>
      <p:ext uri="{BB962C8B-B14F-4D97-AF65-F5344CB8AC3E}">
        <p14:creationId xmlns:p14="http://schemas.microsoft.com/office/powerpoint/2010/main" val="276530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27520" y="1053970"/>
            <a:ext cx="7249160" cy="2246769"/>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defRPr/>
            </a:pPr>
            <a:r>
              <a:rPr lang="en-US" sz="1400" i="1" dirty="0" err="1">
                <a:latin typeface="Helvetica" panose="020B0604020202020204" pitchFamily="34" charset="0"/>
                <a:ea typeface="Helvetica Neue" charset="0"/>
                <a:cs typeface="Helvetica" panose="020B0604020202020204" pitchFamily="34" charset="0"/>
              </a:rPr>
              <a:t>regression.line.reduced</a:t>
            </a:r>
            <a:r>
              <a:rPr lang="en-US" sz="1400" i="1" dirty="0">
                <a:latin typeface="Helvetica" panose="020B0604020202020204" pitchFamily="34" charset="0"/>
                <a:ea typeface="Helvetica Neue" charset="0"/>
                <a:cs typeface="Helvetica" panose="020B0604020202020204" pitchFamily="34" charset="0"/>
              </a:rPr>
              <a:t> = lm(sat ~ takers + rank)</a:t>
            </a:r>
          </a:p>
          <a:p>
            <a:pPr eaLnBrk="1" hangingPunct="1">
              <a:defRPr/>
            </a:pPr>
            <a:r>
              <a:rPr lang="de-DE" sz="1400" i="1" dirty="0">
                <a:latin typeface="Helvetica" panose="020B0604020202020204" pitchFamily="34" charset="0"/>
                <a:ea typeface="Helvetica Neue" charset="0"/>
                <a:cs typeface="Helvetica" panose="020B0604020202020204" pitchFamily="34" charset="0"/>
              </a:rPr>
              <a:t>anova(regression.line.reduced, regression.line)</a:t>
            </a:r>
          </a:p>
          <a:p>
            <a:pPr eaLnBrk="1" hangingPunct="1">
              <a:defRPr/>
            </a:pPr>
            <a:endParaRPr lang="de-DE" sz="1400" dirty="0">
              <a:latin typeface="Helvetica" panose="020B0604020202020204" pitchFamily="34" charset="0"/>
              <a:ea typeface="Helvetica Neue" charset="0"/>
              <a:cs typeface="Helvetica" panose="020B0604020202020204" pitchFamily="34" charset="0"/>
            </a:endParaRPr>
          </a:p>
          <a:p>
            <a:pPr eaLnBrk="1" hangingPunct="1">
              <a:defRPr/>
            </a:pPr>
            <a:r>
              <a:rPr lang="de-DE" sz="1400" dirty="0">
                <a:latin typeface="Helvetica" panose="020B0604020202020204" pitchFamily="34" charset="0"/>
                <a:ea typeface="Helvetica Neue" charset="0"/>
                <a:cs typeface="Helvetica" panose="020B0604020202020204" pitchFamily="34" charset="0"/>
              </a:rPr>
              <a:t>Analysis of Variance Table</a:t>
            </a:r>
          </a:p>
          <a:p>
            <a:pPr eaLnBrk="1" hangingPunct="1">
              <a:defRPr/>
            </a:pPr>
            <a:endParaRPr lang="de-DE" sz="1400" dirty="0">
              <a:latin typeface="Helvetica" panose="020B0604020202020204" pitchFamily="34" charset="0"/>
              <a:ea typeface="Helvetica Neue" charset="0"/>
              <a:cs typeface="Helvetica" panose="020B0604020202020204" pitchFamily="34" charset="0"/>
            </a:endParaRPr>
          </a:p>
          <a:p>
            <a:pPr eaLnBrk="1" hangingPunct="1">
              <a:defRPr/>
            </a:pPr>
            <a:r>
              <a:rPr lang="de-DE" sz="1400" dirty="0">
                <a:latin typeface="Helvetica" panose="020B0604020202020204" pitchFamily="34" charset="0"/>
                <a:ea typeface="Helvetica Neue" charset="0"/>
                <a:cs typeface="Helvetica" panose="020B0604020202020204" pitchFamily="34" charset="0"/>
              </a:rPr>
              <a:t>Model 1: </a:t>
            </a:r>
            <a:r>
              <a:rPr lang="de-DE" sz="1400" dirty="0" err="1">
                <a:latin typeface="Helvetica" panose="020B0604020202020204" pitchFamily="34" charset="0"/>
                <a:ea typeface="Helvetica Neue" charset="0"/>
                <a:cs typeface="Helvetica" panose="020B0604020202020204" pitchFamily="34" charset="0"/>
              </a:rPr>
              <a:t>sat</a:t>
            </a:r>
            <a:r>
              <a:rPr lang="de-DE" sz="1400" dirty="0">
                <a:latin typeface="Helvetica" panose="020B0604020202020204" pitchFamily="34" charset="0"/>
                <a:ea typeface="Helvetica Neue" charset="0"/>
                <a:cs typeface="Helvetica" panose="020B0604020202020204" pitchFamily="34" charset="0"/>
              </a:rPr>
              <a:t> ~ </a:t>
            </a:r>
            <a:r>
              <a:rPr lang="de-DE" sz="1400" dirty="0" err="1">
                <a:latin typeface="Helvetica" panose="020B0604020202020204" pitchFamily="34" charset="0"/>
                <a:ea typeface="Helvetica Neue" charset="0"/>
                <a:cs typeface="Helvetica" panose="020B0604020202020204" pitchFamily="34" charset="0"/>
              </a:rPr>
              <a:t>takers</a:t>
            </a:r>
            <a:r>
              <a:rPr lang="de-DE" sz="1400" dirty="0">
                <a:latin typeface="Helvetica" panose="020B0604020202020204" pitchFamily="34" charset="0"/>
                <a:ea typeface="Helvetica Neue" charset="0"/>
                <a:cs typeface="Helvetica" panose="020B0604020202020204" pitchFamily="34" charset="0"/>
              </a:rPr>
              <a:t> + rank</a:t>
            </a:r>
          </a:p>
          <a:p>
            <a:pPr eaLnBrk="1" hangingPunct="1">
              <a:defRPr/>
            </a:pPr>
            <a:r>
              <a:rPr lang="de-DE" sz="1400" dirty="0">
                <a:latin typeface="Helvetica" panose="020B0604020202020204" pitchFamily="34" charset="0"/>
                <a:ea typeface="Helvetica Neue" charset="0"/>
                <a:cs typeface="Helvetica" panose="020B0604020202020204" pitchFamily="34" charset="0"/>
              </a:rPr>
              <a:t>Model 2: sat ~ takers + rank + income + years + public + expend</a:t>
            </a:r>
          </a:p>
          <a:p>
            <a:pPr eaLnBrk="1" hangingPunct="1">
              <a:defRPr/>
            </a:pPr>
            <a:r>
              <a:rPr lang="de-DE" sz="1400" dirty="0">
                <a:latin typeface="Helvetica" panose="020B0604020202020204" pitchFamily="34" charset="0"/>
                <a:ea typeface="Helvetica Neue" charset="0"/>
                <a:cs typeface="Helvetica" panose="020B0604020202020204" pitchFamily="34" charset="0"/>
              </a:rPr>
              <a:t>       Res.Df       RSS Df   Sum of Sq          F      Pr(&gt;F)    </a:t>
            </a:r>
          </a:p>
          <a:p>
            <a:pPr marL="342900" indent="-342900" eaLnBrk="1" hangingPunct="1">
              <a:buAutoNum type="arabicPlain"/>
              <a:defRPr/>
            </a:pPr>
            <a:r>
              <a:rPr lang="de-DE" sz="1400" dirty="0">
                <a:latin typeface="Helvetica" panose="020B0604020202020204" pitchFamily="34" charset="0"/>
                <a:ea typeface="Helvetica Neue" charset="0"/>
                <a:cs typeface="Helvetica" panose="020B0604020202020204" pitchFamily="34" charset="0"/>
              </a:rPr>
              <a:t>47</a:t>
            </a:r>
            <a:r>
              <a:rPr lang="zh-CN" altLang="en-US" sz="1400" dirty="0">
                <a:latin typeface="Helvetica" panose="020B0604020202020204" pitchFamily="34" charset="0"/>
                <a:ea typeface="Helvetica Neue" charset="0"/>
                <a:cs typeface="Helvetica" panose="020B0604020202020204" pitchFamily="34" charset="0"/>
              </a:rPr>
              <a:t> </a:t>
            </a:r>
            <a:r>
              <a:rPr lang="de-DE" sz="1400" dirty="0">
                <a:latin typeface="Helvetica" panose="020B0604020202020204" pitchFamily="34" charset="0"/>
                <a:ea typeface="Helvetica Neue" charset="0"/>
                <a:cs typeface="Helvetica" panose="020B0604020202020204" pitchFamily="34" charset="0"/>
              </a:rPr>
              <a:t>53778</a:t>
            </a:r>
          </a:p>
          <a:p>
            <a:pPr marL="342900" indent="-342900" eaLnBrk="1" hangingPunct="1">
              <a:buAutoNum type="arabicPlain"/>
              <a:defRPr/>
            </a:pPr>
            <a:r>
              <a:rPr lang="de-DE" sz="1400" dirty="0">
                <a:latin typeface="Helvetica" panose="020B0604020202020204" pitchFamily="34" charset="0"/>
                <a:ea typeface="Helvetica Neue" charset="0"/>
                <a:cs typeface="Helvetica" panose="020B0604020202020204" pitchFamily="34" charset="0"/>
              </a:rPr>
              <a:t>43 29842              4    	 23935</a:t>
            </a:r>
            <a:r>
              <a:rPr lang="zh-CN" altLang="en-US" sz="1400" dirty="0">
                <a:latin typeface="Helvetica" panose="020B0604020202020204" pitchFamily="34" charset="0"/>
                <a:ea typeface="Helvetica Neue" charset="0"/>
                <a:cs typeface="Helvetica" panose="020B0604020202020204" pitchFamily="34" charset="0"/>
              </a:rPr>
              <a:t> </a:t>
            </a:r>
            <a:r>
              <a:rPr lang="de-DE" sz="1400" dirty="0">
                <a:latin typeface="Helvetica" panose="020B0604020202020204" pitchFamily="34" charset="0"/>
                <a:ea typeface="Helvetica Neue" charset="0"/>
                <a:cs typeface="Helvetica" panose="020B0604020202020204" pitchFamily="34" charset="0"/>
              </a:rPr>
              <a:t>8.6221  3.35e-05 ***</a:t>
            </a:r>
          </a:p>
        </p:txBody>
      </p:sp>
      <p:sp>
        <p:nvSpPr>
          <p:cNvPr id="5"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p:spTree>
    <p:custDataLst>
      <p:tags r:id="rId1"/>
    </p:custDataLst>
    <p:extLst>
      <p:ext uri="{BB962C8B-B14F-4D97-AF65-F5344CB8AC3E}">
        <p14:creationId xmlns:p14="http://schemas.microsoft.com/office/powerpoint/2010/main" val="2650988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3"/>
          <p:cNvSpPr txBox="1">
            <a:spLocks noChangeArrowheads="1"/>
          </p:cNvSpPr>
          <p:nvPr/>
        </p:nvSpPr>
        <p:spPr bwMode="auto">
          <a:xfrm>
            <a:off x="127520" y="1053970"/>
            <a:ext cx="7249160" cy="2246769"/>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defRPr/>
            </a:pPr>
            <a:r>
              <a:rPr lang="en-US" sz="1400" i="1" dirty="0" err="1">
                <a:latin typeface="Helvetica" panose="020B0604020202020204" pitchFamily="34" charset="0"/>
                <a:ea typeface="Helvetica Neue" charset="0"/>
                <a:cs typeface="Helvetica" panose="020B0604020202020204" pitchFamily="34" charset="0"/>
              </a:rPr>
              <a:t>regression.line.reduced</a:t>
            </a:r>
            <a:r>
              <a:rPr lang="en-US" sz="1400" i="1" dirty="0">
                <a:latin typeface="Helvetica" panose="020B0604020202020204" pitchFamily="34" charset="0"/>
                <a:ea typeface="Helvetica Neue" charset="0"/>
                <a:cs typeface="Helvetica" panose="020B0604020202020204" pitchFamily="34" charset="0"/>
              </a:rPr>
              <a:t> = lm(sat ~ takers + rank)</a:t>
            </a:r>
          </a:p>
          <a:p>
            <a:pPr eaLnBrk="1" hangingPunct="1">
              <a:defRPr/>
            </a:pPr>
            <a:r>
              <a:rPr lang="de-DE" sz="1400" i="1" dirty="0">
                <a:latin typeface="Helvetica" panose="020B0604020202020204" pitchFamily="34" charset="0"/>
                <a:ea typeface="Helvetica Neue" charset="0"/>
                <a:cs typeface="Helvetica" panose="020B0604020202020204" pitchFamily="34" charset="0"/>
              </a:rPr>
              <a:t>anova(regression.line.reduced, regression.line)</a:t>
            </a:r>
          </a:p>
          <a:p>
            <a:pPr eaLnBrk="1" hangingPunct="1">
              <a:defRPr/>
            </a:pPr>
            <a:endParaRPr lang="de-DE" sz="1400" dirty="0">
              <a:latin typeface="Helvetica" panose="020B0604020202020204" pitchFamily="34" charset="0"/>
              <a:ea typeface="Helvetica Neue" charset="0"/>
              <a:cs typeface="Helvetica" panose="020B0604020202020204" pitchFamily="34" charset="0"/>
            </a:endParaRPr>
          </a:p>
          <a:p>
            <a:pPr eaLnBrk="1" hangingPunct="1">
              <a:defRPr/>
            </a:pPr>
            <a:r>
              <a:rPr lang="de-DE" sz="1400" dirty="0">
                <a:latin typeface="Helvetica" panose="020B0604020202020204" pitchFamily="34" charset="0"/>
                <a:ea typeface="Helvetica Neue" charset="0"/>
                <a:cs typeface="Helvetica" panose="020B0604020202020204" pitchFamily="34" charset="0"/>
              </a:rPr>
              <a:t>Analysis of Variance Table</a:t>
            </a:r>
          </a:p>
          <a:p>
            <a:pPr eaLnBrk="1" hangingPunct="1">
              <a:defRPr/>
            </a:pPr>
            <a:endParaRPr lang="de-DE" sz="1400" dirty="0">
              <a:latin typeface="Helvetica" panose="020B0604020202020204" pitchFamily="34" charset="0"/>
              <a:ea typeface="Helvetica Neue" charset="0"/>
              <a:cs typeface="Helvetica" panose="020B0604020202020204" pitchFamily="34" charset="0"/>
            </a:endParaRPr>
          </a:p>
          <a:p>
            <a:pPr eaLnBrk="1" hangingPunct="1">
              <a:defRPr/>
            </a:pPr>
            <a:r>
              <a:rPr lang="de-DE" sz="1400" dirty="0">
                <a:latin typeface="Helvetica" panose="020B0604020202020204" pitchFamily="34" charset="0"/>
                <a:ea typeface="Helvetica Neue" charset="0"/>
                <a:cs typeface="Helvetica" panose="020B0604020202020204" pitchFamily="34" charset="0"/>
              </a:rPr>
              <a:t>Model 1: </a:t>
            </a:r>
            <a:r>
              <a:rPr lang="de-DE" sz="1400" dirty="0" err="1">
                <a:latin typeface="Helvetica" panose="020B0604020202020204" pitchFamily="34" charset="0"/>
                <a:ea typeface="Helvetica Neue" charset="0"/>
                <a:cs typeface="Helvetica" panose="020B0604020202020204" pitchFamily="34" charset="0"/>
              </a:rPr>
              <a:t>sat</a:t>
            </a:r>
            <a:r>
              <a:rPr lang="de-DE" sz="1400" dirty="0">
                <a:latin typeface="Helvetica" panose="020B0604020202020204" pitchFamily="34" charset="0"/>
                <a:ea typeface="Helvetica Neue" charset="0"/>
                <a:cs typeface="Helvetica" panose="020B0604020202020204" pitchFamily="34" charset="0"/>
              </a:rPr>
              <a:t> ~ </a:t>
            </a:r>
            <a:r>
              <a:rPr lang="de-DE" sz="1400" dirty="0" err="1">
                <a:latin typeface="Helvetica" panose="020B0604020202020204" pitchFamily="34" charset="0"/>
                <a:ea typeface="Helvetica Neue" charset="0"/>
                <a:cs typeface="Helvetica" panose="020B0604020202020204" pitchFamily="34" charset="0"/>
              </a:rPr>
              <a:t>takers</a:t>
            </a:r>
            <a:r>
              <a:rPr lang="de-DE" sz="1400" dirty="0">
                <a:latin typeface="Helvetica" panose="020B0604020202020204" pitchFamily="34" charset="0"/>
                <a:ea typeface="Helvetica Neue" charset="0"/>
                <a:cs typeface="Helvetica" panose="020B0604020202020204" pitchFamily="34" charset="0"/>
              </a:rPr>
              <a:t> + rank</a:t>
            </a:r>
          </a:p>
          <a:p>
            <a:pPr eaLnBrk="1" hangingPunct="1">
              <a:defRPr/>
            </a:pPr>
            <a:r>
              <a:rPr lang="de-DE" sz="1400" dirty="0">
                <a:latin typeface="Helvetica" panose="020B0604020202020204" pitchFamily="34" charset="0"/>
                <a:ea typeface="Helvetica Neue" charset="0"/>
                <a:cs typeface="Helvetica" panose="020B0604020202020204" pitchFamily="34" charset="0"/>
              </a:rPr>
              <a:t>Model 2: sat ~ takers + rank + income + years + public + expend</a:t>
            </a:r>
          </a:p>
          <a:p>
            <a:pPr eaLnBrk="1" hangingPunct="1">
              <a:defRPr/>
            </a:pPr>
            <a:r>
              <a:rPr lang="de-DE" sz="1400" dirty="0">
                <a:latin typeface="Helvetica" panose="020B0604020202020204" pitchFamily="34" charset="0"/>
                <a:ea typeface="Helvetica Neue" charset="0"/>
                <a:cs typeface="Helvetica" panose="020B0604020202020204" pitchFamily="34" charset="0"/>
              </a:rPr>
              <a:t>       Res.Df       RSS Df   Sum of Sq          F      Pr(&gt;F)    </a:t>
            </a:r>
          </a:p>
          <a:p>
            <a:pPr marL="342900" indent="-342900" eaLnBrk="1" hangingPunct="1">
              <a:buAutoNum type="arabicPlain"/>
              <a:defRPr/>
            </a:pPr>
            <a:r>
              <a:rPr lang="de-DE" sz="1400" dirty="0">
                <a:latin typeface="Helvetica" panose="020B0604020202020204" pitchFamily="34" charset="0"/>
                <a:ea typeface="Helvetica Neue" charset="0"/>
                <a:cs typeface="Helvetica" panose="020B0604020202020204" pitchFamily="34" charset="0"/>
              </a:rPr>
              <a:t>47</a:t>
            </a:r>
            <a:r>
              <a:rPr lang="zh-CN" altLang="en-US" sz="1400" dirty="0">
                <a:latin typeface="Helvetica" panose="020B0604020202020204" pitchFamily="34" charset="0"/>
                <a:ea typeface="Helvetica Neue" charset="0"/>
                <a:cs typeface="Helvetica" panose="020B0604020202020204" pitchFamily="34" charset="0"/>
              </a:rPr>
              <a:t> </a:t>
            </a:r>
            <a:r>
              <a:rPr lang="de-DE" sz="1400" dirty="0">
                <a:latin typeface="Helvetica" panose="020B0604020202020204" pitchFamily="34" charset="0"/>
                <a:ea typeface="Helvetica Neue" charset="0"/>
                <a:cs typeface="Helvetica" panose="020B0604020202020204" pitchFamily="34" charset="0"/>
              </a:rPr>
              <a:t>53778</a:t>
            </a:r>
          </a:p>
          <a:p>
            <a:pPr marL="342900" indent="-342900" eaLnBrk="1" hangingPunct="1">
              <a:buAutoNum type="arabicPlain"/>
              <a:defRPr/>
            </a:pPr>
            <a:r>
              <a:rPr lang="de-DE" sz="1400" dirty="0">
                <a:latin typeface="Helvetica" panose="020B0604020202020204" pitchFamily="34" charset="0"/>
                <a:ea typeface="Helvetica Neue" charset="0"/>
                <a:cs typeface="Helvetica" panose="020B0604020202020204" pitchFamily="34" charset="0"/>
              </a:rPr>
              <a:t>43 29842              4    	 23935</a:t>
            </a:r>
            <a:r>
              <a:rPr lang="zh-CN" altLang="en-US" sz="1400" dirty="0">
                <a:latin typeface="Helvetica" panose="020B0604020202020204" pitchFamily="34" charset="0"/>
                <a:ea typeface="Helvetica Neue" charset="0"/>
                <a:cs typeface="Helvetica" panose="020B0604020202020204" pitchFamily="34" charset="0"/>
              </a:rPr>
              <a:t> </a:t>
            </a:r>
            <a:r>
              <a:rPr lang="de-DE" sz="1400" dirty="0">
                <a:latin typeface="Helvetica" panose="020B0604020202020204" pitchFamily="34" charset="0"/>
                <a:ea typeface="Helvetica Neue" charset="0"/>
                <a:cs typeface="Helvetica" panose="020B0604020202020204" pitchFamily="34" charset="0"/>
              </a:rPr>
              <a:t>8.6221  3.35e-05 ***</a:t>
            </a:r>
          </a:p>
        </p:txBody>
      </p:sp>
      <mc:AlternateContent xmlns:mc="http://schemas.openxmlformats.org/markup-compatibility/2006" xmlns:a14="http://schemas.microsoft.com/office/drawing/2010/main">
        <mc:Choice Requires="a14">
          <p:sp>
            <p:nvSpPr>
              <p:cNvPr id="5" name="TextBox 4"/>
              <p:cNvSpPr txBox="1"/>
              <p:nvPr/>
            </p:nvSpPr>
            <p:spPr>
              <a:xfrm>
                <a:off x="5486400" y="1276350"/>
                <a:ext cx="3048000" cy="2246769"/>
              </a:xfrm>
              <a:prstGeom prst="rect">
                <a:avLst/>
              </a:prstGeom>
              <a:noFill/>
              <a:ln w="19050">
                <a:solidFill>
                  <a:schemeClr val="tx2"/>
                </a:solidFill>
              </a:ln>
            </p:spPr>
            <p:txBody>
              <a:bodyPr wrap="square" tIns="91440" bIns="91440" rtlCol="0">
                <a:spAutoFit/>
              </a:bodyPr>
              <a:lstStyle/>
              <a:p>
                <a:pPr marL="228600" indent="-228600">
                  <a:buAutoNum type="alphaLcPeriod" startAt="5"/>
                  <a:tabLst>
                    <a:tab pos="228600" algn="l"/>
                  </a:tabLst>
                </a:pPr>
                <a:r>
                  <a:rPr lang="en-US" sz="1400" b="1" dirty="0">
                    <a:latin typeface="Helvetica" panose="020B0604020202020204" pitchFamily="34" charset="0"/>
                    <a:ea typeface="Helvetica Neue" charset="0"/>
                    <a:cs typeface="Helvetica" panose="020B0604020202020204" pitchFamily="34" charset="0"/>
                  </a:rPr>
                  <a:t>Testing for a subset of regression coefficients</a:t>
                </a:r>
                <a:r>
                  <a:rPr lang="en-US" sz="1400" dirty="0">
                    <a:latin typeface="Helvetica" panose="020B0604020202020204" pitchFamily="34" charset="0"/>
                    <a:ea typeface="Helvetica Neue" charset="0"/>
                    <a:cs typeface="Helvetica" panose="020B0604020202020204" pitchFamily="34" charset="0"/>
                  </a:rPr>
                  <a:t>:</a:t>
                </a:r>
              </a:p>
              <a:p>
                <a:pPr>
                  <a:tabLst>
                    <a:tab pos="228600" algn="l"/>
                  </a:tabLst>
                </a:pPr>
                <a:endParaRPr lang="en-US" sz="1400" dirty="0">
                  <a:latin typeface="Helvetica" panose="020B0604020202020204" pitchFamily="34" charset="0"/>
                  <a:ea typeface="Helvetica Neue" charset="0"/>
                  <a:cs typeface="Helvetica" panose="020B0604020202020204" pitchFamily="34" charset="0"/>
                </a:endParaRPr>
              </a:p>
              <a:p>
                <a:pPr marL="228600"/>
                <a14:m>
                  <m:oMath xmlns:m="http://schemas.openxmlformats.org/officeDocument/2006/math">
                    <m:sSub>
                      <m:sSubPr>
                        <m:ctrlPr>
                          <a:rPr lang="en-US" sz="1400" i="1">
                            <a:latin typeface="Cambria Math" panose="02040503050406030204" pitchFamily="18" charset="0"/>
                            <a:ea typeface="Cambria Math" panose="02040503050406030204" pitchFamily="18" charset="0"/>
                            <a:cs typeface="Helvetica Neue" charset="0"/>
                          </a:rPr>
                        </m:ctrlPr>
                      </m:sSubPr>
                      <m:e>
                        <m:r>
                          <m:rPr>
                            <m:sty m:val="p"/>
                          </m:rPr>
                          <a:rPr lang="en-US" sz="1400" b="0" i="0">
                            <a:latin typeface="Cambria Math" panose="02040503050406030204" pitchFamily="18" charset="0"/>
                            <a:ea typeface="Cambria Math" panose="02040503050406030204" pitchFamily="18" charset="0"/>
                            <a:cs typeface="Helvetica Neue" charset="0"/>
                          </a:rPr>
                          <m:t>H</m:t>
                        </m:r>
                      </m:e>
                      <m:sub>
                        <m:r>
                          <a:rPr lang="en-US" sz="1400" b="0" i="1">
                            <a:latin typeface="Cambria Math" panose="02040503050406030204" pitchFamily="18" charset="0"/>
                            <a:ea typeface="Cambria Math" panose="02040503050406030204" pitchFamily="18" charset="0"/>
                            <a:cs typeface="Helvetica Neue" charset="0"/>
                          </a:rPr>
                          <m:t>0</m:t>
                        </m:r>
                      </m:sub>
                    </m:sSub>
                    <m:r>
                      <a:rPr lang="en-US" sz="1400" b="0" i="1">
                        <a:latin typeface="Cambria Math" panose="02040503050406030204" pitchFamily="18" charset="0"/>
                        <a:ea typeface="Cambria Math" panose="02040503050406030204" pitchFamily="18" charset="0"/>
                        <a:cs typeface="Helvetica Neue" charset="0"/>
                      </a:rPr>
                      <m:t>:</m:t>
                    </m:r>
                  </m:oMath>
                </a14:m>
                <a:r>
                  <a:rPr lang="en-US" dirty="0">
                    <a:latin typeface="Helvetica Neue" charset="0"/>
                    <a:ea typeface="Helvetica Neue" charset="0"/>
                    <a:cs typeface="Helvetica Neue" charset="0"/>
                  </a:rPr>
                  <a:t> </a:t>
                </a:r>
                <a:r>
                  <a:rPr lang="en-US" sz="1400" dirty="0">
                    <a:latin typeface="Helvetica" panose="020B0604020202020204" pitchFamily="34" charset="0"/>
                    <a:ea typeface="Helvetica Neue" charset="0"/>
                    <a:cs typeface="Helvetica" panose="020B0604020202020204" pitchFamily="34" charset="0"/>
                  </a:rPr>
                  <a:t>Reduced Model (</a:t>
                </a:r>
                <a:r>
                  <a:rPr lang="en-US" sz="1400" i="1" dirty="0">
                    <a:latin typeface="Helvetica" panose="020B0604020202020204" pitchFamily="34" charset="0"/>
                    <a:ea typeface="Helvetica Neue" charset="0"/>
                    <a:cs typeface="Helvetica" panose="020B0604020202020204" pitchFamily="34" charset="0"/>
                  </a:rPr>
                  <a:t>takers</a:t>
                </a:r>
                <a:r>
                  <a:rPr lang="en-US" sz="1400" dirty="0">
                    <a:latin typeface="Helvetica" panose="020B0604020202020204" pitchFamily="34" charset="0"/>
                    <a:ea typeface="Helvetica Neue" charset="0"/>
                    <a:cs typeface="Helvetica" panose="020B0604020202020204" pitchFamily="34" charset="0"/>
                  </a:rPr>
                  <a:t> and </a:t>
                </a:r>
                <a:r>
                  <a:rPr lang="en-US" sz="1400" i="1" dirty="0">
                    <a:latin typeface="Helvetica" panose="020B0604020202020204" pitchFamily="34" charset="0"/>
                    <a:ea typeface="Helvetica Neue" charset="0"/>
                    <a:cs typeface="Helvetica" panose="020B0604020202020204" pitchFamily="34" charset="0"/>
                  </a:rPr>
                  <a:t>rank</a:t>
                </a:r>
                <a:r>
                  <a:rPr lang="en-US" sz="1400" dirty="0">
                    <a:latin typeface="Helvetica" panose="020B0604020202020204" pitchFamily="34" charset="0"/>
                    <a:ea typeface="Helvetica Neue" charset="0"/>
                    <a:cs typeface="Helvetica" panose="020B0604020202020204" pitchFamily="34" charset="0"/>
                  </a:rPr>
                  <a:t> only) vs. </a:t>
                </a:r>
                <a14:m>
                  <m:oMath xmlns:m="http://schemas.openxmlformats.org/officeDocument/2006/math">
                    <m:sSub>
                      <m:sSubPr>
                        <m:ctrlPr>
                          <a:rPr lang="en-US" sz="1400" i="1">
                            <a:latin typeface="Cambria Math" panose="02040503050406030204" pitchFamily="18" charset="0"/>
                            <a:ea typeface="Cambria Math" panose="02040503050406030204" pitchFamily="18" charset="0"/>
                            <a:cs typeface="Helvetica Neue" charset="0"/>
                          </a:rPr>
                        </m:ctrlPr>
                      </m:sSubPr>
                      <m:e>
                        <m:r>
                          <a:rPr lang="en-US" sz="1400" b="0" i="1">
                            <a:latin typeface="Cambria Math" panose="02040503050406030204" pitchFamily="18" charset="0"/>
                            <a:ea typeface="Cambria Math" panose="02040503050406030204" pitchFamily="18" charset="0"/>
                            <a:cs typeface="Helvetica Neue" charset="0"/>
                          </a:rPr>
                          <m:t>𝐻</m:t>
                        </m:r>
                      </m:e>
                      <m:sub>
                        <m:r>
                          <a:rPr lang="en-US" sz="1400" b="0" i="1">
                            <a:latin typeface="Cambria Math" panose="02040503050406030204" pitchFamily="18" charset="0"/>
                            <a:ea typeface="Cambria Math" panose="02040503050406030204" pitchFamily="18" charset="0"/>
                            <a:cs typeface="Helvetica Neue" charset="0"/>
                          </a:rPr>
                          <m:t>𝐴</m:t>
                        </m:r>
                      </m:sub>
                    </m:sSub>
                    <m:r>
                      <a:rPr lang="en-US" sz="1400" b="0" i="1">
                        <a:latin typeface="Cambria Math" panose="02040503050406030204" pitchFamily="18" charset="0"/>
                        <a:ea typeface="Cambria Math" panose="02040503050406030204" pitchFamily="18" charset="0"/>
                        <a:cs typeface="Helvetica Neue" charset="0"/>
                      </a:rPr>
                      <m:t>:</m:t>
                    </m:r>
                  </m:oMath>
                </a14:m>
                <a:r>
                  <a:rPr lang="en-US" sz="1400" dirty="0">
                    <a:latin typeface="Cambria Math" panose="02040503050406030204" pitchFamily="18" charset="0"/>
                    <a:ea typeface="Cambria Math" panose="02040503050406030204" pitchFamily="18" charset="0"/>
                    <a:cs typeface="Helvetica Neue" charset="0"/>
                  </a:rPr>
                  <a:t> </a:t>
                </a:r>
                <a:r>
                  <a:rPr lang="en-US" sz="1400" dirty="0">
                    <a:latin typeface="Helvetica" panose="020B0604020202020204" pitchFamily="34" charset="0"/>
                    <a:ea typeface="Helvetica Neue" charset="0"/>
                    <a:cs typeface="Helvetica" panose="020B0604020202020204" pitchFamily="34" charset="0"/>
                  </a:rPr>
                  <a:t>Full Model </a:t>
                </a:r>
              </a:p>
              <a:p>
                <a:pPr marL="228600"/>
                <a:endParaRPr lang="en-US" sz="1400" dirty="0">
                  <a:latin typeface="Helvetica" panose="020B0604020202020204" pitchFamily="34" charset="0"/>
                  <a:ea typeface="Helvetica Neue" charset="0"/>
                  <a:cs typeface="Helvetica" panose="020B0604020202020204" pitchFamily="34" charset="0"/>
                </a:endParaRPr>
              </a:p>
              <a:p>
                <a:pPr marL="228600"/>
                <a:r>
                  <a:rPr lang="en-US" sz="1400" dirty="0">
                    <a:latin typeface="Helvetica" panose="020B0604020202020204" pitchFamily="34" charset="0"/>
                    <a:ea typeface="Helvetica Neue" charset="0"/>
                    <a:cs typeface="Helvetica" panose="020B0604020202020204" pitchFamily="34" charset="0"/>
                  </a:rPr>
                  <a:t>Partial F Test: </a:t>
                </a:r>
              </a:p>
              <a:p>
                <a:pPr marL="512763"/>
                <a:r>
                  <a:rPr lang="en-US" sz="1400" dirty="0">
                    <a:latin typeface="Helvetica" panose="020B0604020202020204" pitchFamily="34" charset="0"/>
                    <a:ea typeface="Helvetica Neue" charset="0"/>
                    <a:cs typeface="Helvetica" panose="020B0604020202020204" pitchFamily="34" charset="0"/>
                  </a:rPr>
                  <a:t>F-value = </a:t>
                </a:r>
                <a:r>
                  <a:rPr lang="de-DE" sz="1400" b="1" dirty="0">
                    <a:latin typeface="Helvetica" panose="020B0604020202020204" pitchFamily="34" charset="0"/>
                    <a:ea typeface="Helvetica Neue" charset="0"/>
                    <a:cs typeface="Helvetica" panose="020B0604020202020204" pitchFamily="34" charset="0"/>
                  </a:rPr>
                  <a:t>8.6221</a:t>
                </a:r>
              </a:p>
              <a:p>
                <a:pPr marL="512763"/>
                <a:r>
                  <a:rPr lang="de-DE" sz="1400" dirty="0">
                    <a:latin typeface="Helvetica" panose="020B0604020202020204" pitchFamily="34" charset="0"/>
                    <a:ea typeface="Helvetica Neue" charset="0"/>
                    <a:cs typeface="Helvetica" panose="020B0604020202020204" pitchFamily="34" charset="0"/>
                  </a:rPr>
                  <a:t>P-value </a:t>
                </a:r>
                <a:r>
                  <a:rPr lang="en-US" sz="1400" b="1" dirty="0">
                    <a:latin typeface="Helvetica" panose="020B0604020202020204" pitchFamily="34" charset="0"/>
                    <a:ea typeface="Helvetica Neue" charset="0"/>
                    <a:cs typeface="Helvetica" panose="020B0604020202020204" pitchFamily="34" charset="0"/>
                  </a:rPr>
                  <a:t>≈ 0</a:t>
                </a:r>
              </a:p>
            </p:txBody>
          </p:sp>
        </mc:Choice>
        <mc:Fallback xmlns="">
          <p:sp>
            <p:nvSpPr>
              <p:cNvPr id="5" name="TextBox 4"/>
              <p:cNvSpPr txBox="1">
                <a:spLocks noRot="1" noChangeAspect="1" noMove="1" noResize="1" noEditPoints="1" noAdjustHandles="1" noChangeArrowheads="1" noChangeShapeType="1" noTextEdit="1"/>
              </p:cNvSpPr>
              <p:nvPr/>
            </p:nvSpPr>
            <p:spPr>
              <a:xfrm>
                <a:off x="5486400" y="1276350"/>
                <a:ext cx="3048000" cy="2246769"/>
              </a:xfrm>
              <a:prstGeom prst="rect">
                <a:avLst/>
              </a:prstGeom>
              <a:blipFill>
                <a:blip r:embed="rId3"/>
                <a:stretch>
                  <a:fillRect/>
                </a:stretch>
              </a:blipFill>
              <a:ln w="19050">
                <a:solidFill>
                  <a:schemeClr val="tx2"/>
                </a:solidFill>
              </a:ln>
            </p:spPr>
            <p:txBody>
              <a:bodyPr/>
              <a:lstStyle/>
              <a:p>
                <a:r>
                  <a:rPr lang="en-US">
                    <a:noFill/>
                  </a:rPr>
                  <a:t> </a:t>
                </a:r>
              </a:p>
            </p:txBody>
          </p:sp>
        </mc:Fallback>
      </mc:AlternateContent>
      <p:sp>
        <p:nvSpPr>
          <p:cNvPr id="6" name="Oval 5"/>
          <p:cNvSpPr/>
          <p:nvPr/>
        </p:nvSpPr>
        <p:spPr>
          <a:xfrm>
            <a:off x="3049171" y="2988800"/>
            <a:ext cx="608430" cy="25639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3663950" y="3005870"/>
            <a:ext cx="869300" cy="24765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a:extLst>
              <a:ext uri="{FF2B5EF4-FFF2-40B4-BE49-F238E27FC236}">
                <a16:creationId xmlns:a16="http://schemas.microsoft.com/office/drawing/2014/main" id="{799C6C91-BFEC-4254-9A8E-7AB379950DE0}"/>
              </a:ext>
            </a:extLst>
          </p:cNvPr>
          <p:cNvSpPr/>
          <p:nvPr/>
        </p:nvSpPr>
        <p:spPr>
          <a:xfrm>
            <a:off x="6831329" y="2876550"/>
            <a:ext cx="656491" cy="292114"/>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a:extLst>
              <a:ext uri="{FF2B5EF4-FFF2-40B4-BE49-F238E27FC236}">
                <a16:creationId xmlns:a16="http://schemas.microsoft.com/office/drawing/2014/main" id="{D29507CC-15EB-4FCD-89CD-71FA9873DB11}"/>
              </a:ext>
            </a:extLst>
          </p:cNvPr>
          <p:cNvSpPr/>
          <p:nvPr/>
        </p:nvSpPr>
        <p:spPr>
          <a:xfrm>
            <a:off x="6705600" y="3133319"/>
            <a:ext cx="381000" cy="257725"/>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p:spTree>
    <p:custDataLst>
      <p:tags r:id="rId1"/>
    </p:custDataLst>
    <p:extLst>
      <p:ext uri="{BB962C8B-B14F-4D97-AF65-F5344CB8AC3E}">
        <p14:creationId xmlns:p14="http://schemas.microsoft.com/office/powerpoint/2010/main" val="3189379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82E6786-C6A5-4DEB-B457-517CDE0FCC1F}"/>
                  </a:ext>
                </a:extLst>
              </p:cNvPr>
              <p:cNvSpPr txBox="1"/>
              <p:nvPr/>
            </p:nvSpPr>
            <p:spPr>
              <a:xfrm>
                <a:off x="609600" y="1284619"/>
                <a:ext cx="7924800" cy="2880981"/>
              </a:xfrm>
              <a:prstGeom prst="rect">
                <a:avLst/>
              </a:prstGeom>
              <a:noFill/>
              <a:ln w="19050">
                <a:solidFill>
                  <a:schemeClr val="tx2"/>
                </a:solidFill>
              </a:ln>
            </p:spPr>
            <p:txBody>
              <a:bodyPr wrap="square" tIns="91440" bIns="91440" rtlCol="0">
                <a:spAutoFit/>
              </a:bodyPr>
              <a:lstStyle/>
              <a:p>
                <a:pPr marL="228600" indent="-228600">
                  <a:buAutoNum type="alphaLcPeriod" startAt="5"/>
                  <a:tabLst>
                    <a:tab pos="228600" algn="l"/>
                  </a:tabLst>
                </a:pPr>
                <a:r>
                  <a:rPr lang="en-US" sz="1400" b="1" dirty="0">
                    <a:solidFill>
                      <a:schemeClr val="tx1"/>
                    </a:solidFill>
                    <a:latin typeface="Helvetica" panose="020B0604020202020204" pitchFamily="34" charset="0"/>
                    <a:ea typeface="Helvetica Neue" charset="0"/>
                    <a:cs typeface="Helvetica" panose="020B0604020202020204" pitchFamily="34" charset="0"/>
                  </a:rPr>
                  <a:t>Testing for a subset of regression coefficients </a:t>
                </a:r>
                <a:r>
                  <a:rPr lang="en-US" sz="1400" b="1" i="1" dirty="0">
                    <a:solidFill>
                      <a:schemeClr val="tx1"/>
                    </a:solidFill>
                    <a:latin typeface="Helvetica" panose="020B0604020202020204" pitchFamily="34" charset="0"/>
                    <a:ea typeface="Helvetica Neue" charset="0"/>
                    <a:cs typeface="Helvetica" panose="020B0604020202020204" pitchFamily="34" charset="0"/>
                  </a:rPr>
                  <a:t>(continued)</a:t>
                </a:r>
                <a:r>
                  <a:rPr lang="en-US" sz="1400" dirty="0">
                    <a:solidFill>
                      <a:schemeClr val="tx1"/>
                    </a:solidFill>
                    <a:latin typeface="Helvetica" panose="020B0604020202020204" pitchFamily="34" charset="0"/>
                    <a:ea typeface="Helvetica Neue" charset="0"/>
                    <a:cs typeface="Helvetica" panose="020B0604020202020204" pitchFamily="34" charset="0"/>
                  </a:rPr>
                  <a:t>:</a:t>
                </a:r>
              </a:p>
              <a:p>
                <a:pPr>
                  <a:tabLst>
                    <a:tab pos="228600" algn="l"/>
                  </a:tabLst>
                </a:pPr>
                <a:endParaRPr lang="en-US" sz="1400" dirty="0">
                  <a:solidFill>
                    <a:schemeClr val="tx1"/>
                  </a:solidFill>
                  <a:latin typeface="Helvetica" panose="020B0604020202020204" pitchFamily="34" charset="0"/>
                  <a:ea typeface="Helvetica Neue" charset="0"/>
                  <a:cs typeface="Helvetica" panose="020B0604020202020204" pitchFamily="34" charset="0"/>
                </a:endParaRPr>
              </a:p>
              <a:p>
                <a:pPr marL="228600"/>
                <a:r>
                  <a:rPr lang="en-US" altLang="en-US" sz="1400" dirty="0">
                    <a:solidFill>
                      <a:schemeClr val="tx1"/>
                    </a:solidFill>
                    <a:latin typeface="Helvetica" panose="020B0604020202020204" pitchFamily="34" charset="0"/>
                    <a:ea typeface="Helvetica Neue" charset="0"/>
                    <a:cs typeface="Helvetica" panose="020B0604020202020204" pitchFamily="34" charset="0"/>
                  </a:rPr>
                  <a:t>Test</a:t>
                </a:r>
                <a:r>
                  <a:rPr lang="en-US" altLang="en-US" dirty="0">
                    <a:solidFill>
                      <a:schemeClr val="tx1"/>
                    </a:solidFill>
                    <a:latin typeface="Helvetica Neue" charset="0"/>
                    <a:ea typeface="Helvetica Neue" charset="0"/>
                    <a:cs typeface="Helvetica Neue" charset="0"/>
                  </a:rPr>
                  <a:t> </a:t>
                </a:r>
                <a:r>
                  <a:rPr lang="en-US" sz="1400" dirty="0">
                    <a:solidFill>
                      <a:schemeClr val="tx1"/>
                    </a:solidFill>
                    <a:latin typeface="Cambria Math" panose="02040503050406030204" pitchFamily="18" charset="0"/>
                    <a:ea typeface="Cambria Math" panose="02040503050406030204" pitchFamily="18" charset="0"/>
                    <a:cs typeface="Helvetica Neue" charset="0"/>
                  </a:rPr>
                  <a:t>H</a:t>
                </a:r>
                <a:r>
                  <a:rPr lang="en-US" sz="1400" baseline="-25000" dirty="0">
                    <a:solidFill>
                      <a:schemeClr val="tx1"/>
                    </a:solidFill>
                    <a:latin typeface="Cambria Math" panose="02040503050406030204" pitchFamily="18" charset="0"/>
                    <a:ea typeface="Cambria Math" panose="02040503050406030204" pitchFamily="18" charset="0"/>
                    <a:cs typeface="Helvetica Neue" charset="0"/>
                  </a:rPr>
                  <a:t>0</a:t>
                </a:r>
                <a:r>
                  <a:rPr lang="en-US" altLang="en-US" sz="1400" dirty="0">
                    <a:solidFill>
                      <a:schemeClr val="tx1"/>
                    </a:solidFill>
                    <a:latin typeface="Cambria Math" panose="02040503050406030204" pitchFamily="18" charset="0"/>
                    <a:ea typeface="Cambria Math" panose="02040503050406030204" pitchFamily="18" charset="0"/>
                    <a:cs typeface="Helvetica Neue" charset="0"/>
                  </a:rPr>
                  <a:t>: </a:t>
                </a:r>
                <a:r>
                  <a:rPr lang="el-GR" altLang="en-US" sz="1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β</a:t>
                </a:r>
                <a:r>
                  <a:rPr lang="en-US" altLang="en-US" sz="1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income</a:t>
                </a:r>
                <a:r>
                  <a:rPr lang="en-US" altLang="en-US" sz="1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 </a:t>
                </a:r>
                <a:r>
                  <a:rPr lang="el-GR" altLang="en-US" sz="1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β</a:t>
                </a:r>
                <a:r>
                  <a:rPr lang="en-US" altLang="en-US" sz="1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years</a:t>
                </a:r>
                <a:r>
                  <a:rPr lang="en-US" altLang="en-US" sz="1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en-US" sz="1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l-GR" altLang="en-US" sz="1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β</a:t>
                </a:r>
                <a:r>
                  <a:rPr lang="en-US" altLang="en-US" sz="1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public</a:t>
                </a:r>
                <a:r>
                  <a:rPr lang="en-US" altLang="en-US" sz="1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l-GR" altLang="en-US" sz="1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β</a:t>
                </a:r>
                <a:r>
                  <a:rPr lang="en-US" altLang="en-US" sz="1400" i="1"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expend</a:t>
                </a:r>
                <a:r>
                  <a:rPr lang="en-US" altLang="en-US" sz="1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r>
                  <a:rPr lang="en-US" altLang="en-US" sz="1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0</a:t>
                </a:r>
              </a:p>
              <a:p>
                <a:pPr marL="228600"/>
                <a:endParaRPr lang="en-US" sz="600" dirty="0">
                  <a:solidFill>
                    <a:schemeClr val="tx1"/>
                  </a:solidFill>
                  <a:latin typeface="Helvetica Neue"/>
                  <a:ea typeface="Cambria Math" panose="02040503050406030204" pitchFamily="18" charset="0"/>
                  <a:cs typeface="Times New Roman" panose="02020603050405020304" pitchFamily="18" charset="0"/>
                </a:endParaRPr>
              </a:p>
              <a:p>
                <a:pPr marL="228600"/>
                <a:r>
                  <a:rPr lang="en-US" sz="1400" dirty="0">
                    <a:solidFill>
                      <a:schemeClr val="tx1"/>
                    </a:solidFill>
                    <a:latin typeface="Helvetica" panose="020B0604020202020204" pitchFamily="34" charset="0"/>
                    <a:ea typeface="Cambria Math" panose="02040503050406030204" pitchFamily="18" charset="0"/>
                    <a:cs typeface="Helvetica" panose="020B0604020202020204" pitchFamily="34" charset="0"/>
                  </a:rPr>
                  <a:t>How was the F-statistic computed?</a:t>
                </a:r>
              </a:p>
              <a:p>
                <a:pPr marL="228600"/>
                <a14:m>
                  <m:oMathPara xmlns:m="http://schemas.openxmlformats.org/officeDocument/2006/math">
                    <m:oMathParaPr>
                      <m:jc m:val="centerGroup"/>
                    </m:oMathParaPr>
                    <m:oMath xmlns:m="http://schemas.openxmlformats.org/officeDocument/2006/math">
                      <m:r>
                        <m:rPr>
                          <m:sty m:val="p"/>
                        </m:rPr>
                        <a:rPr lang="en-US" sz="1400">
                          <a:solidFill>
                            <a:schemeClr val="tx1"/>
                          </a:solidFill>
                          <a:latin typeface="Cambria Math" panose="02040503050406030204" pitchFamily="18" charset="0"/>
                        </a:rPr>
                        <m:t>F</m:t>
                      </m:r>
                      <m:r>
                        <a:rPr lang="en-US" sz="1400">
                          <a:solidFill>
                            <a:schemeClr val="tx1"/>
                          </a:solidFill>
                          <a:latin typeface="Cambria Math" panose="02040503050406030204" pitchFamily="18" charset="0"/>
                        </a:rPr>
                        <m:t>‑</m:t>
                      </m:r>
                      <m:r>
                        <m:rPr>
                          <m:sty m:val="p"/>
                        </m:rPr>
                        <a:rPr lang="en-US" sz="1400">
                          <a:solidFill>
                            <a:schemeClr val="tx1"/>
                          </a:solidFill>
                          <a:latin typeface="Cambria Math" panose="02040503050406030204" pitchFamily="18" charset="0"/>
                        </a:rPr>
                        <m:t>statistic</m:t>
                      </m:r>
                      <m:r>
                        <a:rPr lang="en-US" sz="1400" i="1">
                          <a:solidFill>
                            <a:schemeClr val="tx1"/>
                          </a:solidFill>
                          <a:latin typeface="Cambria Math" panose="02040503050406030204" pitchFamily="18" charset="0"/>
                        </a:rPr>
                        <m:t>=</m:t>
                      </m:r>
                      <m:f>
                        <m:fPr>
                          <m:ctrlPr>
                            <a:rPr lang="en-US" sz="1400" i="1">
                              <a:solidFill>
                                <a:schemeClr val="tx1"/>
                              </a:solidFill>
                              <a:latin typeface="Cambria Math" panose="02040503050406030204" pitchFamily="18" charset="0"/>
                            </a:rPr>
                          </m:ctrlPr>
                        </m:fPr>
                        <m:num>
                          <m:f>
                            <m:fPr>
                              <m:type m:val="lin"/>
                              <m:ctrlPr>
                                <a:rPr lang="en-US" sz="1400" i="1">
                                  <a:solidFill>
                                    <a:schemeClr val="tx1"/>
                                  </a:solidFill>
                                  <a:latin typeface="Cambria Math" panose="02040503050406030204" pitchFamily="18" charset="0"/>
                                </a:rPr>
                              </m:ctrlPr>
                            </m:fPr>
                            <m:num>
                              <m:r>
                                <m:rPr>
                                  <m:sty m:val="p"/>
                                </m:rPr>
                                <a:rPr lang="en-US" sz="1400">
                                  <a:solidFill>
                                    <a:schemeClr val="tx1"/>
                                  </a:solidFill>
                                  <a:latin typeface="Cambria Math" panose="02040503050406030204" pitchFamily="18" charset="0"/>
                                </a:rPr>
                                <m:t>SSReg</m:t>
                              </m:r>
                              <m:d>
                                <m:dPr>
                                  <m:ctrlPr>
                                    <a:rPr lang="en-US" sz="1400" i="1">
                                      <a:solidFill>
                                        <a:schemeClr val="tx1"/>
                                      </a:solidFill>
                                      <a:latin typeface="Cambria Math" panose="02040503050406030204" pitchFamily="18" charset="0"/>
                                    </a:rPr>
                                  </m:ctrlPr>
                                </m:dPr>
                                <m:e>
                                  <m:r>
                                    <a:rPr lang="en-US" sz="1400" b="0" i="1" smtClean="0">
                                      <a:solidFill>
                                        <a:schemeClr val="tx1"/>
                                      </a:solidFill>
                                      <a:latin typeface="Cambria Math" panose="02040503050406030204" pitchFamily="18" charset="0"/>
                                    </a:rPr>
                                    <m:t>𝑖</m:t>
                                  </m:r>
                                  <m:r>
                                    <a:rPr lang="en-US" sz="1400" i="1">
                                      <a:solidFill>
                                        <a:schemeClr val="tx1"/>
                                      </a:solidFill>
                                      <a:latin typeface="Cambria Math" panose="02040503050406030204" pitchFamily="18" charset="0"/>
                                    </a:rPr>
                                    <m:t>𝑛𝑐𝑜𝑚𝑒</m:t>
                                  </m:r>
                                  <m:r>
                                    <a:rPr lang="en-US" sz="1400" i="1">
                                      <a:solidFill>
                                        <a:schemeClr val="tx1"/>
                                      </a:solidFill>
                                      <a:latin typeface="Cambria Math" panose="02040503050406030204" pitchFamily="18" charset="0"/>
                                    </a:rPr>
                                    <m:t>,</m:t>
                                  </m:r>
                                  <m:r>
                                    <a:rPr lang="en-US" sz="1400" i="1">
                                      <a:solidFill>
                                        <a:schemeClr val="tx1"/>
                                      </a:solidFill>
                                      <a:latin typeface="Cambria Math" panose="02040503050406030204" pitchFamily="18" charset="0"/>
                                    </a:rPr>
                                    <m:t>𝑦𝑒𝑎𝑟𝑠</m:t>
                                  </m:r>
                                  <m:r>
                                    <a:rPr lang="en-US" sz="1400" i="1">
                                      <a:solidFill>
                                        <a:schemeClr val="tx1"/>
                                      </a:solidFill>
                                      <a:latin typeface="Cambria Math" panose="02040503050406030204" pitchFamily="18" charset="0"/>
                                    </a:rPr>
                                    <m:t>,</m:t>
                                  </m:r>
                                  <m:r>
                                    <a:rPr lang="en-US" sz="1400" b="0" i="1" smtClean="0">
                                      <a:solidFill>
                                        <a:schemeClr val="tx1"/>
                                      </a:solidFill>
                                      <a:latin typeface="Cambria Math" panose="02040503050406030204" pitchFamily="18" charset="0"/>
                                    </a:rPr>
                                    <m:t>𝑝</m:t>
                                  </m:r>
                                  <m:r>
                                    <a:rPr lang="en-US" sz="1400" i="1">
                                      <a:solidFill>
                                        <a:schemeClr val="tx1"/>
                                      </a:solidFill>
                                      <a:latin typeface="Cambria Math" panose="02040503050406030204" pitchFamily="18" charset="0"/>
                                    </a:rPr>
                                    <m:t>𝑢𝑏𝑙𝑖𝑐</m:t>
                                  </m:r>
                                  <m:r>
                                    <a:rPr lang="en-US" sz="1400" i="1">
                                      <a:solidFill>
                                        <a:schemeClr val="tx1"/>
                                      </a:solidFill>
                                      <a:latin typeface="Cambria Math" panose="02040503050406030204" pitchFamily="18" charset="0"/>
                                    </a:rPr>
                                    <m:t>, </m:t>
                                  </m:r>
                                  <m:r>
                                    <a:rPr lang="en-US" sz="1400" b="0" i="1" smtClean="0">
                                      <a:solidFill>
                                        <a:schemeClr val="tx1"/>
                                      </a:solidFill>
                                      <a:latin typeface="Cambria Math" panose="02040503050406030204" pitchFamily="18" charset="0"/>
                                    </a:rPr>
                                    <m:t>𝑒𝑥</m:t>
                                  </m:r>
                                  <m:r>
                                    <a:rPr lang="en-US" sz="1400" i="1">
                                      <a:solidFill>
                                        <a:schemeClr val="tx1"/>
                                      </a:solidFill>
                                      <a:latin typeface="Cambria Math" panose="02040503050406030204" pitchFamily="18" charset="0"/>
                                    </a:rPr>
                                    <m:t>𝑝𝑒𝑛𝑑</m:t>
                                  </m:r>
                                  <m:r>
                                    <a:rPr lang="en-US" sz="1400" b="0" i="1" smtClean="0">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m:t>
                                  </m:r>
                                  <m:r>
                                    <a:rPr lang="en-US" sz="1400" b="0" i="1" smtClean="0">
                                      <a:solidFill>
                                        <a:schemeClr val="tx1"/>
                                      </a:solidFill>
                                      <a:latin typeface="Cambria Math" panose="02040503050406030204" pitchFamily="18" charset="0"/>
                                    </a:rPr>
                                    <m:t> </m:t>
                                  </m:r>
                                  <m:r>
                                    <a:rPr lang="en-US" sz="1400" b="0" i="1" smtClean="0">
                                      <a:solidFill>
                                        <a:schemeClr val="tx1"/>
                                      </a:solidFill>
                                      <a:latin typeface="Cambria Math" panose="02040503050406030204" pitchFamily="18" charset="0"/>
                                    </a:rPr>
                                    <m:t>𝑡𝑎𝑘𝑒𝑟𝑠</m:t>
                                  </m:r>
                                  <m:r>
                                    <a:rPr lang="en-US" sz="1400" i="1">
                                      <a:solidFill>
                                        <a:schemeClr val="tx1"/>
                                      </a:solidFill>
                                      <a:latin typeface="Cambria Math" panose="02040503050406030204" pitchFamily="18" charset="0"/>
                                    </a:rPr>
                                    <m:t>,</m:t>
                                  </m:r>
                                  <m:r>
                                    <a:rPr lang="en-US" sz="1400" b="0" i="1" smtClean="0">
                                      <a:solidFill>
                                        <a:schemeClr val="tx1"/>
                                      </a:solidFill>
                                      <a:latin typeface="Cambria Math" panose="02040503050406030204" pitchFamily="18" charset="0"/>
                                    </a:rPr>
                                    <m:t>𝑟</m:t>
                                  </m:r>
                                  <m:r>
                                    <a:rPr lang="en-US" sz="1400" i="1">
                                      <a:solidFill>
                                        <a:schemeClr val="tx1"/>
                                      </a:solidFill>
                                      <a:latin typeface="Cambria Math" panose="02040503050406030204" pitchFamily="18" charset="0"/>
                                    </a:rPr>
                                    <m:t>𝑎𝑛𝑘</m:t>
                                  </m:r>
                                </m:e>
                              </m:d>
                            </m:num>
                            <m:den>
                              <m:r>
                                <a:rPr lang="en-US" sz="1400" i="1">
                                  <a:solidFill>
                                    <a:schemeClr val="tx1"/>
                                  </a:solidFill>
                                  <a:latin typeface="Cambria Math" panose="02040503050406030204" pitchFamily="18" charset="0"/>
                                </a:rPr>
                                <m:t>4</m:t>
                              </m:r>
                            </m:den>
                          </m:f>
                        </m:num>
                        <m:den>
                          <m:f>
                            <m:fPr>
                              <m:type m:val="lin"/>
                              <m:ctrlPr>
                                <a:rPr lang="en-US" sz="1400" i="1">
                                  <a:solidFill>
                                    <a:schemeClr val="tx1"/>
                                  </a:solidFill>
                                  <a:latin typeface="Cambria Math" panose="02040503050406030204" pitchFamily="18" charset="0"/>
                                </a:rPr>
                              </m:ctrlPr>
                            </m:fPr>
                            <m:num>
                              <m:r>
                                <m:rPr>
                                  <m:sty m:val="p"/>
                                </m:rPr>
                                <a:rPr lang="en-US" sz="1400">
                                  <a:solidFill>
                                    <a:schemeClr val="tx1"/>
                                  </a:solidFill>
                                  <a:latin typeface="Cambria Math" panose="02040503050406030204" pitchFamily="18" charset="0"/>
                                </a:rPr>
                                <m:t>SSE</m:t>
                              </m:r>
                            </m:num>
                            <m:den>
                              <m:d>
                                <m:dPr>
                                  <m:ctrlPr>
                                    <a:rPr lang="en-US" sz="1400" i="1">
                                      <a:solidFill>
                                        <a:schemeClr val="tx1"/>
                                      </a:solidFill>
                                      <a:latin typeface="Cambria Math" panose="02040503050406030204" pitchFamily="18" charset="0"/>
                                    </a:rPr>
                                  </m:ctrlPr>
                                </m:dPr>
                                <m:e>
                                  <m:r>
                                    <a:rPr lang="en-US" sz="1400" i="1">
                                      <a:solidFill>
                                        <a:schemeClr val="tx1"/>
                                      </a:solidFill>
                                      <a:latin typeface="Cambria Math" panose="02040503050406030204" pitchFamily="18" charset="0"/>
                                    </a:rPr>
                                    <m:t>50−6−1</m:t>
                                  </m:r>
                                </m:e>
                              </m:d>
                            </m:den>
                          </m:f>
                        </m:den>
                      </m:f>
                    </m:oMath>
                  </m:oMathPara>
                </a14:m>
                <a:endParaRPr lang="en-US" dirty="0">
                  <a:solidFill>
                    <a:schemeClr val="tx1"/>
                  </a:solidFill>
                  <a:latin typeface="Helvetica Neue"/>
                  <a:ea typeface="Cambria Math" panose="02040503050406030204" pitchFamily="18" charset="0"/>
                  <a:cs typeface="Times New Roman" panose="02020603050405020304" pitchFamily="18" charset="0"/>
                </a:endParaRPr>
              </a:p>
              <a:p>
                <a:pPr marL="228600"/>
                <a:r>
                  <a:rPr lang="en-US" sz="1400" dirty="0">
                    <a:solidFill>
                      <a:schemeClr val="tx1"/>
                    </a:solidFill>
                    <a:latin typeface="Helvetica" panose="020B0604020202020204" pitchFamily="34" charset="0"/>
                    <a:ea typeface="Cambria Math" panose="02040503050406030204" pitchFamily="18" charset="0"/>
                    <a:cs typeface="Helvetica" panose="020B0604020202020204" pitchFamily="34" charset="0"/>
                  </a:rPr>
                  <a:t>The p-value is computed as</a:t>
                </a:r>
              </a:p>
              <a:p>
                <a:pPr marL="228600"/>
                <a14:m>
                  <m:oMathPara xmlns:m="http://schemas.openxmlformats.org/officeDocument/2006/math">
                    <m:oMathParaPr>
                      <m:jc m:val="centerGroup"/>
                    </m:oMathParaPr>
                    <m:oMath xmlns:m="http://schemas.openxmlformats.org/officeDocument/2006/math">
                      <m:r>
                        <m:rPr>
                          <m:sty m:val="p"/>
                        </m:rPr>
                        <a:rPr lang="en-US" sz="1400">
                          <a:solidFill>
                            <a:schemeClr val="tx1"/>
                          </a:solidFill>
                          <a:latin typeface="Cambria Math" panose="02040503050406030204" pitchFamily="18" charset="0"/>
                          <a:ea typeface="Cambria Math" panose="02040503050406030204" pitchFamily="18" charset="0"/>
                        </a:rPr>
                        <m:t>Prob</m:t>
                      </m:r>
                      <m:d>
                        <m:dPr>
                          <m:ctrlPr>
                            <a:rPr lang="en-US" sz="1400" i="1">
                              <a:solidFill>
                                <a:schemeClr val="tx1"/>
                              </a:solidFill>
                              <a:latin typeface="Cambria Math" panose="02040503050406030204" pitchFamily="18" charset="0"/>
                              <a:ea typeface="Cambria Math" panose="02040503050406030204" pitchFamily="18" charset="0"/>
                            </a:rPr>
                          </m:ctrlPr>
                        </m:dPr>
                        <m:e>
                          <m:sSub>
                            <m:sSubPr>
                              <m:ctrlPr>
                                <a:rPr lang="en-US" sz="1400" i="1">
                                  <a:solidFill>
                                    <a:schemeClr val="tx1"/>
                                  </a:solidFill>
                                  <a:latin typeface="Cambria Math" panose="02040503050406030204" pitchFamily="18" charset="0"/>
                                  <a:ea typeface="Cambria Math" panose="02040503050406030204" pitchFamily="18" charset="0"/>
                                </a:rPr>
                              </m:ctrlPr>
                            </m:sSubPr>
                            <m:e>
                              <m:r>
                                <m:rPr>
                                  <m:sty m:val="p"/>
                                </m:rPr>
                                <a:rPr lang="en-US" sz="1400">
                                  <a:solidFill>
                                    <a:schemeClr val="tx1"/>
                                  </a:solidFill>
                                  <a:latin typeface="Cambria Math" panose="02040503050406030204" pitchFamily="18" charset="0"/>
                                  <a:ea typeface="Cambria Math" panose="02040503050406030204" pitchFamily="18" charset="0"/>
                                </a:rPr>
                                <m:t>F</m:t>
                              </m:r>
                            </m:e>
                            <m:sub>
                              <m:r>
                                <a:rPr lang="en-US" sz="1400" i="1">
                                  <a:solidFill>
                                    <a:schemeClr val="tx1"/>
                                  </a:solidFill>
                                  <a:latin typeface="Cambria Math" panose="02040503050406030204" pitchFamily="18" charset="0"/>
                                  <a:ea typeface="Cambria Math" panose="02040503050406030204" pitchFamily="18" charset="0"/>
                                </a:rPr>
                                <m:t>4,43</m:t>
                              </m:r>
                            </m:sub>
                          </m:sSub>
                          <m:r>
                            <a:rPr lang="en-US" sz="1400" i="1">
                              <a:solidFill>
                                <a:schemeClr val="tx1"/>
                              </a:solidFill>
                              <a:latin typeface="Cambria Math" panose="02040503050406030204" pitchFamily="18" charset="0"/>
                              <a:ea typeface="Cambria Math" panose="02040503050406030204" pitchFamily="18" charset="0"/>
                            </a:rPr>
                            <m:t>&gt;</m:t>
                          </m:r>
                          <m:r>
                            <m:rPr>
                              <m:sty m:val="p"/>
                            </m:rPr>
                            <a:rPr lang="en-US" sz="1400" i="0">
                              <a:solidFill>
                                <a:schemeClr val="tx1"/>
                              </a:solidFill>
                              <a:latin typeface="Cambria Math" panose="02040503050406030204" pitchFamily="18" charset="0"/>
                              <a:ea typeface="Cambria Math" panose="02040503050406030204" pitchFamily="18" charset="0"/>
                            </a:rPr>
                            <m:t>F</m:t>
                          </m:r>
                          <m:r>
                            <a:rPr lang="en-US" sz="1400" i="1" smtClean="0">
                              <a:solidFill>
                                <a:schemeClr val="tx1"/>
                              </a:solidFill>
                              <a:latin typeface="Cambria Math" panose="02040503050406030204" pitchFamily="18" charset="0"/>
                              <a:ea typeface="Cambria Math" panose="02040503050406030204" pitchFamily="18" charset="0"/>
                            </a:rPr>
                            <m:t>−</m:t>
                          </m:r>
                          <m:r>
                            <m:rPr>
                              <m:sty m:val="p"/>
                            </m:rPr>
                            <a:rPr lang="en-US" sz="1400" i="0">
                              <a:solidFill>
                                <a:schemeClr val="tx1"/>
                              </a:solidFill>
                              <a:latin typeface="Cambria Math" panose="02040503050406030204" pitchFamily="18" charset="0"/>
                              <a:ea typeface="Cambria Math" panose="02040503050406030204" pitchFamily="18" charset="0"/>
                            </a:rPr>
                            <m:t>statistic</m:t>
                          </m:r>
                        </m:e>
                      </m:d>
                      <m:r>
                        <a:rPr lang="en-US" sz="1400">
                          <a:solidFill>
                            <a:schemeClr val="tx1"/>
                          </a:solidFill>
                          <a:latin typeface="Cambria Math" panose="02040503050406030204" pitchFamily="18" charset="0"/>
                          <a:ea typeface="Cambria Math" panose="02040503050406030204" pitchFamily="18" charset="0"/>
                        </a:rPr>
                        <m:t>=1</m:t>
                      </m:r>
                      <m:r>
                        <a:rPr lang="en-US" sz="1400" i="1">
                          <a:solidFill>
                            <a:schemeClr val="tx1"/>
                          </a:solidFill>
                          <a:latin typeface="Cambria Math" panose="02040503050406030204" pitchFamily="18" charset="0"/>
                          <a:ea typeface="Cambria Math" panose="02040503050406030204" pitchFamily="18" charset="0"/>
                        </a:rPr>
                        <m:t>−</m:t>
                      </m:r>
                      <m:r>
                        <m:rPr>
                          <m:sty m:val="p"/>
                        </m:rPr>
                        <a:rPr lang="en-US" sz="1400">
                          <a:solidFill>
                            <a:schemeClr val="tx1"/>
                          </a:solidFill>
                          <a:latin typeface="Cambria Math" panose="02040503050406030204" pitchFamily="18" charset="0"/>
                          <a:ea typeface="Cambria Math" panose="02040503050406030204" pitchFamily="18" charset="0"/>
                        </a:rPr>
                        <m:t>Prob</m:t>
                      </m:r>
                      <m:d>
                        <m:dPr>
                          <m:ctrlPr>
                            <a:rPr lang="en-US" sz="1400" i="1">
                              <a:solidFill>
                                <a:schemeClr val="tx1"/>
                              </a:solidFill>
                              <a:latin typeface="Cambria Math" panose="02040503050406030204" pitchFamily="18" charset="0"/>
                              <a:ea typeface="Cambria Math" panose="02040503050406030204" pitchFamily="18" charset="0"/>
                            </a:rPr>
                          </m:ctrlPr>
                        </m:dPr>
                        <m:e>
                          <m:sSub>
                            <m:sSubPr>
                              <m:ctrlPr>
                                <a:rPr lang="en-US" sz="1400" i="1">
                                  <a:solidFill>
                                    <a:schemeClr val="tx1"/>
                                  </a:solidFill>
                                  <a:latin typeface="Cambria Math" panose="02040503050406030204" pitchFamily="18" charset="0"/>
                                  <a:ea typeface="Cambria Math" panose="02040503050406030204" pitchFamily="18" charset="0"/>
                                </a:rPr>
                              </m:ctrlPr>
                            </m:sSubPr>
                            <m:e>
                              <m:r>
                                <m:rPr>
                                  <m:sty m:val="p"/>
                                </m:rPr>
                                <a:rPr lang="en-US" sz="1400">
                                  <a:solidFill>
                                    <a:schemeClr val="tx1"/>
                                  </a:solidFill>
                                  <a:latin typeface="Cambria Math" panose="02040503050406030204" pitchFamily="18" charset="0"/>
                                  <a:ea typeface="Cambria Math" panose="02040503050406030204" pitchFamily="18" charset="0"/>
                                </a:rPr>
                                <m:t>F</m:t>
                              </m:r>
                            </m:e>
                            <m:sub>
                              <m:r>
                                <a:rPr lang="en-US" sz="1400" i="1">
                                  <a:solidFill>
                                    <a:schemeClr val="tx1"/>
                                  </a:solidFill>
                                  <a:latin typeface="Cambria Math" panose="02040503050406030204" pitchFamily="18" charset="0"/>
                                  <a:ea typeface="Cambria Math" panose="02040503050406030204" pitchFamily="18" charset="0"/>
                                </a:rPr>
                                <m:t>4,43</m:t>
                              </m:r>
                            </m:sub>
                          </m:sSub>
                          <m:r>
                            <a:rPr lang="en-US" sz="1400" i="1">
                              <a:solidFill>
                                <a:schemeClr val="tx1"/>
                              </a:solidFill>
                              <a:latin typeface="Cambria Math" panose="02040503050406030204" pitchFamily="18" charset="0"/>
                              <a:ea typeface="Cambria Math" panose="02040503050406030204" pitchFamily="18" charset="0"/>
                            </a:rPr>
                            <m:t>&lt;</m:t>
                          </m:r>
                          <m:r>
                            <m:rPr>
                              <m:sty m:val="p"/>
                            </m:rPr>
                            <a:rPr lang="en-US" sz="1400" i="0">
                              <a:solidFill>
                                <a:schemeClr val="tx1"/>
                              </a:solidFill>
                              <a:latin typeface="Cambria Math" panose="02040503050406030204" pitchFamily="18" charset="0"/>
                              <a:ea typeface="Cambria Math" panose="02040503050406030204" pitchFamily="18" charset="0"/>
                            </a:rPr>
                            <m:t>F</m:t>
                          </m:r>
                          <m:r>
                            <a:rPr lang="en-US" sz="1400" i="1" smtClean="0">
                              <a:solidFill>
                                <a:schemeClr val="tx1"/>
                              </a:solidFill>
                              <a:latin typeface="Cambria Math" panose="02040503050406030204" pitchFamily="18" charset="0"/>
                              <a:ea typeface="Cambria Math" panose="02040503050406030204" pitchFamily="18" charset="0"/>
                            </a:rPr>
                            <m:t>−</m:t>
                          </m:r>
                          <m:r>
                            <m:rPr>
                              <m:sty m:val="p"/>
                            </m:rPr>
                            <a:rPr lang="en-US" sz="1400" i="0">
                              <a:solidFill>
                                <a:schemeClr val="tx1"/>
                              </a:solidFill>
                              <a:latin typeface="Cambria Math" panose="02040503050406030204" pitchFamily="18" charset="0"/>
                              <a:ea typeface="Cambria Math" panose="02040503050406030204" pitchFamily="18" charset="0"/>
                            </a:rPr>
                            <m:t>statistic</m:t>
                          </m:r>
                        </m:e>
                      </m:d>
                    </m:oMath>
                  </m:oMathPara>
                </a14:m>
                <a:endParaRPr lang="en-US" dirty="0">
                  <a:solidFill>
                    <a:schemeClr val="tx1"/>
                  </a:solidFill>
                  <a:latin typeface="Cambria Math" panose="02040503050406030204" pitchFamily="18" charset="0"/>
                  <a:ea typeface="Cambria Math" panose="02040503050406030204" pitchFamily="18" charset="0"/>
                  <a:cs typeface="Helvetica Neue" charset="0"/>
                </a:endParaRPr>
              </a:p>
              <a:p>
                <a:pPr eaLnBrk="1" hangingPunct="1">
                  <a:spcBef>
                    <a:spcPts val="0"/>
                  </a:spcBef>
                  <a:defRPr/>
                </a:pPr>
                <a:endParaRPr lang="en-US" altLang="en-US" sz="600" b="1" dirty="0">
                  <a:solidFill>
                    <a:schemeClr val="tx1"/>
                  </a:solidFill>
                  <a:latin typeface="Helvetica Neue" charset="0"/>
                  <a:ea typeface="Helvetica Neue" charset="0"/>
                  <a:cs typeface="Helvetica Neue" charset="0"/>
                </a:endParaRPr>
              </a:p>
              <a:p>
                <a:pPr eaLnBrk="1" hangingPunct="1">
                  <a:spcBef>
                    <a:spcPts val="0"/>
                  </a:spcBef>
                  <a:defRPr/>
                </a:pPr>
                <a:r>
                  <a:rPr lang="en-US" altLang="en-US" sz="1400" b="1" dirty="0">
                    <a:solidFill>
                      <a:schemeClr val="tx1"/>
                    </a:solidFill>
                    <a:latin typeface="Helvetica" panose="020B0604020202020204" pitchFamily="34" charset="0"/>
                    <a:ea typeface="Helvetica Neue" charset="0"/>
                    <a:cs typeface="Helvetica" panose="020B0604020202020204" pitchFamily="34" charset="0"/>
                  </a:rPr>
                  <a:t>Interpretation: </a:t>
                </a:r>
                <a:r>
                  <a:rPr lang="en-US" altLang="en-US" sz="1400" dirty="0">
                    <a:solidFill>
                      <a:schemeClr val="tx1"/>
                    </a:solidFill>
                    <a:latin typeface="Helvetica" panose="020B0604020202020204" pitchFamily="34" charset="0"/>
                    <a:ea typeface="Helvetica Neue" charset="0"/>
                    <a:cs typeface="Helvetica" panose="020B0604020202020204" pitchFamily="34" charset="0"/>
                  </a:rPr>
                  <a:t>The p-value is approximately 0, so reject the null hypothesis. We conclude that at least one predictor among </a:t>
                </a:r>
                <a:r>
                  <a:rPr lang="en-US" altLang="en-US" sz="1400" i="1" dirty="0">
                    <a:solidFill>
                      <a:schemeClr val="tx1"/>
                    </a:solidFill>
                    <a:latin typeface="Helvetica" panose="020B0604020202020204" pitchFamily="34" charset="0"/>
                    <a:ea typeface="Helvetica Neue" charset="0"/>
                    <a:cs typeface="Helvetica" panose="020B0604020202020204" pitchFamily="34" charset="0"/>
                  </a:rPr>
                  <a:t>income</a:t>
                </a:r>
                <a:r>
                  <a:rPr lang="en-US" altLang="en-US" sz="1400" dirty="0">
                    <a:solidFill>
                      <a:schemeClr val="tx1"/>
                    </a:solidFill>
                    <a:latin typeface="Helvetica" panose="020B0604020202020204" pitchFamily="34" charset="0"/>
                    <a:ea typeface="Helvetica Neue" charset="0"/>
                    <a:cs typeface="Helvetica" panose="020B0604020202020204" pitchFamily="34" charset="0"/>
                  </a:rPr>
                  <a:t>, </a:t>
                </a:r>
                <a:r>
                  <a:rPr lang="en-US" altLang="en-US" sz="1400" i="1" dirty="0">
                    <a:solidFill>
                      <a:schemeClr val="tx1"/>
                    </a:solidFill>
                    <a:latin typeface="Helvetica" panose="020B0604020202020204" pitchFamily="34" charset="0"/>
                    <a:ea typeface="Helvetica Neue" charset="0"/>
                    <a:cs typeface="Helvetica" panose="020B0604020202020204" pitchFamily="34" charset="0"/>
                  </a:rPr>
                  <a:t>years</a:t>
                </a:r>
                <a:r>
                  <a:rPr lang="en-US" altLang="en-US" sz="1400" dirty="0">
                    <a:solidFill>
                      <a:schemeClr val="tx1"/>
                    </a:solidFill>
                    <a:latin typeface="Helvetica" panose="020B0604020202020204" pitchFamily="34" charset="0"/>
                    <a:ea typeface="Helvetica Neue" charset="0"/>
                    <a:cs typeface="Helvetica" panose="020B0604020202020204" pitchFamily="34" charset="0"/>
                  </a:rPr>
                  <a:t>, </a:t>
                </a:r>
                <a:r>
                  <a:rPr lang="en-US" altLang="en-US" sz="1400" i="1" dirty="0">
                    <a:solidFill>
                      <a:schemeClr val="tx1"/>
                    </a:solidFill>
                    <a:latin typeface="Helvetica" panose="020B0604020202020204" pitchFamily="34" charset="0"/>
                    <a:ea typeface="Helvetica Neue" charset="0"/>
                    <a:cs typeface="Helvetica" panose="020B0604020202020204" pitchFamily="34" charset="0"/>
                  </a:rPr>
                  <a:t>public</a:t>
                </a:r>
                <a:r>
                  <a:rPr lang="en-US" altLang="en-US" sz="1400" dirty="0">
                    <a:solidFill>
                      <a:schemeClr val="tx1"/>
                    </a:solidFill>
                    <a:latin typeface="Helvetica" panose="020B0604020202020204" pitchFamily="34" charset="0"/>
                    <a:ea typeface="Helvetica Neue" charset="0"/>
                    <a:cs typeface="Helvetica" panose="020B0604020202020204" pitchFamily="34" charset="0"/>
                  </a:rPr>
                  <a:t> and </a:t>
                </a:r>
                <a:r>
                  <a:rPr lang="en-US" altLang="en-US" sz="1400" i="1" dirty="0">
                    <a:solidFill>
                      <a:schemeClr val="tx1"/>
                    </a:solidFill>
                    <a:latin typeface="Helvetica" panose="020B0604020202020204" pitchFamily="34" charset="0"/>
                    <a:ea typeface="Helvetica Neue" charset="0"/>
                    <a:cs typeface="Helvetica" panose="020B0604020202020204" pitchFamily="34" charset="0"/>
                  </a:rPr>
                  <a:t>expend</a:t>
                </a:r>
                <a:r>
                  <a:rPr lang="en-US" altLang="en-US" sz="1400" dirty="0">
                    <a:solidFill>
                      <a:schemeClr val="tx1"/>
                    </a:solidFill>
                    <a:latin typeface="Helvetica" panose="020B0604020202020204" pitchFamily="34" charset="0"/>
                    <a:ea typeface="Helvetica Neue" charset="0"/>
                    <a:cs typeface="Helvetica" panose="020B0604020202020204" pitchFamily="34" charset="0"/>
                  </a:rPr>
                  <a:t> will be significantly associated with states’ average SAT scores.</a:t>
                </a:r>
              </a:p>
            </p:txBody>
          </p:sp>
        </mc:Choice>
        <mc:Fallback xmlns="">
          <p:sp>
            <p:nvSpPr>
              <p:cNvPr id="14" name="TextBox 13">
                <a:extLst>
                  <a:ext uri="{FF2B5EF4-FFF2-40B4-BE49-F238E27FC236}">
                    <a16:creationId xmlns:a16="http://schemas.microsoft.com/office/drawing/2014/main" id="{182E6786-C6A5-4DEB-B457-517CDE0FCC1F}"/>
                  </a:ext>
                </a:extLst>
              </p:cNvPr>
              <p:cNvSpPr txBox="1">
                <a:spLocks noRot="1" noChangeAspect="1" noMove="1" noResize="1" noEditPoints="1" noAdjustHandles="1" noChangeArrowheads="1" noChangeShapeType="1" noTextEdit="1"/>
              </p:cNvSpPr>
              <p:nvPr/>
            </p:nvSpPr>
            <p:spPr>
              <a:xfrm>
                <a:off x="609600" y="1284619"/>
                <a:ext cx="7924800" cy="2880981"/>
              </a:xfrm>
              <a:prstGeom prst="rect">
                <a:avLst/>
              </a:prstGeom>
              <a:blipFill>
                <a:blip r:embed="rId3"/>
                <a:stretch>
                  <a:fillRect l="-153"/>
                </a:stretch>
              </a:blipFill>
              <a:ln w="19050">
                <a:solidFill>
                  <a:schemeClr val="tx2"/>
                </a:solidFill>
              </a:ln>
            </p:spPr>
            <p:txBody>
              <a:bodyPr/>
              <a:lstStyle/>
              <a:p>
                <a:r>
                  <a:rPr lang="en-US">
                    <a:noFill/>
                  </a:rPr>
                  <a:t> </a:t>
                </a:r>
              </a:p>
            </p:txBody>
          </p:sp>
        </mc:Fallback>
      </mc:AlternateContent>
      <p:sp>
        <p:nvSpPr>
          <p:cNvPr id="5" name="Title 1"/>
          <p:cNvSpPr>
            <a:spLocks noGrp="1"/>
          </p:cNvSpPr>
          <p:nvPr>
            <p:ph type="title"/>
          </p:nvPr>
        </p:nvSpPr>
        <p:spPr>
          <a:xfrm>
            <a:off x="107950" y="175159"/>
            <a:ext cx="8562392" cy="643992"/>
          </a:xfrm>
        </p:spPr>
        <p:txBody>
          <a:bodyPr/>
          <a:lstStyle/>
          <a:p>
            <a:r>
              <a:rPr lang="en-US" altLang="en-US" sz="3600" dirty="0">
                <a:latin typeface="Vitesse"/>
                <a:ea typeface="Vitesse" charset="0"/>
                <a:cs typeface="Vitesse" charset="0"/>
              </a:rPr>
              <a:t>Example 2: Inference on Coefficients</a:t>
            </a:r>
            <a:endParaRPr lang="en-US" sz="3600" dirty="0">
              <a:latin typeface="Vitesse"/>
              <a:ea typeface="Vitesse" charset="0"/>
              <a:cs typeface="Vitesse" charset="0"/>
            </a:endParaRPr>
          </a:p>
        </p:txBody>
      </p:sp>
    </p:spTree>
    <p:custDataLst>
      <p:tags r:id="rId1"/>
    </p:custDataLst>
    <p:extLst>
      <p:ext uri="{BB962C8B-B14F-4D97-AF65-F5344CB8AC3E}">
        <p14:creationId xmlns:p14="http://schemas.microsoft.com/office/powerpoint/2010/main" val="3637533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30156" y="178976"/>
            <a:ext cx="4727575" cy="7949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7759" t="6607" r="13881" b="7744"/>
          <a:stretch/>
        </p:blipFill>
        <p:spPr>
          <a:xfrm>
            <a:off x="1161904" y="1285661"/>
            <a:ext cx="2201521" cy="2406315"/>
          </a:xfrm>
          <a:prstGeom prst="rect">
            <a:avLst/>
          </a:prstGeom>
        </p:spPr>
      </p:pic>
    </p:spTree>
    <p:custDataLst>
      <p:tags r:id="rId1"/>
    </p:custDataLst>
    <p:extLst>
      <p:ext uri="{BB962C8B-B14F-4D97-AF65-F5344CB8AC3E}">
        <p14:creationId xmlns:p14="http://schemas.microsoft.com/office/powerpoint/2010/main" val="35087020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57844</TotalTime>
  <Words>845</Words>
  <Application>Microsoft Office PowerPoint</Application>
  <PresentationFormat>On-screen Show (16:9)</PresentationFormat>
  <Paragraphs>209</Paragraphs>
  <Slides>11</Slides>
  <Notes>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11</vt:i4>
      </vt:variant>
    </vt:vector>
  </HeadingPairs>
  <TitlesOfParts>
    <vt:vector size="24" baseType="lpstr">
      <vt:lpstr>Arial</vt:lpstr>
      <vt:lpstr>Calibri</vt:lpstr>
      <vt:lpstr>Cambria Math</vt:lpstr>
      <vt:lpstr>Helvetica</vt:lpstr>
      <vt:lpstr>Helvetica Neue</vt:lpstr>
      <vt:lpstr>Times New Roman</vt:lpstr>
      <vt:lpstr>Vitesse</vt:lpstr>
      <vt:lpstr>Vitesse Bold</vt:lpstr>
      <vt:lpstr>Vitesse Book</vt:lpstr>
      <vt:lpstr>Vitesse Medium</vt:lpstr>
      <vt:lpstr>1_Half Page Slash</vt:lpstr>
      <vt:lpstr>2_Half Page Slash</vt:lpstr>
      <vt:lpstr>1_Full Page Layout</vt:lpstr>
      <vt:lpstr>PowerPoint Presentation</vt:lpstr>
      <vt:lpstr>PowerPoint Presentation</vt:lpstr>
      <vt:lpstr>PowerPoint Presentation</vt:lpstr>
      <vt:lpstr>Example 2: Inference on Coefficients</vt:lpstr>
      <vt:lpstr>Example 2: Inference on Coefficients</vt:lpstr>
      <vt:lpstr>Example 2: Inference on Coefficients</vt:lpstr>
      <vt:lpstr>Example 2: Inference on Coefficients</vt:lpstr>
      <vt:lpstr>Example 2: Inference on Coefficients</vt:lpstr>
      <vt:lpstr>Example 2: Inference on Coefficients</vt:lpstr>
      <vt:lpstr>Example 2: Inference on Coefficients</vt:lpstr>
      <vt:lpstr>PowerPoint Presentation</vt:lpstr>
    </vt:vector>
  </TitlesOfParts>
  <Company>GA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Serban, Nicoleta</dc:creator>
  <cp:lastModifiedBy>Rodriguez, Ramon S</cp:lastModifiedBy>
  <cp:revision>801</cp:revision>
  <dcterms:created xsi:type="dcterms:W3CDTF">2002-04-06T16:20:45Z</dcterms:created>
  <dcterms:modified xsi:type="dcterms:W3CDTF">2020-05-11T15:51:41Z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BBE1A331-FDD0-4A03-87A8-A97DB1B0C80D</vt:lpwstr>
  </property>
  <property fmtid="{D5CDD505-2E9C-101B-9397-08002B2CF9AE}" pid="3" name="ArticulatePath">
    <vt:lpwstr>08_MLRL8_revised_03102020</vt:lpwstr>
  </property>
</Properties>
</file>