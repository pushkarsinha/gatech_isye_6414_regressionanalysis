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18" r:id="rId1"/>
    <p:sldMasterId id="2147484024" r:id="rId2"/>
    <p:sldMasterId id="2147484025" r:id="rId3"/>
  </p:sldMasterIdLst>
  <p:notesMasterIdLst>
    <p:notesMasterId r:id="rId18"/>
  </p:notesMasterIdLst>
  <p:handoutMasterIdLst>
    <p:handoutMasterId r:id="rId19"/>
  </p:handoutMasterIdLst>
  <p:sldIdLst>
    <p:sldId id="482" r:id="rId4"/>
    <p:sldId id="548" r:id="rId5"/>
    <p:sldId id="537" r:id="rId6"/>
    <p:sldId id="543" r:id="rId7"/>
    <p:sldId id="538" r:id="rId8"/>
    <p:sldId id="526" r:id="rId9"/>
    <p:sldId id="407" r:id="rId10"/>
    <p:sldId id="531" r:id="rId11"/>
    <p:sldId id="551" r:id="rId12"/>
    <p:sldId id="409" r:id="rId13"/>
    <p:sldId id="401" r:id="rId14"/>
    <p:sldId id="410" r:id="rId15"/>
    <p:sldId id="546" r:id="rId16"/>
    <p:sldId id="549" r:id="rId17"/>
  </p:sldIdLst>
  <p:sldSz cx="9144000" cy="5143500" type="screen16x9"/>
  <p:notesSz cx="7315200" cy="96012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pos="144" userDrawn="1">
          <p15:clr>
            <a:srgbClr val="A4A3A4"/>
          </p15:clr>
        </p15:guide>
        <p15:guide id="4" orient="horz" pos="420" userDrawn="1">
          <p15:clr>
            <a:srgbClr val="A4A3A4"/>
          </p15:clr>
        </p15:guide>
        <p15:guide id="5" orient="horz" pos="804" userDrawn="1">
          <p15:clr>
            <a:srgbClr val="A4A3A4"/>
          </p15:clr>
        </p15:guide>
        <p15:guide id="6" pos="3456" userDrawn="1">
          <p15:clr>
            <a:srgbClr val="A4A3A4"/>
          </p15:clr>
        </p15:guide>
        <p15:guide id="7" pos="384" userDrawn="1">
          <p15:clr>
            <a:srgbClr val="A4A3A4"/>
          </p15:clr>
        </p15:guide>
        <p15:guide id="8" orient="horz" pos="2820" userDrawn="1">
          <p15:clr>
            <a:srgbClr val="A4A3A4"/>
          </p15:clr>
        </p15:guide>
        <p15:guide id="9" orient="horz" pos="128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rban, Nicoleta" initials="SN" lastIdx="19" clrIdx="0"/>
  <p:cmAuthor id="2" name="zwen42@gatech.com" initials="z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B211"/>
    <a:srgbClr val="FF0000"/>
    <a:srgbClr val="8E4221"/>
    <a:srgbClr val="F8E0A3"/>
    <a:srgbClr val="00254C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7FEBC7-979D-4745-AC58-49545D3ACEEC}" v="107" dt="2019-12-30T00:39:00.4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88"/>
    <p:restoredTop sz="88734" autoAdjust="0"/>
  </p:normalViewPr>
  <p:slideViewPr>
    <p:cSldViewPr>
      <p:cViewPr varScale="1">
        <p:scale>
          <a:sx n="100" d="100"/>
          <a:sy n="100" d="100"/>
        </p:scale>
        <p:origin x="806" y="62"/>
      </p:cViewPr>
      <p:guideLst>
        <p:guide orient="horz" pos="1620"/>
        <p:guide pos="2880"/>
        <p:guide pos="144"/>
        <p:guide orient="horz" pos="420"/>
        <p:guide orient="horz" pos="804"/>
        <p:guide pos="3456"/>
        <p:guide pos="384"/>
        <p:guide orient="horz" pos="2820"/>
        <p:guide orient="horz" pos="1284"/>
      </p:guideLst>
    </p:cSldViewPr>
  </p:slideViewPr>
  <p:outlineViewPr>
    <p:cViewPr>
      <p:scale>
        <a:sx n="33" d="100"/>
        <a:sy n="33" d="100"/>
      </p:scale>
      <p:origin x="0" y="-143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26" Type="http://schemas.microsoft.com/office/2015/10/relationships/revisionInfo" Target="revisionInfo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hard Levine" userId="be0075ead24e3c6f" providerId="LiveId" clId="{3D7FEBC7-979D-4745-AC58-49545D3ACEEC}"/>
    <pc:docChg chg="addSld delSld modSld">
      <pc:chgData name="Richard Levine" userId="be0075ead24e3c6f" providerId="LiveId" clId="{3D7FEBC7-979D-4745-AC58-49545D3ACEEC}" dt="2019-12-30T00:39:00.431" v="136" actId="20577"/>
      <pc:docMkLst>
        <pc:docMk/>
      </pc:docMkLst>
      <pc:sldChg chg="modSp">
        <pc:chgData name="Richard Levine" userId="be0075ead24e3c6f" providerId="LiveId" clId="{3D7FEBC7-979D-4745-AC58-49545D3ACEEC}" dt="2019-12-30T00:39:00.431" v="136" actId="20577"/>
        <pc:sldMkLst>
          <pc:docMk/>
          <pc:sldMk cId="0" sldId="409"/>
        </pc:sldMkLst>
        <pc:spChg chg="mod">
          <ac:chgData name="Richard Levine" userId="be0075ead24e3c6f" providerId="LiveId" clId="{3D7FEBC7-979D-4745-AC58-49545D3ACEEC}" dt="2019-12-30T00:39:00.431" v="136" actId="20577"/>
          <ac:spMkLst>
            <pc:docMk/>
            <pc:sldMk cId="0" sldId="409"/>
            <ac:spMk id="33796" creationId="{00000000-0000-0000-0000-000000000000}"/>
          </ac:spMkLst>
        </pc:spChg>
      </pc:sldChg>
      <pc:sldChg chg="modSp">
        <pc:chgData name="Richard Levine" userId="be0075ead24e3c6f" providerId="LiveId" clId="{3D7FEBC7-979D-4745-AC58-49545D3ACEEC}" dt="2019-12-28T20:21:11.236" v="117" actId="114"/>
        <pc:sldMkLst>
          <pc:docMk/>
          <pc:sldMk cId="0" sldId="410"/>
        </pc:sldMkLst>
        <pc:spChg chg="mod">
          <ac:chgData name="Richard Levine" userId="be0075ead24e3c6f" providerId="LiveId" clId="{3D7FEBC7-979D-4745-AC58-49545D3ACEEC}" dt="2019-12-28T20:21:11.236" v="117" actId="114"/>
          <ac:spMkLst>
            <pc:docMk/>
            <pc:sldMk cId="0" sldId="410"/>
            <ac:spMk id="35844" creationId="{00000000-0000-0000-0000-000000000000}"/>
          </ac:spMkLst>
        </pc:spChg>
      </pc:sldChg>
      <pc:sldChg chg="modSp">
        <pc:chgData name="Richard Levine" userId="be0075ead24e3c6f" providerId="LiveId" clId="{3D7FEBC7-979D-4745-AC58-49545D3ACEEC}" dt="2019-12-28T20:19:10.496" v="105" actId="20577"/>
        <pc:sldMkLst>
          <pc:docMk/>
          <pc:sldMk cId="1485183824" sldId="537"/>
        </pc:sldMkLst>
        <pc:spChg chg="mod">
          <ac:chgData name="Richard Levine" userId="be0075ead24e3c6f" providerId="LiveId" clId="{3D7FEBC7-979D-4745-AC58-49545D3ACEEC}" dt="2019-12-28T18:03:37.917" v="3" actId="113"/>
          <ac:spMkLst>
            <pc:docMk/>
            <pc:sldMk cId="1485183824" sldId="537"/>
            <ac:spMk id="8201" creationId="{00000000-0000-0000-0000-000000000000}"/>
          </ac:spMkLst>
        </pc:spChg>
        <pc:spChg chg="mod">
          <ac:chgData name="Richard Levine" userId="be0075ead24e3c6f" providerId="LiveId" clId="{3D7FEBC7-979D-4745-AC58-49545D3ACEEC}" dt="2019-12-28T20:19:10.496" v="105" actId="20577"/>
          <ac:spMkLst>
            <pc:docMk/>
            <pc:sldMk cId="1485183824" sldId="537"/>
            <ac:spMk id="21507" creationId="{00000000-0000-0000-0000-000000000000}"/>
          </ac:spMkLst>
        </pc:spChg>
      </pc:sldChg>
      <pc:sldChg chg="modSp">
        <pc:chgData name="Richard Levine" userId="be0075ead24e3c6f" providerId="LiveId" clId="{3D7FEBC7-979D-4745-AC58-49545D3ACEEC}" dt="2019-12-28T19:53:16.138" v="38" actId="20577"/>
        <pc:sldMkLst>
          <pc:docMk/>
          <pc:sldMk cId="1240701686" sldId="538"/>
        </pc:sldMkLst>
        <pc:spChg chg="mod">
          <ac:chgData name="Richard Levine" userId="be0075ead24e3c6f" providerId="LiveId" clId="{3D7FEBC7-979D-4745-AC58-49545D3ACEEC}" dt="2019-12-28T19:53:16.138" v="38" actId="20577"/>
          <ac:spMkLst>
            <pc:docMk/>
            <pc:sldMk cId="1240701686" sldId="538"/>
            <ac:spMk id="38" creationId="{AB9C1975-AB8D-4DB8-8AA4-200D24A0ABC6}"/>
          </ac:spMkLst>
        </pc:spChg>
        <pc:spChg chg="mod">
          <ac:chgData name="Richard Levine" userId="be0075ead24e3c6f" providerId="LiveId" clId="{3D7FEBC7-979D-4745-AC58-49545D3ACEEC}" dt="2019-12-28T19:52:31.032" v="29" actId="20577"/>
          <ac:spMkLst>
            <pc:docMk/>
            <pc:sldMk cId="1240701686" sldId="538"/>
            <ac:spMk id="21507" creationId="{00000000-0000-0000-0000-000000000000}"/>
          </ac:spMkLst>
        </pc:spChg>
        <pc:grpChg chg="mod">
          <ac:chgData name="Richard Levine" userId="be0075ead24e3c6f" providerId="LiveId" clId="{3D7FEBC7-979D-4745-AC58-49545D3ACEEC}" dt="2019-12-28T19:53:16.138" v="38" actId="20577"/>
          <ac:grpSpMkLst>
            <pc:docMk/>
            <pc:sldMk cId="1240701686" sldId="538"/>
            <ac:grpSpMk id="36" creationId="{67631B8E-276C-46C9-A7DC-14098A0033FB}"/>
          </ac:grpSpMkLst>
        </pc:grpChg>
      </pc:sldChg>
      <pc:sldChg chg="del">
        <pc:chgData name="Richard Levine" userId="be0075ead24e3c6f" providerId="LiveId" clId="{3D7FEBC7-979D-4745-AC58-49545D3ACEEC}" dt="2019-12-28T20:03:28.748" v="98" actId="2696"/>
        <pc:sldMkLst>
          <pc:docMk/>
          <pc:sldMk cId="2914581073" sldId="542"/>
        </pc:sldMkLst>
      </pc:sldChg>
      <pc:sldChg chg="modSp">
        <pc:chgData name="Richard Levine" userId="be0075ead24e3c6f" providerId="LiveId" clId="{3D7FEBC7-979D-4745-AC58-49545D3ACEEC}" dt="2019-12-28T19:51:43.285" v="22" actId="20577"/>
        <pc:sldMkLst>
          <pc:docMk/>
          <pc:sldMk cId="3660683901" sldId="543"/>
        </pc:sldMkLst>
        <pc:spChg chg="ord">
          <ac:chgData name="Richard Levine" userId="be0075ead24e3c6f" providerId="LiveId" clId="{3D7FEBC7-979D-4745-AC58-49545D3ACEEC}" dt="2019-12-28T18:05:37.014" v="7" actId="167"/>
          <ac:spMkLst>
            <pc:docMk/>
            <pc:sldMk cId="3660683901" sldId="543"/>
            <ac:spMk id="5" creationId="{23F3B76F-FCCC-4D67-8AB5-4792729CACC2}"/>
          </ac:spMkLst>
        </pc:spChg>
        <pc:spChg chg="mod">
          <ac:chgData name="Richard Levine" userId="be0075ead24e3c6f" providerId="LiveId" clId="{3D7FEBC7-979D-4745-AC58-49545D3ACEEC}" dt="2019-12-28T18:06:30.762" v="14" actId="167"/>
          <ac:spMkLst>
            <pc:docMk/>
            <pc:sldMk cId="3660683901" sldId="543"/>
            <ac:spMk id="8201" creationId="{00000000-0000-0000-0000-000000000000}"/>
          </ac:spMkLst>
        </pc:spChg>
        <pc:spChg chg="mod">
          <ac:chgData name="Richard Levine" userId="be0075ead24e3c6f" providerId="LiveId" clId="{3D7FEBC7-979D-4745-AC58-49545D3ACEEC}" dt="2019-12-28T19:51:43.285" v="22" actId="20577"/>
          <ac:spMkLst>
            <pc:docMk/>
            <pc:sldMk cId="3660683901" sldId="543"/>
            <ac:spMk id="21507" creationId="{00000000-0000-0000-0000-000000000000}"/>
          </ac:spMkLst>
        </pc:spChg>
      </pc:sldChg>
      <pc:sldChg chg="addSp modSp add modAnim">
        <pc:chgData name="Richard Levine" userId="be0075ead24e3c6f" providerId="LiveId" clId="{3D7FEBC7-979D-4745-AC58-49545D3ACEEC}" dt="2019-12-28T20:22:21.550" v="126" actId="167"/>
        <pc:sldMkLst>
          <pc:docMk/>
          <pc:sldMk cId="3133683860" sldId="544"/>
        </pc:sldMkLst>
        <pc:spChg chg="add mod ord">
          <ac:chgData name="Richard Levine" userId="be0075ead24e3c6f" providerId="LiveId" clId="{3D7FEBC7-979D-4745-AC58-49545D3ACEEC}" dt="2019-12-28T20:21:42.711" v="121" actId="167"/>
          <ac:spMkLst>
            <pc:docMk/>
            <pc:sldMk cId="3133683860" sldId="544"/>
            <ac:spMk id="4" creationId="{E660DF89-E68B-4D8F-9932-EC9A75A38560}"/>
          </ac:spMkLst>
        </pc:spChg>
        <pc:spChg chg="mod">
          <ac:chgData name="Richard Levine" userId="be0075ead24e3c6f" providerId="LiveId" clId="{3D7FEBC7-979D-4745-AC58-49545D3ACEEC}" dt="2019-12-28T20:22:21.550" v="126" actId="167"/>
          <ac:spMkLst>
            <pc:docMk/>
            <pc:sldMk cId="3133683860" sldId="544"/>
            <ac:spMk id="35844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fontAlgn="auto" hangingPunct="1">
              <a:spcBef>
                <a:spcPct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fontAlgn="auto" hangingPunct="1">
              <a:spcBef>
                <a:spcPct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fontAlgn="auto" hangingPunct="1">
              <a:spcBef>
                <a:spcPct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/>
            </a:lvl1pPr>
          </a:lstStyle>
          <a:p>
            <a:pPr>
              <a:defRPr/>
            </a:pPr>
            <a:fld id="{9341367C-E063-483A-976E-701E1B78A2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78219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E395FA4F-381F-404D-BF6E-002662B65353}" type="datetimeFigureOut">
              <a:rPr lang="en-US" altLang="en-US"/>
              <a:pPr>
                <a:defRPr/>
              </a:pPr>
              <a:t>5/27/2020</a:t>
            </a:fld>
            <a:endParaRPr lang="en-US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8BD030A-9FCF-4978-B2BB-2A6331F99A1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402572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77875" y="1200150"/>
            <a:ext cx="5759450" cy="32400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A14CED63-C5B3-475C-BA81-763BF086AFEA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60383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77875" y="1200150"/>
            <a:ext cx="5759450" cy="32400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A14CED63-C5B3-475C-BA81-763BF086AFEA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79058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77875" y="1200150"/>
            <a:ext cx="5759450" cy="32400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A14CED63-C5B3-475C-BA81-763BF086AFEA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67914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77875" y="1200150"/>
            <a:ext cx="5759450" cy="32400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dirty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76527C33-01CD-46A9-BD56-F88C6EF1A9B5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740686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77875" y="1200150"/>
            <a:ext cx="5759450" cy="32400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dirty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A0A53A77-4445-4657-A3DB-BC60087E0D7F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77336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77875" y="1200150"/>
            <a:ext cx="5759450" cy="32400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dirty="0"/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F7DFD8C0-0BB9-4456-B125-DD8735EBD69D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752752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77875" y="1200150"/>
            <a:ext cx="5759450" cy="32400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dirty="0"/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BB93BBCF-2BE5-4673-9042-0AA1EA25F4FF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613393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77875" y="1200150"/>
            <a:ext cx="5759450" cy="32400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dirty="0"/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9D73D816-49C1-4DC6-A0B3-4DA315391C4C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38888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77875" y="1200150"/>
            <a:ext cx="5759450" cy="32400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dirty="0"/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73F899DE-00F9-44EC-A3AD-B3E74958BD84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85600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77875" y="1200150"/>
            <a:ext cx="5759450" cy="32400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dirty="0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1F1FF756-6A81-4723-9B0A-98F75D0C78E5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08462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77875" y="1200150"/>
            <a:ext cx="5759450" cy="32400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dirty="0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1F1FF756-6A81-4723-9B0A-98F75D0C78E5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77739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4927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49" y="1436688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73992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002E78-3C88-9A40-B579-FA4DB2691E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9839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9876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4F0668-60AC-E24C-8E50-B74DE0FA4F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8108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3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178541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232414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093392"/>
            <a:ext cx="8110832" cy="3739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784759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192117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8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8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8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957928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4846731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41257147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268453"/>
            <a:ext cx="8110832" cy="35643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280691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421087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heme" Target="../theme/theme2.xml"/><Relationship Id="rId5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1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912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9" r:id="rId1"/>
    <p:sldLayoutId id="2147484020" r:id="rId2"/>
    <p:sldLayoutId id="2147484021" r:id="rId3"/>
    <p:sldLayoutId id="2147484022" r:id="rId4"/>
    <p:sldLayoutId id="2147484023" r:id="rId5"/>
    <p:sldLayoutId id="2147484032" r:id="rId6"/>
    <p:sldLayoutId id="2147484033" r:id="rId7"/>
    <p:sldLayoutId id="2147484034" r:id="rId8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xmlns="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813198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8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xmlns="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2171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6" r:id="rId1"/>
    <p:sldLayoutId id="2147484027" r:id="rId2"/>
    <p:sldLayoutId id="2147484028" r:id="rId3"/>
    <p:sldLayoutId id="2147484029" r:id="rId4"/>
    <p:sldLayoutId id="2147484030" r:id="rId5"/>
    <p:sldLayoutId id="2147484031" r:id="rId6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0.png"/><Relationship Id="rId5" Type="http://schemas.openxmlformats.org/officeDocument/2006/relationships/image" Target="../media/image90.png"/><Relationship Id="rId9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/>
        </p:nvSpPr>
        <p:spPr>
          <a:xfrm>
            <a:off x="101256" y="171644"/>
            <a:ext cx="6173436" cy="534636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r>
              <a:rPr lang="en-US" sz="3600" dirty="0">
                <a:latin typeface="Vitesse" charset="0"/>
                <a:cs typeface="Vitesse" charset="0"/>
              </a:rPr>
              <a:t>Regression Analysis</a:t>
            </a:r>
          </a:p>
        </p:txBody>
      </p:sp>
      <p:sp>
        <p:nvSpPr>
          <p:cNvPr id="4" name="Text Placeholder 2"/>
          <p:cNvSpPr>
            <a:spLocks noGrp="1"/>
          </p:cNvSpPr>
          <p:nvPr/>
        </p:nvSpPr>
        <p:spPr>
          <a:xfrm>
            <a:off x="121338" y="685717"/>
            <a:ext cx="6368450" cy="590634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lang="en-US" sz="30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/>
              <a:t>Multiple</a:t>
            </a:r>
            <a:r>
              <a:rPr lang="zh-CN" altLang="en-US" sz="2400" dirty="0"/>
              <a:t> </a:t>
            </a:r>
            <a:r>
              <a:rPr lang="en-US" altLang="zh-CN" sz="2400" dirty="0"/>
              <a:t>Linear</a:t>
            </a:r>
            <a:r>
              <a:rPr lang="zh-CN" altLang="en-US" sz="2400" dirty="0"/>
              <a:t> </a:t>
            </a:r>
            <a:r>
              <a:rPr lang="en-US" altLang="zh-CN" sz="2400" dirty="0"/>
              <a:t>Regression</a:t>
            </a:r>
            <a:endParaRPr lang="en-US" sz="2400" dirty="0"/>
          </a:p>
        </p:txBody>
      </p:sp>
      <p:sp>
        <p:nvSpPr>
          <p:cNvPr id="17" name="Text Placeholder 3"/>
          <p:cNvSpPr>
            <a:spLocks noGrp="1"/>
          </p:cNvSpPr>
          <p:nvPr/>
        </p:nvSpPr>
        <p:spPr>
          <a:xfrm>
            <a:off x="117957" y="2018346"/>
            <a:ext cx="4305091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dirty="0" err="1"/>
              <a:t>Nicoleta</a:t>
            </a:r>
            <a:r>
              <a:rPr lang="en-US" dirty="0"/>
              <a:t> </a:t>
            </a:r>
            <a:r>
              <a:rPr lang="en-US" dirty="0" err="1"/>
              <a:t>Serban</a:t>
            </a:r>
            <a:r>
              <a:rPr lang="en-US" dirty="0"/>
              <a:t>, Ph.D. </a:t>
            </a:r>
          </a:p>
        </p:txBody>
      </p:sp>
      <p:sp>
        <p:nvSpPr>
          <p:cNvPr id="18" name="Text Placeholder 4"/>
          <p:cNvSpPr>
            <a:spLocks noGrp="1"/>
          </p:cNvSpPr>
          <p:nvPr/>
        </p:nvSpPr>
        <p:spPr>
          <a:xfrm>
            <a:off x="108550" y="2376336"/>
            <a:ext cx="4305091" cy="25428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0" i="1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Professor </a:t>
            </a:r>
          </a:p>
        </p:txBody>
      </p:sp>
      <p:sp>
        <p:nvSpPr>
          <p:cNvPr id="19" name="Text Placeholder 5"/>
          <p:cNvSpPr>
            <a:spLocks noGrp="1"/>
          </p:cNvSpPr>
          <p:nvPr/>
        </p:nvSpPr>
        <p:spPr>
          <a:xfrm>
            <a:off x="117956" y="3988340"/>
            <a:ext cx="4305091" cy="100427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b="0" i="0" kern="120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 dirty="0"/>
              <a:t>Basics of Multiple Regression</a:t>
            </a:r>
          </a:p>
        </p:txBody>
      </p:sp>
      <p:sp>
        <p:nvSpPr>
          <p:cNvPr id="20" name="Text Placeholder 6"/>
          <p:cNvSpPr>
            <a:spLocks noGrp="1"/>
          </p:cNvSpPr>
          <p:nvPr/>
        </p:nvSpPr>
        <p:spPr>
          <a:xfrm>
            <a:off x="117956" y="2661666"/>
            <a:ext cx="4305091" cy="32225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200" b="0" i="0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School of Industrial and Systems Engineering</a:t>
            </a:r>
          </a:p>
        </p:txBody>
      </p:sp>
    </p:spTree>
    <p:extLst>
      <p:ext uri="{BB962C8B-B14F-4D97-AF65-F5344CB8AC3E}">
        <p14:creationId xmlns:p14="http://schemas.microsoft.com/office/powerpoint/2010/main" val="1087111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43478" y="112433"/>
            <a:ext cx="4727575" cy="782917"/>
          </a:xfrm>
        </p:spPr>
        <p:txBody>
          <a:bodyPr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About This Lesson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0" t="7499" r="15454" b="5507"/>
          <a:stretch/>
        </p:blipFill>
        <p:spPr>
          <a:xfrm>
            <a:off x="1237534" y="1323904"/>
            <a:ext cx="2069432" cy="2619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139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507" name="Text Box 3"/>
              <p:cNvSpPr txBox="1">
                <a:spLocks noChangeArrowheads="1"/>
              </p:cNvSpPr>
              <p:nvPr/>
            </p:nvSpPr>
            <p:spPr bwMode="auto">
              <a:xfrm>
                <a:off x="126824" y="1004040"/>
                <a:ext cx="6553200" cy="7089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Data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d>
                        <m:r>
                          <a:rPr lang="en-US" b="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>
                        <a:latin typeface="Cambria Math" panose="02040503050406030204" pitchFamily="18" charset="0"/>
                      </a:rPr>
                      <m:t>,…,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,1</m:t>
                                </m:r>
                              </m:sub>
                            </m:sSub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d>
                        <m:r>
                          <a:rPr lang="en-US" b="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altLang="en-US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pPr eaLnBrk="1" hangingPunct="1"/>
                <a:r>
                  <a:rPr lang="en-US" altLang="en-US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Model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 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21507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6824" y="1004040"/>
                <a:ext cx="6553200" cy="708912"/>
              </a:xfrm>
              <a:prstGeom prst="rect">
                <a:avLst/>
              </a:prstGeom>
              <a:blipFill>
                <a:blip r:embed="rId3"/>
                <a:stretch>
                  <a:fillRect l="-837" t="-2586" b="-1034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681" y="171187"/>
            <a:ext cx="8562392" cy="762000"/>
          </a:xfrm>
        </p:spPr>
        <p:txBody>
          <a:bodyPr/>
          <a:lstStyle/>
          <a:p>
            <a:r>
              <a:rPr lang="en-US" altLang="zh-CN" sz="3600" dirty="0">
                <a:latin typeface="Vitesse"/>
              </a:rPr>
              <a:t>Multiple Linear Regression: Model</a:t>
            </a:r>
            <a:endParaRPr lang="en-US" sz="3600" dirty="0">
              <a:latin typeface="Vitess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>
                <a:spLocks noChangeArrowheads="1"/>
              </p:cNvSpPr>
              <p:nvPr/>
            </p:nvSpPr>
            <p:spPr bwMode="auto">
              <a:xfrm>
                <a:off x="152400" y="1935511"/>
                <a:ext cx="5181600" cy="29084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Assumptions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:  </a:t>
                </a:r>
              </a:p>
              <a:p>
                <a:pPr marL="365125" indent="-365125" eaLnBrk="1" hangingPunct="1">
                  <a:spcBef>
                    <a:spcPct val="50000"/>
                  </a:spcBef>
                  <a:buFont typeface="Arial" panose="020B0604020202020204" pitchFamily="34" charset="0"/>
                  <a:buChar char="•"/>
                </a:pP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Linearity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/</a:t>
                </a: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Mean Zero Assumption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: 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E(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= 0</a:t>
                </a:r>
              </a:p>
              <a:p>
                <a:pPr marL="365125" indent="-365125" eaLnBrk="1" hangingPunct="1">
                  <a:spcBef>
                    <a:spcPct val="50000"/>
                  </a:spcBef>
                  <a:buFont typeface="Arial" panose="020B0604020202020204" pitchFamily="34" charset="0"/>
                  <a:buChar char="•"/>
                </a:pP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Constant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Variance Assumption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: </a:t>
                </a:r>
                <a:r>
                  <a:rPr lang="en-US" altLang="en-US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Var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= </a:t>
                </a:r>
                <a:r>
                  <a:rPr lang="el-GR" alt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σ</a:t>
                </a:r>
                <a:r>
                  <a:rPr lang="en-US" altLang="en-US" baseline="30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 </a:t>
                </a:r>
              </a:p>
              <a:p>
                <a:pPr marL="365125" indent="-365125" eaLnBrk="1" hangingPunct="1">
                  <a:spcBef>
                    <a:spcPct val="50000"/>
                  </a:spcBef>
                  <a:buFont typeface="Arial" panose="020B0604020202020204" pitchFamily="34" charset="0"/>
                  <a:buChar char="•"/>
                </a:pP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Independence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Assumption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: 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} 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are independent random variables</a:t>
                </a:r>
              </a:p>
              <a:p>
                <a:pPr marL="365125" indent="-365125" eaLnBrk="1" hangingPunct="1">
                  <a:spcBef>
                    <a:spcPct val="500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~</a:t>
                </a:r>
                <a:r>
                  <a:rPr lang="en-US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en-US" dirty="0">
                    <a:latin typeface="Helvetica" panose="020B0604020202020204" pitchFamily="34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Normally distributed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for confidence/prediction intervals, hypothesis testing</a:t>
                </a:r>
                <a:endParaRPr lang="en-US" altLang="en-US" b="1" i="1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400" y="1935511"/>
                <a:ext cx="5181600" cy="2908489"/>
              </a:xfrm>
              <a:prstGeom prst="rect">
                <a:avLst/>
              </a:prstGeom>
              <a:blipFill>
                <a:blip r:embed="rId4"/>
                <a:stretch>
                  <a:fillRect l="-941" t="-1258" b="-251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5183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23F3B76F-FCCC-4D67-8AB5-4792729CACC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86400" y="1962150"/>
                <a:ext cx="3327752" cy="1837939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600" b="1" dirty="0">
                    <a:solidFill>
                      <a:srgbClr val="EEB211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The model parameters are: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solidFill>
                              <a:srgbClr val="EEB21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" charset="0"/>
                          </a:rPr>
                        </m:ctrlPr>
                      </m:sSubPr>
                      <m:e>
                        <m:r>
                          <a:rPr lang="en-US" sz="1600" b="1" i="1">
                            <a:solidFill>
                              <a:srgbClr val="EEB21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" charset="0"/>
                          </a:rPr>
                          <m:t>𝜷</m:t>
                        </m:r>
                      </m:e>
                      <m:sub>
                        <m:r>
                          <a:rPr lang="en-US" sz="1600" b="1" i="1">
                            <a:solidFill>
                              <a:srgbClr val="EEB21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en-US" sz="1600" b="1" dirty="0">
                    <a:solidFill>
                      <a:srgbClr val="EEB21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solidFill>
                              <a:srgbClr val="EEB21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" charset="0"/>
                          </a:rPr>
                        </m:ctrlPr>
                      </m:sSubPr>
                      <m:e>
                        <m:r>
                          <a:rPr lang="en-US" sz="1600" b="1" i="1">
                            <a:solidFill>
                              <a:srgbClr val="EEB21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" charset="0"/>
                          </a:rPr>
                          <m:t>𝜷</m:t>
                        </m:r>
                      </m:e>
                      <m:sub>
                        <m:r>
                          <a:rPr lang="en-US" sz="1600" b="1" i="1">
                            <a:solidFill>
                              <a:srgbClr val="EEB21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en-US" sz="1600" b="1" dirty="0">
                    <a:solidFill>
                      <a:srgbClr val="EEB21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, …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solidFill>
                              <a:srgbClr val="EEB21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" charset="0"/>
                          </a:rPr>
                        </m:ctrlPr>
                      </m:sSubPr>
                      <m:e>
                        <m:r>
                          <a:rPr lang="en-US" sz="1600" b="1" i="1">
                            <a:solidFill>
                              <a:srgbClr val="EEB21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" charset="0"/>
                          </a:rPr>
                          <m:t>𝜷</m:t>
                        </m:r>
                      </m:e>
                      <m:sub>
                        <m:r>
                          <a:rPr lang="en-US" sz="1600" b="1" i="1">
                            <a:solidFill>
                              <a:srgbClr val="EEB21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" charset="0"/>
                          </a:rPr>
                          <m:t>𝒑</m:t>
                        </m:r>
                      </m:sub>
                    </m:sSub>
                  </m:oMath>
                </a14:m>
                <a:r>
                  <a:rPr lang="en-US" altLang="en-US" sz="1600" b="1" dirty="0">
                    <a:solidFill>
                      <a:srgbClr val="EEB21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, </a:t>
                </a:r>
                <a:r>
                  <a:rPr lang="el-GR" altLang="en-US" sz="1600" b="1" dirty="0">
                    <a:solidFill>
                      <a:srgbClr val="EEB21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σ</a:t>
                </a:r>
                <a:r>
                  <a:rPr lang="en-US" altLang="en-US" sz="1600" b="1" baseline="30000" dirty="0">
                    <a:solidFill>
                      <a:srgbClr val="EEB21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2</a:t>
                </a:r>
              </a:p>
              <a:p>
                <a:pPr marL="457200" lvl="1" indent="-173038" eaLnBrk="1" hangingPunct="1">
                  <a:buFont typeface="Arial" panose="020B0604020202020204" pitchFamily="34" charset="0"/>
                  <a:buChar char="•"/>
                </a:pPr>
                <a:r>
                  <a:rPr lang="en-US" altLang="en-US" sz="1600" b="1" dirty="0">
                    <a:solidFill>
                      <a:srgbClr val="000000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Unknown regardless how much data are observed</a:t>
                </a:r>
              </a:p>
              <a:p>
                <a:pPr marL="457200" lvl="1" indent="-173038" eaLnBrk="1" hangingPunct="1">
                  <a:buFont typeface="Arial" panose="020B0604020202020204" pitchFamily="34" charset="0"/>
                  <a:buChar char="•"/>
                </a:pPr>
                <a:r>
                  <a:rPr lang="en-US" altLang="en-US" sz="1600" b="1" dirty="0">
                    <a:solidFill>
                      <a:srgbClr val="000000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Estimated given the model assumptions</a:t>
                </a:r>
              </a:p>
              <a:p>
                <a:pPr marL="457200" lvl="1" indent="-173038" eaLnBrk="1" hangingPunct="1">
                  <a:buFont typeface="Arial" panose="020B0604020202020204" pitchFamily="34" charset="0"/>
                  <a:buChar char="•"/>
                </a:pPr>
                <a:r>
                  <a:rPr lang="en-US" altLang="en-US" sz="1600" b="1" dirty="0">
                    <a:solidFill>
                      <a:srgbClr val="000000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Estimated based on data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3F3B76F-FCCC-4D67-8AB5-4792729CAC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86400" y="1962150"/>
                <a:ext cx="3327752" cy="1837939"/>
              </a:xfrm>
              <a:prstGeom prst="rect">
                <a:avLst/>
              </a:prstGeom>
              <a:blipFill>
                <a:blip r:embed="rId3"/>
                <a:stretch>
                  <a:fillRect l="-729" t="-987" b="-2961"/>
                </a:stretch>
              </a:blipFill>
              <a:ln w="1905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1681" y="171187"/>
            <a:ext cx="8562392" cy="762000"/>
          </a:xfrm>
        </p:spPr>
        <p:txBody>
          <a:bodyPr/>
          <a:lstStyle/>
          <a:p>
            <a:r>
              <a:rPr lang="en-US" altLang="zh-CN" sz="3600" dirty="0">
                <a:latin typeface="Vitesse"/>
              </a:rPr>
              <a:t>Multiple Linear Regression: Model</a:t>
            </a:r>
            <a:endParaRPr lang="en-US" sz="3600" dirty="0">
              <a:latin typeface="Vitess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3"/>
              <p:cNvSpPr txBox="1">
                <a:spLocks noChangeArrowheads="1"/>
              </p:cNvSpPr>
              <p:nvPr/>
            </p:nvSpPr>
            <p:spPr bwMode="auto">
              <a:xfrm>
                <a:off x="126824" y="1004040"/>
                <a:ext cx="6553200" cy="7089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Data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d>
                        <m:r>
                          <a:rPr lang="en-US" b="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>
                        <a:latin typeface="Cambria Math" panose="02040503050406030204" pitchFamily="18" charset="0"/>
                      </a:rPr>
                      <m:t>,…,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,1</m:t>
                                </m:r>
                              </m:sub>
                            </m:sSub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d>
                        <m:r>
                          <a:rPr lang="en-US" b="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altLang="en-US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pPr eaLnBrk="1" hangingPunct="1"/>
                <a:r>
                  <a:rPr lang="en-US" altLang="en-US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Model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 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6824" y="1004040"/>
                <a:ext cx="6553200" cy="708912"/>
              </a:xfrm>
              <a:prstGeom prst="rect">
                <a:avLst/>
              </a:prstGeom>
              <a:blipFill>
                <a:blip r:embed="rId4"/>
                <a:stretch>
                  <a:fillRect l="-837" t="-2586" b="-1034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>
                <a:spLocks noChangeArrowheads="1"/>
              </p:cNvSpPr>
              <p:nvPr/>
            </p:nvSpPr>
            <p:spPr bwMode="auto">
              <a:xfrm>
                <a:off x="152400" y="1935511"/>
                <a:ext cx="5181600" cy="29084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Assumptions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:  </a:t>
                </a:r>
              </a:p>
              <a:p>
                <a:pPr marL="365125" indent="-365125" eaLnBrk="1" hangingPunct="1">
                  <a:spcBef>
                    <a:spcPct val="50000"/>
                  </a:spcBef>
                  <a:buFont typeface="Arial" panose="020B0604020202020204" pitchFamily="34" charset="0"/>
                  <a:buChar char="•"/>
                </a:pP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Linearity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/</a:t>
                </a: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Mean Zero Assumption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: 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E(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= 0</a:t>
                </a:r>
              </a:p>
              <a:p>
                <a:pPr marL="365125" indent="-365125" eaLnBrk="1" hangingPunct="1">
                  <a:spcBef>
                    <a:spcPct val="50000"/>
                  </a:spcBef>
                  <a:buFont typeface="Arial" panose="020B0604020202020204" pitchFamily="34" charset="0"/>
                  <a:buChar char="•"/>
                </a:pP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Constant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Variance Assumption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: </a:t>
                </a:r>
                <a:r>
                  <a:rPr lang="en-US" altLang="en-US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Var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= </a:t>
                </a:r>
                <a:r>
                  <a:rPr lang="el-GR" alt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σ</a:t>
                </a:r>
                <a:r>
                  <a:rPr lang="en-US" altLang="en-US" baseline="30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 </a:t>
                </a:r>
              </a:p>
              <a:p>
                <a:pPr marL="365125" indent="-365125" eaLnBrk="1" hangingPunct="1">
                  <a:spcBef>
                    <a:spcPct val="50000"/>
                  </a:spcBef>
                  <a:buFont typeface="Arial" panose="020B0604020202020204" pitchFamily="34" charset="0"/>
                  <a:buChar char="•"/>
                </a:pP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Independence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Assumption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: 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} 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are independent random variables</a:t>
                </a:r>
              </a:p>
              <a:p>
                <a:pPr marL="365125" indent="-365125" eaLnBrk="1" hangingPunct="1">
                  <a:spcBef>
                    <a:spcPct val="500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~</a:t>
                </a:r>
                <a:r>
                  <a:rPr lang="en-US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en-US" dirty="0">
                    <a:latin typeface="Helvetica" panose="020B0604020202020204" pitchFamily="34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Normally distributed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for confidence/prediction intervals, hypothesis testing</a:t>
                </a:r>
                <a:endParaRPr lang="en-US" altLang="en-US" b="1" i="1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400" y="1935511"/>
                <a:ext cx="5181600" cy="2908489"/>
              </a:xfrm>
              <a:prstGeom prst="rect">
                <a:avLst/>
              </a:prstGeom>
              <a:blipFill>
                <a:blip r:embed="rId5"/>
                <a:stretch>
                  <a:fillRect l="-941" t="-1258" b="-251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0683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1">
                <a:extLst>
                  <a:ext uri="{FF2B5EF4-FFF2-40B4-BE49-F238E27FC236}">
                    <a16:creationId xmlns:a16="http://schemas.microsoft.com/office/drawing/2014/main" xmlns="" id="{36B47A65-51A3-47A4-B7CF-8139CCDF809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900" y="1927200"/>
                <a:ext cx="40005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b="1" dirty="0" smtClean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Model in Matrix Form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: </a:t>
                </a: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Y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𝜷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𝜺</m:t>
                    </m:r>
                  </m:oMath>
                </a14:m>
                <a:endParaRPr lang="en-US" altLang="en-US" i="1" dirty="0"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</mc:Choice>
        <mc:Fallback xmlns="">
          <p:sp>
            <p:nvSpPr>
              <p:cNvPr id="5" name="TextBox 1">
                <a:extLst>
                  <a:ext uri="{FF2B5EF4-FFF2-40B4-BE49-F238E27FC236}">
                    <a16:creationId xmlns:a16="http://schemas.microsoft.com/office/drawing/2014/main" id="{36B47A65-51A3-47A4-B7CF-8139CCDF80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4900" y="1927200"/>
                <a:ext cx="4000500" cy="369332"/>
              </a:xfrm>
              <a:prstGeom prst="rect">
                <a:avLst/>
              </a:prstGeom>
              <a:blipFill>
                <a:blip r:embed="rId3"/>
                <a:stretch>
                  <a:fillRect l="-1218" t="-8197" b="-2459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xmlns="" id="{67631B8E-276C-46C9-A7DC-14098A0033FB}"/>
              </a:ext>
            </a:extLst>
          </p:cNvPr>
          <p:cNvGrpSpPr/>
          <p:nvPr/>
        </p:nvGrpSpPr>
        <p:grpSpPr>
          <a:xfrm>
            <a:off x="1980695" y="2497367"/>
            <a:ext cx="3229025" cy="1513816"/>
            <a:chOff x="2309579" y="3335567"/>
            <a:chExt cx="3229025" cy="1513816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xmlns="" id="{82C1F262-2897-4889-B03C-BAE89ADCDA8E}"/>
                </a:ext>
              </a:extLst>
            </p:cNvPr>
            <p:cNvSpPr/>
            <p:nvPr/>
          </p:nvSpPr>
          <p:spPr>
            <a:xfrm>
              <a:off x="2438743" y="3335567"/>
              <a:ext cx="284598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b="1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rPr>
                <a:t>Design</a:t>
              </a:r>
              <a:r>
                <a:rPr lang="zh-CN" altLang="en-US" b="1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rPr>
                <a:t> </a:t>
              </a:r>
              <a:r>
                <a:rPr lang="en-US" altLang="zh-CN" b="1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rPr>
                <a:t>Matrix</a:t>
              </a:r>
              <a:endParaRPr lang="en-US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xmlns="" id="{AB9C1975-AB8D-4DB8-8AA4-200D24A0ABC6}"/>
                    </a:ext>
                  </a:extLst>
                </p:cNvPr>
                <p:cNvSpPr/>
                <p:nvPr/>
              </p:nvSpPr>
              <p:spPr>
                <a:xfrm>
                  <a:off x="2309579" y="3609620"/>
                  <a:ext cx="3229025" cy="123976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 lang="en-US" b="0" i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5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b="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b="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b="0" i="0">
                                      <a:latin typeface="Cambria Math" panose="02040503050406030204" pitchFamily="18" charset="0"/>
                                    </a:rPr>
                                    <m:t>⋯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r>
                                    <a:rPr lang="en-US" b="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b="0" i="0">
                                      <a:latin typeface="Cambria Math" panose="02040503050406030204" pitchFamily="18" charset="0"/>
                                    </a:rPr>
                                    <m:t>⋯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r>
                                    <a:rPr lang="en-US" b="0" i="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  <m:e>
                                  <m:r>
                                    <a:rPr lang="en-US" b="0" i="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  <m:e>
                                  <m:r>
                                    <a:rPr lang="en-US" b="0" i="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  <m:e>
                                  <m:r>
                                    <a:rPr lang="en-US" b="0" i="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  <m:e>
                                  <m:r>
                                    <a:rPr lang="en-US" b="0" i="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b="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b="0" i="0">
                                      <a:latin typeface="Cambria Math" panose="02040503050406030204" pitchFamily="18" charset="0"/>
                                    </a:rPr>
                                    <m:t>⋯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AB9C1975-AB8D-4DB8-8AA4-200D24A0ABC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9579" y="3609620"/>
                  <a:ext cx="3229025" cy="123976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xmlns="" id="{22685C0E-6F54-48E0-A10E-5EECE5B436FA}"/>
              </a:ext>
            </a:extLst>
          </p:cNvPr>
          <p:cNvGrpSpPr/>
          <p:nvPr/>
        </p:nvGrpSpPr>
        <p:grpSpPr>
          <a:xfrm>
            <a:off x="505950" y="2497367"/>
            <a:ext cx="1301176" cy="1474863"/>
            <a:chOff x="886401" y="3335567"/>
            <a:chExt cx="1301176" cy="1474863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xmlns="" id="{3FD51B89-3D34-44A1-A086-FF93F602C49C}"/>
                </a:ext>
              </a:extLst>
            </p:cNvPr>
            <p:cNvSpPr/>
            <p:nvPr/>
          </p:nvSpPr>
          <p:spPr>
            <a:xfrm>
              <a:off x="894879" y="3335567"/>
              <a:ext cx="129269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rPr>
                <a:t>Response</a:t>
              </a:r>
              <a:endParaRPr lang="en-US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xmlns="" id="{E3FCB97D-DC1F-456C-8F71-967C692C0B4C}"/>
                    </a:ext>
                  </a:extLst>
                </p:cNvPr>
                <p:cNvSpPr/>
                <p:nvPr/>
              </p:nvSpPr>
              <p:spPr>
                <a:xfrm>
                  <a:off x="886401" y="3666014"/>
                  <a:ext cx="1146981" cy="114441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b="0" dirty="0">
                      <a:ea typeface="Cambria Math" panose="02040503050406030204" pitchFamily="18" charset="0"/>
                    </a:rPr>
                    <a:t>Y</a:t>
                  </a:r>
                  <a14:m>
                    <m:oMath xmlns:m="http://schemas.openxmlformats.org/officeDocument/2006/math">
                      <m:r>
                        <a:rPr lang="en-US" b="0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  <m:r>
                            <m:rPr>
                              <m:nor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a14:m>
                  <a:endParaRPr lang="en-US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E3FCB97D-DC1F-456C-8F71-967C692C0B4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6401" y="3666014"/>
                  <a:ext cx="1146981" cy="1144416"/>
                </a:xfrm>
                <a:prstGeom prst="rect">
                  <a:avLst/>
                </a:prstGeom>
                <a:blipFill>
                  <a:blip r:embed="rId6"/>
                  <a:stretch>
                    <a:fillRect l="-478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xmlns="" id="{1365C390-F4F2-45D6-9BD7-7A0B69FBE2C2}"/>
              </a:ext>
            </a:extLst>
          </p:cNvPr>
          <p:cNvGrpSpPr/>
          <p:nvPr/>
        </p:nvGrpSpPr>
        <p:grpSpPr>
          <a:xfrm>
            <a:off x="6968036" y="2495550"/>
            <a:ext cx="1261564" cy="1492775"/>
            <a:chOff x="7295351" y="3333750"/>
            <a:chExt cx="1261564" cy="1492775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xmlns="" id="{097DF987-3049-4D5F-8BF1-9BD0946A944F}"/>
                </a:ext>
              </a:extLst>
            </p:cNvPr>
            <p:cNvSpPr/>
            <p:nvPr/>
          </p:nvSpPr>
          <p:spPr>
            <a:xfrm>
              <a:off x="7543800" y="3333750"/>
              <a:ext cx="765236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rPr>
                <a:t>Error</a:t>
              </a:r>
              <a:endParaRPr lang="en-US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xmlns="" id="{15F098C4-0B55-445D-B26A-594F97DDC151}"/>
                    </a:ext>
                  </a:extLst>
                </p:cNvPr>
                <p:cNvSpPr/>
                <p:nvPr/>
              </p:nvSpPr>
              <p:spPr>
                <a:xfrm>
                  <a:off x="7295351" y="3666014"/>
                  <a:ext cx="1261564" cy="116051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𝜺</m:t>
                        </m:r>
                        <m:r>
                          <a:rPr lang="en-US" b="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ε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ε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ε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US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15F098C4-0B55-445D-B26A-594F97DDC15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5351" y="3666014"/>
                  <a:ext cx="1261564" cy="116051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xmlns="" id="{B9F76EA2-A764-472A-A4F4-6B1ACA822210}"/>
              </a:ext>
            </a:extLst>
          </p:cNvPr>
          <p:cNvGrpSpPr/>
          <p:nvPr/>
        </p:nvGrpSpPr>
        <p:grpSpPr>
          <a:xfrm>
            <a:off x="5260357" y="2495550"/>
            <a:ext cx="1542587" cy="1506142"/>
            <a:chOff x="5638800" y="3333750"/>
            <a:chExt cx="1542587" cy="1506142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xmlns="" id="{B883D7BE-F92B-4C78-9093-CFAE16A86636}"/>
                </a:ext>
              </a:extLst>
            </p:cNvPr>
            <p:cNvSpPr/>
            <p:nvPr/>
          </p:nvSpPr>
          <p:spPr>
            <a:xfrm>
              <a:off x="5638800" y="3333750"/>
              <a:ext cx="154258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rPr>
                <a:t>Coefficients</a:t>
              </a:r>
              <a:endParaRPr lang="en-US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xmlns="" id="{1A94DF14-AF56-4372-A6E8-ADDFAA565DA3}"/>
                    </a:ext>
                  </a:extLst>
                </p:cNvPr>
                <p:cNvSpPr/>
                <p:nvPr/>
              </p:nvSpPr>
              <p:spPr>
                <a:xfrm>
                  <a:off x="5767964" y="3648412"/>
                  <a:ext cx="1288301" cy="119148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  <m:r>
                          <a:rPr lang="en-US" b="0" i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1A94DF14-AF56-4372-A6E8-ADDFAA565DA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7964" y="3648412"/>
                  <a:ext cx="1288301" cy="119148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" name="Title 1"/>
          <p:cNvSpPr txBox="1">
            <a:spLocks/>
          </p:cNvSpPr>
          <p:nvPr/>
        </p:nvSpPr>
        <p:spPr>
          <a:xfrm>
            <a:off x="111681" y="171187"/>
            <a:ext cx="8562392" cy="76200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zh-CN" sz="3600" dirty="0">
                <a:latin typeface="Vitesse"/>
              </a:rPr>
              <a:t>Multiple Linear Regression: Model</a:t>
            </a:r>
            <a:endParaRPr lang="en-US" sz="3600" dirty="0">
              <a:latin typeface="Vitess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Box 3"/>
              <p:cNvSpPr txBox="1">
                <a:spLocks noChangeArrowheads="1"/>
              </p:cNvSpPr>
              <p:nvPr/>
            </p:nvSpPr>
            <p:spPr bwMode="auto">
              <a:xfrm>
                <a:off x="126824" y="1004040"/>
                <a:ext cx="6553200" cy="7089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Data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d>
                        <m:r>
                          <a:rPr lang="en-US" b="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>
                        <a:latin typeface="Cambria Math" panose="02040503050406030204" pitchFamily="18" charset="0"/>
                      </a:rPr>
                      <m:t>,…,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,1</m:t>
                                </m:r>
                              </m:sub>
                            </m:sSub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d>
                        <m:r>
                          <a:rPr lang="en-US" b="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altLang="en-US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pPr eaLnBrk="1" hangingPunct="1"/>
                <a:r>
                  <a:rPr lang="en-US" altLang="en-US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Model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 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6824" y="1004040"/>
                <a:ext cx="6553200" cy="708912"/>
              </a:xfrm>
              <a:prstGeom prst="rect">
                <a:avLst/>
              </a:prstGeom>
              <a:blipFill>
                <a:blip r:embed="rId9"/>
                <a:stretch>
                  <a:fillRect l="-837" t="-2586" b="-1034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0701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3"/>
              <p:cNvSpPr txBox="1">
                <a:spLocks noChangeArrowheads="1"/>
              </p:cNvSpPr>
              <p:nvPr/>
            </p:nvSpPr>
            <p:spPr bwMode="auto">
              <a:xfrm>
                <a:off x="118025" y="1035463"/>
                <a:ext cx="5632348" cy="41620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For </a:t>
                </a:r>
                <a:r>
                  <a:rPr lang="en-US" altLang="en-US" sz="1600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k </a:t>
                </a:r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= 2 predicting variables, four useful regressions:</a:t>
                </a:r>
              </a:p>
              <a:p>
                <a:pPr eaLnBrk="1" hangingPunct="1"/>
                <a:endParaRPr lang="en-US" altLang="en-US" sz="1600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pPr marL="398463" indent="-398463" eaLnBrk="1" hangingPunct="1">
                  <a:buFont typeface="Arial" panose="020B0604020202020204" pitchFamily="34" charset="0"/>
                  <a:buChar char="•"/>
                </a:pPr>
                <a:r>
                  <a:rPr lang="en-US" altLang="en-US" sz="1600" b="1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1</a:t>
                </a:r>
                <a:r>
                  <a:rPr lang="en-US" altLang="en-US" sz="1600" b="1" i="1" baseline="300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st</a:t>
                </a:r>
                <a:r>
                  <a:rPr lang="en-US" altLang="en-US" sz="1600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Order Model:</a:t>
                </a:r>
                <a:r>
                  <a:rPr lang="en-US" altLang="en-US" sz="1600" u="sng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</a:p>
              <a:p>
                <a:pPr marL="285750" eaLnBrk="1" hangingPunct="1">
                  <a:tabLst>
                    <a:tab pos="227013" algn="l"/>
                  </a:tabLst>
                </a:pPr>
                <a:r>
                  <a:rPr lang="en-US" altLang="en-US" sz="1600" dirty="0">
                    <a:latin typeface="Helvetica Neue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endParaRPr lang="en-US" altLang="en-US" sz="16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285750" eaLnBrk="1" hangingPunct="1"/>
                <a:endParaRPr lang="en-US" altLang="en-US" sz="1600" dirty="0">
                  <a:latin typeface="Symbol" panose="05050102010706020507" pitchFamily="18" charset="2"/>
                </a:endParaRPr>
              </a:p>
              <a:p>
                <a:pPr marL="285750" eaLnBrk="1" hangingPunct="1"/>
                <a:endParaRPr lang="en-US" altLang="en-US" sz="1600" dirty="0">
                  <a:latin typeface="Symbol" panose="05050102010706020507" pitchFamily="18" charset="2"/>
                </a:endParaRPr>
              </a:p>
              <a:p>
                <a:pPr marL="398463" indent="-398463" eaLnBrk="1" hangingPunct="1">
                  <a:buFont typeface="Arial" panose="020B0604020202020204" pitchFamily="34" charset="0"/>
                  <a:buChar char="•"/>
                </a:pPr>
                <a:r>
                  <a:rPr lang="en-US" altLang="en-US" sz="1600" b="1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2</a:t>
                </a:r>
                <a:r>
                  <a:rPr lang="en-US" altLang="en-US" sz="1600" b="1" i="1" baseline="300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nd</a:t>
                </a:r>
                <a:r>
                  <a:rPr lang="en-US" altLang="en-US" sz="1600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Order Model:</a:t>
                </a:r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</a:p>
              <a:p>
                <a:pPr marL="285750" eaLnBrk="1" hangingPunct="1">
                  <a:tabLst>
                    <a:tab pos="227013" algn="l"/>
                  </a:tabLst>
                </a:pPr>
                <a:r>
                  <a:rPr lang="en-US" altLang="en-US" sz="1600" dirty="0"/>
                  <a:t>	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sSubSup>
                      <m:sSubSup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  <m:sSubSup>
                      <m:sSubSup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endParaRPr lang="en-US" sz="1600" dirty="0">
                  <a:ea typeface="Cambria Math" panose="02040503050406030204" pitchFamily="18" charset="0"/>
                </a:endParaRPr>
              </a:p>
              <a:p>
                <a:pPr marL="285750" eaLnBrk="1" hangingPunct="1"/>
                <a:endParaRPr lang="en-US" altLang="en-US" sz="16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285750" eaLnBrk="1" hangingPunct="1"/>
                <a:endParaRPr lang="en-US" altLang="en-US" sz="1600" dirty="0">
                  <a:latin typeface="Symbol" panose="05050102010706020507" pitchFamily="18" charset="2"/>
                </a:endParaRPr>
              </a:p>
              <a:p>
                <a:pPr marL="398463" indent="-398463" eaLnBrk="1" hangingPunct="1">
                  <a:buFont typeface="Arial" panose="020B0604020202020204" pitchFamily="34" charset="0"/>
                  <a:buChar char="•"/>
                </a:pPr>
                <a:r>
                  <a:rPr lang="en-US" altLang="en-US" sz="1600" b="1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1</a:t>
                </a:r>
                <a:r>
                  <a:rPr lang="en-US" altLang="en-US" sz="1600" b="1" i="1" baseline="300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st</a:t>
                </a:r>
                <a:r>
                  <a:rPr lang="en-US" altLang="en-US" sz="1600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Order Interaction Model:</a:t>
                </a:r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</a:p>
              <a:p>
                <a:pPr marL="285750" eaLnBrk="1" hangingPunct="1">
                  <a:tabLst>
                    <a:tab pos="227013" algn="l"/>
                  </a:tabLst>
                </a:pPr>
                <a:r>
                  <a:rPr lang="en-US" altLang="en-US" sz="1600" dirty="0"/>
                  <a:t>	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endParaRPr lang="en-US" altLang="en-US" sz="1600" u="sng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285750" eaLnBrk="1" hangingPunct="1"/>
                <a:endParaRPr lang="en-US" altLang="en-US" sz="1600" u="sng" dirty="0">
                  <a:latin typeface="Symbol" panose="05050102010706020507" pitchFamily="18" charset="2"/>
                </a:endParaRPr>
              </a:p>
              <a:p>
                <a:pPr marL="285750" eaLnBrk="1" hangingPunct="1"/>
                <a:endParaRPr lang="en-US" altLang="en-US" sz="1600" u="sng" dirty="0">
                  <a:latin typeface="Symbol" panose="05050102010706020507" pitchFamily="18" charset="2"/>
                </a:endParaRPr>
              </a:p>
              <a:p>
                <a:pPr marL="398463" indent="-398463" eaLnBrk="1" hangingPunct="1">
                  <a:buFont typeface="Arial" panose="020B0604020202020204" pitchFamily="34" charset="0"/>
                  <a:buChar char="•"/>
                </a:pPr>
                <a:r>
                  <a:rPr lang="en-US" altLang="en-US" sz="1600" b="1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2</a:t>
                </a:r>
                <a:r>
                  <a:rPr lang="en-US" altLang="en-US" sz="1600" b="1" i="1" baseline="300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nd</a:t>
                </a:r>
                <a:r>
                  <a:rPr lang="en-US" altLang="en-US" sz="1600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Order Interaction Model:</a:t>
                </a:r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</a:p>
              <a:p>
                <a:pPr marL="285750" eaLnBrk="1" hangingPunct="1">
                  <a:tabLst>
                    <a:tab pos="227013" algn="l"/>
                  </a:tabLst>
                </a:pPr>
                <a:r>
                  <a:rPr lang="en-US" altLang="en-US" sz="1600" dirty="0"/>
                  <a:t>	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  <m:sSubSup>
                      <m:sSubSup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sub>
                    </m:sSub>
                    <m:sSubSup>
                      <m:sSubSup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endParaRPr lang="en-US" altLang="en-US" sz="16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8025" y="1035463"/>
                <a:ext cx="5632348" cy="4162037"/>
              </a:xfrm>
              <a:prstGeom prst="rect">
                <a:avLst/>
              </a:prstGeom>
              <a:blipFill>
                <a:blip r:embed="rId3"/>
                <a:stretch>
                  <a:fillRect l="-541" t="-43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1276350"/>
            <a:ext cx="1616990" cy="762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3257550"/>
            <a:ext cx="1616990" cy="77980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2280056"/>
            <a:ext cx="1616990" cy="74889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0" y="4162964"/>
            <a:ext cx="1616990" cy="77952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58" y="234450"/>
            <a:ext cx="8728542" cy="716475"/>
          </a:xfrm>
        </p:spPr>
        <p:txBody>
          <a:bodyPr/>
          <a:lstStyle/>
          <a:p>
            <a:r>
              <a:rPr lang="en-US" altLang="en-US" dirty="0">
                <a:latin typeface="Vitesse"/>
                <a:ea typeface="Vitesse" charset="0"/>
                <a:cs typeface="Vitesse" charset="0"/>
              </a:rPr>
              <a:t>Model Flexibility: Main Effects &amp; Interactions</a:t>
            </a:r>
            <a:endParaRPr lang="en-US" b="1" dirty="0">
              <a:latin typeface="Vitesse"/>
              <a:ea typeface="Vitesse" charset="0"/>
              <a:cs typeface="Vitess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7485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 Box 3"/>
          <p:cNvSpPr txBox="1">
            <a:spLocks noChangeArrowheads="1"/>
          </p:cNvSpPr>
          <p:nvPr/>
        </p:nvSpPr>
        <p:spPr bwMode="auto">
          <a:xfrm>
            <a:off x="131774" y="1013375"/>
            <a:ext cx="7793025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Simple Linear Regression</a:t>
            </a:r>
            <a:r>
              <a:rPr 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: Linear regression with one quantitative predicting variable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ANOVA</a:t>
            </a:r>
            <a:r>
              <a:rPr 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: Linear regression with one or more qualitative predicting variables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Multiple Linear Regression</a:t>
            </a:r>
            <a:r>
              <a:rPr 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: Multiple quantitative and qualitative predicting variables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xmlns="" id="{B87345FC-18B8-429F-84F4-2545543F4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408" y="175175"/>
            <a:ext cx="8562392" cy="720175"/>
          </a:xfrm>
        </p:spPr>
        <p:txBody>
          <a:bodyPr/>
          <a:lstStyle/>
          <a:p>
            <a:r>
              <a:rPr lang="en-US" altLang="en-US" sz="3600" dirty="0">
                <a:latin typeface="Vitesse"/>
                <a:ea typeface="Vitesse" charset="0"/>
                <a:cs typeface="Vitesse" charset="0"/>
              </a:rPr>
              <a:t>Quantitative and Qualitative Variables</a:t>
            </a:r>
            <a:endParaRPr lang="en-US" sz="3600" b="1" dirty="0">
              <a:latin typeface="Vitesse"/>
              <a:ea typeface="Vitesse" charset="0"/>
              <a:cs typeface="Vitesse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195" name="Text Box 3"/>
              <p:cNvSpPr txBox="1">
                <a:spLocks noChangeArrowheads="1"/>
              </p:cNvSpPr>
              <p:nvPr/>
            </p:nvSpPr>
            <p:spPr bwMode="auto">
              <a:xfrm>
                <a:off x="125952" y="1009922"/>
                <a:ext cx="8755558" cy="350865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b="1" dirty="0" smtClean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Multiple Linear Regression</a:t>
                </a: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: Multiple quantitative/qualitative predicting variables</a:t>
                </a:r>
              </a:p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600" b="1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pPr marL="39846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b="1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x</a:t>
                </a:r>
                <a:r>
                  <a:rPr lang="en-US" b="1" baseline="-250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1</a:t>
                </a: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quantitative </a:t>
                </a:r>
              </a:p>
              <a:p>
                <a:pPr marL="39846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b="1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x</a:t>
                </a:r>
                <a:r>
                  <a:rPr lang="en-US" b="1" baseline="-250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2</a:t>
                </a: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qualitative with three levels: </a:t>
                </a:r>
                <a:r>
                  <a:rPr lang="en-US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D</a:t>
                </a:r>
                <a:r>
                  <a:rPr lang="en-US" b="1" baseline="-250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1</a:t>
                </a: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, </a:t>
                </a:r>
                <a:r>
                  <a:rPr lang="en-US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D</a:t>
                </a:r>
                <a:r>
                  <a:rPr lang="en-US" b="1" baseline="-250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2</a:t>
                </a: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, and </a:t>
                </a:r>
                <a:r>
                  <a:rPr lang="en-US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D</a:t>
                </a:r>
                <a:r>
                  <a:rPr lang="en-US" b="1" baseline="-250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3</a:t>
                </a:r>
                <a:r>
                  <a:rPr lang="en-US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dummy variables</a:t>
                </a:r>
              </a:p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200" dirty="0">
                  <a:latin typeface="+mn-lt"/>
                  <a:ea typeface="+mn-ea"/>
                </a:endParaRPr>
              </a:p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rPr>
                  <a:t>Model: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𝒚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en-US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  </a:t>
                </a:r>
                <a:r>
                  <a:rPr lang="en-US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Intercept varies</a:t>
                </a:r>
              </a:p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200" dirty="0">
                  <a:latin typeface="Helvetica Neue" charset="0"/>
                  <a:ea typeface="Helvetica Neue" charset="0"/>
                  <a:cs typeface="Helvetica Neue" charset="0"/>
                </a:endParaRPr>
              </a:p>
              <a:p>
                <a:pPr marL="398463" lvl="1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rPr>
                  <a:t>If </a:t>
                </a:r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d</a:t>
                </a:r>
                <a:r>
                  <a:rPr lang="en-US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=0,</a:t>
                </a:r>
                <a:r>
                  <a:rPr lang="en-US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d</a:t>
                </a:r>
                <a:r>
                  <a:rPr lang="en-US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=0: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b="1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dirty="0">
                    <a:ea typeface="ＭＳ Ｐゴシック" charset="0"/>
                  </a:rPr>
                  <a:t> </a:t>
                </a:r>
                <a:r>
                  <a:rPr lang="en-US" b="1" baseline="-25000" dirty="0">
                    <a:ea typeface="+mn-ea"/>
                  </a:rPr>
                  <a:t>                    </a:t>
                </a:r>
              </a:p>
              <a:p>
                <a:pPr marL="398463" lvl="1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rPr>
                  <a:t>If </a:t>
                </a:r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d</a:t>
                </a:r>
                <a:r>
                  <a:rPr lang="en-US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=1,</a:t>
                </a:r>
                <a:r>
                  <a:rPr lang="en-US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d</a:t>
                </a:r>
                <a:r>
                  <a:rPr lang="en-US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=0: </a:t>
                </a:r>
                <a:r>
                  <a:rPr lang="en-US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dirty="0">
                    <a:ea typeface="ＭＳ Ｐゴシック" charset="0"/>
                  </a:rPr>
                  <a:t> </a:t>
                </a:r>
                <a:r>
                  <a:rPr lang="en-US" b="1" baseline="-25000" dirty="0">
                    <a:ea typeface="+mn-ea"/>
                  </a:rPr>
                  <a:t>          </a:t>
                </a:r>
                <a:r>
                  <a:rPr lang="en-US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Parallel regression lines</a:t>
                </a:r>
                <a:endParaRPr lang="en-US" b="1" baseline="-25000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pPr marL="398463" lvl="1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rPr>
                  <a:t>If </a:t>
                </a:r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d</a:t>
                </a:r>
                <a:r>
                  <a:rPr lang="en-US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=0,</a:t>
                </a:r>
                <a:r>
                  <a:rPr lang="en-US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d</a:t>
                </a:r>
                <a:r>
                  <a:rPr lang="en-US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=1: </a:t>
                </a:r>
                <a:r>
                  <a:rPr lang="en-US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dirty="0">
                    <a:ea typeface="ＭＳ Ｐゴシック" charset="0"/>
                  </a:rPr>
                  <a:t> </a:t>
                </a:r>
              </a:p>
              <a:p>
                <a:pPr marL="228600" lvl="1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b="1" baseline="-25000" dirty="0">
                  <a:ea typeface="+mn-ea"/>
                </a:endParaRPr>
              </a:p>
              <a:p>
                <a:pPr marL="228600" lvl="1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b="1" baseline="-25000" dirty="0">
                  <a:ea typeface="+mn-ea"/>
                </a:endParaRPr>
              </a:p>
              <a:p>
                <a:pPr marL="228600" lvl="1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b="1" baseline="-25000" dirty="0">
                  <a:ea typeface="+mn-ea"/>
                </a:endParaRPr>
              </a:p>
              <a:p>
                <a:pPr marL="228600" lvl="1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b="1" baseline="-25000" dirty="0">
                  <a:ea typeface="+mn-ea"/>
                </a:endParaRPr>
              </a:p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If </a:t>
                </a:r>
                <a:r>
                  <a:rPr lang="en-US" b="1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x</a:t>
                </a:r>
                <a:r>
                  <a:rPr lang="en-US" b="1" baseline="-250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1</a:t>
                </a: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:r>
                  <a:rPr lang="en-US" b="1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x</a:t>
                </a:r>
                <a:r>
                  <a:rPr lang="en-US" b="1" baseline="-250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2 </a:t>
                </a:r>
                <a:r>
                  <a:rPr lang="en-US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interaction: Nonparallel regression lines</a:t>
                </a:r>
                <a:endParaRPr lang="en-US" b="1" baseline="-25000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</p:txBody>
          </p:sp>
        </mc:Choice>
        <mc:Fallback>
          <p:sp>
            <p:nvSpPr>
              <p:cNvPr id="8195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5952" y="1009922"/>
                <a:ext cx="8755558" cy="3508653"/>
              </a:xfrm>
              <a:prstGeom prst="rect">
                <a:avLst/>
              </a:prstGeom>
              <a:blipFill rotWithShape="0">
                <a:blip r:embed="rId3"/>
                <a:stretch>
                  <a:fillRect l="-627" t="-1043" b="-191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ight Arrow 1"/>
          <p:cNvSpPr/>
          <p:nvPr/>
        </p:nvSpPr>
        <p:spPr>
          <a:xfrm>
            <a:off x="4572000" y="2211375"/>
            <a:ext cx="304800" cy="152400"/>
          </a:xfrm>
          <a:prstGeom prst="rightArrow">
            <a:avLst/>
          </a:prstGeom>
          <a:solidFill>
            <a:schemeClr val="tx2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3" name="Right Brace 2"/>
          <p:cNvSpPr/>
          <p:nvPr/>
        </p:nvSpPr>
        <p:spPr>
          <a:xfrm>
            <a:off x="3676650" y="2647950"/>
            <a:ext cx="285750" cy="808435"/>
          </a:xfrm>
          <a:prstGeom prst="rightBrac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400" y="2516247"/>
            <a:ext cx="1401031" cy="96990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0400" y="3562350"/>
            <a:ext cx="1401031" cy="939201"/>
          </a:xfrm>
          <a:prstGeom prst="rect">
            <a:avLst/>
          </a:prstGeom>
        </p:spPr>
      </p:pic>
      <p:sp>
        <p:nvSpPr>
          <p:cNvPr id="10" name="Title 5">
            <a:extLst>
              <a:ext uri="{FF2B5EF4-FFF2-40B4-BE49-F238E27FC236}">
                <a16:creationId xmlns:a16="http://schemas.microsoft.com/office/drawing/2014/main" xmlns="" id="{B87345FC-18B8-429F-84F4-2545543F4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408" y="175175"/>
            <a:ext cx="8562392" cy="720175"/>
          </a:xfrm>
        </p:spPr>
        <p:txBody>
          <a:bodyPr/>
          <a:lstStyle/>
          <a:p>
            <a:r>
              <a:rPr lang="en-US" altLang="en-US" sz="3600" dirty="0">
                <a:latin typeface="Vitesse"/>
                <a:ea typeface="Vitesse" charset="0"/>
                <a:cs typeface="Vitesse" charset="0"/>
              </a:rPr>
              <a:t>Quantitative and Qualitative Variables</a:t>
            </a:r>
            <a:endParaRPr lang="en-US" sz="3600" b="1" dirty="0">
              <a:latin typeface="Vitesse"/>
              <a:ea typeface="Vitesse" charset="0"/>
              <a:cs typeface="Vitess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5145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08" y="177801"/>
            <a:ext cx="8562392" cy="717550"/>
          </a:xfrm>
        </p:spPr>
        <p:txBody>
          <a:bodyPr/>
          <a:lstStyle/>
          <a:p>
            <a:r>
              <a:rPr lang="en-US" altLang="zh-CN" sz="3600" dirty="0">
                <a:latin typeface="Vitesse"/>
              </a:rPr>
              <a:t>Linear Regression: Example 1</a:t>
            </a:r>
            <a:endParaRPr lang="en-US" sz="3600" dirty="0">
              <a:latin typeface="Vitesse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630045" y="1276350"/>
            <a:ext cx="7218555" cy="2829838"/>
            <a:chOff x="630045" y="1352550"/>
            <a:chExt cx="7218555" cy="2829838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12315" y="1352550"/>
              <a:ext cx="4236285" cy="2829838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8382" y="1711969"/>
              <a:ext cx="2239577" cy="1523066"/>
            </a:xfrm>
            <a:prstGeom prst="rect">
              <a:avLst/>
            </a:prstGeom>
          </p:spPr>
        </p:pic>
        <p:grpSp>
          <p:nvGrpSpPr>
            <p:cNvPr id="6" name="Group 5"/>
            <p:cNvGrpSpPr/>
            <p:nvPr/>
          </p:nvGrpSpPr>
          <p:grpSpPr>
            <a:xfrm>
              <a:off x="4069513" y="1733552"/>
              <a:ext cx="3118306" cy="2001306"/>
              <a:chOff x="2476500" y="1962150"/>
              <a:chExt cx="1378732" cy="1283127"/>
            </a:xfrm>
          </p:grpSpPr>
          <p:sp>
            <p:nvSpPr>
              <p:cNvPr id="5" name="TextBox 4"/>
              <p:cNvSpPr txBox="1"/>
              <p:nvPr/>
            </p:nvSpPr>
            <p:spPr>
              <a:xfrm rot="20626720">
                <a:off x="2476500" y="1962150"/>
                <a:ext cx="723900" cy="381000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normAutofit/>
              </a:bodyPr>
              <a:lstStyle/>
              <a:p>
                <a:pPr algn="l">
                  <a:lnSpc>
                    <a:spcPts val="1200"/>
                  </a:lnSpc>
                </a:pPr>
                <a:r>
                  <a:rPr lang="en-US" sz="4000" b="1" dirty="0">
                    <a:solidFill>
                      <a:srgbClr val="EEB211"/>
                    </a:solidFill>
                    <a:latin typeface="Helvetica"/>
                    <a:cs typeface="Helvetica"/>
                  </a:rPr>
                  <a:t>?</a:t>
                </a: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 rot="374389">
                <a:off x="2724639" y="2246067"/>
                <a:ext cx="723900" cy="381000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normAutofit/>
              </a:bodyPr>
              <a:lstStyle/>
              <a:p>
                <a:pPr algn="l">
                  <a:lnSpc>
                    <a:spcPts val="1200"/>
                  </a:lnSpc>
                </a:pPr>
                <a:r>
                  <a:rPr lang="en-US" sz="6000" b="1" dirty="0">
                    <a:solidFill>
                      <a:srgbClr val="EEB211"/>
                    </a:solidFill>
                    <a:latin typeface="Helvetica"/>
                    <a:cs typeface="Helvetica"/>
                  </a:rPr>
                  <a:t>?</a:t>
                </a:r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 rot="1445310">
                <a:off x="2982961" y="2631107"/>
                <a:ext cx="872271" cy="614170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normAutofit/>
              </a:bodyPr>
              <a:lstStyle/>
              <a:p>
                <a:pPr algn="l">
                  <a:lnSpc>
                    <a:spcPts val="1200"/>
                  </a:lnSpc>
                </a:pPr>
                <a:r>
                  <a:rPr lang="en-US" sz="8000" b="1" dirty="0">
                    <a:solidFill>
                      <a:srgbClr val="EEB211"/>
                    </a:solidFill>
                    <a:latin typeface="Helvetica"/>
                    <a:cs typeface="Helvetica"/>
                  </a:rPr>
                  <a:t>?</a:t>
                </a:r>
              </a:p>
            </p:txBody>
          </p:sp>
        </p:grpSp>
        <p:sp>
          <p:nvSpPr>
            <p:cNvPr id="10" name="Rectangle 9"/>
            <p:cNvSpPr/>
            <p:nvPr/>
          </p:nvSpPr>
          <p:spPr>
            <a:xfrm rot="16200000">
              <a:off x="372282" y="2350391"/>
              <a:ext cx="761747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ts val="1200"/>
                </a:lnSpc>
              </a:pPr>
              <a:r>
                <a:rPr lang="en-US" dirty="0">
                  <a:latin typeface="Helvetica" panose="020B0604020202020204" pitchFamily="34" charset="0"/>
                  <a:cs typeface="Helvetica" panose="020B0604020202020204" pitchFamily="34" charset="0"/>
                </a:rPr>
                <a:t>Sales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188455" y="3235035"/>
              <a:ext cx="165942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latin typeface="Helvetica" panose="020B0604020202020204" pitchFamily="34" charset="0"/>
                  <a:cs typeface="Helvetica" panose="020B0604020202020204" pitchFamily="34" charset="0"/>
                </a:rPr>
                <a:t>Advertisement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00995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TextBox 2"/>
          <p:cNvSpPr txBox="1">
            <a:spLocks noChangeArrowheads="1"/>
          </p:cNvSpPr>
          <p:nvPr/>
        </p:nvSpPr>
        <p:spPr bwMode="auto">
          <a:xfrm>
            <a:off x="131775" y="1013375"/>
            <a:ext cx="8305800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Quantitative Predicting Variables:</a:t>
            </a:r>
          </a:p>
          <a:p>
            <a:pPr marL="687388" lvl="1" eaLnBrk="1" hangingPunct="1"/>
            <a:r>
              <a:rPr lang="en-US" altLang="en-US" b="1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</a:t>
            </a:r>
            <a:r>
              <a:rPr lang="en-US" altLang="en-US" baseline="-250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1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The amount (in hundreds of dollars) spent on advertising in 1999</a:t>
            </a:r>
          </a:p>
          <a:p>
            <a:pPr marL="687388" lvl="1" eaLnBrk="1" hangingPunct="1"/>
            <a:r>
              <a:rPr lang="en-US" altLang="en-US" b="1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</a:t>
            </a:r>
            <a:r>
              <a:rPr lang="en-US" altLang="en-US" baseline="-250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2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The total amount of bonuses paid in 1999</a:t>
            </a:r>
          </a:p>
          <a:p>
            <a:pPr marL="687388" lvl="1" eaLnBrk="1" hangingPunct="1"/>
            <a:r>
              <a:rPr lang="en-US" altLang="en-US" b="1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</a:t>
            </a:r>
            <a:r>
              <a:rPr lang="en-US" altLang="en-US" baseline="-250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3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The market share in each territory</a:t>
            </a:r>
          </a:p>
          <a:p>
            <a:pPr marL="687388" lvl="1" eaLnBrk="1" hangingPunct="1"/>
            <a:r>
              <a:rPr lang="en-US" altLang="en-US" b="1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</a:t>
            </a:r>
            <a:r>
              <a:rPr lang="en-US" altLang="en-US" baseline="-250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4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The largest competitor's sales</a:t>
            </a:r>
          </a:p>
          <a:p>
            <a:pPr eaLnBrk="1" hangingPunct="1"/>
            <a:endParaRPr lang="en-US" altLang="en-US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eaLnBrk="1" hangingPunct="1"/>
            <a:r>
              <a:rPr lang="en-US" altLang="en-US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Qualitative Predicting Variable:</a:t>
            </a:r>
            <a:endParaRPr lang="en-US" altLang="en-US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marL="687388" lvl="1" eaLnBrk="1" hangingPunct="1"/>
            <a:r>
              <a:rPr lang="en-US" altLang="en-US" b="1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</a:t>
            </a:r>
            <a:r>
              <a:rPr lang="en-US" altLang="en-US" baseline="-250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5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Indicates the region of the office (1 = south, 2 = west, 3 = </a:t>
            </a:r>
            <a:r>
              <a:rPr lang="en-US" altLang="en-US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midwest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0658" y="174600"/>
            <a:ext cx="8562392" cy="696872"/>
          </a:xfrm>
        </p:spPr>
        <p:txBody>
          <a:bodyPr/>
          <a:lstStyle/>
          <a:p>
            <a:r>
              <a:rPr lang="en-US" altLang="zh-CN" sz="3600" dirty="0">
                <a:latin typeface="Vitesse"/>
              </a:rPr>
              <a:t>Linear Regression: Example 1</a:t>
            </a:r>
            <a:endParaRPr lang="en-US" sz="3600" dirty="0">
              <a:latin typeface="Vitess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10658" y="174600"/>
            <a:ext cx="8562392" cy="620672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zh-CN" sz="3600" dirty="0">
                <a:latin typeface="Vitesse"/>
              </a:rPr>
              <a:t>Linear Regression: Example 3</a:t>
            </a:r>
            <a:endParaRPr lang="en-US" sz="3600" dirty="0">
              <a:latin typeface="Vitesse"/>
            </a:endParaRPr>
          </a:p>
        </p:txBody>
      </p:sp>
      <p:pic>
        <p:nvPicPr>
          <p:cNvPr id="3" name="Picture 2" descr="A picture containing bicycle, outdoor, parked, rack&#10;&#10;Description automatically generated">
            <a:extLst>
              <a:ext uri="{FF2B5EF4-FFF2-40B4-BE49-F238E27FC236}">
                <a16:creationId xmlns:a16="http://schemas.microsoft.com/office/drawing/2014/main" xmlns="" id="{C0B17DC7-4FA6-4008-8596-E06AC2502ED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48" y="1286949"/>
            <a:ext cx="3984602" cy="26564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A592315F-BECE-4D34-86FD-7B1A1B08B0CE}"/>
              </a:ext>
            </a:extLst>
          </p:cNvPr>
          <p:cNvSpPr/>
          <p:nvPr/>
        </p:nvSpPr>
        <p:spPr>
          <a:xfrm>
            <a:off x="5382700" y="1186400"/>
            <a:ext cx="34290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Bike sharing systems are of great interest due to their important role in traffic management.</a:t>
            </a:r>
          </a:p>
          <a:p>
            <a:endParaRPr lang="en-U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Dataset: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Historical data for years 2011-2012 for the bike sharing system in Washington D.C.</a:t>
            </a:r>
            <a:endParaRPr lang="en-U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Rectangle 2"/>
          <p:cNvSpPr>
            <a:spLocks noChangeArrowheads="1"/>
          </p:cNvSpPr>
          <p:nvPr/>
        </p:nvSpPr>
        <p:spPr bwMode="auto">
          <a:xfrm>
            <a:off x="131775" y="1012031"/>
            <a:ext cx="4973625" cy="3693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Qualitative predicting variables:</a:t>
            </a:r>
          </a:p>
          <a:p>
            <a:pPr marL="914400" indent="-493713" eaLnBrk="1" hangingPunct="1">
              <a:spcBef>
                <a:spcPts val="0"/>
              </a:spcBef>
            </a:pPr>
            <a:r>
              <a:rPr lang="en-US" altLang="en-US" b="1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</a:t>
            </a:r>
            <a:r>
              <a:rPr lang="en-US" altLang="en-US" baseline="-250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1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Day of the week</a:t>
            </a:r>
          </a:p>
          <a:p>
            <a:pPr marL="914400" indent="-493713" eaLnBrk="1" hangingPunct="1">
              <a:spcBef>
                <a:spcPts val="0"/>
              </a:spcBef>
            </a:pPr>
            <a:r>
              <a:rPr lang="en-US" altLang="en-US" b="1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</a:t>
            </a:r>
            <a:r>
              <a:rPr lang="en-US" altLang="en-US" baseline="-250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2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Month of the year</a:t>
            </a:r>
          </a:p>
          <a:p>
            <a:pPr marL="914400" indent="-493713" eaLnBrk="1" hangingPunct="1">
              <a:spcBef>
                <a:spcPts val="0"/>
              </a:spcBef>
            </a:pPr>
            <a:r>
              <a:rPr lang="en-US" altLang="en-US" b="1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</a:t>
            </a:r>
            <a:r>
              <a:rPr lang="en-US" altLang="en-US" baseline="-250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3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Hour of the day (ranging 0-23)</a:t>
            </a:r>
          </a:p>
          <a:p>
            <a:pPr marL="914400" indent="-493713" eaLnBrk="1" hangingPunct="1">
              <a:spcBef>
                <a:spcPts val="0"/>
              </a:spcBef>
            </a:pPr>
            <a:r>
              <a:rPr lang="en-US" altLang="en-US" b="1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</a:t>
            </a:r>
            <a:r>
              <a:rPr lang="en-US" altLang="en-US" baseline="-250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4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Year (2011, 2012)</a:t>
            </a:r>
          </a:p>
          <a:p>
            <a:pPr marL="914400" indent="-493713" eaLnBrk="1" hangingPunct="1">
              <a:spcBef>
                <a:spcPts val="0"/>
              </a:spcBef>
            </a:pPr>
            <a:r>
              <a:rPr lang="en-US" altLang="en-US" b="1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</a:t>
            </a:r>
            <a:r>
              <a:rPr lang="en-US" altLang="en-US" baseline="-250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5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Holiday Indicator</a:t>
            </a:r>
          </a:p>
          <a:p>
            <a:pPr marL="914400" indent="-493713" eaLnBrk="1" hangingPunct="1">
              <a:spcBef>
                <a:spcPts val="0"/>
              </a:spcBef>
            </a:pPr>
            <a:r>
              <a:rPr lang="en-US" altLang="en-US" b="1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</a:t>
            </a:r>
            <a:r>
              <a:rPr lang="en-US" altLang="en-US" baseline="-250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6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Weather condition (with four levels from good weather for level 1 to severe condition for level 4) </a:t>
            </a:r>
            <a:endParaRPr lang="en-US" altLang="en-US" b="1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r>
              <a:rPr lang="en-US" altLang="en-US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Quantitative predicting variables:</a:t>
            </a:r>
          </a:p>
          <a:p>
            <a:pPr marL="914400" indent="-493713" eaLnBrk="1" hangingPunct="1">
              <a:spcBef>
                <a:spcPts val="0"/>
              </a:spcBef>
            </a:pPr>
            <a:r>
              <a:rPr lang="en-US" altLang="en-US" b="1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</a:t>
            </a:r>
            <a:r>
              <a:rPr lang="en-US" altLang="en-US" baseline="-250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7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Normalized temperature</a:t>
            </a:r>
          </a:p>
          <a:p>
            <a:pPr marL="914400" indent="-493713" eaLnBrk="1" hangingPunct="1">
              <a:spcBef>
                <a:spcPts val="0"/>
              </a:spcBef>
            </a:pPr>
            <a:r>
              <a:rPr lang="en-US" altLang="en-US" b="1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</a:t>
            </a:r>
            <a:r>
              <a:rPr lang="en-US" altLang="en-US" baseline="-250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8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Normalized humidity</a:t>
            </a:r>
          </a:p>
          <a:p>
            <a:pPr marL="914400" indent="-493713" eaLnBrk="1" hangingPunct="1">
              <a:spcBef>
                <a:spcPts val="0"/>
              </a:spcBef>
            </a:pPr>
            <a:r>
              <a:rPr lang="en-US" altLang="en-US" b="1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</a:t>
            </a:r>
            <a:r>
              <a:rPr lang="en-US" altLang="en-US" baseline="-250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9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Wind speed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10658" y="174600"/>
            <a:ext cx="8562392" cy="620672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zh-CN" sz="3600" dirty="0">
                <a:latin typeface="Vitesse"/>
              </a:rPr>
              <a:t>Linear Regression: Example 3</a:t>
            </a:r>
            <a:endParaRPr lang="en-US" sz="3600" dirty="0">
              <a:latin typeface="Vitess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68B1E57-9F41-478C-8434-9D77D326A4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1" y="1272569"/>
            <a:ext cx="3352800" cy="267765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square" tIns="91440" bIns="91440"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ja-JP" b="1" dirty="0">
                <a:solidFill>
                  <a:srgbClr val="EEB211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Year: </a:t>
            </a:r>
            <a:r>
              <a:rPr lang="en-US" altLang="ja-JP" b="1" dirty="0">
                <a:solidFill>
                  <a:srgbClr val="000000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 </a:t>
            </a:r>
            <a:r>
              <a:rPr lang="en-US" altLang="ja-JP" b="1" i="1" dirty="0">
                <a:solidFill>
                  <a:srgbClr val="000000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quantitative</a:t>
            </a:r>
            <a:r>
              <a:rPr lang="en-US" altLang="ja-JP" b="1" dirty="0">
                <a:solidFill>
                  <a:srgbClr val="000000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or a </a:t>
            </a:r>
            <a:r>
              <a:rPr lang="en-US" altLang="ja-JP" b="1" i="1" dirty="0">
                <a:solidFill>
                  <a:srgbClr val="000000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qualitative</a:t>
            </a:r>
            <a:r>
              <a:rPr lang="en-US" altLang="ja-JP" b="1" dirty="0">
                <a:solidFill>
                  <a:srgbClr val="000000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predicting variable?</a:t>
            </a:r>
          </a:p>
          <a:p>
            <a:pPr marL="288925"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If observations are made over many years, then consider it to be </a:t>
            </a:r>
            <a:r>
              <a:rPr lang="en-US" altLang="en-US" i="1" dirty="0">
                <a:solidFill>
                  <a:srgbClr val="000000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quantitative</a:t>
            </a:r>
            <a:endParaRPr lang="en-US" altLang="en-US" dirty="0">
              <a:solidFill>
                <a:srgbClr val="000000"/>
              </a:solidFill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marL="288925"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If observations are made over only a few years, then consider it to be </a:t>
            </a:r>
            <a:r>
              <a:rPr lang="en-US" altLang="en-US" i="1" dirty="0">
                <a:solidFill>
                  <a:srgbClr val="000000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qualitative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10658" y="174600"/>
            <a:ext cx="8562392" cy="620672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zh-CN" sz="3600" dirty="0">
                <a:latin typeface="Vitesse"/>
              </a:rPr>
              <a:t>Linear Regression: Example 3</a:t>
            </a:r>
            <a:endParaRPr lang="en-US" sz="3600" dirty="0">
              <a:latin typeface="Vitesse"/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131775" y="1012031"/>
            <a:ext cx="4973625" cy="3693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Qualitative predicting variables:</a:t>
            </a:r>
          </a:p>
          <a:p>
            <a:pPr marL="914400" indent="-493713" eaLnBrk="1" hangingPunct="1">
              <a:spcBef>
                <a:spcPts val="0"/>
              </a:spcBef>
            </a:pPr>
            <a:r>
              <a:rPr lang="en-US" altLang="en-US" b="1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</a:t>
            </a:r>
            <a:r>
              <a:rPr lang="en-US" altLang="en-US" baseline="-250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1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Day of the week</a:t>
            </a:r>
          </a:p>
          <a:p>
            <a:pPr marL="914400" indent="-493713" eaLnBrk="1" hangingPunct="1">
              <a:spcBef>
                <a:spcPts val="0"/>
              </a:spcBef>
            </a:pPr>
            <a:r>
              <a:rPr lang="en-US" altLang="en-US" b="1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</a:t>
            </a:r>
            <a:r>
              <a:rPr lang="en-US" altLang="en-US" baseline="-250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2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Month of the year</a:t>
            </a:r>
          </a:p>
          <a:p>
            <a:pPr marL="914400" indent="-493713" eaLnBrk="1" hangingPunct="1">
              <a:spcBef>
                <a:spcPts val="0"/>
              </a:spcBef>
            </a:pPr>
            <a:r>
              <a:rPr lang="en-US" altLang="en-US" b="1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</a:t>
            </a:r>
            <a:r>
              <a:rPr lang="en-US" altLang="en-US" baseline="-250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3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Hour of the day (ranging 0-23)</a:t>
            </a:r>
          </a:p>
          <a:p>
            <a:pPr marL="914400" indent="-493713" eaLnBrk="1" hangingPunct="1">
              <a:spcBef>
                <a:spcPts val="0"/>
              </a:spcBef>
            </a:pPr>
            <a:r>
              <a:rPr lang="en-US" altLang="en-US" b="1" i="1" dirty="0">
                <a:solidFill>
                  <a:srgbClr val="EEB211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</a:t>
            </a:r>
            <a:r>
              <a:rPr lang="en-US" altLang="en-US" b="1" baseline="-25000" dirty="0">
                <a:solidFill>
                  <a:srgbClr val="EEB211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4</a:t>
            </a:r>
            <a:r>
              <a:rPr lang="en-US" altLang="en-US" b="1" dirty="0">
                <a:solidFill>
                  <a:srgbClr val="EEB211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Year (2011, 2012)</a:t>
            </a:r>
          </a:p>
          <a:p>
            <a:pPr marL="914400" indent="-493713" eaLnBrk="1" hangingPunct="1">
              <a:spcBef>
                <a:spcPts val="0"/>
              </a:spcBef>
            </a:pPr>
            <a:r>
              <a:rPr lang="en-US" altLang="en-US" b="1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</a:t>
            </a:r>
            <a:r>
              <a:rPr lang="en-US" altLang="en-US" baseline="-250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5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Holiday Indicator</a:t>
            </a:r>
          </a:p>
          <a:p>
            <a:pPr marL="914400" indent="-493713" eaLnBrk="1" hangingPunct="1">
              <a:spcBef>
                <a:spcPts val="0"/>
              </a:spcBef>
            </a:pPr>
            <a:r>
              <a:rPr lang="en-US" altLang="en-US" b="1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</a:t>
            </a:r>
            <a:r>
              <a:rPr lang="en-US" altLang="en-US" baseline="-250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6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Weather condition (with four levels from good weather for level 1 to severe condition for level 4) </a:t>
            </a:r>
            <a:endParaRPr lang="en-US" altLang="en-US" b="1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r>
              <a:rPr lang="en-US" altLang="en-US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Quantitative predicting variables:</a:t>
            </a:r>
          </a:p>
          <a:p>
            <a:pPr marL="914400" indent="-493713" eaLnBrk="1" hangingPunct="1">
              <a:spcBef>
                <a:spcPts val="0"/>
              </a:spcBef>
            </a:pPr>
            <a:r>
              <a:rPr lang="en-US" altLang="en-US" b="1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</a:t>
            </a:r>
            <a:r>
              <a:rPr lang="en-US" altLang="en-US" baseline="-250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7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Normalized temperature</a:t>
            </a:r>
          </a:p>
          <a:p>
            <a:pPr marL="914400" indent="-493713" eaLnBrk="1" hangingPunct="1">
              <a:spcBef>
                <a:spcPts val="0"/>
              </a:spcBef>
            </a:pPr>
            <a:r>
              <a:rPr lang="en-US" altLang="en-US" b="1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</a:t>
            </a:r>
            <a:r>
              <a:rPr lang="en-US" altLang="en-US" baseline="-250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8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Normalized humidity</a:t>
            </a:r>
          </a:p>
          <a:p>
            <a:pPr marL="914400" indent="-493713" eaLnBrk="1" hangingPunct="1">
              <a:spcBef>
                <a:spcPts val="0"/>
              </a:spcBef>
            </a:pPr>
            <a:r>
              <a:rPr lang="en-US" altLang="en-US" b="1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</a:t>
            </a:r>
            <a:r>
              <a:rPr lang="en-US" altLang="en-US" baseline="-250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9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Wind speed</a:t>
            </a:r>
          </a:p>
        </p:txBody>
      </p:sp>
    </p:spTree>
    <p:extLst>
      <p:ext uri="{BB962C8B-B14F-4D97-AF65-F5344CB8AC3E}">
        <p14:creationId xmlns:p14="http://schemas.microsoft.com/office/powerpoint/2010/main" val="7154489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14300" y="177801"/>
            <a:ext cx="8562392" cy="64135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itesse"/>
                <a:ea typeface="+mj-ea"/>
              </a:rPr>
              <a:t>Summary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9" t="6607" r="13881" b="7744"/>
          <a:stretch/>
        </p:blipFill>
        <p:spPr>
          <a:xfrm>
            <a:off x="1161904" y="1262600"/>
            <a:ext cx="2201521" cy="2406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64851"/>
      </p:ext>
    </p:extLst>
  </p:cSld>
  <p:clrMapOvr>
    <a:masterClrMapping/>
  </p:clrMapOvr>
</p:sld>
</file>

<file path=ppt/theme/theme1.xml><?xml version="1.0" encoding="utf-8"?>
<a:theme xmlns:a="http://schemas.openxmlformats.org/drawingml/2006/main" name="1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2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58321</TotalTime>
  <Words>521</Words>
  <Application>Microsoft Office PowerPoint</Application>
  <PresentationFormat>On-screen Show (16:9)</PresentationFormat>
  <Paragraphs>137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14</vt:i4>
      </vt:variant>
    </vt:vector>
  </HeadingPairs>
  <TitlesOfParts>
    <vt:vector size="30" baseType="lpstr">
      <vt:lpstr>ＭＳ Ｐゴシック</vt:lpstr>
      <vt:lpstr>ＭＳ Ｐゴシック</vt:lpstr>
      <vt:lpstr>宋体</vt:lpstr>
      <vt:lpstr>Arial</vt:lpstr>
      <vt:lpstr>Calibri</vt:lpstr>
      <vt:lpstr>Cambria Math</vt:lpstr>
      <vt:lpstr>Helvetica</vt:lpstr>
      <vt:lpstr>Helvetica Neue</vt:lpstr>
      <vt:lpstr>Symbol</vt:lpstr>
      <vt:lpstr>Vitesse</vt:lpstr>
      <vt:lpstr>Vitesse Bold</vt:lpstr>
      <vt:lpstr>Vitesse Book</vt:lpstr>
      <vt:lpstr>Vitesse Medium</vt:lpstr>
      <vt:lpstr>1_Half Page Slash</vt:lpstr>
      <vt:lpstr>2_Half Page Slash</vt:lpstr>
      <vt:lpstr>Full Page Layout</vt:lpstr>
      <vt:lpstr>PowerPoint Presentation</vt:lpstr>
      <vt:lpstr>PowerPoint Presentation</vt:lpstr>
      <vt:lpstr>Multiple Linear Regression: Model</vt:lpstr>
      <vt:lpstr>Multiple Linear Regression: Model</vt:lpstr>
      <vt:lpstr>PowerPoint Presentation</vt:lpstr>
      <vt:lpstr>Model Flexibility: Main Effects &amp; Interactions</vt:lpstr>
      <vt:lpstr>Quantitative and Qualitative Variables</vt:lpstr>
      <vt:lpstr>Quantitative and Qualitative Variables</vt:lpstr>
      <vt:lpstr>Linear Regression: Example 1</vt:lpstr>
      <vt:lpstr>Linear Regression: Example 1</vt:lpstr>
      <vt:lpstr>PowerPoint Presentation</vt:lpstr>
      <vt:lpstr>PowerPoint Presentation</vt:lpstr>
      <vt:lpstr>PowerPoint Presentation</vt:lpstr>
      <vt:lpstr>PowerPoint Presentation</vt:lpstr>
    </vt:vector>
  </TitlesOfParts>
  <Company>GA Tech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Serban, Nicoleta</dc:creator>
  <cp:lastModifiedBy>Aymee Garcia</cp:lastModifiedBy>
  <cp:revision>806</cp:revision>
  <dcterms:created xsi:type="dcterms:W3CDTF">2002-04-06T16:20:45Z</dcterms:created>
  <dcterms:modified xsi:type="dcterms:W3CDTF">2020-05-27T07:35:36Z</dcterms:modified>
</cp:coreProperties>
</file>