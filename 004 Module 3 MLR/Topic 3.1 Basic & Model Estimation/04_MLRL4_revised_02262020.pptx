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  <p:sldMasterId id="2147484024" r:id="rId2"/>
    <p:sldMasterId id="2147484025" r:id="rId3"/>
  </p:sldMasterIdLst>
  <p:notesMasterIdLst>
    <p:notesMasterId r:id="rId11"/>
  </p:notesMasterIdLst>
  <p:handoutMasterIdLst>
    <p:handoutMasterId r:id="rId12"/>
  </p:handoutMasterIdLst>
  <p:sldIdLst>
    <p:sldId id="524" r:id="rId4"/>
    <p:sldId id="526" r:id="rId5"/>
    <p:sldId id="452" r:id="rId6"/>
    <p:sldId id="412" r:id="rId7"/>
    <p:sldId id="411" r:id="rId8"/>
    <p:sldId id="448" r:id="rId9"/>
    <p:sldId id="528" r:id="rId10"/>
  </p:sldIdLst>
  <p:sldSz cx="9144000" cy="5143500" type="screen16x9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20" userDrawn="1">
          <p15:clr>
            <a:srgbClr val="A4A3A4"/>
          </p15:clr>
        </p15:guide>
        <p15:guide id="5" pos="384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orient="horz" pos="804" userDrawn="1">
          <p15:clr>
            <a:srgbClr val="A4A3A4"/>
          </p15:clr>
        </p15:guide>
        <p15:guide id="8" orient="horz" pos="10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0A3"/>
    <a:srgbClr val="EEB211"/>
    <a:srgbClr val="00254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89081"/>
  </p:normalViewPr>
  <p:slideViewPr>
    <p:cSldViewPr>
      <p:cViewPr varScale="1">
        <p:scale>
          <a:sx n="150" d="100"/>
          <a:sy n="150" d="100"/>
        </p:scale>
        <p:origin x="624" y="108"/>
      </p:cViewPr>
      <p:guideLst>
        <p:guide orient="horz" pos="1620"/>
        <p:guide pos="2880"/>
        <p:guide pos="144"/>
        <p:guide orient="horz" pos="420"/>
        <p:guide pos="384"/>
        <p:guide pos="3456"/>
        <p:guide orient="horz" pos="804"/>
        <p:guide orient="horz" pos="1092"/>
      </p:guideLst>
    </p:cSldViewPr>
  </p:slideViewPr>
  <p:outlineViewPr>
    <p:cViewPr>
      <p:scale>
        <a:sx n="33" d="100"/>
        <a:sy n="33" d="100"/>
      </p:scale>
      <p:origin x="0" y="-14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821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2/26/2020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0257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02741847-8E7A-43A0-A072-EB38FAD9AA7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0507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B9F34211-C613-4E53-8EB9-2D33A3A8FBC1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3376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76BF5725-159A-45F9-BD5D-32545722C86A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579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BC80DB9F-7DD8-45B6-8241-5EB517255C96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14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243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405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697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0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9342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2241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6183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1294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101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14413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00877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40445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9205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64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7835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651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88468" y="171644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108550" y="685716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9" name="Text Placeholder 5"/>
          <p:cNvSpPr>
            <a:spLocks noGrp="1"/>
          </p:cNvSpPr>
          <p:nvPr/>
        </p:nvSpPr>
        <p:spPr>
          <a:xfrm>
            <a:off x="117956" y="3988340"/>
            <a:ext cx="4305091" cy="100427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Model Interpretation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825725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18165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84918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46050" y="1466850"/>
                <a:ext cx="7527141" cy="3191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Least Squares estimated coefficients have specific interpretations:</a:t>
                </a:r>
                <a:r>
                  <a:rPr lang="en-US" altLang="en-US" b="1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/>
                </a:r>
                <a:br>
                  <a:rPr lang="en-US" altLang="en-US" b="1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</a:br>
                <a:endParaRPr 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914400" indent="-914400">
                  <a:buClr>
                    <a:srgbClr val="00254C"/>
                  </a:buClr>
                  <a:tabLst>
                    <a:tab pos="342900" algn="l"/>
                  </a:tabLst>
                  <a:defRPr/>
                </a:pPr>
                <a:r>
                  <a:rPr lang="en-US" b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	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estimated expected value of the response variable when all predicting variables equal zero.</a:t>
                </a:r>
              </a:p>
              <a:p>
                <a:pPr marL="214313" indent="-214313">
                  <a:buClr>
                    <a:srgbClr val="00254C"/>
                  </a:buClr>
                  <a:buFont typeface="Wingdings" charset="2"/>
                  <a:buChar char="ü"/>
                  <a:defRPr/>
                </a:pPr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914400" indent="-914400">
                  <a:buClr>
                    <a:srgbClr val="00254C"/>
                  </a:buClr>
                  <a:tabLst>
                    <a:tab pos="342900" algn="l"/>
                  </a:tabLst>
                  <a:defRPr/>
                </a:pPr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	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	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estimated expected change in the value of the response variable associated with one unit of change in the value of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Helvetica Neue" charset="0"/>
                        <a:cs typeface="Helvetica Neue" charset="0"/>
                      </a:rPr>
                      <m:t>𝑖</m:t>
                    </m:r>
                  </m:oMath>
                </a14:m>
                <a:r>
                  <a:rPr lang="en-US" i="1" baseline="30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th</a:t>
                </a:r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predicting variable </a:t>
                </a:r>
                <a:r>
                  <a:rPr 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(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i.e., associated with a one-unit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Helvetica Neue" charset="0"/>
                        <a:cs typeface="Helvetica Neue" charset="0"/>
                      </a:rPr>
                      <m:t>𝑖</m:t>
                    </m:r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any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1,…,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𝑝</m:t>
                    </m:r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),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holding all other predictors in the model fixed (i.e., holding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for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j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=1,…,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where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𝑖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).</a:t>
                </a:r>
              </a:p>
              <a:p>
                <a:pPr>
                  <a:buClr>
                    <a:srgbClr val="00254C"/>
                  </a:buClr>
                  <a:defRPr/>
                </a:pPr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0" y="1466850"/>
                <a:ext cx="7527141" cy="3191386"/>
              </a:xfrm>
              <a:prstGeom prst="rect">
                <a:avLst/>
              </a:prstGeom>
              <a:blipFill>
                <a:blip r:embed="rId3"/>
                <a:stretch>
                  <a:fillRect l="-729" t="-1147" r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174625"/>
            <a:ext cx="8562392" cy="644525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sz="3600" dirty="0">
                <a:latin typeface="Vitesse"/>
              </a:rPr>
              <a:t>Model Interpretation: Parameters</a:t>
            </a:r>
          </a:p>
        </p:txBody>
      </p:sp>
    </p:spTree>
    <p:extLst>
      <p:ext uri="{BB962C8B-B14F-4D97-AF65-F5344CB8AC3E}">
        <p14:creationId xmlns:p14="http://schemas.microsoft.com/office/powerpoint/2010/main" val="496148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Box 2"/>
          <p:cNvSpPr txBox="1">
            <a:spLocks noChangeArrowheads="1"/>
          </p:cNvSpPr>
          <p:nvPr/>
        </p:nvSpPr>
        <p:spPr bwMode="auto">
          <a:xfrm>
            <a:off x="152400" y="1466830"/>
            <a:ext cx="8534400" cy="295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8001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indent="0"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Marginal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versus </a:t>
            </a: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conditional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relationship:</a:t>
            </a:r>
          </a:p>
          <a:p>
            <a:pPr marL="0" indent="0">
              <a:defRPr/>
            </a:pPr>
            <a:endParaRPr lang="en-US" altLang="en-US" sz="8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1485900" indent="-1485900"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Marginal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	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Simple linear regression captures the association of a predicting variable to the response variable marginally,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i.e., without consideration of other factors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</a:p>
          <a:p>
            <a:pPr marL="0" indent="0">
              <a:defRPr/>
            </a:pPr>
            <a:endParaRPr lang="en-US" altLang="en-US" sz="8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1485900" indent="-1485900"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Conditional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	Multiple linear regression captures the association of a predicting variable to the response variable conditionally,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i.e., conditional of all other predicting variables in the model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</a:p>
          <a:p>
            <a:pPr marL="0" indent="0">
              <a:defRPr/>
            </a:pPr>
            <a:endParaRPr lang="en-US" altLang="en-US" sz="8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0" indent="0">
              <a:defRPr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estimated regression coefficients for conditional and marginal relationships can differ not only in magnitude but also in sign or direction of the </a:t>
            </a:r>
            <a:r>
              <a:rPr lang="en-US" altLang="en-US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relationship.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4300" y="174625"/>
            <a:ext cx="8801100" cy="644525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 sz="3600" dirty="0">
                <a:latin typeface="Vitesse"/>
              </a:rPr>
              <a:t>Model Interpretation: </a:t>
            </a:r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Simple vs. Multiple Regression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Vitesse"/>
              <a:ea typeface="Vitesse" charset="0"/>
              <a:cs typeface="Vitesse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>
                <a:spLocks noChangeArrowheads="1"/>
              </p:cNvSpPr>
              <p:nvPr/>
            </p:nvSpPr>
            <p:spPr bwMode="auto">
              <a:xfrm>
                <a:off x="152400" y="1473696"/>
                <a:ext cx="8529597" cy="3231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800100" indent="-3429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tabLst>
                    <a:tab pos="2571750" algn="r"/>
                  </a:tabLst>
                </a:pPr>
                <a:r>
                  <a:rPr lang="en-US" altLang="en-US" b="1" i="1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Causality</a:t>
                </a:r>
                <a:r>
                  <a:rPr lang="en-US" alt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Statements</a:t>
                </a:r>
                <a:r>
                  <a:rPr lang="en-US" alt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	Experimental Designs</a:t>
                </a:r>
              </a:p>
              <a:p>
                <a:r>
                  <a:rPr lang="en-US" altLang="en-US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Association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Statements: Observational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Studies</a:t>
                </a:r>
              </a:p>
              <a:p>
                <a:endParaRPr lang="en-US" altLang="ja-JP" sz="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r>
                  <a:rPr lang="en-US" altLang="en-US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Example: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We take a sample of college students and determine their college grade point average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(</a:t>
                </a:r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COLGPA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),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high school GPA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(</a:t>
                </a:r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HSGPA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),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and SAT score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(</a:t>
                </a:r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SAT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).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estimated model is: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𝐶𝑂𝐿𝐺𝑃𝐴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=1.3+0.7(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𝐻𝑆𝐺𝑃𝐴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)−0.0003(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𝑆𝐴𝑇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en-US" dirty="0">
                        <a:latin typeface="Helvetica Neue" charset="0"/>
                        <a:ea typeface="Helvetica Neue" charset="0"/>
                        <a:cs typeface="Helvetica Neue" charset="0"/>
                      </a:rPr>
                      <m:t>.</m:t>
                    </m:r>
                  </m:oMath>
                </a14:m>
                <a:endParaRPr lang="en-US" alt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Helvetica Neue" charset="0"/>
                </a:endParaRPr>
              </a:p>
              <a:p>
                <a:endParaRPr lang="en-US" altLang="en-US" sz="800" i="1" dirty="0">
                  <a:latin typeface="Cambria Math" panose="02040503050406030204" pitchFamily="18" charset="0"/>
                  <a:ea typeface="Cambria Math" panose="02040503050406030204" pitchFamily="18" charset="0"/>
                  <a:cs typeface="Helvetica Neue" charset="0"/>
                </a:endParaRPr>
              </a:p>
              <a:p>
                <a:pPr marL="628650" lvl="2" indent="-285750">
                  <a:buFont typeface="Arial" panose="020B0604020202020204" pitchFamily="34" charset="0"/>
                  <a:buChar char="•"/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Incorrect Interpretation: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Higher values of SAT are associated with lower values of College GPA</a:t>
                </a:r>
                <a:r>
                  <a:rPr lang="en-US" alt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.</a:t>
                </a:r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628650" lvl="2" indent="-285750">
                  <a:buFont typeface="Arial" panose="020B0604020202020204" pitchFamily="34" charset="0"/>
                  <a:buChar char="•"/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Correct Interpretation: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Higher values of SAT are associated with lower values of college GPA, </a:t>
                </a:r>
                <a:r>
                  <a:rPr lang="en-US" altLang="en-US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holding high school GPA fixed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.</a:t>
                </a:r>
              </a:p>
              <a:p>
                <a:pPr marL="0" lvl="1" indent="0"/>
                <a:endParaRPr lang="en-US" altLang="en-US" sz="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0" lvl="1" indent="0"/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coefficients of a multiple regression </a:t>
                </a:r>
                <a:r>
                  <a:rPr lang="en-US" altLang="en-US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must not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be interpreted marginally!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473696"/>
                <a:ext cx="8529597" cy="3231654"/>
              </a:xfrm>
              <a:prstGeom prst="rect">
                <a:avLst/>
              </a:prstGeom>
              <a:blipFill>
                <a:blip r:embed="rId3"/>
                <a:stretch>
                  <a:fillRect l="-572" t="-1132" r="-1215" b="-20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4300" y="174625"/>
            <a:ext cx="8801100" cy="644525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 sz="3600" dirty="0">
                <a:latin typeface="Vitesse"/>
              </a:rPr>
              <a:t>Model Interpretation: </a:t>
            </a:r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Causality vs. Association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Vitesse"/>
              <a:ea typeface="Vitesse" charset="0"/>
              <a:cs typeface="Vitesse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127000" y="1473180"/>
            <a:ext cx="84074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Predicting variables can be distinguished as</a:t>
            </a:r>
            <a:r>
              <a:rPr lang="en-US" alt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n-US" altLang="en-US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85800" indent="-285750">
              <a:buFont typeface="Arial" charset="0"/>
              <a:buChar char="•"/>
            </a:pPr>
            <a:r>
              <a:rPr lang="en-US" alt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Controlling</a:t>
            </a: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</a:t>
            </a:r>
            <a:r>
              <a:rPr lang="en-US" alt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to </a:t>
            </a: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control for bias selection in the sample. They are used as ‘default’ variables in order to capture more meaningful relationships</a:t>
            </a:r>
            <a:r>
              <a:rPr lang="en-US" alt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n-US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85800" indent="-285750">
              <a:buFont typeface="Arial" charset="0"/>
              <a:buChar char="•"/>
            </a:pPr>
            <a:r>
              <a:rPr lang="en-US" alt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Explanatory</a:t>
            </a:r>
            <a:r>
              <a:rPr lang="en-US" alt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to explain variability in the response variable. They may be included in the model even if other “similar” variables are in the model</a:t>
            </a:r>
            <a:r>
              <a:rPr lang="en-US" alt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n-US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85800" indent="-285750">
              <a:buFont typeface="Arial" charset="0"/>
              <a:buChar char="•"/>
            </a:pPr>
            <a:r>
              <a:rPr lang="en-US" alt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Predictive</a:t>
            </a: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to best predict variability in the response regardless of their explanatory power.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1708" y="184151"/>
            <a:ext cx="8562392" cy="635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Different Roles of Predicting Variables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18165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2954556028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57130</TotalTime>
  <Words>149</Words>
  <Application>Microsoft Office PowerPoint</Application>
  <PresentationFormat>On-screen Show (16:9)</PresentationFormat>
  <Paragraphs>41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22" baseType="lpstr">
      <vt:lpstr>ＭＳ Ｐゴシック</vt:lpstr>
      <vt:lpstr>ＭＳ Ｐゴシック</vt:lpstr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Book</vt:lpstr>
      <vt:lpstr>Vitesse Medium</vt:lpstr>
      <vt:lpstr>Wingdings</vt:lpstr>
      <vt:lpstr>1_Half Page Slash</vt:lpstr>
      <vt:lpstr>2_Half Page Slash</vt:lpstr>
      <vt:lpstr>1_Full Page Layout</vt:lpstr>
      <vt:lpstr>PowerPoint Presentation</vt:lpstr>
      <vt:lpstr>PowerPoint Presentation</vt:lpstr>
      <vt:lpstr>Model Interpretation: Parameters</vt:lpstr>
      <vt:lpstr>Model Interpretation: Simple vs. Multiple Regression</vt:lpstr>
      <vt:lpstr>Model Interpretation: Causality vs. Association</vt:lpstr>
      <vt:lpstr>PowerPoint Presentation</vt:lpstr>
      <vt:lpstr>PowerPoint Presentation</vt:lpstr>
    </vt:vector>
  </TitlesOfParts>
  <Company>GA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771</cp:revision>
  <dcterms:created xsi:type="dcterms:W3CDTF">2002-04-06T16:20:45Z</dcterms:created>
  <dcterms:modified xsi:type="dcterms:W3CDTF">2020-02-26T20:41:16Z</dcterms:modified>
</cp:coreProperties>
</file>