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  <p:sldMasterId id="2147484024" r:id="rId2"/>
    <p:sldMasterId id="2147484025" r:id="rId3"/>
  </p:sldMasterIdLst>
  <p:notesMasterIdLst>
    <p:notesMasterId r:id="rId13"/>
  </p:notesMasterIdLst>
  <p:handoutMasterIdLst>
    <p:handoutMasterId r:id="rId14"/>
  </p:handoutMasterIdLst>
  <p:sldIdLst>
    <p:sldId id="511" r:id="rId4"/>
    <p:sldId id="524" r:id="rId5"/>
    <p:sldId id="372" r:id="rId6"/>
    <p:sldId id="375" r:id="rId7"/>
    <p:sldId id="453" r:id="rId8"/>
    <p:sldId id="522" r:id="rId9"/>
    <p:sldId id="523" r:id="rId10"/>
    <p:sldId id="519" r:id="rId11"/>
    <p:sldId id="525" r:id="rId12"/>
  </p:sldIdLst>
  <p:sldSz cx="9144000" cy="5143500" type="screen16x9"/>
  <p:notesSz cx="7315200" cy="9601200"/>
  <p:custDataLst>
    <p:tags r:id="rId15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orient="horz" pos="804" userDrawn="1">
          <p15:clr>
            <a:srgbClr val="A4A3A4"/>
          </p15:clr>
        </p15:guide>
        <p15:guide id="7" orient="horz" pos="4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A00"/>
    <a:srgbClr val="B3A369"/>
    <a:srgbClr val="EEB211"/>
    <a:srgbClr val="F8E0A3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395568-E334-4337-8C7E-6689FE247700}" v="240" dt="2019-12-29T03:57:37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/>
    <p:restoredTop sz="89081"/>
  </p:normalViewPr>
  <p:slideViewPr>
    <p:cSldViewPr>
      <p:cViewPr varScale="1">
        <p:scale>
          <a:sx n="75" d="100"/>
          <a:sy n="75" d="100"/>
        </p:scale>
        <p:origin x="896" y="40"/>
      </p:cViewPr>
      <p:guideLst>
        <p:guide orient="horz" pos="1620"/>
        <p:guide pos="2880"/>
        <p:guide pos="144"/>
        <p:guide pos="384"/>
        <p:guide pos="3456"/>
        <p:guide orient="horz" pos="804"/>
        <p:guide orient="horz" pos="420"/>
      </p:guideLst>
    </p:cSldViewPr>
  </p:slideViewPr>
  <p:outlineViewPr>
    <p:cViewPr>
      <p:scale>
        <a:sx n="33" d="100"/>
        <a:sy n="33" d="100"/>
      </p:scale>
      <p:origin x="0" y="-14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84395568-E334-4337-8C7E-6689FE247700}"/>
    <pc:docChg chg="undo custSel addSld delSld modSld sldOrd">
      <pc:chgData name="Richard Levine" userId="be0075ead24e3c6f" providerId="LiveId" clId="{84395568-E334-4337-8C7E-6689FE247700}" dt="2019-12-29T03:57:37.601" v="320" actId="207"/>
      <pc:docMkLst>
        <pc:docMk/>
      </pc:docMkLst>
      <pc:sldChg chg="addSp delSp modSp modAnim">
        <pc:chgData name="Richard Levine" userId="be0075ead24e3c6f" providerId="LiveId" clId="{84395568-E334-4337-8C7E-6689FE247700}" dt="2019-12-29T03:56:19.036" v="316" actId="114"/>
        <pc:sldMkLst>
          <pc:docMk/>
          <pc:sldMk cId="3645506505" sldId="453"/>
        </pc:sldMkLst>
        <pc:spChg chg="add del mod">
          <ac:chgData name="Richard Levine" userId="be0075ead24e3c6f" providerId="LiveId" clId="{84395568-E334-4337-8C7E-6689FE247700}" dt="2019-12-29T03:40:17.602" v="274" actId="478"/>
          <ac:spMkLst>
            <pc:docMk/>
            <pc:sldMk cId="3645506505" sldId="453"/>
            <ac:spMk id="2" creationId="{70CE020D-EEA9-440B-998D-CE574EEFE6D1}"/>
          </ac:spMkLst>
        </pc:spChg>
        <pc:spChg chg="mod">
          <ac:chgData name="Richard Levine" userId="be0075ead24e3c6f" providerId="LiveId" clId="{84395568-E334-4337-8C7E-6689FE247700}" dt="2019-12-29T02:53:59.882" v="163" actId="14100"/>
          <ac:spMkLst>
            <pc:docMk/>
            <pc:sldMk cId="3645506505" sldId="453"/>
            <ac:spMk id="10" creationId="{00000000-0000-0000-0000-000000000000}"/>
          </ac:spMkLst>
        </pc:spChg>
        <pc:spChg chg="mod">
          <ac:chgData name="Richard Levine" userId="be0075ead24e3c6f" providerId="LiveId" clId="{84395568-E334-4337-8C7E-6689FE247700}" dt="2019-12-29T03:56:19.036" v="316" actId="114"/>
          <ac:spMkLst>
            <pc:docMk/>
            <pc:sldMk cId="3645506505" sldId="453"/>
            <ac:spMk id="47107" creationId="{00000000-0000-0000-0000-000000000000}"/>
          </ac:spMkLst>
        </pc:spChg>
      </pc:sldChg>
      <pc:sldChg chg="modSp">
        <pc:chgData name="Richard Levine" userId="be0075ead24e3c6f" providerId="LiveId" clId="{84395568-E334-4337-8C7E-6689FE247700}" dt="2019-12-29T02:39:15.089" v="3" actId="14100"/>
        <pc:sldMkLst>
          <pc:docMk/>
          <pc:sldMk cId="1102798489" sldId="511"/>
        </pc:sldMkLst>
        <pc:spChg chg="mod">
          <ac:chgData name="Richard Levine" userId="be0075ead24e3c6f" providerId="LiveId" clId="{84395568-E334-4337-8C7E-6689FE247700}" dt="2019-12-29T02:39:15.089" v="3" actId="14100"/>
          <ac:spMkLst>
            <pc:docMk/>
            <pc:sldMk cId="1102798489" sldId="511"/>
            <ac:spMk id="19" creationId="{00000000-0000-0000-0000-000000000000}"/>
          </ac:spMkLst>
        </pc:spChg>
      </pc:sldChg>
      <pc:sldChg chg="del">
        <pc:chgData name="Richard Levine" userId="be0075ead24e3c6f" providerId="LiveId" clId="{84395568-E334-4337-8C7E-6689FE247700}" dt="2019-12-29T02:57:32.948" v="189" actId="47"/>
        <pc:sldMkLst>
          <pc:docMk/>
          <pc:sldMk cId="2986962950" sldId="517"/>
        </pc:sldMkLst>
      </pc:sldChg>
      <pc:sldChg chg="del">
        <pc:chgData name="Richard Levine" userId="be0075ead24e3c6f" providerId="LiveId" clId="{84395568-E334-4337-8C7E-6689FE247700}" dt="2019-12-29T03:03:06.148" v="223" actId="47"/>
        <pc:sldMkLst>
          <pc:docMk/>
          <pc:sldMk cId="2044625835" sldId="518"/>
        </pc:sldMkLst>
      </pc:sldChg>
      <pc:sldChg chg="modSp">
        <pc:chgData name="Richard Levine" userId="be0075ead24e3c6f" providerId="LiveId" clId="{84395568-E334-4337-8C7E-6689FE247700}" dt="2019-12-29T03:04:36.371" v="237" actId="20577"/>
        <pc:sldMkLst>
          <pc:docMk/>
          <pc:sldMk cId="0" sldId="519"/>
        </pc:sldMkLst>
        <pc:spChg chg="mod">
          <ac:chgData name="Richard Levine" userId="be0075ead24e3c6f" providerId="LiveId" clId="{84395568-E334-4337-8C7E-6689FE247700}" dt="2019-12-29T03:04:36.371" v="237" actId="20577"/>
          <ac:spMkLst>
            <pc:docMk/>
            <pc:sldMk cId="0" sldId="519"/>
            <ac:spMk id="2" creationId="{00000000-0000-0000-0000-000000000000}"/>
          </ac:spMkLst>
        </pc:spChg>
      </pc:sldChg>
      <pc:sldChg chg="addSp add del modAnim">
        <pc:chgData name="Richard Levine" userId="be0075ead24e3c6f" providerId="LiveId" clId="{84395568-E334-4337-8C7E-6689FE247700}" dt="2019-12-29T02:54:33.042" v="166" actId="47"/>
        <pc:sldMkLst>
          <pc:docMk/>
          <pc:sldMk cId="1032382237" sldId="520"/>
        </pc:sldMkLst>
        <pc:spChg chg="add">
          <ac:chgData name="Richard Levine" userId="be0075ead24e3c6f" providerId="LiveId" clId="{84395568-E334-4337-8C7E-6689FE247700}" dt="2019-12-29T02:52:19.449" v="156"/>
          <ac:spMkLst>
            <pc:docMk/>
            <pc:sldMk cId="1032382237" sldId="520"/>
            <ac:spMk id="4" creationId="{DE51DB63-24BF-48D7-95F0-01AF74AABA55}"/>
          </ac:spMkLst>
        </pc:spChg>
        <pc:spChg chg="add">
          <ac:chgData name="Richard Levine" userId="be0075ead24e3c6f" providerId="LiveId" clId="{84395568-E334-4337-8C7E-6689FE247700}" dt="2019-12-29T02:52:19.449" v="156"/>
          <ac:spMkLst>
            <pc:docMk/>
            <pc:sldMk cId="1032382237" sldId="520"/>
            <ac:spMk id="5" creationId="{59731D80-654F-4680-AC18-A0546FD1646C}"/>
          </ac:spMkLst>
        </pc:spChg>
      </pc:sldChg>
      <pc:sldChg chg="addSp modSp add del modAnim">
        <pc:chgData name="Richard Levine" userId="be0075ead24e3c6f" providerId="LiveId" clId="{84395568-E334-4337-8C7E-6689FE247700}" dt="2019-12-29T03:51:01.046" v="314" actId="2696"/>
        <pc:sldMkLst>
          <pc:docMk/>
          <pc:sldMk cId="4149796008" sldId="520"/>
        </pc:sldMkLst>
        <pc:spChg chg="add mod">
          <ac:chgData name="Richard Levine" userId="be0075ead24e3c6f" providerId="LiveId" clId="{84395568-E334-4337-8C7E-6689FE247700}" dt="2019-12-29T03:02:42.962" v="222" actId="1036"/>
          <ac:spMkLst>
            <pc:docMk/>
            <pc:sldMk cId="4149796008" sldId="520"/>
            <ac:spMk id="4" creationId="{940856E3-D8D9-45B9-9373-E92D8C90FBFB}"/>
          </ac:spMkLst>
        </pc:spChg>
        <pc:spChg chg="add mod">
          <ac:chgData name="Richard Levine" userId="be0075ead24e3c6f" providerId="LiveId" clId="{84395568-E334-4337-8C7E-6689FE247700}" dt="2019-12-29T03:02:42.962" v="222" actId="1036"/>
          <ac:spMkLst>
            <pc:docMk/>
            <pc:sldMk cId="4149796008" sldId="520"/>
            <ac:spMk id="5" creationId="{F175C3BF-5CC6-424B-B8C1-FC586FD346D7}"/>
          </ac:spMkLst>
        </pc:spChg>
        <pc:spChg chg="add mod">
          <ac:chgData name="Richard Levine" userId="be0075ead24e3c6f" providerId="LiveId" clId="{84395568-E334-4337-8C7E-6689FE247700}" dt="2019-12-29T02:56:59.365" v="188" actId="14100"/>
          <ac:spMkLst>
            <pc:docMk/>
            <pc:sldMk cId="4149796008" sldId="520"/>
            <ac:spMk id="6" creationId="{4F07FE18-7B7F-40BF-A0D0-CE8CD6A7397C}"/>
          </ac:spMkLst>
        </pc:spChg>
        <pc:spChg chg="mod">
          <ac:chgData name="Richard Levine" userId="be0075ead24e3c6f" providerId="LiveId" clId="{84395568-E334-4337-8C7E-6689FE247700}" dt="2019-12-29T03:27:59.759" v="258"/>
          <ac:spMkLst>
            <pc:docMk/>
            <pc:sldMk cId="4149796008" sldId="520"/>
            <ac:spMk id="47107" creationId="{00000000-0000-0000-0000-000000000000}"/>
          </ac:spMkLst>
        </pc:spChg>
      </pc:sldChg>
      <pc:sldChg chg="addSp modSp add del ord modAnim">
        <pc:chgData name="Richard Levine" userId="be0075ead24e3c6f" providerId="LiveId" clId="{84395568-E334-4337-8C7E-6689FE247700}" dt="2019-12-29T03:51:08.785" v="315" actId="2696"/>
        <pc:sldMkLst>
          <pc:docMk/>
          <pc:sldMk cId="201849927" sldId="521"/>
        </pc:sldMkLst>
        <pc:spChg chg="add mod">
          <ac:chgData name="Richard Levine" userId="be0075ead24e3c6f" providerId="LiveId" clId="{84395568-E334-4337-8C7E-6689FE247700}" dt="2019-12-29T03:01:56.050" v="212" actId="1035"/>
          <ac:spMkLst>
            <pc:docMk/>
            <pc:sldMk cId="201849927" sldId="521"/>
            <ac:spMk id="4" creationId="{AFCDF23B-A471-4E0E-A483-9C1BFEE69452}"/>
          </ac:spMkLst>
        </pc:spChg>
        <pc:spChg chg="add mod">
          <ac:chgData name="Richard Levine" userId="be0075ead24e3c6f" providerId="LiveId" clId="{84395568-E334-4337-8C7E-6689FE247700}" dt="2019-12-29T03:01:56.050" v="212" actId="1035"/>
          <ac:spMkLst>
            <pc:docMk/>
            <pc:sldMk cId="201849927" sldId="521"/>
            <ac:spMk id="5" creationId="{EFD07D8D-4C5B-479B-8C54-8E295E386C74}"/>
          </ac:spMkLst>
        </pc:spChg>
        <pc:spChg chg="add mod">
          <ac:chgData name="Richard Levine" userId="be0075ead24e3c6f" providerId="LiveId" clId="{84395568-E334-4337-8C7E-6689FE247700}" dt="2019-12-29T03:00:45.384" v="209" actId="14100"/>
          <ac:spMkLst>
            <pc:docMk/>
            <pc:sldMk cId="201849927" sldId="521"/>
            <ac:spMk id="6" creationId="{AB7B6E24-8745-4A66-B582-EBE0AEAA3E85}"/>
          </ac:spMkLst>
        </pc:spChg>
        <pc:spChg chg="mod">
          <ac:chgData name="Richard Levine" userId="be0075ead24e3c6f" providerId="LiveId" clId="{84395568-E334-4337-8C7E-6689FE247700}" dt="2019-12-29T03:27:59.759" v="258"/>
          <ac:spMkLst>
            <pc:docMk/>
            <pc:sldMk cId="201849927" sldId="521"/>
            <ac:spMk id="47107" creationId="{00000000-0000-0000-0000-000000000000}"/>
          </ac:spMkLst>
        </pc:spChg>
      </pc:sldChg>
      <pc:sldChg chg="addSp modSp add modAnim">
        <pc:chgData name="Richard Levine" userId="be0075ead24e3c6f" providerId="LiveId" clId="{84395568-E334-4337-8C7E-6689FE247700}" dt="2019-12-29T03:56:49.847" v="317" actId="114"/>
        <pc:sldMkLst>
          <pc:docMk/>
          <pc:sldMk cId="1710897253" sldId="522"/>
        </pc:sldMkLst>
        <pc:spChg chg="add mod">
          <ac:chgData name="Richard Levine" userId="be0075ead24e3c6f" providerId="LiveId" clId="{84395568-E334-4337-8C7E-6689FE247700}" dt="2019-12-29T03:46:45.914" v="303" actId="113"/>
          <ac:spMkLst>
            <pc:docMk/>
            <pc:sldMk cId="1710897253" sldId="522"/>
            <ac:spMk id="4" creationId="{ABDA2697-1A3C-423A-B899-0ABBC0402B81}"/>
          </ac:spMkLst>
        </pc:spChg>
        <pc:spChg chg="add mod">
          <ac:chgData name="Richard Levine" userId="be0075ead24e3c6f" providerId="LiveId" clId="{84395568-E334-4337-8C7E-6689FE247700}" dt="2019-12-29T03:46:57.775" v="304" actId="14100"/>
          <ac:spMkLst>
            <pc:docMk/>
            <pc:sldMk cId="1710897253" sldId="522"/>
            <ac:spMk id="5" creationId="{3ACC92C7-AE73-499C-90AB-49628AFAC529}"/>
          </ac:spMkLst>
        </pc:spChg>
        <pc:spChg chg="add mod">
          <ac:chgData name="Richard Levine" userId="be0075ead24e3c6f" providerId="LiveId" clId="{84395568-E334-4337-8C7E-6689FE247700}" dt="2019-12-29T03:43:19.885" v="289" actId="1037"/>
          <ac:spMkLst>
            <pc:docMk/>
            <pc:sldMk cId="1710897253" sldId="522"/>
            <ac:spMk id="6" creationId="{FA4E646B-0250-4C79-8AD0-6826BC96AADF}"/>
          </ac:spMkLst>
        </pc:spChg>
        <pc:spChg chg="mod">
          <ac:chgData name="Richard Levine" userId="be0075ead24e3c6f" providerId="LiveId" clId="{84395568-E334-4337-8C7E-6689FE247700}" dt="2019-12-29T03:56:49.847" v="317" actId="114"/>
          <ac:spMkLst>
            <pc:docMk/>
            <pc:sldMk cId="1710897253" sldId="522"/>
            <ac:spMk id="47107" creationId="{00000000-0000-0000-0000-000000000000}"/>
          </ac:spMkLst>
        </pc:spChg>
      </pc:sldChg>
      <pc:sldChg chg="addSp modSp add modAnim">
        <pc:chgData name="Richard Levine" userId="be0075ead24e3c6f" providerId="LiveId" clId="{84395568-E334-4337-8C7E-6689FE247700}" dt="2019-12-29T03:57:37.601" v="320" actId="207"/>
        <pc:sldMkLst>
          <pc:docMk/>
          <pc:sldMk cId="3597193250" sldId="523"/>
        </pc:sldMkLst>
        <pc:spChg chg="add mod">
          <ac:chgData name="Richard Levine" userId="be0075ead24e3c6f" providerId="LiveId" clId="{84395568-E334-4337-8C7E-6689FE247700}" dt="2019-12-29T03:57:37.601" v="320" actId="207"/>
          <ac:spMkLst>
            <pc:docMk/>
            <pc:sldMk cId="3597193250" sldId="523"/>
            <ac:spMk id="4" creationId="{1416630A-2D1C-4FDD-8A2F-0FB9096E0FC8}"/>
          </ac:spMkLst>
        </pc:spChg>
        <pc:spChg chg="add">
          <ac:chgData name="Richard Levine" userId="be0075ead24e3c6f" providerId="LiveId" clId="{84395568-E334-4337-8C7E-6689FE247700}" dt="2019-12-29T03:45:40.076" v="301"/>
          <ac:spMkLst>
            <pc:docMk/>
            <pc:sldMk cId="3597193250" sldId="523"/>
            <ac:spMk id="5" creationId="{388800AF-B3D8-4C16-BD40-0BAA680B3B4C}"/>
          </ac:spMkLst>
        </pc:spChg>
        <pc:spChg chg="add mod">
          <ac:chgData name="Richard Levine" userId="be0075ead24e3c6f" providerId="LiveId" clId="{84395568-E334-4337-8C7E-6689FE247700}" dt="2019-12-29T03:50:17.585" v="313" actId="14100"/>
          <ac:spMkLst>
            <pc:docMk/>
            <pc:sldMk cId="3597193250" sldId="523"/>
            <ac:spMk id="6" creationId="{F9EB7B74-3291-48F5-9C51-9922A4712924}"/>
          </ac:spMkLst>
        </pc:spChg>
        <pc:spChg chg="mod">
          <ac:chgData name="Richard Levine" userId="be0075ead24e3c6f" providerId="LiveId" clId="{84395568-E334-4337-8C7E-6689FE247700}" dt="2019-12-29T03:57:07.445" v="318" actId="114"/>
          <ac:spMkLst>
            <pc:docMk/>
            <pc:sldMk cId="3597193250" sldId="523"/>
            <ac:spMk id="4710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82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5/11/2020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0257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1D07B4D7-B579-406C-B358-967632134DBF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8283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3B5AB6F8-2CD3-471F-8409-89BCAD2E4898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61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807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191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43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61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08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61429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00833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6027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9345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20385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452590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61453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2709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0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1569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2693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88468" y="171644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4" name="Text Placeholder 2"/>
          <p:cNvSpPr>
            <a:spLocks noGrp="1"/>
          </p:cNvSpPr>
          <p:nvPr/>
        </p:nvSpPr>
        <p:spPr>
          <a:xfrm>
            <a:off x="108550" y="685716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EAAA00"/>
              </a:solidFill>
            </a:endParaRPr>
          </a:p>
          <a:p>
            <a:r>
              <a:rPr lang="en-US" dirty="0" err="1">
                <a:solidFill>
                  <a:srgbClr val="EAAA00"/>
                </a:solidFill>
              </a:rPr>
              <a:t>Nicoleta</a:t>
            </a:r>
            <a:r>
              <a:rPr lang="en-US" dirty="0">
                <a:solidFill>
                  <a:srgbClr val="EAAA00"/>
                </a:solidFill>
              </a:rPr>
              <a:t> </a:t>
            </a:r>
            <a:r>
              <a:rPr lang="en-US" dirty="0" err="1">
                <a:solidFill>
                  <a:srgbClr val="EAAA00"/>
                </a:solidFill>
              </a:rPr>
              <a:t>Serban</a:t>
            </a:r>
            <a:r>
              <a:rPr lang="en-US" dirty="0">
                <a:solidFill>
                  <a:srgbClr val="EAAA00"/>
                </a:solidFill>
              </a:rPr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17956" y="3988341"/>
            <a:ext cx="4305091" cy="7170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Regression Parameter Estimation:</a:t>
            </a:r>
            <a:br>
              <a:rPr lang="en-US" altLang="en-US" sz="2000" dirty="0"/>
            </a:br>
            <a:r>
              <a:rPr lang="en-US" altLang="en-US" sz="2000" dirty="0"/>
              <a:t>Data Example</a:t>
            </a:r>
          </a:p>
        </p:txBody>
      </p:sp>
      <p:sp>
        <p:nvSpPr>
          <p:cNvPr id="2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27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18165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352349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922" y="1013375"/>
            <a:ext cx="49059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 Predicting Variables:</a:t>
            </a:r>
          </a:p>
          <a:p>
            <a:pPr marL="914400" indent="-517525" eaLnBrk="1" hangingPunct="1">
              <a:tabLst>
                <a:tab pos="796925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amount (in hundreds of dollars) spent on advertising </a:t>
            </a:r>
          </a:p>
          <a:p>
            <a:pPr marL="914400" indent="-517525" eaLnBrk="1" hangingPunct="1">
              <a:tabLst>
                <a:tab pos="796925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total amount of bonuses paid </a:t>
            </a:r>
          </a:p>
          <a:p>
            <a:pPr marL="914400" indent="-517525" eaLnBrk="1" hangingPunct="1">
              <a:tabLst>
                <a:tab pos="796925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market share in each territory </a:t>
            </a:r>
          </a:p>
          <a:p>
            <a:pPr marL="914400" indent="-517525" eaLnBrk="1" hangingPunct="1">
              <a:tabLst>
                <a:tab pos="796925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the largest competitor's sales </a:t>
            </a:r>
          </a:p>
          <a:p>
            <a:pPr eaLnBrk="1" hangingPunct="1">
              <a:defRPr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 Predicting Variable: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914400" indent="-517525" eaLnBrk="1" hangingPunct="1">
              <a:tabLst>
                <a:tab pos="796925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a variable to indicate the region in which office is located (1 = south, </a:t>
            </a:r>
            <a:b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</a:b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 = west, 3 =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midwest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>
              <a:defRPr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Variable: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914400" indent="-517525" eaLnBrk="1" hangingPunct="1">
              <a:tabLst>
                <a:tab pos="796925" algn="l"/>
              </a:tabLst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yearly sales (in thousands of dollars)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486401" y="1123950"/>
            <a:ext cx="2438400" cy="3499116"/>
            <a:chOff x="609600" y="1047750"/>
            <a:chExt cx="2546997" cy="37338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3080156"/>
              <a:ext cx="2546997" cy="170139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1047750"/>
              <a:ext cx="2239577" cy="1523066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 rot="16200000">
              <a:off x="359115" y="1678894"/>
              <a:ext cx="761747" cy="260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dirty="0">
                  <a:latin typeface="Helvetica"/>
                  <a:cs typeface="Helvetica"/>
                </a:rPr>
                <a:t>Sales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83771" y="2542168"/>
              <a:ext cx="165942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latin typeface="Helvetica"/>
                  <a:cs typeface="Helvetica"/>
                </a:rPr>
                <a:t>Advertisement</a:t>
              </a:r>
              <a:endParaRPr lang="en-US" dirty="0"/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107950" y="184151"/>
            <a:ext cx="8562392" cy="72359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Linear Regression: Example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829050" y="1943100"/>
            <a:ext cx="6858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38650" y="1011881"/>
            <a:ext cx="8039100" cy="355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398463" indent="-398463" eaLnBrk="1" hangingPunct="1">
              <a:spcBef>
                <a:spcPct val="50000"/>
              </a:spcBef>
              <a:buFontTx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Fit a linear regression with all predictors. What are the estimated regression coefficients and the estimated regression line?</a:t>
            </a:r>
          </a:p>
          <a:p>
            <a:pPr marL="398463" indent="-398463" eaLnBrk="1" hangingPunct="1">
              <a:spcBef>
                <a:spcPct val="50000"/>
              </a:spcBef>
              <a:buFontTx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Interpret the coefficients. Compare the estimated coefficient for the advertisement expenditure variable under the conditional (full) model vs. the marginal (one predictor) model.</a:t>
            </a:r>
          </a:p>
          <a:p>
            <a:pPr marL="398463" indent="-398463" eaLnBrk="1" hangingPunct="1">
              <a:spcBef>
                <a:spcPct val="50000"/>
              </a:spcBef>
              <a:buFontTx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change does the full regression model predict for yearly sales as the advertisement expenditure increases by an additional $1,000? Is this prediction different when compared to that from the simple linear model with the advertisement expenditure variable only? </a:t>
            </a:r>
          </a:p>
          <a:p>
            <a:pPr marL="398463" indent="-398463" eaLnBrk="1" hangingPunct="1">
              <a:spcBef>
                <a:spcPct val="50000"/>
              </a:spcBef>
              <a:buFontTx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What is the estimate of the error variance under the full model? Is it different from that under the simple linear regression model? Why?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03700" y="175175"/>
            <a:ext cx="8562392" cy="7201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Estimation &amp;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3700" y="175175"/>
            <a:ext cx="8562392" cy="7201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Estimation &amp; Interpretation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91109" y="1039832"/>
            <a:ext cx="8424291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("meddcor.txt",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sep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"", header = FALSE)</a:t>
            </a:r>
          </a:p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colnames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= c("sales", "advertising", "bonuses", "</a:t>
            </a:r>
            <a:r>
              <a:rPr lang="en-US" altLang="ja-JP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marketshare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</a:t>
            </a:r>
            <a:r>
              <a:rPr lang="en-US" altLang="ja-JP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argestcomp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meddcor$region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as.factor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meddcor$region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= lm(sales ~ ., data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</a:t>
            </a:r>
            <a:endParaRPr lang="en-US" altLang="en-US" sz="12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---</a:t>
            </a:r>
          </a:p>
          <a:p>
            <a:pPr eaLnBrk="1" hangingPunct="1"/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standard error: 55.57 on 18 degrees of freedom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Multiple R-squared: 0.9555, Adjusted R-squared: 0.9407 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F-statistic: 64.42 on 6 and 18 DF, p-value: 3.466e-11</a:t>
            </a:r>
            <a:endParaRPr lang="en-US" alt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73019A-17C0-4991-9F1C-B5A9BAF6B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293728"/>
              </p:ext>
            </p:extLst>
          </p:nvPr>
        </p:nvGraphicFramePr>
        <p:xfrm>
          <a:off x="544513" y="2325878"/>
          <a:ext cx="5018087" cy="16936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7293">
                  <a:extLst>
                    <a:ext uri="{9D8B030D-6E8A-4147-A177-3AD203B41FA5}">
                      <a16:colId xmlns:a16="http://schemas.microsoft.com/office/drawing/2014/main" val="2228097398"/>
                    </a:ext>
                  </a:extLst>
                </a:gridCol>
                <a:gridCol w="989299">
                  <a:extLst>
                    <a:ext uri="{9D8B030D-6E8A-4147-A177-3AD203B41FA5}">
                      <a16:colId xmlns:a16="http://schemas.microsoft.com/office/drawing/2014/main" val="3024058709"/>
                    </a:ext>
                  </a:extLst>
                </a:gridCol>
                <a:gridCol w="1007965">
                  <a:extLst>
                    <a:ext uri="{9D8B030D-6E8A-4147-A177-3AD203B41FA5}">
                      <a16:colId xmlns:a16="http://schemas.microsoft.com/office/drawing/2014/main" val="2515385470"/>
                    </a:ext>
                  </a:extLst>
                </a:gridCol>
                <a:gridCol w="720530">
                  <a:extLst>
                    <a:ext uri="{9D8B030D-6E8A-4147-A177-3AD203B41FA5}">
                      <a16:colId xmlns:a16="http://schemas.microsoft.com/office/drawing/2014/main" val="223906187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46243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Pr(&gt;|t|)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36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117.0200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192.9732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0.606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0.5518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02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1.4092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0.2687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5.244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5.49e-05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19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1.0123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0.4641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2.181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0.0427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876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3.1548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2.9802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1.059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0.3038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777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-0.2354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0.2338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-1.007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0.3275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397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region2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53.6285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34.7359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1.544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0.1400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503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region3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267.9569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47.5577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5.634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2.40e-05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57930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D51098B-C03C-4FC5-92D6-F17BC81F6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22574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550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38EDEB8-6CDD-4F00-9817-B43377D2E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55064"/>
              </p:ext>
            </p:extLst>
          </p:nvPr>
        </p:nvGraphicFramePr>
        <p:xfrm>
          <a:off x="544513" y="2325878"/>
          <a:ext cx="5018087" cy="16936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7293">
                  <a:extLst>
                    <a:ext uri="{9D8B030D-6E8A-4147-A177-3AD203B41FA5}">
                      <a16:colId xmlns:a16="http://schemas.microsoft.com/office/drawing/2014/main" val="2228097398"/>
                    </a:ext>
                  </a:extLst>
                </a:gridCol>
                <a:gridCol w="989299">
                  <a:extLst>
                    <a:ext uri="{9D8B030D-6E8A-4147-A177-3AD203B41FA5}">
                      <a16:colId xmlns:a16="http://schemas.microsoft.com/office/drawing/2014/main" val="3024058709"/>
                    </a:ext>
                  </a:extLst>
                </a:gridCol>
                <a:gridCol w="1007965">
                  <a:extLst>
                    <a:ext uri="{9D8B030D-6E8A-4147-A177-3AD203B41FA5}">
                      <a16:colId xmlns:a16="http://schemas.microsoft.com/office/drawing/2014/main" val="2515385470"/>
                    </a:ext>
                  </a:extLst>
                </a:gridCol>
                <a:gridCol w="720530">
                  <a:extLst>
                    <a:ext uri="{9D8B030D-6E8A-4147-A177-3AD203B41FA5}">
                      <a16:colId xmlns:a16="http://schemas.microsoft.com/office/drawing/2014/main" val="223906187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46243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Pr(&gt;|t|)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36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117.0200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192.9732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0.606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0.5518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02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1.4092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0.2687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5.244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5.49e-05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19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1.0123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0.4641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2.181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0.0427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876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3.1548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2.9802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1.059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0.3038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777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-0.2354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0.2338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-1.007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0.3275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397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region2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53.6285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34.7359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1.544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0.1400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503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region3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267.9569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47.5577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5.634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2.40e-05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579303"/>
                  </a:ext>
                </a:extLst>
              </a:tr>
            </a:tbl>
          </a:graphicData>
        </a:graphic>
      </p:graphicFrame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491109" y="1039832"/>
            <a:ext cx="8424291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("meddcor.txt",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sep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"", header = FALSE)</a:t>
            </a:r>
          </a:p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colnames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= c("sales", "advertising", "bonuses", "</a:t>
            </a:r>
            <a:r>
              <a:rPr lang="en-US" altLang="ja-JP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marketshare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</a:t>
            </a:r>
            <a:r>
              <a:rPr lang="en-US" altLang="ja-JP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argestcomp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meddcor$region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as.factor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meddcor$region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= lm(sales ~ ., data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</a:t>
            </a:r>
            <a:endParaRPr lang="en-US" altLang="en-US" sz="12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---</a:t>
            </a:r>
          </a:p>
          <a:p>
            <a:pPr eaLnBrk="1" hangingPunct="1"/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standard error: 55.57 on 18 degrees of freedom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Multiple R-squared: 0.9555, Adjusted R-squared: 0.9407 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F-statistic: 64.42 on 6 and 18 DF, p-value: 3.466e-11</a:t>
            </a:r>
            <a:endParaRPr lang="en-US" alt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DA2697-1A3C-423A-B899-0ABBC0402B81}"/>
                  </a:ext>
                </a:extLst>
              </p:cNvPr>
              <p:cNvSpPr txBox="1"/>
              <p:nvPr/>
            </p:nvSpPr>
            <p:spPr>
              <a:xfrm>
                <a:off x="5512689" y="2008433"/>
                <a:ext cx="3402711" cy="249760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91440" rIns="182880" bIns="91440" rtlCol="0">
                <a:spAutoFit/>
              </a:bodyPr>
              <a:lstStyle/>
              <a:p>
                <a:pPr marL="227013" indent="-227013">
                  <a:buFont typeface="+mj-lt"/>
                  <a:buAutoNum type="alphaLcPeriod" startAt="2"/>
                </a:pPr>
                <a:r>
                  <a:rPr lang="en-US" sz="12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Conditional model</a:t>
                </a:r>
                <a:r>
                  <a:rPr lang="en-US" sz="12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286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sz="1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𝟒𝟎𝟗𝟐</m:t>
                      </m:r>
                    </m:oMath>
                  </m:oMathPara>
                </a14:m>
                <a:endParaRPr lang="en-US" sz="12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12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expected additional gain in sales in thousands for $100 additional expenditure in advertisement </a:t>
                </a:r>
                <a:r>
                  <a:rPr lang="en-US" sz="1200" b="1" dirty="0">
                    <a:solidFill>
                      <a:srgbClr val="EAAA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while holding all other fixed.</a:t>
                </a:r>
              </a:p>
              <a:p>
                <a:pPr marL="228600"/>
                <a:r>
                  <a:rPr lang="en-US" sz="12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Marginal model</a:t>
                </a:r>
                <a:r>
                  <a:rPr lang="en-US" sz="12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  <a:endParaRPr lang="en-US" sz="1200" b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22860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𝑎𝑑𝑣</m:t>
                          </m:r>
                        </m:sub>
                      </m:sSub>
                      <m:r>
                        <a:rPr lang="en-US" sz="12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1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𝟕𝟕𝟐</m:t>
                      </m:r>
                    </m:oMath>
                  </m:oMathPara>
                </a14:m>
                <a:endParaRPr lang="en-US" sz="12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12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expected additional gain in sales in thousands for $100 additional expenditure in advertisement </a:t>
                </a:r>
                <a:r>
                  <a:rPr lang="en-US" sz="1200" b="1" dirty="0">
                    <a:solidFill>
                      <a:srgbClr val="EAAA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not accounting for other predicting variables.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DA2697-1A3C-423A-B899-0ABBC0402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689" y="2008433"/>
                <a:ext cx="3402711" cy="24976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3ACC92C7-AE73-499C-90AB-49628AFAC529}"/>
              </a:ext>
            </a:extLst>
          </p:cNvPr>
          <p:cNvSpPr/>
          <p:nvPr/>
        </p:nvSpPr>
        <p:spPr>
          <a:xfrm>
            <a:off x="6332964" y="2273250"/>
            <a:ext cx="707212" cy="202444"/>
          </a:xfrm>
          <a:prstGeom prst="ellipse">
            <a:avLst/>
          </a:prstGeom>
          <a:noFill/>
          <a:ln w="19050">
            <a:solidFill>
              <a:srgbClr val="EAA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4E646B-0250-4C79-8AD0-6826BC96AADF}"/>
              </a:ext>
            </a:extLst>
          </p:cNvPr>
          <p:cNvSpPr/>
          <p:nvPr/>
        </p:nvSpPr>
        <p:spPr>
          <a:xfrm>
            <a:off x="1704449" y="2721774"/>
            <a:ext cx="725487" cy="294482"/>
          </a:xfrm>
          <a:prstGeom prst="ellipse">
            <a:avLst/>
          </a:prstGeom>
          <a:noFill/>
          <a:ln w="19050">
            <a:solidFill>
              <a:srgbClr val="EAA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B19FF2-3616-477E-B3E8-161B1D46B14B}"/>
              </a:ext>
            </a:extLst>
          </p:cNvPr>
          <p:cNvSpPr/>
          <p:nvPr/>
        </p:nvSpPr>
        <p:spPr>
          <a:xfrm>
            <a:off x="5512689" y="1608951"/>
            <a:ext cx="3402711" cy="27699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303213" indent="-214313">
              <a:buAutoNum type="alphaLcPeriod"/>
            </a:pPr>
            <a:r>
              <a:rPr lang="en-US" sz="12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Estimated Regression Coefficients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C6A6DB-8969-47CD-9A1C-6C9FEBB61D1A}"/>
              </a:ext>
            </a:extLst>
          </p:cNvPr>
          <p:cNvSpPr/>
          <p:nvPr/>
        </p:nvSpPr>
        <p:spPr>
          <a:xfrm>
            <a:off x="1676400" y="2521497"/>
            <a:ext cx="908844" cy="1524000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>
            <a:outerShdw dir="5400000" algn="ctr" rotWithShape="0">
              <a:schemeClr val="accent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03700" y="175175"/>
            <a:ext cx="8562392" cy="7201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Estimation &amp; Interpretation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089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372D35-04EA-4D21-9653-79DCBF097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755064"/>
              </p:ext>
            </p:extLst>
          </p:nvPr>
        </p:nvGraphicFramePr>
        <p:xfrm>
          <a:off x="544513" y="2325878"/>
          <a:ext cx="5018087" cy="16936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7293">
                  <a:extLst>
                    <a:ext uri="{9D8B030D-6E8A-4147-A177-3AD203B41FA5}">
                      <a16:colId xmlns:a16="http://schemas.microsoft.com/office/drawing/2014/main" val="2228097398"/>
                    </a:ext>
                  </a:extLst>
                </a:gridCol>
                <a:gridCol w="989299">
                  <a:extLst>
                    <a:ext uri="{9D8B030D-6E8A-4147-A177-3AD203B41FA5}">
                      <a16:colId xmlns:a16="http://schemas.microsoft.com/office/drawing/2014/main" val="3024058709"/>
                    </a:ext>
                  </a:extLst>
                </a:gridCol>
                <a:gridCol w="1007965">
                  <a:extLst>
                    <a:ext uri="{9D8B030D-6E8A-4147-A177-3AD203B41FA5}">
                      <a16:colId xmlns:a16="http://schemas.microsoft.com/office/drawing/2014/main" val="2515385470"/>
                    </a:ext>
                  </a:extLst>
                </a:gridCol>
                <a:gridCol w="720530">
                  <a:extLst>
                    <a:ext uri="{9D8B030D-6E8A-4147-A177-3AD203B41FA5}">
                      <a16:colId xmlns:a16="http://schemas.microsoft.com/office/drawing/2014/main" val="223906187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46243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Pr(&gt;|t|)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36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117.0200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192.9732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0.606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0.5518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02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advertising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1.4092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0.2687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5.244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5.49e-05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19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bonuses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1.0123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0.4641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2.181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0.0427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876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marketshare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3.1548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2.9802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1.059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0.3038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777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largestcomp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-0.2354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0.2338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-1.007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0.3275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397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region2  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53.6285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34.7359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1.544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0.1400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503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region3   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267.9569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47.5577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5.634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2.40e-05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579303"/>
                  </a:ext>
                </a:extLst>
              </a:tr>
            </a:tbl>
          </a:graphicData>
        </a:graphic>
      </p:graphicFrame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91109" y="1039832"/>
            <a:ext cx="8424291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("meddcor.txt",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sep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"", header = FALSE)</a:t>
            </a:r>
          </a:p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colnames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= c("sales", "advertising", "bonuses", "</a:t>
            </a:r>
            <a:r>
              <a:rPr lang="en-US" altLang="ja-JP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marketshare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</a:t>
            </a:r>
            <a:r>
              <a:rPr lang="en-US" altLang="ja-JP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argestcomp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</a:t>
            </a:r>
            <a:r>
              <a:rPr lang="en-US" altLang="ja-JP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meddcor$region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as.factor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meddcor$region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 = lm(sales ~ ., data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eaLnBrk="1" hangingPunct="1"/>
            <a:r>
              <a:rPr lang="en-US" alt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summary(model)</a:t>
            </a:r>
            <a:endParaRPr lang="en-US" altLang="en-US" sz="12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</a:t>
            </a:r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endParaRPr lang="en-US" altLang="en-US" sz="1400" b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sz="140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---</a:t>
            </a:r>
          </a:p>
          <a:p>
            <a:pPr eaLnBrk="1" hangingPunct="1"/>
            <a:r>
              <a:rPr lang="en-US" alt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standard error: 55.57 on 18 degrees of freedom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Multiple R-squared: 0.9555, Adjusted R-squared: 0.9407 </a:t>
            </a:r>
          </a:p>
          <a:p>
            <a:pPr eaLnBrk="1" hangingPunct="1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F-statistic: 64.42 on 6 and 18 DF, p-value: 3.466e-11</a:t>
            </a:r>
            <a:endParaRPr lang="en-US" alt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6630A-2D1C-4FDD-8A2F-0FB9096E0FC8}"/>
              </a:ext>
            </a:extLst>
          </p:cNvPr>
          <p:cNvSpPr txBox="1"/>
          <p:nvPr/>
        </p:nvSpPr>
        <p:spPr>
          <a:xfrm>
            <a:off x="5504450" y="1616100"/>
            <a:ext cx="3410950" cy="293157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182880" rIns="182880" bIns="91440">
            <a:spAutoFit/>
          </a:bodyPr>
          <a:lstStyle/>
          <a:p>
            <a:pPr marL="228600" indent="-228600">
              <a:defRPr/>
            </a:pPr>
            <a:r>
              <a:rPr lang="en-US" sz="115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c.	</a:t>
            </a:r>
            <a:r>
              <a:rPr lang="en-US" sz="11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An additional </a:t>
            </a:r>
            <a:r>
              <a:rPr lang="en-US" sz="115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$1,000 </a:t>
            </a:r>
            <a:r>
              <a:rPr lang="en-US" sz="11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 advertising expenditures results in </a:t>
            </a:r>
            <a:r>
              <a:rPr lang="en-US" sz="115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$14,092</a:t>
            </a:r>
            <a:r>
              <a:rPr lang="en-US" sz="11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additional sales under the full model and </a:t>
            </a:r>
            <a:r>
              <a:rPr lang="en-US" sz="115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$27,720 </a:t>
            </a:r>
            <a:r>
              <a:rPr lang="en-US" sz="11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additional sales under the simple linear model.</a:t>
            </a:r>
          </a:p>
          <a:p>
            <a:pPr>
              <a:defRPr/>
            </a:pPr>
            <a:r>
              <a:rPr lang="en-US" sz="1150" b="1" i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Which is more meaningful? </a:t>
            </a:r>
            <a:r>
              <a:rPr lang="en-US" sz="1150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Because sales varies with other factors, the interpretation based on multiple regression is more meaningful.</a:t>
            </a:r>
          </a:p>
          <a:p>
            <a:pPr marL="230188" indent="-230188">
              <a:defRPr/>
            </a:pPr>
            <a:r>
              <a:rPr lang="en-US" sz="115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d.</a:t>
            </a:r>
            <a:r>
              <a:rPr lang="en-US" sz="11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	Under the full model, the variance estimate is </a:t>
            </a:r>
            <a:r>
              <a:rPr lang="en-US" sz="115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(55.57)</a:t>
            </a:r>
            <a:r>
              <a:rPr lang="en-US" sz="1150" b="1" baseline="30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sz="11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 Under the simple linear model, the variance estimate was </a:t>
            </a:r>
            <a:r>
              <a:rPr lang="en-US" sz="1150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(101.4)</a:t>
            </a:r>
            <a:r>
              <a:rPr lang="en-US" sz="1150" b="1" baseline="30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sz="115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.</a:t>
            </a:r>
          </a:p>
          <a:p>
            <a:pPr>
              <a:defRPr/>
            </a:pPr>
            <a:r>
              <a:rPr lang="en-US" sz="1150" b="1" i="1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Why? </a:t>
            </a:r>
            <a:r>
              <a:rPr lang="en-US" sz="1150" dirty="0">
                <a:solidFill>
                  <a:srgbClr val="EAAA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More variability in the response is explained when including multiple predicting variables versus only one.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8800AF-B3D8-4C16-BD40-0BAA680B3B4C}"/>
              </a:ext>
            </a:extLst>
          </p:cNvPr>
          <p:cNvSpPr/>
          <p:nvPr/>
        </p:nvSpPr>
        <p:spPr>
          <a:xfrm>
            <a:off x="6019800" y="3534850"/>
            <a:ext cx="609600" cy="228600"/>
          </a:xfrm>
          <a:prstGeom prst="ellipse">
            <a:avLst/>
          </a:prstGeom>
          <a:noFill/>
          <a:ln w="19050">
            <a:solidFill>
              <a:srgbClr val="EAA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EB7B74-3291-48F5-9C51-9922A4712924}"/>
              </a:ext>
            </a:extLst>
          </p:cNvPr>
          <p:cNvSpPr/>
          <p:nvPr/>
        </p:nvSpPr>
        <p:spPr>
          <a:xfrm>
            <a:off x="2438400" y="4255025"/>
            <a:ext cx="634789" cy="266700"/>
          </a:xfrm>
          <a:prstGeom prst="ellipse">
            <a:avLst/>
          </a:prstGeom>
          <a:noFill/>
          <a:ln w="19050">
            <a:solidFill>
              <a:srgbClr val="EAAA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03700" y="175175"/>
            <a:ext cx="8562392" cy="7201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Example 1: Estimation &amp; Interpretation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719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24325" y="1056860"/>
            <a:ext cx="5018540" cy="370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200"/>
              </a:spcAft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Explanatory Factors:</a:t>
            </a:r>
          </a:p>
          <a:p>
            <a:pPr marL="969963" indent="-569913" eaLnBrk="1" hangingPunct="1">
              <a:lnSpc>
                <a:spcPts val="1800"/>
              </a:lnSpc>
              <a:spcAft>
                <a:spcPts val="200"/>
              </a:spcAft>
              <a:tabLst>
                <a:tab pos="969963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Median income of families of test takers, in hundreds of dollars</a:t>
            </a:r>
          </a:p>
          <a:p>
            <a:pPr marL="969963" indent="-569913" eaLnBrk="1" hangingPunct="1">
              <a:lnSpc>
                <a:spcPts val="1800"/>
              </a:lnSpc>
              <a:spcAft>
                <a:spcPts val="200"/>
              </a:spcAft>
              <a:tabLst>
                <a:tab pos="969963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Average number of years that test takers had in social sciences, natural sciences, and humanities</a:t>
            </a:r>
          </a:p>
          <a:p>
            <a:pPr marL="969963" indent="-569913" eaLnBrk="1" hangingPunct="1">
              <a:lnSpc>
                <a:spcPts val="1800"/>
              </a:lnSpc>
              <a:spcAft>
                <a:spcPts val="200"/>
              </a:spcAft>
              <a:tabLst>
                <a:tab pos="969963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% of test takers who attended public schools</a:t>
            </a:r>
          </a:p>
          <a:p>
            <a:pPr marL="969963" indent="-569913" eaLnBrk="1" hangingPunct="1">
              <a:lnSpc>
                <a:spcPts val="1800"/>
              </a:lnSpc>
              <a:tabLst>
                <a:tab pos="969963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State expenditure on secondary schools, in hundreds of dollars per student</a:t>
            </a:r>
          </a:p>
          <a:p>
            <a:pPr eaLnBrk="1" hangingPunct="1">
              <a:lnSpc>
                <a:spcPts val="1800"/>
              </a:lnSpc>
              <a:spcAft>
                <a:spcPts val="200"/>
              </a:spcAft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Controlling Factors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</a:t>
            </a:r>
          </a:p>
          <a:p>
            <a:pPr marL="969963" indent="-569913" eaLnBrk="1" hangingPunct="1">
              <a:lnSpc>
                <a:spcPts val="1800"/>
              </a:lnSpc>
              <a:spcAft>
                <a:spcPts val="200"/>
              </a:spcAft>
              <a:tabLst>
                <a:tab pos="969963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% of total eligible students in the state who took the exam</a:t>
            </a:r>
          </a:p>
          <a:p>
            <a:pPr marL="969963" indent="-569913" eaLnBrk="1" hangingPunct="1">
              <a:lnSpc>
                <a:spcPts val="1800"/>
              </a:lnSpc>
              <a:tabLst>
                <a:tab pos="969963" algn="l"/>
              </a:tabLst>
            </a:pPr>
            <a:r>
              <a:rPr lang="en-US" altLang="en-US" sz="1600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sz="1600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6</a:t>
            </a: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	Median percentile of ranking of test takers within their secondary school classes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396905" y="1290675"/>
            <a:ext cx="3317970" cy="2727087"/>
            <a:chOff x="132230" y="1352550"/>
            <a:chExt cx="3317970" cy="2727087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" y="1352550"/>
              <a:ext cx="2925514" cy="1994215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45525" y="3802638"/>
              <a:ext cx="259080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790 (South Carolina) </a:t>
              </a:r>
              <a:r>
                <a:rPr lang="en-US" altLang="en-US" sz="12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rPr>
                <a:t>–</a:t>
              </a:r>
              <a:r>
                <a:rPr lang="en-US" altLang="en-US" sz="12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 1088 (Iowa)</a:t>
              </a:r>
              <a:endParaRPr lang="en-US" sz="12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32230" y="3566564"/>
              <a:ext cx="331797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SAT Mean Score by State </a:t>
              </a:r>
              <a:r>
                <a:rPr lang="en-US" altLang="en-US" sz="1400" dirty="0">
                  <a:latin typeface="Helvetica" panose="020B0604020202020204" pitchFamily="34" charset="0"/>
                  <a:ea typeface="Cambria Math" panose="02040503050406030204" pitchFamily="18" charset="0"/>
                  <a:cs typeface="Helvetica" panose="020B0604020202020204" pitchFamily="34" charset="0"/>
                </a:rPr>
                <a:t>—</a:t>
              </a:r>
              <a:r>
                <a:rPr lang="en-US" altLang="en-US" sz="14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rPr>
                <a:t> Year 1982</a:t>
              </a:r>
              <a:endParaRPr lang="en-US" sz="1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103700" y="178575"/>
            <a:ext cx="8562392" cy="5575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fontAlgn="auto">
              <a:spcBef>
                <a:spcPct val="50000"/>
              </a:spcBef>
              <a:spcAft>
                <a:spcPts val="0"/>
              </a:spcAft>
            </a:pPr>
            <a:r>
              <a:rPr lang="en-US" altLang="en-US" sz="3600" dirty="0">
                <a:latin typeface="Vitesse"/>
              </a:rPr>
              <a:t>Linear Regression: Example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178976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90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57157</TotalTime>
  <Words>733</Words>
  <Application>Microsoft Office PowerPoint</Application>
  <PresentationFormat>On-screen Show (16:9)</PresentationFormat>
  <Paragraphs>227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Cambria Math</vt:lpstr>
      <vt:lpstr>Helvetica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780</cp:revision>
  <dcterms:created xsi:type="dcterms:W3CDTF">2002-04-06T16:20:45Z</dcterms:created>
  <dcterms:modified xsi:type="dcterms:W3CDTF">2020-05-11T14:34:58Z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2F419461-8972-4996-947A-437844D7000F</vt:lpwstr>
  </property>
  <property fmtid="{D5CDD505-2E9C-101B-9397-08002B2CF9AE}" pid="3" name="ArticulatePath">
    <vt:lpwstr>05_MLRL5_revised_02262020</vt:lpwstr>
  </property>
</Properties>
</file>