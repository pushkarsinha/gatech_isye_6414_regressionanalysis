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2" r:id="rId1"/>
    <p:sldMasterId id="2147484050" r:id="rId2"/>
    <p:sldMasterId id="2147484051" r:id="rId3"/>
  </p:sldMasterIdLst>
  <p:notesMasterIdLst>
    <p:notesMasterId r:id="rId15"/>
  </p:notesMasterIdLst>
  <p:handoutMasterIdLst>
    <p:handoutMasterId r:id="rId16"/>
  </p:handoutMasterIdLst>
  <p:sldIdLst>
    <p:sldId id="509" r:id="rId4"/>
    <p:sldId id="524" r:id="rId5"/>
    <p:sldId id="436" r:id="rId6"/>
    <p:sldId id="426" r:id="rId7"/>
    <p:sldId id="519" r:id="rId8"/>
    <p:sldId id="525" r:id="rId9"/>
    <p:sldId id="466" r:id="rId10"/>
    <p:sldId id="521" r:id="rId11"/>
    <p:sldId id="467" r:id="rId12"/>
    <p:sldId id="522" r:id="rId13"/>
    <p:sldId id="523" r:id="rId14"/>
  </p:sldIdLst>
  <p:sldSz cx="9144000" cy="5143500" type="screen16x9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624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468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rban, Nicoleta" initials="SN" lastIdx="19" clrIdx="0"/>
  <p:cmAuthor id="2" name="zwen42@gatech.com" initials="z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1F497D"/>
    <a:srgbClr val="8E4221"/>
    <a:srgbClr val="00254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0A7736-3875-4F9D-A949-870EE3574287}" v="29" dt="2019-12-30T03:40:39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03"/>
    <p:restoredTop sz="96201" autoAdjust="0"/>
  </p:normalViewPr>
  <p:slideViewPr>
    <p:cSldViewPr>
      <p:cViewPr varScale="1">
        <p:scale>
          <a:sx n="113" d="100"/>
          <a:sy n="113" d="100"/>
        </p:scale>
        <p:origin x="763" y="86"/>
      </p:cViewPr>
      <p:guideLst>
        <p:guide orient="horz" pos="1620"/>
        <p:guide pos="2880"/>
        <p:guide pos="144"/>
        <p:guide pos="384"/>
        <p:guide pos="624"/>
        <p:guide pos="3456"/>
        <p:guide orient="horz" pos="468"/>
        <p:guide orient="horz" pos="8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Levine" userId="be0075ead24e3c6f" providerId="LiveId" clId="{27AFA423-7147-4023-A61A-00A75039A2A4}"/>
    <pc:docChg chg="undo redo custSel addSld delSld modSld">
      <pc:chgData name="Richard Levine" userId="be0075ead24e3c6f" providerId="LiveId" clId="{27AFA423-7147-4023-A61A-00A75039A2A4}" dt="2019-12-30T03:41:07.262" v="387" actId="2696"/>
      <pc:docMkLst>
        <pc:docMk/>
      </pc:docMkLst>
      <pc:sldChg chg="modSp">
        <pc:chgData name="Richard Levine" userId="be0075ead24e3c6f" providerId="LiveId" clId="{27AFA423-7147-4023-A61A-00A75039A2A4}" dt="2019-12-30T03:06:37.537" v="209" actId="6549"/>
        <pc:sldMkLst>
          <pc:docMk/>
          <pc:sldMk cId="0" sldId="426"/>
        </pc:sldMkLst>
        <pc:spChg chg="mod">
          <ac:chgData name="Richard Levine" userId="be0075ead24e3c6f" providerId="LiveId" clId="{27AFA423-7147-4023-A61A-00A75039A2A4}" dt="2019-12-30T03:06:37.537" v="209" actId="6549"/>
          <ac:spMkLst>
            <pc:docMk/>
            <pc:sldMk cId="0" sldId="426"/>
            <ac:spMk id="110596" creationId="{00000000-0000-0000-0000-000000000000}"/>
          </ac:spMkLst>
        </pc:spChg>
      </pc:sldChg>
      <pc:sldChg chg="delSp modSp del delAnim">
        <pc:chgData name="Richard Levine" userId="be0075ead24e3c6f" providerId="LiveId" clId="{27AFA423-7147-4023-A61A-00A75039A2A4}" dt="2019-12-30T03:41:07.262" v="387" actId="2696"/>
        <pc:sldMkLst>
          <pc:docMk/>
          <pc:sldMk cId="0" sldId="427"/>
        </pc:sldMkLst>
        <pc:spChg chg="del">
          <ac:chgData name="Richard Levine" userId="be0075ead24e3c6f" providerId="LiveId" clId="{27AFA423-7147-4023-A61A-00A75039A2A4}" dt="2019-12-30T03:06:59.572" v="211" actId="478"/>
          <ac:spMkLst>
            <pc:docMk/>
            <pc:sldMk cId="0" sldId="427"/>
            <ac:spMk id="9" creationId="{00000000-0000-0000-0000-000000000000}"/>
          </ac:spMkLst>
        </pc:spChg>
        <pc:spChg chg="mod">
          <ac:chgData name="Richard Levine" userId="be0075ead24e3c6f" providerId="LiveId" clId="{27AFA423-7147-4023-A61A-00A75039A2A4}" dt="2019-12-30T03:40:07.193" v="384" actId="1036"/>
          <ac:spMkLst>
            <pc:docMk/>
            <pc:sldMk cId="0" sldId="427"/>
            <ac:spMk id="108547" creationId="{00000000-0000-0000-0000-000000000000}"/>
          </ac:spMkLst>
        </pc:spChg>
        <pc:picChg chg="mod">
          <ac:chgData name="Richard Levine" userId="be0075ead24e3c6f" providerId="LiveId" clId="{27AFA423-7147-4023-A61A-00A75039A2A4}" dt="2019-12-30T03:16:16.385" v="253" actId="1076"/>
          <ac:picMkLst>
            <pc:docMk/>
            <pc:sldMk cId="0" sldId="427"/>
            <ac:picMk id="6" creationId="{00000000-0000-0000-0000-000000000000}"/>
          </ac:picMkLst>
        </pc:picChg>
      </pc:sldChg>
      <pc:sldChg chg="modSp">
        <pc:chgData name="Richard Levine" userId="be0075ead24e3c6f" providerId="LiveId" clId="{27AFA423-7147-4023-A61A-00A75039A2A4}" dt="2019-12-30T00:37:10.440" v="205" actId="20577"/>
        <pc:sldMkLst>
          <pc:docMk/>
          <pc:sldMk cId="0" sldId="436"/>
        </pc:sldMkLst>
        <pc:spChg chg="mod">
          <ac:chgData name="Richard Levine" userId="be0075ead24e3c6f" providerId="LiveId" clId="{27AFA423-7147-4023-A61A-00A75039A2A4}" dt="2019-12-30T00:37:10.440" v="205" actId="20577"/>
          <ac:spMkLst>
            <pc:docMk/>
            <pc:sldMk cId="0" sldId="436"/>
            <ac:spMk id="2" creationId="{00000000-0000-0000-0000-000000000000}"/>
          </ac:spMkLst>
        </pc:spChg>
        <pc:grpChg chg="mod">
          <ac:chgData name="Richard Levine" userId="be0075ead24e3c6f" providerId="LiveId" clId="{27AFA423-7147-4023-A61A-00A75039A2A4}" dt="2019-12-29T15:32:44.928" v="5" actId="1076"/>
          <ac:grpSpMkLst>
            <pc:docMk/>
            <pc:sldMk cId="0" sldId="436"/>
            <ac:grpSpMk id="4" creationId="{00000000-0000-0000-0000-000000000000}"/>
          </ac:grpSpMkLst>
        </pc:grpChg>
      </pc:sldChg>
      <pc:sldChg chg="delSp modSp delAnim">
        <pc:chgData name="Richard Levine" userId="be0075ead24e3c6f" providerId="LiveId" clId="{27AFA423-7147-4023-A61A-00A75039A2A4}" dt="2019-12-30T03:23:20" v="286" actId="1076"/>
        <pc:sldMkLst>
          <pc:docMk/>
          <pc:sldMk cId="1010645689" sldId="466"/>
        </pc:sldMkLst>
        <pc:spChg chg="mod">
          <ac:chgData name="Richard Levine" userId="be0075ead24e3c6f" providerId="LiveId" clId="{27AFA423-7147-4023-A61A-00A75039A2A4}" dt="2019-12-30T03:23:20" v="286" actId="1076"/>
          <ac:spMkLst>
            <pc:docMk/>
            <pc:sldMk cId="1010645689" sldId="466"/>
            <ac:spMk id="108547" creationId="{00000000-0000-0000-0000-000000000000}"/>
          </ac:spMkLst>
        </pc:spChg>
        <pc:picChg chg="del mod">
          <ac:chgData name="Richard Levine" userId="be0075ead24e3c6f" providerId="LiveId" clId="{27AFA423-7147-4023-A61A-00A75039A2A4}" dt="2019-12-30T03:22:42.156" v="283" actId="478"/>
          <ac:picMkLst>
            <pc:docMk/>
            <pc:sldMk cId="1010645689" sldId="466"/>
            <ac:picMk id="2" creationId="{00000000-0000-0000-0000-000000000000}"/>
          </ac:picMkLst>
        </pc:picChg>
      </pc:sldChg>
      <pc:sldChg chg="delSp modSp delAnim">
        <pc:chgData name="Richard Levine" userId="be0075ead24e3c6f" providerId="LiveId" clId="{27AFA423-7147-4023-A61A-00A75039A2A4}" dt="2019-12-30T03:36:22.686" v="373" actId="14100"/>
        <pc:sldMkLst>
          <pc:docMk/>
          <pc:sldMk cId="3011826607" sldId="467"/>
        </pc:sldMkLst>
        <pc:spChg chg="mod">
          <ac:chgData name="Richard Levine" userId="be0075ead24e3c6f" providerId="LiveId" clId="{27AFA423-7147-4023-A61A-00A75039A2A4}" dt="2019-12-30T03:36:22.686" v="373" actId="14100"/>
          <ac:spMkLst>
            <pc:docMk/>
            <pc:sldMk cId="3011826607" sldId="467"/>
            <ac:spMk id="108547" creationId="{00000000-0000-0000-0000-000000000000}"/>
          </ac:spMkLst>
        </pc:spChg>
        <pc:picChg chg="del">
          <ac:chgData name="Richard Levine" userId="be0075ead24e3c6f" providerId="LiveId" clId="{27AFA423-7147-4023-A61A-00A75039A2A4}" dt="2019-12-30T03:32:59.363" v="364" actId="478"/>
          <ac:picMkLst>
            <pc:docMk/>
            <pc:sldMk cId="3011826607" sldId="467"/>
            <ac:picMk id="4" creationId="{00000000-0000-0000-0000-000000000000}"/>
          </ac:picMkLst>
        </pc:picChg>
      </pc:sldChg>
      <pc:sldChg chg="modSp">
        <pc:chgData name="Richard Levine" userId="be0075ead24e3c6f" providerId="LiveId" clId="{27AFA423-7147-4023-A61A-00A75039A2A4}" dt="2019-12-30T03:38:48.289" v="382" actId="14100"/>
        <pc:sldMkLst>
          <pc:docMk/>
          <pc:sldMk cId="3389868580" sldId="509"/>
        </pc:sldMkLst>
        <pc:spChg chg="mod">
          <ac:chgData name="Richard Levine" userId="be0075ead24e3c6f" providerId="LiveId" clId="{27AFA423-7147-4023-A61A-00A75039A2A4}" dt="2019-12-30T03:38:48.289" v="382" actId="14100"/>
          <ac:spMkLst>
            <pc:docMk/>
            <pc:sldMk cId="3389868580" sldId="509"/>
            <ac:spMk id="19" creationId="{00000000-0000-0000-0000-000000000000}"/>
          </ac:spMkLst>
        </pc:spChg>
      </pc:sldChg>
      <pc:sldChg chg="add del">
        <pc:chgData name="Richard Levine" userId="be0075ead24e3c6f" providerId="LiveId" clId="{27AFA423-7147-4023-A61A-00A75039A2A4}" dt="2019-12-30T03:21:47.442" v="272" actId="2696"/>
        <pc:sldMkLst>
          <pc:docMk/>
          <pc:sldMk cId="454492440" sldId="511"/>
        </pc:sldMkLst>
      </pc:sldChg>
      <pc:sldChg chg="addSp modSp add del modAnim">
        <pc:chgData name="Richard Levine" userId="be0075ead24e3c6f" providerId="LiveId" clId="{27AFA423-7147-4023-A61A-00A75039A2A4}" dt="2019-12-30T03:21:33.433" v="271" actId="2696"/>
        <pc:sldMkLst>
          <pc:docMk/>
          <pc:sldMk cId="1382209882" sldId="512"/>
        </pc:sldMkLst>
        <pc:spChg chg="add mod">
          <ac:chgData name="Richard Levine" userId="be0075ead24e3c6f" providerId="LiveId" clId="{27AFA423-7147-4023-A61A-00A75039A2A4}" dt="2019-12-30T03:15:50.688" v="252" actId="14100"/>
          <ac:spMkLst>
            <pc:docMk/>
            <pc:sldMk cId="1382209882" sldId="512"/>
            <ac:spMk id="5" creationId="{02887487-AD32-4978-987F-7B1F3BB3BE14}"/>
          </ac:spMkLst>
        </pc:spChg>
      </pc:sldChg>
      <pc:sldChg chg="addSp delSp modSp add delAnim modAnim">
        <pc:chgData name="Richard Levine" userId="be0075ead24e3c6f" providerId="LiveId" clId="{27AFA423-7147-4023-A61A-00A75039A2A4}" dt="2019-12-30T03:40:56.852" v="386" actId="478"/>
        <pc:sldMkLst>
          <pc:docMk/>
          <pc:sldMk cId="1512737840" sldId="513"/>
        </pc:sldMkLst>
        <pc:spChg chg="add del mod">
          <ac:chgData name="Richard Levine" userId="be0075ead24e3c6f" providerId="LiveId" clId="{27AFA423-7147-4023-A61A-00A75039A2A4}" dt="2019-12-30T03:40:56.852" v="386" actId="478"/>
          <ac:spMkLst>
            <pc:docMk/>
            <pc:sldMk cId="1512737840" sldId="513"/>
            <ac:spMk id="5" creationId="{146BC3C7-7E87-4F95-B4F4-4D3AF8FABA36}"/>
          </ac:spMkLst>
        </pc:spChg>
        <pc:spChg chg="mod">
          <ac:chgData name="Richard Levine" userId="be0075ead24e3c6f" providerId="LiveId" clId="{27AFA423-7147-4023-A61A-00A75039A2A4}" dt="2019-12-30T03:20:10.725" v="263" actId="1076"/>
          <ac:spMkLst>
            <pc:docMk/>
            <pc:sldMk cId="1512737840" sldId="513"/>
            <ac:spMk id="108547" creationId="{00000000-0000-0000-0000-000000000000}"/>
          </ac:spMkLst>
        </pc:spChg>
      </pc:sldChg>
      <pc:sldChg chg="add del">
        <pc:chgData name="Richard Levine" userId="be0075ead24e3c6f" providerId="LiveId" clId="{27AFA423-7147-4023-A61A-00A75039A2A4}" dt="2019-12-30T03:32:46.087" v="362" actId="2696"/>
        <pc:sldMkLst>
          <pc:docMk/>
          <pc:sldMk cId="2898696972" sldId="514"/>
        </pc:sldMkLst>
      </pc:sldChg>
      <pc:sldChg chg="addSp modSp add modAnim">
        <pc:chgData name="Richard Levine" userId="be0075ead24e3c6f" providerId="LiveId" clId="{27AFA423-7147-4023-A61A-00A75039A2A4}" dt="2019-12-30T03:32:16.346" v="361" actId="692"/>
        <pc:sldMkLst>
          <pc:docMk/>
          <pc:sldMk cId="738006068" sldId="515"/>
        </pc:sldMkLst>
        <pc:picChg chg="add mod">
          <ac:chgData name="Richard Levine" userId="be0075ead24e3c6f" providerId="LiveId" clId="{27AFA423-7147-4023-A61A-00A75039A2A4}" dt="2019-12-30T03:32:16.346" v="361" actId="692"/>
          <ac:picMkLst>
            <pc:docMk/>
            <pc:sldMk cId="738006068" sldId="515"/>
            <ac:picMk id="4" creationId="{C9923F9A-698E-4366-841C-1B65E683F697}"/>
          </ac:picMkLst>
        </pc:picChg>
      </pc:sldChg>
      <pc:sldChg chg="add del">
        <pc:chgData name="Richard Levine" userId="be0075ead24e3c6f" providerId="LiveId" clId="{27AFA423-7147-4023-A61A-00A75039A2A4}" dt="2019-12-30T03:38:11.447" v="379" actId="2696"/>
        <pc:sldMkLst>
          <pc:docMk/>
          <pc:sldMk cId="2208593392" sldId="516"/>
        </pc:sldMkLst>
      </pc:sldChg>
      <pc:sldChg chg="addSp modSp add modAnim">
        <pc:chgData name="Richard Levine" userId="be0075ead24e3c6f" providerId="LiveId" clId="{27AFA423-7147-4023-A61A-00A75039A2A4}" dt="2019-12-30T03:37:46.613" v="378" actId="1076"/>
        <pc:sldMkLst>
          <pc:docMk/>
          <pc:sldMk cId="2540978751" sldId="517"/>
        </pc:sldMkLst>
        <pc:picChg chg="add mod">
          <ac:chgData name="Richard Levine" userId="be0075ead24e3c6f" providerId="LiveId" clId="{27AFA423-7147-4023-A61A-00A75039A2A4}" dt="2019-12-30T03:37:46.613" v="378" actId="1076"/>
          <ac:picMkLst>
            <pc:docMk/>
            <pc:sldMk cId="2540978751" sldId="517"/>
            <ac:picMk id="4" creationId="{1E791392-8F4F-4325-8875-661FA51CCBFA}"/>
          </ac:picMkLst>
        </pc:picChg>
      </pc:sldChg>
      <pc:sldChg chg="add">
        <pc:chgData name="Richard Levine" userId="be0075ead24e3c6f" providerId="LiveId" clId="{27AFA423-7147-4023-A61A-00A75039A2A4}" dt="2019-12-30T03:40:39.620" v="385"/>
        <pc:sldMkLst>
          <pc:docMk/>
          <pc:sldMk cId="3392309389" sldId="5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ct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fld id="{9341367C-E063-483A-976E-701E1B78A2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447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95FA4F-381F-404D-BF6E-002662B65353}" type="datetimeFigureOut">
              <a:rPr lang="en-US" altLang="en-US"/>
              <a:pPr>
                <a:defRPr/>
              </a:pPr>
              <a:t>6/8/2020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8BD030A-9FCF-4978-B2BB-2A6331F99A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0155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9BB64FC2-48CF-41FB-BF4C-8C60240A1A5C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774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285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92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30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4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03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50948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7833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4440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8808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10173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53117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964820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760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8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  <p:sldLayoutId id="2147484045" r:id="rId3"/>
    <p:sldLayoutId id="2147484046" r:id="rId4"/>
    <p:sldLayoutId id="2147484047" r:id="rId5"/>
    <p:sldLayoutId id="2147484048" r:id="rId6"/>
    <p:sldLayoutId id="2147484049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135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181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9" name="Text Placeholder 5"/>
          <p:cNvSpPr>
            <a:spLocks noGrp="1"/>
          </p:cNvSpPr>
          <p:nvPr/>
        </p:nvSpPr>
        <p:spPr>
          <a:xfrm>
            <a:off x="117956" y="3988341"/>
            <a:ext cx="7883044" cy="7170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Assumptions and Diagnostics: </a:t>
            </a:r>
            <a:br>
              <a:rPr lang="en-US" altLang="en-US" sz="2000" dirty="0"/>
            </a:br>
            <a:r>
              <a:rPr lang="en-US" altLang="en-US" sz="2000" dirty="0"/>
              <a:t>Data Example 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52669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="" xmlns:a16="http://schemas.microsoft.com/office/drawing/2014/main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338986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251103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369468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1" y="1012031"/>
            <a:ext cx="49529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Quantitative Predicting Variables:</a:t>
            </a:r>
          </a:p>
          <a:p>
            <a:pPr marL="857250" lvl="2" indent="-515938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1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The amount (in hundreds of dollars) spent on advertising in 1999</a:t>
            </a:r>
          </a:p>
          <a:p>
            <a:pPr marL="857250" lvl="1" indent="-515938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2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The total amount of bonuses paid in 1999</a:t>
            </a:r>
          </a:p>
          <a:p>
            <a:pPr marL="741363" lvl="1" indent="-400050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3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The market share in each territory</a:t>
            </a:r>
          </a:p>
          <a:p>
            <a:pPr marL="741363" lvl="1" indent="-400050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4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The largest competitor's sales</a:t>
            </a:r>
          </a:p>
          <a:p>
            <a:pPr eaLnBrk="1" hangingPunct="1"/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eaLnBrk="1" hangingPunct="1"/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Qualitative Predicting Variable: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857250" lvl="2" indent="-515938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</a:t>
            </a:r>
            <a:r>
              <a:rPr lang="en-US" altLang="en-US" baseline="-250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5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Indicates the region of the office </a:t>
            </a:r>
          </a:p>
          <a:p>
            <a:pPr marL="857250" lvl="2" eaLnBrk="1" hangingPunct="1"/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(1 = south, 2 = west, 3 = </a:t>
            </a:r>
            <a:r>
              <a:rPr lang="en-US" altLang="en-US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midwest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lvl="1" indent="-457200" eaLnBrk="1" hangingPunct="1"/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lvl="1" indent="-457200" eaLnBrk="1" hangingPunct="1"/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Response Variable:</a:t>
            </a:r>
          </a:p>
          <a:p>
            <a:pPr marL="741363" lvl="2" indent="-400050" eaLnBrk="1" hangingPunct="1"/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</a:t>
            </a:r>
            <a:r>
              <a:rPr lang="en-US" altLang="en-US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Sales (in thousands of dollars) in 1999</a:t>
            </a:r>
            <a:endParaRPr lang="en-US" altLang="en-US" b="1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3449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Linear Regression: Example 1</a:t>
            </a:r>
            <a:endParaRPr lang="en-US" sz="3600" dirty="0">
              <a:latin typeface="Vitesse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7975" y="2923398"/>
            <a:ext cx="2484210" cy="16594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120" y="1077650"/>
            <a:ext cx="2184369" cy="1485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6200000">
            <a:off x="5271990" y="1693235"/>
            <a:ext cx="742969" cy="2543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200"/>
              </a:lnSpc>
            </a:pPr>
            <a:r>
              <a:rPr lang="en-US" dirty="0">
                <a:latin typeface="Helvetica"/>
                <a:cs typeface="Helvetica"/>
              </a:rPr>
              <a:t>Sales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68043" y="2563170"/>
            <a:ext cx="1618522" cy="3602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/>
                <a:cs typeface="Helvetica"/>
              </a:rPr>
              <a:t>Advertisement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ChangeArrowheads="1"/>
          </p:cNvSpPr>
          <p:nvPr/>
        </p:nvSpPr>
        <p:spPr bwMode="auto">
          <a:xfrm>
            <a:off x="3829050" y="1943100"/>
            <a:ext cx="6858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152400" y="1013025"/>
            <a:ext cx="82296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404813" indent="-404813" eaLnBrk="1" hangingPunct="1">
              <a:spcBef>
                <a:spcPct val="50000"/>
              </a:spcBef>
              <a:buFont typeface="+mj-lt"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the assumptions hold? Provide the graphical displays needed to support the diagnostics. Interpret.</a:t>
            </a:r>
          </a:p>
          <a:p>
            <a:pPr marL="404813" indent="-404813" eaLnBrk="1" hangingPunct="1">
              <a:spcBef>
                <a:spcPct val="50000"/>
              </a:spcBef>
              <a:buFont typeface="+mj-lt"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If one or more assumptions do not hold, what transformations do you suggest? Did the residual diagnoses improve with the suggested transformations?</a:t>
            </a:r>
          </a:p>
          <a:p>
            <a:pPr marL="404813" indent="-404813" eaLnBrk="1" hangingPunct="1">
              <a:spcBef>
                <a:spcPct val="50000"/>
              </a:spcBef>
              <a:buFont typeface="+mj-lt"/>
              <a:buAutoNum type="alphaLcPeriod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you identify any outliers?</a:t>
            </a:r>
            <a:endParaRPr lang="en-US" altLang="en-US" sz="16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449" y="251529"/>
            <a:ext cx="8562392" cy="643822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 Analysis: Example 1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70725" y="1051369"/>
            <a:ext cx="531567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Scatter plot matrix of sales and numeric predicting variables </a:t>
            </a:r>
          </a:p>
          <a:p>
            <a:pPr eaLnBrk="1" hangingPunct="1"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400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[,1:5])</a:t>
            </a:r>
            <a:endParaRPr lang="en-US" alt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056522"/>
            <a:ext cx="4564536" cy="25726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33" y="251529"/>
            <a:ext cx="8562392" cy="585228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Linearity Assumption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900579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70725" y="1051369"/>
            <a:ext cx="531567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Scatter plot matrix of sales and numeric predicting variables </a:t>
            </a:r>
          </a:p>
          <a:p>
            <a:pPr eaLnBrk="1" hangingPunct="1"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[,1:5])</a:t>
            </a:r>
            <a:endParaRPr lang="en-US" altLang="en-US" sz="14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2056522"/>
            <a:ext cx="4564536" cy="25726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33" y="251529"/>
            <a:ext cx="8562392" cy="585228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Linearity Assumption</a:t>
            </a:r>
            <a:endParaRPr lang="en-US" sz="3600" dirty="0">
              <a:latin typeface="Vitess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0E3AADD-7CAC-41E8-A361-0E0F66E882A3}"/>
              </a:ext>
            </a:extLst>
          </p:cNvPr>
          <p:cNvSpPr txBox="1"/>
          <p:nvPr/>
        </p:nvSpPr>
        <p:spPr>
          <a:xfrm>
            <a:off x="5478685" y="1276350"/>
            <a:ext cx="3284316" cy="2800767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tIns="91440" bIns="91440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Linearity assumption holds for all predicting variables.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 b="1" dirty="0">
              <a:solidFill>
                <a:srgbClr val="000000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b="1" dirty="0">
                <a:solidFill>
                  <a:srgbClr val="000000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For advertisement expenditure, bonus amount, and competitor’s sales, the relationship with sales is strongly linear.</a:t>
            </a:r>
          </a:p>
        </p:txBody>
      </p:sp>
    </p:spTree>
    <p:extLst>
      <p:ext uri="{BB962C8B-B14F-4D97-AF65-F5344CB8AC3E}">
        <p14:creationId xmlns:p14="http://schemas.microsoft.com/office/powerpoint/2010/main" val="3519187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52400" y="1059325"/>
            <a:ext cx="7547483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6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Standardized Residuals versus individual predicting variables </a:t>
            </a:r>
          </a:p>
          <a:p>
            <a:pPr eaLnBrk="1" hangingPunct="1"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resids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stdres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(model)</a:t>
            </a:r>
          </a:p>
          <a:p>
            <a:pPr eaLnBrk="1" hangingPunct="1"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par(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mfrow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=c(2,2))</a:t>
            </a:r>
          </a:p>
          <a:p>
            <a:pPr eaLnBrk="1" hangingPunct="1"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[,2],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resids,xlab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Adv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Expenditure",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="Residuals")</a:t>
            </a:r>
          </a:p>
          <a:p>
            <a:pPr eaLnBrk="1" hangingPunct="1"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(0,0,col="red")</a:t>
            </a:r>
          </a:p>
          <a:p>
            <a:pPr eaLnBrk="1" hangingPunct="1"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[,3],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resids,xlab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="Bonuses",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="Residuals")</a:t>
            </a:r>
          </a:p>
          <a:p>
            <a:pPr eaLnBrk="1" hangingPunct="1"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(0,0,col="red")</a:t>
            </a:r>
          </a:p>
          <a:p>
            <a:pPr eaLnBrk="1" hangingPunct="1"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[,4],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resids,xlab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="Market Share",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="Residuals")</a:t>
            </a:r>
          </a:p>
          <a:p>
            <a:pPr eaLnBrk="1" hangingPunct="1"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(0,0,col="red")</a:t>
            </a:r>
          </a:p>
          <a:p>
            <a:pPr eaLnBrk="1" hangingPunct="1">
              <a:defRPr/>
            </a:pP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meddcor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[,5],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resids,xlab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="Competitor's Sales",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="Residuals")</a:t>
            </a:r>
          </a:p>
          <a:p>
            <a:pPr eaLnBrk="1" hangingPunct="1">
              <a:defRPr/>
            </a:pP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(0,0,col="red")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2833" y="251529"/>
            <a:ext cx="8562392" cy="585228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Linearity Assumption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01064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2833" y="251529"/>
            <a:ext cx="8562392" cy="585228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Linearity Assumption</a:t>
            </a:r>
            <a:endParaRPr lang="en-US" sz="3600" dirty="0">
              <a:latin typeface="Vitess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47750"/>
            <a:ext cx="6229109" cy="357553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42724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40825" y="1036681"/>
            <a:ext cx="7467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indent="0" eaLnBrk="1" hangingPunct="1"/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library(car)</a:t>
            </a:r>
          </a:p>
          <a:p>
            <a:pPr marL="0" indent="0" eaLnBrk="1" hangingPunct="1"/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fits =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model$fitted</a:t>
            </a:r>
            <a:endParaRPr lang="en-US" altLang="en-US" sz="1600" i="1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0" indent="0" eaLnBrk="1" hangingPunct="1"/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cook =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cooks.distance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(model)</a:t>
            </a:r>
          </a:p>
          <a:p>
            <a:pPr marL="0" indent="0" eaLnBrk="1" hangingPunct="1"/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par(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mfrow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=c(2,2))</a:t>
            </a:r>
          </a:p>
          <a:p>
            <a:pPr marL="0" indent="0" eaLnBrk="1" hangingPunct="1"/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plot(fits,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resids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="Fitted Values",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="Residuals")</a:t>
            </a:r>
          </a:p>
          <a:p>
            <a:pPr marL="0" indent="0" eaLnBrk="1" hangingPunct="1"/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abline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(0,0,col="red")</a:t>
            </a:r>
          </a:p>
          <a:p>
            <a:pPr marL="0" indent="0" eaLnBrk="1" hangingPunct="1"/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qqPlot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resids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="Residuals", main = "")</a:t>
            </a:r>
          </a:p>
          <a:p>
            <a:pPr marL="0" indent="0" eaLnBrk="1" hangingPunct="1"/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hist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resids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="Residuals", main = "",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nclass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=10,col="orange")</a:t>
            </a:r>
          </a:p>
          <a:p>
            <a:pPr marL="0" indent="0" eaLnBrk="1" hangingPunct="1"/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cook,type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="h",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=3,col="red", </a:t>
            </a:r>
            <a:r>
              <a:rPr lang="en-US" alt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alt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"Cook's Distance")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408" y="263103"/>
            <a:ext cx="8562392" cy="632247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 Analysis: Other Assumptions</a:t>
            </a:r>
            <a:endParaRPr 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011826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24408" y="263103"/>
            <a:ext cx="8562392" cy="632247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Residual Analysis: Other Assumptions</a:t>
            </a:r>
            <a:endParaRPr lang="en-US" sz="3600" dirty="0">
              <a:latin typeface="Vitess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00150"/>
            <a:ext cx="5562599" cy="348641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1029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52813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05457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58419</TotalTime>
  <Words>389</Words>
  <Application>Microsoft Office PowerPoint</Application>
  <PresentationFormat>On-screen Show (16:9)</PresentationFormat>
  <Paragraphs>62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ＭＳ Ｐゴシック</vt:lpstr>
      <vt:lpstr>ＭＳ Ｐゴシック</vt:lpstr>
      <vt:lpstr>Arial</vt:lpstr>
      <vt:lpstr>Calibri</vt:lpstr>
      <vt:lpstr>Helvetica</vt:lpstr>
      <vt:lpstr>Helvetica Neue</vt:lpstr>
      <vt:lpstr>Times New Roman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PowerPoint Presentation</vt:lpstr>
      <vt:lpstr>PowerPoint Presentation</vt:lpstr>
      <vt:lpstr>Linear Regression: Example 1</vt:lpstr>
      <vt:lpstr>Residual Analysis: Example 1</vt:lpstr>
      <vt:lpstr>Linearity Assumption</vt:lpstr>
      <vt:lpstr>Linearity Assumption</vt:lpstr>
      <vt:lpstr>Linearity Assumption</vt:lpstr>
      <vt:lpstr>Linearity Assumption</vt:lpstr>
      <vt:lpstr>Residual Analysis: Other Assumptions</vt:lpstr>
      <vt:lpstr>Residual Analysis: Other Assumptions</vt:lpstr>
      <vt:lpstr>PowerPoint Presentation</vt:lpstr>
    </vt:vector>
  </TitlesOfParts>
  <Company>GA Tech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777</cp:revision>
  <dcterms:created xsi:type="dcterms:W3CDTF">2002-04-06T16:20:45Z</dcterms:created>
  <dcterms:modified xsi:type="dcterms:W3CDTF">2020-06-08T18:48:04Z</dcterms:modified>
</cp:coreProperties>
</file>