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2" r:id="rId1"/>
    <p:sldMasterId id="2147484050" r:id="rId2"/>
    <p:sldMasterId id="2147484051" r:id="rId3"/>
  </p:sldMasterIdLst>
  <p:notesMasterIdLst>
    <p:notesMasterId r:id="rId16"/>
  </p:notesMasterIdLst>
  <p:handoutMasterIdLst>
    <p:handoutMasterId r:id="rId17"/>
  </p:handoutMasterIdLst>
  <p:sldIdLst>
    <p:sldId id="503" r:id="rId4"/>
    <p:sldId id="535" r:id="rId5"/>
    <p:sldId id="524" r:id="rId6"/>
    <p:sldId id="529" r:id="rId7"/>
    <p:sldId id="525" r:id="rId8"/>
    <p:sldId id="396" r:id="rId9"/>
    <p:sldId id="473" r:id="rId10"/>
    <p:sldId id="530" r:id="rId11"/>
    <p:sldId id="526" r:id="rId12"/>
    <p:sldId id="533" r:id="rId13"/>
    <p:sldId id="531" r:id="rId14"/>
    <p:sldId id="534" r:id="rId15"/>
  </p:sldIdLst>
  <p:sldSz cx="9144000" cy="5143500" type="screen16x9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624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468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  <p:cmAuthor id="3" name="Richard Levine" initials="RL" lastIdx="6" clrIdx="2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3" autoAdjust="0"/>
    <p:restoredTop sz="96021" autoAdjust="0"/>
  </p:normalViewPr>
  <p:slideViewPr>
    <p:cSldViewPr>
      <p:cViewPr varScale="1">
        <p:scale>
          <a:sx n="78" d="100"/>
          <a:sy n="78" d="100"/>
        </p:scale>
        <p:origin x="864" y="78"/>
      </p:cViewPr>
      <p:guideLst>
        <p:guide orient="horz" pos="1620"/>
        <p:guide pos="2880"/>
        <p:guide pos="144"/>
        <p:guide pos="384"/>
        <p:guide pos="624"/>
        <p:guide pos="3456"/>
        <p:guide orient="horz" pos="468"/>
        <p:guide orient="horz" pos="8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447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3/10/2020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015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E133C5A-03DE-4500-B44E-8C960A209CB2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1703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4F38B8CC-0F04-4CEB-BB7F-2828AC956FE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425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4F38B8CC-0F04-4CEB-BB7F-2828AC956FE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4378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972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6767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11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80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16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459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2120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891698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453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1696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833148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09254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73930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3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49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8543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278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44728" y="3986785"/>
            <a:ext cx="3996844" cy="56616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Model Evaluation and Multicollinearity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34AEABA-C275-446A-BBE9-1807ABA86CB8}"/>
              </a:ext>
            </a:extLst>
          </p:cNvPr>
          <p:cNvSpPr>
            <a:spLocks noGrp="1"/>
          </p:cNvSpPr>
          <p:nvPr/>
        </p:nvSpPr>
        <p:spPr>
          <a:xfrm>
            <a:off x="116439" y="252669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AB406A4-8059-47B7-9A57-6535C7813A24}"/>
              </a:ext>
            </a:extLst>
          </p:cNvPr>
          <p:cNvSpPr>
            <a:spLocks noGrp="1"/>
          </p:cNvSpPr>
          <p:nvPr/>
        </p:nvSpPr>
        <p:spPr>
          <a:xfrm>
            <a:off x="126875" y="750040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27865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25110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393900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4691" name="Text Box 3"/>
              <p:cNvSpPr txBox="1">
                <a:spLocks noChangeArrowheads="1"/>
              </p:cNvSpPr>
              <p:nvPr/>
            </p:nvSpPr>
            <p:spPr bwMode="auto">
              <a:xfrm>
                <a:off x="166815" y="1006531"/>
                <a:ext cx="4938585" cy="33899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 measure that efficiently summarizes how well the </a:t>
                </a:r>
                <a:r>
                  <a:rPr lang="en-US" altLang="en-US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X</a:t>
                </a:r>
                <a:r>
                  <a:rPr lang="en-US" altLang="en-US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can be used to predict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</a:t>
                </a:r>
                <a:r>
                  <a:rPr lang="en-US" altLang="en-US" b="1" baseline="30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2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(called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R-squared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or the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coefficient of determination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):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8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741363"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type m:val="lin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pitchFamily="18" charset="0"/>
                            </a:rPr>
                            <m:t>SSE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pitchFamily="18" charset="0"/>
                            </a:rPr>
                            <m:t>SST</m:t>
                          </m:r>
                        </m:den>
                      </m:f>
                    </m:oMath>
                  </m:oMathPara>
                </a14:m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</a:t>
                </a:r>
              </a:p>
              <a:p>
                <a:pPr marL="741363"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SSE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741363"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SST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469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815" y="1006531"/>
                <a:ext cx="4938585" cy="3389902"/>
              </a:xfrm>
              <a:prstGeom prst="rect">
                <a:avLst/>
              </a:prstGeom>
              <a:blipFill>
                <a:blip r:embed="rId2"/>
                <a:stretch>
                  <a:fillRect l="-986" t="-8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3271" y="249965"/>
            <a:ext cx="8562392" cy="721586"/>
          </a:xfrm>
        </p:spPr>
        <p:txBody>
          <a:bodyPr/>
          <a:lstStyle/>
          <a:p>
            <a:r>
              <a:rPr lang="en-US" altLang="zh-CN" sz="3600" dirty="0">
                <a:latin typeface="Vitesse"/>
                <a:ea typeface="Vitesse" charset="0"/>
                <a:cs typeface="Vitesse" charset="0"/>
              </a:rPr>
              <a:t>R</a:t>
            </a:r>
            <a:r>
              <a:rPr lang="en-US" altLang="zh-CN" sz="3600" baseline="30000" dirty="0">
                <a:latin typeface="Vitesse"/>
                <a:ea typeface="Vitesse" charset="0"/>
                <a:cs typeface="Vitesse" charset="0"/>
              </a:rPr>
              <a:t>2</a:t>
            </a:r>
            <a:r>
              <a:rPr lang="en-US" altLang="zh-CN" sz="3600" dirty="0">
                <a:latin typeface="Vitesse"/>
                <a:ea typeface="Vitesse" charset="0"/>
                <a:cs typeface="Vitesse" charset="0"/>
              </a:rPr>
              <a:t>: </a:t>
            </a: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Coefficient of Determination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E15B4E0B-0A3A-4730-87FB-83D21606E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399" y="2269688"/>
            <a:ext cx="3189263" cy="1292662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tIns="9144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</a:t>
            </a:r>
            <a:r>
              <a:rPr lang="en-US" altLang="en-US" baseline="30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is interpreted as the proportion of total variability in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that can be explained by the linear regression model.</a:t>
            </a:r>
          </a:p>
        </p:txBody>
      </p:sp>
    </p:spTree>
    <p:extLst>
      <p:ext uri="{BB962C8B-B14F-4D97-AF65-F5344CB8AC3E}">
        <p14:creationId xmlns:p14="http://schemas.microsoft.com/office/powerpoint/2010/main" val="68350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68536E-E8C5-4A60-A393-3D02143AF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8" y="249965"/>
            <a:ext cx="8562392" cy="645386"/>
          </a:xfrm>
        </p:spPr>
        <p:txBody>
          <a:bodyPr/>
          <a:lstStyle/>
          <a:p>
            <a:r>
              <a:rPr lang="en-US" altLang="zh-CN" sz="3600" dirty="0">
                <a:latin typeface="Vitesse"/>
                <a:ea typeface="Vitesse" charset="0"/>
                <a:cs typeface="Vitesse" charset="0"/>
              </a:rPr>
              <a:t>R</a:t>
            </a:r>
            <a:r>
              <a:rPr lang="en-US" altLang="zh-CN" sz="3600" baseline="30000" dirty="0">
                <a:latin typeface="Vitesse"/>
                <a:ea typeface="Vitesse" charset="0"/>
                <a:cs typeface="Vitesse" charset="0"/>
              </a:rPr>
              <a:t>2</a:t>
            </a:r>
            <a:r>
              <a:rPr lang="en-US" altLang="zh-CN" sz="3600" dirty="0">
                <a:latin typeface="Vitesse"/>
                <a:ea typeface="Vitesse" charset="0"/>
                <a:cs typeface="Vitesse" charset="0"/>
              </a:rPr>
              <a:t>: Notation and Terminology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92F1110-9D77-425E-ACAE-B15032A61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6" y="1047384"/>
            <a:ext cx="8482914" cy="350865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lIns="182880" tIns="0" rIns="18288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SST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and 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refer to </a:t>
            </a: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 of squared errors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 of squares total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and </a:t>
            </a: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 of squares for regression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 Unfortunately, the field of statistics abounds in inconsistent terminology and notation.</a:t>
            </a:r>
            <a:endParaRPr lang="en-US" altLang="en-US" sz="10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95288" indent="-395288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SSE: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sometimes denoted </a:t>
            </a:r>
            <a:r>
              <a:rPr lang="en-US" altLang="en-US" b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</a:t>
            </a:r>
            <a:r>
              <a:rPr lang="en-US" altLang="en-US" b="1" baseline="-250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error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or </a:t>
            </a:r>
            <a:r>
              <a:rPr lang="en-US" altLang="en-US" b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</a:t>
            </a:r>
            <a:r>
              <a:rPr lang="en-US" altLang="en-US" b="1" baseline="-250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err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is also known as 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RSS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(residual sum of squares) and </a:t>
            </a:r>
            <a:r>
              <a:rPr lang="en-US" altLang="en-US" b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</a:t>
            </a:r>
            <a:r>
              <a:rPr lang="en-US" altLang="en-US" b="1" baseline="-250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(sum of squared residuals, sometimes 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).</a:t>
            </a:r>
            <a:endParaRPr lang="en-US" altLang="en-US" sz="10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95288" indent="-395288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SST: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sometimes written as </a:t>
            </a:r>
            <a:r>
              <a:rPr lang="en-US" altLang="en-US" b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</a:t>
            </a:r>
            <a:r>
              <a:rPr lang="en-US" altLang="en-US" b="1" baseline="-250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total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or </a:t>
            </a:r>
            <a:r>
              <a:rPr lang="en-US" altLang="en-US" b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</a:t>
            </a:r>
            <a:r>
              <a:rPr lang="en-US" altLang="en-US" b="1" baseline="-250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tot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 It is also called total sum of squares and written as 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TSS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  <a:endParaRPr lang="en-US" altLang="en-US" sz="10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95288" indent="-395288" eaLnBrk="1" hangingPunct="1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SSR: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also called the sum of squares due to regression, and it is sometimes written as </a:t>
            </a:r>
            <a:r>
              <a:rPr lang="en-US" altLang="en-US" b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SS</a:t>
            </a:r>
            <a:r>
              <a:rPr lang="en-US" altLang="en-US" b="1" baseline="-250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 It's also called explained sum of squares (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ESS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). Don't confuse ESS with SSE, and, for R</a:t>
            </a:r>
            <a:r>
              <a:rPr lang="en-US" altLang="en-US" baseline="30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remember that SSR is SS regression, not SS residuals!</a:t>
            </a:r>
            <a:endParaRPr lang="en-US" altLang="en-US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59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29" y="249965"/>
            <a:ext cx="8562392" cy="569186"/>
          </a:xfrm>
        </p:spPr>
        <p:txBody>
          <a:bodyPr/>
          <a:lstStyle/>
          <a:p>
            <a:pPr>
              <a:defRPr/>
            </a:pP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Model Evaluation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D75189-1E7F-47E7-A2CA-181BD9A000AB}"/>
                  </a:ext>
                </a:extLst>
              </p:cNvPr>
              <p:cNvSpPr txBox="1"/>
              <p:nvPr/>
            </p:nvSpPr>
            <p:spPr>
              <a:xfrm>
                <a:off x="152400" y="1004505"/>
                <a:ext cx="8001000" cy="384361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F-test for overall regression</a:t>
                </a:r>
              </a:p>
              <a:p>
                <a:pPr marL="741363" lvl="1" indent="-3921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⋯=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𝑝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=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0</m:t>
                    </m:r>
                  </m:oMath>
                </a14:m>
                <a:endParaRPr lang="en-US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741363" lvl="1" indent="-3921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F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MSR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MSE</m:t>
                        </m:r>
                      </m:den>
                    </m:f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/>
                      </a:rPr>
                      <m:t>F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˗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𝑝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˗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1</m:t>
                        </m:r>
                      </m:e>
                    </m:d>
                  </m:oMath>
                </a14:m>
                <a:endParaRPr lang="en-US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1149350" lvl="2" indent="-409575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MSR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SSR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𝑝</m:t>
                        </m:r>
                      </m:den>
                    </m:f>
                  </m:oMath>
                </a14:m>
                <a:endParaRPr lang="en-US" b="0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1482725" lvl="3" indent="-33496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SS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6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b="0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1149350" lvl="2" indent="-409575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MS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E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SS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E</m:t>
                        </m:r>
                      </m:num>
                      <m:den>
                        <m:d>
                          <m:dPr>
                            <m:ctrlPr>
                              <a:rPr lang="en-US" sz="1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𝑛</m:t>
                            </m:r>
                            <m:r>
                              <m:rPr>
                                <m:nor/>
                              </m:rPr>
                              <a:rPr lang="en-US" sz="16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  <m:t>˗</m:t>
                            </m:r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𝑝</m:t>
                            </m:r>
                            <m:r>
                              <m:rPr>
                                <m:nor/>
                              </m:rPr>
                              <a:rPr lang="en-US" sz="16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  <m:t>˗</m:t>
                            </m:r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800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Coefficient of determination</a:t>
                </a:r>
              </a:p>
              <a:p>
                <a:pPr marL="741363" lvl="1" indent="-3921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lin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SSE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SST</m:t>
                        </m:r>
                      </m:den>
                    </m:f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SS</m:t>
                        </m:r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SST</m:t>
                        </m:r>
                      </m:den>
                    </m:f>
                  </m:oMath>
                </a14:m>
                <a:endParaRPr lang="en-US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741363" lvl="1" indent="-392113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/>
                  </a:rPr>
                  <a:t>R</a:t>
                </a:r>
                <a:r>
                  <a:rPr lang="en-US" baseline="30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/>
                  </a:rPr>
                  <a:t>2</a:t>
                </a:r>
                <a:r>
                  <a:rPr lang="en-US" dirty="0">
                    <a:solidFill>
                      <a:srgbClr val="000000"/>
                    </a:solidFill>
                    <a:latin typeface="Helvetica Neue"/>
                    <a:cs typeface="Helvetica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increases when additional predictors are added to a model</a:t>
                </a:r>
              </a:p>
              <a:p>
                <a:pPr marL="1149350" lvl="2" indent="-40957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Such increase might not indicate increased explanatory power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800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Adjusted coefficient of determination</a:t>
                </a:r>
              </a:p>
              <a:p>
                <a:pPr marL="741363" lvl="1" indent="-392113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Penalizes for more predictors</a:t>
                </a:r>
              </a:p>
              <a:p>
                <a:pPr marL="741363" lvl="1" indent="-392113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lin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𝑛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  <m:t>˗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  <m:t>˗</m:t>
                            </m:r>
                            <m:sSup>
                              <m:sSup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𝑛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  <m:t>˗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𝑝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  <m:t>˗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D75189-1E7F-47E7-A2CA-181BD9A00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004505"/>
                <a:ext cx="8001000" cy="3843616"/>
              </a:xfrm>
              <a:prstGeom prst="rect">
                <a:avLst/>
              </a:prstGeom>
              <a:blipFill>
                <a:blip r:embed="rId2"/>
                <a:stretch>
                  <a:fillRect l="-457" t="-952" b="-16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166815" y="999827"/>
            <a:ext cx="7848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statistic that efficiently summarizes how well one of the </a:t>
            </a:r>
            <a:r>
              <a:rPr lang="en-US" altLang="en-US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is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linearly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related to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(or to another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 is </a:t>
            </a:r>
            <a:r>
              <a:rPr lang="el-GR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 Neue" charset="0"/>
              </a:rPr>
              <a:t>ρ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the (Pearson) correlation coefficient: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740" name="Object 4"/>
              <p:cNvSpPr txBox="1"/>
              <p:nvPr/>
            </p:nvSpPr>
            <p:spPr bwMode="auto">
              <a:xfrm>
                <a:off x="621957" y="1696460"/>
                <a:ext cx="5612822" cy="108036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  <a:effectLst/>
            </p:spPr>
            <p:txBody>
              <a:bodyPr wrap="square" tIns="91440" bIns="9144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cor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̄"/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lang="en-US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 spc="-80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pc="-80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b="0" i="1" spc="-80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674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57" y="1696460"/>
                <a:ext cx="5612822" cy="1080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779" y="249964"/>
            <a:ext cx="8562392" cy="626293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Correlation Coefficient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2873059-5329-4FCF-A8DA-C72F71A7E3E4}"/>
                  </a:ext>
                </a:extLst>
              </p:cNvPr>
              <p:cNvSpPr/>
              <p:nvPr/>
            </p:nvSpPr>
            <p:spPr>
              <a:xfrm>
                <a:off x="152400" y="2876550"/>
                <a:ext cx="7848600" cy="18228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6075" indent="-346075" eaLnBrk="1" hangingPunct="1">
                  <a:spcBef>
                    <a:spcPct val="50000"/>
                  </a:spcBef>
                  <a:buFont typeface="Arial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Can be used to evaluate the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relationship between the response variable and any of the predicting variables,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741363" lvl="1" indent="-396875" eaLnBrk="1" hangingPunct="1">
                  <a:spcBef>
                    <a:spcPct val="50000"/>
                  </a:spcBef>
                  <a:buFont typeface="Arial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Useful when looking for transformations of predicting variables</a:t>
                </a:r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6075" indent="-346075" eaLnBrk="1" hangingPunct="1">
                  <a:spcBef>
                    <a:spcPct val="50000"/>
                  </a:spcBef>
                  <a:buFont typeface="Arial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Can also be used to evaluate correlation between predicting variables</a:t>
                </a:r>
              </a:p>
              <a:p>
                <a:pPr marL="741363" lvl="1" indent="-396875" eaLnBrk="1" hangingPunct="1">
                  <a:spcBef>
                    <a:spcPct val="50000"/>
                  </a:spcBef>
                  <a:buFont typeface="Arial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Can help detect near linear dependence (multicollinearity)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2873059-5329-4FCF-A8DA-C72F71A7E3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876550"/>
                <a:ext cx="7848600" cy="1822807"/>
              </a:xfrm>
              <a:prstGeom prst="rect">
                <a:avLst/>
              </a:prstGeom>
              <a:blipFill>
                <a:blip r:embed="rId3"/>
                <a:stretch>
                  <a:fillRect l="-466" t="-2007" b="-3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7763" name="TextBox 2"/>
              <p:cNvSpPr txBox="1">
                <a:spLocks noChangeArrowheads="1"/>
              </p:cNvSpPr>
              <p:nvPr/>
            </p:nvSpPr>
            <p:spPr bwMode="auto">
              <a:xfrm>
                <a:off x="140042" y="990214"/>
                <a:ext cx="8546757" cy="3853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Recall that finding the ordinary least squares estimator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</a:p>
              <a:p>
                <a:pPr marL="741363" eaLnBrk="1" hangingPunct="1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altLang="en-US" b="1" i="1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eaLnBrk="1" hangingPunct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depends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being invertible (nonsingular or nondegenerate). From linear algebra, a square matrix is invertible if and only if its columns are linearly independent (i.e., no column is a linear combination of the others). </a:t>
                </a:r>
              </a:p>
              <a:p>
                <a:pPr eaLnBrk="1" hangingPunct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that doesn’t hold, the ordinary least squares estimator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doesn’t exist. That’s probably due to a specification error where one or more predictors should be eliminated as redundant (e.g., if years and number of rings were included in a model for trees).</a:t>
                </a:r>
              </a:p>
              <a:p>
                <a:pPr eaLnBrk="1" hangingPunct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Even if the columns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linearly independent, some problems might arise if the value of one predictor can be closely estimated from the other predictors. We call this condition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multicollinearity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or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near collinearity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1776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042" y="990214"/>
                <a:ext cx="8546757" cy="3853491"/>
              </a:xfrm>
              <a:prstGeom prst="rect">
                <a:avLst/>
              </a:prstGeom>
              <a:blipFill>
                <a:blip r:embed="rId3"/>
                <a:stretch>
                  <a:fillRect l="-642" t="-316" r="-499" b="-14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408" y="262322"/>
            <a:ext cx="8562392" cy="616680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Multicollinearity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36059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42101" y="1023036"/>
                <a:ext cx="8077200" cy="3122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95288" indent="-395288" eaLnBrk="1" hangingPunct="1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Indications that near collinearity is present:</a:t>
                </a:r>
              </a:p>
              <a:p>
                <a:pPr marL="741363" lvl="1" indent="-346075" eaLnBrk="1" hangingPunct="1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estimated coefficients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altLang="en-US" b="1" i="1" dirty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accPr>
                      <m:e>
                        <m:r>
                          <a:rPr lang="el-GR" altLang="en-US" b="1" i="1" dirty="0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unstable: When the value of one predictor changes slightly, the fitted regression coefficients change dramatically</a:t>
                </a:r>
              </a:p>
              <a:p>
                <a:pPr marL="741363" lvl="1" indent="-346075" eaLnBrk="1" hangingPunct="1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standard error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altLang="en-US" b="1" i="1" dirty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accPr>
                      <m:e>
                        <m:r>
                          <a:rPr lang="el-GR" altLang="en-US" b="1" i="1" dirty="0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artificially large</a:t>
                </a:r>
              </a:p>
              <a:p>
                <a:pPr marL="741363" lvl="1" indent="-346075" eaLnBrk="1" hangingPunct="1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overall F statistic is significant, but individual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-statistics are not</a:t>
                </a:r>
              </a:p>
              <a:p>
                <a:pPr marL="395288" indent="-395288" eaLnBrk="1" hangingPunct="1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Prediction may be affected</a:t>
                </a:r>
              </a:p>
              <a:p>
                <a:pPr marL="741363" lvl="1" indent="-346075" eaLnBrk="1" hangingPunct="1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relationship to the response may change widely</a:t>
                </a:r>
              </a:p>
              <a:p>
                <a:pPr marL="395288" indent="-395288" eaLnBrk="1" hangingPunct="1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Some computational algorithms are sensitive to multicollinearity</a:t>
                </a:r>
              </a:p>
              <a:p>
                <a:pPr marL="395288" indent="-395288" eaLnBrk="1" hangingPunct="1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But no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inflation or deflation in </a:t>
                </a:r>
                <a:r>
                  <a:rPr lang="en-US" altLang="en-US" b="1" dirty="0">
                    <a:latin typeface="Helvetica Neue" charset="0"/>
                    <a:ea typeface="Helvetica Neue" charset="0"/>
                    <a:cs typeface="Helvetica Neue" charset="0"/>
                  </a:rPr>
                  <a:t>R</a:t>
                </a:r>
                <a:r>
                  <a:rPr lang="en-US" altLang="en-US" b="1" baseline="30000" dirty="0">
                    <a:latin typeface="Helvetica Neue" charset="0"/>
                    <a:ea typeface="Helvetica Neue" charset="0"/>
                    <a:cs typeface="Helvetica Neue" charset="0"/>
                  </a:rPr>
                  <a:t>2</a:t>
                </a:r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01" y="1023036"/>
                <a:ext cx="8077200" cy="3122906"/>
              </a:xfrm>
              <a:prstGeom prst="rect">
                <a:avLst/>
              </a:prstGeom>
              <a:blipFill>
                <a:blip r:embed="rId3"/>
                <a:stretch>
                  <a:fillRect l="-453" t="-1172" b="-2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4408" y="262322"/>
            <a:ext cx="8562392" cy="616680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Multicollinearity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679772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2400" y="963968"/>
                <a:ext cx="8001000" cy="3409588"/>
              </a:xfrm>
              <a:prstGeom prst="rect">
                <a:avLst/>
              </a:prstGeom>
              <a:noFill/>
              <a:ln w="25400">
                <a:noFill/>
              </a:ln>
              <a:effectLst/>
            </p:spPr>
            <p:txBody>
              <a:bodyPr wrap="square" tIns="91440" bIns="91440" rtlCol="0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Compute the variance inflation factor </a:t>
                </a:r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VI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)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each predicting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endParaRPr lang="en-US" sz="8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VI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endParaRPr lang="en-US" sz="9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𝑗</m:t>
                        </m:r>
                      </m:sub>
                      <m:sup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coefficient of determination for the regression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against all other predicting variables.</a:t>
                </a:r>
              </a:p>
              <a:p>
                <a:endParaRPr 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is an acceptable VIF (i.e., multicollinearity is not problematic)?</a:t>
                </a:r>
              </a:p>
              <a:p>
                <a:pPr marL="742950" lvl="1" indent="-34766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VIF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10,  </m:t>
                        </m:r>
                        <m:f>
                          <m:fPr>
                            <m:type m:val="li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model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1149350" lvl="2" indent="-4079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model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coefficient of determination for the original model</a:t>
                </a:r>
              </a:p>
              <a:p>
                <a:pPr marL="1149350" lvl="2" indent="-407988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Rule of thumb only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963968"/>
                <a:ext cx="8001000" cy="3409588"/>
              </a:xfrm>
              <a:prstGeom prst="rect">
                <a:avLst/>
              </a:prstGeom>
              <a:blipFill>
                <a:blip r:embed="rId3"/>
                <a:stretch>
                  <a:fillRect l="-609" r="-1066" b="-716"/>
                </a:stretch>
              </a:blipFill>
              <a:ln w="2540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29" y="249965"/>
            <a:ext cx="8562392" cy="640474"/>
          </a:xfrm>
        </p:spPr>
        <p:txBody>
          <a:bodyPr>
            <a:noAutofit/>
          </a:bodyPr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Multicollinearity Diagnosis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0BBF36-6D8D-4547-8B84-3F2C51715CF4}"/>
              </a:ext>
            </a:extLst>
          </p:cNvPr>
          <p:cNvSpPr/>
          <p:nvPr/>
        </p:nvSpPr>
        <p:spPr>
          <a:xfrm>
            <a:off x="3733800" y="1405101"/>
            <a:ext cx="1676400" cy="685800"/>
          </a:xfrm>
          <a:prstGeom prst="rect">
            <a:avLst/>
          </a:prstGeom>
          <a:noFill/>
          <a:ln w="19050">
            <a:noFill/>
          </a:ln>
          <a:effectLst>
            <a:outerShdw dist="23000" dir="5400000" rotWithShape="0">
              <a:schemeClr val="accent1">
                <a:alpha val="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182880"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E86DEE-7B8D-40AF-A00C-9BECBDA26520}"/>
              </a:ext>
            </a:extLst>
          </p:cNvPr>
          <p:cNvSpPr/>
          <p:nvPr/>
        </p:nvSpPr>
        <p:spPr>
          <a:xfrm>
            <a:off x="990600" y="1405102"/>
            <a:ext cx="1676400" cy="746972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0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58E07B-2E9D-467F-BD0B-34943C37F164}"/>
                  </a:ext>
                </a:extLst>
              </p:cNvPr>
              <p:cNvSpPr/>
              <p:nvPr/>
            </p:nvSpPr>
            <p:spPr>
              <a:xfrm>
                <a:off x="152400" y="1007774"/>
                <a:ext cx="8001000" cy="38643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Steps:</a:t>
                </a:r>
              </a:p>
              <a:p>
                <a:pPr marL="741363" lvl="1" indent="-346075">
                  <a:buFont typeface="+mj-lt"/>
                  <a:buAutoNum type="arabicPeriod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𝑗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 = 1,…,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p</a:t>
                </a:r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,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regress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against all other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=1</m:t>
                    </m:r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,…,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p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, 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i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≠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j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~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,</m:t>
                    </m:r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…,</m:t>
                    </m:r>
                  </m:oMath>
                </a14:m>
                <a:r>
                  <a:rPr lang="en-US" dirty="0"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).</a:t>
                </a:r>
              </a:p>
              <a:p>
                <a:pPr marL="741363" lvl="1" indent="-346075">
                  <a:buFont typeface="+mj-lt"/>
                  <a:buAutoNum type="arabicPeriod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each regression run,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that regression (i.e., 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𝑗</m:t>
                        </m:r>
                      </m:sub>
                      <m:sup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𝑗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 = 1, …,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p</a:t>
                </a:r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).</a:t>
                </a:r>
                <a:endParaRPr lang="en-US" baseline="300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741363" lvl="1" indent="-346075">
                  <a:buFont typeface="+mj-lt"/>
                  <a:buAutoNum type="arabicPeriod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each regression run,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VI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based on the computed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𝑗</m:t>
                        </m:r>
                      </m:sub>
                      <m:sup>
                        <m:r>
                          <a:rPr lang="en-US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for that regression.</a:t>
                </a:r>
              </a:p>
              <a:p>
                <a:pPr marL="741363" lvl="1" indent="-346075">
                  <a:buFont typeface="+mj-lt"/>
                  <a:buAutoNum type="arabicPeriod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any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VI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and it is also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>
                      <m:fPr>
                        <m:type m:val="lin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model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,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model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the coefficient of determination for the original model, the test is positive for multicollinearity.</a:t>
                </a:r>
              </a:p>
              <a:p>
                <a:pPr lvl="1"/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111125"/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High multicollinearity is not detected if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VI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10,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model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58E07B-2E9D-467F-BD0B-34943C37F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007774"/>
                <a:ext cx="8001000" cy="3864391"/>
              </a:xfrm>
              <a:prstGeom prst="rect">
                <a:avLst/>
              </a:prstGeom>
              <a:blipFill>
                <a:blip r:embed="rId3"/>
                <a:stretch>
                  <a:fillRect l="-609" t="-789" r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3CF7C08F-A807-4A76-AA6E-A6B1FFF5EDB7}"/>
              </a:ext>
            </a:extLst>
          </p:cNvPr>
          <p:cNvSpPr/>
          <p:nvPr/>
        </p:nvSpPr>
        <p:spPr>
          <a:xfrm>
            <a:off x="228600" y="4095750"/>
            <a:ext cx="7239000" cy="68580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>
            <a:outerShdw dist="23000" dir="5400000" rotWithShape="0">
              <a:schemeClr val="accent1">
                <a:alpha val="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5329" y="249965"/>
            <a:ext cx="8562392" cy="640474"/>
          </a:xfrm>
        </p:spPr>
        <p:txBody>
          <a:bodyPr>
            <a:noAutofit/>
          </a:bodyPr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Multicollinearity Diagnosis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382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2400" y="988803"/>
                <a:ext cx="8537678" cy="3585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VIF measures the proportional increase in 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alt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l-GR" altLang="en-US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compared to what it would have been if the predicting variables had been completely uncorrelated.</a:t>
                </a:r>
              </a:p>
              <a:p>
                <a:endParaRPr 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6075" indent="-34607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VIF of 1 (the minimum possible VIF) means the tested predictor is not correlated with the other predictors</a:t>
                </a:r>
              </a:p>
              <a:p>
                <a:pPr marL="346075" indent="-346075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higher the VIF:</a:t>
                </a:r>
              </a:p>
              <a:p>
                <a:pPr marL="742950" lvl="1" indent="-396875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more correlated a predictor is with the other predictors</a:t>
                </a:r>
              </a:p>
              <a:p>
                <a:pPr marL="742950" lvl="1" indent="-39687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more the standard error is inflated</a:t>
                </a:r>
              </a:p>
              <a:p>
                <a:pPr marL="742950" lvl="1" indent="-39687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larger the confidence interval</a:t>
                </a:r>
              </a:p>
              <a:p>
                <a:pPr marL="742950" lvl="1" indent="-39687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less likely it is that a coefficient will be evaluated as statistically significant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988803"/>
                <a:ext cx="8537678" cy="3585212"/>
              </a:xfrm>
              <a:prstGeom prst="rect">
                <a:avLst/>
              </a:prstGeom>
              <a:blipFill>
                <a:blip r:embed="rId3"/>
                <a:stretch>
                  <a:fillRect l="-571" t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686" y="249965"/>
            <a:ext cx="8562392" cy="645386"/>
          </a:xfrm>
        </p:spPr>
        <p:txBody>
          <a:bodyPr>
            <a:noAutofit/>
          </a:bodyPr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Multicollinearity Interpretation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24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52813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3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58236</TotalTime>
  <Words>339</Words>
  <Application>Microsoft Office PowerPoint</Application>
  <PresentationFormat>On-screen Show (16:9)</PresentationFormat>
  <Paragraphs>91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7" baseType="lpstr">
      <vt:lpstr>ＭＳ Ｐゴシック</vt:lpstr>
      <vt:lpstr>ＭＳ Ｐゴシック</vt:lpstr>
      <vt:lpstr>Arial</vt:lpstr>
      <vt:lpstr>Calibri</vt:lpstr>
      <vt:lpstr>Cambria Math</vt:lpstr>
      <vt:lpstr>Helvetica</vt:lpstr>
      <vt:lpstr>Helvetica Neue</vt:lpstr>
      <vt:lpstr>Times New Roman</vt:lpstr>
      <vt:lpstr>Vitesse</vt:lpstr>
      <vt:lpstr>Vitesse Bold</vt:lpstr>
      <vt:lpstr>Vitesse Book</vt:lpstr>
      <vt:lpstr>Vitesse Medium</vt:lpstr>
      <vt:lpstr>1_Half Page Slash</vt:lpstr>
      <vt:lpstr>2_Half Page Slash</vt:lpstr>
      <vt:lpstr>2_Full Page Layout</vt:lpstr>
      <vt:lpstr>PowerPoint Presentation</vt:lpstr>
      <vt:lpstr>PowerPoint Presentation</vt:lpstr>
      <vt:lpstr>R2: Coefficient of Determination</vt:lpstr>
      <vt:lpstr>R2: Notation and Terminology</vt:lpstr>
      <vt:lpstr>Model Evaluation</vt:lpstr>
      <vt:lpstr>Correlation Coefficient</vt:lpstr>
      <vt:lpstr>Multicollinearity</vt:lpstr>
      <vt:lpstr>Multicollinearity</vt:lpstr>
      <vt:lpstr>Multicollinearity Diagnosis</vt:lpstr>
      <vt:lpstr>Multicollinearity Diagnosis</vt:lpstr>
      <vt:lpstr>Multicollinearity Interpretation</vt:lpstr>
      <vt:lpstr>PowerPoint Presentation</vt:lpstr>
    </vt:vector>
  </TitlesOfParts>
  <Company>GA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818</cp:revision>
  <dcterms:created xsi:type="dcterms:W3CDTF">2002-04-06T16:20:45Z</dcterms:created>
  <dcterms:modified xsi:type="dcterms:W3CDTF">2020-03-10T22:53:23Z</dcterms:modified>
</cp:coreProperties>
</file>