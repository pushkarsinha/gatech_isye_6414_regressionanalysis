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 id="2147483717" r:id="rId2"/>
    <p:sldMasterId id="2147483718" r:id="rId3"/>
  </p:sldMasterIdLst>
  <p:notesMasterIdLst>
    <p:notesMasterId r:id="rId19"/>
  </p:notesMasterIdLst>
  <p:sldIdLst>
    <p:sldId id="489" r:id="rId4"/>
    <p:sldId id="343" r:id="rId5"/>
    <p:sldId id="338" r:id="rId6"/>
    <p:sldId id="506" r:id="rId7"/>
    <p:sldId id="504" r:id="rId8"/>
    <p:sldId id="348" r:id="rId9"/>
    <p:sldId id="502" r:id="rId10"/>
    <p:sldId id="349" r:id="rId11"/>
    <p:sldId id="353" r:id="rId12"/>
    <p:sldId id="359" r:id="rId13"/>
    <p:sldId id="507" r:id="rId14"/>
    <p:sldId id="358" r:id="rId15"/>
    <p:sldId id="360" r:id="rId16"/>
    <p:sldId id="503" r:id="rId17"/>
    <p:sldId id="344" r:id="rId1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120" userDrawn="1">
          <p15:clr>
            <a:srgbClr val="A4A3A4"/>
          </p15:clr>
        </p15:guide>
        <p15:guide id="4" pos="336" userDrawn="1">
          <p15:clr>
            <a:srgbClr val="A4A3A4"/>
          </p15:clr>
        </p15:guide>
        <p15:guide id="5" pos="552" userDrawn="1">
          <p15:clr>
            <a:srgbClr val="A4A3A4"/>
          </p15:clr>
        </p15:guide>
        <p15:guide id="6" pos="3456" userDrawn="1">
          <p15:clr>
            <a:srgbClr val="A4A3A4"/>
          </p15:clr>
        </p15:guide>
        <p15:guide id="7" pos="5616" userDrawn="1">
          <p15:clr>
            <a:srgbClr val="A4A3A4"/>
          </p15:clr>
        </p15:guide>
        <p15:guide id="8" orient="horz" pos="396" userDrawn="1">
          <p15:clr>
            <a:srgbClr val="A4A3A4"/>
          </p15:clr>
        </p15:guide>
        <p15:guide id="9" orient="horz" pos="660" userDrawn="1">
          <p15:clr>
            <a:srgbClr val="A4A3A4"/>
          </p15:clr>
        </p15:guide>
        <p15:guide id="10" orient="horz" pos="31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hard Levine" initials="RL" lastIdx="1" clrIdx="0">
    <p:extLst>
      <p:ext uri="{19B8F6BF-5375-455C-9EA6-DF929625EA0E}">
        <p15:presenceInfo xmlns:p15="http://schemas.microsoft.com/office/powerpoint/2012/main" userId="Richard Levine" providerId="None"/>
      </p:ext>
    </p:extLst>
  </p:cmAuthor>
  <p:cmAuthor id="2" name="J. Michael Tritchler" initials="JMT" lastIdx="7" clrIdx="1">
    <p:extLst>
      <p:ext uri="{19B8F6BF-5375-455C-9EA6-DF929625EA0E}">
        <p15:presenceInfo xmlns:p15="http://schemas.microsoft.com/office/powerpoint/2012/main" userId="7428f1cfebb934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00CF"/>
    <a:srgbClr val="EAAA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93358" autoAdjust="0"/>
  </p:normalViewPr>
  <p:slideViewPr>
    <p:cSldViewPr snapToGrid="0">
      <p:cViewPr varScale="1">
        <p:scale>
          <a:sx n="105" d="100"/>
          <a:sy n="105" d="100"/>
        </p:scale>
        <p:origin x="874" y="72"/>
      </p:cViewPr>
      <p:guideLst>
        <p:guide orient="horz" pos="1620"/>
        <p:guide pos="2880"/>
        <p:guide pos="120"/>
        <p:guide pos="336"/>
        <p:guide pos="552"/>
        <p:guide pos="3456"/>
        <p:guide pos="5616"/>
        <p:guide orient="horz" pos="396"/>
        <p:guide orient="horz" pos="660"/>
        <p:guide orient="horz" pos="31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358C8-D37B-4DB3-A032-059E1BD5A650}" type="datetimeFigureOut">
              <a:rPr lang="en-US" smtClean="0"/>
              <a:t>6/12/2020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E3481-38DB-434B-B170-CFE83842A57C}" type="slidenum">
              <a:rPr lang="en-US" smtClean="0"/>
              <a:t>‹#›</a:t>
            </a:fld>
            <a:endParaRPr lang="en-US"/>
          </a:p>
        </p:txBody>
      </p:sp>
    </p:spTree>
    <p:extLst>
      <p:ext uri="{BB962C8B-B14F-4D97-AF65-F5344CB8AC3E}">
        <p14:creationId xmlns:p14="http://schemas.microsoft.com/office/powerpoint/2010/main" val="274139800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3</a:t>
            </a:fld>
            <a:endParaRPr lang="en-US"/>
          </a:p>
        </p:txBody>
      </p:sp>
    </p:spTree>
    <p:extLst>
      <p:ext uri="{BB962C8B-B14F-4D97-AF65-F5344CB8AC3E}">
        <p14:creationId xmlns:p14="http://schemas.microsoft.com/office/powerpoint/2010/main" val="19821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4</a:t>
            </a:fld>
            <a:endParaRPr lang="en-US"/>
          </a:p>
        </p:txBody>
      </p:sp>
    </p:spTree>
    <p:extLst>
      <p:ext uri="{BB962C8B-B14F-4D97-AF65-F5344CB8AC3E}">
        <p14:creationId xmlns:p14="http://schemas.microsoft.com/office/powerpoint/2010/main" val="1703583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5</a:t>
            </a:fld>
            <a:endParaRPr lang="en-US"/>
          </a:p>
        </p:txBody>
      </p:sp>
    </p:spTree>
    <p:extLst>
      <p:ext uri="{BB962C8B-B14F-4D97-AF65-F5344CB8AC3E}">
        <p14:creationId xmlns:p14="http://schemas.microsoft.com/office/powerpoint/2010/main" val="293812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6</a:t>
            </a:fld>
            <a:endParaRPr lang="en-US"/>
          </a:p>
        </p:txBody>
      </p:sp>
    </p:spTree>
    <p:extLst>
      <p:ext uri="{BB962C8B-B14F-4D97-AF65-F5344CB8AC3E}">
        <p14:creationId xmlns:p14="http://schemas.microsoft.com/office/powerpoint/2010/main" val="2437960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7</a:t>
            </a:fld>
            <a:endParaRPr lang="en-US"/>
          </a:p>
        </p:txBody>
      </p:sp>
    </p:spTree>
    <p:extLst>
      <p:ext uri="{BB962C8B-B14F-4D97-AF65-F5344CB8AC3E}">
        <p14:creationId xmlns:p14="http://schemas.microsoft.com/office/powerpoint/2010/main" val="2593828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8</a:t>
            </a:fld>
            <a:endParaRPr lang="en-US"/>
          </a:p>
        </p:txBody>
      </p:sp>
    </p:spTree>
    <p:extLst>
      <p:ext uri="{BB962C8B-B14F-4D97-AF65-F5344CB8AC3E}">
        <p14:creationId xmlns:p14="http://schemas.microsoft.com/office/powerpoint/2010/main" val="3068860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9</a:t>
            </a:fld>
            <a:endParaRPr lang="en-US"/>
          </a:p>
        </p:txBody>
      </p:sp>
    </p:spTree>
    <p:extLst>
      <p:ext uri="{BB962C8B-B14F-4D97-AF65-F5344CB8AC3E}">
        <p14:creationId xmlns:p14="http://schemas.microsoft.com/office/powerpoint/2010/main" val="1698317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10</a:t>
            </a:fld>
            <a:endParaRPr lang="en-US"/>
          </a:p>
        </p:txBody>
      </p:sp>
    </p:spTree>
    <p:extLst>
      <p:ext uri="{BB962C8B-B14F-4D97-AF65-F5344CB8AC3E}">
        <p14:creationId xmlns:p14="http://schemas.microsoft.com/office/powerpoint/2010/main" val="4150048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11</a:t>
            </a:fld>
            <a:endParaRPr lang="en-US"/>
          </a:p>
        </p:txBody>
      </p:sp>
    </p:spTree>
    <p:extLst>
      <p:ext uri="{BB962C8B-B14F-4D97-AF65-F5344CB8AC3E}">
        <p14:creationId xmlns:p14="http://schemas.microsoft.com/office/powerpoint/2010/main" val="2723389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12</a:t>
            </a:fld>
            <a:endParaRPr lang="en-US"/>
          </a:p>
        </p:txBody>
      </p:sp>
    </p:spTree>
    <p:extLst>
      <p:ext uri="{BB962C8B-B14F-4D97-AF65-F5344CB8AC3E}">
        <p14:creationId xmlns:p14="http://schemas.microsoft.com/office/powerpoint/2010/main" val="3528424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13</a:t>
            </a:fld>
            <a:endParaRPr lang="en-US"/>
          </a:p>
        </p:txBody>
      </p:sp>
    </p:spTree>
    <p:extLst>
      <p:ext uri="{BB962C8B-B14F-4D97-AF65-F5344CB8AC3E}">
        <p14:creationId xmlns:p14="http://schemas.microsoft.com/office/powerpoint/2010/main" val="354893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14</a:t>
            </a:fld>
            <a:endParaRPr lang="en-US"/>
          </a:p>
        </p:txBody>
      </p:sp>
    </p:spTree>
    <p:extLst>
      <p:ext uri="{BB962C8B-B14F-4D97-AF65-F5344CB8AC3E}">
        <p14:creationId xmlns:p14="http://schemas.microsoft.com/office/powerpoint/2010/main" val="3403792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17505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778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966069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344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extLst>
      <p:ext uri="{BB962C8B-B14F-4D97-AF65-F5344CB8AC3E}">
        <p14:creationId xmlns:p14="http://schemas.microsoft.com/office/powerpoint/2010/main" val="830886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1257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703478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261753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90160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894599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717264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3925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498960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4.png"/><Relationship Id="rId4" Type="http://schemas.openxmlformats.org/officeDocument/2006/relationships/slideLayout" Target="../slideLayouts/slideLayout1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13BCFA4D-1CC5-4243-98FC-591DF878C6E5}"/>
              </a:ext>
            </a:extLst>
          </p:cNvPr>
          <p:cNvPicPr>
            <a:picLocks noChangeAspect="1"/>
          </p:cNvPicPr>
          <p:nvPr userDrawn="1"/>
        </p:nvPicPr>
        <p:blipFill>
          <a:blip r:embed="rId9"/>
          <a:stretch>
            <a:fillRect/>
          </a:stretch>
        </p:blipFill>
        <p:spPr>
          <a:xfrm>
            <a:off x="0" y="0"/>
            <a:ext cx="9144000" cy="5143500"/>
          </a:xfrm>
          <a:prstGeom prst="rect">
            <a:avLst/>
          </a:prstGeom>
        </p:spPr>
      </p:pic>
    </p:spTree>
    <p:extLst>
      <p:ext uri="{BB962C8B-B14F-4D97-AF65-F5344CB8AC3E}">
        <p14:creationId xmlns:p14="http://schemas.microsoft.com/office/powerpoint/2010/main" val="191753909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836612155"/>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 xmlns:a16="http://schemas.microsoft.com/office/drawing/2014/main"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107975635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2284" y="171644"/>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4" name="Text Placeholder 2"/>
          <p:cNvSpPr>
            <a:spLocks noGrp="1"/>
          </p:cNvSpPr>
          <p:nvPr/>
        </p:nvSpPr>
        <p:spPr>
          <a:xfrm>
            <a:off x="92366" y="685716"/>
            <a:ext cx="6368450" cy="1024985"/>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CN" sz="2400" dirty="0"/>
              <a:t>Multiple</a:t>
            </a:r>
            <a:r>
              <a:rPr lang="zh-CN" altLang="en-US" sz="2400" dirty="0"/>
              <a:t> </a:t>
            </a:r>
            <a:r>
              <a:rPr lang="en-US" altLang="zh-CN" sz="2400" dirty="0"/>
              <a:t>Linear</a:t>
            </a:r>
            <a:r>
              <a:rPr lang="zh-CN" altLang="en-US" sz="2400" dirty="0"/>
              <a:t> </a:t>
            </a:r>
            <a:r>
              <a:rPr lang="en-US" altLang="zh-CN" sz="2400" dirty="0"/>
              <a:t>Regression</a:t>
            </a:r>
            <a:endParaRPr lang="en-US" sz="2400" dirty="0"/>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solidFill>
                <a:srgbClr val="EAAA00"/>
              </a:solidFill>
            </a:endParaRPr>
          </a:p>
          <a:p>
            <a:r>
              <a:rPr lang="en-US" dirty="0" err="1">
                <a:solidFill>
                  <a:srgbClr val="EAAA00"/>
                </a:solidFill>
              </a:rPr>
              <a:t>Nicoleta</a:t>
            </a:r>
            <a:r>
              <a:rPr lang="en-US" dirty="0">
                <a:solidFill>
                  <a:srgbClr val="EAAA00"/>
                </a:solidFill>
              </a:rPr>
              <a:t> </a:t>
            </a:r>
            <a:r>
              <a:rPr lang="en-US" dirty="0" err="1">
                <a:solidFill>
                  <a:srgbClr val="EAAA00"/>
                </a:solidFill>
              </a:rPr>
              <a:t>Serban</a:t>
            </a:r>
            <a:r>
              <a:rPr lang="en-US" dirty="0">
                <a:solidFill>
                  <a:srgbClr val="EAAA00"/>
                </a:solidFill>
              </a:rPr>
              <a:t>,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20" name="Text Placeholder 6"/>
          <p:cNvSpPr>
            <a:spLocks noGrp="1"/>
          </p:cNvSpPr>
          <p:nvPr/>
        </p:nvSpPr>
        <p:spPr>
          <a:xfrm>
            <a:off x="101772"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
        <p:nvSpPr>
          <p:cNvPr id="9" name="文本占位符 5">
            <a:extLst>
              <a:ext uri="{FF2B5EF4-FFF2-40B4-BE49-F238E27FC236}">
                <a16:creationId xmlns="" xmlns:a16="http://schemas.microsoft.com/office/drawing/2014/main" id="{EC833EAC-D3F3-44C9-8C85-056CF49EE89A}"/>
              </a:ext>
            </a:extLst>
          </p:cNvPr>
          <p:cNvSpPr txBox="1">
            <a:spLocks/>
          </p:cNvSpPr>
          <p:nvPr/>
        </p:nvSpPr>
        <p:spPr>
          <a:xfrm>
            <a:off x="88439" y="4131342"/>
            <a:ext cx="3998040" cy="681037"/>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2000" dirty="0">
                <a:solidFill>
                  <a:schemeClr val="tx2"/>
                </a:solidFill>
                <a:latin typeface="Helvetica" panose="020B0604020202020204" pitchFamily="34" charset="0"/>
                <a:cs typeface="Helvetica" panose="020B0604020202020204" pitchFamily="34" charset="0"/>
              </a:rPr>
              <a:t>Predicting Demand for Rental Bikes: Regression Analysis</a:t>
            </a:r>
            <a:endParaRPr kumimoji="1" lang="zh-CN" altLang="en-US" sz="2000" dirty="0">
              <a:solidFill>
                <a:schemeClr val="tx2"/>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15820" t="7499" r="15454" b="5507"/>
          <a:stretch/>
        </p:blipFill>
        <p:spPr>
          <a:xfrm>
            <a:off x="3422383" y="107404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2065241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81" y="845518"/>
            <a:ext cx="4941197" cy="3970318"/>
          </a:xfrm>
          <a:prstGeom prst="rect">
            <a:avLst/>
          </a:prstGeom>
          <a:noFill/>
        </p:spPr>
        <p:txBody>
          <a:bodyPr wrap="square" rtlCol="0">
            <a:spAutoFit/>
          </a:bodyPr>
          <a:lstStyle/>
          <a:p>
            <a:pPr lvl="0"/>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Applying multiple linear regression model</a:t>
            </a:r>
          </a:p>
          <a:p>
            <a:pPr lvl="0"/>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model1 = </a:t>
            </a:r>
            <a:r>
              <a:rPr lang="en-US" sz="1200" b="1"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lm</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a:t>
            </a:r>
            <a:r>
              <a:rPr lang="en-US" sz="12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cnt</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2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.,data=train)</a:t>
            </a:r>
          </a:p>
          <a:p>
            <a:pPr lvl="0"/>
            <a:r>
              <a:rPr lang="en-US" sz="12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summary</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(model1)</a:t>
            </a:r>
          </a:p>
          <a:p>
            <a:pPr lvl="0"/>
            <a:endPar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endParaRPr lang="en-US" sz="1200" dirty="0">
              <a:latin typeface="Helvetica" panose="020B0604020202020204" pitchFamily="34" charset="0"/>
              <a:ea typeface="Cambria Math" panose="02040503050406030204" pitchFamily="18" charset="0"/>
              <a:cs typeface="Helvetica" panose="020B0604020202020204" pitchFamily="34" charset="0"/>
            </a:endParaRPr>
          </a:p>
          <a:p>
            <a:r>
              <a:rPr lang="en-US" sz="1200" dirty="0">
                <a:latin typeface="Helvetica" panose="020B0604020202020204" pitchFamily="34" charset="0"/>
                <a:ea typeface="Cambria Math" panose="02040503050406030204" pitchFamily="18" charset="0"/>
                <a:cs typeface="Helvetica" panose="020B0604020202020204" pitchFamily="34" charset="0"/>
              </a:rPr>
              <a:t>⋮</a:t>
            </a:r>
            <a:endParaRPr lang="en-US" sz="1200" dirty="0">
              <a:latin typeface="Helvetica" panose="020B0604020202020204" pitchFamily="34" charset="0"/>
              <a:ea typeface="Helvetica" charset="0"/>
              <a:cs typeface="Helvetica" panose="020B0604020202020204" pitchFamily="34" charset="0"/>
            </a:endParaRPr>
          </a:p>
          <a:p>
            <a:r>
              <a:rPr lang="en-US" sz="1200" dirty="0">
                <a:latin typeface="Helvetica" panose="020B0604020202020204" pitchFamily="34" charset="0"/>
                <a:ea typeface="Helvetica" charset="0"/>
                <a:cs typeface="Helvetica" panose="020B0604020202020204" pitchFamily="34" charset="0"/>
              </a:rPr>
              <a:t>---</a:t>
            </a:r>
          </a:p>
          <a:p>
            <a:r>
              <a:rPr lang="en-US" sz="1200" dirty="0" err="1">
                <a:latin typeface="Helvetica" panose="020B0604020202020204" pitchFamily="34" charset="0"/>
                <a:ea typeface="Helvetica" charset="0"/>
                <a:cs typeface="Helvetica" panose="020B0604020202020204" pitchFamily="34" charset="0"/>
              </a:rPr>
              <a:t>Signif</a:t>
            </a:r>
            <a:r>
              <a:rPr lang="en-US" sz="1200" dirty="0">
                <a:latin typeface="Helvetica" panose="020B0604020202020204" pitchFamily="34" charset="0"/>
                <a:ea typeface="Helvetica" charset="0"/>
                <a:cs typeface="Helvetica" panose="020B0604020202020204" pitchFamily="34" charset="0"/>
              </a:rPr>
              <a:t>. codes:  0 '***' 0.001 '**' 0.01 '*' 0.05 '.' 0.1 ' ' 1</a:t>
            </a:r>
          </a:p>
          <a:p>
            <a:r>
              <a:rPr lang="en-US" sz="1200" dirty="0">
                <a:latin typeface="Helvetica" panose="020B0604020202020204" pitchFamily="34" charset="0"/>
                <a:ea typeface="Helvetica" charset="0"/>
                <a:cs typeface="Helvetica" panose="020B0604020202020204" pitchFamily="34" charset="0"/>
              </a:rPr>
              <a:t>Residual standard error: </a:t>
            </a:r>
            <a:r>
              <a:rPr lang="en-US" sz="1200" dirty="0" smtClean="0">
                <a:latin typeface="Helvetica" panose="020B0604020202020204" pitchFamily="34" charset="0"/>
                <a:ea typeface="Helvetica" charset="0"/>
                <a:cs typeface="Helvetica" panose="020B0604020202020204" pitchFamily="34" charset="0"/>
              </a:rPr>
              <a:t>101.8 </a:t>
            </a:r>
            <a:r>
              <a:rPr lang="en-US" sz="1200" dirty="0">
                <a:latin typeface="Helvetica" panose="020B0604020202020204" pitchFamily="34" charset="0"/>
                <a:ea typeface="Helvetica" charset="0"/>
                <a:cs typeface="Helvetica" panose="020B0604020202020204" pitchFamily="34" charset="0"/>
              </a:rPr>
              <a:t>on 13851 degrees of freedom</a:t>
            </a:r>
          </a:p>
          <a:p>
            <a:r>
              <a:rPr lang="en-US" sz="1200" dirty="0">
                <a:latin typeface="Helvetica" panose="020B0604020202020204" pitchFamily="34" charset="0"/>
                <a:ea typeface="Helvetica" charset="0"/>
                <a:cs typeface="Helvetica" panose="020B0604020202020204" pitchFamily="34" charset="0"/>
              </a:rPr>
              <a:t>Multiple R-squared:  </a:t>
            </a:r>
            <a:r>
              <a:rPr lang="en-US" sz="1200" dirty="0" smtClean="0">
                <a:latin typeface="Helvetica" panose="020B0604020202020204" pitchFamily="34" charset="0"/>
                <a:ea typeface="Helvetica" charset="0"/>
                <a:cs typeface="Helvetica" panose="020B0604020202020204" pitchFamily="34" charset="0"/>
              </a:rPr>
              <a:t>0.6852,</a:t>
            </a:r>
            <a:r>
              <a:rPr lang="en-US" sz="1200" dirty="0">
                <a:latin typeface="Helvetica" panose="020B0604020202020204" pitchFamily="34" charset="0"/>
                <a:ea typeface="Helvetica" charset="0"/>
                <a:cs typeface="Helvetica" panose="020B0604020202020204" pitchFamily="34" charset="0"/>
              </a:rPr>
              <a:t>	Adjusted R-squared:  </a:t>
            </a:r>
            <a:r>
              <a:rPr lang="en-US" sz="1200" dirty="0" smtClean="0">
                <a:latin typeface="Helvetica" panose="020B0604020202020204" pitchFamily="34" charset="0"/>
                <a:ea typeface="Helvetica" charset="0"/>
                <a:cs typeface="Helvetica" panose="020B0604020202020204" pitchFamily="34" charset="0"/>
              </a:rPr>
              <a:t>0.684 </a:t>
            </a:r>
            <a:endParaRPr lang="en-US" sz="1200" dirty="0">
              <a:latin typeface="Helvetica" panose="020B0604020202020204" pitchFamily="34" charset="0"/>
              <a:ea typeface="Helvetica" charset="0"/>
              <a:cs typeface="Helvetica" panose="020B0604020202020204" pitchFamily="34" charset="0"/>
            </a:endParaRPr>
          </a:p>
          <a:p>
            <a:r>
              <a:rPr lang="en-US" sz="1200" dirty="0">
                <a:latin typeface="Helvetica" panose="020B0604020202020204" pitchFamily="34" charset="0"/>
                <a:ea typeface="Helvetica" charset="0"/>
                <a:cs typeface="Helvetica" panose="020B0604020202020204" pitchFamily="34" charset="0"/>
              </a:rPr>
              <a:t>F-statistic: </a:t>
            </a:r>
            <a:r>
              <a:rPr lang="en-US" sz="1200" dirty="0" smtClean="0">
                <a:latin typeface="Helvetica" panose="020B0604020202020204" pitchFamily="34" charset="0"/>
                <a:ea typeface="Helvetica" charset="0"/>
                <a:cs typeface="Helvetica" panose="020B0604020202020204" pitchFamily="34" charset="0"/>
              </a:rPr>
              <a:t>591 </a:t>
            </a:r>
            <a:r>
              <a:rPr lang="en-US" sz="1200" dirty="0">
                <a:latin typeface="Helvetica" panose="020B0604020202020204" pitchFamily="34" charset="0"/>
                <a:ea typeface="Helvetica" charset="0"/>
                <a:cs typeface="Helvetica" panose="020B0604020202020204" pitchFamily="34" charset="0"/>
              </a:rPr>
              <a:t>on 51 and 13851 DF,  p-value: &lt; 2.2e-16</a:t>
            </a:r>
          </a:p>
        </p:txBody>
      </p:sp>
      <p:sp>
        <p:nvSpPr>
          <p:cNvPr id="15" name="标题 14"/>
          <p:cNvSpPr>
            <a:spLocks noGrp="1"/>
          </p:cNvSpPr>
          <p:nvPr>
            <p:ph type="title"/>
          </p:nvPr>
        </p:nvSpPr>
        <p:spPr>
          <a:xfrm>
            <a:off x="74325" y="153298"/>
            <a:ext cx="8562392" cy="630943"/>
          </a:xfrm>
        </p:spPr>
        <p:txBody>
          <a:bodyPr/>
          <a:lstStyle/>
          <a:p>
            <a:r>
              <a:rPr kumimoji="1" lang="en-US" altLang="zh-CN" sz="3600" dirty="0">
                <a:latin typeface="Vitesse"/>
                <a:ea typeface="Vitesse" charset="0"/>
                <a:cs typeface="Vitesse" charset="0"/>
              </a:rPr>
              <a:t>Linear</a:t>
            </a:r>
            <a:r>
              <a:rPr kumimoji="1" lang="zh-CN" altLang="en-US" sz="3600" dirty="0">
                <a:latin typeface="Vitesse"/>
                <a:ea typeface="Vitesse" charset="0"/>
                <a:cs typeface="Vitesse" charset="0"/>
              </a:rPr>
              <a:t> </a:t>
            </a:r>
            <a:r>
              <a:rPr kumimoji="1" lang="en-US" altLang="zh-CN" sz="3600" dirty="0">
                <a:latin typeface="Vitesse"/>
                <a:ea typeface="Vitesse" charset="0"/>
                <a:cs typeface="Vitesse" charset="0"/>
              </a:rPr>
              <a:t>Regression</a:t>
            </a:r>
            <a:r>
              <a:rPr kumimoji="1" lang="zh-CN" altLang="en-US" sz="3600" dirty="0">
                <a:latin typeface="Vitesse"/>
                <a:ea typeface="Vitesse" charset="0"/>
                <a:cs typeface="Vitesse" charset="0"/>
              </a:rPr>
              <a:t> </a:t>
            </a:r>
            <a:r>
              <a:rPr kumimoji="1" lang="en-US" altLang="zh-CN" sz="3600" dirty="0">
                <a:latin typeface="Vitesse"/>
                <a:ea typeface="Vitesse" charset="0"/>
                <a:cs typeface="Vitesse" charset="0"/>
              </a:rPr>
              <a:t>Analysis</a:t>
            </a:r>
            <a:r>
              <a:rPr kumimoji="1" lang="zh-CN" altLang="en-US" sz="3600" dirty="0">
                <a:latin typeface="Vitesse"/>
                <a:ea typeface="Vitesse" charset="0"/>
                <a:cs typeface="Vitesse" charset="0"/>
              </a:rPr>
              <a:t> </a:t>
            </a:r>
            <a:r>
              <a:rPr kumimoji="1" lang="en-US" altLang="zh-CN" sz="3600" dirty="0">
                <a:latin typeface="Vitesse"/>
                <a:ea typeface="Vitesse" charset="0"/>
                <a:cs typeface="Vitesse" charset="0"/>
              </a:rPr>
              <a:t>in</a:t>
            </a:r>
            <a:r>
              <a:rPr kumimoji="1" lang="zh-CN" altLang="en-US" sz="3600" dirty="0">
                <a:latin typeface="Vitesse"/>
                <a:ea typeface="Vitesse" charset="0"/>
                <a:cs typeface="Vitesse" charset="0"/>
              </a:rPr>
              <a:t> </a:t>
            </a:r>
            <a:r>
              <a:rPr kumimoji="1" lang="en-US" altLang="zh-CN" sz="3600" dirty="0">
                <a:latin typeface="Vitesse"/>
                <a:ea typeface="Vitesse" charset="0"/>
                <a:cs typeface="Vitesse" charset="0"/>
              </a:rPr>
              <a:t>R</a:t>
            </a:r>
            <a:endParaRPr kumimoji="1" lang="zh-CN" altLang="en-US" sz="3600" dirty="0">
              <a:latin typeface="Vitesse"/>
              <a:ea typeface="Vitesse" charset="0"/>
              <a:cs typeface="Vitesse" charset="0"/>
            </a:endParaRPr>
          </a:p>
        </p:txBody>
      </p:sp>
      <p:sp>
        <p:nvSpPr>
          <p:cNvPr id="12" name="Rectangle 11">
            <a:extLst>
              <a:ext uri="{FF2B5EF4-FFF2-40B4-BE49-F238E27FC236}">
                <a16:creationId xmlns="" xmlns:a16="http://schemas.microsoft.com/office/drawing/2014/main" id="{82CC1891-C9DE-40A1-AC09-C8C34BEF7F19}"/>
              </a:ext>
            </a:extLst>
          </p:cNvPr>
          <p:cNvSpPr/>
          <p:nvPr/>
        </p:nvSpPr>
        <p:spPr>
          <a:xfrm>
            <a:off x="1860698" y="4191117"/>
            <a:ext cx="432978" cy="174311"/>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84E5A91-F780-4819-911D-C4BFE163DB22}"/>
              </a:ext>
            </a:extLst>
          </p:cNvPr>
          <p:cNvSpPr/>
          <p:nvPr/>
        </p:nvSpPr>
        <p:spPr>
          <a:xfrm>
            <a:off x="2495707" y="4191117"/>
            <a:ext cx="432979" cy="171935"/>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 xmlns:a16="http://schemas.microsoft.com/office/drawing/2014/main" id="{645FDC06-A915-4561-9CF3-4997440FFC1E}"/>
              </a:ext>
            </a:extLst>
          </p:cNvPr>
          <p:cNvSpPr/>
          <p:nvPr/>
        </p:nvSpPr>
        <p:spPr>
          <a:xfrm>
            <a:off x="1526796" y="4373817"/>
            <a:ext cx="586361" cy="171934"/>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 xmlns:a16="http://schemas.microsoft.com/office/drawing/2014/main" id="{54501BF7-927A-4DB1-A71D-61725BBE13AD}"/>
              </a:ext>
            </a:extLst>
          </p:cNvPr>
          <p:cNvSpPr txBox="1"/>
          <p:nvPr/>
        </p:nvSpPr>
        <p:spPr>
          <a:xfrm>
            <a:off x="5494493" y="1575244"/>
            <a:ext cx="3420907" cy="486287"/>
          </a:xfrm>
          <a:prstGeom prst="rect">
            <a:avLst/>
          </a:prstGeom>
          <a:noFill/>
          <a:ln w="19050">
            <a:solidFill>
              <a:schemeClr val="tx2"/>
            </a:solidFill>
          </a:ln>
        </p:spPr>
        <p:txBody>
          <a:bodyPr wrap="square" tIns="27432" bIns="27432" rtlCol="0">
            <a:spAutoFit/>
          </a:bodyPr>
          <a:lstStyle/>
          <a:p>
            <a:r>
              <a:rPr lang="en-US" sz="1400" dirty="0">
                <a:latin typeface="Helvetica" panose="020B0604020202020204" pitchFamily="34" charset="0"/>
                <a:cs typeface="Helvetica" panose="020B0604020202020204" pitchFamily="34" charset="0"/>
              </a:rPr>
              <a:t>In the full output there are 51 predictor rows in addition to the intercept.</a:t>
            </a:r>
          </a:p>
        </p:txBody>
      </p:sp>
      <p:grpSp>
        <p:nvGrpSpPr>
          <p:cNvPr id="9" name="Group 8">
            <a:extLst>
              <a:ext uri="{FF2B5EF4-FFF2-40B4-BE49-F238E27FC236}">
                <a16:creationId xmlns="" xmlns:a16="http://schemas.microsoft.com/office/drawing/2014/main" id="{38223DF5-66FE-40E5-BFA8-2F22C16382C0}"/>
              </a:ext>
            </a:extLst>
          </p:cNvPr>
          <p:cNvGrpSpPr/>
          <p:nvPr/>
        </p:nvGrpSpPr>
        <p:grpSpPr>
          <a:xfrm>
            <a:off x="5491004" y="2382076"/>
            <a:ext cx="3424396" cy="738664"/>
            <a:chOff x="5491004" y="3851753"/>
            <a:chExt cx="3424396" cy="738664"/>
          </a:xfrm>
        </p:grpSpPr>
        <mc:AlternateContent xmlns:mc="http://schemas.openxmlformats.org/markup-compatibility/2006">
          <mc:Choice xmlns:a14="http://schemas.microsoft.com/office/drawing/2010/main" Requires="a14">
            <p:sp>
              <p:nvSpPr>
                <p:cNvPr id="6" name="TextBox 5">
                  <a:extLst>
                    <a:ext uri="{FF2B5EF4-FFF2-40B4-BE49-F238E27FC236}">
                      <a16:creationId xmlns="" xmlns:a16="http://schemas.microsoft.com/office/drawing/2014/main" id="{23692B6D-D5C8-454C-AA62-5DFCF80354CA}"/>
                    </a:ext>
                  </a:extLst>
                </p:cNvPr>
                <p:cNvSpPr txBox="1"/>
                <p:nvPr/>
              </p:nvSpPr>
              <p:spPr>
                <a:xfrm>
                  <a:off x="5491004" y="3851753"/>
                  <a:ext cx="3424396" cy="738664"/>
                </a:xfrm>
                <a:prstGeom prst="rect">
                  <a:avLst/>
                </a:prstGeom>
                <a:noFill/>
                <a:ln w="19050">
                  <a:solidFill>
                    <a:schemeClr val="tx2"/>
                  </a:solidFill>
                </a:ln>
              </p:spPr>
              <p:txBody>
                <a:bodyPr wrap="square" rtlCol="0">
                  <a:spAutoFit/>
                </a:bodyPr>
                <a:lstStyle/>
                <a:p>
                  <a14:m>
                    <m:oMath xmlns:m="http://schemas.openxmlformats.org/officeDocument/2006/math">
                      <m:acc>
                        <m:accPr>
                          <m:chr m:val="̂"/>
                          <m:ctrlPr>
                            <a:rPr lang="en-US" sz="1400" i="1" smtClean="0">
                              <a:latin typeface="Cambria Math" panose="02040503050406030204" pitchFamily="18" charset="0"/>
                              <a:ea typeface="Helvetica" charset="0"/>
                              <a:cs typeface="Helvetica" charset="0"/>
                            </a:rPr>
                          </m:ctrlPr>
                        </m:accPr>
                        <m:e>
                          <m:r>
                            <m:rPr>
                              <m:sty m:val="p"/>
                            </m:rPr>
                            <a:rPr lang="en-US" sz="1400" i="0">
                              <a:latin typeface="Cambria Math" charset="0"/>
                              <a:ea typeface="Helvetica" charset="0"/>
                              <a:cs typeface="Helvetica" charset="0"/>
                            </a:rPr>
                            <m:t>σ</m:t>
                          </m:r>
                        </m:e>
                      </m:acc>
                    </m:oMath>
                  </a14:m>
                  <a:r>
                    <a:rPr lang="en-US" sz="1400" dirty="0">
                      <a:latin typeface="Helvetica" panose="020B0604020202020204" pitchFamily="34" charset="0"/>
                      <a:ea typeface="Helvetica" charset="0"/>
                      <a:cs typeface="Helvetica" panose="020B0604020202020204" pitchFamily="34" charset="0"/>
                    </a:rPr>
                    <a:t>= 101.8</a:t>
                  </a:r>
                </a:p>
                <a:p>
                  <a:r>
                    <a:rPr lang="en-US" sz="1400" dirty="0">
                      <a:latin typeface="Helvetica" panose="020B0604020202020204" pitchFamily="34" charset="0"/>
                      <a:ea typeface="Helvetica" charset="0"/>
                      <a:cs typeface="Helvetica" panose="020B0604020202020204" pitchFamily="34" charset="0"/>
                    </a:rPr>
                    <a:t>df = n-p-1 = 13,903 - </a:t>
                  </a:r>
                  <a:r>
                    <a:rPr lang="en-US" sz="1400" dirty="0" smtClean="0">
                      <a:latin typeface="Helvetica" panose="020B0604020202020204" pitchFamily="34" charset="0"/>
                      <a:ea typeface="Helvetica" charset="0"/>
                      <a:cs typeface="Helvetica" panose="020B0604020202020204" pitchFamily="34" charset="0"/>
                    </a:rPr>
                    <a:t>51 </a:t>
                  </a:r>
                  <a:r>
                    <a:rPr lang="en-US" sz="1400" dirty="0">
                      <a:latin typeface="Helvetica" panose="020B0604020202020204" pitchFamily="34" charset="0"/>
                      <a:ea typeface="Helvetica" charset="0"/>
                      <a:cs typeface="Helvetica" panose="020B0604020202020204" pitchFamily="34" charset="0"/>
                    </a:rPr>
                    <a:t>- 1 = </a:t>
                  </a:r>
                  <a:r>
                    <a:rPr lang="en-US" sz="1400" dirty="0" smtClean="0">
                      <a:latin typeface="Helvetica" panose="020B0604020202020204" pitchFamily="34" charset="0"/>
                      <a:ea typeface="Helvetica" charset="0"/>
                      <a:cs typeface="Helvetica" panose="020B0604020202020204" pitchFamily="34" charset="0"/>
                    </a:rPr>
                    <a:t>13,851</a:t>
                  </a:r>
                  <a:endParaRPr lang="en-US" sz="1400" dirty="0">
                    <a:latin typeface="Helvetica" panose="020B0604020202020204" pitchFamily="34" charset="0"/>
                    <a:ea typeface="Helvetica" charset="0"/>
                    <a:cs typeface="Helvetica" panose="020B0604020202020204" pitchFamily="34" charset="0"/>
                  </a:endParaRPr>
                </a:p>
                <a:p>
                  <a:r>
                    <a:rPr lang="en-US" sz="1400" dirty="0">
                      <a:latin typeface="Helvetica" panose="020B0604020202020204" pitchFamily="34" charset="0"/>
                      <a:ea typeface="Helvetica" charset="0"/>
                      <a:cs typeface="Helvetica" panose="020B0604020202020204" pitchFamily="34" charset="0"/>
                    </a:rPr>
                    <a:t>R</a:t>
                  </a:r>
                  <a:r>
                    <a:rPr lang="en-US" sz="1400" baseline="30000" dirty="0">
                      <a:latin typeface="Helvetica" panose="020B0604020202020204" pitchFamily="34" charset="0"/>
                      <a:ea typeface="Helvetica" charset="0"/>
                      <a:cs typeface="Helvetica" panose="020B0604020202020204" pitchFamily="34" charset="0"/>
                    </a:rPr>
                    <a:t>2</a:t>
                  </a:r>
                  <a:r>
                    <a:rPr lang="en-US" sz="1400" dirty="0">
                      <a:latin typeface="Helvetica" panose="020B0604020202020204" pitchFamily="34" charset="0"/>
                      <a:ea typeface="Helvetica" charset="0"/>
                      <a:cs typeface="Helvetica" panose="020B0604020202020204" pitchFamily="34" charset="0"/>
                    </a:rPr>
                    <a:t> ≈ </a:t>
                  </a:r>
                  <a:r>
                    <a:rPr lang="en-US" sz="1400" dirty="0" smtClean="0">
                      <a:latin typeface="Helvetica" panose="020B0604020202020204" pitchFamily="34" charset="0"/>
                      <a:ea typeface="Helvetica" charset="0"/>
                      <a:cs typeface="Helvetica" panose="020B0604020202020204" pitchFamily="34" charset="0"/>
                    </a:rPr>
                    <a:t>0.6852 </a:t>
                  </a:r>
                  <a:r>
                    <a:rPr lang="en-US" sz="1400" dirty="0">
                      <a:latin typeface="Helvetica" panose="020B0604020202020204" pitchFamily="34" charset="0"/>
                      <a:ea typeface="Helvetica" charset="0"/>
                      <a:cs typeface="Helvetica" panose="020B0604020202020204" pitchFamily="34" charset="0"/>
                    </a:rPr>
                    <a:t>≈ 68.5% variability explained</a:t>
                  </a:r>
                </a:p>
              </p:txBody>
            </p:sp>
          </mc:Choice>
          <mc:Fallback>
            <p:sp>
              <p:nvSpPr>
                <p:cNvPr id="6" name="TextBox 5">
                  <a:extLst>
                    <a:ext uri="{FF2B5EF4-FFF2-40B4-BE49-F238E27FC236}">
                      <a16:creationId xmlns="" xmlns:a16="http://schemas.microsoft.com/office/drawing/2014/main" xmlns:a14="http://schemas.microsoft.com/office/drawing/2010/main" id="{23692B6D-D5C8-454C-AA62-5DFCF80354CA}"/>
                    </a:ext>
                  </a:extLst>
                </p:cNvPr>
                <p:cNvSpPr txBox="1">
                  <a:spLocks noRot="1" noChangeAspect="1" noMove="1" noResize="1" noEditPoints="1" noAdjustHandles="1" noChangeArrowheads="1" noChangeShapeType="1" noTextEdit="1"/>
                </p:cNvSpPr>
                <p:nvPr/>
              </p:nvSpPr>
              <p:spPr>
                <a:xfrm>
                  <a:off x="5491004" y="3851753"/>
                  <a:ext cx="3424396" cy="738664"/>
                </a:xfrm>
                <a:prstGeom prst="rect">
                  <a:avLst/>
                </a:prstGeom>
                <a:blipFill rotWithShape="0">
                  <a:blip r:embed="rId3"/>
                  <a:stretch>
                    <a:fillRect l="-354" t="-806" b="-5645"/>
                  </a:stretch>
                </a:blipFill>
                <a:ln w="19050">
                  <a:solidFill>
                    <a:schemeClr val="tx2"/>
                  </a:solidFill>
                </a:ln>
              </p:spPr>
              <p:txBody>
                <a:bodyPr/>
                <a:lstStyle/>
                <a:p>
                  <a:r>
                    <a:rPr lang="en-US">
                      <a:noFill/>
                    </a:rPr>
                    <a:t> </a:t>
                  </a:r>
                </a:p>
              </p:txBody>
            </p:sp>
          </mc:Fallback>
        </mc:AlternateContent>
        <p:sp>
          <p:nvSpPr>
            <p:cNvPr id="23" name="Rectangle 22">
              <a:extLst>
                <a:ext uri="{FF2B5EF4-FFF2-40B4-BE49-F238E27FC236}">
                  <a16:creationId xmlns="" xmlns:a16="http://schemas.microsoft.com/office/drawing/2014/main" id="{211DCBA2-AA28-455F-8B3E-0DB8BB138C35}"/>
                </a:ext>
              </a:extLst>
            </p:cNvPr>
            <p:cNvSpPr/>
            <p:nvPr/>
          </p:nvSpPr>
          <p:spPr>
            <a:xfrm>
              <a:off x="5829780" y="3893232"/>
              <a:ext cx="502596" cy="221997"/>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 xmlns:a16="http://schemas.microsoft.com/office/drawing/2014/main" id="{8EAA0965-B9C0-47E9-A6A6-5850FE5E7559}"/>
                </a:ext>
              </a:extLst>
            </p:cNvPr>
            <p:cNvSpPr/>
            <p:nvPr/>
          </p:nvSpPr>
          <p:spPr>
            <a:xfrm>
              <a:off x="7884982" y="4112689"/>
              <a:ext cx="596835" cy="211931"/>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 xmlns:a16="http://schemas.microsoft.com/office/drawing/2014/main" id="{602A51D1-8F12-4637-AA9F-B44116423F88}"/>
                </a:ext>
              </a:extLst>
            </p:cNvPr>
            <p:cNvSpPr/>
            <p:nvPr/>
          </p:nvSpPr>
          <p:spPr>
            <a:xfrm>
              <a:off x="5954232" y="4338796"/>
              <a:ext cx="572791" cy="190674"/>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 xmlns:a16="http://schemas.microsoft.com/office/drawing/2014/main" id="{FB5DC627-989E-44F2-8CB3-0D98DFE9E995}"/>
              </a:ext>
            </a:extLst>
          </p:cNvPr>
          <p:cNvSpPr/>
          <p:nvPr/>
        </p:nvSpPr>
        <p:spPr>
          <a:xfrm>
            <a:off x="2712196" y="4545751"/>
            <a:ext cx="1325379" cy="208164"/>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 xmlns:a16="http://schemas.microsoft.com/office/drawing/2014/main" id="{27038048-8AED-4934-AE1C-89BF0480AAAF}"/>
              </a:ext>
            </a:extLst>
          </p:cNvPr>
          <p:cNvGraphicFramePr>
            <a:graphicFrameLocks noGrp="1"/>
          </p:cNvGraphicFramePr>
          <p:nvPr>
            <p:extLst>
              <p:ext uri="{D42A27DB-BD31-4B8C-83A1-F6EECF244321}">
                <p14:modId xmlns:p14="http://schemas.microsoft.com/office/powerpoint/2010/main" val="3826794802"/>
              </p:ext>
            </p:extLst>
          </p:nvPr>
        </p:nvGraphicFramePr>
        <p:xfrm>
          <a:off x="140120" y="1569129"/>
          <a:ext cx="4384171" cy="2152777"/>
        </p:xfrm>
        <a:graphic>
          <a:graphicData uri="http://schemas.openxmlformats.org/drawingml/2006/table">
            <a:tbl>
              <a:tblPr firstRow="1" firstCol="1" bandRow="1">
                <a:tableStyleId>{5C22544A-7EE6-4342-B048-85BDC9FD1C3A}</a:tableStyleId>
              </a:tblPr>
              <a:tblGrid>
                <a:gridCol w="989851">
                  <a:extLst>
                    <a:ext uri="{9D8B030D-6E8A-4147-A177-3AD203B41FA5}">
                      <a16:colId xmlns="" xmlns:a16="http://schemas.microsoft.com/office/drawing/2014/main" val="3441720901"/>
                    </a:ext>
                  </a:extLst>
                </a:gridCol>
                <a:gridCol w="819318">
                  <a:extLst>
                    <a:ext uri="{9D8B030D-6E8A-4147-A177-3AD203B41FA5}">
                      <a16:colId xmlns="" xmlns:a16="http://schemas.microsoft.com/office/drawing/2014/main" val="4168521588"/>
                    </a:ext>
                  </a:extLst>
                </a:gridCol>
                <a:gridCol w="819318">
                  <a:extLst>
                    <a:ext uri="{9D8B030D-6E8A-4147-A177-3AD203B41FA5}">
                      <a16:colId xmlns="" xmlns:a16="http://schemas.microsoft.com/office/drawing/2014/main" val="431165766"/>
                    </a:ext>
                  </a:extLst>
                </a:gridCol>
                <a:gridCol w="760796">
                  <a:extLst>
                    <a:ext uri="{9D8B030D-6E8A-4147-A177-3AD203B41FA5}">
                      <a16:colId xmlns="" xmlns:a16="http://schemas.microsoft.com/office/drawing/2014/main" val="1295312483"/>
                    </a:ext>
                  </a:extLst>
                </a:gridCol>
                <a:gridCol w="994888">
                  <a:extLst>
                    <a:ext uri="{9D8B030D-6E8A-4147-A177-3AD203B41FA5}">
                      <a16:colId xmlns="" xmlns:a16="http://schemas.microsoft.com/office/drawing/2014/main" val="285096359"/>
                    </a:ext>
                  </a:extLst>
                </a:gridCol>
              </a:tblGrid>
              <a:tr h="180767">
                <a:tc>
                  <a:txBody>
                    <a:bodyPr/>
                    <a:lstStyle/>
                    <a:p>
                      <a:pPr marL="0" marR="0" algn="r">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Estimate</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Std. Error</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t value</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err="1">
                          <a:solidFill>
                            <a:schemeClr val="tx1"/>
                          </a:solidFill>
                          <a:effectLst/>
                          <a:latin typeface="Helvetica" panose="020B0604020202020204" pitchFamily="34" charset="0"/>
                          <a:cs typeface="Helvetica" panose="020B0604020202020204" pitchFamily="34" charset="0"/>
                        </a:rPr>
                        <a:t>Pr</a:t>
                      </a:r>
                      <a:r>
                        <a:rPr lang="en-US" sz="1200" b="0" dirty="0">
                          <a:solidFill>
                            <a:schemeClr val="tx1"/>
                          </a:solidFill>
                          <a:effectLst/>
                          <a:latin typeface="Helvetica" panose="020B0604020202020204" pitchFamily="34" charset="0"/>
                          <a:cs typeface="Helvetica" panose="020B0604020202020204" pitchFamily="34" charset="0"/>
                        </a:rPr>
                        <a:t>(&gt;|t|)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948073783"/>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(Intercept)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-79.4356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7.4390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-10.678</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&lt; 2e-16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979258749"/>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season2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34.9268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5.4110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6.455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kern="1200" dirty="0" smtClean="0">
                          <a:solidFill>
                            <a:schemeClr val="tx1"/>
                          </a:solidFill>
                          <a:effectLst/>
                          <a:latin typeface="Helvetica" panose="020B0604020202020204" pitchFamily="34" charset="0"/>
                          <a:ea typeface="+mn-ea"/>
                          <a:cs typeface="Helvetica" panose="020B0604020202020204" pitchFamily="34" charset="0"/>
                        </a:rPr>
                        <a:t>1.12e-10</a:t>
                      </a:r>
                      <a:r>
                        <a:rPr lang="en-US" sz="1200" b="0" dirty="0" smtClean="0">
                          <a:solidFill>
                            <a:schemeClr val="tx1"/>
                          </a:solidFill>
                          <a:effectLst/>
                          <a:latin typeface="Helvetica" panose="020B0604020202020204" pitchFamily="34" charset="0"/>
                          <a:cs typeface="Helvetica" panose="020B0604020202020204" pitchFamily="34" charset="0"/>
                        </a:rPr>
                        <a: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536960750"/>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season3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27.0055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6.4438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4.191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2.80e-05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693491951"/>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season4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65.3435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5.4690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11.948</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&lt; 2e-16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907204359"/>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yr1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85.3415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1.7487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48.804</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&lt; 2e-16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980958188"/>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mnth2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4.1666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4.3853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0.950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0.342060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987696551"/>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mnth3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16.4733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4.9267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3.344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0.000829***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259621856"/>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mnth4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12.5834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7.3038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1.723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0.084936 .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508948270"/>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mnth5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26.4616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7.8357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ea typeface="+mn-ea"/>
                          <a:cs typeface="Helvetica" panose="020B0604020202020204" pitchFamily="34" charset="0"/>
                        </a:rPr>
                        <a:t>3.377</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0.000735 ***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332733644"/>
                  </a:ext>
                </a:extLst>
              </a:tr>
              <a:tr h="180767">
                <a:tc>
                  <a:txBody>
                    <a:bodyPr/>
                    <a:lstStyle/>
                    <a:p>
                      <a:pPr marL="0" marR="0" algn="l">
                        <a:lnSpc>
                          <a:spcPct val="107000"/>
                        </a:lnSpc>
                        <a:spcBef>
                          <a:spcPts val="0"/>
                        </a:spcBef>
                        <a:spcAft>
                          <a:spcPts val="0"/>
                        </a:spcAft>
                      </a:pPr>
                      <a:r>
                        <a:rPr lang="en-US" sz="1200" b="0" smtClean="0">
                          <a:solidFill>
                            <a:schemeClr val="tx1"/>
                          </a:solidFill>
                          <a:effectLst/>
                          <a:latin typeface="Helvetica" panose="020B0604020202020204" pitchFamily="34" charset="0"/>
                          <a:cs typeface="Helvetica" panose="020B0604020202020204" pitchFamily="34" charset="0"/>
                        </a:rPr>
                        <a:t>mnth6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11.5056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8.0535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1.429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200" b="0" dirty="0" smtClean="0">
                          <a:solidFill>
                            <a:schemeClr val="tx1"/>
                          </a:solidFill>
                          <a:effectLst/>
                          <a:latin typeface="Helvetica" panose="020B0604020202020204" pitchFamily="34" charset="0"/>
                          <a:cs typeface="Helvetica" panose="020B0604020202020204" pitchFamily="34" charset="0"/>
                        </a:rPr>
                        <a:t>0.153131</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030801961"/>
                  </a:ext>
                </a:extLst>
              </a:tr>
            </a:tbl>
          </a:graphicData>
        </a:graphic>
      </p:graphicFrame>
    </p:spTree>
    <p:extLst>
      <p:ext uri="{BB962C8B-B14F-4D97-AF65-F5344CB8AC3E}">
        <p14:creationId xmlns:p14="http://schemas.microsoft.com/office/powerpoint/2010/main" val="33345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9347" y="866161"/>
            <a:ext cx="4438800" cy="3139321"/>
          </a:xfrm>
          <a:prstGeom prst="rect">
            <a:avLst/>
          </a:prstGeom>
          <a:noFill/>
        </p:spPr>
        <p:txBody>
          <a:bodyPr wrap="square" rtlCol="0">
            <a:spAutoFit/>
          </a:bodyPr>
          <a:lstStyle/>
          <a:p>
            <a:r>
              <a:rPr lang="en-US" sz="1100" b="1" dirty="0">
                <a:solidFill>
                  <a:srgbClr val="EAAA00"/>
                </a:solidFill>
                <a:latin typeface="Helvetica" panose="020B0604020202020204" pitchFamily="34" charset="0"/>
                <a:ea typeface="Helvetica" charset="0"/>
                <a:cs typeface="Helvetica" panose="020B0604020202020204" pitchFamily="34" charset="0"/>
              </a:rPr>
              <a:t>## Create Dummy Variables</a:t>
            </a:r>
          </a:p>
          <a:p>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a:t>
            </a:r>
            <a:r>
              <a:rPr lang="en-US" sz="1100" b="1" dirty="0" err="1">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endPar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Include all dummy vars without intercept</a:t>
            </a:r>
          </a:p>
          <a:p>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endParaRPr lang="en-US" sz="1100" dirty="0">
              <a:solidFill>
                <a:schemeClr val="accent6">
                  <a:lumMod val="50000"/>
                </a:schemeClr>
              </a:solidFill>
              <a:latin typeface="Helvetica" panose="020B0604020202020204" pitchFamily="34" charset="0"/>
              <a:ea typeface="Helvetica"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Include 3 dummy variables with intercept</a:t>
            </a:r>
          </a:p>
          <a:p>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p>
          <a:p>
            <a:endParaRPr lang="en-US" sz="1100" dirty="0">
              <a:solidFill>
                <a:schemeClr val="accent6">
                  <a:lumMod val="50000"/>
                </a:schemeClr>
              </a:solidFill>
              <a:latin typeface="Helvetica" panose="020B0604020202020204" pitchFamily="34" charset="0"/>
              <a:ea typeface="Helvetica"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Use categorical variable</a:t>
            </a:r>
          </a:p>
          <a:p>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as.factor</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a:t>
            </a:r>
            <a:r>
              <a:rPr lang="en-US" sz="1100" b="1" dirty="0" err="1">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endParaRPr lang="en-US" sz="1100" dirty="0">
              <a:solidFill>
                <a:schemeClr val="accent1"/>
              </a:solidFill>
              <a:latin typeface="Helvetica" panose="020B0604020202020204" pitchFamily="34" charset="0"/>
              <a:ea typeface="Helvetica" charset="0"/>
              <a:cs typeface="Helvetica" panose="020B0604020202020204" pitchFamily="34" charset="0"/>
            </a:endParaRPr>
          </a:p>
        </p:txBody>
      </p:sp>
      <p:sp>
        <p:nvSpPr>
          <p:cNvPr id="2" name="标题 1"/>
          <p:cNvSpPr>
            <a:spLocks noGrp="1"/>
          </p:cNvSpPr>
          <p:nvPr>
            <p:ph type="title"/>
          </p:nvPr>
        </p:nvSpPr>
        <p:spPr>
          <a:xfrm>
            <a:off x="82417" y="145206"/>
            <a:ext cx="8562392" cy="654387"/>
          </a:xfrm>
        </p:spPr>
        <p:txBody>
          <a:bodyPr/>
          <a:lstStyle/>
          <a:p>
            <a:r>
              <a:rPr kumimoji="1" lang="en-US" altLang="zh-CN" sz="3600" dirty="0">
                <a:latin typeface="Vitesse"/>
              </a:rPr>
              <a:t>Coding</a:t>
            </a:r>
            <a:r>
              <a:rPr kumimoji="1" lang="zh-CN" altLang="en-US" sz="3600" dirty="0">
                <a:latin typeface="Vitesse"/>
              </a:rPr>
              <a:t> </a:t>
            </a:r>
            <a:r>
              <a:rPr kumimoji="1" lang="en-US" altLang="zh-CN" sz="3600" dirty="0">
                <a:latin typeface="Vitesse"/>
              </a:rPr>
              <a:t>Dummy</a:t>
            </a:r>
            <a:r>
              <a:rPr kumimoji="1" lang="zh-CN" altLang="en-US" sz="3600" dirty="0">
                <a:latin typeface="Vitesse"/>
              </a:rPr>
              <a:t> </a:t>
            </a:r>
            <a:r>
              <a:rPr kumimoji="1" lang="en-US" altLang="zh-CN" sz="3600" dirty="0">
                <a:latin typeface="Vitesse"/>
              </a:rPr>
              <a:t>Variables</a:t>
            </a:r>
            <a:r>
              <a:rPr kumimoji="1" lang="zh-CN" altLang="en-US" sz="3600" dirty="0">
                <a:latin typeface="Vitesse"/>
              </a:rPr>
              <a:t> </a:t>
            </a:r>
            <a:r>
              <a:rPr kumimoji="1" lang="en-US" altLang="zh-CN" sz="3600" dirty="0">
                <a:latin typeface="Vitesse"/>
              </a:rPr>
              <a:t>in</a:t>
            </a:r>
            <a:r>
              <a:rPr kumimoji="1" lang="zh-CN" altLang="en-US" sz="3600" dirty="0">
                <a:latin typeface="Vitesse"/>
              </a:rPr>
              <a:t> </a:t>
            </a:r>
            <a:r>
              <a:rPr kumimoji="1" lang="en-US" altLang="zh-CN" sz="3600" dirty="0">
                <a:latin typeface="Vitesse"/>
              </a:rPr>
              <a:t>R</a:t>
            </a:r>
            <a:endParaRPr kumimoji="1" lang="zh-CN" altLang="en-US" sz="3600" dirty="0">
              <a:latin typeface="Vitesse"/>
            </a:endParaRPr>
          </a:p>
        </p:txBody>
      </p:sp>
      <p:sp>
        <p:nvSpPr>
          <p:cNvPr id="4" name="Rectangle 3">
            <a:extLst>
              <a:ext uri="{FF2B5EF4-FFF2-40B4-BE49-F238E27FC236}">
                <a16:creationId xmlns="" xmlns:a16="http://schemas.microsoft.com/office/drawing/2014/main" id="{70C47DAA-4207-468B-8A5D-9A3C1E2D710D}"/>
              </a:ext>
            </a:extLst>
          </p:cNvPr>
          <p:cNvSpPr/>
          <p:nvPr/>
        </p:nvSpPr>
        <p:spPr>
          <a:xfrm>
            <a:off x="3692302" y="2584357"/>
            <a:ext cx="243596" cy="198600"/>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A89B720-CDCB-4713-AE5F-853CA7EF488E}"/>
              </a:ext>
            </a:extLst>
          </p:cNvPr>
          <p:cNvSpPr/>
          <p:nvPr/>
        </p:nvSpPr>
        <p:spPr>
          <a:xfrm>
            <a:off x="1105231" y="3772213"/>
            <a:ext cx="748269" cy="171641"/>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 xmlns:a16="http://schemas.microsoft.com/office/drawing/2014/main" id="{F12B15F1-F2AE-49A0-B4CA-A2B2BF0286D9}"/>
              </a:ext>
            </a:extLst>
          </p:cNvPr>
          <p:cNvGraphicFramePr>
            <a:graphicFrameLocks noGrp="1"/>
          </p:cNvGraphicFramePr>
          <p:nvPr>
            <p:extLst>
              <p:ext uri="{D42A27DB-BD31-4B8C-83A1-F6EECF244321}">
                <p14:modId xmlns:p14="http://schemas.microsoft.com/office/powerpoint/2010/main" val="1822338820"/>
              </p:ext>
            </p:extLst>
          </p:nvPr>
        </p:nvGraphicFramePr>
        <p:xfrm>
          <a:off x="5422793" y="928485"/>
          <a:ext cx="3488634" cy="1017804"/>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387686879"/>
                    </a:ext>
                  </a:extLst>
                </a:gridCol>
                <a:gridCol w="640080">
                  <a:extLst>
                    <a:ext uri="{9D8B030D-6E8A-4147-A177-3AD203B41FA5}">
                      <a16:colId xmlns="" xmlns:a16="http://schemas.microsoft.com/office/drawing/2014/main" val="2100308670"/>
                    </a:ext>
                  </a:extLst>
                </a:gridCol>
                <a:gridCol w="699714">
                  <a:extLst>
                    <a:ext uri="{9D8B030D-6E8A-4147-A177-3AD203B41FA5}">
                      <a16:colId xmlns="" xmlns:a16="http://schemas.microsoft.com/office/drawing/2014/main" val="1903286116"/>
                    </a:ext>
                  </a:extLst>
                </a:gridCol>
                <a:gridCol w="594360">
                  <a:extLst>
                    <a:ext uri="{9D8B030D-6E8A-4147-A177-3AD203B41FA5}">
                      <a16:colId xmlns="" xmlns:a16="http://schemas.microsoft.com/office/drawing/2014/main" val="2401877264"/>
                    </a:ext>
                  </a:extLst>
                </a:gridCol>
                <a:gridCol w="731520">
                  <a:extLst>
                    <a:ext uri="{9D8B030D-6E8A-4147-A177-3AD203B41FA5}">
                      <a16:colId xmlns="" xmlns:a16="http://schemas.microsoft.com/office/drawing/2014/main" val="2357963030"/>
                    </a:ext>
                  </a:extLst>
                </a:gridCol>
              </a:tblGrid>
              <a:tr h="29929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1</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157652236"/>
                  </a:ext>
                </a:extLst>
              </a:tr>
              <a:tr h="143991">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Estimate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Std. Error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02652562"/>
                  </a:ext>
                </a:extLst>
              </a:tr>
              <a:tr h="17620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204.869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1.680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121.97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326820243"/>
                  </a:ext>
                </a:extLst>
              </a:tr>
              <a:tr h="17620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weathersit.2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175.165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2.662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65.80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8040218"/>
                  </a:ext>
                </a:extLst>
              </a:tr>
              <a:tr h="17620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111.501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4.758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23.43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080546440"/>
                  </a:ext>
                </a:extLst>
              </a:tr>
            </a:tbl>
          </a:graphicData>
        </a:graphic>
      </p:graphicFrame>
      <p:graphicFrame>
        <p:nvGraphicFramePr>
          <p:cNvPr id="14" name="Table 13">
            <a:extLst>
              <a:ext uri="{FF2B5EF4-FFF2-40B4-BE49-F238E27FC236}">
                <a16:creationId xmlns="" xmlns:a16="http://schemas.microsoft.com/office/drawing/2014/main" id="{00E41C3A-3572-448E-9D2D-D90755297316}"/>
              </a:ext>
            </a:extLst>
          </p:cNvPr>
          <p:cNvGraphicFramePr>
            <a:graphicFrameLocks noGrp="1"/>
          </p:cNvGraphicFramePr>
          <p:nvPr>
            <p:extLst>
              <p:ext uri="{D42A27DB-BD31-4B8C-83A1-F6EECF244321}">
                <p14:modId xmlns:p14="http://schemas.microsoft.com/office/powerpoint/2010/main" val="1000069043"/>
              </p:ext>
            </p:extLst>
          </p:nvPr>
        </p:nvGraphicFramePr>
        <p:xfrm>
          <a:off x="5422793" y="1999784"/>
          <a:ext cx="3520440" cy="978408"/>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885992968"/>
                    </a:ext>
                  </a:extLst>
                </a:gridCol>
                <a:gridCol w="640080">
                  <a:extLst>
                    <a:ext uri="{9D8B030D-6E8A-4147-A177-3AD203B41FA5}">
                      <a16:colId xmlns="" xmlns:a16="http://schemas.microsoft.com/office/drawing/2014/main" val="3608251904"/>
                    </a:ext>
                  </a:extLst>
                </a:gridCol>
                <a:gridCol w="731520">
                  <a:extLst>
                    <a:ext uri="{9D8B030D-6E8A-4147-A177-3AD203B41FA5}">
                      <a16:colId xmlns="" xmlns:a16="http://schemas.microsoft.com/office/drawing/2014/main" val="2268354887"/>
                    </a:ext>
                  </a:extLst>
                </a:gridCol>
                <a:gridCol w="594360">
                  <a:extLst>
                    <a:ext uri="{9D8B030D-6E8A-4147-A177-3AD203B41FA5}">
                      <a16:colId xmlns="" xmlns:a16="http://schemas.microsoft.com/office/drawing/2014/main" val="2276119353"/>
                    </a:ext>
                  </a:extLst>
                </a:gridCol>
                <a:gridCol w="731520">
                  <a:extLst>
                    <a:ext uri="{9D8B030D-6E8A-4147-A177-3AD203B41FA5}">
                      <a16:colId xmlns="" xmlns:a16="http://schemas.microsoft.com/office/drawing/2014/main" val="607112438"/>
                    </a:ext>
                  </a:extLst>
                </a:gridCol>
              </a:tblGrid>
              <a:tr h="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2</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00431973"/>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Estimate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Std. Error</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85666639"/>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(Intercept)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111.501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4.758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23.43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68426654"/>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93.369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5.046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18.50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531560748"/>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63.665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5.452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11.68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84090423"/>
                  </a:ext>
                </a:extLst>
              </a:tr>
            </a:tbl>
          </a:graphicData>
        </a:graphic>
      </p:graphicFrame>
      <p:graphicFrame>
        <p:nvGraphicFramePr>
          <p:cNvPr id="16" name="Table 15">
            <a:extLst>
              <a:ext uri="{FF2B5EF4-FFF2-40B4-BE49-F238E27FC236}">
                <a16:creationId xmlns="" xmlns:a16="http://schemas.microsoft.com/office/drawing/2014/main" id="{40CA3A00-17A3-4B9F-AE58-1717BADAD141}"/>
              </a:ext>
            </a:extLst>
          </p:cNvPr>
          <p:cNvGraphicFramePr>
            <a:graphicFrameLocks noGrp="1"/>
          </p:cNvGraphicFramePr>
          <p:nvPr>
            <p:extLst>
              <p:ext uri="{D42A27DB-BD31-4B8C-83A1-F6EECF244321}">
                <p14:modId xmlns:p14="http://schemas.microsoft.com/office/powerpoint/2010/main" val="2788417204"/>
              </p:ext>
            </p:extLst>
          </p:nvPr>
        </p:nvGraphicFramePr>
        <p:xfrm>
          <a:off x="5422792" y="3011967"/>
          <a:ext cx="3520440" cy="978408"/>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40499122"/>
                    </a:ext>
                  </a:extLst>
                </a:gridCol>
                <a:gridCol w="640080">
                  <a:extLst>
                    <a:ext uri="{9D8B030D-6E8A-4147-A177-3AD203B41FA5}">
                      <a16:colId xmlns="" xmlns:a16="http://schemas.microsoft.com/office/drawing/2014/main" val="870019880"/>
                    </a:ext>
                  </a:extLst>
                </a:gridCol>
                <a:gridCol w="731520">
                  <a:extLst>
                    <a:ext uri="{9D8B030D-6E8A-4147-A177-3AD203B41FA5}">
                      <a16:colId xmlns="" xmlns:a16="http://schemas.microsoft.com/office/drawing/2014/main" val="2374964324"/>
                    </a:ext>
                  </a:extLst>
                </a:gridCol>
                <a:gridCol w="594360">
                  <a:extLst>
                    <a:ext uri="{9D8B030D-6E8A-4147-A177-3AD203B41FA5}">
                      <a16:colId xmlns="" xmlns:a16="http://schemas.microsoft.com/office/drawing/2014/main" val="3881266084"/>
                    </a:ext>
                  </a:extLst>
                </a:gridCol>
                <a:gridCol w="731520">
                  <a:extLst>
                    <a:ext uri="{9D8B030D-6E8A-4147-A177-3AD203B41FA5}">
                      <a16:colId xmlns="" xmlns:a16="http://schemas.microsoft.com/office/drawing/2014/main" val="996280503"/>
                    </a:ext>
                  </a:extLst>
                </a:gridCol>
              </a:tblGrid>
              <a:tr h="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3</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93199372"/>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Estimate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Std. Error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31267225"/>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(Intercept)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204.869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1.680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121.972</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25211393"/>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-29.704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3.148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-9.437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882193252"/>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-93.369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5.046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-18.503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928096065"/>
                  </a:ext>
                </a:extLst>
              </a:tr>
            </a:tbl>
          </a:graphicData>
        </a:graphic>
      </p:graphicFrame>
    </p:spTree>
    <p:extLst>
      <p:ext uri="{BB962C8B-B14F-4D97-AF65-F5344CB8AC3E}">
        <p14:creationId xmlns:p14="http://schemas.microsoft.com/office/powerpoint/2010/main" val="386991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417" y="145206"/>
            <a:ext cx="8562392" cy="654387"/>
          </a:xfrm>
        </p:spPr>
        <p:txBody>
          <a:bodyPr/>
          <a:lstStyle/>
          <a:p>
            <a:r>
              <a:rPr kumimoji="1" lang="en-US" altLang="zh-CN" sz="3600" dirty="0">
                <a:latin typeface="Vitesse"/>
              </a:rPr>
              <a:t>Coding</a:t>
            </a:r>
            <a:r>
              <a:rPr kumimoji="1" lang="zh-CN" altLang="en-US" sz="3600" dirty="0">
                <a:latin typeface="Vitesse"/>
              </a:rPr>
              <a:t> </a:t>
            </a:r>
            <a:r>
              <a:rPr kumimoji="1" lang="en-US" altLang="zh-CN" sz="3600" dirty="0">
                <a:latin typeface="Vitesse"/>
              </a:rPr>
              <a:t>Dummy</a:t>
            </a:r>
            <a:r>
              <a:rPr kumimoji="1" lang="zh-CN" altLang="en-US" sz="3600" dirty="0">
                <a:latin typeface="Vitesse"/>
              </a:rPr>
              <a:t> </a:t>
            </a:r>
            <a:r>
              <a:rPr kumimoji="1" lang="en-US" altLang="zh-CN" sz="3600" dirty="0">
                <a:latin typeface="Vitesse"/>
              </a:rPr>
              <a:t>Variables</a:t>
            </a:r>
            <a:r>
              <a:rPr kumimoji="1" lang="zh-CN" altLang="en-US" sz="3600" dirty="0">
                <a:latin typeface="Vitesse"/>
              </a:rPr>
              <a:t> </a:t>
            </a:r>
            <a:r>
              <a:rPr kumimoji="1" lang="en-US" altLang="zh-CN" sz="3600" dirty="0">
                <a:latin typeface="Vitesse"/>
              </a:rPr>
              <a:t>in</a:t>
            </a:r>
            <a:r>
              <a:rPr kumimoji="1" lang="zh-CN" altLang="en-US" sz="3600" dirty="0">
                <a:latin typeface="Vitesse"/>
              </a:rPr>
              <a:t> </a:t>
            </a:r>
            <a:r>
              <a:rPr kumimoji="1" lang="en-US" altLang="zh-CN" sz="3600" dirty="0">
                <a:latin typeface="Vitesse"/>
              </a:rPr>
              <a:t>R</a:t>
            </a:r>
            <a:endParaRPr kumimoji="1" lang="zh-CN" altLang="en-US" sz="3600" dirty="0">
              <a:latin typeface="Vitesse"/>
            </a:endParaRPr>
          </a:p>
        </p:txBody>
      </p:sp>
      <p:sp>
        <p:nvSpPr>
          <p:cNvPr id="5" name="TextBox 4"/>
          <p:cNvSpPr txBox="1"/>
          <p:nvPr/>
        </p:nvSpPr>
        <p:spPr>
          <a:xfrm>
            <a:off x="109347" y="866160"/>
            <a:ext cx="4232065" cy="3139321"/>
          </a:xfrm>
          <a:prstGeom prst="rect">
            <a:avLst/>
          </a:prstGeom>
          <a:noFill/>
        </p:spPr>
        <p:txBody>
          <a:bodyPr wrap="square" rtlCol="0">
            <a:spAutoFit/>
          </a:bodyPr>
          <a:lstStyle/>
          <a:p>
            <a:r>
              <a:rPr lang="en-US" sz="1100" b="1" dirty="0">
                <a:solidFill>
                  <a:srgbClr val="EAAA00"/>
                </a:solidFill>
                <a:latin typeface="Helvetica" panose="020B0604020202020204" pitchFamily="34" charset="0"/>
                <a:ea typeface="Helvetica" charset="0"/>
                <a:cs typeface="Helvetica" panose="020B0604020202020204" pitchFamily="34" charset="0"/>
              </a:rPr>
              <a:t>## Create Dummy Variables</a:t>
            </a:r>
          </a:p>
          <a:p>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a:t>
            </a:r>
            <a:r>
              <a:rPr lang="en-US" sz="1100" b="1" dirty="0" err="1">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rep</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0</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b="1" dirty="0">
                <a:solidFill>
                  <a:srgbClr val="204A87"/>
                </a:solidFill>
                <a:latin typeface="Helvetica" panose="020B0604020202020204" pitchFamily="34" charset="0"/>
                <a:ea typeface="Cambria" panose="02040503050406030204" pitchFamily="18" charset="0"/>
                <a:cs typeface="Helvetica" panose="020B0604020202020204" pitchFamily="34" charset="0"/>
              </a:rPr>
              <a:t>length</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endPar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Include all dummy vars without intercept</a:t>
            </a:r>
          </a:p>
          <a:p>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endParaRPr lang="en-US" sz="1100" dirty="0">
              <a:solidFill>
                <a:schemeClr val="accent6">
                  <a:lumMod val="50000"/>
                </a:schemeClr>
              </a:solidFill>
              <a:latin typeface="Helvetica" panose="020B0604020202020204" pitchFamily="34" charset="0"/>
              <a:ea typeface="Helvetica"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Include 3 dummy variables with intercept</a:t>
            </a:r>
          </a:p>
          <a:p>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1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2</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p>
          <a:p>
            <a:endParaRPr lang="en-US" sz="1100" dirty="0">
              <a:solidFill>
                <a:schemeClr val="accent6">
                  <a:lumMod val="50000"/>
                </a:schemeClr>
              </a:solidFill>
              <a:latin typeface="Helvetica" panose="020B0604020202020204" pitchFamily="34" charset="0"/>
              <a:ea typeface="Helvetica" charset="0"/>
              <a:cs typeface="Helvetica" panose="020B0604020202020204" pitchFamily="34" charset="0"/>
            </a:endParaRPr>
          </a:p>
          <a:p>
            <a:r>
              <a:rPr lang="en-US" sz="1100" b="1" dirty="0">
                <a:solidFill>
                  <a:srgbClr val="EAAA00"/>
                </a:solidFill>
                <a:latin typeface="Helvetica" panose="020B0604020202020204" pitchFamily="34" charset="0"/>
                <a:ea typeface="Helvetica" charset="0"/>
                <a:cs typeface="Helvetica" panose="020B0604020202020204" pitchFamily="34" charset="0"/>
              </a:rPr>
              <a:t>## Use categorical variable</a:t>
            </a:r>
          </a:p>
          <a:p>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as.factor</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a:t>
            </a:r>
            <a:r>
              <a:rPr lang="en-US" sz="1100" b="1" dirty="0" err="1">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a:latin typeface="Helvetica" panose="020B0604020202020204" pitchFamily="34" charset="0"/>
                <a:ea typeface="Cambria" panose="02040503050406030204" pitchFamily="18" charset="0"/>
                <a:cs typeface="Helvetica" panose="020B0604020202020204" pitchFamily="34" charset="0"/>
              </a:rPr>
              <a:t/>
            </a:r>
            <a:br>
              <a:rPr lang="en-US" sz="1100" dirty="0">
                <a:latin typeface="Helvetica" panose="020B0604020202020204" pitchFamily="34" charset="0"/>
                <a:ea typeface="Cambria" panose="02040503050406030204" pitchFamily="18" charset="0"/>
                <a:cs typeface="Helvetica" panose="020B0604020202020204" pitchFamily="34" charset="0"/>
              </a:rPr>
            </a:b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fit.</a:t>
            </a:r>
            <a:r>
              <a:rPr lang="en-US" sz="1100" dirty="0">
                <a:solidFill>
                  <a:srgbClr val="0000CF"/>
                </a:solidFill>
                <a:latin typeface="Helvetica" panose="020B0604020202020204" pitchFamily="34" charset="0"/>
                <a:ea typeface="Cambria" panose="02040503050406030204" pitchFamily="18" charset="0"/>
                <a:cs typeface="Helvetica" panose="020B0604020202020204" pitchFamily="34" charset="0"/>
              </a:rPr>
              <a:t>3</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b="1" dirty="0" err="1">
                <a:solidFill>
                  <a:srgbClr val="204A87"/>
                </a:solidFill>
                <a:latin typeface="Helvetica" panose="020B0604020202020204" pitchFamily="34" charset="0"/>
                <a:ea typeface="Cambria" panose="02040503050406030204" pitchFamily="18" charset="0"/>
                <a:cs typeface="Helvetica" panose="020B0604020202020204" pitchFamily="34" charset="0"/>
              </a:rPr>
              <a:t>lm</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cnt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a:t>
            </a:r>
            <a:r>
              <a:rPr lang="en-US" sz="1100" b="1" dirty="0">
                <a:solidFill>
                  <a:srgbClr val="CE5C00"/>
                </a:solidFill>
                <a:latin typeface="Helvetica" panose="020B0604020202020204" pitchFamily="34" charset="0"/>
                <a:ea typeface="Cambria" panose="02040503050406030204" pitchFamily="18" charset="0"/>
                <a:cs typeface="Helvetica" panose="020B0604020202020204" pitchFamily="34" charset="0"/>
              </a:rPr>
              <a:t>~</a:t>
            </a:r>
            <a:r>
              <a:rPr lang="en-US" sz="1100" dirty="0">
                <a:solidFill>
                  <a:srgbClr val="4E9A06"/>
                </a:solidFill>
                <a:latin typeface="Helvetica" panose="020B0604020202020204" pitchFamily="34" charset="0"/>
                <a:ea typeface="Cambria" panose="02040503050406030204" pitchFamily="18" charset="0"/>
                <a:cs typeface="Helvetica" panose="020B0604020202020204" pitchFamily="34" charset="0"/>
              </a:rPr>
              <a:t> </a:t>
            </a:r>
            <a:r>
              <a:rPr lang="en-US" sz="1100" dirty="0" err="1">
                <a:solidFill>
                  <a:srgbClr val="000000"/>
                </a:solidFill>
                <a:latin typeface="Helvetica" panose="020B0604020202020204" pitchFamily="34" charset="0"/>
                <a:ea typeface="Cambria" panose="02040503050406030204" pitchFamily="18" charset="0"/>
                <a:cs typeface="Helvetica" panose="020B0604020202020204" pitchFamily="34" charset="0"/>
              </a:rPr>
              <a:t>weathersit</a:t>
            </a:r>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endParaRPr lang="en-US" sz="1100" dirty="0">
              <a:solidFill>
                <a:schemeClr val="accent1"/>
              </a:solidFill>
              <a:latin typeface="Helvetica" panose="020B0604020202020204" pitchFamily="34" charset="0"/>
              <a:ea typeface="Helvetica" charset="0"/>
              <a:cs typeface="Helvetica" panose="020B0604020202020204" pitchFamily="34" charset="0"/>
            </a:endParaRPr>
          </a:p>
        </p:txBody>
      </p:sp>
      <p:sp>
        <p:nvSpPr>
          <p:cNvPr id="8" name="TextBox 7">
            <a:extLst>
              <a:ext uri="{FF2B5EF4-FFF2-40B4-BE49-F238E27FC236}">
                <a16:creationId xmlns="" xmlns:a16="http://schemas.microsoft.com/office/drawing/2014/main" id="{D836172A-0E34-4154-A465-09CF8E02BEBF}"/>
              </a:ext>
            </a:extLst>
          </p:cNvPr>
          <p:cNvSpPr txBox="1"/>
          <p:nvPr/>
        </p:nvSpPr>
        <p:spPr>
          <a:xfrm>
            <a:off x="195700" y="4064484"/>
            <a:ext cx="6594714" cy="938719"/>
          </a:xfrm>
          <a:prstGeom prst="rect">
            <a:avLst/>
          </a:prstGeom>
          <a:noFill/>
          <a:ln w="19050">
            <a:solidFill>
              <a:srgbClr val="003366"/>
            </a:solidFill>
          </a:ln>
        </p:spPr>
        <p:txBody>
          <a:bodyPr wrap="square" rtlCol="0">
            <a:spAutoFit/>
          </a:bodyPr>
          <a:lstStyle/>
          <a:p>
            <a:r>
              <a:rPr lang="en-US" sz="1100" b="1" dirty="0">
                <a:latin typeface="Helvetica" panose="020B0604020202020204" pitchFamily="34" charset="0"/>
                <a:cs typeface="Helvetica" panose="020B0604020202020204" pitchFamily="34" charset="0"/>
              </a:rPr>
              <a:t>Codding Dummy Variables</a:t>
            </a:r>
          </a:p>
          <a:p>
            <a:r>
              <a:rPr lang="en-US" sz="1100" dirty="0">
                <a:latin typeface="Helvetica" panose="020B0604020202020204" pitchFamily="34" charset="0"/>
                <a:cs typeface="Helvetica" panose="020B0604020202020204" pitchFamily="34" charset="0"/>
              </a:rPr>
              <a:t>R Sets the “first” class as being the baseline</a:t>
            </a:r>
          </a:p>
          <a:p>
            <a:pPr marL="341313" indent="-341313">
              <a:buFont typeface="Arial" panose="020B0604020202020204" pitchFamily="34" charset="0"/>
              <a:buChar char="•"/>
            </a:pPr>
            <a:r>
              <a:rPr lang="en-US" sz="1100" dirty="0">
                <a:latin typeface="Helvetica" panose="020B0604020202020204" pitchFamily="34" charset="0"/>
                <a:cs typeface="Helvetica" panose="020B0604020202020204" pitchFamily="34" charset="0"/>
              </a:rPr>
              <a:t>If a different class is the baseline, </a:t>
            </a:r>
            <a:r>
              <a:rPr lang="en-US" sz="1100" dirty="0">
                <a:latin typeface="Helvetica" charset="0"/>
                <a:ea typeface="Helvetica" charset="0"/>
                <a:cs typeface="Helvetica" charset="0"/>
              </a:rPr>
              <a:t>either use dummy variables or specify with ‘</a:t>
            </a:r>
            <a:r>
              <a:rPr lang="en-US" sz="1100" dirty="0" err="1">
                <a:latin typeface="Helvetica" charset="0"/>
                <a:ea typeface="Helvetica" charset="0"/>
                <a:cs typeface="Helvetica" charset="0"/>
              </a:rPr>
              <a:t>contr.treatment</a:t>
            </a:r>
            <a:r>
              <a:rPr lang="en-US" sz="1100" dirty="0">
                <a:latin typeface="Helvetica" charset="0"/>
                <a:ea typeface="Helvetica" charset="0"/>
                <a:cs typeface="Helvetica" charset="0"/>
              </a:rPr>
              <a:t>’</a:t>
            </a:r>
          </a:p>
          <a:p>
            <a:r>
              <a:rPr lang="en-US" sz="1100" dirty="0">
                <a:latin typeface="Helvetica" charset="0"/>
                <a:ea typeface="Helvetica" charset="0"/>
                <a:cs typeface="Helvetica" charset="0"/>
              </a:rPr>
              <a:t>Be careful when using a model without intercept in R! </a:t>
            </a:r>
          </a:p>
          <a:p>
            <a:pPr marL="341313" indent="-341313">
              <a:buFont typeface="Arial" panose="020B0604020202020204" pitchFamily="34" charset="0"/>
              <a:buChar char="•"/>
            </a:pPr>
            <a:r>
              <a:rPr lang="en-US" sz="1100" dirty="0">
                <a:latin typeface="Helvetica" charset="0"/>
                <a:ea typeface="Helvetica" charset="0"/>
                <a:cs typeface="Helvetica" charset="0"/>
              </a:rPr>
              <a:t>No baseline comparison</a:t>
            </a:r>
          </a:p>
        </p:txBody>
      </p:sp>
      <p:graphicFrame>
        <p:nvGraphicFramePr>
          <p:cNvPr id="12" name="Table 11">
            <a:extLst>
              <a:ext uri="{FF2B5EF4-FFF2-40B4-BE49-F238E27FC236}">
                <a16:creationId xmlns="" xmlns:a16="http://schemas.microsoft.com/office/drawing/2014/main" id="{87B70738-D973-46DA-8CDD-D07A1756762C}"/>
              </a:ext>
            </a:extLst>
          </p:cNvPr>
          <p:cNvGraphicFramePr>
            <a:graphicFrameLocks noGrp="1"/>
          </p:cNvGraphicFramePr>
          <p:nvPr>
            <p:extLst>
              <p:ext uri="{D42A27DB-BD31-4B8C-83A1-F6EECF244321}">
                <p14:modId xmlns:p14="http://schemas.microsoft.com/office/powerpoint/2010/main" val="1081027233"/>
              </p:ext>
            </p:extLst>
          </p:nvPr>
        </p:nvGraphicFramePr>
        <p:xfrm>
          <a:off x="5422793" y="928485"/>
          <a:ext cx="3488634" cy="1017804"/>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387686879"/>
                    </a:ext>
                  </a:extLst>
                </a:gridCol>
                <a:gridCol w="640080">
                  <a:extLst>
                    <a:ext uri="{9D8B030D-6E8A-4147-A177-3AD203B41FA5}">
                      <a16:colId xmlns="" xmlns:a16="http://schemas.microsoft.com/office/drawing/2014/main" val="2100308670"/>
                    </a:ext>
                  </a:extLst>
                </a:gridCol>
                <a:gridCol w="699714">
                  <a:extLst>
                    <a:ext uri="{9D8B030D-6E8A-4147-A177-3AD203B41FA5}">
                      <a16:colId xmlns="" xmlns:a16="http://schemas.microsoft.com/office/drawing/2014/main" val="1903286116"/>
                    </a:ext>
                  </a:extLst>
                </a:gridCol>
                <a:gridCol w="594360">
                  <a:extLst>
                    <a:ext uri="{9D8B030D-6E8A-4147-A177-3AD203B41FA5}">
                      <a16:colId xmlns="" xmlns:a16="http://schemas.microsoft.com/office/drawing/2014/main" val="2401877264"/>
                    </a:ext>
                  </a:extLst>
                </a:gridCol>
                <a:gridCol w="731520">
                  <a:extLst>
                    <a:ext uri="{9D8B030D-6E8A-4147-A177-3AD203B41FA5}">
                      <a16:colId xmlns="" xmlns:a16="http://schemas.microsoft.com/office/drawing/2014/main" val="2357963030"/>
                    </a:ext>
                  </a:extLst>
                </a:gridCol>
              </a:tblGrid>
              <a:tr h="29929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1</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157652236"/>
                  </a:ext>
                </a:extLst>
              </a:tr>
              <a:tr h="143991">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Estimate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Std. Error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02652562"/>
                  </a:ext>
                </a:extLst>
              </a:tr>
              <a:tr h="17620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204.869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1.680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121.97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326820243"/>
                  </a:ext>
                </a:extLst>
              </a:tr>
              <a:tr h="17620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weathersit.2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175.165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2.662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65.80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8040218"/>
                  </a:ext>
                </a:extLst>
              </a:tr>
              <a:tr h="17620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111.501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4.758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23.43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080546440"/>
                  </a:ext>
                </a:extLst>
              </a:tr>
            </a:tbl>
          </a:graphicData>
        </a:graphic>
      </p:graphicFrame>
      <p:graphicFrame>
        <p:nvGraphicFramePr>
          <p:cNvPr id="13" name="Table 12">
            <a:extLst>
              <a:ext uri="{FF2B5EF4-FFF2-40B4-BE49-F238E27FC236}">
                <a16:creationId xmlns="" xmlns:a16="http://schemas.microsoft.com/office/drawing/2014/main" id="{7591901C-0508-448E-A6E2-6DDABE8902DF}"/>
              </a:ext>
            </a:extLst>
          </p:cNvPr>
          <p:cNvGraphicFramePr>
            <a:graphicFrameLocks noGrp="1"/>
          </p:cNvGraphicFramePr>
          <p:nvPr>
            <p:extLst>
              <p:ext uri="{D42A27DB-BD31-4B8C-83A1-F6EECF244321}">
                <p14:modId xmlns:p14="http://schemas.microsoft.com/office/powerpoint/2010/main" val="2817501477"/>
              </p:ext>
            </p:extLst>
          </p:nvPr>
        </p:nvGraphicFramePr>
        <p:xfrm>
          <a:off x="5422793" y="1999784"/>
          <a:ext cx="3520440" cy="978408"/>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885992968"/>
                    </a:ext>
                  </a:extLst>
                </a:gridCol>
                <a:gridCol w="640080">
                  <a:extLst>
                    <a:ext uri="{9D8B030D-6E8A-4147-A177-3AD203B41FA5}">
                      <a16:colId xmlns="" xmlns:a16="http://schemas.microsoft.com/office/drawing/2014/main" val="3608251904"/>
                    </a:ext>
                  </a:extLst>
                </a:gridCol>
                <a:gridCol w="731520">
                  <a:extLst>
                    <a:ext uri="{9D8B030D-6E8A-4147-A177-3AD203B41FA5}">
                      <a16:colId xmlns="" xmlns:a16="http://schemas.microsoft.com/office/drawing/2014/main" val="2268354887"/>
                    </a:ext>
                  </a:extLst>
                </a:gridCol>
                <a:gridCol w="594360">
                  <a:extLst>
                    <a:ext uri="{9D8B030D-6E8A-4147-A177-3AD203B41FA5}">
                      <a16:colId xmlns="" xmlns:a16="http://schemas.microsoft.com/office/drawing/2014/main" val="2276119353"/>
                    </a:ext>
                  </a:extLst>
                </a:gridCol>
                <a:gridCol w="731520">
                  <a:extLst>
                    <a:ext uri="{9D8B030D-6E8A-4147-A177-3AD203B41FA5}">
                      <a16:colId xmlns="" xmlns:a16="http://schemas.microsoft.com/office/drawing/2014/main" val="607112438"/>
                    </a:ext>
                  </a:extLst>
                </a:gridCol>
              </a:tblGrid>
              <a:tr h="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2</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00431973"/>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Estimate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Std. Error</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85666639"/>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(Intercept)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111.501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4.758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23.43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68426654"/>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weathersit.1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93.369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5.046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18.50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531560748"/>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63.665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5.452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11.68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84090423"/>
                  </a:ext>
                </a:extLst>
              </a:tr>
            </a:tbl>
          </a:graphicData>
        </a:graphic>
      </p:graphicFrame>
      <p:graphicFrame>
        <p:nvGraphicFramePr>
          <p:cNvPr id="14" name="Table 13">
            <a:extLst>
              <a:ext uri="{FF2B5EF4-FFF2-40B4-BE49-F238E27FC236}">
                <a16:creationId xmlns="" xmlns:a16="http://schemas.microsoft.com/office/drawing/2014/main" id="{39374B99-2CE8-4B72-9576-47F26582C01A}"/>
              </a:ext>
            </a:extLst>
          </p:cNvPr>
          <p:cNvGraphicFramePr>
            <a:graphicFrameLocks noGrp="1"/>
          </p:cNvGraphicFramePr>
          <p:nvPr>
            <p:extLst>
              <p:ext uri="{D42A27DB-BD31-4B8C-83A1-F6EECF244321}">
                <p14:modId xmlns:p14="http://schemas.microsoft.com/office/powerpoint/2010/main" val="2718944058"/>
              </p:ext>
            </p:extLst>
          </p:nvPr>
        </p:nvGraphicFramePr>
        <p:xfrm>
          <a:off x="5422792" y="3011967"/>
          <a:ext cx="3520440" cy="978408"/>
        </p:xfrm>
        <a:graphic>
          <a:graphicData uri="http://schemas.openxmlformats.org/drawingml/2006/table">
            <a:tbl>
              <a:tblPr firstRow="1" firstCol="1" bandRow="1">
                <a:tableStyleId>{5C22544A-7EE6-4342-B048-85BDC9FD1C3A}</a:tableStyleId>
              </a:tblPr>
              <a:tblGrid>
                <a:gridCol w="822960">
                  <a:extLst>
                    <a:ext uri="{9D8B030D-6E8A-4147-A177-3AD203B41FA5}">
                      <a16:colId xmlns="" xmlns:a16="http://schemas.microsoft.com/office/drawing/2014/main" val="40499122"/>
                    </a:ext>
                  </a:extLst>
                </a:gridCol>
                <a:gridCol w="640080">
                  <a:extLst>
                    <a:ext uri="{9D8B030D-6E8A-4147-A177-3AD203B41FA5}">
                      <a16:colId xmlns="" xmlns:a16="http://schemas.microsoft.com/office/drawing/2014/main" val="870019880"/>
                    </a:ext>
                  </a:extLst>
                </a:gridCol>
                <a:gridCol w="731520">
                  <a:extLst>
                    <a:ext uri="{9D8B030D-6E8A-4147-A177-3AD203B41FA5}">
                      <a16:colId xmlns="" xmlns:a16="http://schemas.microsoft.com/office/drawing/2014/main" val="2374964324"/>
                    </a:ext>
                  </a:extLst>
                </a:gridCol>
                <a:gridCol w="594360">
                  <a:extLst>
                    <a:ext uri="{9D8B030D-6E8A-4147-A177-3AD203B41FA5}">
                      <a16:colId xmlns="" xmlns:a16="http://schemas.microsoft.com/office/drawing/2014/main" val="3881266084"/>
                    </a:ext>
                  </a:extLst>
                </a:gridCol>
                <a:gridCol w="731520">
                  <a:extLst>
                    <a:ext uri="{9D8B030D-6E8A-4147-A177-3AD203B41FA5}">
                      <a16:colId xmlns="" xmlns:a16="http://schemas.microsoft.com/office/drawing/2014/main" val="996280503"/>
                    </a:ext>
                  </a:extLst>
                </a:gridCol>
              </a:tblGrid>
              <a:tr h="0">
                <a:tc gridSpan="2">
                  <a:txBody>
                    <a:bodyPr/>
                    <a:lstStyle/>
                    <a:p>
                      <a:pPr marL="0" marR="0">
                        <a:lnSpc>
                          <a:spcPct val="107000"/>
                        </a:lnSpc>
                        <a:spcBef>
                          <a:spcPts val="0"/>
                        </a:spcBef>
                        <a:spcAft>
                          <a:spcPts val="0"/>
                        </a:spcAft>
                      </a:pPr>
                      <a:r>
                        <a:rPr lang="en-US" sz="1000" b="1" dirty="0">
                          <a:solidFill>
                            <a:schemeClr val="tx1"/>
                          </a:solidFill>
                          <a:effectLst/>
                          <a:latin typeface="Helvetica" panose="020B0604020202020204" pitchFamily="34" charset="0"/>
                          <a:cs typeface="Helvetica" panose="020B0604020202020204" pitchFamily="34" charset="0"/>
                        </a:rPr>
                        <a:t>summary</a:t>
                      </a:r>
                      <a:r>
                        <a:rPr lang="en-US" sz="1000" b="0" dirty="0">
                          <a:solidFill>
                            <a:schemeClr val="tx1"/>
                          </a:solidFill>
                          <a:effectLst/>
                          <a:latin typeface="Helvetica" panose="020B0604020202020204" pitchFamily="34" charset="0"/>
                          <a:cs typeface="Helvetica" panose="020B0604020202020204" pitchFamily="34" charset="0"/>
                        </a:rPr>
                        <a:t>(fit.</a:t>
                      </a:r>
                      <a:r>
                        <a:rPr lang="en-US" sz="1000" b="0" dirty="0">
                          <a:solidFill>
                            <a:srgbClr val="0000CF"/>
                          </a:solidFill>
                          <a:effectLst/>
                          <a:latin typeface="Helvetica" panose="020B0604020202020204" pitchFamily="34" charset="0"/>
                          <a:cs typeface="Helvetica" panose="020B0604020202020204" pitchFamily="34" charset="0"/>
                        </a:rPr>
                        <a:t>3</a:t>
                      </a:r>
                      <a:r>
                        <a:rPr lang="en-US" sz="1000" b="0" dirty="0">
                          <a:solidFill>
                            <a:schemeClr val="tx1"/>
                          </a:solidFill>
                          <a:effectLst/>
                          <a:latin typeface="Helvetica" panose="020B0604020202020204" pitchFamily="34" charset="0"/>
                          <a:cs typeface="Helvetica" panose="020B0604020202020204" pitchFamily="34" charset="0"/>
                        </a:rPr>
                        <a:t>)</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hMerge="1">
                  <a:txBody>
                    <a:bodyPr/>
                    <a:lstStyle/>
                    <a:p>
                      <a:pPr marL="0" marR="0" algn="r">
                        <a:lnSpc>
                          <a:spcPct val="107000"/>
                        </a:lnSpc>
                        <a:spcBef>
                          <a:spcPts val="0"/>
                        </a:spcBef>
                        <a:spcAft>
                          <a:spcPts val="0"/>
                        </a:spcAft>
                      </a:pP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93199372"/>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Estimate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Std. Error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t value</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Pr(&gt;|t|)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31267225"/>
                  </a:ext>
                </a:extLst>
              </a:tr>
              <a:tr h="0">
                <a:tc>
                  <a:txBody>
                    <a:bodyPr/>
                    <a:lstStyle/>
                    <a:p>
                      <a:pPr marL="0" marR="0">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(Intercept)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204.869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1.680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121.972</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25211393"/>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weathersit2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-29.704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3.148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-9.437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a:solidFill>
                            <a:schemeClr val="tx1"/>
                          </a:solidFill>
                          <a:effectLst/>
                          <a:latin typeface="Helvetica" panose="020B0604020202020204" pitchFamily="34" charset="0"/>
                          <a:cs typeface="Helvetica" panose="020B0604020202020204" pitchFamily="34" charset="0"/>
                        </a:rPr>
                        <a:t>&lt;2e-16 ***</a:t>
                      </a:r>
                      <a:endParaRPr lang="en-US" sz="10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882193252"/>
                  </a:ext>
                </a:extLst>
              </a:tr>
              <a:tr h="0">
                <a:tc>
                  <a:txBody>
                    <a:bodyPr/>
                    <a:lstStyle/>
                    <a:p>
                      <a:pPr marL="0" marR="0">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weathersit3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-93.369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5.046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-18.503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000" b="0" dirty="0">
                          <a:solidFill>
                            <a:schemeClr val="tx1"/>
                          </a:solidFill>
                          <a:effectLst/>
                          <a:latin typeface="Helvetica" panose="020B0604020202020204" pitchFamily="34" charset="0"/>
                          <a:cs typeface="Helvetica" panose="020B0604020202020204" pitchFamily="34" charset="0"/>
                        </a:rPr>
                        <a:t>&lt;2e-16 ***</a:t>
                      </a:r>
                      <a:endParaRPr lang="en-US" sz="10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928096065"/>
                  </a:ext>
                </a:extLst>
              </a:tr>
            </a:tbl>
          </a:graphicData>
        </a:graphic>
      </p:graphicFrame>
      <p:sp>
        <p:nvSpPr>
          <p:cNvPr id="16" name="Rectangle 15">
            <a:extLst>
              <a:ext uri="{FF2B5EF4-FFF2-40B4-BE49-F238E27FC236}">
                <a16:creationId xmlns="" xmlns:a16="http://schemas.microsoft.com/office/drawing/2014/main" id="{2334B894-9ABF-462A-8F05-2A6A51CF1722}"/>
              </a:ext>
            </a:extLst>
          </p:cNvPr>
          <p:cNvSpPr/>
          <p:nvPr/>
        </p:nvSpPr>
        <p:spPr>
          <a:xfrm>
            <a:off x="3692302" y="2584357"/>
            <a:ext cx="243596" cy="198600"/>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 xmlns:a16="http://schemas.microsoft.com/office/drawing/2014/main" id="{4F3CEB86-CA44-40C1-B3DA-8C9DF01B64F6}"/>
              </a:ext>
            </a:extLst>
          </p:cNvPr>
          <p:cNvSpPr/>
          <p:nvPr/>
        </p:nvSpPr>
        <p:spPr>
          <a:xfrm>
            <a:off x="1105231" y="3772213"/>
            <a:ext cx="748269" cy="171641"/>
          </a:xfrm>
          <a:prstGeom prst="rect">
            <a:avLst/>
          </a:prstGeom>
          <a:noFill/>
          <a:ln w="19050">
            <a:solidFill>
              <a:srgbClr val="EA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29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4779" y="855565"/>
            <a:ext cx="4457221" cy="2123658"/>
          </a:xfrm>
          <a:prstGeom prst="rect">
            <a:avLst/>
          </a:prstGeom>
          <a:noFill/>
        </p:spPr>
        <p:txBody>
          <a:bodyPr wrap="square" rtlCol="0">
            <a:spAutoFit/>
          </a:bodyPr>
          <a:lstStyle/>
          <a:p>
            <a:pPr lvl="0"/>
            <a:r>
              <a:rPr lang="en-US" sz="1200" b="1" dirty="0">
                <a:solidFill>
                  <a:srgbClr val="EAAA00"/>
                </a:solidFill>
                <a:latin typeface="Helvetica" panose="020B0604020202020204" pitchFamily="34" charset="0"/>
                <a:ea typeface="Helvetica" charset="0"/>
                <a:cs typeface="Helvetica" panose="020B0604020202020204" pitchFamily="34" charset="0"/>
              </a:rPr>
              <a:t>## Fitting the model</a:t>
            </a:r>
          </a:p>
          <a:p>
            <a:pPr lvl="0"/>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Creating scatterplot of residuals vs fitted values</a:t>
            </a:r>
          </a:p>
          <a:p>
            <a:pPr lvl="0"/>
            <a:endParaRPr lang="en-US" sz="1200" dirty="0">
              <a:solidFill>
                <a:srgbClr val="204A87"/>
              </a:solidFill>
              <a:latin typeface="Helvetica" panose="020B0604020202020204" pitchFamily="34" charset="0"/>
              <a:ea typeface="Cambria" panose="02040503050406030204" pitchFamily="18" charset="0"/>
              <a:cs typeface="Helvetica" panose="020B0604020202020204" pitchFamily="34" charset="0"/>
            </a:endParaRPr>
          </a:p>
          <a:p>
            <a:pPr latinLnBrk="1">
              <a:spcAft>
                <a:spcPts val="1000"/>
              </a:spcAft>
            </a:pP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resids = </a:t>
            </a:r>
            <a:r>
              <a:rPr lang="en-US" sz="1200" b="1"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rstandard</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(model1)</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fits = model1</a:t>
            </a:r>
            <a:r>
              <a:rPr lang="en-US" sz="12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fitted</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plot</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(fits, </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2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resids</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2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xlab</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="Fitted Values", </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2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ylab</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="Residuals", </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main="Scatterplot",</a:t>
            </a:r>
            <a:b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col="</a:t>
            </a:r>
            <a:r>
              <a:rPr lang="en-US" sz="12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darkblue</a:t>
            </a:r>
            <a:r>
              <a:rPr lang="en-US" sz="12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a:t>
            </a:r>
          </a:p>
        </p:txBody>
      </p:sp>
      <p:sp>
        <p:nvSpPr>
          <p:cNvPr id="15" name="标题 14"/>
          <p:cNvSpPr>
            <a:spLocks noGrp="1"/>
          </p:cNvSpPr>
          <p:nvPr>
            <p:ph type="title"/>
          </p:nvPr>
        </p:nvSpPr>
        <p:spPr>
          <a:xfrm>
            <a:off x="90508" y="153299"/>
            <a:ext cx="9150595" cy="576798"/>
          </a:xfrm>
        </p:spPr>
        <p:txBody>
          <a:bodyPr/>
          <a:lstStyle/>
          <a:p>
            <a:r>
              <a:rPr kumimoji="1" lang="en-US" altLang="zh-CN" sz="3600" dirty="0">
                <a:latin typeface="Vitesse"/>
                <a:ea typeface="Vitesse" charset="0"/>
                <a:cs typeface="Vitesse" charset="0"/>
              </a:rPr>
              <a:t>Goodness of Fit: Constant Variance Assumption</a:t>
            </a:r>
            <a:endParaRPr kumimoji="1" lang="zh-CN" altLang="en-US" sz="3600" dirty="0">
              <a:latin typeface="Vitesse"/>
              <a:ea typeface="Vitesse" charset="0"/>
              <a:cs typeface="Vitesse" charset="0"/>
            </a:endParaRPr>
          </a:p>
        </p:txBody>
      </p:sp>
      <p:sp>
        <p:nvSpPr>
          <p:cNvPr id="6" name="TextBox 5">
            <a:extLst>
              <a:ext uri="{FF2B5EF4-FFF2-40B4-BE49-F238E27FC236}">
                <a16:creationId xmlns="" xmlns:a16="http://schemas.microsoft.com/office/drawing/2014/main" id="{9A237629-5E3A-4FE7-87E1-554D3FAFE0F0}"/>
              </a:ext>
            </a:extLst>
          </p:cNvPr>
          <p:cNvSpPr txBox="1"/>
          <p:nvPr/>
        </p:nvSpPr>
        <p:spPr>
          <a:xfrm>
            <a:off x="201867" y="3164910"/>
            <a:ext cx="4370133" cy="1777410"/>
          </a:xfrm>
          <a:prstGeom prst="rect">
            <a:avLst/>
          </a:prstGeom>
          <a:noFill/>
          <a:ln w="19050">
            <a:solidFill>
              <a:schemeClr val="tx2"/>
            </a:solidFill>
          </a:ln>
        </p:spPr>
        <p:txBody>
          <a:bodyPr wrap="square" lIns="182880" tIns="182880" rIns="182880" bIns="182880" rtlCol="0">
            <a:spAutoFit/>
          </a:bodyPr>
          <a:lstStyle/>
          <a:p>
            <a:pPr marL="292100" indent="-292100">
              <a:spcBef>
                <a:spcPts val="900"/>
              </a:spcBef>
              <a:buFont typeface="Arial" panose="020B0604020202020204" pitchFamily="34" charset="0"/>
              <a:buChar char="•"/>
            </a:pPr>
            <a:r>
              <a:rPr lang="en-US" sz="1200" dirty="0">
                <a:latin typeface="Helvetica" panose="020B0604020202020204" pitchFamily="34" charset="0"/>
                <a:ea typeface="Cambria" panose="02040503050406030204" pitchFamily="18" charset="0"/>
                <a:cs typeface="Helvetica" panose="020B0604020202020204" pitchFamily="34" charset="0"/>
              </a:rPr>
              <a:t>The constant variance assumption does not hold --  the variance increases when moving from lower to higher fitted values.  </a:t>
            </a:r>
          </a:p>
          <a:p>
            <a:pPr marL="292100" indent="-292100">
              <a:spcBef>
                <a:spcPts val="900"/>
              </a:spcBef>
              <a:buFont typeface="Arial" panose="020B0604020202020204" pitchFamily="34" charset="0"/>
              <a:buChar char="•"/>
            </a:pPr>
            <a:r>
              <a:rPr lang="en-US" sz="1200" dirty="0">
                <a:latin typeface="Helvetica" panose="020B0604020202020204" pitchFamily="34" charset="0"/>
                <a:ea typeface="Cambria" panose="02040503050406030204" pitchFamily="18" charset="0"/>
                <a:cs typeface="Helvetica" panose="020B0604020202020204" pitchFamily="34" charset="0"/>
              </a:rPr>
              <a:t>The residuals, at low y values, seem to follow a straight-line pattern. The linear pattern in the beginning suggests that the response variable stays constant for a range of predictor values.</a:t>
            </a:r>
          </a:p>
        </p:txBody>
      </p:sp>
      <p:pic>
        <p:nvPicPr>
          <p:cNvPr id="3" name="Picture 2">
            <a:extLst>
              <a:ext uri="{FF2B5EF4-FFF2-40B4-BE49-F238E27FC236}">
                <a16:creationId xmlns="" xmlns:a16="http://schemas.microsoft.com/office/drawing/2014/main" id="{4E1F6B5E-CBFA-4A45-94B7-7767C14C93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0215" y="896024"/>
            <a:ext cx="3539017" cy="2515086"/>
          </a:xfrm>
          <a:prstGeom prst="rect">
            <a:avLst/>
          </a:prstGeom>
        </p:spPr>
      </p:pic>
    </p:spTree>
    <p:extLst>
      <p:ext uri="{BB962C8B-B14F-4D97-AF65-F5344CB8AC3E}">
        <p14:creationId xmlns:p14="http://schemas.microsoft.com/office/powerpoint/2010/main" val="181398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a:xfrm>
            <a:off x="90509" y="133335"/>
            <a:ext cx="8938712" cy="576798"/>
          </a:xfrm>
        </p:spPr>
        <p:txBody>
          <a:bodyPr/>
          <a:lstStyle/>
          <a:p>
            <a:r>
              <a:rPr kumimoji="1" lang="en-US" altLang="zh-CN" sz="3600" dirty="0">
                <a:latin typeface="Vitesse"/>
                <a:ea typeface="Vitesse" charset="0"/>
                <a:cs typeface="Vitesse" charset="0"/>
              </a:rPr>
              <a:t>Goodness of Fit: Linearity Assumption</a:t>
            </a:r>
            <a:endParaRPr kumimoji="1" lang="zh-CN" altLang="en-US" sz="3600" dirty="0">
              <a:latin typeface="Vitesse"/>
              <a:ea typeface="Vitesse" charset="0"/>
              <a:cs typeface="Vitesse" charset="0"/>
            </a:endParaRPr>
          </a:p>
        </p:txBody>
      </p:sp>
      <p:sp>
        <p:nvSpPr>
          <p:cNvPr id="6" name="TextBox 5">
            <a:extLst>
              <a:ext uri="{FF2B5EF4-FFF2-40B4-BE49-F238E27FC236}">
                <a16:creationId xmlns="" xmlns:a16="http://schemas.microsoft.com/office/drawing/2014/main" id="{9A237629-5E3A-4FE7-87E1-554D3FAFE0F0}"/>
              </a:ext>
            </a:extLst>
          </p:cNvPr>
          <p:cNvSpPr txBox="1"/>
          <p:nvPr/>
        </p:nvSpPr>
        <p:spPr>
          <a:xfrm>
            <a:off x="5484718" y="2470727"/>
            <a:ext cx="3446584" cy="1046440"/>
          </a:xfrm>
          <a:prstGeom prst="rect">
            <a:avLst/>
          </a:prstGeom>
          <a:noFill/>
          <a:ln w="19050">
            <a:solidFill>
              <a:schemeClr val="tx2"/>
            </a:solidFill>
          </a:ln>
        </p:spPr>
        <p:txBody>
          <a:bodyPr wrap="square" lIns="91440" tIns="91440" rIns="91440" bIns="91440" rtlCol="0">
            <a:spAutoFit/>
          </a:bodyPr>
          <a:lstStyle/>
          <a:p>
            <a:pPr>
              <a:spcBef>
                <a:spcPts val="900"/>
              </a:spcBef>
              <a:spcAft>
                <a:spcPts val="900"/>
              </a:spcAft>
            </a:pPr>
            <a:r>
              <a:rPr lang="en-US" sz="1400" dirty="0">
                <a:latin typeface="Helvetica" panose="020B0604020202020204" pitchFamily="34" charset="0"/>
                <a:ea typeface="Cambria" panose="02040503050406030204" pitchFamily="18" charset="0"/>
                <a:cs typeface="Helvetica" panose="020B0604020202020204" pitchFamily="34" charset="0"/>
              </a:rPr>
              <a:t>The residuals do not vary with the any of the numeric predicting variables. No transformation of the predicting variable is needed.</a:t>
            </a:r>
          </a:p>
        </p:txBody>
      </p:sp>
      <p:pic>
        <p:nvPicPr>
          <p:cNvPr id="4" name="Picture 3" descr="A screenshot of a map&#10;&#10;Description automatically generated">
            <a:extLst>
              <a:ext uri="{FF2B5EF4-FFF2-40B4-BE49-F238E27FC236}">
                <a16:creationId xmlns="" xmlns:a16="http://schemas.microsoft.com/office/drawing/2014/main" id="{418D1617-24A7-4EBF-AC64-0469A4DCD21A}"/>
              </a:ext>
            </a:extLst>
          </p:cNvPr>
          <p:cNvPicPr>
            <a:picLocks noChangeAspect="1"/>
          </p:cNvPicPr>
          <p:nvPr/>
        </p:nvPicPr>
        <p:blipFill rotWithShape="1">
          <a:blip r:embed="rId3">
            <a:extLst>
              <a:ext uri="{28A0092B-C50C-407E-A947-70E740481C1C}">
                <a14:useLocalDpi xmlns:a14="http://schemas.microsoft.com/office/drawing/2010/main" val="0"/>
              </a:ext>
            </a:extLst>
          </a:blip>
          <a:srcRect t="7182" r="4235" b="3362"/>
          <a:stretch/>
        </p:blipFill>
        <p:spPr>
          <a:xfrm>
            <a:off x="171429" y="1031779"/>
            <a:ext cx="4464181" cy="2573556"/>
          </a:xfrm>
          <a:prstGeom prst="rect">
            <a:avLst/>
          </a:prstGeom>
        </p:spPr>
      </p:pic>
    </p:spTree>
    <p:extLst>
      <p:ext uri="{BB962C8B-B14F-4D97-AF65-F5344CB8AC3E}">
        <p14:creationId xmlns:p14="http://schemas.microsoft.com/office/powerpoint/2010/main" val="81847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2871" y="839663"/>
            <a:ext cx="3499888" cy="1600438"/>
          </a:xfrm>
          <a:prstGeom prst="rect">
            <a:avLst/>
          </a:prstGeom>
          <a:noFill/>
        </p:spPr>
        <p:txBody>
          <a:bodyPr wrap="square" rtlCol="0">
            <a:spAutoFit/>
          </a:bodyPr>
          <a:lstStyle/>
          <a:p>
            <a:pPr lvl="0"/>
            <a:r>
              <a:rPr lang="en-US" sz="1400" b="1" dirty="0">
                <a:solidFill>
                  <a:srgbClr val="EAAA00"/>
                </a:solidFill>
                <a:latin typeface="Helvetica" panose="020B0604020202020204" pitchFamily="34" charset="0"/>
                <a:ea typeface="Helvetica" charset="0"/>
                <a:cs typeface="Helvetica" panose="020B0604020202020204" pitchFamily="34" charset="0"/>
              </a:rPr>
              <a:t>## Checking normality</a:t>
            </a:r>
          </a:p>
          <a:p>
            <a:pPr lvl="0"/>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histogram</a:t>
            </a:r>
          </a:p>
          <a:p>
            <a:pPr lvl="0"/>
            <a:r>
              <a:rPr lang="en-US" sz="14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hist</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(resids,</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nclass</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=20,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col="</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darkblue</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border="gold",</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main="Histogram of residuals")</a:t>
            </a:r>
          </a:p>
        </p:txBody>
      </p:sp>
      <p:sp>
        <p:nvSpPr>
          <p:cNvPr id="15" name="标题 14"/>
          <p:cNvSpPr>
            <a:spLocks noGrp="1"/>
          </p:cNvSpPr>
          <p:nvPr>
            <p:ph type="title"/>
          </p:nvPr>
        </p:nvSpPr>
        <p:spPr>
          <a:xfrm>
            <a:off x="98601" y="145347"/>
            <a:ext cx="8562392" cy="611099"/>
          </a:xfrm>
        </p:spPr>
        <p:txBody>
          <a:bodyPr/>
          <a:lstStyle/>
          <a:p>
            <a:r>
              <a:rPr kumimoji="1" lang="en-US" altLang="zh-CN" sz="3600" dirty="0">
                <a:latin typeface="Vitesse"/>
                <a:ea typeface="Vitesse" charset="0"/>
                <a:cs typeface="Vitesse" charset="0"/>
              </a:rPr>
              <a:t>Goodness of Fit: Normality Assumption</a:t>
            </a:r>
            <a:endParaRPr kumimoji="1" lang="zh-CN" altLang="en-US" sz="3600" dirty="0">
              <a:latin typeface="Vitesse"/>
              <a:ea typeface="Vitesse" charset="0"/>
              <a:cs typeface="Vitesse" charset="0"/>
            </a:endParaRPr>
          </a:p>
        </p:txBody>
      </p:sp>
      <p:pic>
        <p:nvPicPr>
          <p:cNvPr id="3" name="Picture 2">
            <a:extLst>
              <a:ext uri="{FF2B5EF4-FFF2-40B4-BE49-F238E27FC236}">
                <a16:creationId xmlns="" xmlns:a16="http://schemas.microsoft.com/office/drawing/2014/main" id="{DBF96AF1-741B-4D4E-A9E6-16DE80299C53}"/>
              </a:ext>
            </a:extLst>
          </p:cNvPr>
          <p:cNvPicPr>
            <a:picLocks noChangeAspect="1"/>
          </p:cNvPicPr>
          <p:nvPr/>
        </p:nvPicPr>
        <p:blipFill rotWithShape="1">
          <a:blip r:embed="rId3">
            <a:alphaModFix/>
          </a:blip>
          <a:srcRect t="7587" r="7785" b="4944"/>
          <a:stretch/>
        </p:blipFill>
        <p:spPr>
          <a:xfrm>
            <a:off x="5443415" y="2111120"/>
            <a:ext cx="3475758" cy="2397270"/>
          </a:xfrm>
          <a:prstGeom prst="rect">
            <a:avLst/>
          </a:prstGeom>
        </p:spPr>
      </p:pic>
      <p:sp>
        <p:nvSpPr>
          <p:cNvPr id="9" name="Rectangle 8">
            <a:extLst>
              <a:ext uri="{FF2B5EF4-FFF2-40B4-BE49-F238E27FC236}">
                <a16:creationId xmlns="" xmlns:a16="http://schemas.microsoft.com/office/drawing/2014/main" id="{0C876A7A-A22B-40E0-8489-BC8EE3FADDEA}"/>
              </a:ext>
            </a:extLst>
          </p:cNvPr>
          <p:cNvSpPr/>
          <p:nvPr/>
        </p:nvSpPr>
        <p:spPr>
          <a:xfrm>
            <a:off x="5411704" y="836704"/>
            <a:ext cx="2037015" cy="1169551"/>
          </a:xfrm>
          <a:prstGeom prst="rect">
            <a:avLst/>
          </a:prstGeom>
        </p:spPr>
        <p:txBody>
          <a:bodyPr wrap="square">
            <a:spAutoFit/>
          </a:bodyPr>
          <a:lstStyle/>
          <a:p>
            <a:pPr lvl="0" latinLnBrk="1"/>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q-q plot</a:t>
            </a:r>
          </a:p>
          <a:p>
            <a:pPr lvl="0" latinLnBrk="1"/>
            <a:r>
              <a:rPr lang="en-US" sz="14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qqnorm</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(resids,</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col="</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darkblue</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b="1"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qqline</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(resids,</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col="red")</a:t>
            </a:r>
          </a:p>
        </p:txBody>
      </p:sp>
      <p:pic>
        <p:nvPicPr>
          <p:cNvPr id="10" name="Picture 9">
            <a:extLst>
              <a:ext uri="{FF2B5EF4-FFF2-40B4-BE49-F238E27FC236}">
                <a16:creationId xmlns="" xmlns:a16="http://schemas.microsoft.com/office/drawing/2014/main" id="{2694F8BE-DEC9-4B9A-8F72-1C5F05EB8C1C}"/>
              </a:ext>
            </a:extLst>
          </p:cNvPr>
          <p:cNvPicPr>
            <a:picLocks noChangeAspect="1"/>
          </p:cNvPicPr>
          <p:nvPr/>
        </p:nvPicPr>
        <p:blipFill rotWithShape="1">
          <a:blip r:embed="rId4"/>
          <a:srcRect t="8036"/>
          <a:stretch/>
        </p:blipFill>
        <p:spPr>
          <a:xfrm>
            <a:off x="166826" y="2578235"/>
            <a:ext cx="3212887" cy="2117297"/>
          </a:xfrm>
          <a:prstGeom prst="rect">
            <a:avLst/>
          </a:prstGeom>
        </p:spPr>
      </p:pic>
    </p:spTree>
    <p:extLst>
      <p:ext uri="{BB962C8B-B14F-4D97-AF65-F5344CB8AC3E}">
        <p14:creationId xmlns:p14="http://schemas.microsoft.com/office/powerpoint/2010/main" val="3327293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4052" y="820538"/>
            <a:ext cx="3011424" cy="1944122"/>
          </a:xfrm>
          <a:prstGeom prst="rect">
            <a:avLst/>
          </a:prstGeom>
          <a:noFill/>
        </p:spPr>
        <p:txBody>
          <a:bodyPr wrap="square" rtlCol="0">
            <a:spAutoFit/>
          </a:bodyPr>
          <a:lstStyle/>
          <a:p>
            <a:pPr lvl="0"/>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Cook’s Distance</a:t>
            </a:r>
          </a:p>
          <a:p>
            <a:pPr lvl="0" latinLnBrk="1">
              <a:spcAft>
                <a:spcPts val="1000"/>
              </a:spcAft>
            </a:pP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cook = </a:t>
            </a:r>
            <a:r>
              <a:rPr lang="en-US" sz="1400" b="1"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cooks.distance</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(model1)</a:t>
            </a:r>
          </a:p>
          <a:p>
            <a:pPr marL="57150" lvl="0" indent="-57150"/>
            <a:r>
              <a:rPr lang="en-US" sz="1400" b="1"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plot</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(cook,</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type="h",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lwd</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=3,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col="</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darkred</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a:t>
            </a:r>
            <a:r>
              <a:rPr lang="en-US" sz="1400" i="1" dirty="0" err="1">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ylab</a:t>
            </a: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 "Cook's Distance", </a:t>
            </a:r>
            <a:b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br>
            <a:r>
              <a:rPr lang="en-US" sz="1400" i="1" dirty="0">
                <a:solidFill>
                  <a:schemeClr val="tx1">
                    <a:lumMod val="95000"/>
                    <a:lumOff val="5000"/>
                  </a:schemeClr>
                </a:solidFill>
                <a:latin typeface="Helvetica" panose="020B0604020202020204" pitchFamily="34" charset="0"/>
                <a:ea typeface="Cambria" panose="02040503050406030204" pitchFamily="18" charset="0"/>
                <a:cs typeface="Helvetica" panose="020B0604020202020204" pitchFamily="34" charset="0"/>
              </a:rPr>
              <a:t>     main="Cook's Distance")</a:t>
            </a:r>
          </a:p>
        </p:txBody>
      </p:sp>
      <p:sp>
        <p:nvSpPr>
          <p:cNvPr id="15" name="标题 14"/>
          <p:cNvSpPr>
            <a:spLocks noGrp="1"/>
          </p:cNvSpPr>
          <p:nvPr>
            <p:ph type="title"/>
          </p:nvPr>
        </p:nvSpPr>
        <p:spPr>
          <a:xfrm>
            <a:off x="98601" y="137115"/>
            <a:ext cx="8562392" cy="665910"/>
          </a:xfrm>
        </p:spPr>
        <p:txBody>
          <a:bodyPr/>
          <a:lstStyle/>
          <a:p>
            <a:r>
              <a:rPr kumimoji="1" lang="en-US" altLang="zh-CN" sz="3600" dirty="0">
                <a:latin typeface="Vitesse"/>
                <a:ea typeface="Vitesse" charset="0"/>
                <a:cs typeface="Vitesse" charset="0"/>
              </a:rPr>
              <a:t>Goodness of Fit: Outliers</a:t>
            </a:r>
            <a:endParaRPr kumimoji="1" lang="zh-CN" altLang="en-US" sz="3600" dirty="0">
              <a:latin typeface="Vitesse"/>
              <a:ea typeface="Vitesse" charset="0"/>
              <a:cs typeface="Vitesse" charset="0"/>
            </a:endParaRPr>
          </a:p>
        </p:txBody>
      </p:sp>
      <p:pic>
        <p:nvPicPr>
          <p:cNvPr id="6" name="Picture 5" descr="A screenshot of a cell phone&#10;&#10;Description automatically generated">
            <a:extLst>
              <a:ext uri="{FF2B5EF4-FFF2-40B4-BE49-F238E27FC236}">
                <a16:creationId xmlns="" xmlns:a16="http://schemas.microsoft.com/office/drawing/2014/main" id="{149AC5BD-7CA4-4BD2-AD0E-6FEE6A0271A9}"/>
              </a:ext>
            </a:extLst>
          </p:cNvPr>
          <p:cNvPicPr>
            <a:picLocks noChangeAspect="1"/>
          </p:cNvPicPr>
          <p:nvPr/>
        </p:nvPicPr>
        <p:blipFill rotWithShape="1">
          <a:blip r:embed="rId3">
            <a:extLst>
              <a:ext uri="{28A0092B-C50C-407E-A947-70E740481C1C}">
                <a14:useLocalDpi xmlns:a14="http://schemas.microsoft.com/office/drawing/2010/main" val="0"/>
              </a:ext>
            </a:extLst>
          </a:blip>
          <a:srcRect r="3099"/>
          <a:stretch/>
        </p:blipFill>
        <p:spPr>
          <a:xfrm>
            <a:off x="5459299" y="990691"/>
            <a:ext cx="3554606" cy="2263859"/>
          </a:xfrm>
          <a:prstGeom prst="rect">
            <a:avLst/>
          </a:prstGeom>
        </p:spPr>
      </p:pic>
      <p:sp>
        <p:nvSpPr>
          <p:cNvPr id="7" name="TextBox 6">
            <a:extLst>
              <a:ext uri="{FF2B5EF4-FFF2-40B4-BE49-F238E27FC236}">
                <a16:creationId xmlns="" xmlns:a16="http://schemas.microsoft.com/office/drawing/2014/main" id="{E0D07EE2-43B0-4407-B482-601E65541ED9}"/>
              </a:ext>
            </a:extLst>
          </p:cNvPr>
          <p:cNvSpPr txBox="1"/>
          <p:nvPr/>
        </p:nvSpPr>
        <p:spPr>
          <a:xfrm>
            <a:off x="197919" y="3288765"/>
            <a:ext cx="4374081" cy="1046440"/>
          </a:xfrm>
          <a:prstGeom prst="rect">
            <a:avLst/>
          </a:prstGeom>
          <a:noFill/>
          <a:ln w="19050">
            <a:solidFill>
              <a:schemeClr val="tx2"/>
            </a:solidFill>
          </a:ln>
        </p:spPr>
        <p:txBody>
          <a:bodyPr wrap="square" lIns="91440" tIns="91440" rIns="91440" bIns="91440" rtlCol="0">
            <a:spAutoFit/>
          </a:bodyPr>
          <a:lstStyle/>
          <a:p>
            <a:pPr marL="111125">
              <a:spcBef>
                <a:spcPts val="900"/>
              </a:spcBef>
              <a:spcAft>
                <a:spcPts val="900"/>
              </a:spcAft>
            </a:pPr>
            <a:r>
              <a:rPr lang="en-US" sz="1400" dirty="0">
                <a:latin typeface="Helvetica" panose="020B0604020202020204" pitchFamily="34" charset="0"/>
                <a:ea typeface="Cambria" panose="02040503050406030204" pitchFamily="18" charset="0"/>
                <a:cs typeface="Helvetica" panose="020B0604020202020204" pitchFamily="34" charset="0"/>
              </a:rPr>
              <a:t>There is one observation with a Cook’s Distance noticeably higher than the other observations. However, its Cook’s distance is close to 0.004, suggesting that there are likely no outliers. </a:t>
            </a:r>
          </a:p>
        </p:txBody>
      </p:sp>
    </p:spTree>
    <p:extLst>
      <p:ext uri="{BB962C8B-B14F-4D97-AF65-F5344CB8AC3E}">
        <p14:creationId xmlns:p14="http://schemas.microsoft.com/office/powerpoint/2010/main" val="266099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4785" y="145207"/>
            <a:ext cx="8562392" cy="688274"/>
          </a:xfrm>
        </p:spPr>
        <p:txBody>
          <a:bodyPr/>
          <a:lstStyle/>
          <a:p>
            <a:r>
              <a:rPr kumimoji="1" lang="en-US" altLang="zh-CN" sz="3600" dirty="0">
                <a:latin typeface="Vitesse" charset="0"/>
                <a:ea typeface="Vitesse" charset="0"/>
                <a:cs typeface="Vitesse" charset="0"/>
              </a:rPr>
              <a:t>Transformation of the Response Variable</a:t>
            </a:r>
            <a:r>
              <a:rPr kumimoji="1" lang="en-US" altLang="zh-CN" sz="3600" b="1" dirty="0">
                <a:latin typeface="Vitesse" charset="0"/>
                <a:ea typeface="Vitesse" charset="0"/>
                <a:cs typeface="Vitesse" charset="0"/>
              </a:rPr>
              <a:t/>
            </a:r>
            <a:br>
              <a:rPr kumimoji="1" lang="en-US" altLang="zh-CN" sz="3600" b="1" dirty="0">
                <a:latin typeface="Vitesse" charset="0"/>
                <a:ea typeface="Vitesse" charset="0"/>
                <a:cs typeface="Vitesse" charset="0"/>
              </a:rPr>
            </a:br>
            <a:endParaRPr kumimoji="1" lang="zh-CN" altLang="en-US" sz="3600" b="1" dirty="0">
              <a:latin typeface="Vitesse" charset="0"/>
              <a:ea typeface="Vitesse" charset="0"/>
              <a:cs typeface="Vitesse" charset="0"/>
            </a:endParaRPr>
          </a:p>
        </p:txBody>
      </p:sp>
      <p:sp>
        <p:nvSpPr>
          <p:cNvPr id="5" name="Rectangle 4">
            <a:extLst>
              <a:ext uri="{FF2B5EF4-FFF2-40B4-BE49-F238E27FC236}">
                <a16:creationId xmlns="" xmlns:a16="http://schemas.microsoft.com/office/drawing/2014/main" id="{D6D8E3CB-AAF9-47FA-B629-6259BABCEE56}"/>
              </a:ext>
            </a:extLst>
          </p:cNvPr>
          <p:cNvSpPr/>
          <p:nvPr/>
        </p:nvSpPr>
        <p:spPr>
          <a:xfrm>
            <a:off x="107075" y="828046"/>
            <a:ext cx="4592146" cy="1513235"/>
          </a:xfrm>
          <a:prstGeom prst="rect">
            <a:avLst/>
          </a:prstGeom>
        </p:spPr>
        <p:txBody>
          <a:bodyPr wrap="square">
            <a:spAutoFit/>
          </a:bodyPr>
          <a:lstStyle/>
          <a:p>
            <a:pPr latinLnBrk="1"/>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Box Cox transformation</a:t>
            </a:r>
            <a:r>
              <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rPr>
              <a:t/>
            </a:r>
            <a:br>
              <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rPr>
            </a:br>
            <a:r>
              <a:rPr lang="en-US" sz="1400" i="1" dirty="0" err="1">
                <a:latin typeface="Helvetica" panose="020B0604020202020204" pitchFamily="34" charset="0"/>
                <a:ea typeface="Cambria" panose="02040503050406030204" pitchFamily="18" charset="0"/>
                <a:cs typeface="Helvetica" panose="020B0604020202020204" pitchFamily="34" charset="0"/>
              </a:rPr>
              <a:t>bc</a:t>
            </a:r>
            <a:r>
              <a:rPr lang="en-US" sz="1400" i="1" dirty="0">
                <a:latin typeface="Helvetica" panose="020B0604020202020204" pitchFamily="34" charset="0"/>
                <a:ea typeface="Cambria" panose="02040503050406030204" pitchFamily="18" charset="0"/>
                <a:cs typeface="Helvetica" panose="020B0604020202020204" pitchFamily="34" charset="0"/>
              </a:rPr>
              <a:t> &lt;- </a:t>
            </a:r>
            <a:r>
              <a:rPr lang="en-US" sz="1400" i="1" dirty="0" err="1">
                <a:latin typeface="Helvetica" panose="020B0604020202020204" pitchFamily="34" charset="0"/>
                <a:ea typeface="Cambria" panose="02040503050406030204" pitchFamily="18" charset="0"/>
                <a:cs typeface="Helvetica" panose="020B0604020202020204" pitchFamily="34" charset="0"/>
              </a:rPr>
              <a:t>boxcox</a:t>
            </a:r>
            <a:r>
              <a:rPr lang="en-US" sz="1400" i="1" dirty="0">
                <a:latin typeface="Helvetica" panose="020B0604020202020204" pitchFamily="34" charset="0"/>
                <a:ea typeface="Cambria" panose="02040503050406030204" pitchFamily="18" charset="0"/>
                <a:cs typeface="Helvetica" panose="020B0604020202020204" pitchFamily="34" charset="0"/>
              </a:rPr>
              <a:t>(model1)</a:t>
            </a:r>
          </a:p>
          <a:p>
            <a:pPr latinLnBrk="1">
              <a:spcAft>
                <a:spcPts val="1000"/>
              </a:spcAft>
            </a:pPr>
            <a:r>
              <a:rPr lang="en-US" sz="1400" i="1" dirty="0">
                <a:latin typeface="Helvetica" panose="020B0604020202020204" pitchFamily="34" charset="0"/>
                <a:ea typeface="Cambria" panose="02040503050406030204" pitchFamily="18" charset="0"/>
                <a:cs typeface="Helvetica" panose="020B0604020202020204" pitchFamily="34" charset="0"/>
              </a:rPr>
              <a:t>lambda &lt;- </a:t>
            </a:r>
            <a:r>
              <a:rPr lang="en-US" sz="1400" i="1" dirty="0" err="1">
                <a:latin typeface="Helvetica" panose="020B0604020202020204" pitchFamily="34" charset="0"/>
                <a:ea typeface="Cambria" panose="02040503050406030204" pitchFamily="18" charset="0"/>
                <a:cs typeface="Helvetica" panose="020B0604020202020204" pitchFamily="34" charset="0"/>
              </a:rPr>
              <a:t>bc$x</a:t>
            </a:r>
            <a:r>
              <a:rPr lang="en-US" sz="1400" i="1" dirty="0">
                <a:latin typeface="Helvetica" panose="020B0604020202020204" pitchFamily="34" charset="0"/>
                <a:ea typeface="Cambria" panose="02040503050406030204" pitchFamily="18" charset="0"/>
                <a:cs typeface="Helvetica" panose="020B0604020202020204" pitchFamily="34" charset="0"/>
              </a:rPr>
              <a:t>[which(</a:t>
            </a:r>
            <a:r>
              <a:rPr lang="en-US" sz="1400" i="1" dirty="0" err="1">
                <a:latin typeface="Helvetica" panose="020B0604020202020204" pitchFamily="34" charset="0"/>
                <a:ea typeface="Cambria" panose="02040503050406030204" pitchFamily="18" charset="0"/>
                <a:cs typeface="Helvetica" panose="020B0604020202020204" pitchFamily="34" charset="0"/>
              </a:rPr>
              <a:t>bc$y</a:t>
            </a:r>
            <a:r>
              <a:rPr lang="en-US" sz="1400" i="1" dirty="0">
                <a:latin typeface="Helvetica" panose="020B0604020202020204" pitchFamily="34" charset="0"/>
                <a:ea typeface="Cambria" panose="02040503050406030204" pitchFamily="18" charset="0"/>
                <a:cs typeface="Helvetica" panose="020B0604020202020204" pitchFamily="34" charset="0"/>
              </a:rPr>
              <a:t>==max(</a:t>
            </a:r>
            <a:r>
              <a:rPr lang="en-US" sz="1400" i="1" dirty="0" err="1">
                <a:latin typeface="Helvetica" panose="020B0604020202020204" pitchFamily="34" charset="0"/>
                <a:ea typeface="Cambria" panose="02040503050406030204" pitchFamily="18" charset="0"/>
                <a:cs typeface="Helvetica" panose="020B0604020202020204" pitchFamily="34" charset="0"/>
              </a:rPr>
              <a:t>bc$y</a:t>
            </a:r>
            <a:r>
              <a:rPr lang="en-US" sz="1400" i="1" dirty="0">
                <a:latin typeface="Helvetica" panose="020B0604020202020204" pitchFamily="34" charset="0"/>
                <a:ea typeface="Cambria" panose="02040503050406030204" pitchFamily="18" charset="0"/>
                <a:cs typeface="Helvetica" panose="020B0604020202020204" pitchFamily="34" charset="0"/>
              </a:rPr>
              <a:t>))]</a:t>
            </a:r>
          </a:p>
          <a:p>
            <a:pPr latinLnBrk="1">
              <a:spcAft>
                <a:spcPts val="1000"/>
              </a:spcAft>
            </a:pPr>
            <a:r>
              <a:rPr lang="en-US" sz="1400" b="1" u="sng" dirty="0">
                <a:solidFill>
                  <a:srgbClr val="EAAA00"/>
                </a:solidFill>
                <a:latin typeface="Helvetica" panose="020B0604020202020204" pitchFamily="34" charset="0"/>
                <a:ea typeface="Cambria" panose="02040503050406030204" pitchFamily="18" charset="0"/>
                <a:cs typeface="Helvetica" panose="020B0604020202020204" pitchFamily="34" charset="0"/>
              </a:rPr>
              <a:t>## Fitting the model with square root transformation</a:t>
            </a:r>
            <a:r>
              <a:rPr lang="en-US" sz="1400" u="sng" dirty="0">
                <a:solidFill>
                  <a:srgbClr val="000000"/>
                </a:solidFill>
                <a:latin typeface="Helvetica" panose="020B0604020202020204" pitchFamily="34" charset="0"/>
                <a:ea typeface="Cambria" panose="02040503050406030204" pitchFamily="18" charset="0"/>
                <a:cs typeface="Helvetica" panose="020B0604020202020204" pitchFamily="34" charset="0"/>
              </a:rPr>
              <a:t/>
            </a:r>
            <a:br>
              <a:rPr lang="en-US" sz="1400" u="sng" dirty="0">
                <a:solidFill>
                  <a:srgbClr val="000000"/>
                </a:solidFill>
                <a:latin typeface="Helvetica" panose="020B0604020202020204" pitchFamily="34" charset="0"/>
                <a:ea typeface="Cambria" panose="02040503050406030204" pitchFamily="18" charset="0"/>
                <a:cs typeface="Helvetica" panose="020B0604020202020204" pitchFamily="34" charset="0"/>
              </a:rPr>
            </a:br>
            <a:r>
              <a:rPr lang="en-US" sz="1400" i="1" u="sng" dirty="0">
                <a:latin typeface="Helvetica" panose="020B0604020202020204" pitchFamily="34" charset="0"/>
                <a:ea typeface="Cambria" panose="02040503050406030204" pitchFamily="18" charset="0"/>
                <a:cs typeface="Helvetica" panose="020B0604020202020204" pitchFamily="34" charset="0"/>
              </a:rPr>
              <a:t>model2&lt;-</a:t>
            </a:r>
            <a:r>
              <a:rPr lang="en-US" sz="1400" b="1" i="1" u="sng" dirty="0" err="1">
                <a:latin typeface="Helvetica" panose="020B0604020202020204" pitchFamily="34" charset="0"/>
                <a:ea typeface="Cambria" panose="02040503050406030204" pitchFamily="18" charset="0"/>
                <a:cs typeface="Helvetica" panose="020B0604020202020204" pitchFamily="34" charset="0"/>
              </a:rPr>
              <a:t>lm</a:t>
            </a:r>
            <a:r>
              <a:rPr lang="en-US" sz="1400" i="1" u="sng" dirty="0">
                <a:latin typeface="Helvetica" panose="020B0604020202020204" pitchFamily="34" charset="0"/>
                <a:ea typeface="Cambria" panose="02040503050406030204" pitchFamily="18" charset="0"/>
                <a:cs typeface="Helvetica" panose="020B0604020202020204" pitchFamily="34" charset="0"/>
              </a:rPr>
              <a:t>(</a:t>
            </a:r>
            <a:r>
              <a:rPr lang="en-US" sz="1400" b="1" i="1" u="sng" dirty="0">
                <a:latin typeface="Helvetica" panose="020B0604020202020204" pitchFamily="34" charset="0"/>
                <a:ea typeface="Cambria" panose="02040503050406030204" pitchFamily="18" charset="0"/>
                <a:cs typeface="Helvetica" panose="020B0604020202020204" pitchFamily="34" charset="0"/>
              </a:rPr>
              <a:t>sqrt</a:t>
            </a:r>
            <a:r>
              <a:rPr lang="en-US" sz="1400" i="1" u="sng" dirty="0">
                <a:latin typeface="Helvetica" panose="020B0604020202020204" pitchFamily="34" charset="0"/>
                <a:ea typeface="Cambria" panose="02040503050406030204" pitchFamily="18" charset="0"/>
                <a:cs typeface="Helvetica" panose="020B0604020202020204" pitchFamily="34" charset="0"/>
              </a:rPr>
              <a:t>(</a:t>
            </a:r>
            <a:r>
              <a:rPr lang="en-US" sz="1400" i="1" u="sng" dirty="0" err="1">
                <a:latin typeface="Helvetica" panose="020B0604020202020204" pitchFamily="34" charset="0"/>
                <a:ea typeface="Cambria" panose="02040503050406030204" pitchFamily="18" charset="0"/>
                <a:cs typeface="Helvetica" panose="020B0604020202020204" pitchFamily="34" charset="0"/>
              </a:rPr>
              <a:t>cnt</a:t>
            </a:r>
            <a:r>
              <a:rPr lang="en-US" sz="1400" i="1" u="sng" dirty="0">
                <a:latin typeface="Helvetica" panose="020B0604020202020204" pitchFamily="34" charset="0"/>
                <a:ea typeface="Cambria" panose="02040503050406030204" pitchFamily="18" charset="0"/>
                <a:cs typeface="Helvetica" panose="020B0604020202020204" pitchFamily="34" charset="0"/>
              </a:rPr>
              <a:t>)</a:t>
            </a:r>
            <a:r>
              <a:rPr lang="en-US" sz="1400" b="1" i="1" u="sng" dirty="0">
                <a:latin typeface="Helvetica" panose="020B0604020202020204" pitchFamily="34" charset="0"/>
                <a:ea typeface="Cambria" panose="02040503050406030204" pitchFamily="18" charset="0"/>
                <a:cs typeface="Helvetica" panose="020B0604020202020204" pitchFamily="34" charset="0"/>
              </a:rPr>
              <a:t>~</a:t>
            </a:r>
            <a:r>
              <a:rPr lang="en-US" sz="1400" i="1" u="sng" dirty="0">
                <a:latin typeface="Helvetica" panose="020B0604020202020204" pitchFamily="34" charset="0"/>
                <a:ea typeface="Cambria" panose="02040503050406030204" pitchFamily="18" charset="0"/>
                <a:cs typeface="Helvetica" panose="020B0604020202020204" pitchFamily="34" charset="0"/>
              </a:rPr>
              <a:t>.,data=train)</a:t>
            </a:r>
            <a:br>
              <a:rPr lang="en-US" sz="1400" i="1" u="sng" dirty="0">
                <a:latin typeface="Helvetica" panose="020B0604020202020204" pitchFamily="34" charset="0"/>
                <a:ea typeface="Cambria" panose="02040503050406030204" pitchFamily="18" charset="0"/>
                <a:cs typeface="Helvetica" panose="020B0604020202020204" pitchFamily="34" charset="0"/>
              </a:rPr>
            </a:br>
            <a:r>
              <a:rPr lang="en-US" sz="1400" b="1" i="1" u="sng" dirty="0">
                <a:latin typeface="Helvetica" panose="020B0604020202020204" pitchFamily="34" charset="0"/>
                <a:ea typeface="Cambria" panose="02040503050406030204" pitchFamily="18" charset="0"/>
                <a:cs typeface="Helvetica" panose="020B0604020202020204" pitchFamily="34" charset="0"/>
              </a:rPr>
              <a:t>summary</a:t>
            </a:r>
            <a:r>
              <a:rPr lang="en-US" sz="1400" i="1" u="sng" dirty="0">
                <a:latin typeface="Helvetica" panose="020B0604020202020204" pitchFamily="34" charset="0"/>
                <a:ea typeface="Cambria" panose="02040503050406030204" pitchFamily="18" charset="0"/>
                <a:cs typeface="Helvetica" panose="020B0604020202020204" pitchFamily="34" charset="0"/>
              </a:rPr>
              <a:t>(model2)</a:t>
            </a:r>
          </a:p>
        </p:txBody>
      </p:sp>
      <p:pic>
        <p:nvPicPr>
          <p:cNvPr id="6" name="Picture 5" descr="A close up of a map&#10;&#10;Description automatically generated">
            <a:extLst>
              <a:ext uri="{FF2B5EF4-FFF2-40B4-BE49-F238E27FC236}">
                <a16:creationId xmlns="" xmlns:a16="http://schemas.microsoft.com/office/drawing/2014/main" id="{757CDB41-27F1-456C-BC19-41145B2C4A14}"/>
              </a:ext>
            </a:extLst>
          </p:cNvPr>
          <p:cNvPicPr>
            <a:picLocks noChangeAspect="1"/>
          </p:cNvPicPr>
          <p:nvPr/>
        </p:nvPicPr>
        <p:blipFill rotWithShape="1">
          <a:blip r:embed="rId3">
            <a:extLst>
              <a:ext uri="{28A0092B-C50C-407E-A947-70E740481C1C}">
                <a14:useLocalDpi xmlns:a14="http://schemas.microsoft.com/office/drawing/2010/main" val="0"/>
              </a:ext>
            </a:extLst>
          </a:blip>
          <a:srcRect r="3618"/>
          <a:stretch/>
        </p:blipFill>
        <p:spPr>
          <a:xfrm>
            <a:off x="5436345" y="976890"/>
            <a:ext cx="3568494" cy="2284926"/>
          </a:xfrm>
          <a:prstGeom prst="rect">
            <a:avLst/>
          </a:prstGeom>
        </p:spPr>
      </p:pic>
      <p:sp>
        <p:nvSpPr>
          <p:cNvPr id="3" name="TextBox 2">
            <a:extLst>
              <a:ext uri="{FF2B5EF4-FFF2-40B4-BE49-F238E27FC236}">
                <a16:creationId xmlns="" xmlns:a16="http://schemas.microsoft.com/office/drawing/2014/main" id="{50E180DC-EE3C-487C-8611-BA549BCC3369}"/>
              </a:ext>
            </a:extLst>
          </p:cNvPr>
          <p:cNvSpPr txBox="1"/>
          <p:nvPr/>
        </p:nvSpPr>
        <p:spPr>
          <a:xfrm>
            <a:off x="190500" y="2934031"/>
            <a:ext cx="4381500" cy="1384995"/>
          </a:xfrm>
          <a:prstGeom prst="rect">
            <a:avLst/>
          </a:prstGeom>
          <a:noFill/>
          <a:ln w="19050">
            <a:solidFill>
              <a:srgbClr val="003366"/>
            </a:solidFill>
          </a:ln>
        </p:spPr>
        <p:txBody>
          <a:bodyPr wrap="square" rtlCol="0">
            <a:spAutoFit/>
          </a:bodyPr>
          <a:lstStyle/>
          <a:p>
            <a:pPr marL="285750" indent="-285750">
              <a:buFont typeface="Arial" panose="020B0604020202020204" pitchFamily="34" charset="0"/>
              <a:buChar char="•"/>
            </a:pPr>
            <a:r>
              <a:rPr lang="en-US" sz="1400" dirty="0">
                <a:latin typeface="Helvetica" panose="020B0604020202020204" pitchFamily="34" charset="0"/>
                <a:cs typeface="Helvetica" panose="020B0604020202020204" pitchFamily="34" charset="0"/>
              </a:rPr>
              <a:t>The optimal value of lambda or the power provided by the Box Cox transformation is 0.22.</a:t>
            </a:r>
          </a:p>
          <a:p>
            <a:pPr marL="285750" indent="-285750">
              <a:buFont typeface="Arial" panose="020B0604020202020204" pitchFamily="34" charset="0"/>
              <a:buChar char="•"/>
            </a:pPr>
            <a:r>
              <a:rPr lang="en-US" sz="1400" dirty="0">
                <a:latin typeface="Helvetica" panose="020B0604020202020204" pitchFamily="34" charset="0"/>
                <a:cs typeface="Helvetica" panose="020B0604020202020204" pitchFamily="34" charset="0"/>
              </a:rPr>
              <a:t>Generally, </a:t>
            </a:r>
            <a:r>
              <a:rPr lang="en-US" sz="1400" dirty="0">
                <a:latin typeface="Helvetica" panose="020B0604020202020204" pitchFamily="34" charset="0"/>
                <a:ea typeface="Cambria" panose="02040503050406030204" pitchFamily="18" charset="0"/>
                <a:cs typeface="Helvetica" panose="020B0604020202020204" pitchFamily="34" charset="0"/>
              </a:rPr>
              <a:t>when the response data consist of count data, a theoretically recommended transformation is the square root, corresponding to a 0.5 power transformation.</a:t>
            </a:r>
            <a:endParaRPr lang="en-US" sz="1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64001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8"/>
            <a:ext cx="8562392" cy="628187"/>
          </a:xfrm>
        </p:spPr>
        <p:txBody>
          <a:bodyPr/>
          <a:lstStyle/>
          <a:p>
            <a:r>
              <a:rPr kumimoji="1" lang="en-US" altLang="zh-CN" sz="3600" dirty="0">
                <a:latin typeface="Vitesse" charset="0"/>
                <a:ea typeface="Vitesse" charset="0"/>
                <a:cs typeface="Vitesse" charset="0"/>
              </a:rPr>
              <a:t>Regression Analysis after Transformation</a:t>
            </a:r>
            <a:endParaRPr kumimoji="1" lang="zh-CN" altLang="en-US" sz="3600" b="1" dirty="0">
              <a:latin typeface="Vitesse" charset="0"/>
              <a:ea typeface="Vitesse" charset="0"/>
              <a:cs typeface="Vitesse" charset="0"/>
            </a:endParaRPr>
          </a:p>
        </p:txBody>
      </p:sp>
      <p:sp>
        <p:nvSpPr>
          <p:cNvPr id="5" name="Rectangle 4">
            <a:extLst>
              <a:ext uri="{FF2B5EF4-FFF2-40B4-BE49-F238E27FC236}">
                <a16:creationId xmlns="" xmlns:a16="http://schemas.microsoft.com/office/drawing/2014/main" id="{D6D8E3CB-AAF9-47FA-B629-6259BABCEE56}"/>
              </a:ext>
            </a:extLst>
          </p:cNvPr>
          <p:cNvSpPr/>
          <p:nvPr/>
        </p:nvSpPr>
        <p:spPr>
          <a:xfrm>
            <a:off x="101489" y="858958"/>
            <a:ext cx="4470512" cy="3005951"/>
          </a:xfrm>
          <a:prstGeom prst="rect">
            <a:avLst/>
          </a:prstGeom>
        </p:spPr>
        <p:txBody>
          <a:bodyPr wrap="square">
            <a:spAutoFit/>
          </a:bodyPr>
          <a:lstStyle/>
          <a:p>
            <a:pPr latinLnBrk="1">
              <a:spcAft>
                <a:spcPts val="1000"/>
              </a:spcAft>
            </a:pPr>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Fitting the model with square root transformation</a:t>
            </a:r>
            <a:r>
              <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rPr>
              <a:t/>
            </a:r>
            <a:br>
              <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rPr>
            </a:br>
            <a:r>
              <a:rPr lang="en-US" sz="1200" i="1" dirty="0">
                <a:latin typeface="Helvetica" panose="020B0604020202020204" pitchFamily="34" charset="0"/>
                <a:ea typeface="Cambria" panose="02040503050406030204" pitchFamily="18" charset="0"/>
                <a:cs typeface="Helvetica" panose="020B0604020202020204" pitchFamily="34" charset="0"/>
              </a:rPr>
              <a:t>model2&lt;-</a:t>
            </a:r>
            <a:r>
              <a:rPr lang="en-US" sz="1200" b="1" i="1" dirty="0" err="1">
                <a:latin typeface="Helvetica" panose="020B0604020202020204" pitchFamily="34" charset="0"/>
                <a:ea typeface="Cambria" panose="02040503050406030204" pitchFamily="18" charset="0"/>
                <a:cs typeface="Helvetica" panose="020B0604020202020204" pitchFamily="34" charset="0"/>
              </a:rPr>
              <a:t>lm</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b="1" i="1" dirty="0">
                <a:latin typeface="Helvetica" panose="020B0604020202020204" pitchFamily="34" charset="0"/>
                <a:ea typeface="Cambria" panose="02040503050406030204" pitchFamily="18" charset="0"/>
                <a:cs typeface="Helvetica" panose="020B0604020202020204" pitchFamily="34" charset="0"/>
              </a:rPr>
              <a:t>sqrt</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cnt</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b="1" i="1" dirty="0">
                <a:latin typeface="Helvetica" panose="020B0604020202020204" pitchFamily="34" charset="0"/>
                <a:ea typeface="Cambria" panose="02040503050406030204" pitchFamily="18" charset="0"/>
                <a:cs typeface="Helvetica" panose="020B0604020202020204" pitchFamily="34" charset="0"/>
              </a:rPr>
              <a:t>~</a:t>
            </a:r>
            <a:r>
              <a:rPr lang="en-US" sz="1200" i="1" dirty="0">
                <a:latin typeface="Helvetica" panose="020B0604020202020204" pitchFamily="34" charset="0"/>
                <a:ea typeface="Cambria" panose="02040503050406030204" pitchFamily="18" charset="0"/>
                <a:cs typeface="Helvetica" panose="020B0604020202020204" pitchFamily="34" charset="0"/>
              </a:rPr>
              <a:t>.,data=train)</a:t>
            </a:r>
            <a:br>
              <a:rPr lang="en-US" sz="1200" i="1" dirty="0">
                <a:latin typeface="Helvetica" panose="020B0604020202020204" pitchFamily="34" charset="0"/>
                <a:ea typeface="Cambria" panose="02040503050406030204" pitchFamily="18" charset="0"/>
                <a:cs typeface="Helvetica" panose="020B0604020202020204" pitchFamily="34" charset="0"/>
              </a:rPr>
            </a:br>
            <a:r>
              <a:rPr lang="en-US" sz="1200" b="1" i="1" dirty="0">
                <a:latin typeface="Helvetica" panose="020B0604020202020204" pitchFamily="34" charset="0"/>
                <a:ea typeface="Cambria" panose="02040503050406030204" pitchFamily="18" charset="0"/>
                <a:cs typeface="Helvetica" panose="020B0604020202020204" pitchFamily="34" charset="0"/>
              </a:rPr>
              <a:t>summary</a:t>
            </a:r>
            <a:r>
              <a:rPr lang="en-US" sz="1200" i="1" dirty="0">
                <a:latin typeface="Helvetica" panose="020B0604020202020204" pitchFamily="34" charset="0"/>
                <a:ea typeface="Cambria" panose="02040503050406030204" pitchFamily="18" charset="0"/>
                <a:cs typeface="Helvetica" panose="020B0604020202020204" pitchFamily="34" charset="0"/>
              </a:rPr>
              <a:t>(model2)</a:t>
            </a:r>
          </a:p>
          <a:p>
            <a:pPr latinLnBrk="1"/>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Find Insignificant Values</a:t>
            </a:r>
          </a:p>
          <a:p>
            <a:pPr latinLnBrk="1"/>
            <a:r>
              <a:rPr lang="en-US" sz="1200" b="1" i="1" dirty="0">
                <a:latin typeface="Helvetica" panose="020B0604020202020204" pitchFamily="34" charset="0"/>
                <a:ea typeface="Cambria" panose="02040503050406030204" pitchFamily="18" charset="0"/>
                <a:cs typeface="Helvetica" panose="020B0604020202020204" pitchFamily="34" charset="0"/>
              </a:rPr>
              <a:t>which</a:t>
            </a:r>
            <a:r>
              <a:rPr lang="en-US" sz="1200" i="1" dirty="0">
                <a:latin typeface="Helvetica" panose="020B0604020202020204" pitchFamily="34" charset="0"/>
                <a:ea typeface="Cambria" panose="02040503050406030204" pitchFamily="18" charset="0"/>
                <a:cs typeface="Helvetica" panose="020B0604020202020204" pitchFamily="34" charset="0"/>
              </a:rPr>
              <a:t>(</a:t>
            </a:r>
            <a:r>
              <a:rPr lang="en-US" sz="1200" b="1" i="1" dirty="0">
                <a:latin typeface="Helvetica" panose="020B0604020202020204" pitchFamily="34" charset="0"/>
                <a:ea typeface="Cambria" panose="02040503050406030204" pitchFamily="18" charset="0"/>
                <a:cs typeface="Helvetica" panose="020B0604020202020204" pitchFamily="34" charset="0"/>
              </a:rPr>
              <a:t>summary</a:t>
            </a:r>
            <a:r>
              <a:rPr lang="en-US" sz="1200" i="1" dirty="0">
                <a:latin typeface="Helvetica" panose="020B0604020202020204" pitchFamily="34" charset="0"/>
                <a:ea typeface="Cambria" panose="02040503050406030204" pitchFamily="18" charset="0"/>
                <a:cs typeface="Helvetica" panose="020B0604020202020204" pitchFamily="34" charset="0"/>
              </a:rPr>
              <a:t>(model2)</a:t>
            </a:r>
            <a:r>
              <a:rPr lang="en-US" sz="1200" b="1"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coeff</a:t>
            </a:r>
            <a:r>
              <a:rPr lang="en-US" sz="1200" i="1" dirty="0">
                <a:latin typeface="Helvetica" panose="020B0604020202020204" pitchFamily="34" charset="0"/>
                <a:ea typeface="Cambria" panose="02040503050406030204" pitchFamily="18" charset="0"/>
                <a:cs typeface="Helvetica" panose="020B0604020202020204" pitchFamily="34" charset="0"/>
              </a:rPr>
              <a:t>[,4]</a:t>
            </a:r>
            <a:r>
              <a:rPr lang="en-US" sz="1200" b="1" i="1" dirty="0">
                <a:latin typeface="Helvetica" panose="020B0604020202020204" pitchFamily="34" charset="0"/>
                <a:ea typeface="Cambria" panose="02040503050406030204" pitchFamily="18" charset="0"/>
                <a:cs typeface="Helvetica" panose="020B0604020202020204" pitchFamily="34" charset="0"/>
              </a:rPr>
              <a:t>&gt;</a:t>
            </a:r>
            <a:r>
              <a:rPr lang="en-US" sz="1200" i="1" dirty="0">
                <a:latin typeface="Helvetica" panose="020B0604020202020204" pitchFamily="34" charset="0"/>
                <a:ea typeface="Cambria" panose="02040503050406030204" pitchFamily="18" charset="0"/>
                <a:cs typeface="Helvetica" panose="020B0604020202020204" pitchFamily="34" charset="0"/>
              </a:rPr>
              <a:t>0.05)</a:t>
            </a:r>
          </a:p>
          <a:p>
            <a:pPr latinLnBrk="1"/>
            <a:endPar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atinLnBrk="1"/>
            <a:endPar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atinLnBrk="1"/>
            <a:endPar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vl="0" latinLnBrk="1"/>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Multicollinearity</a:t>
            </a:r>
          </a:p>
          <a:p>
            <a:pPr latinLnBrk="1">
              <a:spcAft>
                <a:spcPts val="1000"/>
              </a:spcAft>
            </a:pPr>
            <a:r>
              <a:rPr lang="en-US" sz="1200" b="1" i="1" dirty="0" err="1">
                <a:latin typeface="Helvetica" panose="020B0604020202020204" pitchFamily="34" charset="0"/>
                <a:ea typeface="Cambria" panose="02040503050406030204" pitchFamily="18" charset="0"/>
                <a:cs typeface="Helvetica" panose="020B0604020202020204" pitchFamily="34" charset="0"/>
              </a:rPr>
              <a:t>vif</a:t>
            </a:r>
            <a:r>
              <a:rPr lang="en-US" sz="1200" i="1" dirty="0">
                <a:latin typeface="Helvetica" panose="020B0604020202020204" pitchFamily="34" charset="0"/>
                <a:ea typeface="Cambria" panose="02040503050406030204" pitchFamily="18" charset="0"/>
                <a:cs typeface="Helvetica" panose="020B0604020202020204" pitchFamily="34" charset="0"/>
              </a:rPr>
              <a:t>(model2)</a:t>
            </a:r>
          </a:p>
          <a:p>
            <a:pPr latinLnBrk="1">
              <a:spcAft>
                <a:spcPts val="1000"/>
              </a:spcAft>
            </a:pPr>
            <a:endParaRPr lang="en-US" sz="1200" dirty="0">
              <a:latin typeface="Helvetica" panose="020B0604020202020204" pitchFamily="34" charset="0"/>
              <a:ea typeface="Cambria" panose="02040503050406030204" pitchFamily="18" charset="0"/>
              <a:cs typeface="Helvetica" panose="020B0604020202020204" pitchFamily="34" charset="0"/>
            </a:endParaRPr>
          </a:p>
          <a:p>
            <a:pPr latinLnBrk="1">
              <a:spcAft>
                <a:spcPts val="1000"/>
              </a:spcAft>
            </a:pPr>
            <a:endPar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atinLnBrk="1">
              <a:spcAft>
                <a:spcPts val="1000"/>
              </a:spcAft>
            </a:pPr>
            <a:endParaRPr lang="en-US" sz="1200" dirty="0">
              <a:latin typeface="Helvetica" panose="020B0604020202020204" pitchFamily="34" charset="0"/>
              <a:ea typeface="Cambria" panose="02040503050406030204" pitchFamily="18" charset="0"/>
              <a:cs typeface="Helvetica" panose="020B0604020202020204" pitchFamily="34" charset="0"/>
            </a:endParaRPr>
          </a:p>
        </p:txBody>
      </p:sp>
      <p:sp>
        <p:nvSpPr>
          <p:cNvPr id="13" name="Rectangle 12">
            <a:extLst>
              <a:ext uri="{FF2B5EF4-FFF2-40B4-BE49-F238E27FC236}">
                <a16:creationId xmlns="" xmlns:a16="http://schemas.microsoft.com/office/drawing/2014/main" id="{B8BDAAA0-AAEC-42BF-9337-76160C42703C}"/>
              </a:ext>
            </a:extLst>
          </p:cNvPr>
          <p:cNvSpPr/>
          <p:nvPr/>
        </p:nvSpPr>
        <p:spPr>
          <a:xfrm>
            <a:off x="5405476" y="850323"/>
            <a:ext cx="2197140" cy="1215717"/>
          </a:xfrm>
          <a:prstGeom prst="rect">
            <a:avLst/>
          </a:prstGeom>
        </p:spPr>
        <p:txBody>
          <a:bodyPr wrap="none">
            <a:spAutoFit/>
          </a:bodyPr>
          <a:lstStyle/>
          <a:p>
            <a:pPr latinLnBrk="1">
              <a:spcAft>
                <a:spcPts val="1000"/>
              </a:spcAft>
            </a:pPr>
            <a:r>
              <a:rPr lang="en-US" sz="1200" b="1" dirty="0">
                <a:solidFill>
                  <a:srgbClr val="EAAA00"/>
                </a:solidFill>
                <a:latin typeface="Helvetica" panose="020B0604020202020204" pitchFamily="34" charset="0"/>
                <a:ea typeface="Cambria" panose="02040503050406030204" pitchFamily="18" charset="0"/>
                <a:cs typeface="Helvetica" panose="020B0604020202020204" pitchFamily="34" charset="0"/>
              </a:rPr>
              <a:t>## Model Performance</a:t>
            </a:r>
          </a:p>
          <a:p>
            <a:pPr latinLnBrk="1">
              <a:spcAft>
                <a:spcPts val="1000"/>
              </a:spcAft>
            </a:pPr>
            <a:r>
              <a:rPr lang="en-US" sz="1200" b="1" i="1" dirty="0">
                <a:latin typeface="Helvetica" panose="020B0604020202020204" pitchFamily="34" charset="0"/>
                <a:ea typeface="Cambria" panose="02040503050406030204" pitchFamily="18" charset="0"/>
                <a:cs typeface="Helvetica" panose="020B0604020202020204" pitchFamily="34" charset="0"/>
              </a:rPr>
              <a:t>summary</a:t>
            </a:r>
            <a:r>
              <a:rPr lang="en-US" sz="1200" i="1" dirty="0">
                <a:latin typeface="Helvetica" panose="020B0604020202020204" pitchFamily="34" charset="0"/>
                <a:ea typeface="Cambria" panose="02040503050406030204" pitchFamily="18" charset="0"/>
                <a:cs typeface="Helvetica" panose="020B0604020202020204" pitchFamily="34" charset="0"/>
              </a:rPr>
              <a:t>(model2)</a:t>
            </a:r>
            <a:r>
              <a:rPr lang="en-US" sz="1200" b="1" i="1" dirty="0">
                <a:latin typeface="Helvetica" panose="020B0604020202020204" pitchFamily="34" charset="0"/>
                <a:ea typeface="Cambria" panose="02040503050406030204" pitchFamily="18" charset="0"/>
                <a:cs typeface="Helvetica" panose="020B0604020202020204" pitchFamily="34" charset="0"/>
              </a:rPr>
              <a:t>$</a:t>
            </a:r>
            <a:r>
              <a:rPr lang="en-US" sz="1200" i="1" dirty="0" err="1">
                <a:latin typeface="Helvetica" panose="020B0604020202020204" pitchFamily="34" charset="0"/>
                <a:ea typeface="Cambria" panose="02040503050406030204" pitchFamily="18" charset="0"/>
                <a:cs typeface="Helvetica" panose="020B0604020202020204" pitchFamily="34" charset="0"/>
              </a:rPr>
              <a:t>r.squared</a:t>
            </a:r>
            <a:endParaRPr lang="en-US" sz="1200" i="1" dirty="0">
              <a:latin typeface="Helvetica" panose="020B0604020202020204" pitchFamily="34" charset="0"/>
              <a:ea typeface="Cambria" panose="02040503050406030204" pitchFamily="18" charset="0"/>
              <a:cs typeface="Helvetica" panose="020B0604020202020204" pitchFamily="34" charset="0"/>
            </a:endParaRPr>
          </a:p>
          <a:p>
            <a:pPr latinLnBrk="1">
              <a:spcAft>
                <a:spcPts val="1000"/>
              </a:spcAft>
            </a:pPr>
            <a:r>
              <a:rPr lang="en-US" sz="1200" dirty="0">
                <a:solidFill>
                  <a:srgbClr val="000000"/>
                </a:solidFill>
                <a:latin typeface="Helvetica" panose="020B0604020202020204" pitchFamily="34" charset="0"/>
                <a:ea typeface="Cambria" panose="02040503050406030204" pitchFamily="18" charset="0"/>
                <a:cs typeface="Helvetica" panose="020B0604020202020204" pitchFamily="34" charset="0"/>
              </a:rPr>
              <a:t>## [1] 0.786535</a:t>
            </a:r>
            <a:endParaRPr lang="en-US" sz="1200" dirty="0">
              <a:latin typeface="Helvetica" panose="020B0604020202020204" pitchFamily="34" charset="0"/>
              <a:ea typeface="Cambria" panose="02040503050406030204" pitchFamily="18" charset="0"/>
              <a:cs typeface="Helvetica" panose="020B0604020202020204" pitchFamily="34" charset="0"/>
            </a:endParaRPr>
          </a:p>
          <a:p>
            <a:pPr lvl="0" latinLnBrk="1">
              <a:spcAft>
                <a:spcPts val="1000"/>
              </a:spcAft>
            </a:pPr>
            <a:endParaRPr lang="en-US" sz="1200" dirty="0">
              <a:solidFill>
                <a:prstClr val="black"/>
              </a:solidFill>
              <a:latin typeface="Helvetica" panose="020B0604020202020204" pitchFamily="34" charset="0"/>
              <a:ea typeface="Cambria" panose="02040503050406030204" pitchFamily="18" charset="0"/>
              <a:cs typeface="Helvetica" panose="020B0604020202020204" pitchFamily="34" charset="0"/>
            </a:endParaRPr>
          </a:p>
        </p:txBody>
      </p:sp>
      <p:sp>
        <p:nvSpPr>
          <p:cNvPr id="16" name="TextBox 15">
            <a:extLst>
              <a:ext uri="{FF2B5EF4-FFF2-40B4-BE49-F238E27FC236}">
                <a16:creationId xmlns="" xmlns:a16="http://schemas.microsoft.com/office/drawing/2014/main" id="{EFB24AE9-B5B9-42D8-BE18-4F4ED962D28C}"/>
              </a:ext>
            </a:extLst>
          </p:cNvPr>
          <p:cNvSpPr txBox="1"/>
          <p:nvPr/>
        </p:nvSpPr>
        <p:spPr>
          <a:xfrm>
            <a:off x="5486401" y="2856288"/>
            <a:ext cx="3428999" cy="1292662"/>
          </a:xfrm>
          <a:prstGeom prst="rect">
            <a:avLst/>
          </a:prstGeom>
          <a:noFill/>
          <a:ln w="19050">
            <a:solidFill>
              <a:schemeClr val="tx2"/>
            </a:solidFill>
          </a:ln>
        </p:spPr>
        <p:txBody>
          <a:bodyPr wrap="square" lIns="182880" tIns="182880" rIns="182880" bIns="182880" rtlCol="0">
            <a:spAutoFit/>
          </a:bodyPr>
          <a:lstStyle/>
          <a:p>
            <a:pPr>
              <a:spcBef>
                <a:spcPts val="900"/>
              </a:spcBef>
              <a:spcAft>
                <a:spcPts val="900"/>
              </a:spcAft>
            </a:pPr>
            <a:r>
              <a:rPr lang="en-US" sz="1200" dirty="0">
                <a:latin typeface="Helvetica" panose="020B0604020202020204" pitchFamily="34" charset="0"/>
                <a:ea typeface="Cambria" panose="02040503050406030204" pitchFamily="18" charset="0"/>
                <a:cs typeface="Helvetica" panose="020B0604020202020204" pitchFamily="34" charset="0"/>
              </a:rPr>
              <a:t>As VIFs of the season, </a:t>
            </a:r>
            <a:r>
              <a:rPr lang="en-US" sz="1200" dirty="0" err="1">
                <a:latin typeface="Helvetica" panose="020B0604020202020204" pitchFamily="34" charset="0"/>
                <a:ea typeface="Cambria" panose="02040503050406030204" pitchFamily="18" charset="0"/>
                <a:cs typeface="Helvetica" panose="020B0604020202020204" pitchFamily="34" charset="0"/>
              </a:rPr>
              <a:t>mnth</a:t>
            </a:r>
            <a:r>
              <a:rPr lang="en-US" sz="1200" dirty="0">
                <a:latin typeface="Helvetica" panose="020B0604020202020204" pitchFamily="34" charset="0"/>
                <a:ea typeface="Cambria" panose="02040503050406030204" pitchFamily="18" charset="0"/>
                <a:cs typeface="Helvetica" panose="020B0604020202020204" pitchFamily="34" charset="0"/>
              </a:rPr>
              <a:t>, temp, </a:t>
            </a:r>
            <a:r>
              <a:rPr lang="en-US" sz="1200" dirty="0" err="1">
                <a:latin typeface="Helvetica" panose="020B0604020202020204" pitchFamily="34" charset="0"/>
                <a:ea typeface="Cambria" panose="02040503050406030204" pitchFamily="18" charset="0"/>
                <a:cs typeface="Helvetica" panose="020B0604020202020204" pitchFamily="34" charset="0"/>
              </a:rPr>
              <a:t>atemp</a:t>
            </a:r>
            <a:r>
              <a:rPr lang="en-US" sz="1200" dirty="0">
                <a:latin typeface="Helvetica" panose="020B0604020202020204" pitchFamily="34" charset="0"/>
                <a:ea typeface="Cambria" panose="02040503050406030204" pitchFamily="18" charset="0"/>
                <a:cs typeface="Helvetica" panose="020B0604020202020204" pitchFamily="34" charset="0"/>
              </a:rPr>
              <a:t> factors are greater than max(10, 1/(1-R</a:t>
            </a:r>
            <a:r>
              <a:rPr lang="en-US" sz="1200" baseline="30000" dirty="0">
                <a:latin typeface="Helvetica" panose="020B0604020202020204" pitchFamily="34" charset="0"/>
                <a:ea typeface="Cambria" panose="02040503050406030204" pitchFamily="18" charset="0"/>
                <a:cs typeface="Helvetica" panose="020B0604020202020204" pitchFamily="34" charset="0"/>
              </a:rPr>
              <a:t>2</a:t>
            </a:r>
            <a:r>
              <a:rPr lang="en-US" sz="1200" dirty="0">
                <a:latin typeface="Helvetica" panose="020B0604020202020204" pitchFamily="34" charset="0"/>
                <a:ea typeface="Cambria" panose="02040503050406030204" pitchFamily="18" charset="0"/>
                <a:cs typeface="Helvetica" panose="020B0604020202020204" pitchFamily="34" charset="0"/>
              </a:rPr>
              <a:t>)), it indicates there is a problem of multicollinearity in the linear model. So, we should not use all the predictors in the model.</a:t>
            </a:r>
          </a:p>
        </p:txBody>
      </p:sp>
      <p:graphicFrame>
        <p:nvGraphicFramePr>
          <p:cNvPr id="6" name="Table 5">
            <a:extLst>
              <a:ext uri="{FF2B5EF4-FFF2-40B4-BE49-F238E27FC236}">
                <a16:creationId xmlns="" xmlns:a16="http://schemas.microsoft.com/office/drawing/2014/main" id="{D1835478-FE9C-4FBF-BF24-0FC2BF9B026F}"/>
              </a:ext>
            </a:extLst>
          </p:cNvPr>
          <p:cNvGraphicFramePr>
            <a:graphicFrameLocks noGrp="1"/>
          </p:cNvGraphicFramePr>
          <p:nvPr>
            <p:extLst>
              <p:ext uri="{D42A27DB-BD31-4B8C-83A1-F6EECF244321}">
                <p14:modId xmlns:p14="http://schemas.microsoft.com/office/powerpoint/2010/main" val="3155332872"/>
              </p:ext>
            </p:extLst>
          </p:nvPr>
        </p:nvGraphicFramePr>
        <p:xfrm>
          <a:off x="478739" y="2942598"/>
          <a:ext cx="3027789" cy="2152656"/>
        </p:xfrm>
        <a:graphic>
          <a:graphicData uri="http://schemas.openxmlformats.org/drawingml/2006/table">
            <a:tbl>
              <a:tblPr firstRow="1" firstCol="1" bandRow="1">
                <a:tableStyleId>{5C22544A-7EE6-4342-B048-85BDC9FD1C3A}</a:tableStyleId>
              </a:tblPr>
              <a:tblGrid>
                <a:gridCol w="818281">
                  <a:extLst>
                    <a:ext uri="{9D8B030D-6E8A-4147-A177-3AD203B41FA5}">
                      <a16:colId xmlns="" xmlns:a16="http://schemas.microsoft.com/office/drawing/2014/main" val="3816455184"/>
                    </a:ext>
                  </a:extLst>
                </a:gridCol>
                <a:gridCol w="727361">
                  <a:extLst>
                    <a:ext uri="{9D8B030D-6E8A-4147-A177-3AD203B41FA5}">
                      <a16:colId xmlns="" xmlns:a16="http://schemas.microsoft.com/office/drawing/2014/main" val="2771500798"/>
                    </a:ext>
                  </a:extLst>
                </a:gridCol>
                <a:gridCol w="363680">
                  <a:extLst>
                    <a:ext uri="{9D8B030D-6E8A-4147-A177-3AD203B41FA5}">
                      <a16:colId xmlns="" xmlns:a16="http://schemas.microsoft.com/office/drawing/2014/main" val="637085402"/>
                    </a:ext>
                  </a:extLst>
                </a:gridCol>
                <a:gridCol w="1118467">
                  <a:extLst>
                    <a:ext uri="{9D8B030D-6E8A-4147-A177-3AD203B41FA5}">
                      <a16:colId xmlns="" xmlns:a16="http://schemas.microsoft.com/office/drawing/2014/main" val="4141509878"/>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GVIF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GVIF^(1/(2*Df))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8081304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season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165.308</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2.343</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24913176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yr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1.025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1.012</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676418359"/>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mnth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323.778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1.300</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43605516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hr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1.771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23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1.012</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8829897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holiday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1.121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1.059</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3671399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weekday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1.137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6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1.011</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523904282"/>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weathersit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1.386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2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1.085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67022606"/>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temp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51.283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7.161</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69265287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atemp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43.748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6.614</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47340033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hum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1.921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1.386</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642498260"/>
                  </a:ext>
                </a:extLst>
              </a:tr>
              <a:tr h="0">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windspeed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1.251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gn="r">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1.118</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531977262"/>
                  </a:ext>
                </a:extLst>
              </a:tr>
            </a:tbl>
          </a:graphicData>
        </a:graphic>
      </p:graphicFrame>
      <p:sp>
        <p:nvSpPr>
          <p:cNvPr id="14" name="TextBox 13">
            <a:extLst>
              <a:ext uri="{FF2B5EF4-FFF2-40B4-BE49-F238E27FC236}">
                <a16:creationId xmlns="" xmlns:a16="http://schemas.microsoft.com/office/drawing/2014/main" id="{5F4C592C-EA4C-4E3F-9CFD-FEDECC6F3D9B}"/>
              </a:ext>
            </a:extLst>
          </p:cNvPr>
          <p:cNvSpPr txBox="1"/>
          <p:nvPr/>
        </p:nvSpPr>
        <p:spPr>
          <a:xfrm>
            <a:off x="332378" y="2053042"/>
            <a:ext cx="4749280" cy="414337"/>
          </a:xfrm>
          <a:prstGeom prst="rect">
            <a:avLst/>
          </a:prstGeom>
          <a:noFill/>
        </p:spPr>
        <p:txBody>
          <a:bodyPr vert="horz" wrap="none" lIns="91440" tIns="45720" rIns="91440" bIns="45720" rtlCol="0">
            <a:normAutofit lnSpcReduction="10000"/>
          </a:bodyPr>
          <a:lstStyle/>
          <a:p>
            <a:pPr latinLnBrk="1"/>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mnth2    mnth4    mnth6    mnth7    mnth8   mnth10   mnth11 weekday1 </a:t>
            </a:r>
          </a:p>
          <a:p>
            <a:pPr latinLnBrk="1"/>
            <a:r>
              <a:rPr lang="en-US" sz="1100" dirty="0">
                <a:solidFill>
                  <a:srgbClr val="000000"/>
                </a:solidFill>
                <a:latin typeface="Helvetica" panose="020B0604020202020204" pitchFamily="34" charset="0"/>
                <a:ea typeface="Cambria" panose="02040503050406030204" pitchFamily="18" charset="0"/>
                <a:cs typeface="Helvetica" panose="020B0604020202020204" pitchFamily="34" charset="0"/>
              </a:rPr>
              <a:t>           6            8          10          11           12           14           15             41 </a:t>
            </a:r>
            <a:endParaRPr lang="en-US" sz="1100" dirty="0">
              <a:latin typeface="Helvetica" panose="020B0604020202020204" pitchFamily="34" charset="0"/>
              <a:ea typeface="Cambria" panose="02040503050406030204" pitchFamily="18" charset="0"/>
              <a:cs typeface="Helvetica" panose="020B0604020202020204" pitchFamily="34" charset="0"/>
            </a:endParaRPr>
          </a:p>
        </p:txBody>
      </p:sp>
    </p:spTree>
    <p:extLst>
      <p:ext uri="{BB962C8B-B14F-4D97-AF65-F5344CB8AC3E}">
        <p14:creationId xmlns:p14="http://schemas.microsoft.com/office/powerpoint/2010/main" val="408691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509" y="145207"/>
            <a:ext cx="8562392" cy="652720"/>
          </a:xfrm>
        </p:spPr>
        <p:txBody>
          <a:bodyPr/>
          <a:lstStyle/>
          <a:p>
            <a:r>
              <a:rPr kumimoji="1" lang="en-US" altLang="zh-CN" sz="3600" dirty="0">
                <a:latin typeface="Vitesse" charset="0"/>
                <a:ea typeface="Vitesse" charset="0"/>
                <a:cs typeface="Vitesse" charset="0"/>
              </a:rPr>
              <a:t>Goodness of Fit after Transformation</a:t>
            </a:r>
            <a:endParaRPr kumimoji="1" lang="zh-CN" altLang="en-US" sz="3600" b="1" dirty="0">
              <a:latin typeface="Vitesse" charset="0"/>
              <a:ea typeface="Vitesse" charset="0"/>
              <a:cs typeface="Vitesse" charset="0"/>
            </a:endParaRPr>
          </a:p>
        </p:txBody>
      </p:sp>
      <p:sp>
        <p:nvSpPr>
          <p:cNvPr id="17" name="TextBox 16">
            <a:extLst>
              <a:ext uri="{FF2B5EF4-FFF2-40B4-BE49-F238E27FC236}">
                <a16:creationId xmlns="" xmlns:a16="http://schemas.microsoft.com/office/drawing/2014/main" id="{9CE4B8FE-88F2-40FE-A428-8590235562E9}"/>
              </a:ext>
            </a:extLst>
          </p:cNvPr>
          <p:cNvSpPr txBox="1"/>
          <p:nvPr/>
        </p:nvSpPr>
        <p:spPr>
          <a:xfrm>
            <a:off x="203035" y="3608704"/>
            <a:ext cx="6667104" cy="1015663"/>
          </a:xfrm>
          <a:prstGeom prst="rect">
            <a:avLst/>
          </a:prstGeom>
          <a:noFill/>
          <a:ln w="19050">
            <a:solidFill>
              <a:schemeClr val="tx2"/>
            </a:solidFill>
          </a:ln>
        </p:spPr>
        <p:txBody>
          <a:bodyPr wrap="square" lIns="182880" tIns="182880" rIns="182880" bIns="182880" rtlCol="0">
            <a:spAutoFit/>
          </a:bodyPr>
          <a:lstStyle/>
          <a:p>
            <a:pPr>
              <a:spcBef>
                <a:spcPts val="900"/>
              </a:spcBef>
              <a:spcAft>
                <a:spcPts val="900"/>
              </a:spcAft>
            </a:pPr>
            <a:r>
              <a:rPr lang="en-US" sz="1400" dirty="0">
                <a:latin typeface="Helvetica" panose="020B0604020202020204" pitchFamily="34" charset="0"/>
                <a:ea typeface="Cambria" panose="02040503050406030204" pitchFamily="18" charset="0"/>
                <a:cs typeface="Helvetica" panose="020B0604020202020204" pitchFamily="34" charset="0"/>
              </a:rPr>
              <a:t>The constant variance assumption is still violated. The transformation has not improved the goodness of fit even though the model performance is better with respect to the coefficient of determination.</a:t>
            </a:r>
          </a:p>
        </p:txBody>
      </p:sp>
      <p:pic>
        <p:nvPicPr>
          <p:cNvPr id="8" name="Picture 7" descr="A close up of a map&#10;&#10;Description automatically generated">
            <a:extLst>
              <a:ext uri="{FF2B5EF4-FFF2-40B4-BE49-F238E27FC236}">
                <a16:creationId xmlns="" xmlns:a16="http://schemas.microsoft.com/office/drawing/2014/main" id="{F5593202-9EBF-4F02-B1D5-CD5FB77050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435" y="1029327"/>
            <a:ext cx="2839291" cy="2233225"/>
          </a:xfrm>
          <a:prstGeom prst="rect">
            <a:avLst/>
          </a:prstGeom>
        </p:spPr>
      </p:pic>
      <p:pic>
        <p:nvPicPr>
          <p:cNvPr id="10" name="Picture 9" descr="A close up of a map&#10;&#10;Description automatically generated">
            <a:extLst>
              <a:ext uri="{FF2B5EF4-FFF2-40B4-BE49-F238E27FC236}">
                <a16:creationId xmlns="" xmlns:a16="http://schemas.microsoft.com/office/drawing/2014/main" id="{7B9C45E4-BE69-43B9-8B0A-33EAADB923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9265" y="980350"/>
            <a:ext cx="2737659" cy="2247624"/>
          </a:xfrm>
          <a:prstGeom prst="rect">
            <a:avLst/>
          </a:prstGeom>
        </p:spPr>
      </p:pic>
      <p:pic>
        <p:nvPicPr>
          <p:cNvPr id="16" name="Picture 15">
            <a:extLst>
              <a:ext uri="{FF2B5EF4-FFF2-40B4-BE49-F238E27FC236}">
                <a16:creationId xmlns="" xmlns:a16="http://schemas.microsoft.com/office/drawing/2014/main" id="{C504E66F-04E2-4C3C-9577-CDB2667475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2116" y="1012952"/>
            <a:ext cx="2839289" cy="2322428"/>
          </a:xfrm>
          <a:prstGeom prst="rect">
            <a:avLst/>
          </a:prstGeom>
        </p:spPr>
      </p:pic>
    </p:spTree>
    <p:extLst>
      <p:ext uri="{BB962C8B-B14F-4D97-AF65-F5344CB8AC3E}">
        <p14:creationId xmlns:p14="http://schemas.microsoft.com/office/powerpoint/2010/main" val="21730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8"/>
            <a:ext cx="8562392" cy="631629"/>
          </a:xfrm>
        </p:spPr>
        <p:txBody>
          <a:bodyPr/>
          <a:lstStyle/>
          <a:p>
            <a:r>
              <a:rPr kumimoji="1" lang="en-US" altLang="zh-CN" sz="3600" dirty="0">
                <a:latin typeface="Vitesse" charset="0"/>
                <a:ea typeface="Vitesse" charset="0"/>
                <a:cs typeface="Vitesse" charset="0"/>
              </a:rPr>
              <a:t>Removing Low Demand Data</a:t>
            </a:r>
            <a:endParaRPr kumimoji="1" lang="zh-CN" altLang="en-US" sz="3600" b="1" dirty="0">
              <a:latin typeface="Vitesse" charset="0"/>
              <a:ea typeface="Vitesse" charset="0"/>
              <a:cs typeface="Vitesse" charset="0"/>
            </a:endParaRPr>
          </a:p>
        </p:txBody>
      </p:sp>
      <p:sp>
        <p:nvSpPr>
          <p:cNvPr id="5" name="Rectangle 4">
            <a:extLst>
              <a:ext uri="{FF2B5EF4-FFF2-40B4-BE49-F238E27FC236}">
                <a16:creationId xmlns="" xmlns:a16="http://schemas.microsoft.com/office/drawing/2014/main" id="{D6D8E3CB-AAF9-47FA-B629-6259BABCEE56}"/>
              </a:ext>
            </a:extLst>
          </p:cNvPr>
          <p:cNvSpPr/>
          <p:nvPr/>
        </p:nvSpPr>
        <p:spPr>
          <a:xfrm>
            <a:off x="114785" y="852962"/>
            <a:ext cx="8022407" cy="3883114"/>
          </a:xfrm>
          <a:prstGeom prst="rect">
            <a:avLst/>
          </a:prstGeom>
        </p:spPr>
        <p:txBody>
          <a:bodyPr wrap="square">
            <a:spAutoFit/>
          </a:bodyPr>
          <a:lstStyle/>
          <a:p>
            <a:pPr latinLnBrk="1"/>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Remove data for hours 0-6</a:t>
            </a:r>
            <a:b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b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hrs</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 &lt;- </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as.numeric</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data$hr</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p>
          <a:p>
            <a:pPr latinLnBrk="1"/>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 &lt;- data[which(</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hrs</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&gt;=7),]</a:t>
            </a:r>
          </a:p>
          <a:p>
            <a:pPr latinLnBrk="1"/>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Test/Train Data </a:t>
            </a:r>
          </a:p>
          <a:p>
            <a:pPr latinLnBrk="1"/>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set.seed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(9) # for uniformity</a:t>
            </a:r>
          </a:p>
          <a:p>
            <a:pPr latinLnBrk="1"/>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sample_size</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  &lt;- floor(0.8*</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nrow</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p>
          <a:p>
            <a:pPr latinLnBrk="1"/>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picked  &lt;- sample(</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seq_len</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nrow</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)),size = </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sample_size</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a:t>
            </a:r>
          </a:p>
          <a:p>
            <a:pPr latinLnBrk="1"/>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train_red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  &lt;- </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[picked, -c(1,2,9,15,16)]</a:t>
            </a:r>
          </a:p>
          <a:p>
            <a:pPr latinLnBrk="1"/>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test_red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  &lt;- </a:t>
            </a:r>
            <a:r>
              <a:rPr lang="en-US" sz="1400" i="1" dirty="0" err="1">
                <a:solidFill>
                  <a:srgbClr val="000000"/>
                </a:solidFill>
                <a:latin typeface="Helvetica" panose="020B0604020202020204" pitchFamily="34" charset="0"/>
                <a:ea typeface="Cambria" panose="02040503050406030204" pitchFamily="18" charset="0"/>
                <a:cs typeface="Helvetica" panose="020B0604020202020204" pitchFamily="34" charset="0"/>
              </a:rPr>
              <a:t>data_red</a:t>
            </a:r>
            <a:r>
              <a:rPr lang="en-US" sz="1400" i="1" dirty="0">
                <a:solidFill>
                  <a:srgbClr val="000000"/>
                </a:solidFill>
                <a:latin typeface="Helvetica" panose="020B0604020202020204" pitchFamily="34" charset="0"/>
                <a:ea typeface="Cambria" panose="02040503050406030204" pitchFamily="18" charset="0"/>
                <a:cs typeface="Helvetica" panose="020B0604020202020204" pitchFamily="34" charset="0"/>
              </a:rPr>
              <a:t>[-picked, -c(1,2,9,15,16)]</a:t>
            </a:r>
          </a:p>
          <a:p>
            <a:pPr latinLnBrk="1"/>
            <a:endPar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atinLnBrk="1"/>
            <a:r>
              <a:rPr lang="en-US" sz="1400" b="1" dirty="0">
                <a:solidFill>
                  <a:srgbClr val="EAAA00"/>
                </a:solidFill>
                <a:latin typeface="Helvetica" panose="020B0604020202020204" pitchFamily="34" charset="0"/>
                <a:ea typeface="Cambria" panose="02040503050406030204" pitchFamily="18" charset="0"/>
                <a:cs typeface="Helvetica" panose="020B0604020202020204" pitchFamily="34" charset="0"/>
              </a:rPr>
              <a:t>## Fitting the model with square root transformation</a:t>
            </a:r>
          </a:p>
          <a:p>
            <a:pPr latinLnBrk="1"/>
            <a:r>
              <a:rPr lang="en-US" sz="1400" i="1" dirty="0">
                <a:latin typeface="Helvetica" panose="020B0604020202020204" pitchFamily="34" charset="0"/>
                <a:ea typeface="Cambria" panose="02040503050406030204" pitchFamily="18" charset="0"/>
                <a:cs typeface="Helvetica" panose="020B0604020202020204" pitchFamily="34" charset="0"/>
              </a:rPr>
              <a:t>model3&lt;-</a:t>
            </a:r>
            <a:r>
              <a:rPr lang="en-US" sz="1400" i="1" dirty="0" err="1">
                <a:latin typeface="Helvetica" panose="020B0604020202020204" pitchFamily="34" charset="0"/>
                <a:ea typeface="Cambria" panose="02040503050406030204" pitchFamily="18" charset="0"/>
                <a:cs typeface="Helvetica" panose="020B0604020202020204" pitchFamily="34" charset="0"/>
              </a:rPr>
              <a:t>lm</a:t>
            </a:r>
            <a:r>
              <a:rPr lang="en-US" sz="1400" i="1" dirty="0">
                <a:latin typeface="Helvetica" panose="020B0604020202020204" pitchFamily="34" charset="0"/>
                <a:ea typeface="Cambria" panose="02040503050406030204" pitchFamily="18" charset="0"/>
                <a:cs typeface="Helvetica" panose="020B0604020202020204" pitchFamily="34" charset="0"/>
              </a:rPr>
              <a:t>(sqrt(</a:t>
            </a:r>
            <a:r>
              <a:rPr lang="en-US" sz="1400" i="1" dirty="0" err="1">
                <a:latin typeface="Helvetica" panose="020B0604020202020204" pitchFamily="34" charset="0"/>
                <a:ea typeface="Cambria" panose="02040503050406030204" pitchFamily="18" charset="0"/>
                <a:cs typeface="Helvetica" panose="020B0604020202020204" pitchFamily="34" charset="0"/>
              </a:rPr>
              <a:t>cnt</a:t>
            </a:r>
            <a:r>
              <a:rPr lang="en-US" sz="1400" i="1" dirty="0">
                <a:latin typeface="Helvetica" panose="020B0604020202020204" pitchFamily="34" charset="0"/>
                <a:ea typeface="Cambria" panose="02040503050406030204" pitchFamily="18" charset="0"/>
                <a:cs typeface="Helvetica" panose="020B0604020202020204" pitchFamily="34" charset="0"/>
              </a:rPr>
              <a:t>)</a:t>
            </a:r>
            <a:r>
              <a:rPr lang="en-US" sz="1400" b="1" i="1" dirty="0">
                <a:latin typeface="Helvetica" panose="020B0604020202020204" pitchFamily="34" charset="0"/>
                <a:ea typeface="Cambria" panose="02040503050406030204" pitchFamily="18" charset="0"/>
                <a:cs typeface="Helvetica" panose="020B0604020202020204" pitchFamily="34" charset="0"/>
              </a:rPr>
              <a:t>~</a:t>
            </a:r>
            <a:r>
              <a:rPr lang="en-US" sz="1400" i="1" dirty="0">
                <a:latin typeface="Helvetica" panose="020B0604020202020204" pitchFamily="34" charset="0"/>
                <a:ea typeface="Cambria" panose="02040503050406030204" pitchFamily="18" charset="0"/>
                <a:cs typeface="Helvetica" panose="020B0604020202020204" pitchFamily="34" charset="0"/>
              </a:rPr>
              <a:t>.,data=</a:t>
            </a:r>
            <a:r>
              <a:rPr lang="en-US" sz="1400" i="1" dirty="0" err="1">
                <a:latin typeface="Helvetica" panose="020B0604020202020204" pitchFamily="34" charset="0"/>
                <a:ea typeface="Cambria" panose="02040503050406030204" pitchFamily="18" charset="0"/>
                <a:cs typeface="Helvetica" panose="020B0604020202020204" pitchFamily="34" charset="0"/>
              </a:rPr>
              <a:t>train_red</a:t>
            </a:r>
            <a:r>
              <a:rPr lang="en-US" sz="1400" i="1" dirty="0">
                <a:latin typeface="Helvetica" panose="020B0604020202020204" pitchFamily="34" charset="0"/>
                <a:ea typeface="Cambria" panose="02040503050406030204" pitchFamily="18" charset="0"/>
                <a:cs typeface="Helvetica" panose="020B0604020202020204" pitchFamily="34" charset="0"/>
              </a:rPr>
              <a:t>)</a:t>
            </a:r>
          </a:p>
          <a:p>
            <a:pPr latinLnBrk="1"/>
            <a:r>
              <a:rPr lang="en-US" sz="1400" i="1" dirty="0">
                <a:latin typeface="Helvetica" panose="020B0604020202020204" pitchFamily="34" charset="0"/>
                <a:ea typeface="Cambria" panose="02040503050406030204" pitchFamily="18" charset="0"/>
                <a:cs typeface="Helvetica" panose="020B0604020202020204" pitchFamily="34" charset="0"/>
              </a:rPr>
              <a:t>summary(model3)$</a:t>
            </a:r>
            <a:r>
              <a:rPr lang="en-US" sz="1400" i="1" dirty="0" err="1">
                <a:latin typeface="Helvetica" panose="020B0604020202020204" pitchFamily="34" charset="0"/>
                <a:ea typeface="Cambria" panose="02040503050406030204" pitchFamily="18" charset="0"/>
                <a:cs typeface="Helvetica" panose="020B0604020202020204" pitchFamily="34" charset="0"/>
              </a:rPr>
              <a:t>r.squared</a:t>
            </a:r>
            <a:endParaRPr lang="en-US" sz="1400" i="1" dirty="0">
              <a:latin typeface="Helvetica" panose="020B0604020202020204" pitchFamily="34" charset="0"/>
              <a:ea typeface="Cambria" panose="02040503050406030204" pitchFamily="18" charset="0"/>
              <a:cs typeface="Helvetica" panose="020B0604020202020204" pitchFamily="34" charset="0"/>
            </a:endParaRPr>
          </a:p>
          <a:p>
            <a:pPr latinLnBrk="1"/>
            <a:r>
              <a:rPr lang="en-US" sz="1400" dirty="0">
                <a:latin typeface="Helvetica" panose="020B0604020202020204" pitchFamily="34" charset="0"/>
                <a:ea typeface="Cambria" panose="02040503050406030204" pitchFamily="18" charset="0"/>
                <a:cs typeface="Helvetica" panose="020B0604020202020204" pitchFamily="34" charset="0"/>
              </a:rPr>
              <a:t>[1] 0.6579021</a:t>
            </a:r>
            <a:r>
              <a:rPr lang="en-US" sz="1400" i="1" dirty="0">
                <a:latin typeface="Helvetica" panose="020B0604020202020204" pitchFamily="34" charset="0"/>
                <a:ea typeface="Cambria" panose="02040503050406030204" pitchFamily="18" charset="0"/>
                <a:cs typeface="Helvetica" panose="020B0604020202020204" pitchFamily="34" charset="0"/>
              </a:rPr>
              <a:t/>
            </a:r>
            <a:br>
              <a:rPr lang="en-US" sz="1400" i="1" dirty="0">
                <a:latin typeface="Helvetica" panose="020B0604020202020204" pitchFamily="34" charset="0"/>
                <a:ea typeface="Cambria" panose="02040503050406030204" pitchFamily="18" charset="0"/>
                <a:cs typeface="Helvetica" panose="020B0604020202020204" pitchFamily="34" charset="0"/>
              </a:rPr>
            </a:br>
            <a:r>
              <a:rPr lang="en-US" sz="1400" i="1" dirty="0">
                <a:latin typeface="Helvetica" panose="020B0604020202020204" pitchFamily="34" charset="0"/>
                <a:ea typeface="Cambria" panose="02040503050406030204" pitchFamily="18" charset="0"/>
                <a:cs typeface="Helvetica" panose="020B0604020202020204" pitchFamily="34" charset="0"/>
              </a:rPr>
              <a:t>df&lt;-which(summary(model3)$</a:t>
            </a:r>
            <a:r>
              <a:rPr lang="en-US" sz="1400" i="1" dirty="0" err="1">
                <a:latin typeface="Helvetica" panose="020B0604020202020204" pitchFamily="34" charset="0"/>
                <a:ea typeface="Cambria" panose="02040503050406030204" pitchFamily="18" charset="0"/>
                <a:cs typeface="Helvetica" panose="020B0604020202020204" pitchFamily="34" charset="0"/>
              </a:rPr>
              <a:t>coeff</a:t>
            </a:r>
            <a:r>
              <a:rPr lang="en-US" sz="1400" i="1" dirty="0">
                <a:latin typeface="Helvetica" panose="020B0604020202020204" pitchFamily="34" charset="0"/>
                <a:ea typeface="Cambria" panose="02040503050406030204" pitchFamily="18" charset="0"/>
                <a:cs typeface="Helvetica" panose="020B0604020202020204" pitchFamily="34" charset="0"/>
              </a:rPr>
              <a:t>[,4]&gt;0.05)</a:t>
            </a:r>
          </a:p>
          <a:p>
            <a:pPr latinLnBrk="1">
              <a:spcAft>
                <a:spcPts val="1000"/>
              </a:spcAft>
            </a:pPr>
            <a:endPar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endParaRPr>
          </a:p>
          <a:p>
            <a:pPr latinLnBrk="1">
              <a:spcAft>
                <a:spcPts val="1000"/>
              </a:spcAft>
            </a:pPr>
            <a:endParaRPr lang="en-US" sz="1400" dirty="0">
              <a:latin typeface="Helvetica" panose="020B0604020202020204" pitchFamily="34" charset="0"/>
              <a:ea typeface="Cambria" panose="02040503050406030204" pitchFamily="18" charset="0"/>
              <a:cs typeface="Helvetica" panose="020B0604020202020204" pitchFamily="34" charset="0"/>
            </a:endParaRPr>
          </a:p>
        </p:txBody>
      </p:sp>
      <p:sp>
        <p:nvSpPr>
          <p:cNvPr id="9" name="TextBox 8">
            <a:extLst>
              <a:ext uri="{FF2B5EF4-FFF2-40B4-BE49-F238E27FC236}">
                <a16:creationId xmlns="" xmlns:a16="http://schemas.microsoft.com/office/drawing/2014/main" id="{50DED67C-050A-4D0B-A2D0-2AB63EA11E13}"/>
              </a:ext>
            </a:extLst>
          </p:cNvPr>
          <p:cNvSpPr txBox="1"/>
          <p:nvPr/>
        </p:nvSpPr>
        <p:spPr>
          <a:xfrm>
            <a:off x="394593" y="4230754"/>
            <a:ext cx="3194858" cy="414337"/>
          </a:xfrm>
          <a:prstGeom prst="rect">
            <a:avLst/>
          </a:prstGeom>
          <a:noFill/>
        </p:spPr>
        <p:txBody>
          <a:bodyPr vert="horz" wrap="none" lIns="91440" tIns="45720" rIns="91440" bIns="45720" rtlCol="0">
            <a:noAutofit/>
          </a:bodyPr>
          <a:lstStyle/>
          <a:p>
            <a:pPr latinLnBrk="1"/>
            <a:r>
              <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rPr>
              <a:t> mnth7 mnth11 mnth12   hr14   hr15   hr20 </a:t>
            </a:r>
          </a:p>
          <a:p>
            <a:pPr latinLnBrk="1"/>
            <a:r>
              <a:rPr lang="en-US" sz="1400" dirty="0">
                <a:solidFill>
                  <a:srgbClr val="000000"/>
                </a:solidFill>
                <a:latin typeface="Helvetica" panose="020B0604020202020204" pitchFamily="34" charset="0"/>
                <a:ea typeface="Cambria" panose="02040503050406030204" pitchFamily="18" charset="0"/>
                <a:cs typeface="Helvetica" panose="020B0604020202020204" pitchFamily="34" charset="0"/>
              </a:rPr>
              <a:t>       11         15         16      23      24      29</a:t>
            </a:r>
            <a:endParaRPr lang="en-US" sz="1400" dirty="0">
              <a:latin typeface="Helvetica" panose="020B0604020202020204" pitchFamily="34" charset="0"/>
              <a:ea typeface="Cambria" panose="02040503050406030204" pitchFamily="18" charset="0"/>
              <a:cs typeface="Helvetica" panose="020B0604020202020204" pitchFamily="34" charset="0"/>
            </a:endParaRPr>
          </a:p>
        </p:txBody>
      </p:sp>
    </p:spTree>
    <p:extLst>
      <p:ext uri="{BB962C8B-B14F-4D97-AF65-F5344CB8AC3E}">
        <p14:creationId xmlns:p14="http://schemas.microsoft.com/office/powerpoint/2010/main" val="3634679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555" y="148278"/>
            <a:ext cx="8562392" cy="583077"/>
          </a:xfrm>
        </p:spPr>
        <p:txBody>
          <a:bodyPr/>
          <a:lstStyle/>
          <a:p>
            <a:r>
              <a:rPr kumimoji="1" lang="en-US" altLang="zh-CN" sz="3600" dirty="0">
                <a:latin typeface="Vitesse" charset="0"/>
                <a:ea typeface="Vitesse" charset="0"/>
                <a:cs typeface="Vitesse" charset="0"/>
              </a:rPr>
              <a:t>Goodness of Fit without Low Demand Data</a:t>
            </a:r>
            <a:endParaRPr kumimoji="1" lang="zh-CN" altLang="en-US" sz="3600" b="1" dirty="0">
              <a:latin typeface="Vitesse" charset="0"/>
              <a:ea typeface="Vitesse" charset="0"/>
              <a:cs typeface="Vitesse" charset="0"/>
            </a:endParaRPr>
          </a:p>
        </p:txBody>
      </p:sp>
      <p:sp>
        <p:nvSpPr>
          <p:cNvPr id="10" name="TextBox 9">
            <a:extLst>
              <a:ext uri="{FF2B5EF4-FFF2-40B4-BE49-F238E27FC236}">
                <a16:creationId xmlns="" xmlns:a16="http://schemas.microsoft.com/office/drawing/2014/main" id="{18529424-7E82-4908-A5DD-DB2DF480FEA1}"/>
              </a:ext>
            </a:extLst>
          </p:cNvPr>
          <p:cNvSpPr txBox="1"/>
          <p:nvPr/>
        </p:nvSpPr>
        <p:spPr>
          <a:xfrm>
            <a:off x="198556" y="3755137"/>
            <a:ext cx="7562155" cy="1184940"/>
          </a:xfrm>
          <a:prstGeom prst="rect">
            <a:avLst/>
          </a:prstGeom>
          <a:noFill/>
          <a:ln w="19050">
            <a:solidFill>
              <a:schemeClr val="tx2"/>
            </a:solidFill>
          </a:ln>
        </p:spPr>
        <p:txBody>
          <a:bodyPr wrap="square" lIns="91440" tIns="91440" rIns="91440" bIns="91440" rtlCol="0">
            <a:spAutoFit/>
          </a:bodyPr>
          <a:lstStyle>
            <a:defPPr>
              <a:defRPr lang="en-US"/>
            </a:defPPr>
            <a:lvl1pPr marL="171450" indent="-171450">
              <a:spcBef>
                <a:spcPts val="600"/>
              </a:spcBef>
              <a:spcAft>
                <a:spcPts val="0"/>
              </a:spcAft>
              <a:buFont typeface="Arial" panose="020B0604020202020204" pitchFamily="34" charset="0"/>
              <a:buChar char="•"/>
              <a:defRPr sz="1400">
                <a:latin typeface="Helvetica" panose="020B0604020202020204" pitchFamily="34" charset="0"/>
                <a:ea typeface="Cambria" panose="02040503050406030204" pitchFamily="18" charset="0"/>
                <a:cs typeface="Helvetica" panose="020B0604020202020204" pitchFamily="34" charset="0"/>
              </a:defRPr>
            </a:lvl1pPr>
          </a:lstStyle>
          <a:p>
            <a:r>
              <a:rPr lang="en-US" sz="1200" dirty="0"/>
              <a:t>The constant variance assumption is still violated even for the model without the low demand data and with the transformed response.  </a:t>
            </a:r>
          </a:p>
          <a:p>
            <a:r>
              <a:rPr lang="en-US" sz="1200" dirty="0"/>
              <a:t>The implication of the constant variation assumption violation is that the uncertainty in predicting bike demand when in high demand will be higher than estimated using the multiple regression models in this lesson. </a:t>
            </a:r>
          </a:p>
        </p:txBody>
      </p:sp>
      <p:pic>
        <p:nvPicPr>
          <p:cNvPr id="17" name="Picture 16" descr="A close up of a map&#10;&#10;Description automatically generated">
            <a:extLst>
              <a:ext uri="{FF2B5EF4-FFF2-40B4-BE49-F238E27FC236}">
                <a16:creationId xmlns="" xmlns:a16="http://schemas.microsoft.com/office/drawing/2014/main" id="{843B7813-CE7D-4FC2-9593-32A65D142ECA}"/>
              </a:ext>
            </a:extLst>
          </p:cNvPr>
          <p:cNvPicPr>
            <a:picLocks noChangeAspect="1"/>
          </p:cNvPicPr>
          <p:nvPr/>
        </p:nvPicPr>
        <p:blipFill rotWithShape="1">
          <a:blip r:embed="rId3">
            <a:extLst>
              <a:ext uri="{28A0092B-C50C-407E-A947-70E740481C1C}">
                <a14:useLocalDpi xmlns:a14="http://schemas.microsoft.com/office/drawing/2010/main" val="0"/>
              </a:ext>
            </a:extLst>
          </a:blip>
          <a:srcRect t="7072" r="2907" b="4535"/>
          <a:stretch/>
        </p:blipFill>
        <p:spPr>
          <a:xfrm>
            <a:off x="163976" y="985962"/>
            <a:ext cx="7569317" cy="2584173"/>
          </a:xfrm>
          <a:prstGeom prst="rect">
            <a:avLst/>
          </a:prstGeom>
        </p:spPr>
      </p:pic>
    </p:spTree>
    <p:extLst>
      <p:ext uri="{BB962C8B-B14F-4D97-AF65-F5344CB8AC3E}">
        <p14:creationId xmlns:p14="http://schemas.microsoft.com/office/powerpoint/2010/main" val="1893959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7759" t="6607" r="13881" b="7744"/>
          <a:stretch/>
        </p:blipFill>
        <p:spPr>
          <a:xfrm>
            <a:off x="3236327" y="1171154"/>
            <a:ext cx="2573755" cy="2813176"/>
          </a:xfrm>
          <a:prstGeom prst="rect">
            <a:avLst/>
          </a:prstGeom>
        </p:spPr>
      </p:pic>
    </p:spTree>
    <p:extLst>
      <p:ext uri="{BB962C8B-B14F-4D97-AF65-F5344CB8AC3E}">
        <p14:creationId xmlns:p14="http://schemas.microsoft.com/office/powerpoint/2010/main" val="390196560"/>
      </p:ext>
    </p:extLst>
  </p:cSld>
  <p:clrMapOvr>
    <a:masterClrMapping/>
  </p:clrMapOvr>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14323</TotalTime>
  <Words>961</Words>
  <Application>Microsoft Office PowerPoint</Application>
  <PresentationFormat>On-screen Show (16:9)</PresentationFormat>
  <Paragraphs>388</Paragraphs>
  <Slides>15</Slides>
  <Notes>12</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15</vt:i4>
      </vt:variant>
    </vt:vector>
  </HeadingPairs>
  <TitlesOfParts>
    <vt:vector size="29" baseType="lpstr">
      <vt:lpstr>MS PGothic</vt:lpstr>
      <vt:lpstr>宋体</vt:lpstr>
      <vt:lpstr>Arial</vt:lpstr>
      <vt:lpstr>Calibri</vt:lpstr>
      <vt:lpstr>Cambria</vt:lpstr>
      <vt:lpstr>Cambria Math</vt:lpstr>
      <vt:lpstr>Helvetica</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Linear Regression Analysis in R</vt:lpstr>
      <vt:lpstr>Coding Dummy Variables in R</vt:lpstr>
      <vt:lpstr>Coding Dummy Variables in R</vt:lpstr>
      <vt:lpstr>Goodness of Fit: Constant Variance Assumption</vt:lpstr>
      <vt:lpstr>Goodness of Fit: Linearity Assumption</vt:lpstr>
      <vt:lpstr>Goodness of Fit: Normality Assumption</vt:lpstr>
      <vt:lpstr>Goodness of Fit: Outliers</vt:lpstr>
      <vt:lpstr>Transformation of the Response Variable </vt:lpstr>
      <vt:lpstr>Regression Analysis after Transformation</vt:lpstr>
      <vt:lpstr>Goodness of Fit after Transformation</vt:lpstr>
      <vt:lpstr>Removing Low Demand Data</vt:lpstr>
      <vt:lpstr>Goodness of Fit without Low Demand Data</vt:lpstr>
      <vt:lpstr>PowerPoint Presentation</vt:lpstr>
    </vt:vector>
  </TitlesOfParts>
  <Company>gt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 R Examples</dc:title>
  <dc:creator>Serban, Nicoleta</dc:creator>
  <cp:lastModifiedBy>Aymee Garcia</cp:lastModifiedBy>
  <cp:revision>590</cp:revision>
  <dcterms:created xsi:type="dcterms:W3CDTF">2017-01-02T15:06:50Z</dcterms:created>
  <dcterms:modified xsi:type="dcterms:W3CDTF">2020-06-12T06:19:50Z</dcterms:modified>
</cp:coreProperties>
</file>