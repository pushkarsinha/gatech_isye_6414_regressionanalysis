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 id="2147483705" r:id="rId5"/>
    <p:sldMasterId id="2147483699" r:id="rId6"/>
  </p:sldMasterIdLst>
  <p:notesMasterIdLst>
    <p:notesMasterId r:id="rId13"/>
  </p:notesMasterIdLst>
  <p:handoutMasterIdLst>
    <p:handoutMasterId r:id="rId14"/>
  </p:handoutMasterIdLst>
  <p:sldIdLst>
    <p:sldId id="428" r:id="rId7"/>
    <p:sldId id="429" r:id="rId8"/>
    <p:sldId id="363" r:id="rId9"/>
    <p:sldId id="365" r:id="rId10"/>
    <p:sldId id="366" r:id="rId11"/>
    <p:sldId id="439"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28"/>
            <p14:sldId id="429"/>
            <p14:sldId id="363"/>
            <p14:sldId id="365"/>
            <p14:sldId id="366"/>
            <p14:sldId id="4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pos="144" userDrawn="1">
          <p15:clr>
            <a:srgbClr val="A4A3A4"/>
          </p15:clr>
        </p15:guide>
        <p15:guide id="4" orient="horz" pos="444" userDrawn="1">
          <p15:clr>
            <a:srgbClr val="A4A3A4"/>
          </p15:clr>
        </p15:guide>
        <p15:guide id="5" orient="horz" pos="804" userDrawn="1">
          <p15:clr>
            <a:srgbClr val="A4A3A4"/>
          </p15:clr>
        </p15:guide>
        <p15:guide id="6" pos="3480" userDrawn="1">
          <p15:clr>
            <a:srgbClr val="A4A3A4"/>
          </p15:clr>
        </p15:guide>
        <p15:guide id="7" pos="432" userDrawn="1">
          <p15:clr>
            <a:srgbClr val="A4A3A4"/>
          </p15:clr>
        </p15:guide>
        <p15:guide id="8" pos="25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odriguez, Ramon S" initials="RRS" lastIdx="1" clrIdx="6">
    <p:extLst>
      <p:ext uri="{19B8F6BF-5375-455C-9EA6-DF929625EA0E}">
        <p15:presenceInfo xmlns:p15="http://schemas.microsoft.com/office/powerpoint/2012/main" userId="S-1-5-21-1177238915-2111687655-1060284298-1451345" providerId="AD"/>
      </p:ext>
    </p:extLst>
  </p:cmAuthor>
  <p:cmAuthor id="1" name="Figueroa, Shabana" initials="FS" lastIdx="16" clrIdx="0"/>
  <p:cmAuthor id="2" name="Figueroa, Shabana" initials="FS [2]" lastIdx="1" clrIdx="1"/>
  <p:cmAuthor id="3" name="Serban, Nicoleta" initials="SN" lastIdx="11" clrIdx="2"/>
  <p:cmAuthor id="4" name="Hu, Rui" initials="HR" lastIdx="1" clrIdx="3"/>
  <p:cmAuthor id="5" name="Hu, Rui" initials="HR [2]" lastIdx="1" clrIdx="4"/>
  <p:cmAuthor id="6" name="Richard Levine" initials="RL" lastIdx="2" clrIdx="5">
    <p:extLst>
      <p:ext uri="{19B8F6BF-5375-455C-9EA6-DF929625EA0E}">
        <p15:presenceInfo xmlns:p15="http://schemas.microsoft.com/office/powerpoint/2012/main" userId="Richard Levin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A70B"/>
    <a:srgbClr val="EEB211"/>
    <a:srgbClr val="F8FFF1"/>
    <a:srgbClr val="993200"/>
    <a:srgbClr val="0000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76" autoAdjust="0"/>
    <p:restoredTop sz="86019"/>
  </p:normalViewPr>
  <p:slideViewPr>
    <p:cSldViewPr snapToGrid="0">
      <p:cViewPr varScale="1">
        <p:scale>
          <a:sx n="97" d="100"/>
          <a:sy n="97" d="100"/>
        </p:scale>
        <p:origin x="1402" y="62"/>
      </p:cViewPr>
      <p:guideLst>
        <p:guide orient="horz" pos="1620"/>
        <p:guide pos="2880"/>
        <p:guide pos="144"/>
        <p:guide orient="horz" pos="444"/>
        <p:guide orient="horz" pos="804"/>
        <p:guide pos="3480"/>
        <p:guide pos="432"/>
        <p:guide pos="2568"/>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5/15/2020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5/15/2020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MS PGothic" charset="-128"/>
              </a:rPr>
              <a:t>Show Slide Only: Read from the notes</a:t>
            </a:r>
          </a:p>
          <a:p>
            <a:pPr eaLnBrk="1" hangingPunct="1">
              <a:spcBef>
                <a:spcPct val="0"/>
              </a:spcBef>
            </a:pPr>
            <a:endParaRPr lang="en-US" altLang="en-US">
              <a:ea typeface="MS PGothic" charset="-128"/>
            </a:endParaRPr>
          </a:p>
          <a:p>
            <a:pPr eaLnBrk="1" hangingPunct="1">
              <a:spcBef>
                <a:spcPct val="0"/>
              </a:spcBef>
            </a:pPr>
            <a:r>
              <a:rPr lang="en-US" altLang="en-US">
                <a:ea typeface="MS PGothic" charset="-128"/>
              </a:rPr>
              <a:t>Describe both models</a:t>
            </a:r>
          </a:p>
          <a:p>
            <a:pPr eaLnBrk="1" hangingPunct="1">
              <a:spcBef>
                <a:spcPct val="0"/>
              </a:spcBef>
            </a:pPr>
            <a:endParaRPr lang="en-US" altLang="en-US">
              <a:ea typeface="MS PGothic" charset="-128"/>
            </a:endParaRPr>
          </a:p>
          <a:p>
            <a:pPr eaLnBrk="1" hangingPunct="1">
              <a:spcBef>
                <a:spcPct val="0"/>
              </a:spcBef>
            </a:pPr>
            <a:r>
              <a:rPr lang="en-US" altLang="en-US">
                <a:ea typeface="MS PGothic" charset="-128"/>
              </a:rPr>
              <a:t>In all of the simple regression models examined so far, both the target and predicting variables have been continuous, or at least effectively continuous. ANOVA is an extension of the simple linear regression model introduced in the first module of this class but the predicting variable is categorical. </a:t>
            </a:r>
          </a:p>
          <a:p>
            <a:pPr eaLnBrk="1" hangingPunct="1">
              <a:spcBef>
                <a:spcPct val="0"/>
              </a:spcBef>
            </a:pPr>
            <a:endParaRPr lang="en-US" altLang="en-US">
              <a:ea typeface="MS PGothic" charset="-128"/>
            </a:endParaRPr>
          </a:p>
          <a:p>
            <a:pPr eaLnBrk="1" hangingPunct="1">
              <a:spcBef>
                <a:spcPct val="0"/>
              </a:spcBef>
            </a:pPr>
            <a:r>
              <a:rPr lang="en-US" altLang="en-US">
                <a:ea typeface="MS PGothic" charset="-128"/>
              </a:rPr>
              <a:t>For example, does knowing the educational level of a person (say High school, College, or Postgraduate) have predictive power for their annual salary? Does the height of a singer predicts his/her voice pitch? Does knowing the religion of a member of Congress (officially reported as Protestant, Catholic, Jewish, or Other/unknown) say anything about how much money they accept from certain political action committees (PACs)? Does the layout of a keyboard impact on the ease of using it? These are regression questions; in this context, saying that group membership has predictive power for the target is the same as saying that the average value of the target is different for different groups.</a:t>
            </a:r>
          </a:p>
          <a:p>
            <a:pPr eaLnBrk="1" hangingPunct="1">
              <a:spcBef>
                <a:spcPct val="0"/>
              </a:spcBef>
            </a:pPr>
            <a:endParaRPr lang="en-US" altLang="en-US">
              <a:ea typeface="MS PGothic" charset="-128"/>
            </a:endParaRPr>
          </a:p>
          <a:p>
            <a:pPr eaLnBrk="1" hangingPunct="1">
              <a:spcBef>
                <a:spcPct val="0"/>
              </a:spcBef>
            </a:pPr>
            <a:r>
              <a:rPr lang="en-US" altLang="en-US">
                <a:ea typeface="MS PGothic" charset="-128"/>
              </a:rPr>
              <a:t>Let’s look closer at ANOVA as a linear regression model.</a:t>
            </a:r>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fld id="{F160231C-4637-6749-A845-7D6CDAD4436B}" type="slidenum">
              <a:rPr lang="en-US" altLang="en-US"/>
              <a:pPr/>
              <a:t>3</a:t>
            </a:fld>
            <a:endParaRPr lang="en-US" altLang="en-US"/>
          </a:p>
        </p:txBody>
      </p:sp>
    </p:spTree>
    <p:extLst>
      <p:ext uri="{BB962C8B-B14F-4D97-AF65-F5344CB8AC3E}">
        <p14:creationId xmlns:p14="http://schemas.microsoft.com/office/powerpoint/2010/main" val="361642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a:ea typeface="MS PGothic" charset="-128"/>
            </a:endParaRPr>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fld id="{E5D08161-6681-014A-9CA1-0BAF896A7FEF}" type="slidenum">
              <a:rPr lang="en-US" altLang="en-US"/>
              <a:pPr/>
              <a:t>4</a:t>
            </a:fld>
            <a:endParaRPr lang="en-US" altLang="en-US"/>
          </a:p>
        </p:txBody>
      </p:sp>
    </p:spTree>
    <p:extLst>
      <p:ext uri="{BB962C8B-B14F-4D97-AF65-F5344CB8AC3E}">
        <p14:creationId xmlns:p14="http://schemas.microsoft.com/office/powerpoint/2010/main" val="39232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a:ea typeface="MS PGothic" charset="-128"/>
            </a:endParaRP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fld id="{6309DB5F-D688-E642-A690-C52F6B6CD7FD}" type="slidenum">
              <a:rPr lang="en-US" altLang="en-US"/>
              <a:pPr/>
              <a:t>5</a:t>
            </a:fld>
            <a:endParaRPr lang="en-US" altLang="en-US"/>
          </a:p>
        </p:txBody>
      </p:sp>
    </p:spTree>
    <p:extLst>
      <p:ext uri="{BB962C8B-B14F-4D97-AF65-F5344CB8AC3E}">
        <p14:creationId xmlns:p14="http://schemas.microsoft.com/office/powerpoint/2010/main" val="401200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6302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443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33607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80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134F0668-60AC-E24C-8E50-B74DE0FA4F02}" type="slidenum">
              <a:rPr lang="en-US" altLang="en-US"/>
              <a:pPr>
                <a:defRPr/>
              </a:pPr>
              <a:t>‹#›</a:t>
            </a:fld>
            <a:endParaRPr lang="en-US" altLang="en-US"/>
          </a:p>
        </p:txBody>
      </p:sp>
    </p:spTree>
    <p:extLst>
      <p:ext uri="{BB962C8B-B14F-4D97-AF65-F5344CB8AC3E}">
        <p14:creationId xmlns:p14="http://schemas.microsoft.com/office/powerpoint/2010/main" val="265100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30626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82518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92907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67198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997524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8.xml"/><Relationship Id="rId7"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3.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13BCFA4D-1CC5-4243-98FC-591DF878C6E5}"/>
              </a:ext>
            </a:extLst>
          </p:cNvPr>
          <p:cNvPicPr>
            <a:picLocks noChangeAspect="1"/>
          </p:cNvPicPr>
          <p:nvPr userDrawn="1"/>
        </p:nvPicPr>
        <p:blipFill>
          <a:blip r:embed="rId7"/>
          <a:stretch>
            <a:fillRect/>
          </a:stretch>
        </p:blipFill>
        <p:spPr>
          <a:xfrm>
            <a:off x="0" y="0"/>
            <a:ext cx="9144000" cy="5143500"/>
          </a:xfrm>
          <a:prstGeom prst="rect">
            <a:avLst/>
          </a:prstGeom>
        </p:spPr>
      </p:pic>
    </p:spTree>
    <p:extLst>
      <p:ext uri="{BB962C8B-B14F-4D97-AF65-F5344CB8AC3E}">
        <p14:creationId xmlns:p14="http://schemas.microsoft.com/office/powerpoint/2010/main" val="23112462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xmlns=""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927365758"/>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7"/>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8"/>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9"/>
            <a:stretch>
              <a:fillRect/>
            </a:stretch>
          </p:blipFill>
          <p:spPr>
            <a:xfrm>
              <a:off x="0" y="0"/>
              <a:ext cx="3719590" cy="2933934"/>
            </a:xfrm>
            <a:prstGeom prst="rect">
              <a:avLst/>
            </a:prstGeom>
          </p:spPr>
        </p:pic>
      </p:grpSp>
    </p:spTree>
    <p:extLst>
      <p:ext uri="{BB962C8B-B14F-4D97-AF65-F5344CB8AC3E}">
        <p14:creationId xmlns:p14="http://schemas.microsoft.com/office/powerpoint/2010/main" val="304365610"/>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7956" y="228858"/>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6" name="Text Placeholder 2"/>
          <p:cNvSpPr>
            <a:spLocks noGrp="1"/>
          </p:cNvSpPr>
          <p:nvPr/>
        </p:nvSpPr>
        <p:spPr>
          <a:xfrm>
            <a:off x="117956" y="740369"/>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en-US" altLang="zh-CN" sz="2400" dirty="0"/>
              <a:t>Analysis of Variance</a:t>
            </a:r>
            <a:endParaRPr kumimoji="1" lang="zh-CN" altLang="en-US" sz="2400" dirty="0"/>
          </a:p>
        </p:txBody>
      </p:sp>
      <p:sp>
        <p:nvSpPr>
          <p:cNvPr id="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9" name="Text Placeholder 5"/>
          <p:cNvSpPr>
            <a:spLocks noGrp="1"/>
          </p:cNvSpPr>
          <p:nvPr/>
        </p:nvSpPr>
        <p:spPr>
          <a:xfrm>
            <a:off x="131208" y="4065247"/>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en-US" altLang="zh-CN" sz="2000" dirty="0">
                <a:latin typeface="Helvetica" panose="020B0604020202020204" pitchFamily="34" charset="0"/>
                <a:cs typeface="Helvetica" panose="020B0604020202020204" pitchFamily="34" charset="0"/>
              </a:rPr>
              <a:t>ANOVA</a:t>
            </a:r>
            <a:r>
              <a:rPr kumimoji="1" lang="zh-CN" altLang="en-US" sz="2000" dirty="0">
                <a:latin typeface="Helvetica" panose="020B0604020202020204" pitchFamily="34" charset="0"/>
                <a:cs typeface="Helvetica" panose="020B0604020202020204" pitchFamily="34" charset="0"/>
              </a:rPr>
              <a:t> </a:t>
            </a:r>
            <a:r>
              <a:rPr kumimoji="1" lang="en-US" altLang="zh-CN" sz="2000" dirty="0">
                <a:latin typeface="Helvetica" panose="020B0604020202020204" pitchFamily="34" charset="0"/>
                <a:cs typeface="Helvetica" panose="020B0604020202020204" pitchFamily="34" charset="0"/>
              </a:rPr>
              <a:t>vs Simple Linear Regression</a:t>
            </a:r>
          </a:p>
          <a:p>
            <a:endParaRPr lang="en-US" sz="2000" dirty="0">
              <a:latin typeface="Helvetica" panose="020B0604020202020204" pitchFamily="34" charset="0"/>
              <a:ea typeface="Vitesse" charset="0"/>
              <a:cs typeface="Helvetica" panose="020B0604020202020204" pitchFamily="34" charset="0"/>
            </a:endParaRPr>
          </a:p>
        </p:txBody>
      </p:sp>
      <p:sp>
        <p:nvSpPr>
          <p:cNvPr id="1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1693339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p:blipFill>
        <p:spPr>
          <a:xfrm>
            <a:off x="1237534" y="1285661"/>
            <a:ext cx="2069432" cy="2619446"/>
          </a:xfrm>
          <a:prstGeom prst="rect">
            <a:avLst/>
          </a:prstGeom>
        </p:spPr>
      </p:pic>
      <p:sp>
        <p:nvSpPr>
          <p:cNvPr id="2" name="Text Placeholder 1"/>
          <p:cNvSpPr>
            <a:spLocks noGrp="1"/>
          </p:cNvSpPr>
          <p:nvPr>
            <p:ph type="body" sz="quarter" idx="10"/>
          </p:nvPr>
        </p:nvSpPr>
        <p:spPr>
          <a:xfrm>
            <a:off x="150104" y="215820"/>
            <a:ext cx="4727575" cy="691949"/>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1499955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文本框 6"/>
              <p:cNvSpPr txBox="1"/>
              <p:nvPr/>
            </p:nvSpPr>
            <p:spPr>
              <a:xfrm>
                <a:off x="144322" y="2301889"/>
                <a:ext cx="6150462" cy="1266180"/>
              </a:xfrm>
              <a:prstGeom prst="rect">
                <a:avLst/>
              </a:prstGeom>
              <a:noFill/>
            </p:spPr>
            <p:txBody>
              <a:bodyPr wrap="square" rtlCol="0">
                <a:spAutoFit/>
              </a:bodyPr>
              <a:lstStyle/>
              <a:p>
                <a:r>
                  <a:rPr kumimoji="1" lang="en-US" altLang="zh-CN" b="1" dirty="0">
                    <a:latin typeface="Helvetica" panose="020B0604020202020204" pitchFamily="34" charset="0"/>
                    <a:ea typeface="Helvetica" charset="0"/>
                    <a:cs typeface="Helvetica" panose="020B0604020202020204" pitchFamily="34" charset="0"/>
                  </a:rPr>
                  <a:t>ANOVA</a:t>
                </a:r>
                <a:r>
                  <a:rPr kumimoji="1" lang="en-US" altLang="zh-CN" dirty="0">
                    <a:latin typeface="Helvetica" panose="020B0604020202020204" pitchFamily="34" charset="0"/>
                    <a:ea typeface="Helvetica" charset="0"/>
                    <a:cs typeface="Helvetica" panose="020B0604020202020204" pitchFamily="34" charset="0"/>
                  </a:rPr>
                  <a:t>:</a:t>
                </a:r>
              </a:p>
              <a:p>
                <a:pPr marL="3540125" indent="-3540125"/>
                <a:r>
                  <a:rPr kumimoji="1" lang="en-US" altLang="zh-CN" b="1" dirty="0">
                    <a:latin typeface="Helvetica" panose="020B0604020202020204" pitchFamily="34" charset="0"/>
                    <a:ea typeface="Helvetica" charset="0"/>
                    <a:cs typeface="Helvetica" panose="020B0604020202020204" pitchFamily="34" charset="0"/>
                  </a:rPr>
                  <a:t>Data</a:t>
                </a:r>
                <a:r>
                  <a:rPr kumimoji="1" lang="en-US" altLang="zh-CN" dirty="0">
                    <a:latin typeface="Helvetica" panose="020B0604020202020204" pitchFamily="34" charset="0"/>
                    <a:ea typeface="Helvetica" charset="0"/>
                    <a:cs typeface="Helvetica" panose="020B0604020202020204" pitchFamily="34" charset="0"/>
                  </a:rPr>
                  <a:t>:</a:t>
                </a:r>
                <a:r>
                  <a:rPr kumimoji="1" lang="zh-CN" altLang="en-US" dirty="0">
                    <a:latin typeface="Helvetica" panose="020B0604020202020204" pitchFamily="34" charset="0"/>
                    <a:ea typeface="Helvetica" charset="0"/>
                    <a:cs typeface="Helvetica" panose="020B0604020202020204" pitchFamily="34" charset="0"/>
                  </a:rPr>
                  <a:t> </a:t>
                </a:r>
                <a14:m>
                  <m:oMath xmlns:m="http://schemas.openxmlformats.org/officeDocument/2006/math">
                    <m:sSub>
                      <m:sSubPr>
                        <m:ctrlPr>
                          <a:rPr kumimoji="1" lang="en-US" altLang="zh-CN" i="1" smtClean="0">
                            <a:latin typeface="Cambria Math" panose="02040503050406030204" pitchFamily="18" charset="0"/>
                            <a:cs typeface="Helvetica" charset="0"/>
                          </a:rPr>
                        </m:ctrlPr>
                      </m:sSubPr>
                      <m:e>
                        <m:r>
                          <a:rPr kumimoji="1" lang="en-US" altLang="zh-CN" b="0" i="1" smtClean="0">
                            <a:latin typeface="Cambria Math" panose="02040503050406030204" pitchFamily="18" charset="0"/>
                            <a:cs typeface="Helvetica" charset="0"/>
                          </a:rPr>
                          <m:t>𝑌</m:t>
                        </m:r>
                      </m:e>
                      <m:sub>
                        <m:r>
                          <a:rPr kumimoji="1" lang="en-US" altLang="zh-CN" b="0" i="1" smtClean="0">
                            <a:latin typeface="Cambria Math" panose="02040503050406030204" pitchFamily="18" charset="0"/>
                            <a:cs typeface="Helvetica" charset="0"/>
                          </a:rPr>
                          <m:t>𝑖𝑗</m:t>
                        </m:r>
                      </m:sub>
                    </m:sSub>
                    <m:r>
                      <a:rPr kumimoji="1" lang="en-US" altLang="zh-CN" b="0" i="1" smtClean="0">
                        <a:latin typeface="Cambria Math" panose="02040503050406030204" pitchFamily="18" charset="0"/>
                        <a:cs typeface="Helvetica" charset="0"/>
                      </a:rPr>
                      <m:t> </m:t>
                    </m:r>
                    <m:r>
                      <m:rPr>
                        <m:sty m:val="p"/>
                      </m:rPr>
                      <a:rPr kumimoji="1" lang="en-US" altLang="zh-CN" b="0" i="0" smtClean="0">
                        <a:latin typeface="Cambria Math" panose="02040503050406030204" pitchFamily="18" charset="0"/>
                        <a:cs typeface="Helvetica" charset="0"/>
                      </a:rPr>
                      <m:t>for</m:t>
                    </m:r>
                    <m:r>
                      <a:rPr kumimoji="1" lang="en-US" altLang="zh-CN" b="0" i="1" smtClean="0">
                        <a:latin typeface="Cambria Math" panose="02040503050406030204" pitchFamily="18" charset="0"/>
                        <a:cs typeface="Helvetica" charset="0"/>
                      </a:rPr>
                      <m:t> </m:t>
                    </m:r>
                    <m:r>
                      <a:rPr kumimoji="1" lang="en-US" altLang="zh-CN" b="0" i="1" smtClean="0">
                        <a:latin typeface="Cambria Math" panose="02040503050406030204" pitchFamily="18" charset="0"/>
                        <a:cs typeface="Helvetica" charset="0"/>
                      </a:rPr>
                      <m:t>𝑗</m:t>
                    </m:r>
                    <m:r>
                      <a:rPr kumimoji="1" lang="en-US" altLang="zh-CN" b="0" i="1" smtClean="0">
                        <a:latin typeface="Cambria Math" panose="02040503050406030204" pitchFamily="18" charset="0"/>
                        <a:cs typeface="Helvetica" charset="0"/>
                      </a:rPr>
                      <m:t>=1,⋯, </m:t>
                    </m:r>
                    <m:r>
                      <m:rPr>
                        <m:sty m:val="p"/>
                      </m:rPr>
                      <a:rPr kumimoji="1" lang="en-US" altLang="zh-CN" b="0" i="0" smtClean="0">
                        <a:latin typeface="Cambria Math" panose="02040503050406030204" pitchFamily="18" charset="0"/>
                        <a:ea typeface="Cambria Math" panose="02040503050406030204" pitchFamily="18" charset="0"/>
                        <a:cs typeface="Helvetica" charset="0"/>
                      </a:rPr>
                      <m:t>n</m:t>
                    </m:r>
                    <m:r>
                      <a:rPr kumimoji="1" lang="en-US" altLang="zh-CN" b="0" i="1" smtClean="0">
                        <a:latin typeface="Cambria Math" panose="02040503050406030204" pitchFamily="18" charset="0"/>
                        <a:ea typeface="Cambria Math" panose="02040503050406030204" pitchFamily="18" charset="0"/>
                        <a:cs typeface="Helvetica" charset="0"/>
                      </a:rPr>
                      <m:t>; </m:t>
                    </m:r>
                    <m:r>
                      <a:rPr kumimoji="1" lang="en-US" altLang="zh-CN" b="0" i="1" smtClean="0">
                        <a:latin typeface="Cambria Math" panose="02040503050406030204" pitchFamily="18" charset="0"/>
                        <a:ea typeface="Cambria Math" panose="02040503050406030204" pitchFamily="18" charset="0"/>
                        <a:cs typeface="Helvetica" charset="0"/>
                      </a:rPr>
                      <m:t>𝑖</m:t>
                    </m:r>
                    <m:r>
                      <a:rPr kumimoji="1" lang="en-US" altLang="zh-CN" b="0" i="1" smtClean="0">
                        <a:latin typeface="Cambria Math" panose="02040503050406030204" pitchFamily="18" charset="0"/>
                        <a:ea typeface="Cambria Math" panose="02040503050406030204" pitchFamily="18" charset="0"/>
                        <a:cs typeface="Helvetica" charset="0"/>
                      </a:rPr>
                      <m:t>=1,⋯,</m:t>
                    </m:r>
                    <m:r>
                      <m:rPr>
                        <m:sty m:val="p"/>
                      </m:rPr>
                      <a:rPr kumimoji="1" lang="en-US" altLang="zh-CN" b="0" i="0" smtClean="0">
                        <a:latin typeface="Cambria Math" panose="02040503050406030204" pitchFamily="18" charset="0"/>
                        <a:ea typeface="Cambria Math" panose="02040503050406030204" pitchFamily="18" charset="0"/>
                        <a:cs typeface="Helvetica" charset="0"/>
                      </a:rPr>
                      <m:t>k</m:t>
                    </m:r>
                  </m:oMath>
                </a14:m>
                <a:endParaRPr kumimoji="1" lang="en-US" altLang="zh-CN" dirty="0">
                  <a:latin typeface="Helvetica" panose="020B0604020202020204" pitchFamily="34" charset="0"/>
                  <a:ea typeface="KishoreFont Medium" charset="0"/>
                  <a:cs typeface="Helvetica" panose="020B0604020202020204" pitchFamily="34" charset="0"/>
                </a:endParaRPr>
              </a:p>
              <a:p>
                <a:pPr marL="801688" indent="-801688"/>
                <a:r>
                  <a:rPr kumimoji="1" lang="en-US" altLang="zh-CN" b="1" dirty="0">
                    <a:latin typeface="Helvetica" panose="020B0604020202020204" pitchFamily="34" charset="0"/>
                    <a:ea typeface="Helvetica" charset="0"/>
                    <a:cs typeface="Helvetica" panose="020B0604020202020204" pitchFamily="34" charset="0"/>
                  </a:rPr>
                  <a:t>Model</a:t>
                </a:r>
                <a:r>
                  <a:rPr kumimoji="1" lang="en-US" altLang="zh-CN" dirty="0">
                    <a:latin typeface="Helvetica" panose="020B0604020202020204" pitchFamily="34" charset="0"/>
                    <a:ea typeface="Helvetica" charset="0"/>
                    <a:cs typeface="Helvetica" panose="020B0604020202020204" pitchFamily="34" charset="0"/>
                  </a:rPr>
                  <a:t>:</a:t>
                </a:r>
                <a:r>
                  <a:rPr kumimoji="1" lang="zh-CN" altLang="en-US" dirty="0">
                    <a:latin typeface="Helvetica" panose="020B0604020202020204" pitchFamily="34" charset="0"/>
                    <a:ea typeface="Helvetica" charset="0"/>
                    <a:cs typeface="Helvetica" panose="020B0604020202020204" pitchFamily="34" charset="0"/>
                  </a:rPr>
                  <a:t> </a:t>
                </a:r>
                <a14:m>
                  <m:oMath xmlns:m="http://schemas.openxmlformats.org/officeDocument/2006/math">
                    <m:sSub>
                      <m:sSubPr>
                        <m:ctrlPr>
                          <a:rPr kumimoji="1" lang="en-US" altLang="zh-CN" i="1">
                            <a:latin typeface="Cambria Math" panose="02040503050406030204" pitchFamily="18" charset="0"/>
                            <a:cs typeface="Helvetica" charset="0"/>
                          </a:rPr>
                        </m:ctrlPr>
                      </m:sSubPr>
                      <m:e>
                        <m:r>
                          <a:rPr kumimoji="1" lang="en-US" altLang="zh-CN" i="1">
                            <a:latin typeface="Cambria Math" panose="02040503050406030204" pitchFamily="18" charset="0"/>
                            <a:cs typeface="Helvetica" charset="0"/>
                          </a:rPr>
                          <m:t>𝑌</m:t>
                        </m:r>
                      </m:e>
                      <m:sub>
                        <m:r>
                          <a:rPr kumimoji="1" lang="en-US" altLang="zh-CN" i="1">
                            <a:latin typeface="Cambria Math" panose="02040503050406030204" pitchFamily="18" charset="0"/>
                            <a:cs typeface="Helvetica" charset="0"/>
                          </a:rPr>
                          <m:t>𝑖𝑗</m:t>
                        </m:r>
                      </m:sub>
                    </m:sSub>
                    <m:r>
                      <a:rPr kumimoji="1" lang="en-US" altLang="zh-CN" b="0" i="1" smtClean="0">
                        <a:latin typeface="Cambria Math" panose="02040503050406030204" pitchFamily="18" charset="0"/>
                        <a:cs typeface="Helvetica" charset="0"/>
                      </a:rPr>
                      <m:t>=</m:t>
                    </m:r>
                    <m:sSub>
                      <m:sSubPr>
                        <m:ctrlPr>
                          <a:rPr kumimoji="1" lang="en-US" altLang="zh-CN" b="0" i="1" smtClean="0">
                            <a:latin typeface="Cambria Math" panose="02040503050406030204" pitchFamily="18" charset="0"/>
                            <a:cs typeface="Helvetica" charset="0"/>
                          </a:rPr>
                        </m:ctrlPr>
                      </m:sSubPr>
                      <m:e>
                        <m:r>
                          <a:rPr kumimoji="1" lang="zh-CN" altLang="en-US" b="0" i="1" smtClean="0">
                            <a:latin typeface="Cambria Math" panose="02040503050406030204" pitchFamily="18" charset="0"/>
                            <a:cs typeface="Helvetica" charset="0"/>
                          </a:rPr>
                          <m:t>𝜇</m:t>
                        </m:r>
                      </m:e>
                      <m:sub>
                        <m:r>
                          <a:rPr kumimoji="1" lang="en-US" altLang="zh-CN" b="0" i="1" smtClean="0">
                            <a:latin typeface="Cambria Math" panose="02040503050406030204" pitchFamily="18" charset="0"/>
                            <a:cs typeface="Helvetica" charset="0"/>
                          </a:rPr>
                          <m:t>𝑖</m:t>
                        </m:r>
                      </m:sub>
                    </m:sSub>
                    <m:r>
                      <a:rPr kumimoji="1" lang="en-US" altLang="zh-CN" b="0" i="1" smtClean="0">
                        <a:latin typeface="Cambria Math" panose="02040503050406030204" pitchFamily="18" charset="0"/>
                        <a:cs typeface="Helvetica" charset="0"/>
                      </a:rPr>
                      <m:t>+</m:t>
                    </m:r>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ea typeface="Cambria Math" panose="02040503050406030204" pitchFamily="18" charset="0"/>
                            <a:cs typeface="Helvetica" charset="0"/>
                          </a:rPr>
                          <m:t>𝜀</m:t>
                        </m:r>
                      </m:e>
                      <m:sub>
                        <m:r>
                          <a:rPr lang="en-US" altLang="en-US" i="1">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𝑗</m:t>
                        </m:r>
                      </m:sub>
                    </m:sSub>
                    <m:r>
                      <a:rPr lang="en-US" altLang="en-US" b="0" i="1" smtClean="0">
                        <a:latin typeface="Cambria Math" panose="02040503050406030204" pitchFamily="18" charset="0"/>
                        <a:cs typeface="Helvetica" charset="0"/>
                      </a:rPr>
                      <m:t>=</m:t>
                    </m:r>
                    <m:r>
                      <a:rPr lang="en-US" altLang="en-US" b="0" i="1" smtClean="0">
                        <a:latin typeface="Cambria Math" panose="02040503050406030204" pitchFamily="18" charset="0"/>
                        <a:ea typeface="Cambria Math" panose="02040503050406030204" pitchFamily="18" charset="0"/>
                        <a:cs typeface="Helvetica" charset="0"/>
                      </a:rPr>
                      <m:t>𝜇</m:t>
                    </m:r>
                    <m:r>
                      <a:rPr lang="en-US" altLang="en-US" b="0" i="1" smtClean="0">
                        <a:latin typeface="Cambria Math" panose="02040503050406030204" pitchFamily="18" charset="0"/>
                        <a:ea typeface="Cambria Math" panose="02040503050406030204" pitchFamily="18" charset="0"/>
                        <a:cs typeface="Helvetica" charset="0"/>
                      </a:rPr>
                      <m:t>+</m:t>
                    </m:r>
                    <m:sSub>
                      <m:sSubPr>
                        <m:ctrlPr>
                          <a:rPr lang="en-US" altLang="en-US" b="0" i="1" smtClean="0">
                            <a:latin typeface="Cambria Math" panose="02040503050406030204" pitchFamily="18" charset="0"/>
                            <a:ea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𝜏</m:t>
                        </m:r>
                      </m:e>
                      <m:sub>
                        <m:r>
                          <a:rPr lang="en-US" altLang="en-US" b="0" i="1" smtClean="0">
                            <a:latin typeface="Cambria Math" panose="02040503050406030204" pitchFamily="18" charset="0"/>
                            <a:ea typeface="Cambria Math" panose="02040503050406030204" pitchFamily="18" charset="0"/>
                            <a:cs typeface="Helvetica" charset="0"/>
                          </a:rPr>
                          <m:t>𝑖</m:t>
                        </m:r>
                      </m:sub>
                    </m:sSub>
                    <m:r>
                      <a:rPr lang="en-US" altLang="en-US" b="0" i="1" smtClean="0">
                        <a:latin typeface="Cambria Math" panose="02040503050406030204" pitchFamily="18" charset="0"/>
                        <a:ea typeface="Cambria Math" panose="02040503050406030204" pitchFamily="18" charset="0"/>
                        <a:cs typeface="Helvetica" charset="0"/>
                      </a:rPr>
                      <m:t>+</m:t>
                    </m:r>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ea typeface="Cambria Math" panose="02040503050406030204" pitchFamily="18" charset="0"/>
                            <a:cs typeface="Helvetica" charset="0"/>
                          </a:rPr>
                          <m:t>𝜀</m:t>
                        </m:r>
                      </m:e>
                      <m:sub>
                        <m:r>
                          <a:rPr lang="en-US" altLang="en-US" i="1">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𝑗</m:t>
                        </m:r>
                      </m:sub>
                    </m:sSub>
                    <m:r>
                      <a:rPr lang="en-US" altLang="en-US" b="0" i="1" smtClean="0">
                        <a:latin typeface="Cambria Math" panose="02040503050406030204" pitchFamily="18" charset="0"/>
                        <a:cs typeface="Helvetica" charset="0"/>
                      </a:rPr>
                      <m:t> </m:t>
                    </m:r>
                    <m:r>
                      <m:rPr>
                        <m:sty m:val="p"/>
                      </m:rPr>
                      <a:rPr lang="en-US" altLang="en-US" b="0" i="0" smtClean="0">
                        <a:latin typeface="Cambria Math" panose="02040503050406030204" pitchFamily="18" charset="0"/>
                        <a:cs typeface="Helvetica" charset="0"/>
                      </a:rPr>
                      <m:t>where</m:t>
                    </m:r>
                    <m:r>
                      <a:rPr lang="en-US" altLang="en-US" b="0" i="1" smtClean="0">
                        <a:latin typeface="Cambria Math" panose="02040503050406030204" pitchFamily="18" charset="0"/>
                        <a:cs typeface="Helvetica" charset="0"/>
                      </a:rPr>
                      <m:t> </m:t>
                    </m:r>
                    <m:nary>
                      <m:naryPr>
                        <m:chr m:val="∑"/>
                        <m:ctrlPr>
                          <a:rPr lang="en-US" altLang="en-US" b="0" i="1" smtClean="0">
                            <a:latin typeface="Cambria Math" panose="02040503050406030204" pitchFamily="18" charset="0"/>
                            <a:cs typeface="Helvetica" charset="0"/>
                          </a:rPr>
                        </m:ctrlPr>
                      </m:naryPr>
                      <m:sub>
                        <m:r>
                          <m:rPr>
                            <m:brk m:alnAt="23"/>
                          </m:rPr>
                          <a:rPr lang="en-US" altLang="en-US" b="0" i="1" smtClean="0">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=1</m:t>
                        </m:r>
                      </m:sub>
                      <m:sup>
                        <m:r>
                          <a:rPr lang="en-US" altLang="en-US" b="0" i="1" smtClean="0">
                            <a:latin typeface="Cambria Math" panose="02040503050406030204" pitchFamily="18" charset="0"/>
                            <a:cs typeface="Helvetica" charset="0"/>
                          </a:rPr>
                          <m:t>𝑘</m:t>
                        </m:r>
                      </m:sup>
                      <m:e>
                        <m:sSub>
                          <m:sSubPr>
                            <m:ctrlPr>
                              <a:rPr lang="en-US" altLang="en-US" b="0" i="1" smtClean="0">
                                <a:latin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𝜏</m:t>
                            </m:r>
                          </m:e>
                          <m:sub>
                            <m:r>
                              <a:rPr lang="en-US" altLang="en-US" b="0" i="1" smtClean="0">
                                <a:latin typeface="Cambria Math" panose="02040503050406030204" pitchFamily="18" charset="0"/>
                                <a:cs typeface="Helvetica" charset="0"/>
                              </a:rPr>
                              <m:t>𝑖</m:t>
                            </m:r>
                          </m:sub>
                        </m:sSub>
                        <m:r>
                          <a:rPr lang="en-US" altLang="en-US" b="0" i="1" smtClean="0">
                            <a:latin typeface="Cambria Math" panose="02040503050406030204" pitchFamily="18" charset="0"/>
                            <a:cs typeface="Helvetica" charset="0"/>
                          </a:rPr>
                          <m:t>=0</m:t>
                        </m:r>
                      </m:e>
                    </m:nary>
                  </m:oMath>
                </a14:m>
                <a:r>
                  <a:rPr kumimoji="1" lang="en-US" altLang="zh-CN" dirty="0">
                    <a:latin typeface="Helvetica" panose="020B0604020202020204" pitchFamily="34" charset="0"/>
                    <a:ea typeface="KishoreFont Medium" charset="0"/>
                    <a:cs typeface="Helvetica" panose="020B0604020202020204" pitchFamily="34" charset="0"/>
                  </a:rPr>
                  <a:t> and </a:t>
                </a:r>
                <a14:m>
                  <m:oMath xmlns:m="http://schemas.openxmlformats.org/officeDocument/2006/math">
                    <m:sSub>
                      <m:sSubPr>
                        <m:ctrlPr>
                          <a:rPr kumimoji="1" lang="en-US" altLang="zh-CN" i="1">
                            <a:latin typeface="Cambria Math" panose="02040503050406030204" pitchFamily="18" charset="0"/>
                            <a:cs typeface="Helvetica" charset="0"/>
                          </a:rPr>
                        </m:ctrlPr>
                      </m:sSubPr>
                      <m:e>
                        <m:r>
                          <a:rPr kumimoji="1" lang="zh-CN" altLang="en-US" i="1">
                            <a:latin typeface="Cambria Math" panose="02040503050406030204" pitchFamily="18" charset="0"/>
                            <a:cs typeface="Helvetica" charset="0"/>
                          </a:rPr>
                          <m:t>𝜇</m:t>
                        </m:r>
                      </m:e>
                      <m:sub>
                        <m:r>
                          <a:rPr kumimoji="1" lang="en-US" altLang="zh-CN" i="1">
                            <a:latin typeface="Cambria Math" panose="02040503050406030204" pitchFamily="18" charset="0"/>
                            <a:cs typeface="Helvetica" charset="0"/>
                          </a:rPr>
                          <m:t>𝑖</m:t>
                        </m:r>
                      </m:sub>
                    </m:sSub>
                    <m:r>
                      <a:rPr kumimoji="1" lang="en-US" altLang="zh-CN" b="0" i="1" smtClean="0">
                        <a:latin typeface="Cambria Math" panose="02040503050406030204" pitchFamily="18" charset="0"/>
                        <a:cs typeface="Helvetica" charset="0"/>
                      </a:rPr>
                      <m:t>=</m:t>
                    </m:r>
                    <m:r>
                      <a:rPr kumimoji="1" lang="en-US" altLang="zh-CN" b="0" i="1" smtClean="0">
                        <a:latin typeface="Cambria Math" panose="02040503050406030204" pitchFamily="18" charset="0"/>
                        <a:cs typeface="Helvetica" charset="0"/>
                      </a:rPr>
                      <m:t>𝑖</m:t>
                    </m:r>
                  </m:oMath>
                </a14:m>
                <a:r>
                  <a:rPr kumimoji="1" lang="en-US" altLang="zh-CN" baseline="30000" dirty="0">
                    <a:latin typeface="Helvetica" panose="020B0604020202020204" pitchFamily="34" charset="0"/>
                    <a:ea typeface="KishoreFont Medium" charset="0"/>
                    <a:cs typeface="Helvetica" panose="020B0604020202020204" pitchFamily="34" charset="0"/>
                  </a:rPr>
                  <a:t>th</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group</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mean</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decomposed</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into</a:t>
                </a:r>
                <a:r>
                  <a:rPr kumimoji="1" lang="zh-CN" altLang="en-US" dirty="0">
                    <a:latin typeface="Helvetica" panose="020B0604020202020204" pitchFamily="34" charset="0"/>
                    <a:ea typeface="KishoreFont Medium" charset="0"/>
                    <a:cs typeface="Helvetica" panose="020B0604020202020204" pitchFamily="34" charset="0"/>
                  </a:rPr>
                  <a:t> </a:t>
                </a:r>
                <a14:m>
                  <m:oMath xmlns:m="http://schemas.openxmlformats.org/officeDocument/2006/math">
                    <m:sSub>
                      <m:sSubPr>
                        <m:ctrlPr>
                          <a:rPr kumimoji="1" lang="en-US" altLang="zh-CN" i="1">
                            <a:latin typeface="Cambria Math" panose="02040503050406030204" pitchFamily="18" charset="0"/>
                            <a:cs typeface="Helvetica" charset="0"/>
                          </a:rPr>
                        </m:ctrlPr>
                      </m:sSubPr>
                      <m:e>
                        <m:r>
                          <a:rPr kumimoji="1" lang="zh-CN" altLang="en-US" i="1">
                            <a:latin typeface="Cambria Math" panose="02040503050406030204" pitchFamily="18" charset="0"/>
                            <a:cs typeface="Helvetica" charset="0"/>
                          </a:rPr>
                          <m:t>𝜇</m:t>
                        </m:r>
                      </m:e>
                      <m:sub>
                        <m:r>
                          <a:rPr kumimoji="1" lang="en-US" altLang="zh-CN" i="1">
                            <a:latin typeface="Cambria Math" panose="02040503050406030204" pitchFamily="18" charset="0"/>
                            <a:cs typeface="Helvetica" charset="0"/>
                          </a:rPr>
                          <m:t>𝑖</m:t>
                        </m:r>
                      </m:sub>
                    </m:sSub>
                    <m:r>
                      <a:rPr kumimoji="1" lang="en-US" altLang="zh-CN" b="0" i="1" smtClean="0">
                        <a:latin typeface="Cambria Math" panose="02040503050406030204" pitchFamily="18" charset="0"/>
                        <a:cs typeface="Helvetica" charset="0"/>
                      </a:rPr>
                      <m:t>=</m:t>
                    </m:r>
                    <m:r>
                      <a:rPr kumimoji="1" lang="zh-CN" altLang="en-US" b="0" i="1" smtClean="0">
                        <a:latin typeface="Cambria Math" panose="02040503050406030204" pitchFamily="18" charset="0"/>
                        <a:cs typeface="Helvetica" charset="0"/>
                      </a:rPr>
                      <m:t>𝜇</m:t>
                    </m:r>
                    <m:r>
                      <a:rPr kumimoji="1" lang="en-US" altLang="zh-CN" b="0" i="1" smtClean="0">
                        <a:latin typeface="Cambria Math" panose="02040503050406030204" pitchFamily="18" charset="0"/>
                        <a:cs typeface="Helvetica" charset="0"/>
                      </a:rPr>
                      <m:t>+</m:t>
                    </m:r>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ea typeface="Cambria Math" panose="02040503050406030204" pitchFamily="18" charset="0"/>
                            <a:cs typeface="Helvetica" charset="0"/>
                          </a:rPr>
                          <m:t>𝜏</m:t>
                        </m:r>
                      </m:e>
                      <m:sub>
                        <m:r>
                          <a:rPr lang="en-US" altLang="en-US" i="1">
                            <a:latin typeface="Cambria Math" panose="02040503050406030204" pitchFamily="18" charset="0"/>
                            <a:cs typeface="Helvetica" charset="0"/>
                          </a:rPr>
                          <m:t>𝑖</m:t>
                        </m:r>
                      </m:sub>
                    </m:sSub>
                  </m:oMath>
                </a14:m>
                <a:endParaRPr kumimoji="1" lang="zh-CN" altLang="en-US" dirty="0">
                  <a:latin typeface="Helvetica" panose="020B0604020202020204" pitchFamily="34" charset="0"/>
                  <a:ea typeface="KishoreFont Medium" charset="0"/>
                  <a:cs typeface="Helvetica"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44322" y="2301889"/>
                <a:ext cx="6150462" cy="1266180"/>
              </a:xfrm>
              <a:prstGeom prst="rect">
                <a:avLst/>
              </a:prstGeom>
              <a:blipFill>
                <a:blip r:embed="rId3"/>
                <a:stretch>
                  <a:fillRect l="-892" t="-2899" b="-30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516" name="Text Box 3"/>
              <p:cNvSpPr txBox="1">
                <a:spLocks noChangeArrowheads="1"/>
              </p:cNvSpPr>
              <p:nvPr/>
            </p:nvSpPr>
            <p:spPr bwMode="auto">
              <a:xfrm>
                <a:off x="144320" y="1009203"/>
                <a:ext cx="4166541" cy="923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r>
                  <a:rPr lang="en-US" altLang="en-US" b="1" dirty="0">
                    <a:latin typeface="Helvetica" panose="020B0604020202020204" pitchFamily="34" charset="0"/>
                    <a:ea typeface="Helvetica" charset="0"/>
                    <a:cs typeface="Helvetica" panose="020B0604020202020204" pitchFamily="34" charset="0"/>
                  </a:rPr>
                  <a:t>Simple Linear Regression:</a:t>
                </a:r>
                <a:endParaRPr lang="en-US" altLang="en-US" b="1" dirty="0">
                  <a:latin typeface="Helvetica" panose="020B0604020202020204" pitchFamily="34" charset="0"/>
                  <a:ea typeface="Vitesse" charset="0"/>
                  <a:cs typeface="Helvetica" panose="020B0604020202020204" pitchFamily="34" charset="0"/>
                </a:endParaRPr>
              </a:p>
              <a:p>
                <a:pPr indent="-458787" eaLnBrk="1" hangingPunct="1"/>
                <a:r>
                  <a:rPr lang="en-US" altLang="en-US" b="1" dirty="0">
                    <a:latin typeface="Helvetica" panose="020B0604020202020204" pitchFamily="34" charset="0"/>
                    <a:ea typeface="Helvetica" charset="0"/>
                    <a:cs typeface="Helvetica" panose="020B0604020202020204" pitchFamily="34" charset="0"/>
                  </a:rPr>
                  <a:t>Data: </a:t>
                </a:r>
                <a:r>
                  <a:rPr lang="en-US" altLang="en-US" dirty="0">
                    <a:latin typeface="Helvetica" panose="020B0604020202020204" pitchFamily="34" charset="0"/>
                    <a:ea typeface="Cambria Math" panose="02040503050406030204" pitchFamily="18" charset="0"/>
                    <a:cs typeface="Helvetica" panose="020B0604020202020204" pitchFamily="34" charset="0"/>
                  </a:rPr>
                  <a:t>{(</a:t>
                </a:r>
                <a14:m>
                  <m:oMath xmlns:m="http://schemas.openxmlformats.org/officeDocument/2006/math">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cs typeface="Helvetica" charset="0"/>
                          </a:rPr>
                          <m:t>𝑥</m:t>
                        </m:r>
                      </m:e>
                      <m:sub>
                        <m:r>
                          <a:rPr lang="en-US" altLang="en-US" i="1">
                            <a:latin typeface="Cambria Math" panose="02040503050406030204" pitchFamily="18" charset="0"/>
                            <a:cs typeface="Helvetica" charset="0"/>
                          </a:rPr>
                          <m:t>𝑖</m:t>
                        </m:r>
                      </m:sub>
                    </m:sSub>
                  </m:oMath>
                </a14:m>
                <a:r>
                  <a:rPr lang="en-US" altLang="en-US" dirty="0">
                    <a:latin typeface="Helvetica" panose="020B0604020202020204" pitchFamily="34" charset="0"/>
                    <a:ea typeface="Cambria Math" panose="02040503050406030204" pitchFamily="18" charset="0"/>
                    <a:cs typeface="Helvetica" panose="020B0604020202020204" pitchFamily="34" charset="0"/>
                  </a:rPr>
                  <a:t>,</a:t>
                </a:r>
                <a:r>
                  <a:rPr lang="en-US" altLang="en-US" dirty="0">
                    <a:latin typeface="Helvetica" panose="020B0604020202020204" pitchFamily="34" charset="0"/>
                    <a:cs typeface="Helvetica" panose="020B0604020202020204" pitchFamily="34" charset="0"/>
                  </a:rPr>
                  <a:t> </a:t>
                </a:r>
                <a14:m>
                  <m:oMath xmlns:m="http://schemas.openxmlformats.org/officeDocument/2006/math">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cs typeface="Helvetica" charset="0"/>
                          </a:rPr>
                          <m:t>𝑦</m:t>
                        </m:r>
                      </m:e>
                      <m:sub>
                        <m:r>
                          <a:rPr lang="en-US" altLang="en-US" i="1">
                            <a:latin typeface="Cambria Math" panose="02040503050406030204" pitchFamily="18" charset="0"/>
                            <a:cs typeface="Helvetica" charset="0"/>
                          </a:rPr>
                          <m:t>𝑖</m:t>
                        </m:r>
                      </m:sub>
                    </m:sSub>
                  </m:oMath>
                </a14:m>
                <a:r>
                  <a:rPr lang="en-US" altLang="en-US" dirty="0">
                    <a:latin typeface="Helvetica" panose="020B0604020202020204" pitchFamily="34" charset="0"/>
                    <a:ea typeface="Cambria Math" panose="02040503050406030204" pitchFamily="18" charset="0"/>
                    <a:cs typeface="Helvetica" panose="020B0604020202020204" pitchFamily="34" charset="0"/>
                  </a:rPr>
                  <a:t>), </a:t>
                </a:r>
                <a:r>
                  <a:rPr lang="en-US" altLang="en-US" dirty="0">
                    <a:latin typeface="Helvetica" panose="020B0604020202020204" pitchFamily="34" charset="0"/>
                    <a:ea typeface="Cambria Math" panose="02040503050406030204" pitchFamily="18" charset="0"/>
                    <a:cs typeface="Helvetica" panose="020B0604020202020204" pitchFamily="34" charset="0"/>
                    <a:sym typeface="Symbol" panose="05050102010706020507" pitchFamily="18" charset="2"/>
                  </a:rPr>
                  <a:t> </a:t>
                </a:r>
                <a:r>
                  <a:rPr lang="en-US" altLang="en-US" dirty="0">
                    <a:latin typeface="Helvetica" panose="020B0604020202020204" pitchFamily="34" charset="0"/>
                    <a:ea typeface="Cambria Math" panose="02040503050406030204" pitchFamily="18" charset="0"/>
                    <a:cs typeface="Helvetica" panose="020B0604020202020204" pitchFamily="34" charset="0"/>
                  </a:rPr>
                  <a:t>,(</a:t>
                </a:r>
                <a14:m>
                  <m:oMath xmlns:m="http://schemas.openxmlformats.org/officeDocument/2006/math">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cs typeface="Helvetica" charset="0"/>
                          </a:rPr>
                          <m:t>𝑥</m:t>
                        </m:r>
                      </m:e>
                      <m:sub>
                        <m:r>
                          <m:rPr>
                            <m:sty m:val="p"/>
                          </m:rPr>
                          <a:rPr lang="en-US" altLang="en-US" b="0" i="0" smtClean="0">
                            <a:latin typeface="Cambria Math" panose="02040503050406030204" pitchFamily="18" charset="0"/>
                            <a:cs typeface="Helvetica" charset="0"/>
                          </a:rPr>
                          <m:t>n</m:t>
                        </m:r>
                      </m:sub>
                    </m:sSub>
                  </m:oMath>
                </a14:m>
                <a:r>
                  <a:rPr lang="en-US" altLang="en-US" dirty="0">
                    <a:latin typeface="Helvetica" panose="020B0604020202020204" pitchFamily="34" charset="0"/>
                    <a:ea typeface="Cambria Math" panose="02040503050406030204" pitchFamily="18" charset="0"/>
                    <a:cs typeface="Helvetica" panose="020B0604020202020204" pitchFamily="34" charset="0"/>
                  </a:rPr>
                  <a:t>,</a:t>
                </a:r>
                <a:r>
                  <a:rPr lang="en-US" altLang="en-US" dirty="0">
                    <a:latin typeface="Helvetica" panose="020B0604020202020204" pitchFamily="34" charset="0"/>
                    <a:cs typeface="Helvetica" panose="020B0604020202020204" pitchFamily="34" charset="0"/>
                  </a:rPr>
                  <a:t> </a:t>
                </a:r>
                <a14:m>
                  <m:oMath xmlns:m="http://schemas.openxmlformats.org/officeDocument/2006/math">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cs typeface="Helvetica" charset="0"/>
                          </a:rPr>
                          <m:t>𝑦</m:t>
                        </m:r>
                      </m:e>
                      <m:sub>
                        <m:r>
                          <m:rPr>
                            <m:sty m:val="p"/>
                          </m:rPr>
                          <a:rPr lang="en-US" altLang="en-US" b="0" i="0" smtClean="0">
                            <a:latin typeface="Cambria Math" panose="02040503050406030204" pitchFamily="18" charset="0"/>
                            <a:cs typeface="Helvetica" charset="0"/>
                          </a:rPr>
                          <m:t>n</m:t>
                        </m:r>
                      </m:sub>
                    </m:sSub>
                  </m:oMath>
                </a14:m>
                <a:r>
                  <a:rPr lang="en-US" altLang="en-US" dirty="0">
                    <a:latin typeface="Helvetica" panose="020B0604020202020204" pitchFamily="34" charset="0"/>
                    <a:ea typeface="Cambria Math" panose="02040503050406030204" pitchFamily="18" charset="0"/>
                    <a:cs typeface="Helvetica" panose="020B0604020202020204" pitchFamily="34" charset="0"/>
                  </a:rPr>
                  <a:t>)} </a:t>
                </a:r>
                <a:endParaRPr lang="en-US" altLang="en-US" dirty="0">
                  <a:latin typeface="Helvetica" panose="020B0604020202020204" pitchFamily="34" charset="0"/>
                  <a:ea typeface="KishoreFont Medium" charset="0"/>
                  <a:cs typeface="Helvetica" panose="020B0604020202020204" pitchFamily="34" charset="0"/>
                </a:endParaRPr>
              </a:p>
              <a:p>
                <a:pPr indent="-458787" eaLnBrk="1" hangingPunct="1"/>
                <a:r>
                  <a:rPr lang="en-US" altLang="en-US" b="1" dirty="0">
                    <a:latin typeface="Helvetica" panose="020B0604020202020204" pitchFamily="34" charset="0"/>
                    <a:ea typeface="Helvetica" charset="0"/>
                    <a:cs typeface="Helvetica" panose="020B0604020202020204" pitchFamily="34" charset="0"/>
                  </a:rPr>
                  <a:t>Model</a:t>
                </a:r>
                <a:r>
                  <a:rPr lang="en-US" altLang="en-US" dirty="0">
                    <a:latin typeface="Helvetica" panose="020B0604020202020204" pitchFamily="34" charset="0"/>
                    <a:ea typeface="Helvetica" charset="0"/>
                    <a:cs typeface="Helvetica" panose="020B0604020202020204" pitchFamily="34" charset="0"/>
                  </a:rPr>
                  <a:t>: </a:t>
                </a:r>
                <a14:m>
                  <m:oMath xmlns:m="http://schemas.openxmlformats.org/officeDocument/2006/math">
                    <m:sSub>
                      <m:sSubPr>
                        <m:ctrlPr>
                          <a:rPr lang="en-US" altLang="en-US" i="1" smtClean="0">
                            <a:latin typeface="Cambria Math" panose="02040503050406030204" pitchFamily="18" charset="0"/>
                            <a:cs typeface="Helvetica" charset="0"/>
                          </a:rPr>
                        </m:ctrlPr>
                      </m:sSubPr>
                      <m:e>
                        <m:r>
                          <a:rPr lang="en-US" altLang="en-US" b="0" i="1" smtClean="0">
                            <a:latin typeface="Cambria Math" panose="02040503050406030204" pitchFamily="18" charset="0"/>
                            <a:cs typeface="Helvetica" charset="0"/>
                          </a:rPr>
                          <m:t>𝑦</m:t>
                        </m:r>
                      </m:e>
                      <m:sub>
                        <m:r>
                          <a:rPr lang="en-US" altLang="en-US" b="0" i="1" smtClean="0">
                            <a:latin typeface="Cambria Math" panose="02040503050406030204" pitchFamily="18" charset="0"/>
                            <a:cs typeface="Helvetica" charset="0"/>
                          </a:rPr>
                          <m:t>𝑖</m:t>
                        </m:r>
                      </m:sub>
                    </m:sSub>
                    <m:r>
                      <a:rPr lang="en-US" altLang="en-US" b="0" i="1" smtClean="0">
                        <a:latin typeface="Cambria Math" panose="02040503050406030204" pitchFamily="18" charset="0"/>
                        <a:cs typeface="Helvetica" charset="0"/>
                      </a:rPr>
                      <m:t>=</m:t>
                    </m:r>
                    <m:sSub>
                      <m:sSubPr>
                        <m:ctrlPr>
                          <a:rPr lang="en-US" altLang="en-US" b="0" i="1" smtClean="0">
                            <a:latin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𝛽</m:t>
                        </m:r>
                      </m:e>
                      <m:sub>
                        <m:r>
                          <a:rPr lang="en-US" altLang="en-US" b="0" i="1" smtClean="0">
                            <a:latin typeface="Cambria Math" panose="02040503050406030204" pitchFamily="18" charset="0"/>
                            <a:cs typeface="Helvetica" charset="0"/>
                          </a:rPr>
                          <m:t>0</m:t>
                        </m:r>
                      </m:sub>
                    </m:sSub>
                    <m:r>
                      <a:rPr lang="en-US" altLang="en-US" b="0" i="1" smtClean="0">
                        <a:latin typeface="Cambria Math" panose="02040503050406030204" pitchFamily="18" charset="0"/>
                        <a:cs typeface="Helvetica" charset="0"/>
                      </a:rPr>
                      <m:t>+</m:t>
                    </m:r>
                    <m:sSub>
                      <m:sSubPr>
                        <m:ctrlPr>
                          <a:rPr lang="en-US" altLang="en-US" b="0" i="1" smtClean="0">
                            <a:latin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𝛽</m:t>
                        </m:r>
                      </m:e>
                      <m:sub>
                        <m:r>
                          <a:rPr lang="en-US" altLang="en-US" b="0" i="1" smtClean="0">
                            <a:latin typeface="Cambria Math" panose="02040503050406030204" pitchFamily="18" charset="0"/>
                            <a:cs typeface="Helvetica" charset="0"/>
                          </a:rPr>
                          <m:t>1</m:t>
                        </m:r>
                      </m:sub>
                    </m:sSub>
                    <m:sSub>
                      <m:sSubPr>
                        <m:ctrlPr>
                          <a:rPr lang="en-US" altLang="en-US" b="0" i="1" smtClean="0">
                            <a:latin typeface="Cambria Math" panose="02040503050406030204" pitchFamily="18" charset="0"/>
                            <a:cs typeface="Helvetica" charset="0"/>
                          </a:rPr>
                        </m:ctrlPr>
                      </m:sSubPr>
                      <m:e>
                        <m:r>
                          <a:rPr lang="en-US" altLang="en-US" b="0" i="1" smtClean="0">
                            <a:latin typeface="Cambria Math" panose="02040503050406030204" pitchFamily="18" charset="0"/>
                            <a:cs typeface="Helvetica" charset="0"/>
                          </a:rPr>
                          <m:t>𝑥</m:t>
                        </m:r>
                      </m:e>
                      <m:sub>
                        <m:r>
                          <a:rPr lang="en-US" altLang="en-US" b="0" i="1" smtClean="0">
                            <a:latin typeface="Cambria Math" panose="02040503050406030204" pitchFamily="18" charset="0"/>
                            <a:cs typeface="Helvetica" charset="0"/>
                          </a:rPr>
                          <m:t>𝑖</m:t>
                        </m:r>
                      </m:sub>
                    </m:sSub>
                    <m:r>
                      <a:rPr lang="en-US" altLang="en-US" b="0" i="1" smtClean="0">
                        <a:latin typeface="Cambria Math" panose="02040503050406030204" pitchFamily="18" charset="0"/>
                        <a:cs typeface="Helvetica" charset="0"/>
                      </a:rPr>
                      <m:t>+</m:t>
                    </m:r>
                    <m:sSub>
                      <m:sSubPr>
                        <m:ctrlPr>
                          <a:rPr lang="en-US" altLang="en-US" b="0" i="1" smtClean="0">
                            <a:latin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𝜀</m:t>
                        </m:r>
                      </m:e>
                      <m:sub>
                        <m:r>
                          <a:rPr lang="en-US" altLang="en-US" b="0" i="1" smtClean="0">
                            <a:latin typeface="Cambria Math" panose="02040503050406030204" pitchFamily="18" charset="0"/>
                            <a:cs typeface="Helvetica" charset="0"/>
                          </a:rPr>
                          <m:t>𝑖</m:t>
                        </m:r>
                      </m:sub>
                    </m:sSub>
                    <m:r>
                      <a:rPr lang="en-US" altLang="en-US" b="0" i="1" smtClean="0">
                        <a:latin typeface="Cambria Math" panose="02040503050406030204" pitchFamily="18" charset="0"/>
                        <a:cs typeface="Helvetica" charset="0"/>
                      </a:rPr>
                      <m:t>; </m:t>
                    </m:r>
                    <m:r>
                      <a:rPr lang="en-US" altLang="en-US" b="0" i="1" smtClean="0">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=1,⋯, </m:t>
                    </m:r>
                    <m:r>
                      <m:rPr>
                        <m:sty m:val="p"/>
                      </m:rPr>
                      <a:rPr lang="en-US" altLang="en-US" b="0" i="0" smtClean="0">
                        <a:latin typeface="Cambria Math" panose="02040503050406030204" pitchFamily="18" charset="0"/>
                        <a:ea typeface="Cambria Math" panose="02040503050406030204" pitchFamily="18" charset="0"/>
                        <a:cs typeface="Helvetica" charset="0"/>
                      </a:rPr>
                      <m:t>n</m:t>
                    </m:r>
                  </m:oMath>
                </a14:m>
                <a:endParaRPr lang="en-US" altLang="en-US" dirty="0">
                  <a:latin typeface="Helvetica" panose="020B0604020202020204" pitchFamily="34" charset="0"/>
                  <a:ea typeface="Cambria Math" panose="02040503050406030204" pitchFamily="18" charset="0"/>
                  <a:cs typeface="Helvetica" panose="020B0604020202020204" pitchFamily="34" charset="0"/>
                </a:endParaRPr>
              </a:p>
            </p:txBody>
          </p:sp>
        </mc:Choice>
        <mc:Fallback xmlns="">
          <p:sp>
            <p:nvSpPr>
              <p:cNvPr id="64516" name="Text Box 3"/>
              <p:cNvSpPr txBox="1">
                <a:spLocks noRot="1" noChangeAspect="1" noMove="1" noResize="1" noEditPoints="1" noAdjustHandles="1" noChangeArrowheads="1" noChangeShapeType="1" noTextEdit="1"/>
              </p:cNvSpPr>
              <p:nvPr/>
            </p:nvSpPr>
            <p:spPr bwMode="auto">
              <a:xfrm>
                <a:off x="144320" y="1009203"/>
                <a:ext cx="4166541" cy="923330"/>
              </a:xfrm>
              <a:prstGeom prst="rect">
                <a:avLst/>
              </a:prstGeom>
              <a:blipFill>
                <a:blip r:embed="rId4"/>
                <a:stretch>
                  <a:fillRect l="-1318" t="-3974" b="-99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 name="TextBox 5"/>
          <p:cNvSpPr txBox="1"/>
          <p:nvPr/>
        </p:nvSpPr>
        <p:spPr>
          <a:xfrm>
            <a:off x="5524501" y="1009203"/>
            <a:ext cx="3162334" cy="1200329"/>
          </a:xfrm>
          <a:prstGeom prst="rect">
            <a:avLst/>
          </a:prstGeom>
          <a:solidFill>
            <a:schemeClr val="bg1"/>
          </a:solidFill>
          <a:ln w="19050">
            <a:solidFill>
              <a:schemeClr val="tx2"/>
            </a:solidFill>
          </a:ln>
        </p:spPr>
        <p:txBody>
          <a:bodyPr wrap="square" rtlCol="0">
            <a:spAutoFit/>
          </a:bodyPr>
          <a:lstStyle>
            <a:defPPr>
              <a:defRPr lang="zh-CN"/>
            </a:defPPr>
            <a:lvl1pPr marL="0" defTabSz="685800" eaLnBrk="1" latinLnBrk="0" hangingPunct="1">
              <a:defRPr sz="1800" kern="100">
                <a:latin typeface="Helvetica Neue"/>
                <a:ea typeface="KishoreFont Medium" charset="0"/>
                <a:cs typeface="KishoreFont Medium" charset="0"/>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r>
              <a:rPr lang="en-US" b="1" dirty="0">
                <a:latin typeface="Helvetica" panose="020B0604020202020204" pitchFamily="34" charset="0"/>
                <a:cs typeface="Helvetica" panose="020B0604020202020204" pitchFamily="34" charset="0"/>
              </a:rPr>
              <a:t>ANOVA</a:t>
            </a:r>
            <a:r>
              <a:rPr lang="en-US" dirty="0">
                <a:latin typeface="Helvetica" panose="020B0604020202020204" pitchFamily="34" charset="0"/>
                <a:cs typeface="Helvetica" panose="020B0604020202020204" pitchFamily="34" charset="0"/>
              </a:rPr>
              <a:t>: A linear regression model where the predicting factor is a categorical variable.</a:t>
            </a:r>
          </a:p>
        </p:txBody>
      </p:sp>
      <p:sp>
        <p:nvSpPr>
          <p:cNvPr id="8" name="标题 1"/>
          <p:cNvSpPr txBox="1">
            <a:spLocks/>
          </p:cNvSpPr>
          <p:nvPr/>
        </p:nvSpPr>
        <p:spPr>
          <a:xfrm>
            <a:off x="147055" y="207962"/>
            <a:ext cx="8562392" cy="993775"/>
          </a:xfrm>
          <a:prstGeom prst="rect">
            <a:avLst/>
          </a:prstGeom>
        </p:spPr>
        <p:txBody>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r>
              <a:rPr kumimoji="1" lang="en-US" altLang="zh-CN" sz="3600" dirty="0">
                <a:latin typeface="Vitesse" charset="0"/>
                <a:ea typeface="Vitesse" charset="0"/>
                <a:cs typeface="Vitesse" charset="0"/>
              </a:rPr>
              <a:t>ANOVA &amp; Linear Regression</a:t>
            </a:r>
          </a:p>
        </p:txBody>
      </p:sp>
    </p:spTree>
    <p:extLst>
      <p:ext uri="{BB962C8B-B14F-4D97-AF65-F5344CB8AC3E}">
        <p14:creationId xmlns:p14="http://schemas.microsoft.com/office/powerpoint/2010/main" val="167431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055" y="207963"/>
            <a:ext cx="8562392" cy="686560"/>
          </a:xfrm>
        </p:spPr>
        <p:txBody>
          <a:bodyPr/>
          <a:lstStyle/>
          <a:p>
            <a:r>
              <a:rPr kumimoji="1" lang="en-US" altLang="zh-CN" sz="3600" dirty="0">
                <a:latin typeface="Vitesse" charset="0"/>
                <a:ea typeface="Vitesse" charset="0"/>
                <a:cs typeface="Vitesse" charset="0"/>
              </a:rPr>
              <a:t>ANOVA</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&amp;</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Linear</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Regression</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(cont’d)</a:t>
            </a:r>
            <a:endParaRPr kumimoji="1" lang="zh-CN" altLang="en-US" sz="3600" dirty="0">
              <a:latin typeface="Vitesse" charset="0"/>
              <a:ea typeface="Vitesse" charset="0"/>
              <a:cs typeface="Vitesse" charset="0"/>
            </a:endParaRPr>
          </a:p>
        </p:txBody>
      </p:sp>
      <mc:AlternateContent xmlns:mc="http://schemas.openxmlformats.org/markup-compatibility/2006" xmlns:a14="http://schemas.microsoft.com/office/drawing/2010/main">
        <mc:Choice Requires="a14">
          <p:sp>
            <p:nvSpPr>
              <p:cNvPr id="5" name="文本框 4"/>
              <p:cNvSpPr txBox="1"/>
              <p:nvPr/>
            </p:nvSpPr>
            <p:spPr>
              <a:xfrm>
                <a:off x="132503" y="2575303"/>
                <a:ext cx="7596251" cy="1847301"/>
              </a:xfrm>
              <a:prstGeom prst="rect">
                <a:avLst/>
              </a:prstGeom>
              <a:noFill/>
            </p:spPr>
            <p:txBody>
              <a:bodyPr wrap="square" rtlCol="0">
                <a:spAutoFit/>
              </a:bodyPr>
              <a:lstStyle/>
              <a:p>
                <a:r>
                  <a:rPr kumimoji="1" lang="en-US" altLang="zh-CN" dirty="0" smtClean="0">
                    <a:latin typeface="Helvetica" panose="020B0604020202020204" pitchFamily="34" charset="0"/>
                    <a:ea typeface="KishoreFont Medium" charset="0"/>
                    <a:cs typeface="Helvetica" panose="020B0604020202020204" pitchFamily="34" charset="0"/>
                  </a:rPr>
                  <a:t>Define Y to be the response variable </a:t>
                </a:r>
                <a:r>
                  <a:rPr kumimoji="1" lang="en-US" altLang="zh-CN" dirty="0">
                    <a:latin typeface="Helvetica" panose="020B0604020202020204" pitchFamily="34" charset="0"/>
                    <a:ea typeface="KishoreFont Medium" charset="0"/>
                    <a:cs typeface="Helvetica" panose="020B0604020202020204" pitchFamily="34" charset="0"/>
                  </a:rPr>
                  <a:t>(as a single column vector):</a:t>
                </a:r>
              </a:p>
              <a:p>
                <a:pPr marL="460375" indent="-460375"/>
                <a14:m>
                  <m:oMathPara xmlns:m="http://schemas.openxmlformats.org/officeDocument/2006/math">
                    <m:oMathParaPr>
                      <m:jc m:val="left"/>
                    </m:oMathParaPr>
                    <m:oMath xmlns:m="http://schemas.openxmlformats.org/officeDocument/2006/math">
                      <m:r>
                        <a:rPr kumimoji="1" lang="en-US" altLang="zh-CN" b="0" i="1" smtClean="0">
                          <a:latin typeface="Cambria Math" panose="02040503050406030204" pitchFamily="18" charset="0"/>
                          <a:ea typeface="KishoreFont Medium" charset="0"/>
                          <a:cs typeface="Helvetica" panose="020B0604020202020204" pitchFamily="34" charset="0"/>
                        </a:rPr>
                        <m:t>𝑌</m:t>
                      </m:r>
                      <m:r>
                        <a:rPr kumimoji="1" lang="en-US" altLang="zh-CN" b="0" i="1" smtClean="0">
                          <a:latin typeface="Cambria Math" panose="02040503050406030204" pitchFamily="18" charset="0"/>
                          <a:ea typeface="KishoreFont Medium" charset="0"/>
                          <a:cs typeface="Helvetica" panose="020B0604020202020204" pitchFamily="34" charset="0"/>
                        </a:rPr>
                        <m:t>=</m:t>
                      </m:r>
                      <m:d>
                        <m:dPr>
                          <m:ctrlPr>
                            <a:rPr kumimoji="1" lang="en-US" altLang="zh-CN" b="0" i="1" smtClean="0">
                              <a:latin typeface="Cambria Math" panose="02040503050406030204" pitchFamily="18" charset="0"/>
                              <a:cs typeface="Helvetica" panose="020B0604020202020204" pitchFamily="34" charset="0"/>
                            </a:rPr>
                          </m:ctrlPr>
                        </m:dPr>
                        <m:e>
                          <m:sSub>
                            <m:sSubPr>
                              <m:ctrlPr>
                                <a:rPr kumimoji="1" lang="en-US" altLang="zh-CN" i="1">
                                  <a:latin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cs typeface="Helvetica" panose="020B0604020202020204" pitchFamily="34" charset="0"/>
                                </a:rPr>
                                <m:t>𝑌</m:t>
                              </m:r>
                            </m:e>
                            <m:sub>
                              <m:r>
                                <a:rPr kumimoji="1" lang="en-US" altLang="zh-CN" i="1">
                                  <a:latin typeface="Cambria Math" panose="02040503050406030204" pitchFamily="18" charset="0"/>
                                  <a:cs typeface="Helvetica" panose="020B0604020202020204" pitchFamily="34" charset="0"/>
                                </a:rPr>
                                <m:t>11</m:t>
                              </m:r>
                            </m:sub>
                          </m:sSub>
                          <m:r>
                            <a:rPr kumimoji="1" lang="en-US" altLang="zh-CN" i="1">
                              <a:latin typeface="Cambria Math" panose="02040503050406030204" pitchFamily="18" charset="0"/>
                              <a:cs typeface="Helvetica" panose="020B0604020202020204" pitchFamily="34" charset="0"/>
                            </a:rPr>
                            <m:t>,</m:t>
                          </m:r>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ea typeface="Cambria Math" panose="02040503050406030204" pitchFamily="18" charset="0"/>
                                  <a:cs typeface="Helvetica" panose="020B0604020202020204" pitchFamily="34" charset="0"/>
                                </a:rPr>
                                <m:t>𝑌</m:t>
                              </m:r>
                            </m:e>
                            <m:sub>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a:latin typeface="Cambria Math" panose="02040503050406030204" pitchFamily="18" charset="0"/>
                                      <a:ea typeface="Cambria Math" panose="02040503050406030204" pitchFamily="18" charset="0"/>
                                      <a:cs typeface="Helvetica" panose="020B0604020202020204" pitchFamily="34" charset="0"/>
                                    </a:rPr>
                                    <m:t>1</m:t>
                                  </m:r>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n</m:t>
                                  </m:r>
                                </m:e>
                                <m:sub>
                                  <m:r>
                                    <a:rPr kumimoji="1" lang="en-US" altLang="zh-CN" i="1">
                                      <a:latin typeface="Cambria Math" panose="02040503050406030204" pitchFamily="18" charset="0"/>
                                      <a:ea typeface="Cambria Math" panose="02040503050406030204" pitchFamily="18" charset="0"/>
                                      <a:cs typeface="Helvetica" panose="020B0604020202020204" pitchFamily="34" charset="0"/>
                                    </a:rPr>
                                    <m:t>1</m:t>
                                  </m:r>
                                </m:sub>
                              </m:sSub>
                            </m:sub>
                          </m:sSub>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cs typeface="Helvetica" panose="020B0604020202020204" pitchFamily="34" charset="0"/>
                                </a:rPr>
                                <m:t>𝑌</m:t>
                              </m:r>
                            </m:e>
                            <m:sub>
                              <m:r>
                                <a:rPr kumimoji="1" lang="en-US" altLang="zh-CN" i="1">
                                  <a:latin typeface="Cambria Math" panose="02040503050406030204" pitchFamily="18" charset="0"/>
                                  <a:cs typeface="Helvetica" panose="020B0604020202020204" pitchFamily="34" charset="0"/>
                                </a:rPr>
                                <m:t>21</m:t>
                              </m:r>
                            </m:sub>
                          </m:sSub>
                          <m:r>
                            <a:rPr kumimoji="1" lang="en-US" altLang="zh-CN" i="1">
                              <a:latin typeface="Cambria Math" panose="02040503050406030204" pitchFamily="18" charset="0"/>
                              <a:cs typeface="Helvetica" panose="020B0604020202020204" pitchFamily="34" charset="0"/>
                            </a:rPr>
                            <m:t>,</m:t>
                          </m:r>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ea typeface="Cambria Math" panose="02040503050406030204" pitchFamily="18" charset="0"/>
                                  <a:cs typeface="Helvetica" panose="020B0604020202020204" pitchFamily="34" charset="0"/>
                                </a:rPr>
                                <m:t>𝑌</m:t>
                              </m:r>
                            </m:e>
                            <m:sub>
                              <m:r>
                                <a:rPr kumimoji="1" lang="en-US" altLang="zh-CN" i="1">
                                  <a:latin typeface="Cambria Math" panose="02040503050406030204" pitchFamily="18" charset="0"/>
                                  <a:ea typeface="Cambria Math" panose="02040503050406030204" pitchFamily="18" charset="0"/>
                                  <a:cs typeface="Helvetica" panose="020B0604020202020204" pitchFamily="34" charset="0"/>
                                </a:rPr>
                                <m:t>2</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n</m:t>
                                  </m:r>
                                </m:e>
                                <m:sub>
                                  <m:r>
                                    <a:rPr kumimoji="1" lang="en-US" altLang="zh-CN" i="1">
                                      <a:latin typeface="Cambria Math" panose="02040503050406030204" pitchFamily="18" charset="0"/>
                                      <a:ea typeface="Cambria Math" panose="02040503050406030204" pitchFamily="18" charset="0"/>
                                      <a:cs typeface="Helvetica" panose="020B0604020202020204" pitchFamily="34" charset="0"/>
                                    </a:rPr>
                                    <m:t>2</m:t>
                                  </m:r>
                                </m:sub>
                              </m:sSub>
                            </m:sub>
                          </m:sSub>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cs typeface="Helvetica" panose="020B0604020202020204" pitchFamily="34" charset="0"/>
                                </a:rPr>
                                <m:t>𝑌</m:t>
                              </m:r>
                            </m:e>
                            <m:sub>
                              <m:r>
                                <m:rPr>
                                  <m:sty m:val="p"/>
                                </m:rPr>
                                <a:rPr kumimoji="1" lang="en-US" altLang="zh-CN" i="0">
                                  <a:latin typeface="Cambria Math" panose="02040503050406030204" pitchFamily="18" charset="0"/>
                                  <a:cs typeface="Helvetica" panose="020B0604020202020204" pitchFamily="34" charset="0"/>
                                </a:rPr>
                                <m:t>k</m:t>
                              </m:r>
                              <m:r>
                                <a:rPr kumimoji="1" lang="en-US" altLang="zh-CN" i="1">
                                  <a:latin typeface="Cambria Math" panose="02040503050406030204" pitchFamily="18" charset="0"/>
                                  <a:cs typeface="Helvetica" panose="020B0604020202020204" pitchFamily="34" charset="0"/>
                                </a:rPr>
                                <m:t>1</m:t>
                              </m:r>
                            </m:sub>
                          </m:sSub>
                          <m:r>
                            <a:rPr kumimoji="1" lang="en-US" altLang="zh-CN" i="1">
                              <a:latin typeface="Cambria Math" panose="02040503050406030204" pitchFamily="18" charset="0"/>
                              <a:cs typeface="Helvetica" panose="020B0604020202020204" pitchFamily="34" charset="0"/>
                            </a:rPr>
                            <m:t>,</m:t>
                          </m:r>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ea typeface="Cambria Math" panose="02040503050406030204" pitchFamily="18" charset="0"/>
                                  <a:cs typeface="Helvetica" panose="020B0604020202020204" pitchFamily="34" charset="0"/>
                                </a:rPr>
                                <m:t>𝑌</m:t>
                              </m:r>
                            </m:e>
                            <m:sub>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k</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n</m:t>
                                  </m:r>
                                </m:e>
                                <m:sub>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k</m:t>
                                  </m:r>
                                </m:sub>
                              </m:sSub>
                            </m:sub>
                          </m:sSub>
                        </m:e>
                      </m:d>
                    </m:oMath>
                  </m:oMathPara>
                </a14:m>
                <a:endParaRPr kumimoji="1" lang="en-US" altLang="zh-CN" dirty="0">
                  <a:latin typeface="Helvetica" panose="020B0604020202020204" pitchFamily="34" charset="0"/>
                  <a:ea typeface="KishoreFont Medium" charset="0"/>
                  <a:cs typeface="Helvetica" panose="020B0604020202020204" pitchFamily="34" charset="0"/>
                </a:endParaRPr>
              </a:p>
              <a:p>
                <a:r>
                  <a:rPr kumimoji="1" lang="en-US" altLang="zh-CN" dirty="0" smtClean="0">
                    <a:latin typeface="Helvetica" panose="020B0604020202020204" pitchFamily="34" charset="0"/>
                    <a:ea typeface="KishoreFont Medium" charset="0"/>
                    <a:cs typeface="Helvetica" panose="020B0604020202020204" pitchFamily="34" charset="0"/>
                  </a:rPr>
                  <a:t>Define L to be the label/categorical variable </a:t>
                </a:r>
                <a:r>
                  <a:rPr kumimoji="1" lang="en-US" altLang="zh-CN" dirty="0">
                    <a:latin typeface="Helvetica" panose="020B0604020202020204" pitchFamily="34" charset="0"/>
                    <a:ea typeface="KishoreFont Medium" charset="0"/>
                    <a:cs typeface="Helvetica" panose="020B0604020202020204" pitchFamily="34" charset="0"/>
                  </a:rPr>
                  <a:t>(as a single column vector):</a:t>
                </a:r>
              </a:p>
              <a:p>
                <a:pPr marL="460375" indent="-460375"/>
                <a14:m>
                  <m:oMathPara xmlns:m="http://schemas.openxmlformats.org/officeDocument/2006/math">
                    <m:oMathParaPr>
                      <m:jc m:val="left"/>
                    </m:oMathParaPr>
                    <m:oMath xmlns:m="http://schemas.openxmlformats.org/officeDocument/2006/math">
                      <m:r>
                        <a:rPr kumimoji="1" lang="en-US" altLang="zh-CN" b="0" i="1" smtClean="0">
                          <a:latin typeface="Cambria Math" panose="02040503050406030204" pitchFamily="18" charset="0"/>
                          <a:ea typeface="KishoreFont Medium" charset="0"/>
                          <a:cs typeface="Helvetica" panose="020B0604020202020204" pitchFamily="34" charset="0"/>
                        </a:rPr>
                        <m:t>𝐿</m:t>
                      </m:r>
                      <m:r>
                        <a:rPr kumimoji="1" lang="en-US" altLang="zh-CN" i="1">
                          <a:latin typeface="Cambria Math" panose="02040503050406030204" pitchFamily="18" charset="0"/>
                          <a:ea typeface="KishoreFont Medium" charset="0"/>
                          <a:cs typeface="Helvetica" panose="020B0604020202020204" pitchFamily="34" charset="0"/>
                        </a:rPr>
                        <m:t>=</m:t>
                      </m:r>
                      <m:d>
                        <m:dPr>
                          <m:ctrlPr>
                            <a:rPr kumimoji="1" lang="en-US" altLang="zh-CN" i="1" smtClean="0">
                              <a:latin typeface="Cambria Math" panose="02040503050406030204" pitchFamily="18" charset="0"/>
                              <a:cs typeface="Helvetica" panose="020B0604020202020204" pitchFamily="34" charset="0"/>
                            </a:rPr>
                          </m:ctrlPr>
                        </m:dPr>
                        <m:e>
                          <m:sSub>
                            <m:sSubPr>
                              <m:ctrlPr>
                                <a:rPr kumimoji="1" lang="en-US" altLang="zh-CN" i="1">
                                  <a:latin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cs typeface="Helvetica" panose="020B0604020202020204" pitchFamily="34" charset="0"/>
                                </a:rPr>
                                <m:t>𝐿</m:t>
                              </m:r>
                            </m:e>
                            <m:sub>
                              <m:r>
                                <a:rPr kumimoji="1" lang="en-US" altLang="zh-CN" i="1">
                                  <a:latin typeface="Cambria Math" panose="02040503050406030204" pitchFamily="18" charset="0"/>
                                  <a:cs typeface="Helvetica" panose="020B0604020202020204" pitchFamily="34" charset="0"/>
                                </a:rPr>
                                <m:t>11</m:t>
                              </m:r>
                            </m:sub>
                          </m:sSub>
                          <m:r>
                            <a:rPr kumimoji="1" lang="en-US" altLang="zh-CN" i="1">
                              <a:latin typeface="Cambria Math" panose="02040503050406030204" pitchFamily="18" charset="0"/>
                              <a:cs typeface="Helvetica" panose="020B0604020202020204" pitchFamily="34" charset="0"/>
                            </a:rPr>
                            <m:t>,</m:t>
                          </m:r>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ea typeface="Cambria Math" panose="02040503050406030204" pitchFamily="18" charset="0"/>
                                  <a:cs typeface="Helvetica" panose="020B0604020202020204" pitchFamily="34" charset="0"/>
                                </a:rPr>
                                <m:t>𝐿</m:t>
                              </m:r>
                            </m:e>
                            <m:sub>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a:latin typeface="Cambria Math" panose="02040503050406030204" pitchFamily="18" charset="0"/>
                                      <a:ea typeface="Cambria Math" panose="02040503050406030204" pitchFamily="18" charset="0"/>
                                      <a:cs typeface="Helvetica" panose="020B0604020202020204" pitchFamily="34" charset="0"/>
                                    </a:rPr>
                                    <m:t>1</m:t>
                                  </m:r>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n</m:t>
                                  </m:r>
                                </m:e>
                                <m:sub>
                                  <m:r>
                                    <a:rPr kumimoji="1" lang="en-US" altLang="zh-CN" i="1">
                                      <a:latin typeface="Cambria Math" panose="02040503050406030204" pitchFamily="18" charset="0"/>
                                      <a:ea typeface="Cambria Math" panose="02040503050406030204" pitchFamily="18" charset="0"/>
                                      <a:cs typeface="Helvetica" panose="020B0604020202020204" pitchFamily="34" charset="0"/>
                                    </a:rPr>
                                    <m:t>1</m:t>
                                  </m:r>
                                </m:sub>
                              </m:sSub>
                            </m:sub>
                          </m:sSub>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cs typeface="Helvetica" panose="020B0604020202020204" pitchFamily="34" charset="0"/>
                                </a:rPr>
                                <m:t>𝐿</m:t>
                              </m:r>
                            </m:e>
                            <m:sub>
                              <m:r>
                                <a:rPr kumimoji="1" lang="en-US" altLang="zh-CN" i="1">
                                  <a:latin typeface="Cambria Math" panose="02040503050406030204" pitchFamily="18" charset="0"/>
                                  <a:cs typeface="Helvetica" panose="020B0604020202020204" pitchFamily="34" charset="0"/>
                                </a:rPr>
                                <m:t>21</m:t>
                              </m:r>
                            </m:sub>
                          </m:sSub>
                          <m:r>
                            <a:rPr kumimoji="1" lang="en-US" altLang="zh-CN" i="1">
                              <a:latin typeface="Cambria Math" panose="02040503050406030204" pitchFamily="18" charset="0"/>
                              <a:cs typeface="Helvetica" panose="020B0604020202020204" pitchFamily="34" charset="0"/>
                            </a:rPr>
                            <m:t>,</m:t>
                          </m:r>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ea typeface="Cambria Math" panose="02040503050406030204" pitchFamily="18" charset="0"/>
                                  <a:cs typeface="Helvetica" panose="020B0604020202020204" pitchFamily="34" charset="0"/>
                                </a:rPr>
                                <m:t>𝐿</m:t>
                              </m:r>
                            </m:e>
                            <m:sub>
                              <m:r>
                                <a:rPr kumimoji="1" lang="en-US" altLang="zh-CN" i="1">
                                  <a:latin typeface="Cambria Math" panose="02040503050406030204" pitchFamily="18" charset="0"/>
                                  <a:ea typeface="Cambria Math" panose="02040503050406030204" pitchFamily="18" charset="0"/>
                                  <a:cs typeface="Helvetica" panose="020B0604020202020204" pitchFamily="34" charset="0"/>
                                </a:rPr>
                                <m:t>2</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n</m:t>
                                  </m:r>
                                </m:e>
                                <m:sub>
                                  <m:r>
                                    <a:rPr kumimoji="1" lang="en-US" altLang="zh-CN" i="1">
                                      <a:latin typeface="Cambria Math" panose="02040503050406030204" pitchFamily="18" charset="0"/>
                                      <a:ea typeface="Cambria Math" panose="02040503050406030204" pitchFamily="18" charset="0"/>
                                      <a:cs typeface="Helvetica" panose="020B0604020202020204" pitchFamily="34" charset="0"/>
                                    </a:rPr>
                                    <m:t>2</m:t>
                                  </m:r>
                                </m:sub>
                              </m:sSub>
                            </m:sub>
                          </m:sSub>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cs typeface="Helvetica" panose="020B0604020202020204" pitchFamily="34" charset="0"/>
                                </a:rPr>
                                <m:t>𝐿</m:t>
                              </m:r>
                            </m:e>
                            <m:sub>
                              <m:r>
                                <m:rPr>
                                  <m:sty m:val="p"/>
                                </m:rPr>
                                <a:rPr kumimoji="1" lang="en-US" altLang="zh-CN" i="0">
                                  <a:latin typeface="Cambria Math" panose="02040503050406030204" pitchFamily="18" charset="0"/>
                                  <a:cs typeface="Helvetica" panose="020B0604020202020204" pitchFamily="34" charset="0"/>
                                </a:rPr>
                                <m:t>k</m:t>
                              </m:r>
                              <m:r>
                                <a:rPr kumimoji="1" lang="en-US" altLang="zh-CN" i="1">
                                  <a:latin typeface="Cambria Math" panose="02040503050406030204" pitchFamily="18" charset="0"/>
                                  <a:cs typeface="Helvetica" panose="020B0604020202020204" pitchFamily="34" charset="0"/>
                                </a:rPr>
                                <m:t>1</m:t>
                              </m:r>
                            </m:sub>
                          </m:sSub>
                          <m:r>
                            <a:rPr kumimoji="1" lang="en-US" altLang="zh-CN" i="1">
                              <a:latin typeface="Cambria Math" panose="02040503050406030204" pitchFamily="18" charset="0"/>
                              <a:cs typeface="Helvetica" panose="020B0604020202020204" pitchFamily="34" charset="0"/>
                            </a:rPr>
                            <m:t>,</m:t>
                          </m:r>
                          <m:r>
                            <a:rPr kumimoji="1" lang="en-US" altLang="zh-CN" i="1">
                              <a:latin typeface="Cambria Math" panose="02040503050406030204" pitchFamily="18" charset="0"/>
                              <a:ea typeface="Cambria Math" panose="02040503050406030204" pitchFamily="18" charset="0"/>
                              <a:cs typeface="Helvetica" panose="020B0604020202020204" pitchFamily="34" charset="0"/>
                            </a:rPr>
                            <m:t>⋯,</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a:rPr kumimoji="1" lang="en-US" altLang="zh-CN" i="1">
                                  <a:latin typeface="Cambria Math" panose="02040503050406030204" pitchFamily="18" charset="0"/>
                                  <a:ea typeface="Cambria Math" panose="02040503050406030204" pitchFamily="18" charset="0"/>
                                  <a:cs typeface="Helvetica" panose="020B0604020202020204" pitchFamily="34" charset="0"/>
                                </a:rPr>
                                <m:t>𝐿</m:t>
                              </m:r>
                            </m:e>
                            <m:sub>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k</m:t>
                              </m:r>
                              <m:sSub>
                                <m:sSubPr>
                                  <m:ctrlPr>
                                    <a:rPr kumimoji="1" lang="en-US" altLang="zh-CN" i="1">
                                      <a:latin typeface="Cambria Math" panose="02040503050406030204" pitchFamily="18" charset="0"/>
                                      <a:ea typeface="Cambria Math" panose="02040503050406030204" pitchFamily="18" charset="0"/>
                                      <a:cs typeface="Helvetica" panose="020B0604020202020204" pitchFamily="34" charset="0"/>
                                    </a:rPr>
                                  </m:ctrlPr>
                                </m:sSubPr>
                                <m:e>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n</m:t>
                                  </m:r>
                                </m:e>
                                <m:sub>
                                  <m:r>
                                    <m:rPr>
                                      <m:sty m:val="p"/>
                                    </m:rPr>
                                    <a:rPr kumimoji="1" lang="en-US" altLang="zh-CN">
                                      <a:latin typeface="Cambria Math" panose="02040503050406030204" pitchFamily="18" charset="0"/>
                                      <a:ea typeface="Cambria Math" panose="02040503050406030204" pitchFamily="18" charset="0"/>
                                      <a:cs typeface="Helvetica" panose="020B0604020202020204" pitchFamily="34" charset="0"/>
                                    </a:rPr>
                                    <m:t>k</m:t>
                                  </m:r>
                                </m:sub>
                              </m:sSub>
                            </m:sub>
                          </m:sSub>
                        </m:e>
                      </m:d>
                    </m:oMath>
                  </m:oMathPara>
                </a14:m>
                <a:endParaRPr kumimoji="1" lang="en-US" altLang="zh-CN" dirty="0">
                  <a:latin typeface="Helvetica" panose="020B0604020202020204" pitchFamily="34" charset="0"/>
                  <a:ea typeface="KishoreFont Medium" charset="0"/>
                  <a:cs typeface="Helvetica" panose="020B0604020202020204" pitchFamily="34" charset="0"/>
                </a:endParaRPr>
              </a:p>
              <a:p>
                <a:endParaRPr kumimoji="1" lang="en-US" altLang="zh-CN" dirty="0">
                  <a:latin typeface="Helvetica" panose="020B0604020202020204" pitchFamily="34" charset="0"/>
                  <a:ea typeface="KishoreFont Medium" charset="0"/>
                  <a:cs typeface="Helvetica" panose="020B0604020202020204" pitchFamily="34" charset="0"/>
                </a:endParaRPr>
              </a:p>
              <a:p>
                <a:r>
                  <a:rPr kumimoji="1" lang="en-US" altLang="zh-CN" b="1" dirty="0">
                    <a:latin typeface="Helvetica" panose="020B0604020202020204" pitchFamily="34" charset="0"/>
                    <a:ea typeface="Helvetica" charset="0"/>
                    <a:cs typeface="Helvetica" panose="020B0604020202020204" pitchFamily="34" charset="0"/>
                  </a:rPr>
                  <a:t>Linear</a:t>
                </a:r>
                <a:r>
                  <a:rPr kumimoji="1" lang="zh-CN" altLang="en-US" b="1" dirty="0">
                    <a:latin typeface="Helvetica" panose="020B0604020202020204" pitchFamily="34" charset="0"/>
                    <a:ea typeface="Helvetica" charset="0"/>
                    <a:cs typeface="Helvetica" panose="020B0604020202020204" pitchFamily="34" charset="0"/>
                  </a:rPr>
                  <a:t> </a:t>
                </a:r>
                <a:r>
                  <a:rPr kumimoji="1" lang="en-US" altLang="zh-CN" b="1" dirty="0">
                    <a:latin typeface="Helvetica" panose="020B0604020202020204" pitchFamily="34" charset="0"/>
                    <a:ea typeface="Helvetica" charset="0"/>
                    <a:cs typeface="Helvetica" panose="020B0604020202020204" pitchFamily="34" charset="0"/>
                  </a:rPr>
                  <a:t>Regression:</a:t>
                </a:r>
                <a:r>
                  <a:rPr kumimoji="1" lang="zh-CN" altLang="en-US" b="1" dirty="0">
                    <a:latin typeface="Helvetica" panose="020B0604020202020204" pitchFamily="34" charset="0"/>
                    <a:ea typeface="Helvetica" charset="0"/>
                    <a:cs typeface="Helvetica" panose="020B0604020202020204" pitchFamily="34" charset="0"/>
                  </a:rPr>
                  <a:t> </a:t>
                </a:r>
                <a:r>
                  <a:rPr kumimoji="1" lang="en-US" altLang="zh-CN" b="1" dirty="0">
                    <a:latin typeface="Helvetica" panose="020B0604020202020204" pitchFamily="34" charset="0"/>
                    <a:ea typeface="KishoreFont Medium" charset="0"/>
                    <a:cs typeface="Helvetica" panose="020B0604020202020204" pitchFamily="34" charset="0"/>
                  </a:rPr>
                  <a:t>Y ~ L</a:t>
                </a:r>
              </a:p>
            </p:txBody>
          </p:sp>
        </mc:Choice>
        <mc:Fallback xmlns="">
          <p:sp>
            <p:nvSpPr>
              <p:cNvPr id="5" name="文本框 4"/>
              <p:cNvSpPr txBox="1">
                <a:spLocks noRot="1" noChangeAspect="1" noMove="1" noResize="1" noEditPoints="1" noAdjustHandles="1" noChangeArrowheads="1" noChangeShapeType="1" noTextEdit="1"/>
              </p:cNvSpPr>
              <p:nvPr/>
            </p:nvSpPr>
            <p:spPr>
              <a:xfrm>
                <a:off x="132503" y="2575303"/>
                <a:ext cx="7596251" cy="1847301"/>
              </a:xfrm>
              <a:prstGeom prst="rect">
                <a:avLst/>
              </a:prstGeom>
              <a:blipFill>
                <a:blip r:embed="rId3"/>
                <a:stretch>
                  <a:fillRect l="-722" t="-1650" b="-46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62340" y="1009802"/>
                <a:ext cx="6150462" cy="1266180"/>
              </a:xfrm>
              <a:prstGeom prst="rect">
                <a:avLst/>
              </a:prstGeom>
              <a:noFill/>
            </p:spPr>
            <p:txBody>
              <a:bodyPr wrap="square" rtlCol="0">
                <a:spAutoFit/>
              </a:bodyPr>
              <a:lstStyle/>
              <a:p>
                <a:r>
                  <a:rPr kumimoji="1" lang="en-US" altLang="zh-CN" b="1" dirty="0">
                    <a:latin typeface="Helvetica" panose="020B0604020202020204" pitchFamily="34" charset="0"/>
                    <a:ea typeface="Helvetica" charset="0"/>
                    <a:cs typeface="Helvetica" panose="020B0604020202020204" pitchFamily="34" charset="0"/>
                  </a:rPr>
                  <a:t>ANOVA</a:t>
                </a:r>
                <a:r>
                  <a:rPr kumimoji="1" lang="en-US" altLang="zh-CN" dirty="0">
                    <a:latin typeface="Helvetica" panose="020B0604020202020204" pitchFamily="34" charset="0"/>
                    <a:ea typeface="Helvetica" charset="0"/>
                    <a:cs typeface="Helvetica" panose="020B0604020202020204" pitchFamily="34" charset="0"/>
                  </a:rPr>
                  <a:t>:</a:t>
                </a:r>
              </a:p>
              <a:p>
                <a:pPr marL="3540125" indent="-3540125"/>
                <a:r>
                  <a:rPr kumimoji="1" lang="en-US" altLang="zh-CN" b="1" dirty="0">
                    <a:latin typeface="Helvetica" panose="020B0604020202020204" pitchFamily="34" charset="0"/>
                    <a:ea typeface="Helvetica" charset="0"/>
                    <a:cs typeface="Helvetica" panose="020B0604020202020204" pitchFamily="34" charset="0"/>
                  </a:rPr>
                  <a:t>Data</a:t>
                </a:r>
                <a:r>
                  <a:rPr kumimoji="1" lang="en-US" altLang="zh-CN" dirty="0">
                    <a:latin typeface="Helvetica" panose="020B0604020202020204" pitchFamily="34" charset="0"/>
                    <a:ea typeface="Helvetica" charset="0"/>
                    <a:cs typeface="Helvetica" panose="020B0604020202020204" pitchFamily="34" charset="0"/>
                  </a:rPr>
                  <a:t>:</a:t>
                </a:r>
                <a:r>
                  <a:rPr kumimoji="1" lang="zh-CN" altLang="en-US" dirty="0">
                    <a:latin typeface="Helvetica" panose="020B0604020202020204" pitchFamily="34" charset="0"/>
                    <a:ea typeface="Helvetica" charset="0"/>
                    <a:cs typeface="Helvetica" panose="020B0604020202020204" pitchFamily="34" charset="0"/>
                  </a:rPr>
                  <a:t> </a:t>
                </a:r>
                <a14:m>
                  <m:oMath xmlns:m="http://schemas.openxmlformats.org/officeDocument/2006/math">
                    <m:sSub>
                      <m:sSubPr>
                        <m:ctrlPr>
                          <a:rPr kumimoji="1" lang="en-US" altLang="zh-CN" i="1" smtClean="0">
                            <a:latin typeface="Cambria Math" panose="02040503050406030204" pitchFamily="18" charset="0"/>
                            <a:cs typeface="Helvetica" charset="0"/>
                          </a:rPr>
                        </m:ctrlPr>
                      </m:sSubPr>
                      <m:e>
                        <m:r>
                          <a:rPr kumimoji="1" lang="en-US" altLang="zh-CN" b="0" i="1" smtClean="0">
                            <a:latin typeface="Cambria Math" panose="02040503050406030204" pitchFamily="18" charset="0"/>
                            <a:cs typeface="Helvetica" charset="0"/>
                          </a:rPr>
                          <m:t>𝑌</m:t>
                        </m:r>
                      </m:e>
                      <m:sub>
                        <m:r>
                          <a:rPr kumimoji="1" lang="en-US" altLang="zh-CN" b="0" i="1" smtClean="0">
                            <a:latin typeface="Cambria Math" panose="02040503050406030204" pitchFamily="18" charset="0"/>
                            <a:cs typeface="Helvetica" charset="0"/>
                          </a:rPr>
                          <m:t>𝑖𝑗</m:t>
                        </m:r>
                      </m:sub>
                    </m:sSub>
                    <m:r>
                      <a:rPr kumimoji="1" lang="en-US" altLang="zh-CN" b="0" i="1" smtClean="0">
                        <a:latin typeface="Cambria Math" panose="02040503050406030204" pitchFamily="18" charset="0"/>
                        <a:cs typeface="Helvetica" charset="0"/>
                      </a:rPr>
                      <m:t> </m:t>
                    </m:r>
                    <m:r>
                      <m:rPr>
                        <m:sty m:val="p"/>
                      </m:rPr>
                      <a:rPr kumimoji="1" lang="en-US" altLang="zh-CN" b="0" i="0" smtClean="0">
                        <a:latin typeface="Cambria Math" panose="02040503050406030204" pitchFamily="18" charset="0"/>
                        <a:cs typeface="Helvetica" charset="0"/>
                      </a:rPr>
                      <m:t>for</m:t>
                    </m:r>
                    <m:r>
                      <a:rPr kumimoji="1" lang="en-US" altLang="zh-CN" b="0" i="1" smtClean="0">
                        <a:latin typeface="Cambria Math" panose="02040503050406030204" pitchFamily="18" charset="0"/>
                        <a:cs typeface="Helvetica" charset="0"/>
                      </a:rPr>
                      <m:t> </m:t>
                    </m:r>
                    <m:r>
                      <a:rPr kumimoji="1" lang="en-US" altLang="zh-CN" b="0" i="1" smtClean="0">
                        <a:latin typeface="Cambria Math" panose="02040503050406030204" pitchFamily="18" charset="0"/>
                        <a:cs typeface="Helvetica" charset="0"/>
                      </a:rPr>
                      <m:t>𝑗</m:t>
                    </m:r>
                    <m:r>
                      <a:rPr kumimoji="1" lang="en-US" altLang="zh-CN" b="0" i="1" smtClean="0">
                        <a:latin typeface="Cambria Math" panose="02040503050406030204" pitchFamily="18" charset="0"/>
                        <a:cs typeface="Helvetica" charset="0"/>
                      </a:rPr>
                      <m:t>=1,⋯, </m:t>
                    </m:r>
                    <m:r>
                      <m:rPr>
                        <m:sty m:val="p"/>
                      </m:rPr>
                      <a:rPr kumimoji="1" lang="en-US" altLang="zh-CN" b="0" i="0" smtClean="0">
                        <a:latin typeface="Cambria Math" panose="02040503050406030204" pitchFamily="18" charset="0"/>
                        <a:ea typeface="Cambria Math" panose="02040503050406030204" pitchFamily="18" charset="0"/>
                        <a:cs typeface="Helvetica" charset="0"/>
                      </a:rPr>
                      <m:t>n</m:t>
                    </m:r>
                    <m:r>
                      <a:rPr kumimoji="1" lang="en-US" altLang="zh-CN" b="0" i="1" smtClean="0">
                        <a:latin typeface="Cambria Math" panose="02040503050406030204" pitchFamily="18" charset="0"/>
                        <a:ea typeface="Cambria Math" panose="02040503050406030204" pitchFamily="18" charset="0"/>
                        <a:cs typeface="Helvetica" charset="0"/>
                      </a:rPr>
                      <m:t>; </m:t>
                    </m:r>
                    <m:r>
                      <a:rPr kumimoji="1" lang="en-US" altLang="zh-CN" b="0" i="1" smtClean="0">
                        <a:latin typeface="Cambria Math" panose="02040503050406030204" pitchFamily="18" charset="0"/>
                        <a:ea typeface="Cambria Math" panose="02040503050406030204" pitchFamily="18" charset="0"/>
                        <a:cs typeface="Helvetica" charset="0"/>
                      </a:rPr>
                      <m:t>𝑖</m:t>
                    </m:r>
                    <m:r>
                      <a:rPr kumimoji="1" lang="en-US" altLang="zh-CN" b="0" i="1" smtClean="0">
                        <a:latin typeface="Cambria Math" panose="02040503050406030204" pitchFamily="18" charset="0"/>
                        <a:ea typeface="Cambria Math" panose="02040503050406030204" pitchFamily="18" charset="0"/>
                        <a:cs typeface="Helvetica" charset="0"/>
                      </a:rPr>
                      <m:t>=1,⋯,</m:t>
                    </m:r>
                    <m:r>
                      <m:rPr>
                        <m:sty m:val="p"/>
                      </m:rPr>
                      <a:rPr kumimoji="1" lang="en-US" altLang="zh-CN" b="0" i="0" smtClean="0">
                        <a:latin typeface="Cambria Math" panose="02040503050406030204" pitchFamily="18" charset="0"/>
                        <a:ea typeface="Cambria Math" panose="02040503050406030204" pitchFamily="18" charset="0"/>
                        <a:cs typeface="Helvetica" charset="0"/>
                      </a:rPr>
                      <m:t>k</m:t>
                    </m:r>
                  </m:oMath>
                </a14:m>
                <a:endParaRPr kumimoji="1" lang="en-US" altLang="zh-CN" dirty="0">
                  <a:latin typeface="Helvetica" panose="020B0604020202020204" pitchFamily="34" charset="0"/>
                  <a:ea typeface="KishoreFont Medium" charset="0"/>
                  <a:cs typeface="Helvetica" panose="020B0604020202020204" pitchFamily="34" charset="0"/>
                </a:endParaRPr>
              </a:p>
              <a:p>
                <a:pPr marL="801688" indent="-801688"/>
                <a:r>
                  <a:rPr kumimoji="1" lang="en-US" altLang="zh-CN" b="1" dirty="0">
                    <a:latin typeface="Helvetica" panose="020B0604020202020204" pitchFamily="34" charset="0"/>
                    <a:ea typeface="Helvetica" charset="0"/>
                    <a:cs typeface="Helvetica" panose="020B0604020202020204" pitchFamily="34" charset="0"/>
                  </a:rPr>
                  <a:t>Model</a:t>
                </a:r>
                <a:r>
                  <a:rPr kumimoji="1" lang="en-US" altLang="zh-CN" dirty="0">
                    <a:latin typeface="Helvetica" panose="020B0604020202020204" pitchFamily="34" charset="0"/>
                    <a:ea typeface="Helvetica" charset="0"/>
                    <a:cs typeface="Helvetica" panose="020B0604020202020204" pitchFamily="34" charset="0"/>
                  </a:rPr>
                  <a:t>:</a:t>
                </a:r>
                <a:r>
                  <a:rPr kumimoji="1" lang="zh-CN" altLang="en-US" dirty="0">
                    <a:latin typeface="Helvetica" panose="020B0604020202020204" pitchFamily="34" charset="0"/>
                    <a:ea typeface="Helvetica" charset="0"/>
                    <a:cs typeface="Helvetica" panose="020B0604020202020204" pitchFamily="34" charset="0"/>
                  </a:rPr>
                  <a:t> </a:t>
                </a:r>
                <a14:m>
                  <m:oMath xmlns:m="http://schemas.openxmlformats.org/officeDocument/2006/math">
                    <m:sSub>
                      <m:sSubPr>
                        <m:ctrlPr>
                          <a:rPr kumimoji="1" lang="en-US" altLang="zh-CN" i="1">
                            <a:latin typeface="Cambria Math" panose="02040503050406030204" pitchFamily="18" charset="0"/>
                            <a:cs typeface="Helvetica" charset="0"/>
                          </a:rPr>
                        </m:ctrlPr>
                      </m:sSubPr>
                      <m:e>
                        <m:r>
                          <a:rPr kumimoji="1" lang="en-US" altLang="zh-CN" i="1">
                            <a:latin typeface="Cambria Math" panose="02040503050406030204" pitchFamily="18" charset="0"/>
                            <a:cs typeface="Helvetica" charset="0"/>
                          </a:rPr>
                          <m:t>𝑌</m:t>
                        </m:r>
                      </m:e>
                      <m:sub>
                        <m:r>
                          <a:rPr kumimoji="1" lang="en-US" altLang="zh-CN" i="1">
                            <a:latin typeface="Cambria Math" panose="02040503050406030204" pitchFamily="18" charset="0"/>
                            <a:cs typeface="Helvetica" charset="0"/>
                          </a:rPr>
                          <m:t>𝑖𝑗</m:t>
                        </m:r>
                      </m:sub>
                    </m:sSub>
                    <m:r>
                      <a:rPr kumimoji="1" lang="en-US" altLang="zh-CN" b="0" i="1" smtClean="0">
                        <a:latin typeface="Cambria Math" panose="02040503050406030204" pitchFamily="18" charset="0"/>
                        <a:cs typeface="Helvetica" charset="0"/>
                      </a:rPr>
                      <m:t>=</m:t>
                    </m:r>
                    <m:sSub>
                      <m:sSubPr>
                        <m:ctrlPr>
                          <a:rPr kumimoji="1" lang="en-US" altLang="zh-CN" b="0" i="1" smtClean="0">
                            <a:latin typeface="Cambria Math" panose="02040503050406030204" pitchFamily="18" charset="0"/>
                            <a:cs typeface="Helvetica" charset="0"/>
                          </a:rPr>
                        </m:ctrlPr>
                      </m:sSubPr>
                      <m:e>
                        <m:r>
                          <a:rPr kumimoji="1" lang="zh-CN" altLang="en-US" b="0" i="1" smtClean="0">
                            <a:latin typeface="Cambria Math" panose="02040503050406030204" pitchFamily="18" charset="0"/>
                            <a:cs typeface="Helvetica" charset="0"/>
                          </a:rPr>
                          <m:t>𝜇</m:t>
                        </m:r>
                      </m:e>
                      <m:sub>
                        <m:r>
                          <a:rPr kumimoji="1" lang="en-US" altLang="zh-CN" b="0" i="1" smtClean="0">
                            <a:latin typeface="Cambria Math" panose="02040503050406030204" pitchFamily="18" charset="0"/>
                            <a:cs typeface="Helvetica" charset="0"/>
                          </a:rPr>
                          <m:t>𝑖</m:t>
                        </m:r>
                      </m:sub>
                    </m:sSub>
                    <m:r>
                      <a:rPr kumimoji="1" lang="en-US" altLang="zh-CN" b="0" i="1" smtClean="0">
                        <a:latin typeface="Cambria Math" panose="02040503050406030204" pitchFamily="18" charset="0"/>
                        <a:cs typeface="Helvetica" charset="0"/>
                      </a:rPr>
                      <m:t>+</m:t>
                    </m:r>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ea typeface="Cambria Math" panose="02040503050406030204" pitchFamily="18" charset="0"/>
                            <a:cs typeface="Helvetica" charset="0"/>
                          </a:rPr>
                          <m:t>𝜀</m:t>
                        </m:r>
                      </m:e>
                      <m:sub>
                        <m:r>
                          <a:rPr lang="en-US" altLang="en-US" i="1">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𝑗</m:t>
                        </m:r>
                      </m:sub>
                    </m:sSub>
                    <m:r>
                      <a:rPr lang="en-US" altLang="en-US" b="0" i="1" smtClean="0">
                        <a:latin typeface="Cambria Math" panose="02040503050406030204" pitchFamily="18" charset="0"/>
                        <a:cs typeface="Helvetica" charset="0"/>
                      </a:rPr>
                      <m:t>=</m:t>
                    </m:r>
                    <m:r>
                      <a:rPr lang="en-US" altLang="en-US" b="0" i="1" smtClean="0">
                        <a:latin typeface="Cambria Math" panose="02040503050406030204" pitchFamily="18" charset="0"/>
                        <a:ea typeface="Cambria Math" panose="02040503050406030204" pitchFamily="18" charset="0"/>
                        <a:cs typeface="Helvetica" charset="0"/>
                      </a:rPr>
                      <m:t>𝜇</m:t>
                    </m:r>
                    <m:r>
                      <a:rPr lang="en-US" altLang="en-US" b="0" i="1" smtClean="0">
                        <a:latin typeface="Cambria Math" panose="02040503050406030204" pitchFamily="18" charset="0"/>
                        <a:ea typeface="Cambria Math" panose="02040503050406030204" pitchFamily="18" charset="0"/>
                        <a:cs typeface="Helvetica" charset="0"/>
                      </a:rPr>
                      <m:t>+</m:t>
                    </m:r>
                    <m:sSub>
                      <m:sSubPr>
                        <m:ctrlPr>
                          <a:rPr lang="en-US" altLang="en-US" b="0" i="1" smtClean="0">
                            <a:latin typeface="Cambria Math" panose="02040503050406030204" pitchFamily="18" charset="0"/>
                            <a:ea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𝜏</m:t>
                        </m:r>
                      </m:e>
                      <m:sub>
                        <m:r>
                          <a:rPr lang="en-US" altLang="en-US" b="0" i="1" smtClean="0">
                            <a:latin typeface="Cambria Math" panose="02040503050406030204" pitchFamily="18" charset="0"/>
                            <a:ea typeface="Cambria Math" panose="02040503050406030204" pitchFamily="18" charset="0"/>
                            <a:cs typeface="Helvetica" charset="0"/>
                          </a:rPr>
                          <m:t>𝑖</m:t>
                        </m:r>
                      </m:sub>
                    </m:sSub>
                    <m:r>
                      <a:rPr lang="en-US" altLang="en-US" b="0" i="1" smtClean="0">
                        <a:latin typeface="Cambria Math" panose="02040503050406030204" pitchFamily="18" charset="0"/>
                        <a:ea typeface="Cambria Math" panose="02040503050406030204" pitchFamily="18" charset="0"/>
                        <a:cs typeface="Helvetica" charset="0"/>
                      </a:rPr>
                      <m:t>+</m:t>
                    </m:r>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ea typeface="Cambria Math" panose="02040503050406030204" pitchFamily="18" charset="0"/>
                            <a:cs typeface="Helvetica" charset="0"/>
                          </a:rPr>
                          <m:t>𝜀</m:t>
                        </m:r>
                      </m:e>
                      <m:sub>
                        <m:r>
                          <a:rPr lang="en-US" altLang="en-US" i="1">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𝑗</m:t>
                        </m:r>
                      </m:sub>
                    </m:sSub>
                    <m:r>
                      <a:rPr lang="en-US" altLang="en-US" b="0" i="1" smtClean="0">
                        <a:latin typeface="Cambria Math" panose="02040503050406030204" pitchFamily="18" charset="0"/>
                        <a:cs typeface="Helvetica" charset="0"/>
                      </a:rPr>
                      <m:t> </m:t>
                    </m:r>
                    <m:r>
                      <m:rPr>
                        <m:sty m:val="p"/>
                      </m:rPr>
                      <a:rPr lang="en-US" altLang="en-US" b="0" i="0" smtClean="0">
                        <a:latin typeface="Cambria Math" panose="02040503050406030204" pitchFamily="18" charset="0"/>
                        <a:cs typeface="Helvetica" charset="0"/>
                      </a:rPr>
                      <m:t>where</m:t>
                    </m:r>
                    <m:r>
                      <a:rPr lang="en-US" altLang="en-US" b="0" i="1" smtClean="0">
                        <a:latin typeface="Cambria Math" panose="02040503050406030204" pitchFamily="18" charset="0"/>
                        <a:cs typeface="Helvetica" charset="0"/>
                      </a:rPr>
                      <m:t> </m:t>
                    </m:r>
                    <m:nary>
                      <m:naryPr>
                        <m:chr m:val="∑"/>
                        <m:ctrlPr>
                          <a:rPr lang="en-US" altLang="en-US" b="0" i="1" smtClean="0">
                            <a:latin typeface="Cambria Math" panose="02040503050406030204" pitchFamily="18" charset="0"/>
                            <a:cs typeface="Helvetica" charset="0"/>
                          </a:rPr>
                        </m:ctrlPr>
                      </m:naryPr>
                      <m:sub>
                        <m:r>
                          <m:rPr>
                            <m:brk m:alnAt="23"/>
                          </m:rPr>
                          <a:rPr lang="en-US" altLang="en-US" b="0" i="1" smtClean="0">
                            <a:latin typeface="Cambria Math" panose="02040503050406030204" pitchFamily="18" charset="0"/>
                            <a:cs typeface="Helvetica" charset="0"/>
                          </a:rPr>
                          <m:t>𝑖</m:t>
                        </m:r>
                        <m:r>
                          <a:rPr lang="en-US" altLang="en-US" b="0" i="1" smtClean="0">
                            <a:latin typeface="Cambria Math" panose="02040503050406030204" pitchFamily="18" charset="0"/>
                            <a:cs typeface="Helvetica" charset="0"/>
                          </a:rPr>
                          <m:t>=1</m:t>
                        </m:r>
                      </m:sub>
                      <m:sup>
                        <m:r>
                          <a:rPr lang="en-US" altLang="en-US" b="0" i="1" smtClean="0">
                            <a:latin typeface="Cambria Math" panose="02040503050406030204" pitchFamily="18" charset="0"/>
                            <a:cs typeface="Helvetica" charset="0"/>
                          </a:rPr>
                          <m:t>𝑘</m:t>
                        </m:r>
                      </m:sup>
                      <m:e>
                        <m:sSub>
                          <m:sSubPr>
                            <m:ctrlPr>
                              <a:rPr lang="en-US" altLang="en-US" b="0" i="1" smtClean="0">
                                <a:latin typeface="Cambria Math" panose="02040503050406030204" pitchFamily="18" charset="0"/>
                                <a:cs typeface="Helvetica" charset="0"/>
                              </a:rPr>
                            </m:ctrlPr>
                          </m:sSubPr>
                          <m:e>
                            <m:r>
                              <a:rPr lang="en-US" altLang="en-US" b="0" i="1" smtClean="0">
                                <a:latin typeface="Cambria Math" panose="02040503050406030204" pitchFamily="18" charset="0"/>
                                <a:ea typeface="Cambria Math" panose="02040503050406030204" pitchFamily="18" charset="0"/>
                                <a:cs typeface="Helvetica" charset="0"/>
                              </a:rPr>
                              <m:t>𝜏</m:t>
                            </m:r>
                          </m:e>
                          <m:sub>
                            <m:r>
                              <a:rPr lang="en-US" altLang="en-US" b="0" i="1" smtClean="0">
                                <a:latin typeface="Cambria Math" panose="02040503050406030204" pitchFamily="18" charset="0"/>
                                <a:cs typeface="Helvetica" charset="0"/>
                              </a:rPr>
                              <m:t>𝑖</m:t>
                            </m:r>
                          </m:sub>
                        </m:sSub>
                        <m:r>
                          <a:rPr lang="en-US" altLang="en-US" b="0" i="1" smtClean="0">
                            <a:latin typeface="Cambria Math" panose="02040503050406030204" pitchFamily="18" charset="0"/>
                            <a:cs typeface="Helvetica" charset="0"/>
                          </a:rPr>
                          <m:t>=0</m:t>
                        </m:r>
                      </m:e>
                    </m:nary>
                  </m:oMath>
                </a14:m>
                <a:r>
                  <a:rPr kumimoji="1" lang="en-US" altLang="zh-CN" dirty="0">
                    <a:latin typeface="Helvetica" panose="020B0604020202020204" pitchFamily="34" charset="0"/>
                    <a:ea typeface="KishoreFont Medium" charset="0"/>
                    <a:cs typeface="Helvetica" panose="020B0604020202020204" pitchFamily="34" charset="0"/>
                  </a:rPr>
                  <a:t> and </a:t>
                </a:r>
                <a14:m>
                  <m:oMath xmlns:m="http://schemas.openxmlformats.org/officeDocument/2006/math">
                    <m:sSub>
                      <m:sSubPr>
                        <m:ctrlPr>
                          <a:rPr kumimoji="1" lang="en-US" altLang="zh-CN" i="1">
                            <a:latin typeface="Cambria Math" panose="02040503050406030204" pitchFamily="18" charset="0"/>
                            <a:cs typeface="Helvetica" charset="0"/>
                          </a:rPr>
                        </m:ctrlPr>
                      </m:sSubPr>
                      <m:e>
                        <m:r>
                          <a:rPr kumimoji="1" lang="zh-CN" altLang="en-US" i="1">
                            <a:latin typeface="Cambria Math" panose="02040503050406030204" pitchFamily="18" charset="0"/>
                            <a:cs typeface="Helvetica" charset="0"/>
                          </a:rPr>
                          <m:t>𝜇</m:t>
                        </m:r>
                      </m:e>
                      <m:sub>
                        <m:r>
                          <a:rPr kumimoji="1" lang="en-US" altLang="zh-CN" i="1">
                            <a:latin typeface="Cambria Math" panose="02040503050406030204" pitchFamily="18" charset="0"/>
                            <a:cs typeface="Helvetica" charset="0"/>
                          </a:rPr>
                          <m:t>𝑖</m:t>
                        </m:r>
                      </m:sub>
                    </m:sSub>
                    <m:r>
                      <a:rPr kumimoji="1" lang="en-US" altLang="zh-CN" b="0" i="1" smtClean="0">
                        <a:latin typeface="Cambria Math" panose="02040503050406030204" pitchFamily="18" charset="0"/>
                        <a:cs typeface="Helvetica" charset="0"/>
                      </a:rPr>
                      <m:t>=</m:t>
                    </m:r>
                    <m:r>
                      <a:rPr kumimoji="1" lang="en-US" altLang="zh-CN" b="0" i="1" smtClean="0">
                        <a:latin typeface="Cambria Math" panose="02040503050406030204" pitchFamily="18" charset="0"/>
                        <a:cs typeface="Helvetica" charset="0"/>
                      </a:rPr>
                      <m:t>𝑖</m:t>
                    </m:r>
                  </m:oMath>
                </a14:m>
                <a:r>
                  <a:rPr kumimoji="1" lang="en-US" altLang="zh-CN" baseline="30000" dirty="0">
                    <a:latin typeface="Helvetica" panose="020B0604020202020204" pitchFamily="34" charset="0"/>
                    <a:ea typeface="KishoreFont Medium" charset="0"/>
                    <a:cs typeface="Helvetica" panose="020B0604020202020204" pitchFamily="34" charset="0"/>
                  </a:rPr>
                  <a:t>th</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group</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mean</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decomposed</a:t>
                </a:r>
                <a:r>
                  <a:rPr kumimoji="1" lang="zh-CN" altLang="en-US" dirty="0">
                    <a:latin typeface="Helvetica" panose="020B0604020202020204" pitchFamily="34" charset="0"/>
                    <a:ea typeface="KishoreFont Medium" charset="0"/>
                    <a:cs typeface="Helvetica" panose="020B0604020202020204" pitchFamily="34" charset="0"/>
                  </a:rPr>
                  <a:t> </a:t>
                </a:r>
                <a:r>
                  <a:rPr kumimoji="1" lang="en-US" altLang="zh-CN" dirty="0">
                    <a:latin typeface="Helvetica" panose="020B0604020202020204" pitchFamily="34" charset="0"/>
                    <a:ea typeface="Cambria Math" panose="02040503050406030204" pitchFamily="18" charset="0"/>
                    <a:cs typeface="Helvetica" panose="020B0604020202020204" pitchFamily="34" charset="0"/>
                  </a:rPr>
                  <a:t>into</a:t>
                </a:r>
                <a:r>
                  <a:rPr kumimoji="1" lang="zh-CN" altLang="en-US" dirty="0">
                    <a:latin typeface="Helvetica" panose="020B0604020202020204" pitchFamily="34" charset="0"/>
                    <a:ea typeface="KishoreFont Medium" charset="0"/>
                    <a:cs typeface="Helvetica" panose="020B0604020202020204" pitchFamily="34" charset="0"/>
                  </a:rPr>
                  <a:t> </a:t>
                </a:r>
                <a14:m>
                  <m:oMath xmlns:m="http://schemas.openxmlformats.org/officeDocument/2006/math">
                    <m:sSub>
                      <m:sSubPr>
                        <m:ctrlPr>
                          <a:rPr kumimoji="1" lang="en-US" altLang="zh-CN" i="1">
                            <a:latin typeface="Cambria Math" panose="02040503050406030204" pitchFamily="18" charset="0"/>
                            <a:cs typeface="Helvetica" charset="0"/>
                          </a:rPr>
                        </m:ctrlPr>
                      </m:sSubPr>
                      <m:e>
                        <m:r>
                          <a:rPr kumimoji="1" lang="zh-CN" altLang="en-US" i="1">
                            <a:latin typeface="Cambria Math" panose="02040503050406030204" pitchFamily="18" charset="0"/>
                            <a:cs typeface="Helvetica" charset="0"/>
                          </a:rPr>
                          <m:t>𝜇</m:t>
                        </m:r>
                      </m:e>
                      <m:sub>
                        <m:r>
                          <a:rPr kumimoji="1" lang="en-US" altLang="zh-CN" i="1">
                            <a:latin typeface="Cambria Math" panose="02040503050406030204" pitchFamily="18" charset="0"/>
                            <a:cs typeface="Helvetica" charset="0"/>
                          </a:rPr>
                          <m:t>𝑖</m:t>
                        </m:r>
                      </m:sub>
                    </m:sSub>
                    <m:r>
                      <a:rPr kumimoji="1" lang="en-US" altLang="zh-CN" b="0" i="1" smtClean="0">
                        <a:latin typeface="Cambria Math" panose="02040503050406030204" pitchFamily="18" charset="0"/>
                        <a:cs typeface="Helvetica" charset="0"/>
                      </a:rPr>
                      <m:t>=</m:t>
                    </m:r>
                    <m:r>
                      <a:rPr kumimoji="1" lang="zh-CN" altLang="en-US" b="0" i="1" smtClean="0">
                        <a:latin typeface="Cambria Math" panose="02040503050406030204" pitchFamily="18" charset="0"/>
                        <a:cs typeface="Helvetica" charset="0"/>
                      </a:rPr>
                      <m:t>𝜇</m:t>
                    </m:r>
                    <m:r>
                      <a:rPr kumimoji="1" lang="en-US" altLang="zh-CN" b="0" i="1" smtClean="0">
                        <a:latin typeface="Cambria Math" panose="02040503050406030204" pitchFamily="18" charset="0"/>
                        <a:cs typeface="Helvetica" charset="0"/>
                      </a:rPr>
                      <m:t>+</m:t>
                    </m:r>
                    <m:sSub>
                      <m:sSubPr>
                        <m:ctrlPr>
                          <a:rPr lang="en-US" altLang="en-US" i="1">
                            <a:latin typeface="Cambria Math" panose="02040503050406030204" pitchFamily="18" charset="0"/>
                            <a:cs typeface="Helvetica" charset="0"/>
                          </a:rPr>
                        </m:ctrlPr>
                      </m:sSubPr>
                      <m:e>
                        <m:r>
                          <a:rPr lang="en-US" altLang="en-US" i="1">
                            <a:latin typeface="Cambria Math" panose="02040503050406030204" pitchFamily="18" charset="0"/>
                            <a:ea typeface="Cambria Math" panose="02040503050406030204" pitchFamily="18" charset="0"/>
                            <a:cs typeface="Helvetica" charset="0"/>
                          </a:rPr>
                          <m:t>𝜏</m:t>
                        </m:r>
                      </m:e>
                      <m:sub>
                        <m:r>
                          <a:rPr lang="en-US" altLang="en-US" i="1">
                            <a:latin typeface="Cambria Math" panose="02040503050406030204" pitchFamily="18" charset="0"/>
                            <a:cs typeface="Helvetica" charset="0"/>
                          </a:rPr>
                          <m:t>𝑖</m:t>
                        </m:r>
                      </m:sub>
                    </m:sSub>
                  </m:oMath>
                </a14:m>
                <a:endParaRPr kumimoji="1" lang="zh-CN" altLang="en-US" dirty="0">
                  <a:latin typeface="Helvetica" panose="020B0604020202020204" pitchFamily="34" charset="0"/>
                  <a:ea typeface="KishoreFont Medium" charset="0"/>
                  <a:cs typeface="Helvetica"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340" y="1009802"/>
                <a:ext cx="6150462" cy="1266180"/>
              </a:xfrm>
              <a:prstGeom prst="rect">
                <a:avLst/>
              </a:prstGeom>
              <a:blipFill>
                <a:blip r:embed="rId4"/>
                <a:stretch>
                  <a:fillRect l="-892" t="-2899" b="-30918"/>
                </a:stretch>
              </a:blipFill>
            </p:spPr>
            <p:txBody>
              <a:bodyPr/>
              <a:lstStyle/>
              <a:p>
                <a:r>
                  <a:rPr lang="en-US">
                    <a:noFill/>
                  </a:rPr>
                  <a:t> </a:t>
                </a:r>
              </a:p>
            </p:txBody>
          </p:sp>
        </mc:Fallback>
      </mc:AlternateContent>
    </p:spTree>
    <p:extLst>
      <p:ext uri="{BB962C8B-B14F-4D97-AF65-F5344CB8AC3E}">
        <p14:creationId xmlns:p14="http://schemas.microsoft.com/office/powerpoint/2010/main" val="237180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Box 3"/>
              <p:cNvSpPr txBox="1">
                <a:spLocks noChangeArrowheads="1"/>
              </p:cNvSpPr>
              <p:nvPr/>
            </p:nvSpPr>
            <p:spPr bwMode="auto">
              <a:xfrm>
                <a:off x="139355" y="1031733"/>
                <a:ext cx="8428175" cy="27699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r>
                  <a:rPr lang="en-US" altLang="en-US" sz="1600" b="1" dirty="0">
                    <a:latin typeface="Helvetica" charset="0"/>
                    <a:ea typeface="Helvetica" charset="0"/>
                    <a:cs typeface="Helvetica" charset="0"/>
                  </a:rPr>
                  <a:t>Categorical Variables in Linear Regression:</a:t>
                </a:r>
              </a:p>
              <a:p>
                <a:pPr marL="457200" indent="-457200" eaLnBrk="1" hangingPunct="1">
                  <a:spcAft>
                    <a:spcPts val="600"/>
                  </a:spcAft>
                  <a:buFont typeface="Arial" charset="0"/>
                  <a:buChar char="•"/>
                  <a:tabLst>
                    <a:tab pos="914400" algn="l"/>
                  </a:tabLst>
                </a:pPr>
                <a:r>
                  <a:rPr lang="en-US" altLang="en-US" sz="1600" dirty="0">
                    <a:latin typeface="Helvetica" panose="020B0604020202020204" pitchFamily="34" charset="0"/>
                    <a:ea typeface="Helvetica" charset="0"/>
                    <a:cs typeface="Helvetica" panose="020B0604020202020204" pitchFamily="34" charset="0"/>
                  </a:rPr>
                  <a:t>Transform categories into column vector dummy variables</a:t>
                </a:r>
                <a:br>
                  <a:rPr lang="en-US" altLang="en-US" sz="1600" dirty="0">
                    <a:latin typeface="Helvetica" panose="020B0604020202020204" pitchFamily="34" charset="0"/>
                    <a:ea typeface="Helvetica" charset="0"/>
                    <a:cs typeface="Helvetica" panose="020B0604020202020204" pitchFamily="34" charset="0"/>
                  </a:rPr>
                </a:br>
                <a:r>
                  <a:rPr lang="en-US" altLang="en-US" sz="1600" dirty="0">
                    <a:latin typeface="Helvetica" panose="020B0604020202020204" pitchFamily="34" charset="0"/>
                    <a:ea typeface="Helvetica" charset="0"/>
                    <a:cs typeface="Helvetica" panose="020B0604020202020204" pitchFamily="34" charset="0"/>
                  </a:rPr>
                  <a:t>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X</a:t>
                </a:r>
                <a:r>
                  <a:rPr lang="en-US" altLang="en-US" sz="1600" baseline="-25000" dirty="0">
                    <a:latin typeface="Cambria Math" panose="02040503050406030204" pitchFamily="18" charset="0"/>
                    <a:ea typeface="Cambria Math" panose="02040503050406030204" pitchFamily="18" charset="0"/>
                    <a:cs typeface="Helvetica" panose="020B0604020202020204" pitchFamily="34" charset="0"/>
                  </a:rPr>
                  <a:t>1</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(1,..,1,0,…,0);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X</a:t>
                </a:r>
                <a:r>
                  <a:rPr lang="en-US" altLang="en-US" sz="1600" baseline="-25000" dirty="0">
                    <a:latin typeface="Cambria Math" panose="02040503050406030204" pitchFamily="18" charset="0"/>
                    <a:ea typeface="Cambria Math" panose="02040503050406030204" pitchFamily="18" charset="0"/>
                    <a:cs typeface="Helvetica" panose="020B0604020202020204" pitchFamily="34" charset="0"/>
                  </a:rPr>
                  <a:t>2</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(0,…,0,1,..,1,0,…,0)</a:t>
                </a:r>
                <a:r>
                  <a:rPr lang="en-US" altLang="en-US" sz="1600" baseline="300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 ; </a:t>
                </a:r>
                <a:r>
                  <a:rPr lang="en-US" altLang="en-US" sz="1600" i="1" dirty="0" err="1">
                    <a:latin typeface="Cambria Math" panose="02040503050406030204" pitchFamily="18" charset="0"/>
                    <a:ea typeface="Cambria Math" panose="02040503050406030204" pitchFamily="18" charset="0"/>
                    <a:cs typeface="Helvetica" panose="020B0604020202020204" pitchFamily="34" charset="0"/>
                  </a:rPr>
                  <a:t>X</a:t>
                </a:r>
                <a:r>
                  <a:rPr lang="en-US" altLang="en-US" sz="1600" baseline="-25000" dirty="0" err="1">
                    <a:latin typeface="Cambria Math" panose="02040503050406030204" pitchFamily="18" charset="0"/>
                    <a:ea typeface="Cambria Math" panose="02040503050406030204" pitchFamily="18" charset="0"/>
                    <a:cs typeface="Helvetica" panose="020B0604020202020204" pitchFamily="34" charset="0"/>
                  </a:rPr>
                  <a:t>k</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(0 ,…,0,1,..,1)</a:t>
                </a:r>
                <a:r>
                  <a:rPr lang="en-US" altLang="en-US" sz="1600" baseline="300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dirty="0">
                    <a:latin typeface="Helvetica" panose="020B0604020202020204" pitchFamily="34" charset="0"/>
                    <a:ea typeface="KishoreFont Medium" charset="0"/>
                    <a:cs typeface="Helvetica" panose="020B0604020202020204" pitchFamily="34" charset="0"/>
                  </a:rPr>
                  <a:t/>
                </a:r>
                <a:br>
                  <a:rPr lang="en-US" altLang="en-US" sz="1600" dirty="0">
                    <a:latin typeface="Helvetica" panose="020B0604020202020204" pitchFamily="34" charset="0"/>
                    <a:ea typeface="KishoreFont Medium" charset="0"/>
                    <a:cs typeface="Helvetica" panose="020B0604020202020204" pitchFamily="34" charset="0"/>
                  </a:rPr>
                </a:br>
                <a:r>
                  <a:rPr lang="en-US" altLang="en-US" sz="1600" dirty="0">
                    <a:latin typeface="Helvetica" panose="020B0604020202020204" pitchFamily="34" charset="0"/>
                    <a:ea typeface="KishoreFont Medium" charset="0"/>
                    <a:cs typeface="Helvetica" panose="020B0604020202020204" pitchFamily="34" charset="0"/>
                  </a:rPr>
                  <a:t>Each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X</a:t>
                </a:r>
                <a:r>
                  <a:rPr lang="en-US" altLang="en-US" sz="1600" i="1" baseline="-25000" dirty="0">
                    <a:latin typeface="Cambria Math" panose="02040503050406030204" pitchFamily="18" charset="0"/>
                    <a:ea typeface="Cambria Math" panose="02040503050406030204" pitchFamily="18" charset="0"/>
                    <a:cs typeface="Helvetica" panose="020B0604020202020204" pitchFamily="34" charset="0"/>
                  </a:rPr>
                  <a:t>i</a:t>
                </a:r>
                <a:r>
                  <a:rPr lang="en-US" altLang="en-US" sz="1600" dirty="0">
                    <a:latin typeface="Helvetica" panose="020B0604020202020204" pitchFamily="34" charset="0"/>
                    <a:ea typeface="KishoreFont Medium" charset="0"/>
                    <a:cs typeface="Helvetica" panose="020B0604020202020204" pitchFamily="34" charset="0"/>
                  </a:rPr>
                  <a:t> has length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N</a:t>
                </a:r>
                <a:r>
                  <a:rPr lang="en-US" altLang="en-US" sz="1600" dirty="0">
                    <a:latin typeface="Helvetica" panose="020B0604020202020204" pitchFamily="34" charset="0"/>
                    <a:ea typeface="KishoreFont Medium" charset="0"/>
                    <a:cs typeface="Helvetica" panose="020B0604020202020204" pitchFamily="34" charset="0"/>
                  </a:rPr>
                  <a:t> where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N = n</a:t>
                </a:r>
                <a:r>
                  <a:rPr lang="en-US" altLang="en-US" sz="1600" baseline="-25000" dirty="0">
                    <a:latin typeface="Cambria Math" panose="02040503050406030204" pitchFamily="18" charset="0"/>
                    <a:ea typeface="Cambria Math" panose="02040503050406030204" pitchFamily="18" charset="0"/>
                    <a:cs typeface="Helvetica" panose="020B0604020202020204" pitchFamily="34" charset="0"/>
                  </a:rPr>
                  <a:t>1</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n</a:t>
                </a:r>
                <a:r>
                  <a:rPr lang="en-US" altLang="en-US" sz="1600" baseline="-25000" dirty="0">
                    <a:latin typeface="Cambria Math" panose="02040503050406030204" pitchFamily="18" charset="0"/>
                    <a:ea typeface="Cambria Math" panose="02040503050406030204" pitchFamily="18" charset="0"/>
                    <a:cs typeface="Helvetica" panose="020B0604020202020204" pitchFamily="34" charset="0"/>
                  </a:rPr>
                  <a:t>2</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 +</a:t>
                </a:r>
                <a:r>
                  <a:rPr lang="en-US" altLang="en-US" sz="1600" dirty="0" err="1">
                    <a:latin typeface="Cambria Math" panose="02040503050406030204" pitchFamily="18" charset="0"/>
                    <a:ea typeface="Cambria Math" panose="02040503050406030204" pitchFamily="18" charset="0"/>
                    <a:cs typeface="Helvetica" panose="020B0604020202020204" pitchFamily="34" charset="0"/>
                  </a:rPr>
                  <a:t>n</a:t>
                </a:r>
                <a:r>
                  <a:rPr lang="en-US" altLang="en-US" sz="1600" baseline="-25000" dirty="0" err="1">
                    <a:latin typeface="Cambria Math" panose="02040503050406030204" pitchFamily="18" charset="0"/>
                    <a:ea typeface="Cambria Math" panose="02040503050406030204" pitchFamily="18" charset="0"/>
                    <a:cs typeface="Helvetica" panose="020B0604020202020204" pitchFamily="34" charset="0"/>
                  </a:rPr>
                  <a:t>k</a:t>
                </a:r>
                <a:r>
                  <a:rPr lang="en-US" altLang="en-US" sz="1600" dirty="0">
                    <a:latin typeface="Helvetica" panose="020B0604020202020204" pitchFamily="34" charset="0"/>
                    <a:ea typeface="KishoreFont Medium" charset="0"/>
                    <a:cs typeface="Helvetica" panose="020B0604020202020204" pitchFamily="34" charset="0"/>
                  </a:rPr>
                  <a:t>. Each 1 indicates a Y value with the corresponding L </a:t>
                </a:r>
                <a:r>
                  <a:rPr lang="en-US" altLang="en-US" sz="1600" dirty="0" err="1">
                    <a:latin typeface="Helvetica" panose="020B0604020202020204" pitchFamily="34" charset="0"/>
                    <a:ea typeface="KishoreFont Medium" charset="0"/>
                    <a:cs typeface="Helvetica" panose="020B0604020202020204" pitchFamily="34" charset="0"/>
                  </a:rPr>
                  <a:t>label.a</a:t>
                </a:r>
                <a:endParaRPr lang="en-US" altLang="en-US" sz="800" dirty="0">
                  <a:latin typeface="Helvetica" panose="020B0604020202020204" pitchFamily="34" charset="0"/>
                  <a:ea typeface="Helvetica Neue" charset="0"/>
                  <a:cs typeface="Helvetica" panose="020B0604020202020204" pitchFamily="34" charset="0"/>
                </a:endParaRPr>
              </a:p>
              <a:p>
                <a:pPr marL="457200" indent="-457200" eaLnBrk="1" hangingPunct="1">
                  <a:spcAft>
                    <a:spcPts val="600"/>
                  </a:spcAft>
                  <a:buFont typeface="Arial" charset="0"/>
                  <a:buChar char="•"/>
                  <a:tabLst>
                    <a:tab pos="914400" algn="l"/>
                  </a:tabLst>
                </a:pPr>
                <a:r>
                  <a:rPr lang="en-US" altLang="en-US" sz="1600" dirty="0">
                    <a:latin typeface="Helvetica" panose="020B0604020202020204" pitchFamily="34" charset="0"/>
                    <a:ea typeface="Helvetica" charset="0"/>
                    <a:cs typeface="Helvetica" panose="020B0604020202020204" pitchFamily="34" charset="0"/>
                  </a:rPr>
                  <a:t>Let</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r</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dirty="0">
                    <a:latin typeface="Helvetica" panose="020B0604020202020204" pitchFamily="34" charset="0"/>
                    <a:ea typeface="Helvetica" charset="0"/>
                    <a:cs typeface="Helvetica" panose="020B0604020202020204" pitchFamily="34" charset="0"/>
                  </a:rPr>
                  <a:t>index the rows of the column vectors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X</a:t>
                </a:r>
                <a:r>
                  <a:rPr lang="en-US" altLang="en-US" sz="1600" i="1" baseline="-25000" dirty="0">
                    <a:latin typeface="Cambria Math" panose="02040503050406030204" pitchFamily="18" charset="0"/>
                    <a:ea typeface="Cambria Math" panose="02040503050406030204" pitchFamily="18" charset="0"/>
                    <a:cs typeface="Helvetica" panose="020B0604020202020204" pitchFamily="34" charset="0"/>
                  </a:rPr>
                  <a:t>i</a:t>
                </a:r>
                <a:r>
                  <a:rPr lang="en-US" altLang="en-US" sz="800" dirty="0">
                    <a:latin typeface="Helvetica" panose="020B0604020202020204" pitchFamily="34" charset="0"/>
                    <a:ea typeface="Helvetica" charset="0"/>
                    <a:cs typeface="Helvetica" panose="020B0604020202020204" pitchFamily="34" charset="0"/>
                  </a:rPr>
                  <a:t> </a:t>
                </a:r>
                <a:r>
                  <a:rPr lang="en-US" altLang="en-US" sz="1600" dirty="0">
                    <a:latin typeface="Helvetica" panose="020B0604020202020204" pitchFamily="34" charset="0"/>
                    <a:ea typeface="Helvetica" charset="0"/>
                    <a:cs typeface="Helvetica" panose="020B0604020202020204" pitchFamily="34" charset="0"/>
                  </a:rPr>
                  <a:t>s and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Y</a:t>
                </a:r>
                <a:r>
                  <a:rPr lang="en-US" altLang="en-US" sz="800" dirty="0">
                    <a:latin typeface="Helvetica" panose="020B0604020202020204" pitchFamily="34" charset="0"/>
                    <a:ea typeface="Helvetica" charset="0"/>
                    <a:cs typeface="Helvetica" panose="020B0604020202020204" pitchFamily="34" charset="0"/>
                  </a:rPr>
                  <a:t> </a:t>
                </a:r>
                <a:r>
                  <a:rPr lang="en-US" altLang="en-US" sz="1600" dirty="0">
                    <a:latin typeface="Helvetica" panose="020B0604020202020204" pitchFamily="34" charset="0"/>
                    <a:ea typeface="Helvetica" charset="0"/>
                    <a:cs typeface="Helvetica" panose="020B0604020202020204" pitchFamily="34" charset="0"/>
                  </a:rPr>
                  <a:t>. If intercept in model, define k-1 dummy variables because of linear dependence: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(1,…,1)</a:t>
                </a:r>
                <a:r>
                  <a:rPr lang="en-US" altLang="en-US" sz="1600" baseline="300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X</a:t>
                </a:r>
                <a:r>
                  <a:rPr lang="en-US" altLang="en-US" sz="1600" baseline="-25000" dirty="0">
                    <a:latin typeface="Cambria Math" panose="02040503050406030204" pitchFamily="18" charset="0"/>
                    <a:ea typeface="Cambria Math" panose="02040503050406030204" pitchFamily="18" charset="0"/>
                    <a:cs typeface="Helvetica" panose="020B0604020202020204" pitchFamily="34" charset="0"/>
                  </a:rPr>
                  <a:t>1</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i="1" dirty="0">
                    <a:latin typeface="Cambria Math" panose="02040503050406030204" pitchFamily="18" charset="0"/>
                    <a:ea typeface="Cambria Math" panose="02040503050406030204" pitchFamily="18" charset="0"/>
                    <a:cs typeface="Helvetica" panose="020B0604020202020204" pitchFamily="34" charset="0"/>
                  </a:rPr>
                  <a:t>X</a:t>
                </a:r>
                <a:r>
                  <a:rPr lang="en-US" altLang="en-US" sz="1600" baseline="-25000" dirty="0">
                    <a:latin typeface="Cambria Math" panose="02040503050406030204" pitchFamily="18" charset="0"/>
                    <a:ea typeface="Cambria Math" panose="02040503050406030204" pitchFamily="18" charset="0"/>
                    <a:cs typeface="Helvetica" panose="020B0604020202020204" pitchFamily="34" charset="0"/>
                  </a:rPr>
                  <a:t>2</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 +</a:t>
                </a:r>
                <a:r>
                  <a:rPr lang="en-US" altLang="en-US" sz="1600" i="1" dirty="0" err="1">
                    <a:latin typeface="Cambria Math" panose="02040503050406030204" pitchFamily="18" charset="0"/>
                    <a:ea typeface="Cambria Math" panose="02040503050406030204" pitchFamily="18" charset="0"/>
                    <a:cs typeface="Helvetica" panose="020B0604020202020204" pitchFamily="34" charset="0"/>
                  </a:rPr>
                  <a:t>X</a:t>
                </a:r>
                <a:r>
                  <a:rPr lang="en-US" altLang="en-US" sz="1600" baseline="-25000" dirty="0" err="1">
                    <a:latin typeface="Cambria Math" panose="02040503050406030204" pitchFamily="18" charset="0"/>
                    <a:ea typeface="Cambria Math" panose="02040503050406030204" pitchFamily="18" charset="0"/>
                    <a:cs typeface="Helvetica" panose="020B0604020202020204" pitchFamily="34" charset="0"/>
                  </a:rPr>
                  <a:t>k</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baseline="-25000" dirty="0">
                    <a:latin typeface="Helvetica" panose="020B0604020202020204" pitchFamily="34" charset="0"/>
                    <a:ea typeface="Cambria Math" panose="02040503050406030204" pitchFamily="18" charset="0"/>
                    <a:cs typeface="Helvetica" panose="020B0604020202020204" pitchFamily="34" charset="0"/>
                  </a:rPr>
                  <a:t/>
                </a:r>
                <a:br>
                  <a:rPr lang="en-US" altLang="en-US" sz="1600" baseline="-25000" dirty="0">
                    <a:latin typeface="Helvetica" panose="020B0604020202020204" pitchFamily="34" charset="0"/>
                    <a:ea typeface="Cambria Math" panose="02040503050406030204" pitchFamily="18" charset="0"/>
                    <a:cs typeface="Helvetica" panose="020B0604020202020204" pitchFamily="34" charset="0"/>
                  </a:rPr>
                </a:br>
                <a:r>
                  <a:rPr lang="en-US" altLang="en-US"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b="1" dirty="0">
                    <a:latin typeface="Helvetica" panose="020B0604020202020204" pitchFamily="34" charset="0"/>
                    <a:ea typeface="Helvetica Neue" charset="0"/>
                    <a:cs typeface="Helvetica" panose="020B0604020202020204" pitchFamily="34" charset="0"/>
                  </a:rPr>
                  <a:t>Model</a:t>
                </a:r>
                <a:r>
                  <a:rPr lang="en-US" altLang="en-US" sz="1600" dirty="0">
                    <a:latin typeface="Helvetica" panose="020B0604020202020204" pitchFamily="34" charset="0"/>
                    <a:ea typeface="Helvetica Neue" charset="0"/>
                    <a:cs typeface="Helvetica" panose="020B0604020202020204" pitchFamily="34" charset="0"/>
                  </a:rPr>
                  <a:t>:</a:t>
                </a:r>
                <a:r>
                  <a:rPr lang="en-US" altLang="en-US" dirty="0">
                    <a:latin typeface="Helvetica" panose="020B0604020202020204" pitchFamily="34" charset="0"/>
                    <a:ea typeface="Helvetica Neue" charset="0"/>
                    <a:cs typeface="Helvetica" panose="020B0604020202020204" pitchFamily="34" charset="0"/>
                  </a:rPr>
                  <a:t> </a:t>
                </a:r>
                <a14:m>
                  <m:oMath xmlns:m="http://schemas.openxmlformats.org/officeDocument/2006/math">
                    <m:sSub>
                      <m:sSubPr>
                        <m:ctrlPr>
                          <a:rPr lang="en-US" altLang="en-US" sz="160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𝑌</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smtClean="0">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0</m:t>
                        </m:r>
                      </m:sub>
                    </m:s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1</m:t>
                        </m:r>
                      </m:sub>
                    </m:sSub>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𝑋</m:t>
                        </m:r>
                      </m:e>
                      <m:sub>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1</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sub>
                    </m:s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2</m:t>
                        </m:r>
                      </m:sub>
                    </m:sSub>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𝑋</m:t>
                        </m:r>
                      </m:e>
                      <m:sub>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2</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sub>
                    </m:s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𝛽</m:t>
                        </m:r>
                      </m:e>
                      <m:sub>
                        <m:r>
                          <m:rPr>
                            <m:sty m:val="p"/>
                          </m:rPr>
                          <a:rPr lang="en-US" altLang="en-US" sz="1600" b="0" i="0" smtClean="0">
                            <a:latin typeface="Cambria Math" panose="02040503050406030204" pitchFamily="18" charset="0"/>
                            <a:ea typeface="Cambria Math" panose="02040503050406030204" pitchFamily="18" charset="0"/>
                            <a:cs typeface="Helvetica" panose="020B0604020202020204" pitchFamily="34" charset="0"/>
                          </a:rPr>
                          <m:t>k</m:t>
                        </m:r>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−1</m:t>
                        </m:r>
                      </m:sub>
                    </m:sSub>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𝑋</m:t>
                        </m:r>
                      </m:e>
                      <m:sub>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m:rPr>
                                <m:sty m:val="p"/>
                              </m:rPr>
                              <a:rPr lang="en-US" altLang="en-US" sz="1600" b="0" i="0" smtClean="0">
                                <a:latin typeface="Cambria Math" panose="02040503050406030204" pitchFamily="18" charset="0"/>
                                <a:ea typeface="Cambria Math" panose="02040503050406030204" pitchFamily="18" charset="0"/>
                                <a:cs typeface="Helvetica" panose="020B0604020202020204" pitchFamily="34" charset="0"/>
                              </a:rPr>
                              <m:t>k</m:t>
                            </m:r>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−1</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sub>
                    </m:s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𝜀</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 </m:t>
                    </m:r>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=1,⋯,</m:t>
                    </m:r>
                    <m:r>
                      <m:rPr>
                        <m:sty m:val="p"/>
                      </m:rPr>
                      <a:rPr lang="en-US" altLang="en-US" sz="1600" b="0" i="0" smtClean="0">
                        <a:latin typeface="Cambria Math" panose="02040503050406030204" pitchFamily="18" charset="0"/>
                        <a:ea typeface="Cambria Math" panose="02040503050406030204" pitchFamily="18" charset="0"/>
                        <a:cs typeface="Helvetica" panose="020B0604020202020204" pitchFamily="34" charset="0"/>
                      </a:rPr>
                      <m:t>N</m:t>
                    </m:r>
                  </m:oMath>
                </a14:m>
                <a:endParaRPr lang="en-US" altLang="en-US" sz="1600" dirty="0">
                  <a:latin typeface="Cambria Math" panose="02040503050406030204" pitchFamily="18" charset="0"/>
                  <a:ea typeface="Cambria Math" panose="02040503050406030204" pitchFamily="18" charset="0"/>
                  <a:cs typeface="Helvetica" panose="020B0604020202020204" pitchFamily="34" charset="0"/>
                </a:endParaRPr>
              </a:p>
              <a:p>
                <a:pPr marL="457200" indent="-457200" eaLnBrk="1" hangingPunct="1">
                  <a:buFont typeface="Arial" charset="0"/>
                  <a:buChar char="•"/>
                  <a:tabLst>
                    <a:tab pos="914400" algn="l"/>
                  </a:tabLst>
                </a:pPr>
                <a:r>
                  <a:rPr lang="en-US" altLang="en-US" sz="1600" dirty="0">
                    <a:latin typeface="Helvetica" panose="020B0604020202020204" pitchFamily="34" charset="0"/>
                    <a:ea typeface="Helvetica" charset="0"/>
                    <a:cs typeface="Helvetica" panose="020B0604020202020204" pitchFamily="34" charset="0"/>
                  </a:rPr>
                  <a:t>If no intercept in the model, define all k dummy variables</a:t>
                </a:r>
                <a:br>
                  <a:rPr lang="en-US" altLang="en-US" sz="1600" dirty="0">
                    <a:latin typeface="Helvetica" panose="020B0604020202020204" pitchFamily="34" charset="0"/>
                    <a:ea typeface="Helvetica" charset="0"/>
                    <a:cs typeface="Helvetica" panose="020B0604020202020204" pitchFamily="34" charset="0"/>
                  </a:rPr>
                </a:br>
                <a:r>
                  <a:rPr lang="en-US" altLang="en-US" dirty="0">
                    <a:latin typeface="Cambria Math" panose="02040503050406030204" pitchFamily="18" charset="0"/>
                    <a:ea typeface="Cambria Math" panose="02040503050406030204" pitchFamily="18" charset="0"/>
                    <a:cs typeface="Helvetica" panose="020B0604020202020204" pitchFamily="34" charset="0"/>
                  </a:rPr>
                  <a:t>	</a:t>
                </a:r>
                <a:r>
                  <a:rPr lang="en-US" altLang="en-US" sz="1600" b="1" dirty="0">
                    <a:latin typeface="Helvetica" panose="020B0604020202020204" pitchFamily="34" charset="0"/>
                    <a:ea typeface="Helvetica Neue" charset="0"/>
                    <a:cs typeface="Helvetica" panose="020B0604020202020204" pitchFamily="34" charset="0"/>
                  </a:rPr>
                  <a:t>Model</a:t>
                </a:r>
                <a:r>
                  <a:rPr lang="en-US" altLang="en-US" sz="1600" dirty="0">
                    <a:latin typeface="Helvetica" panose="020B0604020202020204" pitchFamily="34" charset="0"/>
                    <a:ea typeface="Helvetica Neue" charset="0"/>
                    <a:cs typeface="Helvetica" panose="020B0604020202020204" pitchFamily="34" charset="0"/>
                  </a:rPr>
                  <a:t>:</a:t>
                </a:r>
                <a:r>
                  <a:rPr lang="en-US" altLang="en-US" dirty="0">
                    <a:latin typeface="Helvetica" panose="020B0604020202020204" pitchFamily="34" charset="0"/>
                    <a:ea typeface="Helvetica Neue" charset="0"/>
                    <a:cs typeface="Helvetica" panose="020B0604020202020204" pitchFamily="34" charset="0"/>
                  </a:rPr>
                  <a:t> </a:t>
                </a:r>
                <a14:m>
                  <m:oMath xmlns:m="http://schemas.openxmlformats.org/officeDocument/2006/math">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𝑌</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r>
                      <a:rPr lang="en-US" altLang="en-US" sz="1600" i="1">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600" i="1">
                            <a:latin typeface="Cambria Math" panose="02040503050406030204" pitchFamily="18" charset="0"/>
                            <a:ea typeface="Cambria Math" panose="02040503050406030204" pitchFamily="18" charset="0"/>
                            <a:cs typeface="Helvetica" panose="020B0604020202020204" pitchFamily="34" charset="0"/>
                          </a:rPr>
                          <m:t>1</m:t>
                        </m:r>
                      </m:sub>
                    </m:sSub>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𝑋</m:t>
                        </m:r>
                      </m:e>
                      <m:sub>
                        <m:sSub>
                          <m:sSubPr>
                            <m:ctrlPr>
                              <a:rPr lang="en-US" altLang="en-US" sz="160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1</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sub>
                    </m:sSub>
                    <m:r>
                      <a:rPr lang="en-US" altLang="en-US" sz="1600" i="1">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𝛽</m:t>
                        </m:r>
                      </m:e>
                      <m:sub>
                        <m:r>
                          <a:rPr lang="en-US" altLang="en-US" sz="1600" i="1">
                            <a:latin typeface="Cambria Math" panose="02040503050406030204" pitchFamily="18" charset="0"/>
                            <a:ea typeface="Cambria Math" panose="02040503050406030204" pitchFamily="18" charset="0"/>
                            <a:cs typeface="Helvetica" panose="020B0604020202020204" pitchFamily="34" charset="0"/>
                          </a:rPr>
                          <m:t>2</m:t>
                        </m:r>
                      </m:sub>
                    </m:sSub>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𝑋</m:t>
                        </m:r>
                      </m:e>
                      <m:sub>
                        <m:sSub>
                          <m:sSubPr>
                            <m:ctrlPr>
                              <a:rPr lang="en-US" altLang="en-US" sz="160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2</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sub>
                    </m:sSub>
                    <m:r>
                      <a:rPr lang="en-US" altLang="en-US" sz="1600" i="1">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𝛽</m:t>
                        </m:r>
                      </m:e>
                      <m:sub>
                        <m:r>
                          <m:rPr>
                            <m:sty m:val="p"/>
                          </m:rPr>
                          <a:rPr lang="en-US" altLang="en-US" sz="1600" i="0">
                            <a:latin typeface="Cambria Math" panose="02040503050406030204" pitchFamily="18" charset="0"/>
                            <a:ea typeface="Cambria Math" panose="02040503050406030204" pitchFamily="18" charset="0"/>
                            <a:cs typeface="Helvetica" panose="020B0604020202020204" pitchFamily="34" charset="0"/>
                          </a:rPr>
                          <m:t>k</m:t>
                        </m:r>
                      </m:sub>
                    </m:sSub>
                    <m:sSub>
                      <m:sSubPr>
                        <m:ctrlPr>
                          <a:rPr lang="en-US" altLang="en-US" sz="1600" i="1">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𝑋</m:t>
                        </m:r>
                      </m:e>
                      <m:sub>
                        <m:sSub>
                          <m:sSubPr>
                            <m:ctrlPr>
                              <a:rPr lang="en-US" altLang="en-US" sz="1600" i="1" smtClean="0">
                                <a:latin typeface="Cambria Math" panose="02040503050406030204" pitchFamily="18" charset="0"/>
                                <a:ea typeface="Cambria Math" panose="02040503050406030204" pitchFamily="18" charset="0"/>
                                <a:cs typeface="Helvetica" panose="020B0604020202020204" pitchFamily="34" charset="0"/>
                              </a:rPr>
                            </m:ctrlPr>
                          </m:sSubPr>
                          <m:e>
                            <m:r>
                              <m:rPr>
                                <m:sty m:val="p"/>
                              </m:rPr>
                              <a:rPr lang="en-US" altLang="en-US" sz="1600" b="0" i="0" smtClean="0">
                                <a:latin typeface="Cambria Math" panose="02040503050406030204" pitchFamily="18" charset="0"/>
                                <a:ea typeface="Cambria Math" panose="02040503050406030204" pitchFamily="18" charset="0"/>
                                <a:cs typeface="Helvetica" panose="020B0604020202020204" pitchFamily="34" charset="0"/>
                              </a:rPr>
                              <m:t>k</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sub>
                    </m:sSub>
                    <m:r>
                      <a:rPr lang="en-US" altLang="en-US" sz="1600" i="1">
                        <a:latin typeface="Cambria Math" panose="02040503050406030204" pitchFamily="18" charset="0"/>
                        <a:ea typeface="Cambria Math" panose="02040503050406030204" pitchFamily="18" charset="0"/>
                        <a:cs typeface="Helvetica" panose="020B0604020202020204" pitchFamily="34" charset="0"/>
                      </a:rPr>
                      <m:t>+</m:t>
                    </m:r>
                    <m:sSub>
                      <m:sSubPr>
                        <m:ctrlPr>
                          <a:rPr lang="en-US" altLang="en-US" sz="1600" i="1" smtClean="0">
                            <a:latin typeface="Cambria Math" panose="02040503050406030204" pitchFamily="18" charset="0"/>
                            <a:ea typeface="Cambria Math" panose="02040503050406030204" pitchFamily="18" charset="0"/>
                            <a:cs typeface="Helvetica" panose="020B0604020202020204" pitchFamily="34" charset="0"/>
                          </a:rPr>
                        </m:ctrlPr>
                      </m:sSubPr>
                      <m:e>
                        <m:r>
                          <a:rPr lang="en-US" altLang="en-US" sz="1600" i="1">
                            <a:latin typeface="Cambria Math" panose="02040503050406030204" pitchFamily="18" charset="0"/>
                            <a:ea typeface="Cambria Math" panose="02040503050406030204" pitchFamily="18" charset="0"/>
                            <a:cs typeface="Helvetica" panose="020B0604020202020204" pitchFamily="34" charset="0"/>
                          </a:rPr>
                          <m:t>𝜀</m:t>
                        </m:r>
                      </m:e>
                      <m:sub>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sub>
                    </m:sSub>
                    <m:r>
                      <a:rPr lang="en-US" altLang="en-US" sz="1600" i="1">
                        <a:latin typeface="Cambria Math" panose="02040503050406030204" pitchFamily="18" charset="0"/>
                        <a:ea typeface="Cambria Math" panose="02040503050406030204" pitchFamily="18" charset="0"/>
                        <a:cs typeface="Helvetica" panose="020B0604020202020204" pitchFamily="34" charset="0"/>
                      </a:rPr>
                      <m:t>;</m:t>
                    </m:r>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 </m:t>
                    </m:r>
                    <m:r>
                      <a:rPr lang="en-US" altLang="en-US" sz="1600" b="0" i="1" smtClean="0">
                        <a:latin typeface="Cambria Math" panose="02040503050406030204" pitchFamily="18" charset="0"/>
                        <a:ea typeface="Cambria Math" panose="02040503050406030204" pitchFamily="18" charset="0"/>
                        <a:cs typeface="Helvetica" panose="020B0604020202020204" pitchFamily="34" charset="0"/>
                      </a:rPr>
                      <m:t>𝑟</m:t>
                    </m:r>
                    <m:r>
                      <a:rPr lang="en-US" altLang="en-US" sz="1600" i="1">
                        <a:latin typeface="Cambria Math" panose="02040503050406030204" pitchFamily="18" charset="0"/>
                        <a:ea typeface="Cambria Math" panose="02040503050406030204" pitchFamily="18" charset="0"/>
                        <a:cs typeface="Helvetica" panose="020B0604020202020204" pitchFamily="34" charset="0"/>
                      </a:rPr>
                      <m:t>=1,⋯,</m:t>
                    </m:r>
                    <m:r>
                      <m:rPr>
                        <m:sty m:val="p"/>
                      </m:rPr>
                      <a:rPr lang="en-US" altLang="en-US" sz="1600">
                        <a:latin typeface="Cambria Math" panose="02040503050406030204" pitchFamily="18" charset="0"/>
                        <a:ea typeface="Cambria Math" panose="02040503050406030204" pitchFamily="18" charset="0"/>
                        <a:cs typeface="Helvetica" panose="020B0604020202020204" pitchFamily="34" charset="0"/>
                      </a:rPr>
                      <m:t>N</m:t>
                    </m:r>
                  </m:oMath>
                </a14:m>
                <a:endParaRPr lang="en-US" altLang="en-US" sz="1600" dirty="0">
                  <a:latin typeface="Helvetica" panose="020B0604020202020204" pitchFamily="34" charset="0"/>
                  <a:ea typeface="KishoreFont Medium" charset="0"/>
                  <a:cs typeface="Helvetica" panose="020B0604020202020204" pitchFamily="34" charset="0"/>
                </a:endParaRPr>
              </a:p>
            </p:txBody>
          </p:sp>
        </mc:Choice>
        <mc:Fallback>
          <p:sp>
            <p:nvSpPr>
              <p:cNvPr id="4" name="Text Box 3"/>
              <p:cNvSpPr txBox="1">
                <a:spLocks noRot="1" noChangeAspect="1" noMove="1" noResize="1" noEditPoints="1" noAdjustHandles="1" noChangeArrowheads="1" noChangeShapeType="1" noTextEdit="1"/>
              </p:cNvSpPr>
              <p:nvPr/>
            </p:nvSpPr>
            <p:spPr bwMode="auto">
              <a:xfrm>
                <a:off x="139355" y="1031733"/>
                <a:ext cx="8428175" cy="2769989"/>
              </a:xfrm>
              <a:prstGeom prst="rect">
                <a:avLst/>
              </a:prstGeom>
              <a:blipFill rotWithShape="0">
                <a:blip r:embed="rId3"/>
                <a:stretch>
                  <a:fillRect l="-434" t="-659" b="-109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TextBox 4"/>
          <p:cNvSpPr txBox="1"/>
          <p:nvPr/>
        </p:nvSpPr>
        <p:spPr>
          <a:xfrm>
            <a:off x="241329" y="4077437"/>
            <a:ext cx="8021401" cy="338554"/>
          </a:xfrm>
          <a:prstGeom prst="rect">
            <a:avLst/>
          </a:prstGeom>
          <a:noFill/>
          <a:ln w="19050">
            <a:solidFill>
              <a:schemeClr val="tx2"/>
            </a:solidFill>
          </a:ln>
        </p:spPr>
        <p:txBody>
          <a:bodyPr wrap="square">
            <a:spAutoFit/>
          </a:bodyPr>
          <a:lstStyle/>
          <a:p>
            <a:pPr eaLnBrk="1" fontAlgn="auto" hangingPunct="1">
              <a:spcBef>
                <a:spcPts val="0"/>
              </a:spcBef>
              <a:spcAft>
                <a:spcPts val="0"/>
              </a:spcAft>
              <a:defRPr/>
            </a:pPr>
            <a:r>
              <a:rPr lang="en-US" sz="1600" kern="100" dirty="0">
                <a:latin typeface="Helvetica" panose="020B0604020202020204" pitchFamily="34" charset="0"/>
                <a:ea typeface="KishoreFont Medium" charset="0"/>
                <a:cs typeface="Helvetica" panose="020B0604020202020204" pitchFamily="34" charset="0"/>
              </a:rPr>
              <a:t>ANOVA: A linear regression model with multiple predictors </a:t>
            </a:r>
            <a:r>
              <a:rPr lang="en-US" sz="1600" kern="100" dirty="0" smtClean="0">
                <a:latin typeface="Helvetica" panose="020B0604020202020204" pitchFamily="34" charset="0"/>
                <a:ea typeface="KishoreFont Medium" charset="0"/>
                <a:cs typeface="Helvetica" panose="020B0604020202020204" pitchFamily="34" charset="0"/>
              </a:rPr>
              <a:t>Multiple </a:t>
            </a:r>
            <a:r>
              <a:rPr lang="en-US" sz="1600" kern="100" dirty="0">
                <a:latin typeface="Helvetica" panose="020B0604020202020204" pitchFamily="34" charset="0"/>
                <a:ea typeface="KishoreFont Medium" charset="0"/>
                <a:cs typeface="Helvetica" panose="020B0604020202020204" pitchFamily="34" charset="0"/>
              </a:rPr>
              <a:t>Linear Regression </a:t>
            </a:r>
          </a:p>
        </p:txBody>
      </p:sp>
      <p:sp>
        <p:nvSpPr>
          <p:cNvPr id="7" name="标题 1"/>
          <p:cNvSpPr>
            <a:spLocks noGrp="1"/>
          </p:cNvSpPr>
          <p:nvPr>
            <p:ph type="title"/>
          </p:nvPr>
        </p:nvSpPr>
        <p:spPr>
          <a:xfrm>
            <a:off x="147055" y="207963"/>
            <a:ext cx="8562392" cy="686560"/>
          </a:xfrm>
        </p:spPr>
        <p:txBody>
          <a:bodyPr/>
          <a:lstStyle/>
          <a:p>
            <a:r>
              <a:rPr kumimoji="1" lang="en-US" altLang="zh-CN" sz="3600" dirty="0">
                <a:latin typeface="Vitesse" charset="0"/>
                <a:ea typeface="Vitesse" charset="0"/>
                <a:cs typeface="Vitesse" charset="0"/>
              </a:rPr>
              <a:t>ANOVA</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&amp;</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Linear</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Regression</a:t>
            </a:r>
            <a:r>
              <a:rPr kumimoji="1" lang="zh-CN" altLang="en-US" sz="3600" dirty="0">
                <a:latin typeface="Vitesse" charset="0"/>
                <a:ea typeface="Vitesse" charset="0"/>
                <a:cs typeface="Vitesse" charset="0"/>
              </a:rPr>
              <a:t> </a:t>
            </a:r>
            <a:r>
              <a:rPr kumimoji="1" lang="en-US" altLang="zh-CN" sz="3600" dirty="0">
                <a:latin typeface="Vitesse" charset="0"/>
                <a:ea typeface="Vitesse" charset="0"/>
                <a:cs typeface="Vitesse" charset="0"/>
              </a:rPr>
              <a:t>(cont’d)</a:t>
            </a:r>
            <a:endParaRPr kumimoji="1" lang="zh-CN" altLang="en-US" sz="3600" dirty="0">
              <a:latin typeface="Vitesse" charset="0"/>
              <a:ea typeface="Vitesse" charset="0"/>
              <a:cs typeface="Vitesse" charset="0"/>
            </a:endParaRPr>
          </a:p>
        </p:txBody>
      </p:sp>
    </p:spTree>
    <p:extLst>
      <p:ext uri="{BB962C8B-B14F-4D97-AF65-F5344CB8AC3E}">
        <p14:creationId xmlns:p14="http://schemas.microsoft.com/office/powerpoint/2010/main" val="199432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36782" y="212229"/>
            <a:ext cx="4727575" cy="669042"/>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p:blipFill>
        <p:spPr>
          <a:xfrm>
            <a:off x="1161904" y="1285661"/>
            <a:ext cx="2201521" cy="2406315"/>
          </a:xfrm>
          <a:prstGeom prst="rect">
            <a:avLst/>
          </a:prstGeom>
        </p:spPr>
      </p:pic>
    </p:spTree>
    <p:extLst>
      <p:ext uri="{BB962C8B-B14F-4D97-AF65-F5344CB8AC3E}">
        <p14:creationId xmlns:p14="http://schemas.microsoft.com/office/powerpoint/2010/main" val="173288935"/>
      </p:ext>
    </p:extLst>
  </p:cSld>
  <p:clrMapOvr>
    <a:masterClrMapping/>
  </p:clrMapOvr>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F28EF043-B0E6-49AE-B312-D395614284AA}">
  <ds:schemaRefs>
    <ds:schemaRef ds:uri="http://schemas.microsoft.com/sharepoint/v3/contenttype/forms"/>
  </ds:schemaRefs>
</ds:datastoreItem>
</file>

<file path=customXml/itemProps2.xml><?xml version="1.0" encoding="utf-8"?>
<ds:datastoreItem xmlns:ds="http://schemas.openxmlformats.org/officeDocument/2006/customXml" ds:itemID="{E066AAC9-B2D0-46BD-87E7-92BBFA7E1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57fda7-913b-4ab6-8820-932873bcd6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B8D62D-BE99-40AF-BF97-BFAE812B12CE}">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microsoft.com/sharepoint/v3"/>
    <ds:schemaRef ds:uri="b057fda7-913b-4ab6-8820-932873bcd66c"/>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1183</TotalTime>
  <Words>324</Words>
  <Application>Microsoft Office PowerPoint</Application>
  <PresentationFormat>On-screen Show (16:9)</PresentationFormat>
  <Paragraphs>45</Paragraphs>
  <Slides>6</Slides>
  <Notes>3</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6</vt:i4>
      </vt:variant>
    </vt:vector>
  </HeadingPairs>
  <TitlesOfParts>
    <vt:vector size="22" baseType="lpstr">
      <vt:lpstr>MS PGothic</vt:lpstr>
      <vt:lpstr>宋体</vt:lpstr>
      <vt:lpstr>Arial</vt:lpstr>
      <vt:lpstr>Calibri</vt:lpstr>
      <vt:lpstr>Cambria Math</vt:lpstr>
      <vt:lpstr>Helvetica</vt:lpstr>
      <vt:lpstr>Helvetica Neue</vt:lpstr>
      <vt:lpstr>KishoreFont Medium</vt:lpstr>
      <vt:lpstr>Symbol</vt:lpstr>
      <vt:lpstr>Vitesse</vt:lpstr>
      <vt:lpstr>Vitesse Bold</vt:lpstr>
      <vt:lpstr>Vitesse Book</vt:lpstr>
      <vt:lpstr>Vitesse Medium</vt:lpstr>
      <vt:lpstr>1_Half Page Slash</vt:lpstr>
      <vt:lpstr>Half Page Slash</vt:lpstr>
      <vt:lpstr>Full Page Layout</vt:lpstr>
      <vt:lpstr>PowerPoint Presentation</vt:lpstr>
      <vt:lpstr>PowerPoint Presentation</vt:lpstr>
      <vt:lpstr>PowerPoint Presentation</vt:lpstr>
      <vt:lpstr>ANOVA &amp; Linear Regression (cont’d)</vt:lpstr>
      <vt:lpstr>ANOVA &amp; Linear Regression (cont’d)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Levine</dc:creator>
  <cp:lastModifiedBy>Aymee Garcia</cp:lastModifiedBy>
  <cp:revision>201</cp:revision>
  <dcterms:modified xsi:type="dcterms:W3CDTF">2020-05-15T15:38:39Z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ies>
</file>