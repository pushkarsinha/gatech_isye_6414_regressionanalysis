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7" r:id="rId2"/>
    <p:sldMasterId id="2147483663" r:id="rId3"/>
  </p:sldMasterIdLst>
  <p:notesMasterIdLst>
    <p:notesMasterId r:id="rId15"/>
  </p:notesMasterIdLst>
  <p:handoutMasterIdLst>
    <p:handoutMasterId r:id="rId16"/>
  </p:handoutMasterIdLst>
  <p:sldIdLst>
    <p:sldId id="434" r:id="rId4"/>
    <p:sldId id="535" r:id="rId5"/>
    <p:sldId id="505" r:id="rId6"/>
    <p:sldId id="538" r:id="rId7"/>
    <p:sldId id="539" r:id="rId8"/>
    <p:sldId id="522" r:id="rId9"/>
    <p:sldId id="523" r:id="rId10"/>
    <p:sldId id="528" r:id="rId11"/>
    <p:sldId id="524" r:id="rId12"/>
    <p:sldId id="531" r:id="rId13"/>
    <p:sldId id="537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34"/>
            <p14:sldId id="535"/>
            <p14:sldId id="505"/>
            <p14:sldId id="538"/>
            <p14:sldId id="539"/>
            <p14:sldId id="522"/>
            <p14:sldId id="523"/>
            <p14:sldId id="528"/>
            <p14:sldId id="524"/>
            <p14:sldId id="531"/>
            <p14:sldId id="5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72" userDrawn="1">
          <p15:clr>
            <a:srgbClr val="A4A3A4"/>
          </p15:clr>
        </p15:guide>
        <p15:guide id="2" pos="144" userDrawn="1">
          <p15:clr>
            <a:srgbClr val="A4A3A4"/>
          </p15:clr>
        </p15:guide>
        <p15:guide id="3" pos="2880" userDrawn="1">
          <p15:clr>
            <a:srgbClr val="A4A3A4"/>
          </p15:clr>
        </p15:guide>
        <p15:guide id="4" pos="3456" userDrawn="1">
          <p15:clr>
            <a:srgbClr val="A4A3A4"/>
          </p15:clr>
        </p15:guide>
        <p15:guide id="5" pos="336" userDrawn="1">
          <p15:clr>
            <a:srgbClr val="A4A3A4"/>
          </p15:clr>
        </p15:guide>
        <p15:guide id="6" pos="5640" userDrawn="1">
          <p15:clr>
            <a:srgbClr val="A4A3A4"/>
          </p15:clr>
        </p15:guide>
        <p15:guide id="7" orient="horz" pos="1620" userDrawn="1">
          <p15:clr>
            <a:srgbClr val="A4A3A4"/>
          </p15:clr>
        </p15:guide>
        <p15:guide id="8" orient="horz" pos="684" userDrawn="1">
          <p15:clr>
            <a:srgbClr val="A4A3A4"/>
          </p15:clr>
        </p15:guide>
        <p15:guide id="9" orient="horz" pos="31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/>
  <p:cmAuthor id="2" name="zwen42@gatech.com" initials="z" lastIdx="1" clrIdx="1"/>
  <p:cmAuthor id="3" name="Serban, Nicoleta" initials="SN" lastIdx="11" clrIdx="2"/>
  <p:cmAuthor id="4" name="Hu, Rui" initials="HR" lastIdx="1" clrIdx="3"/>
  <p:cmAuthor id="6" name="Richard Levine" initials="R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993200"/>
    <a:srgbClr val="FFFFFF"/>
    <a:srgbClr val="1F497D"/>
    <a:srgbClr val="8E4221"/>
    <a:srgbClr val="F8FFF1"/>
    <a:srgbClr val="000000"/>
    <a:srgbClr val="F7FFEE"/>
    <a:srgbClr val="F5FC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57" autoAdjust="0"/>
    <p:restoredTop sz="94240" autoAdjust="0"/>
  </p:normalViewPr>
  <p:slideViewPr>
    <p:cSldViewPr snapToGrid="0">
      <p:cViewPr>
        <p:scale>
          <a:sx n="72" d="100"/>
          <a:sy n="72" d="100"/>
        </p:scale>
        <p:origin x="912" y="36"/>
      </p:cViewPr>
      <p:guideLst>
        <p:guide orient="horz" pos="372"/>
        <p:guide pos="144"/>
        <p:guide pos="2880"/>
        <p:guide pos="3456"/>
        <p:guide pos="336"/>
        <p:guide pos="5640"/>
        <p:guide orient="horz" pos="1620"/>
        <p:guide orient="horz" pos="684"/>
        <p:guide orient="horz" pos="31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317500">
              <a:buClr>
                <a:srgbClr val="000000"/>
              </a:buClr>
              <a:buSzPct val="167000"/>
              <a:buFont typeface="Arial" panose="020B0604020202020204"/>
              <a:buChar char="•"/>
            </a:pPr>
            <a:r>
              <a:rPr lang="en-GB" sz="1200" kern="0" dirty="0">
                <a:solidFill>
                  <a:srgbClr val="000000"/>
                </a:solidFill>
                <a:cs typeface="Arial" panose="020B0604020202020204"/>
                <a:sym typeface="Arial" panose="020B0604020202020204"/>
                <a:rtl val="0"/>
              </a:rPr>
              <a:t>Body Mass Index (BMI) Score created from height and weight</a:t>
            </a:r>
          </a:p>
          <a:p>
            <a:pPr marL="457200" indent="-317500">
              <a:buClr>
                <a:srgbClr val="000000"/>
              </a:buClr>
              <a:buSzPct val="167000"/>
              <a:buFont typeface="Arial" panose="020B0604020202020204"/>
              <a:buChar char="•"/>
            </a:pPr>
            <a:r>
              <a:rPr lang="en-GB" sz="1200" kern="0" dirty="0">
                <a:solidFill>
                  <a:srgbClr val="000000"/>
                </a:solidFill>
                <a:cs typeface="Arial" panose="020B0604020202020204"/>
                <a:sym typeface="Arial" panose="020B0604020202020204"/>
                <a:rtl val="0"/>
              </a:rPr>
              <a:t>Obesity: A BMI score of greater than or equal to 30</a:t>
            </a:r>
          </a:p>
          <a:p>
            <a:pPr marL="457200" indent="-317500">
              <a:buClr>
                <a:srgbClr val="000000"/>
              </a:buClr>
              <a:buSzPct val="167000"/>
              <a:buFont typeface="Arial" panose="020B0604020202020204"/>
              <a:buChar char="•"/>
            </a:pPr>
            <a:r>
              <a:rPr lang="en-GB" sz="1200" kern="0" dirty="0">
                <a:solidFill>
                  <a:srgbClr val="000000"/>
                </a:solidFill>
                <a:cs typeface="Arial" panose="020B0604020202020204"/>
                <a:sym typeface="Arial" panose="020B0604020202020204"/>
                <a:rtl val="0"/>
              </a:rPr>
              <a:t>Causes incredible health problems that strain health systems and are preventable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en-US" dirty="0">
              <a:ea typeface="MS PGothic" panose="020B0600070205080204" charset="-128"/>
            </a:endParaRPr>
          </a:p>
        </p:txBody>
      </p:sp>
      <p:sp>
        <p:nvSpPr>
          <p:cNvPr id="880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FC1340CC-78E1-404E-942C-7AB62C289CB5}" type="slidenum">
              <a:rPr lang="en-US" altLang="en-US"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5132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en-US" dirty="0">
              <a:ea typeface="MS PGothic" panose="020B0600070205080204" charset="-128"/>
            </a:endParaRPr>
          </a:p>
        </p:txBody>
      </p:sp>
      <p:sp>
        <p:nvSpPr>
          <p:cNvPr id="880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FC1340CC-78E1-404E-942C-7AB62C289CB5}" type="slidenum">
              <a:rPr lang="en-US" altLang="en-US"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4701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47650" y="274639"/>
            <a:ext cx="8595313" cy="712848"/>
          </a:xfrm>
          <a:prstGeom prst="rect">
            <a:avLst/>
          </a:prstGeom>
        </p:spPr>
        <p:txBody>
          <a:bodyPr/>
          <a:lstStyle>
            <a:lvl1pPr algn="l"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/>
              <a:t>Course title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1" y="796333"/>
            <a:ext cx="8576502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/>
              <a:t>Module Name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47648" y="2292985"/>
            <a:ext cx="8595315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 panose="020B0604020202020204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38241" y="2650975"/>
            <a:ext cx="8604722" cy="254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1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Title</a:t>
            </a:r>
          </a:p>
          <a:p>
            <a:pPr lvl="0"/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3"/>
            <a:ext cx="8143760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Lesson name: e.g. R Examples</a:t>
            </a:r>
          </a:p>
          <a:p>
            <a:pPr lvl="0"/>
            <a:r>
              <a:rPr lang="en-US" dirty="0" err="1"/>
              <a:t>Subname</a:t>
            </a:r>
            <a:r>
              <a:rPr lang="en-US" dirty="0"/>
              <a:t> if applicable (e.g. Part II)</a:t>
            </a:r>
          </a:p>
          <a:p>
            <a:pPr lvl="0"/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47647" y="2896113"/>
            <a:ext cx="8595316" cy="322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School Name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6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4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2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 hasCustomPrompt="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 hasCustomPrompt="1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274639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50" y="1436689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1" y="780732"/>
            <a:ext cx="5672951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4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/>
              <a:t>Module Name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3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Lesson name: e.g. R Examples</a:t>
            </a:r>
          </a:p>
          <a:p>
            <a:pPr lvl="0"/>
            <a:r>
              <a:rPr lang="en-US" dirty="0" err="1"/>
              <a:t>Subname</a:t>
            </a:r>
            <a:r>
              <a:rPr lang="en-US" dirty="0"/>
              <a:t> if applicable (e.g. Part II)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oneycomb_gradient.png"/>
          <p:cNvPicPr>
            <a:picLocks noChangeAspect="1"/>
          </p:cNvPicPr>
          <p:nvPr/>
        </p:nvPicPr>
        <p:blipFill>
          <a:blip r:embed="rId10" cstate="print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15250" cy="5143500"/>
          </a:xfrm>
          <a:prstGeom prst="rect">
            <a:avLst/>
          </a:prstGeom>
        </p:spPr>
      </p:pic>
      <p:pic>
        <p:nvPicPr>
          <p:cNvPr id="6" name="Picture 5" descr="corner_logo_white.pn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081" y="3470730"/>
            <a:ext cx="966919" cy="167277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 panose="020B0604020202020204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60" r:id="rId2"/>
    <p:sldLayoutId id="2147483661" r:id="rId3"/>
    <p:sldLayoutId id="2147483662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 panose="020B0604020202020204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0461" y="108666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/>
              </a:rPr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673536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2"/>
                </a:solidFill>
              </a:rPr>
              <a:t>Logistic Regression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2482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 panose="020B0604020202020204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41340" y="240631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4033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Stewart School of Industrial and Systems Engineering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6D5EA306-6DC6-4F21-8910-4A8642639D2E}"/>
              </a:ext>
            </a:extLst>
          </p:cNvPr>
          <p:cNvSpPr>
            <a:spLocks noGrp="1"/>
          </p:cNvSpPr>
          <p:nvPr/>
        </p:nvSpPr>
        <p:spPr>
          <a:xfrm>
            <a:off x="140960" y="4102100"/>
            <a:ext cx="3801456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Case Study: The Demographics  of Obesity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>
            <a:fillRect/>
          </a:stretch>
        </p:blipFill>
        <p:spPr>
          <a:xfrm>
            <a:off x="3441090" y="1085849"/>
            <a:ext cx="2440322" cy="3088911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5FE4467-4468-4543-828C-04337E75C594}"/>
              </a:ext>
            </a:extLst>
          </p:cNvPr>
          <p:cNvSpPr txBox="1">
            <a:spLocks/>
          </p:cNvSpPr>
          <p:nvPr/>
        </p:nvSpPr>
        <p:spPr>
          <a:xfrm>
            <a:off x="147119" y="120499"/>
            <a:ext cx="4727575" cy="731706"/>
          </a:xfrm>
        </p:spPr>
        <p:txBody>
          <a:bodyPr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www.mapwatch.com/news-blog/images/united-states-obesity-map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04" y="1047890"/>
            <a:ext cx="5508588" cy="3886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746354" y="4721902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32429" y="109788"/>
            <a:ext cx="8562392" cy="564769"/>
          </a:xfrm>
        </p:spPr>
        <p:txBody>
          <a:bodyPr/>
          <a:lstStyle/>
          <a:p>
            <a:r>
              <a:rPr lang="en-US" sz="3600" b="0" dirty="0">
                <a:latin typeface="Vitesse"/>
              </a:rPr>
              <a:t>Obesity in the United States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49688" y="841073"/>
            <a:ext cx="52713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Objective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marL="285750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GB" sz="1600" kern="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  <a:sym typeface="Arial" panose="020B0604020202020204"/>
                <a:rtl val="0"/>
              </a:rPr>
              <a:t>Use National Health and Nutrition Examination Survey (NHANES) to create a model used to predict likelihood of obesity.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sz="1600" kern="0" dirty="0">
                <a:solidFill>
                  <a:srgbClr val="000000"/>
                </a:solidFill>
                <a:latin typeface="Helvetica" panose="020B0604020202020204" pitchFamily="34" charset="0"/>
                <a:ea typeface="Arial" panose="020B0604020202020204"/>
                <a:cs typeface="Helvetica" panose="020B0604020202020204" pitchFamily="34" charset="0"/>
                <a:sym typeface="Arial" panose="020B0604020202020204"/>
                <a:rtl val="0"/>
              </a:rPr>
              <a:t>Identify predicting factors with predictive power</a:t>
            </a:r>
          </a:p>
          <a:p>
            <a:pPr>
              <a:buSzPct val="100000"/>
            </a:pPr>
            <a:endParaRPr lang="en-GB" sz="1600" kern="0" dirty="0">
              <a:solidFill>
                <a:srgbClr val="000000"/>
              </a:solidFill>
              <a:latin typeface="Helvetica" panose="020B0604020202020204" pitchFamily="34" charset="0"/>
              <a:cs typeface="Helvetica" panose="020B0604020202020204" pitchFamily="34" charset="0"/>
              <a:sym typeface="Arial" panose="020B0604020202020204"/>
              <a:rtl val="0"/>
            </a:endParaRPr>
          </a:p>
          <a:p>
            <a:pPr>
              <a:spcAft>
                <a:spcPts val="600"/>
              </a:spcAft>
            </a:pP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Variables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Response Variable: Whether an adult is classified as obese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Predicting Variables: Age, Education Level, Gender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57301B-B5B6-4980-9D84-62F1F09081A9}"/>
              </a:ext>
            </a:extLst>
          </p:cNvPr>
          <p:cNvGrpSpPr/>
          <p:nvPr/>
        </p:nvGrpSpPr>
        <p:grpSpPr>
          <a:xfrm>
            <a:off x="547014" y="3908562"/>
            <a:ext cx="4416872" cy="788839"/>
            <a:chOff x="3687143" y="3394561"/>
            <a:chExt cx="4058977" cy="79978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1729122B-E646-4B3A-B3E6-C1140A3F7E38}"/>
                </a:ext>
              </a:extLst>
            </p:cNvPr>
            <p:cNvSpPr/>
            <p:nvPr/>
          </p:nvSpPr>
          <p:spPr>
            <a:xfrm>
              <a:off x="3687143" y="3628318"/>
              <a:ext cx="604960" cy="302480"/>
            </a:xfrm>
            <a:custGeom>
              <a:avLst/>
              <a:gdLst>
                <a:gd name="connsiteX0" fmla="*/ 0 w 604960"/>
                <a:gd name="connsiteY0" fmla="*/ 30248 h 302480"/>
                <a:gd name="connsiteX1" fmla="*/ 30248 w 604960"/>
                <a:gd name="connsiteY1" fmla="*/ 0 h 302480"/>
                <a:gd name="connsiteX2" fmla="*/ 574712 w 604960"/>
                <a:gd name="connsiteY2" fmla="*/ 0 h 302480"/>
                <a:gd name="connsiteX3" fmla="*/ 604960 w 604960"/>
                <a:gd name="connsiteY3" fmla="*/ 30248 h 302480"/>
                <a:gd name="connsiteX4" fmla="*/ 604960 w 604960"/>
                <a:gd name="connsiteY4" fmla="*/ 272232 h 302480"/>
                <a:gd name="connsiteX5" fmla="*/ 574712 w 604960"/>
                <a:gd name="connsiteY5" fmla="*/ 302480 h 302480"/>
                <a:gd name="connsiteX6" fmla="*/ 30248 w 604960"/>
                <a:gd name="connsiteY6" fmla="*/ 302480 h 302480"/>
                <a:gd name="connsiteX7" fmla="*/ 0 w 604960"/>
                <a:gd name="connsiteY7" fmla="*/ 272232 h 302480"/>
                <a:gd name="connsiteX8" fmla="*/ 0 w 604960"/>
                <a:gd name="connsiteY8" fmla="*/ 30248 h 302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4960" h="302480">
                  <a:moveTo>
                    <a:pt x="0" y="30248"/>
                  </a:moveTo>
                  <a:cubicBezTo>
                    <a:pt x="0" y="13542"/>
                    <a:pt x="13542" y="0"/>
                    <a:pt x="30248" y="0"/>
                  </a:cubicBezTo>
                  <a:lnTo>
                    <a:pt x="574712" y="0"/>
                  </a:lnTo>
                  <a:cubicBezTo>
                    <a:pt x="591418" y="0"/>
                    <a:pt x="604960" y="13542"/>
                    <a:pt x="604960" y="30248"/>
                  </a:cubicBezTo>
                  <a:lnTo>
                    <a:pt x="604960" y="272232"/>
                  </a:lnTo>
                  <a:cubicBezTo>
                    <a:pt x="604960" y="288938"/>
                    <a:pt x="591418" y="302480"/>
                    <a:pt x="574712" y="302480"/>
                  </a:cubicBezTo>
                  <a:lnTo>
                    <a:pt x="30248" y="302480"/>
                  </a:lnTo>
                  <a:cubicBezTo>
                    <a:pt x="13542" y="302480"/>
                    <a:pt x="0" y="288938"/>
                    <a:pt x="0" y="272232"/>
                  </a:cubicBezTo>
                  <a:lnTo>
                    <a:pt x="0" y="30248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19" tIns="19019" rIns="19019" bIns="19019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rPr>
                <a:t>Data</a:t>
              </a: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C7D9E2D-CC47-401E-8B91-BD13ED256037}"/>
                </a:ext>
              </a:extLst>
            </p:cNvPr>
            <p:cNvSpPr/>
            <p:nvPr/>
          </p:nvSpPr>
          <p:spPr>
            <a:xfrm rot="19475182">
              <a:off x="4222526" y="3689982"/>
              <a:ext cx="301123" cy="38326"/>
            </a:xfrm>
            <a:custGeom>
              <a:avLst/>
              <a:gdLst>
                <a:gd name="connsiteX0" fmla="*/ 0 w 301123"/>
                <a:gd name="connsiteY0" fmla="*/ 19163 h 38326"/>
                <a:gd name="connsiteX1" fmla="*/ 301123 w 301123"/>
                <a:gd name="connsiteY1" fmla="*/ 19163 h 3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1123" h="38326">
                  <a:moveTo>
                    <a:pt x="0" y="19163"/>
                  </a:moveTo>
                  <a:lnTo>
                    <a:pt x="301123" y="19163"/>
                  </a:lnTo>
                </a:path>
              </a:pathLst>
            </a:custGeom>
            <a:noFill/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5732" tIns="11635" rIns="155734" bIns="11634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500" kern="12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B371A66-B0C3-4EE5-9435-EF609A53FC16}"/>
                </a:ext>
              </a:extLst>
            </p:cNvPr>
            <p:cNvSpPr/>
            <p:nvPr/>
          </p:nvSpPr>
          <p:spPr>
            <a:xfrm>
              <a:off x="4495793" y="3394561"/>
              <a:ext cx="3250327" cy="375270"/>
            </a:xfrm>
            <a:custGeom>
              <a:avLst/>
              <a:gdLst>
                <a:gd name="connsiteX0" fmla="*/ 0 w 3308540"/>
                <a:gd name="connsiteY0" fmla="*/ 30248 h 302480"/>
                <a:gd name="connsiteX1" fmla="*/ 30248 w 3308540"/>
                <a:gd name="connsiteY1" fmla="*/ 0 h 302480"/>
                <a:gd name="connsiteX2" fmla="*/ 3278292 w 3308540"/>
                <a:gd name="connsiteY2" fmla="*/ 0 h 302480"/>
                <a:gd name="connsiteX3" fmla="*/ 3308540 w 3308540"/>
                <a:gd name="connsiteY3" fmla="*/ 30248 h 302480"/>
                <a:gd name="connsiteX4" fmla="*/ 3308540 w 3308540"/>
                <a:gd name="connsiteY4" fmla="*/ 272232 h 302480"/>
                <a:gd name="connsiteX5" fmla="*/ 3278292 w 3308540"/>
                <a:gd name="connsiteY5" fmla="*/ 302480 h 302480"/>
                <a:gd name="connsiteX6" fmla="*/ 30248 w 3308540"/>
                <a:gd name="connsiteY6" fmla="*/ 302480 h 302480"/>
                <a:gd name="connsiteX7" fmla="*/ 0 w 3308540"/>
                <a:gd name="connsiteY7" fmla="*/ 272232 h 302480"/>
                <a:gd name="connsiteX8" fmla="*/ 0 w 3308540"/>
                <a:gd name="connsiteY8" fmla="*/ 30248 h 302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08540" h="302480">
                  <a:moveTo>
                    <a:pt x="0" y="30248"/>
                  </a:moveTo>
                  <a:cubicBezTo>
                    <a:pt x="0" y="13542"/>
                    <a:pt x="13542" y="0"/>
                    <a:pt x="30248" y="0"/>
                  </a:cubicBezTo>
                  <a:lnTo>
                    <a:pt x="3278292" y="0"/>
                  </a:lnTo>
                  <a:cubicBezTo>
                    <a:pt x="3294998" y="0"/>
                    <a:pt x="3308540" y="13542"/>
                    <a:pt x="3308540" y="30248"/>
                  </a:cubicBezTo>
                  <a:lnTo>
                    <a:pt x="3308540" y="272232"/>
                  </a:lnTo>
                  <a:cubicBezTo>
                    <a:pt x="3308540" y="288938"/>
                    <a:pt x="3294998" y="302480"/>
                    <a:pt x="3278292" y="302480"/>
                  </a:cubicBezTo>
                  <a:lnTo>
                    <a:pt x="30248" y="302480"/>
                  </a:lnTo>
                  <a:cubicBezTo>
                    <a:pt x="13542" y="302480"/>
                    <a:pt x="0" y="288938"/>
                    <a:pt x="0" y="272232"/>
                  </a:cubicBezTo>
                  <a:lnTo>
                    <a:pt x="0" y="30248"/>
                  </a:lnTo>
                  <a:close/>
                </a:path>
              </a:pathLst>
            </a:custGeom>
            <a:solidFill>
              <a:srgbClr val="EEB211"/>
            </a:solidFill>
            <a:ln>
              <a:solidFill>
                <a:srgbClr val="EEB21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19019" tIns="19019" rIns="19019" bIns="19019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rPr>
                <a:t>Training Data (4,314 Observations)</a:t>
              </a: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FBCD297-AE1F-4B1E-85C4-7FC1A500B54D}"/>
                </a:ext>
              </a:extLst>
            </p:cNvPr>
            <p:cNvSpPr/>
            <p:nvPr/>
          </p:nvSpPr>
          <p:spPr>
            <a:xfrm rot="2119534">
              <a:off x="4222690" y="3864192"/>
              <a:ext cx="300794" cy="38326"/>
            </a:xfrm>
            <a:custGeom>
              <a:avLst/>
              <a:gdLst>
                <a:gd name="connsiteX0" fmla="*/ 0 w 300794"/>
                <a:gd name="connsiteY0" fmla="*/ 19163 h 38326"/>
                <a:gd name="connsiteX1" fmla="*/ 300794 w 300794"/>
                <a:gd name="connsiteY1" fmla="*/ 19163 h 3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794" h="38326">
                  <a:moveTo>
                    <a:pt x="0" y="19163"/>
                  </a:moveTo>
                  <a:lnTo>
                    <a:pt x="300794" y="19163"/>
                  </a:lnTo>
                </a:path>
              </a:pathLst>
            </a:custGeom>
            <a:noFill/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5577" tIns="11644" rIns="155577" bIns="11642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500" kern="12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C3F6228-2492-4D53-B5A2-BE46F2A99F67}"/>
                </a:ext>
              </a:extLst>
            </p:cNvPr>
            <p:cNvSpPr/>
            <p:nvPr/>
          </p:nvSpPr>
          <p:spPr>
            <a:xfrm>
              <a:off x="4495793" y="3819079"/>
              <a:ext cx="3250321" cy="375270"/>
            </a:xfrm>
            <a:custGeom>
              <a:avLst/>
              <a:gdLst>
                <a:gd name="connsiteX0" fmla="*/ 0 w 3308534"/>
                <a:gd name="connsiteY0" fmla="*/ 30248 h 302480"/>
                <a:gd name="connsiteX1" fmla="*/ 30248 w 3308534"/>
                <a:gd name="connsiteY1" fmla="*/ 0 h 302480"/>
                <a:gd name="connsiteX2" fmla="*/ 3278286 w 3308534"/>
                <a:gd name="connsiteY2" fmla="*/ 0 h 302480"/>
                <a:gd name="connsiteX3" fmla="*/ 3308534 w 3308534"/>
                <a:gd name="connsiteY3" fmla="*/ 30248 h 302480"/>
                <a:gd name="connsiteX4" fmla="*/ 3308534 w 3308534"/>
                <a:gd name="connsiteY4" fmla="*/ 272232 h 302480"/>
                <a:gd name="connsiteX5" fmla="*/ 3278286 w 3308534"/>
                <a:gd name="connsiteY5" fmla="*/ 302480 h 302480"/>
                <a:gd name="connsiteX6" fmla="*/ 30248 w 3308534"/>
                <a:gd name="connsiteY6" fmla="*/ 302480 h 302480"/>
                <a:gd name="connsiteX7" fmla="*/ 0 w 3308534"/>
                <a:gd name="connsiteY7" fmla="*/ 272232 h 302480"/>
                <a:gd name="connsiteX8" fmla="*/ 0 w 3308534"/>
                <a:gd name="connsiteY8" fmla="*/ 30248 h 302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08534" h="302480">
                  <a:moveTo>
                    <a:pt x="0" y="30248"/>
                  </a:moveTo>
                  <a:cubicBezTo>
                    <a:pt x="0" y="13542"/>
                    <a:pt x="13542" y="0"/>
                    <a:pt x="30248" y="0"/>
                  </a:cubicBezTo>
                  <a:lnTo>
                    <a:pt x="3278286" y="0"/>
                  </a:lnTo>
                  <a:cubicBezTo>
                    <a:pt x="3294992" y="0"/>
                    <a:pt x="3308534" y="13542"/>
                    <a:pt x="3308534" y="30248"/>
                  </a:cubicBezTo>
                  <a:lnTo>
                    <a:pt x="3308534" y="272232"/>
                  </a:lnTo>
                  <a:cubicBezTo>
                    <a:pt x="3308534" y="288938"/>
                    <a:pt x="3294992" y="302480"/>
                    <a:pt x="3278286" y="302480"/>
                  </a:cubicBezTo>
                  <a:lnTo>
                    <a:pt x="30248" y="302480"/>
                  </a:lnTo>
                  <a:cubicBezTo>
                    <a:pt x="13542" y="302480"/>
                    <a:pt x="0" y="288938"/>
                    <a:pt x="0" y="272232"/>
                  </a:cubicBezTo>
                  <a:lnTo>
                    <a:pt x="0" y="30248"/>
                  </a:lnTo>
                  <a:close/>
                </a:path>
              </a:pathLst>
            </a:custGeom>
            <a:solidFill>
              <a:srgbClr val="EEB211"/>
            </a:solidFill>
            <a:ln>
              <a:solidFill>
                <a:srgbClr val="EEB21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19019" tIns="19019" rIns="19019" bIns="19019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rPr>
                <a:t>Testing Data (1,000 Observations)</a:t>
              </a: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9924" y="109788"/>
            <a:ext cx="8562392" cy="602247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Case Study Overview</a:t>
            </a:r>
          </a:p>
        </p:txBody>
      </p:sp>
    </p:spTree>
    <p:extLst>
      <p:ext uri="{BB962C8B-B14F-4D97-AF65-F5344CB8AC3E}">
        <p14:creationId xmlns:p14="http://schemas.microsoft.com/office/powerpoint/2010/main" val="341311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49688" y="841073"/>
            <a:ext cx="52713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Objective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marL="285750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GB" sz="1600" kern="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  <a:sym typeface="Arial" panose="020B0604020202020204"/>
                <a:rtl val="0"/>
              </a:rPr>
              <a:t>Use National Health and Nutrition Examination Survey (NHANES) to create a model used to predict likelihood of obesity.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sz="1600" kern="0" dirty="0">
                <a:solidFill>
                  <a:srgbClr val="000000"/>
                </a:solidFill>
                <a:latin typeface="Helvetica" panose="020B0604020202020204" pitchFamily="34" charset="0"/>
                <a:ea typeface="Arial" panose="020B0604020202020204"/>
                <a:cs typeface="Helvetica" panose="020B0604020202020204" pitchFamily="34" charset="0"/>
                <a:sym typeface="Arial" panose="020B0604020202020204"/>
                <a:rtl val="0"/>
              </a:rPr>
              <a:t>Identify predicting factors with predictive power</a:t>
            </a:r>
          </a:p>
          <a:p>
            <a:pPr>
              <a:buSzPct val="100000"/>
            </a:pPr>
            <a:endParaRPr lang="en-GB" sz="1600" kern="0" dirty="0">
              <a:solidFill>
                <a:srgbClr val="000000"/>
              </a:solidFill>
              <a:latin typeface="Helvetica" panose="020B0604020202020204" pitchFamily="34" charset="0"/>
              <a:cs typeface="Helvetica" panose="020B0604020202020204" pitchFamily="34" charset="0"/>
              <a:sym typeface="Arial" panose="020B0604020202020204"/>
              <a:rtl val="0"/>
            </a:endParaRPr>
          </a:p>
          <a:p>
            <a:pPr>
              <a:spcAft>
                <a:spcPts val="600"/>
              </a:spcAft>
            </a:pP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Variables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Response Variable: Whether an adult is classified as obese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Predicting Variables: Age, Education Level, Gender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57301B-B5B6-4980-9D84-62F1F09081A9}"/>
              </a:ext>
            </a:extLst>
          </p:cNvPr>
          <p:cNvGrpSpPr/>
          <p:nvPr/>
        </p:nvGrpSpPr>
        <p:grpSpPr>
          <a:xfrm>
            <a:off x="547014" y="3908562"/>
            <a:ext cx="4416872" cy="788839"/>
            <a:chOff x="3687143" y="3394561"/>
            <a:chExt cx="4058977" cy="79978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1729122B-E646-4B3A-B3E6-C1140A3F7E38}"/>
                </a:ext>
              </a:extLst>
            </p:cNvPr>
            <p:cNvSpPr/>
            <p:nvPr/>
          </p:nvSpPr>
          <p:spPr>
            <a:xfrm>
              <a:off x="3687143" y="3628318"/>
              <a:ext cx="604960" cy="302480"/>
            </a:xfrm>
            <a:custGeom>
              <a:avLst/>
              <a:gdLst>
                <a:gd name="connsiteX0" fmla="*/ 0 w 604960"/>
                <a:gd name="connsiteY0" fmla="*/ 30248 h 302480"/>
                <a:gd name="connsiteX1" fmla="*/ 30248 w 604960"/>
                <a:gd name="connsiteY1" fmla="*/ 0 h 302480"/>
                <a:gd name="connsiteX2" fmla="*/ 574712 w 604960"/>
                <a:gd name="connsiteY2" fmla="*/ 0 h 302480"/>
                <a:gd name="connsiteX3" fmla="*/ 604960 w 604960"/>
                <a:gd name="connsiteY3" fmla="*/ 30248 h 302480"/>
                <a:gd name="connsiteX4" fmla="*/ 604960 w 604960"/>
                <a:gd name="connsiteY4" fmla="*/ 272232 h 302480"/>
                <a:gd name="connsiteX5" fmla="*/ 574712 w 604960"/>
                <a:gd name="connsiteY5" fmla="*/ 302480 h 302480"/>
                <a:gd name="connsiteX6" fmla="*/ 30248 w 604960"/>
                <a:gd name="connsiteY6" fmla="*/ 302480 h 302480"/>
                <a:gd name="connsiteX7" fmla="*/ 0 w 604960"/>
                <a:gd name="connsiteY7" fmla="*/ 272232 h 302480"/>
                <a:gd name="connsiteX8" fmla="*/ 0 w 604960"/>
                <a:gd name="connsiteY8" fmla="*/ 30248 h 302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4960" h="302480">
                  <a:moveTo>
                    <a:pt x="0" y="30248"/>
                  </a:moveTo>
                  <a:cubicBezTo>
                    <a:pt x="0" y="13542"/>
                    <a:pt x="13542" y="0"/>
                    <a:pt x="30248" y="0"/>
                  </a:cubicBezTo>
                  <a:lnTo>
                    <a:pt x="574712" y="0"/>
                  </a:lnTo>
                  <a:cubicBezTo>
                    <a:pt x="591418" y="0"/>
                    <a:pt x="604960" y="13542"/>
                    <a:pt x="604960" y="30248"/>
                  </a:cubicBezTo>
                  <a:lnTo>
                    <a:pt x="604960" y="272232"/>
                  </a:lnTo>
                  <a:cubicBezTo>
                    <a:pt x="604960" y="288938"/>
                    <a:pt x="591418" y="302480"/>
                    <a:pt x="574712" y="302480"/>
                  </a:cubicBezTo>
                  <a:lnTo>
                    <a:pt x="30248" y="302480"/>
                  </a:lnTo>
                  <a:cubicBezTo>
                    <a:pt x="13542" y="302480"/>
                    <a:pt x="0" y="288938"/>
                    <a:pt x="0" y="272232"/>
                  </a:cubicBezTo>
                  <a:lnTo>
                    <a:pt x="0" y="30248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19" tIns="19019" rIns="19019" bIns="19019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rPr>
                <a:t>Data</a:t>
              </a: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C7D9E2D-CC47-401E-8B91-BD13ED256037}"/>
                </a:ext>
              </a:extLst>
            </p:cNvPr>
            <p:cNvSpPr/>
            <p:nvPr/>
          </p:nvSpPr>
          <p:spPr>
            <a:xfrm rot="19475182">
              <a:off x="4222526" y="3689982"/>
              <a:ext cx="301123" cy="38326"/>
            </a:xfrm>
            <a:custGeom>
              <a:avLst/>
              <a:gdLst>
                <a:gd name="connsiteX0" fmla="*/ 0 w 301123"/>
                <a:gd name="connsiteY0" fmla="*/ 19163 h 38326"/>
                <a:gd name="connsiteX1" fmla="*/ 301123 w 301123"/>
                <a:gd name="connsiteY1" fmla="*/ 19163 h 3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1123" h="38326">
                  <a:moveTo>
                    <a:pt x="0" y="19163"/>
                  </a:moveTo>
                  <a:lnTo>
                    <a:pt x="301123" y="19163"/>
                  </a:lnTo>
                </a:path>
              </a:pathLst>
            </a:custGeom>
            <a:noFill/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5732" tIns="11635" rIns="155734" bIns="11634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500" kern="12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B371A66-B0C3-4EE5-9435-EF609A53FC16}"/>
                </a:ext>
              </a:extLst>
            </p:cNvPr>
            <p:cNvSpPr/>
            <p:nvPr/>
          </p:nvSpPr>
          <p:spPr>
            <a:xfrm>
              <a:off x="4495793" y="3394561"/>
              <a:ext cx="3250327" cy="375270"/>
            </a:xfrm>
            <a:custGeom>
              <a:avLst/>
              <a:gdLst>
                <a:gd name="connsiteX0" fmla="*/ 0 w 3308540"/>
                <a:gd name="connsiteY0" fmla="*/ 30248 h 302480"/>
                <a:gd name="connsiteX1" fmla="*/ 30248 w 3308540"/>
                <a:gd name="connsiteY1" fmla="*/ 0 h 302480"/>
                <a:gd name="connsiteX2" fmla="*/ 3278292 w 3308540"/>
                <a:gd name="connsiteY2" fmla="*/ 0 h 302480"/>
                <a:gd name="connsiteX3" fmla="*/ 3308540 w 3308540"/>
                <a:gd name="connsiteY3" fmla="*/ 30248 h 302480"/>
                <a:gd name="connsiteX4" fmla="*/ 3308540 w 3308540"/>
                <a:gd name="connsiteY4" fmla="*/ 272232 h 302480"/>
                <a:gd name="connsiteX5" fmla="*/ 3278292 w 3308540"/>
                <a:gd name="connsiteY5" fmla="*/ 302480 h 302480"/>
                <a:gd name="connsiteX6" fmla="*/ 30248 w 3308540"/>
                <a:gd name="connsiteY6" fmla="*/ 302480 h 302480"/>
                <a:gd name="connsiteX7" fmla="*/ 0 w 3308540"/>
                <a:gd name="connsiteY7" fmla="*/ 272232 h 302480"/>
                <a:gd name="connsiteX8" fmla="*/ 0 w 3308540"/>
                <a:gd name="connsiteY8" fmla="*/ 30248 h 302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08540" h="302480">
                  <a:moveTo>
                    <a:pt x="0" y="30248"/>
                  </a:moveTo>
                  <a:cubicBezTo>
                    <a:pt x="0" y="13542"/>
                    <a:pt x="13542" y="0"/>
                    <a:pt x="30248" y="0"/>
                  </a:cubicBezTo>
                  <a:lnTo>
                    <a:pt x="3278292" y="0"/>
                  </a:lnTo>
                  <a:cubicBezTo>
                    <a:pt x="3294998" y="0"/>
                    <a:pt x="3308540" y="13542"/>
                    <a:pt x="3308540" y="30248"/>
                  </a:cubicBezTo>
                  <a:lnTo>
                    <a:pt x="3308540" y="272232"/>
                  </a:lnTo>
                  <a:cubicBezTo>
                    <a:pt x="3308540" y="288938"/>
                    <a:pt x="3294998" y="302480"/>
                    <a:pt x="3278292" y="302480"/>
                  </a:cubicBezTo>
                  <a:lnTo>
                    <a:pt x="30248" y="302480"/>
                  </a:lnTo>
                  <a:cubicBezTo>
                    <a:pt x="13542" y="302480"/>
                    <a:pt x="0" y="288938"/>
                    <a:pt x="0" y="272232"/>
                  </a:cubicBezTo>
                  <a:lnTo>
                    <a:pt x="0" y="30248"/>
                  </a:lnTo>
                  <a:close/>
                </a:path>
              </a:pathLst>
            </a:custGeom>
            <a:solidFill>
              <a:srgbClr val="EEB211"/>
            </a:solidFill>
            <a:ln>
              <a:solidFill>
                <a:srgbClr val="EEB21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19019" tIns="19019" rIns="19019" bIns="19019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rPr>
                <a:t>Training Data (4,314 Observations)</a:t>
              </a: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FBCD297-AE1F-4B1E-85C4-7FC1A500B54D}"/>
                </a:ext>
              </a:extLst>
            </p:cNvPr>
            <p:cNvSpPr/>
            <p:nvPr/>
          </p:nvSpPr>
          <p:spPr>
            <a:xfrm rot="2119534">
              <a:off x="4222690" y="3864192"/>
              <a:ext cx="300794" cy="38326"/>
            </a:xfrm>
            <a:custGeom>
              <a:avLst/>
              <a:gdLst>
                <a:gd name="connsiteX0" fmla="*/ 0 w 300794"/>
                <a:gd name="connsiteY0" fmla="*/ 19163 h 38326"/>
                <a:gd name="connsiteX1" fmla="*/ 300794 w 300794"/>
                <a:gd name="connsiteY1" fmla="*/ 19163 h 3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794" h="38326">
                  <a:moveTo>
                    <a:pt x="0" y="19163"/>
                  </a:moveTo>
                  <a:lnTo>
                    <a:pt x="300794" y="19163"/>
                  </a:lnTo>
                </a:path>
              </a:pathLst>
            </a:custGeom>
            <a:noFill/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5577" tIns="11644" rIns="155577" bIns="11642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500" kern="12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C3F6228-2492-4D53-B5A2-BE46F2A99F67}"/>
                </a:ext>
              </a:extLst>
            </p:cNvPr>
            <p:cNvSpPr/>
            <p:nvPr/>
          </p:nvSpPr>
          <p:spPr>
            <a:xfrm>
              <a:off x="4495793" y="3819079"/>
              <a:ext cx="3250321" cy="375270"/>
            </a:xfrm>
            <a:custGeom>
              <a:avLst/>
              <a:gdLst>
                <a:gd name="connsiteX0" fmla="*/ 0 w 3308534"/>
                <a:gd name="connsiteY0" fmla="*/ 30248 h 302480"/>
                <a:gd name="connsiteX1" fmla="*/ 30248 w 3308534"/>
                <a:gd name="connsiteY1" fmla="*/ 0 h 302480"/>
                <a:gd name="connsiteX2" fmla="*/ 3278286 w 3308534"/>
                <a:gd name="connsiteY2" fmla="*/ 0 h 302480"/>
                <a:gd name="connsiteX3" fmla="*/ 3308534 w 3308534"/>
                <a:gd name="connsiteY3" fmla="*/ 30248 h 302480"/>
                <a:gd name="connsiteX4" fmla="*/ 3308534 w 3308534"/>
                <a:gd name="connsiteY4" fmla="*/ 272232 h 302480"/>
                <a:gd name="connsiteX5" fmla="*/ 3278286 w 3308534"/>
                <a:gd name="connsiteY5" fmla="*/ 302480 h 302480"/>
                <a:gd name="connsiteX6" fmla="*/ 30248 w 3308534"/>
                <a:gd name="connsiteY6" fmla="*/ 302480 h 302480"/>
                <a:gd name="connsiteX7" fmla="*/ 0 w 3308534"/>
                <a:gd name="connsiteY7" fmla="*/ 272232 h 302480"/>
                <a:gd name="connsiteX8" fmla="*/ 0 w 3308534"/>
                <a:gd name="connsiteY8" fmla="*/ 30248 h 302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08534" h="302480">
                  <a:moveTo>
                    <a:pt x="0" y="30248"/>
                  </a:moveTo>
                  <a:cubicBezTo>
                    <a:pt x="0" y="13542"/>
                    <a:pt x="13542" y="0"/>
                    <a:pt x="30248" y="0"/>
                  </a:cubicBezTo>
                  <a:lnTo>
                    <a:pt x="3278286" y="0"/>
                  </a:lnTo>
                  <a:cubicBezTo>
                    <a:pt x="3294992" y="0"/>
                    <a:pt x="3308534" y="13542"/>
                    <a:pt x="3308534" y="30248"/>
                  </a:cubicBezTo>
                  <a:lnTo>
                    <a:pt x="3308534" y="272232"/>
                  </a:lnTo>
                  <a:cubicBezTo>
                    <a:pt x="3308534" y="288938"/>
                    <a:pt x="3294992" y="302480"/>
                    <a:pt x="3278286" y="302480"/>
                  </a:cubicBezTo>
                  <a:lnTo>
                    <a:pt x="30248" y="302480"/>
                  </a:lnTo>
                  <a:cubicBezTo>
                    <a:pt x="13542" y="302480"/>
                    <a:pt x="0" y="288938"/>
                    <a:pt x="0" y="272232"/>
                  </a:cubicBezTo>
                  <a:lnTo>
                    <a:pt x="0" y="30248"/>
                  </a:lnTo>
                  <a:close/>
                </a:path>
              </a:pathLst>
            </a:custGeom>
            <a:solidFill>
              <a:srgbClr val="EEB211"/>
            </a:solidFill>
            <a:ln>
              <a:solidFill>
                <a:srgbClr val="EEB21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19019" tIns="19019" rIns="19019" bIns="19019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rPr>
                <a:t>Testing Data (1,000 Observations)</a:t>
              </a: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9924" y="109788"/>
            <a:ext cx="8562392" cy="602247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Case Study Overview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37EA29-19E5-4C85-946D-318489BC8064}"/>
              </a:ext>
            </a:extLst>
          </p:cNvPr>
          <p:cNvSpPr txBox="1"/>
          <p:nvPr/>
        </p:nvSpPr>
        <p:spPr>
          <a:xfrm>
            <a:off x="5486399" y="1447870"/>
            <a:ext cx="3467101" cy="2215991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Age variable</a:t>
            </a:r>
          </a:p>
          <a:p>
            <a:pPr marL="344805" indent="-21463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Present as a continuous variable in the data</a:t>
            </a:r>
          </a:p>
          <a:p>
            <a:pPr marL="344805" indent="-214630"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Recoded into classes (or ranges) like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Class 1: 18-24 years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Class 2: 25-34 years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etc.</a:t>
            </a:r>
            <a:endParaRPr lang="en-U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95BE7F-BA4E-48D6-A694-DBFC6678EF53}"/>
              </a:ext>
            </a:extLst>
          </p:cNvPr>
          <p:cNvSpPr/>
          <p:nvPr/>
        </p:nvSpPr>
        <p:spPr>
          <a:xfrm>
            <a:off x="2392135" y="3363686"/>
            <a:ext cx="473528" cy="300175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98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ext Box 3"/>
          <p:cNvSpPr txBox="1">
            <a:spLocks noChangeArrowheads="1"/>
          </p:cNvSpPr>
          <p:nvPr/>
        </p:nvSpPr>
        <p:spPr bwMode="auto">
          <a:xfrm>
            <a:off x="159117" y="867303"/>
            <a:ext cx="8586714" cy="27070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Read data in R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obdata</a:t>
            </a: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 = </a:t>
            </a:r>
            <a:r>
              <a:rPr lang="en-US" sz="1400" i="1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read.table</a:t>
            </a: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("obesitydata.txt", h=T)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attach(</a:t>
            </a:r>
            <a:r>
              <a:rPr lang="en-US" sz="1400" i="1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obdata</a:t>
            </a: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)</a:t>
            </a:r>
          </a:p>
          <a:p>
            <a:pPr>
              <a:defRPr/>
            </a:pPr>
            <a:endParaRPr lang="en-US" sz="1400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ea typeface="Source Sans Pro Semibold" panose="020B0603030403020204" pitchFamily="34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## Data before aggregation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obesityind</a:t>
            </a: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 = factor(Obesity, labels=c("</a:t>
            </a:r>
            <a:r>
              <a:rPr lang="en-US" sz="1400" i="1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NotObese</a:t>
            </a: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", "Obese"))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agegr</a:t>
            </a: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 = factor(</a:t>
            </a:r>
            <a:r>
              <a:rPr lang="en-US" sz="1400" i="1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AgeGroup</a:t>
            </a: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, </a:t>
            </a:r>
          </a:p>
          <a:p>
            <a:pPr marL="284163">
              <a:defRPr/>
            </a:pP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labels=c("18to24", "25to34", "35to44", "45to64", "65+"))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gender = factor(Gender, labels=c("Male", "Female"))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edu</a:t>
            </a: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 = factor(Education, </a:t>
            </a:r>
          </a:p>
          <a:p>
            <a:pPr marL="284163">
              <a:defRPr/>
            </a:pP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labels=c("&lt;9thGrade", "9to11Grade", "</a:t>
            </a:r>
            <a:r>
              <a:rPr lang="en-US" sz="1400" i="1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HighSchool</a:t>
            </a: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", "</a:t>
            </a:r>
            <a:r>
              <a:rPr lang="en-US" sz="1400" i="1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SomeCollege</a:t>
            </a: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", "College+"))</a:t>
            </a:r>
          </a:p>
          <a:p>
            <a:pPr>
              <a:defRPr/>
            </a:pPr>
            <a:endParaRPr lang="en-US" sz="1600" i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p:sp>
        <p:nvSpPr>
          <p:cNvPr id="12" name="Title 1"/>
          <p:cNvSpPr txBox="1"/>
          <p:nvPr/>
        </p:nvSpPr>
        <p:spPr>
          <a:xfrm>
            <a:off x="130102" y="213650"/>
            <a:ext cx="8382000" cy="49838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lnSpc>
                <a:spcPts val="3400"/>
              </a:lnSpc>
              <a:spcAft>
                <a:spcPts val="0"/>
              </a:spcAft>
            </a:pPr>
            <a:r>
              <a:rPr lang="en-US" sz="3600" dirty="0">
                <a:latin typeface="Vitesse"/>
                <a:ea typeface="Vitesse" charset="0"/>
                <a:cs typeface="Vitesse" charset="0"/>
              </a:rPr>
              <a:t>Obesity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ext Box 3"/>
          <p:cNvSpPr txBox="1">
            <a:spLocks noChangeArrowheads="1"/>
          </p:cNvSpPr>
          <p:nvPr/>
        </p:nvSpPr>
        <p:spPr bwMode="auto">
          <a:xfrm>
            <a:off x="156660" y="865538"/>
            <a:ext cx="8586714" cy="95313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## Exploratory data analysis:  Categorical Predictors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tb_ageedu</a:t>
            </a: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 = </a:t>
            </a:r>
            <a:r>
              <a:rPr lang="en-US" sz="1400" i="1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xtabs</a:t>
            </a: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(~</a:t>
            </a:r>
            <a:r>
              <a:rPr lang="en-US" sz="1400" i="1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agegr+edu</a:t>
            </a: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library(</a:t>
            </a:r>
            <a:r>
              <a:rPr lang="en-US" sz="1400" i="1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vcd</a:t>
            </a: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)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mosaicplot</a:t>
            </a: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tb_ageedu</a:t>
            </a: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, </a:t>
            </a:r>
            <a:r>
              <a:rPr lang="en-US" sz="1400" i="1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xlab</a:t>
            </a: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="Age Group", </a:t>
            </a:r>
            <a:r>
              <a:rPr lang="en-US" sz="1400" i="1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ylab</a:t>
            </a: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="Education", color=TRUE, main="")</a:t>
            </a:r>
          </a:p>
        </p:txBody>
      </p:sp>
      <p:sp>
        <p:nvSpPr>
          <p:cNvPr id="12" name="Title 1"/>
          <p:cNvSpPr txBox="1"/>
          <p:nvPr/>
        </p:nvSpPr>
        <p:spPr>
          <a:xfrm>
            <a:off x="115461" y="220800"/>
            <a:ext cx="8382000" cy="542653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lnSpc>
                <a:spcPts val="3400"/>
              </a:lnSpc>
              <a:spcAft>
                <a:spcPts val="0"/>
              </a:spcAft>
            </a:pPr>
            <a:r>
              <a:rPr lang="en-US" sz="3600" dirty="0">
                <a:latin typeface="Vitesse"/>
              </a:rPr>
              <a:t>Exploratory Data Analysis</a:t>
            </a:r>
            <a:endParaRPr lang="en-US" sz="3600" dirty="0">
              <a:latin typeface="Vitesse"/>
              <a:ea typeface="Vitesse" charset="0"/>
              <a:cs typeface="Vitesse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45" y="1070860"/>
            <a:ext cx="5375094" cy="389991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97C3F71-7F73-4068-9EE1-93F049E74D37}"/>
              </a:ext>
            </a:extLst>
          </p:cNvPr>
          <p:cNvSpPr txBox="1"/>
          <p:nvPr/>
        </p:nvSpPr>
        <p:spPr>
          <a:xfrm>
            <a:off x="115461" y="220800"/>
            <a:ext cx="8382000" cy="542653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lnSpc>
                <a:spcPts val="3400"/>
              </a:lnSpc>
              <a:spcAft>
                <a:spcPts val="0"/>
              </a:spcAft>
            </a:pPr>
            <a:r>
              <a:rPr lang="en-US" sz="3600" dirty="0">
                <a:latin typeface="Vitesse"/>
              </a:rPr>
              <a:t>Exploratory Data Analysis</a:t>
            </a:r>
            <a:endParaRPr lang="en-US" sz="3600" dirty="0">
              <a:latin typeface="Vitesse"/>
              <a:ea typeface="Vitesse" charset="0"/>
              <a:cs typeface="Vitesse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ext Box 3"/>
          <p:cNvSpPr txBox="1">
            <a:spLocks noChangeArrowheads="1"/>
          </p:cNvSpPr>
          <p:nvPr/>
        </p:nvSpPr>
        <p:spPr bwMode="auto">
          <a:xfrm>
            <a:off x="156660" y="868960"/>
            <a:ext cx="6079248" cy="3538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Exploratory data analysis: Response vs Predictors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tb_obage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xtabs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(~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obesityind+agegr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tb_obgender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xtabs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(~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obesityind+gender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tb_obedu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xtabs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(~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obesityind+edu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>
              <a:defRPr/>
            </a:pPr>
            <a:endParaRPr lang="en-US" sz="1400" i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barplot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prop.table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tb_obage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), axes=T, space=0.3,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horiz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=T,</a:t>
            </a:r>
          </a:p>
          <a:p>
            <a:pPr marL="284163"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="Proportion of Not Obese (blue) vs Obese (Brown)",</a:t>
            </a:r>
          </a:p>
          <a:p>
            <a:pPr marL="284163"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col=c("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blue","brown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"), main="Obesity by Age Group")</a:t>
            </a:r>
          </a:p>
          <a:p>
            <a:pPr>
              <a:defRPr/>
            </a:pPr>
            <a:endParaRPr lang="en-US" sz="1400" i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barplot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prop.table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tb_obgender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), axes=T, space=0.3,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horiz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=T,</a:t>
            </a:r>
          </a:p>
          <a:p>
            <a:pPr marL="284163"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="Proportion of Not Obese (blue) vs Obese (Brown)",</a:t>
            </a:r>
          </a:p>
          <a:p>
            <a:pPr marL="284163"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col=c("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blue","brown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"), main="Obesity by Gender")</a:t>
            </a:r>
          </a:p>
          <a:p>
            <a:pPr>
              <a:defRPr/>
            </a:pPr>
            <a:endParaRPr lang="en-US" sz="1400" i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barplot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prop.table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tb_obedu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), axes=T, space=0.3,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horiz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=T,</a:t>
            </a:r>
          </a:p>
          <a:p>
            <a:pPr marL="284163"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="Proportion of Not Obese (blue) vs Obese (Brown)",</a:t>
            </a:r>
          </a:p>
          <a:p>
            <a:pPr marL="284163"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col=c("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blue","brown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"), main="Obesity by Education Level")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C8F2E6-FC01-4FA6-B9A3-9E0643804F29}"/>
              </a:ext>
            </a:extLst>
          </p:cNvPr>
          <p:cNvSpPr txBox="1"/>
          <p:nvPr/>
        </p:nvSpPr>
        <p:spPr>
          <a:xfrm>
            <a:off x="115461" y="220800"/>
            <a:ext cx="8382000" cy="542653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lnSpc>
                <a:spcPts val="3400"/>
              </a:lnSpc>
              <a:spcAft>
                <a:spcPts val="0"/>
              </a:spcAft>
            </a:pPr>
            <a:r>
              <a:rPr lang="en-US" sz="3600" dirty="0">
                <a:latin typeface="Vitesse"/>
              </a:rPr>
              <a:t>Exploratory Data Analysis</a:t>
            </a:r>
            <a:endParaRPr lang="en-US" sz="3600" dirty="0">
              <a:latin typeface="Vitesse"/>
              <a:ea typeface="Vitesse" charset="0"/>
              <a:cs typeface="Vitesse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ell phone&#10;&#10;Description automatically generated"/>
          <p:cNvPicPr>
            <a:picLocks noChangeAspect="1"/>
          </p:cNvPicPr>
          <p:nvPr/>
        </p:nvPicPr>
        <p:blipFill rotWithShape="1">
          <a:blip r:embed="rId2"/>
          <a:srcRect l="4483" t="5510" r="4150" b="3101"/>
          <a:stretch/>
        </p:blipFill>
        <p:spPr>
          <a:xfrm>
            <a:off x="518410" y="996531"/>
            <a:ext cx="3455394" cy="1918741"/>
          </a:xfrm>
          <a:prstGeom prst="rect">
            <a:avLst/>
          </a:prstGeom>
        </p:spPr>
      </p:pic>
      <p:pic>
        <p:nvPicPr>
          <p:cNvPr id="3" name="Picture 2" descr="A screenshot of a cell phone&#10;&#10;Description automatically generated"/>
          <p:cNvPicPr>
            <a:picLocks noChangeAspect="1"/>
          </p:cNvPicPr>
          <p:nvPr/>
        </p:nvPicPr>
        <p:blipFill rotWithShape="1">
          <a:blip r:embed="rId3"/>
          <a:srcRect l="4884" t="5457" r="3751" b="3154"/>
          <a:stretch/>
        </p:blipFill>
        <p:spPr>
          <a:xfrm>
            <a:off x="5498106" y="989351"/>
            <a:ext cx="3505911" cy="192592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7BA7C18-722D-44C3-9464-C0BBBB562636}"/>
              </a:ext>
            </a:extLst>
          </p:cNvPr>
          <p:cNvSpPr txBox="1"/>
          <p:nvPr/>
        </p:nvSpPr>
        <p:spPr>
          <a:xfrm>
            <a:off x="115461" y="220800"/>
            <a:ext cx="8382000" cy="542653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lnSpc>
                <a:spcPts val="3400"/>
              </a:lnSpc>
              <a:spcAft>
                <a:spcPts val="0"/>
              </a:spcAft>
            </a:pPr>
            <a:r>
              <a:rPr lang="en-US" sz="3600" dirty="0">
                <a:latin typeface="Vitesse"/>
              </a:rPr>
              <a:t>Exploratory Data Analysis</a:t>
            </a:r>
            <a:endParaRPr lang="en-US" sz="3600" dirty="0">
              <a:latin typeface="Vitesse"/>
              <a:ea typeface="Vitesse" charset="0"/>
              <a:cs typeface="Vitesse" charset="0"/>
            </a:endParaRPr>
          </a:p>
        </p:txBody>
      </p:sp>
      <p:pic>
        <p:nvPicPr>
          <p:cNvPr id="5" name="Picture 4" descr="A screenshot of a cell phone&#10;&#10;Description automatically generated"/>
          <p:cNvPicPr>
            <a:picLocks noChangeAspect="1"/>
          </p:cNvPicPr>
          <p:nvPr/>
        </p:nvPicPr>
        <p:blipFill rotWithShape="1">
          <a:blip r:embed="rId4"/>
          <a:srcRect l="4772" t="5430" r="4206" b="3825"/>
          <a:stretch/>
        </p:blipFill>
        <p:spPr>
          <a:xfrm>
            <a:off x="521372" y="3035509"/>
            <a:ext cx="3455394" cy="19187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42405" y="111125"/>
            <a:ext cx="4727575" cy="6985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>
            <a:fillRect/>
          </a:stretch>
        </p:blipFill>
        <p:spPr>
          <a:xfrm>
            <a:off x="3103133" y="1085850"/>
            <a:ext cx="2728044" cy="29818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5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588</Words>
  <Application>Microsoft Office PowerPoint</Application>
  <PresentationFormat>On-screen Show (16:9)</PresentationFormat>
  <Paragraphs>82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Calibri</vt:lpstr>
      <vt:lpstr>Helvetica</vt:lpstr>
      <vt:lpstr>Vitesse</vt:lpstr>
      <vt:lpstr>Vitesse Bold</vt:lpstr>
      <vt:lpstr>Vitesse Book</vt:lpstr>
      <vt:lpstr>Vitesse Medium</vt:lpstr>
      <vt:lpstr>5_Full Page Layout</vt:lpstr>
      <vt:lpstr>2_Half Page Slash</vt:lpstr>
      <vt:lpstr>Full Page Layout</vt:lpstr>
      <vt:lpstr>PowerPoint Presentation</vt:lpstr>
      <vt:lpstr>PowerPoint Presentation</vt:lpstr>
      <vt:lpstr>Obesity in the United States</vt:lpstr>
      <vt:lpstr>Case Study Overview</vt:lpstr>
      <vt:lpstr>Case Study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Serban, Nicoleta</cp:lastModifiedBy>
  <cp:revision>457</cp:revision>
  <dcterms:created xsi:type="dcterms:W3CDTF">2020-03-30T18:09:28Z</dcterms:created>
  <dcterms:modified xsi:type="dcterms:W3CDTF">2020-04-28T03:16:46Z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  <property fmtid="{D5CDD505-2E9C-101B-9397-08002B2CF9AE}" pid="3" name="KSOProductBuildVer">
    <vt:lpwstr>1033-11.2.0.8970</vt:lpwstr>
  </property>
</Properties>
</file>