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</p:sldMasterIdLst>
  <p:notesMasterIdLst>
    <p:notesMasterId r:id="rId10"/>
  </p:notesMasterIdLst>
  <p:handoutMasterIdLst>
    <p:handoutMasterId r:id="rId11"/>
  </p:handoutMasterIdLst>
  <p:sldIdLst>
    <p:sldId id="434" r:id="rId3"/>
    <p:sldId id="447" r:id="rId4"/>
    <p:sldId id="330" r:id="rId5"/>
    <p:sldId id="446" r:id="rId6"/>
    <p:sldId id="518" r:id="rId7"/>
    <p:sldId id="514" r:id="rId8"/>
    <p:sldId id="44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47"/>
            <p14:sldId id="330"/>
            <p14:sldId id="446"/>
            <p14:sldId id="518"/>
            <p14:sldId id="514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84" userDrawn="1">
          <p15:clr>
            <a:srgbClr val="A4A3A4"/>
          </p15:clr>
        </p15:guide>
        <p15:guide id="2" pos="2856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1620" userDrawn="1">
          <p15:clr>
            <a:srgbClr val="A4A3A4"/>
          </p15:clr>
        </p15:guide>
        <p15:guide id="8" orient="horz" pos="3108" userDrawn="1">
          <p15:clr>
            <a:srgbClr val="A4A3A4"/>
          </p15:clr>
        </p15:guide>
        <p15:guide id="9" orient="horz" pos="372" userDrawn="1">
          <p15:clr>
            <a:srgbClr val="A4A3A4"/>
          </p15:clr>
        </p15:guide>
        <p15:guide id="10" pos="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8E4221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89858" autoAdjust="0"/>
  </p:normalViewPr>
  <p:slideViewPr>
    <p:cSldViewPr snapToGrid="0">
      <p:cViewPr varScale="1">
        <p:scale>
          <a:sx n="106" d="100"/>
          <a:sy n="106" d="100"/>
        </p:scale>
        <p:origin x="1013" y="67"/>
      </p:cViewPr>
      <p:guideLst>
        <p:guide orient="horz" pos="684"/>
        <p:guide pos="2856"/>
        <p:guide pos="144"/>
        <p:guide pos="336"/>
        <p:guide pos="3456"/>
        <p:guide pos="5640"/>
        <p:guide orient="horz" pos="1620"/>
        <p:guide orient="horz" pos="3108"/>
        <p:guide orient="horz" pos="372"/>
        <p:guide pos="5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95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6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93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44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43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xmlns="" id="{00CDC397-DC19-40E6-BBC8-FB0B254C6850}"/>
              </a:ext>
            </a:extLst>
          </p:cNvPr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Data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xmlns="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347" y="115287"/>
            <a:ext cx="8562392" cy="645161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Example: Smoking</a:t>
            </a:r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45311" y="818135"/>
            <a:ext cx="8033411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Between 1972 and 1974, a survey was taken in Whickham, a mixed urban and rural district near Newcastle upon Tyne, United Kingdom. </a:t>
            </a:r>
          </a:p>
          <a:p>
            <a:pPr marL="628650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Among the information obtained originally was whether a person was a smoker or not.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Twenty years later a follow-up study was conducted.</a:t>
            </a:r>
          </a:p>
          <a:p>
            <a:pPr marL="628650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76.12% of the 582 smokers were still alive, while only 68.58% of 732 nonsmokers were still alive.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6990" y="3445615"/>
            <a:ext cx="5769528" cy="646331"/>
          </a:xfrm>
          <a:prstGeom prst="rect">
            <a:avLst/>
          </a:prstGeom>
          <a:noFill/>
          <a:ln w="19050">
            <a:solidFill>
              <a:srgbClr val="1F497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 had a higher survival rate than nonsmokers! </a:t>
            </a:r>
          </a:p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Call Philip Morris, smoking leads to a longer life span!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43970" y="4624872"/>
            <a:ext cx="8033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provided by Dr. Jeffrey 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 from New York University.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26512" y="871599"/>
            <a:ext cx="8449503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Read data in R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smoking &lt;-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("CIGARETT.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="",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row.names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=NULL)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names(smoking) &lt;- c("Age","Smoker","Survived","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attach(smoking)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Plot proportion of survival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Age,Survived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="Age",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="Survival Proportion",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legend(30,0.2, 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Smokers","Non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-smokers"),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30665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Data Example in R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26512" y="871599"/>
            <a:ext cx="8449503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Read data in R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smoking &lt;-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("CIGARETT.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="",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row.names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=NULL)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names(smoking) &lt;- c("Age","Smoker","Survived","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attach(smoking)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Plot proportion of survival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Age,Survived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="Age",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="Survival Proportion",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legend(30,0.2, 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Smokers","Non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-smokers"),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30665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Data Example in R</a:t>
            </a:r>
            <a:endParaRPr lang="en-US" sz="3600" dirty="0">
              <a:latin typeface="Vitess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2"/>
          <a:stretch/>
        </p:blipFill>
        <p:spPr>
          <a:xfrm>
            <a:off x="595666" y="2586151"/>
            <a:ext cx="3695534" cy="236219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834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1681" y="848684"/>
            <a:ext cx="8562391" cy="1168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Plot of logit transformation of the proportion survival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prop.survival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&lt;-Survived/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Age,log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prop.survival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/(1-prop.survival)),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="Age",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="Logit(Survival Proportion)",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legend(30,0, 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legend=c("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Smokers","Non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-smokers"),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2830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 in R (cont’d)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2"/>
          <a:stretch/>
        </p:blipFill>
        <p:spPr>
          <a:xfrm>
            <a:off x="595666" y="2275200"/>
            <a:ext cx="3695534" cy="267314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0290"/>
          <a:stretch/>
        </p:blipFill>
        <p:spPr>
          <a:xfrm>
            <a:off x="4627640" y="2275200"/>
            <a:ext cx="3695560" cy="265887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344</Words>
  <Application>Microsoft Office PowerPoint</Application>
  <PresentationFormat>On-screen Show (16:9)</PresentationFormat>
  <Paragraphs>43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MS PGothic</vt:lpstr>
      <vt:lpstr>Arial</vt:lpstr>
      <vt:lpstr>Calibri</vt:lpstr>
      <vt:lpstr>Helvetica</vt:lpstr>
      <vt:lpstr>Helvetica Neue</vt:lpstr>
      <vt:lpstr>Vitesse</vt:lpstr>
      <vt:lpstr>Vitesse Bold</vt:lpstr>
      <vt:lpstr>Vitesse Medium</vt:lpstr>
      <vt:lpstr>2_Half Page Slash</vt:lpstr>
      <vt:lpstr>Full Page Layout</vt:lpstr>
      <vt:lpstr>PowerPoint Presentation</vt:lpstr>
      <vt:lpstr>PowerPoint Presentation</vt:lpstr>
      <vt:lpstr>Data Example: Smoking</vt:lpstr>
      <vt:lpstr>Data Example in R</vt:lpstr>
      <vt:lpstr>Data Example in R</vt:lpstr>
      <vt:lpstr>Data Example in R (cont’d)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444</cp:revision>
  <dcterms:created xsi:type="dcterms:W3CDTF">2020-03-27T18:45:00Z</dcterms:created>
  <dcterms:modified xsi:type="dcterms:W3CDTF">2021-05-12T12:51:48Z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