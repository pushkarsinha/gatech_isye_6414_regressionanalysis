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11"/>
  </p:notesMasterIdLst>
  <p:handoutMasterIdLst>
    <p:handoutMasterId r:id="rId12"/>
  </p:handoutMasterIdLst>
  <p:sldIdLst>
    <p:sldId id="434" r:id="rId3"/>
    <p:sldId id="447" r:id="rId4"/>
    <p:sldId id="444" r:id="rId5"/>
    <p:sldId id="511" r:id="rId6"/>
    <p:sldId id="512" r:id="rId7"/>
    <p:sldId id="454" r:id="rId8"/>
    <p:sldId id="455" r:id="rId9"/>
    <p:sldId id="448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47"/>
            <p14:sldId id="444"/>
            <p14:sldId id="511"/>
            <p14:sldId id="512"/>
            <p14:sldId id="454"/>
            <p14:sldId id="455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FFFFFF"/>
    <a:srgbClr val="8E4221"/>
    <a:srgbClr val="984807"/>
    <a:srgbClr val="993200"/>
    <a:srgbClr val="F8FFF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89858" autoAdjust="0"/>
  </p:normalViewPr>
  <p:slideViewPr>
    <p:cSldViewPr snapToGrid="0">
      <p:cViewPr varScale="1">
        <p:scale>
          <a:sx n="76" d="100"/>
          <a:sy n="76" d="100"/>
        </p:scale>
        <p:origin x="1124" y="44"/>
      </p:cViewPr>
      <p:guideLst>
        <p:guide orient="horz" pos="1620"/>
        <p:guide pos="144"/>
        <p:guide pos="2880"/>
        <p:guide pos="336"/>
        <p:guide pos="3456"/>
        <p:guide pos="5640"/>
        <p:guide orient="horz" pos="372"/>
        <p:guide orient="horz" pos="684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1A5EACE-B5AC-4BA2-9E83-57507F37BF0C}"/>
              </a:ext>
            </a:extLst>
          </p:cNvPr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Model Description and Estimation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5650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34903" y="1800518"/>
                <a:ext cx="8162641" cy="2842188"/>
              </a:xfrm>
              <a:prstGeom prst="rect">
                <a:avLst/>
              </a:prstGeom>
            </p:spPr>
            <p:txBody>
              <a:bodyPr vert="horz" lIns="91440" tIns="34290" rIns="91440" bIns="34290" rtlCol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sz="1800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We model the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</a:t>
                </a:r>
                <a:r>
                  <a:rPr 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robability of success given the predictor(s)</a:t>
                </a:r>
              </a:p>
              <a:p>
                <a:pPr marL="1317625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Pr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=1 |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  <a:p>
                <a:pPr marL="796925" indent="0" defTabSz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by linking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p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to the predicting variables through the </a:t>
                </a:r>
                <a:r>
                  <a:rPr lang="en-US" sz="18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logit</a:t>
                </a:r>
                <a:r>
                  <a:rPr 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link function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g</m:t>
                    </m:r>
                  </m:oMath>
                </a14:m>
                <a:r>
                  <a:rPr lang="en-US" sz="1800" b="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  <a:p>
                <a:pPr marL="131762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en-US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p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p</m:t>
                              </m:r>
                            </m:den>
                          </m:f>
                        </m:e>
                      </m:d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8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79692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57200" algn="l"/>
                  </a:tabLst>
                </a:pPr>
                <a:r>
                  <a:rPr lang="en-US" sz="1800" b="1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OR</a:t>
                </a:r>
              </a:p>
              <a:p>
                <a:pPr marL="14255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Helvetica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latin typeface="Helvetica Neue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03" y="1800518"/>
                <a:ext cx="8162641" cy="2842188"/>
              </a:xfrm>
              <a:prstGeom prst="rect">
                <a:avLst/>
              </a:prstGeom>
              <a:blipFill>
                <a:blip r:embed="rId3"/>
                <a:stretch>
                  <a:fillRect l="-597" t="-2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3980" y="817574"/>
                <a:ext cx="8819520" cy="687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796925" indent="-796925"/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Data: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96925"/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binary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responses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980" y="817574"/>
                <a:ext cx="8819520" cy="687496"/>
              </a:xfrm>
              <a:prstGeom prst="rect">
                <a:avLst/>
              </a:prstGeom>
              <a:blipFill>
                <a:blip r:embed="rId4"/>
                <a:stretch>
                  <a:fillRect l="-622" t="-1770" b="-13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557132" y="3507274"/>
            <a:ext cx="3875313" cy="818652"/>
          </a:xfrm>
          <a:prstGeom prst="rect">
            <a:avLst/>
          </a:prstGeom>
          <a:noFill/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383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28600" y="829165"/>
                <a:ext cx="7321492" cy="4013565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probability of success given one predicting variable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</a:t>
                </a:r>
              </a:p>
              <a:p>
                <a:pPr marL="914400" indent="-91440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"/>
                        </a:rPr>
                        <m:t>Pr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=1 | 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logit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ln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800"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p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800"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1−</m:t>
                            </m:r>
                            <m:r>
                              <m:rPr>
                                <m:nor/>
                              </m:rPr>
                              <a:rPr lang="en-US" sz="1800"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p</m:t>
                            </m:r>
                          </m:den>
                        </m:f>
                      </m:e>
                    </m:d>
                    <m: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alt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+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alt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the </a:t>
                </a:r>
                <a:r>
                  <a:rPr lang="en-US" sz="18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log odds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function.</a:t>
                </a:r>
              </a:p>
              <a:p>
                <a:pPr marL="285750" indent="-285750">
                  <a:lnSpc>
                    <a:spcPct val="10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exponential of the logit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</a:t>
                </a:r>
                <a:r>
                  <a:rPr lang="en-US" sz="18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odds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of </a:t>
                </a:r>
                <a:r>
                  <a:rPr lang="en-US" sz="1800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1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at </a:t>
                </a:r>
                <a:r>
                  <a:rPr lang="en-US" sz="1800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800" i="1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18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odds at </a:t>
                </a:r>
                <a:r>
                  <a:rPr lang="en-US" sz="1800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versus </a:t>
                </a:r>
                <a:r>
                  <a:rPr lang="en-US" sz="1800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equal to the </a:t>
                </a:r>
                <a:r>
                  <a:rPr lang="en-US" sz="1800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odds ratio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914400" indent="0" algn="ctr">
                  <a:lnSpc>
                    <a:spcPct val="100000"/>
                  </a:lnSpc>
                  <a:spcBef>
                    <a:spcPts val="1800"/>
                  </a:spcBef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4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829165"/>
                <a:ext cx="7321492" cy="4013565"/>
              </a:xfrm>
              <a:prstGeom prst="rect">
                <a:avLst/>
              </a:prstGeom>
              <a:blipFill>
                <a:blip r:embed="rId3"/>
                <a:stretch>
                  <a:fillRect l="-1832" t="-1064" r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6269" y="1087504"/>
                <a:ext cx="7986553" cy="3354636"/>
              </a:xfrm>
              <a:prstGeom prst="rect">
                <a:avLst/>
              </a:prstGeom>
              <a:noFill/>
              <a:ln w="19050">
                <a:solidFill>
                  <a:srgbClr val="1F497D"/>
                </a:solidFill>
              </a:ln>
            </p:spPr>
            <p:txBody>
              <a:bodyPr vert="horz" wrap="square" lIns="91440" tIns="91440" rIns="91440" bIns="91440" rtlCol="0" anchor="ctr" anchorCtr="0">
                <a:sp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If we calculate the odds ratio of the odds at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X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versus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X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Helvetica Neue"/>
                    <a:cs typeface="Helvetica"/>
                  </a:rPr>
                  <a:t>, 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we have</a:t>
                </a:r>
              </a:p>
              <a:p>
                <a:endParaRPr lang="en-US" sz="80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91440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Helvetica Neue"/>
                  <a:cs typeface="Helvetica"/>
                </a:endParaRPr>
              </a:p>
              <a:p>
                <a:pPr marL="569913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The regression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Helvetica Neue"/>
                    <a:cs typeface="Helvetica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can be interpreted as the log of the odds ratio for an increase of one unit in the predicting variable.</a:t>
                </a:r>
              </a:p>
              <a:p>
                <a:pPr marL="569913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X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a dummy variable of a categorical factor, interpret as the log of odds ratio of one category versus baseline.</a:t>
                </a:r>
              </a:p>
              <a:p>
                <a:pPr marL="569913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Interpret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Helvetica Neue"/>
                    <a:cs typeface="Helvetica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with respect to the odds of success, not directly with respect to the response variable.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69" y="1087504"/>
                <a:ext cx="7986553" cy="3354636"/>
              </a:xfrm>
              <a:prstGeom prst="rect">
                <a:avLst/>
              </a:prstGeom>
              <a:blipFill>
                <a:blip r:embed="rId3"/>
                <a:stretch>
                  <a:fillRect l="-533" r="-914" b="-722"/>
                </a:stretch>
              </a:blipFill>
              <a:ln w="19050">
                <a:solidFill>
                  <a:srgbClr val="1F497D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E2B2DEF-CF02-4B46-BB6A-86EA8CE99B5D}"/>
              </a:ext>
            </a:extLst>
          </p:cNvPr>
          <p:cNvSpPr txBox="1">
            <a:spLocks/>
          </p:cNvSpPr>
          <p:nvPr/>
        </p:nvSpPr>
        <p:spPr>
          <a:xfrm>
            <a:off x="109736" y="115287"/>
            <a:ext cx="8562392" cy="63837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Model 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06898"/>
            <a:ext cx="8562392" cy="5977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34902" y="856005"/>
                <a:ext cx="8740650" cy="4185165"/>
              </a:xfrm>
              <a:prstGeom prst="rect">
                <a:avLst/>
              </a:prstGeom>
            </p:spPr>
            <p:txBody>
              <a:bodyPr vert="horz" lIns="91440" tIns="34290" rIns="9144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probability of success given predictor(s):</a:t>
                </a:r>
              </a:p>
              <a:p>
                <a:pPr marL="344488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Logit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Pr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𝑌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  <m:t>=1 |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=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Logit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/>
                          </a:rPr>
                          <m:t>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Parameters: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Approach: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Maximum Likelihood Estimation</a:t>
                </a:r>
              </a:p>
              <a:p>
                <a:pPr marL="344488" indent="-344488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ℒ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latin typeface="Helvetica" panose="020B0604020202020204" pitchFamily="34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 dirty="0">
                              <a:latin typeface="Helvetica" panose="020B0604020202020204" pitchFamily="34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)</m:t>
                          </m:r>
                        </m:e>
                      </m:func>
                      <m:r>
                        <m:rPr>
                          <m:nor/>
                        </m:rPr>
                        <a:rPr lang="en-US" sz="1600" dirty="0"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n-US" sz="16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or</a:t>
                </a: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alt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en-US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alt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ℒ</m:t>
                              </m:r>
                              <m:r>
                                <m:rPr>
                                  <m:nor/>
                                </m:rPr>
                                <a:rPr lang="en-US" sz="1600" dirty="0">
                                  <a:latin typeface="Helvetica" panose="020B0604020202020204" pitchFamily="34" charset="0"/>
                                  <a:ea typeface="Helvetica Neue" charset="0"/>
                                  <a:cs typeface="Helvetica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600" dirty="0">
                                  <a:latin typeface="Helvetica" panose="020B0604020202020204" pitchFamily="34" charset="0"/>
                                  <a:ea typeface="Helvetica Neue" charset="0"/>
                                  <a:cs typeface="Helvetica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600" b="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Helvetica Neue" charset="0"/>
                          <a:cs typeface="Helvetica Neue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Helvetica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  <a:ea typeface="Helvetica Neue" charset="0"/>
                          <a:cs typeface="Helvetica Neue" charset="0"/>
                        </a:rPr>
                        <m:t>    </m:t>
                      </m:r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02" y="856005"/>
                <a:ext cx="8740650" cy="4185165"/>
              </a:xfrm>
              <a:prstGeom prst="rect">
                <a:avLst/>
              </a:prstGeom>
              <a:blipFill>
                <a:blip r:embed="rId3"/>
                <a:stretch>
                  <a:fillRect l="-55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1455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Estimation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60070" y="800332"/>
                <a:ext cx="8103860" cy="3924215"/>
              </a:xfrm>
              <a:prstGeom prst="rect">
                <a:avLst/>
              </a:prstGeom>
            </p:spPr>
            <p:txBody>
              <a:bodyPr vert="horz" lIns="91440" tIns="91440" rIns="91440" bIns="9144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Approach</a:t>
                </a:r>
                <a:r>
                  <a:rPr lang="en-US" sz="1800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Maximum Likelihood Estimation</a:t>
                </a:r>
              </a:p>
              <a:p>
                <a:pPr marL="28575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Helvetica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b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 indent="-401638">
                  <a:lnSpc>
                    <a:spcPct val="12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Maximizing the (log-)likelihood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 closed form expression is not possible because the (log-)likelihood function is a non-linear function in the model parameters.</a:t>
                </a:r>
              </a:p>
              <a:p>
                <a:pPr marL="687388" indent="-401638">
                  <a:lnSpc>
                    <a:spcPct val="12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numerical algorithm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KishoreFont Medium" charset="0"/>
                            <a:cs typeface="KishoreFont Medium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,</m:t>
                    </m:r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en-US" sz="18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KishoreFont Medium" charset="0"/>
                            <a:cs typeface="KishoreFont Medium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Upshot</a:t>
                </a:r>
                <a:r>
                  <a:rPr lang="en-US" sz="1800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estimated parameters and their standard errors are approximate estimates. Do not attempt to do it yourself! Use statistical software to derive the estimated regression coefficients.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70" y="800332"/>
                <a:ext cx="8103860" cy="3924215"/>
              </a:xfrm>
              <a:prstGeom prst="rect">
                <a:avLst/>
              </a:prstGeom>
              <a:blipFill>
                <a:blip r:embed="rId3"/>
                <a:stretch>
                  <a:fillRect l="-602" t="-311" r="-602" b="-3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342</Words>
  <Application>Microsoft Office PowerPoint</Application>
  <PresentationFormat>On-screen Show (16:9)</PresentationFormat>
  <Paragraphs>56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Medium</vt:lpstr>
      <vt:lpstr>Wingdings</vt:lpstr>
      <vt:lpstr>2_Half Page Slash</vt:lpstr>
      <vt:lpstr>Full Page Layout</vt:lpstr>
      <vt:lpstr>PowerPoint Presentation</vt:lpstr>
      <vt:lpstr>PowerPoint Presentation</vt:lpstr>
      <vt:lpstr>Logistic Regression Model</vt:lpstr>
      <vt:lpstr>Model Interpretation</vt:lpstr>
      <vt:lpstr>PowerPoint Presentation</vt:lpstr>
      <vt:lpstr>Model Estimation</vt:lpstr>
      <vt:lpstr>Model Estimation (cont’d)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473</cp:revision>
  <dcterms:created xsi:type="dcterms:W3CDTF">2020-03-27T18:54:00Z</dcterms:created>
  <dcterms:modified xsi:type="dcterms:W3CDTF">2020-04-17T20:21:42Z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