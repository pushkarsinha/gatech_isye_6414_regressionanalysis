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5" r:id="rId2"/>
  </p:sldMasterIdLst>
  <p:notesMasterIdLst>
    <p:notesMasterId r:id="rId9"/>
  </p:notesMasterIdLst>
  <p:handoutMasterIdLst>
    <p:handoutMasterId r:id="rId10"/>
  </p:handoutMasterIdLst>
  <p:sldIdLst>
    <p:sldId id="434" r:id="rId3"/>
    <p:sldId id="517" r:id="rId4"/>
    <p:sldId id="330" r:id="rId5"/>
    <p:sldId id="515" r:id="rId6"/>
    <p:sldId id="516" r:id="rId7"/>
    <p:sldId id="448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34"/>
            <p14:sldId id="517"/>
            <p14:sldId id="330"/>
            <p14:sldId id="515"/>
            <p14:sldId id="516"/>
            <p14:sldId id="4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72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60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40" userDrawn="1">
          <p15:clr>
            <a:srgbClr val="A4A3A4"/>
          </p15:clr>
        </p15:guide>
        <p15:guide id="7" orient="horz" pos="1620" userDrawn="1">
          <p15:clr>
            <a:srgbClr val="A4A3A4"/>
          </p15:clr>
        </p15:guide>
        <p15:guide id="8" orient="horz" pos="684" userDrawn="1">
          <p15:clr>
            <a:srgbClr val="A4A3A4"/>
          </p15:clr>
        </p15:guide>
        <p15:guide id="9" orient="horz" pos="31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/>
  <p:cmAuthor id="2" name="zwen42@gatech.com" initials="z" lastIdx="1" clrIdx="1"/>
  <p:cmAuthor id="3" name="Serban, Nicoleta" initials="SN" lastIdx="11" clrIdx="2"/>
  <p:cmAuthor id="4" name="Hu, Rui" initials="HR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8E4221"/>
    <a:srgbClr val="984807"/>
    <a:srgbClr val="1F497D"/>
    <a:srgbClr val="993200"/>
    <a:srgbClr val="F8FFF1"/>
    <a:srgbClr val="000000"/>
    <a:srgbClr val="F7FFEE"/>
    <a:srgbClr val="F5FC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49" autoAdjust="0"/>
    <p:restoredTop sz="89815" autoAdjust="0"/>
  </p:normalViewPr>
  <p:slideViewPr>
    <p:cSldViewPr snapToGrid="0">
      <p:cViewPr varScale="1">
        <p:scale>
          <a:sx n="74" d="100"/>
          <a:sy n="74" d="100"/>
        </p:scale>
        <p:origin x="1248" y="36"/>
      </p:cViewPr>
      <p:guideLst>
        <p:guide orient="horz" pos="372"/>
        <p:guide pos="2880"/>
        <p:guide pos="144"/>
        <p:guide pos="360"/>
        <p:guide pos="3456"/>
        <p:guide pos="5640"/>
        <p:guide orient="horz" pos="1620"/>
        <p:guide orient="horz" pos="684"/>
        <p:guide orient="horz" pos="31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en-US" dirty="0">
              <a:ea typeface="MS PGothic" panose="020B0600070205080204" charset="-128"/>
            </a:endParaRPr>
          </a:p>
        </p:txBody>
      </p:sp>
      <p:sp>
        <p:nvSpPr>
          <p:cNvPr id="880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FC1340CC-78E1-404E-942C-7AB62C289CB5}" type="slidenum">
              <a:rPr lang="en-US" altLang="en-US"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1" y="780732"/>
            <a:ext cx="5672951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4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/>
              <a:t>Module Name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3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Lesson name: e.g. R Examples</a:t>
            </a:r>
          </a:p>
          <a:p>
            <a:pPr lvl="0"/>
            <a:r>
              <a:rPr lang="en-US" dirty="0" err="1"/>
              <a:t>Subname</a:t>
            </a:r>
            <a:r>
              <a:rPr lang="en-US" dirty="0"/>
              <a:t> if applicable (e.g. Part II)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 panose="020B0604020202020204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0461" y="108666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/>
              </a:rPr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673536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2"/>
                </a:solidFill>
              </a:rPr>
              <a:t>Logistic Regression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2482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 panose="020B0604020202020204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41340" y="240631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4033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Stewart School of Industrial and Systems Engineering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0D2B683-E2BB-4E37-A900-F6EE28423405}"/>
              </a:ext>
            </a:extLst>
          </p:cNvPr>
          <p:cNvSpPr>
            <a:spLocks noGrp="1"/>
          </p:cNvSpPr>
          <p:nvPr/>
        </p:nvSpPr>
        <p:spPr>
          <a:xfrm>
            <a:off x="117956" y="4102100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Model Estimation: Data Example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>
            <a:fillRect/>
          </a:stretch>
        </p:blipFill>
        <p:spPr>
          <a:xfrm>
            <a:off x="3441090" y="1085849"/>
            <a:ext cx="2440322" cy="3088911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5FE4467-4468-4543-828C-04337E75C594}"/>
              </a:ext>
            </a:extLst>
          </p:cNvPr>
          <p:cNvSpPr txBox="1">
            <a:spLocks/>
          </p:cNvSpPr>
          <p:nvPr/>
        </p:nvSpPr>
        <p:spPr>
          <a:xfrm>
            <a:off x="147119" y="120499"/>
            <a:ext cx="4727575" cy="731706"/>
          </a:xfrm>
        </p:spPr>
        <p:txBody>
          <a:bodyPr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8410" y="113806"/>
            <a:ext cx="8562392" cy="689266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Data Example: Smoking</a:t>
            </a:r>
          </a:p>
        </p:txBody>
      </p:sp>
      <p:sp>
        <p:nvSpPr>
          <p:cNvPr id="90115" name="TextBox 2"/>
          <p:cNvSpPr txBox="1">
            <a:spLocks noChangeArrowheads="1"/>
          </p:cNvSpPr>
          <p:nvPr/>
        </p:nvSpPr>
        <p:spPr bwMode="auto">
          <a:xfrm>
            <a:off x="138025" y="816889"/>
            <a:ext cx="8033411" cy="2338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marL="347663" indent="-347663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Between 1972 and 1974, a survey was taken in Whickham, a mixed urban and rural district near Newcastle upon Tyne, United Kingdom. </a:t>
            </a:r>
          </a:p>
          <a:p>
            <a:pPr marL="685800" lvl="1" indent="-344488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Among the information obtained originally was whether a person was a smoker or not.</a:t>
            </a:r>
          </a:p>
          <a:p>
            <a:pPr marL="347663" indent="-347663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Twenty years later a follow-up study was conducted.</a:t>
            </a:r>
          </a:p>
          <a:p>
            <a:pPr marL="685800" lvl="1" indent="-344488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76.12% of the 582 smokers were still alive, while only 68.58% of 732 nonsmokers were still alive.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35703" y="3359141"/>
            <a:ext cx="5801028" cy="646331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Smokers had a higher survival rate than nonsmokers! </a:t>
            </a:r>
          </a:p>
          <a:p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Call Philip Morris, smoking leads to a longer life span! </a:t>
            </a:r>
          </a:p>
        </p:txBody>
      </p:sp>
      <p:sp>
        <p:nvSpPr>
          <p:cNvPr id="3" name="TextBox 2"/>
          <p:cNvSpPr txBox="1"/>
          <p:nvPr/>
        </p:nvSpPr>
        <p:spPr>
          <a:xfrm flipH="1">
            <a:off x="154954" y="4372890"/>
            <a:ext cx="80334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u="sng" dirty="0">
                <a:latin typeface="Helvetica" panose="020B0604020202020204" pitchFamily="34" charset="0"/>
                <a:cs typeface="Helvetica" panose="020B0604020202020204" pitchFamily="34" charset="0"/>
              </a:rPr>
              <a:t>Acknowledgement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: This example was provided by Dr. Jeffrey </a:t>
            </a:r>
            <a:r>
              <a:rPr 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Simonoff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 from New York University.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57920" y="1882582"/>
            <a:ext cx="8048748" cy="160043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Fit a logistic regression model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smoke1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glm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(Survived/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At.risk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~ Smoker, weights=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At.risk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family=binomial)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summary(smoke1)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Coefficients: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           	Estimate 	Std. Error	z value	</a:t>
            </a:r>
            <a:r>
              <a:rPr lang="en-US" sz="1400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</a:t>
            </a: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(&gt;|z|)    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(Intercept)  	0.78052	0.07962	9.803  	&lt; 2e-16 ***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Smoker      	0.37858	0.12566	3.013  	0.00259 ** </a:t>
            </a: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05886" y="114293"/>
            <a:ext cx="5943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/>
                <a:ea typeface="Vitesse" charset="0"/>
                <a:cs typeface="Vitesse" charset="0"/>
              </a:rPr>
              <a:t>Data Example in 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34123" y="3777652"/>
                <a:ext cx="7491577" cy="1030539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lIns="182880" tIns="91440" rIns="182880" bIns="9144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en-US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𝑠𝑚𝑜𝑘𝑒𝑟</m:t>
                        </m:r>
                      </m:sub>
                    </m:sSub>
                    <m:r>
                      <a:rPr lang="en-US" alt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en-US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b="1" i="1" smtClean="0">
                        <a:latin typeface="Cambria Math" panose="02040503050406030204" pitchFamily="18" charset="0"/>
                      </a:rPr>
                      <m:t>𝟑𝟕𝟖</m:t>
                    </m:r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The log odds of survival increases by 0.378 for smokers versus non-smokers OR the odds of survival are 46% higher for smokers than for non-smokers (the odds ratio is 1.459).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23" y="3777652"/>
                <a:ext cx="7491577" cy="1030539"/>
              </a:xfrm>
              <a:prstGeom prst="rect">
                <a:avLst/>
              </a:prstGeom>
              <a:blipFill>
                <a:blip r:embed="rId3"/>
                <a:stretch>
                  <a:fillRect b="-2907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3"/>
              <p:cNvSpPr txBox="1">
                <a:spLocks noChangeArrowheads="1"/>
              </p:cNvSpPr>
              <p:nvPr/>
            </p:nvSpPr>
            <p:spPr bwMode="auto">
              <a:xfrm>
                <a:off x="122817" y="813781"/>
                <a:ext cx="6953250" cy="923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b="1" dirty="0">
                    <a:solidFill>
                      <a:srgbClr val="EEB211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Data: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baseline="-250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binary responses ~ Binomial(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𝐩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baseline="-250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,</a:t>
                </a:r>
                <a:r>
                  <a:rPr lang="en-US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baseline="-250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)</a:t>
                </a:r>
              </a:p>
              <a:p>
                <a:pPr marL="973138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baseline="-250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number of people at risk who survived (Survived)</a:t>
                </a:r>
              </a:p>
              <a:p>
                <a:pPr marL="973138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baseline="-250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number of people at risk (</a:t>
                </a:r>
                <a:r>
                  <a:rPr lang="en-US" altLang="en-US" dirty="0" err="1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At.risk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2817" y="813781"/>
                <a:ext cx="6953250" cy="923330"/>
              </a:xfrm>
              <a:prstGeom prst="rect">
                <a:avLst/>
              </a:prstGeom>
              <a:blipFill>
                <a:blip r:embed="rId4"/>
                <a:stretch>
                  <a:fillRect l="-701" t="-3289" b="-92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67678" y="868615"/>
            <a:ext cx="8705797" cy="18148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Fit a logistic regression model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smoke2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glm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(Survived/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At.risk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~ Smoker + Age, weights=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At.risk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family=binomial)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summary(smoke2)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Coefficients: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            	Estimate	Std. Error	z value	</a:t>
            </a:r>
            <a:r>
              <a:rPr lang="en-US" sz="1400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</a:t>
            </a: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(&gt;|z|)    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(Intercept)  	7.785001   	0.454999  	17.110   	&lt;2e-16 ***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Smoker      	-0.240831	0.167885  	-1.435    	0.151    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Age         	-0.127419	0.007397 	-17.227   	&lt;2e-16 ***</a:t>
            </a:r>
            <a:endParaRPr lang="en-US" dirty="0">
              <a:solidFill>
                <a:schemeClr val="tx2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8600" y="3013466"/>
                <a:ext cx="7497100" cy="1030539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lIns="182880" tIns="91440" rIns="182880" bIns="9144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en-US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𝑠𝑚𝑜𝑘𝑒𝑟</m:t>
                        </m:r>
                      </m:sub>
                    </m:sSub>
                    <m:r>
                      <a:rPr lang="en-US" alt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1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en-US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b="1" i="0" smtClean="0">
                        <a:latin typeface="Cambria Math" panose="02040503050406030204" pitchFamily="18" charset="0"/>
                      </a:rPr>
                      <m:t>𝟐𝟒</m:t>
                    </m:r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The odds of survival is 27.2% higher for non-smokers than for smokers (odds ratio for non-smokers versus smokers is 1/exp(-0.24) =1.272).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013466"/>
                <a:ext cx="7497100" cy="1030539"/>
              </a:xfrm>
              <a:prstGeom prst="rect">
                <a:avLst/>
              </a:prstGeom>
              <a:blipFill>
                <a:blip r:embed="rId3"/>
                <a:stretch>
                  <a:fillRect b="-3488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2">
            <a:extLst>
              <a:ext uri="{FF2B5EF4-FFF2-40B4-BE49-F238E27FC236}">
                <a16:creationId xmlns:a16="http://schemas.microsoft.com/office/drawing/2014/main" id="{E88F048F-E678-4210-A00A-41416450E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86" y="114293"/>
            <a:ext cx="5943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/>
                <a:ea typeface="Vitesse" charset="0"/>
                <a:cs typeface="Vitesse" charset="0"/>
              </a:rPr>
              <a:t>Data Example in 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42405" y="111125"/>
            <a:ext cx="4727575" cy="6985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>
            <a:fillRect/>
          </a:stretch>
        </p:blipFill>
        <p:spPr>
          <a:xfrm>
            <a:off x="3103133" y="1085850"/>
            <a:ext cx="2728044" cy="29818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421</Words>
  <Application>Microsoft Office PowerPoint</Application>
  <PresentationFormat>On-screen Show (16:9)</PresentationFormat>
  <Paragraphs>43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Cambria Math</vt:lpstr>
      <vt:lpstr>Helvetica</vt:lpstr>
      <vt:lpstr>Vitesse</vt:lpstr>
      <vt:lpstr>Vitesse Bold</vt:lpstr>
      <vt:lpstr>Vitesse Medium</vt:lpstr>
      <vt:lpstr>2_Half Page Slash</vt:lpstr>
      <vt:lpstr>Full Page Layout</vt:lpstr>
      <vt:lpstr>PowerPoint Presentation</vt:lpstr>
      <vt:lpstr>PowerPoint Presentation</vt:lpstr>
      <vt:lpstr>Data Example: Smoking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Serban, Nicoleta</cp:lastModifiedBy>
  <cp:revision>455</cp:revision>
  <dcterms:created xsi:type="dcterms:W3CDTF">2020-03-27T19:15:00Z</dcterms:created>
  <dcterms:modified xsi:type="dcterms:W3CDTF">2020-04-24T03:02:13Z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  <property fmtid="{D5CDD505-2E9C-101B-9397-08002B2CF9AE}" pid="3" name="KSOProductBuildVer">
    <vt:lpwstr>1033-11.2.0.8970</vt:lpwstr>
  </property>
</Properties>
</file>