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2"/>
  </p:sldMasterIdLst>
  <p:notesMasterIdLst>
    <p:notesMasterId r:id="rId13"/>
  </p:notesMasterIdLst>
  <p:handoutMasterIdLst>
    <p:handoutMasterId r:id="rId14"/>
  </p:handoutMasterIdLst>
  <p:sldIdLst>
    <p:sldId id="434" r:id="rId3"/>
    <p:sldId id="447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8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47"/>
            <p14:sldId id="439"/>
            <p14:sldId id="440"/>
            <p14:sldId id="441"/>
            <p14:sldId id="442"/>
            <p14:sldId id="443"/>
            <p14:sldId id="444"/>
            <p14:sldId id="445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2772" userDrawn="1">
          <p15:clr>
            <a:srgbClr val="A4A3A4"/>
          </p15:clr>
        </p15:guide>
        <p15:guide id="10" orient="horz" pos="31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EEB211"/>
    <a:srgbClr val="8E4221"/>
    <a:srgbClr val="984807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6" autoAdjust="0"/>
    <p:restoredTop sz="93817" autoAdjust="0"/>
  </p:normalViewPr>
  <p:slideViewPr>
    <p:cSldViewPr snapToGrid="0">
      <p:cViewPr varScale="1">
        <p:scale>
          <a:sx n="52" d="100"/>
          <a:sy n="52" d="100"/>
        </p:scale>
        <p:origin x="60" y="366"/>
      </p:cViewPr>
      <p:guideLst>
        <p:guide orient="horz" pos="1620"/>
        <p:guide pos="2880"/>
        <p:guide pos="144"/>
        <p:guide pos="360"/>
        <p:guide pos="3456"/>
        <p:guide pos="5640"/>
        <p:guide orient="horz" pos="372"/>
        <p:guide orient="horz" pos="684"/>
        <p:guide orient="horz" pos="277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9595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Introduction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127415" y="823651"/>
            <a:ext cx="6828790" cy="320167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How likely is it that users will like a new layout of our website?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Will my customers leave my wireless service at the end of their subscription?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What financial characteristics can be used to predict whether or not a business will go bankrupt?</a:t>
            </a:r>
          </a:p>
          <a:p>
            <a:pPr>
              <a:spcBef>
                <a:spcPts val="1200"/>
              </a:spcBef>
            </a:pPr>
            <a:r>
              <a:rPr lang="en-US" sz="1800" dirty="0">
                <a:solidFill>
                  <a:srgbClr val="1F497D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sz="1800" b="1" dirty="0">
                <a:solidFill>
                  <a:srgbClr val="1F497D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Model the probability of ‘Yes’</a:t>
            </a:r>
            <a:endParaRPr lang="en-US" sz="1800" b="1" dirty="0">
              <a:solidFill>
                <a:srgbClr val="1F497D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75" y="117561"/>
            <a:ext cx="3904615" cy="73080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Yes/No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39" y="124778"/>
            <a:ext cx="8562392" cy="63222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141306" y="1601152"/>
                <a:ext cx="7824737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344488" indent="-344488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/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Mean Zero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 = 0</a:t>
                </a:r>
              </a:p>
              <a:p>
                <a:pPr marL="344488" indent="-344488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 =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</a:t>
                </a:r>
                <a:r>
                  <a:rPr lang="el-GR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σ</a:t>
                </a:r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2</a:t>
                </a:r>
              </a:p>
              <a:p>
                <a:pPr marL="344488" indent="-344488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,</a:t>
                </a:r>
                <a:r>
                  <a:rPr lang="en-US" altLang="en-US" sz="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…</a:t>
                </a:r>
                <a:r>
                  <a:rPr lang="en-US" altLang="en-US" sz="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}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344488" indent="-344488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Normality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~ Normal</a:t>
                </a:r>
              </a:p>
            </p:txBody>
          </p:sp>
        </mc:Choice>
        <mc:Fallback xmlns="">
          <p:sp>
            <p:nvSpPr>
              <p:cNvPr id="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306" y="1601152"/>
                <a:ext cx="7824737" cy="2308324"/>
              </a:xfrm>
              <a:prstGeom prst="rect">
                <a:avLst/>
              </a:prstGeom>
              <a:blipFill>
                <a:blip r:embed="rId3"/>
                <a:stretch>
                  <a:fillRect l="-623" t="-1587" b="-3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1286" y="867544"/>
                <a:ext cx="6249724" cy="298415"/>
              </a:xfrm>
              <a:prstGeom prst="rect">
                <a:avLst/>
              </a:prstGeom>
            </p:spPr>
            <p:txBody>
              <a:bodyPr vert="horz" wrap="none" lIns="0" tIns="0" rIns="0" bIns="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en-US" b="1" dirty="0" smtClean="0">
                          <a:solidFill>
                            <a:srgbClr val="EEB211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Model</m:t>
                      </m:r>
                      <m:r>
                        <m:rPr>
                          <m:nor/>
                        </m:rPr>
                        <a:rPr lang="en-US" altLang="en-US" dirty="0" smtClean="0">
                          <a:solidFill>
                            <a:srgbClr val="EEB211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 </m:t>
                      </m:r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=1,⋯,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elvetica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86" y="867544"/>
                <a:ext cx="6249724" cy="298415"/>
              </a:xfrm>
              <a:prstGeom prst="rect">
                <a:avLst/>
              </a:prstGeom>
              <a:blipFill>
                <a:blip r:embed="rId4"/>
                <a:stretch>
                  <a:fillRect l="-488" r="-98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4" y="117284"/>
            <a:ext cx="8562392" cy="69218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Linear Regression for Yes/No Question?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134910" y="813585"/>
            <a:ext cx="7210425" cy="32556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Uber recently changed their logo.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You are asked to model whether Uber users will like the new logo based on how much they spent in the last 3 months using Uber.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95" y="1345945"/>
            <a:ext cx="3437354" cy="16595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24" y="117283"/>
            <a:ext cx="8562392" cy="73014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What Is Wrong with Linear Regression?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60" y="1013872"/>
            <a:ext cx="4721901" cy="2875915"/>
          </a:xfrm>
          <a:prstGeom prst="rect">
            <a:avLst/>
          </a:prstGeom>
        </p:spPr>
      </p:pic>
      <p:sp>
        <p:nvSpPr>
          <p:cNvPr id="7" name="Content Placeholder 2"/>
          <p:cNvSpPr txBox="1"/>
          <p:nvPr/>
        </p:nvSpPr>
        <p:spPr>
          <a:xfrm>
            <a:off x="239844" y="4053570"/>
            <a:ext cx="3458979" cy="346980"/>
          </a:xfrm>
          <a:prstGeom prst="rect">
            <a:avLst/>
          </a:prstGeom>
          <a:solidFill>
            <a:schemeClr val="bg1"/>
          </a:solidFill>
          <a:ln w="19050">
            <a:solidFill>
              <a:srgbClr val="1F497D"/>
            </a:solidFill>
          </a:ln>
          <a:effectLst/>
        </p:spPr>
        <p:txBody>
          <a:bodyPr vert="horz" lIns="0" tIns="34290" rIns="0" bIns="34290" rtlCol="0" anchor="ctr" anchorCtr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495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7075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Customers will not behave like this!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1236345"/>
            <a:ext cx="4997450" cy="328612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24" y="109788"/>
            <a:ext cx="8562392" cy="99377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S-shaped Curve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350A48B5-D7CE-409A-BDC7-C858DE27B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25" y="1092136"/>
            <a:ext cx="4300304" cy="2793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4" y="117283"/>
            <a:ext cx="8562392" cy="99377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36905" y="1861717"/>
                <a:ext cx="8737272" cy="1715970"/>
              </a:xfrm>
              <a:prstGeom prst="rect">
                <a:avLst/>
              </a:prstGeom>
            </p:spPr>
            <p:txBody>
              <a:bodyPr vert="horz" lIns="91440" tIns="34290" rIns="9144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We model the 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</a:t>
                </a:r>
                <a:r>
                  <a:rPr lang="en-US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robability of success given the predictor(s)</a:t>
                </a:r>
              </a:p>
              <a:p>
                <a:pPr marL="13716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Pr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=1 |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"/>
                  <a:cs typeface="Helvetica"/>
                </a:endParaRPr>
              </a:p>
              <a:p>
                <a:pPr marL="801688" indent="0"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by linking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p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to the predicting variables through a nonlinear </a:t>
                </a:r>
                <a:r>
                  <a:rPr lang="en-US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link function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g</m:t>
                    </m:r>
                  </m:oMath>
                </a14:m>
                <a:r>
                  <a:rPr lang="en-US" sz="1800" b="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</a:p>
              <a:p>
                <a:pPr marL="13716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r>
                        <m:rPr>
                          <m:sty m:val="p"/>
                        </m:rPr>
                        <a:rPr lang="en-US" alt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⋯,</m:t>
                              </m:r>
                              <m:sSub>
                                <m:sSub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8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05" y="1861717"/>
                <a:ext cx="8737272" cy="1715970"/>
              </a:xfrm>
              <a:prstGeom prst="rect">
                <a:avLst/>
              </a:prstGeom>
              <a:blipFill>
                <a:blip r:embed="rId3"/>
                <a:stretch>
                  <a:fillRect l="-558" t="-3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32680" y="804237"/>
                <a:ext cx="8820819" cy="687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801688" indent="-801688"/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801688"/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binary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responses</a:t>
                </a: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680" y="804237"/>
                <a:ext cx="8820819" cy="687496"/>
              </a:xfrm>
              <a:prstGeom prst="rect">
                <a:avLst/>
              </a:prstGeom>
              <a:blipFill>
                <a:blip r:embed="rId4"/>
                <a:stretch>
                  <a:fillRect l="-622" t="-2655" b="-132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/>
          <p:cNvSpPr txBox="1"/>
          <p:nvPr/>
        </p:nvSpPr>
        <p:spPr>
          <a:xfrm>
            <a:off x="228599" y="3668926"/>
            <a:ext cx="3668843" cy="731624"/>
          </a:xfrm>
          <a:prstGeom prst="rect">
            <a:avLst/>
          </a:prstGeom>
          <a:solidFill>
            <a:schemeClr val="bg1"/>
          </a:solidFill>
          <a:ln w="19050">
            <a:solidFill>
              <a:srgbClr val="1F497D"/>
            </a:solidFill>
          </a:ln>
          <a:effectLst/>
        </p:spPr>
        <p:txBody>
          <a:bodyPr vert="horz" lIns="0" tIns="34290" rIns="0" bIns="34290" rtlCol="0" anchor="ctr" anchorCtr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495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7075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There is no error term!</a:t>
            </a:r>
          </a:p>
          <a:p>
            <a:pPr marL="11271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What are the model assumptions?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155165" y="1906877"/>
                <a:ext cx="8012857" cy="2460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344488" indent="-344488">
                  <a:spcAft>
                    <a:spcPts val="1200"/>
                  </a:spcAft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p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dirty="0">
                  <a:latin typeface="Helvetica Neue"/>
                  <a:ea typeface="Cambria Math" charset="0"/>
                  <a:cs typeface="Cambria Math" charset="0"/>
                </a:endParaRPr>
              </a:p>
              <a:p>
                <a:pPr marL="344488" indent="-344488">
                  <a:spcAft>
                    <a:spcPts val="1200"/>
                  </a:spcAft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dirty="0">
                    <a:latin typeface="Helvetica Neue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344488" indent="-344488">
                  <a:spcBef>
                    <a:spcPts val="6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Logit Link Function: </a:t>
                </a:r>
              </a:p>
              <a:p>
                <a:pPr marL="741363">
                  <a:spcBef>
                    <a:spcPct val="50000"/>
                  </a:spcBef>
                </a:pPr>
                <a:r>
                  <a:rPr lang="en-US" dirty="0">
                    <a:ea typeface="Cambria Math" panose="02040503050406030204" pitchFamily="18" charset="0"/>
                    <a:cs typeface="Helvetica Neue" charset="0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g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  <m:t>p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  <m:t>1−</m:t>
                                </m:r>
                                <m:r>
                                  <m:rPr>
                                    <m:nor/>
                                  </m:rP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  <m:t>p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165" y="1906877"/>
                <a:ext cx="8012857" cy="2460995"/>
              </a:xfrm>
              <a:prstGeom prst="rect">
                <a:avLst/>
              </a:prstGeom>
              <a:blipFill>
                <a:blip r:embed="rId3"/>
                <a:stretch>
                  <a:fillRect l="-608" t="-14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013533" y="3690058"/>
            <a:ext cx="1812112" cy="743314"/>
          </a:xfrm>
          <a:prstGeom prst="rect">
            <a:avLst/>
          </a:prstGeom>
          <a:noFill/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90AB9D-9F7C-4B84-9E70-5F593FE99103}"/>
              </a:ext>
            </a:extLst>
          </p:cNvPr>
          <p:cNvSpPr txBox="1">
            <a:spLocks/>
          </p:cNvSpPr>
          <p:nvPr/>
        </p:nvSpPr>
        <p:spPr>
          <a:xfrm>
            <a:off x="109944" y="117283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09BBCE04-CDC3-49A6-8B4B-28E87D6036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680" y="804237"/>
                <a:ext cx="8820819" cy="687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801688" indent="-801688"/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801688"/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binary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responses</a:t>
                </a:r>
              </a:p>
            </p:txBody>
          </p:sp>
        </mc:Choice>
        <mc:Fallback xmlns="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09BBCE04-CDC3-49A6-8B4B-28E87D603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680" y="804237"/>
                <a:ext cx="8820819" cy="687496"/>
              </a:xfrm>
              <a:prstGeom prst="rect">
                <a:avLst/>
              </a:prstGeom>
              <a:blipFill>
                <a:blip r:embed="rId4"/>
                <a:stretch>
                  <a:fillRect l="-622" t="-2655" b="-132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354</Words>
  <Application>Microsoft Office PowerPoint</Application>
  <PresentationFormat>On-screen Show (16:9)</PresentationFormat>
  <Paragraphs>56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Medium</vt:lpstr>
      <vt:lpstr>Wingdings</vt:lpstr>
      <vt:lpstr>2_Half Page Slash</vt:lpstr>
      <vt:lpstr>Full Page Layout</vt:lpstr>
      <vt:lpstr>PowerPoint Presentation</vt:lpstr>
      <vt:lpstr>PowerPoint Presentation</vt:lpstr>
      <vt:lpstr>Yes/No Questions</vt:lpstr>
      <vt:lpstr>Linear Regression</vt:lpstr>
      <vt:lpstr>Linear Regression for Yes/No Question? </vt:lpstr>
      <vt:lpstr>What Is Wrong with Linear Regression?</vt:lpstr>
      <vt:lpstr>S-shaped Curve</vt:lpstr>
      <vt:lpstr>Logistic Regression Model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Serban, Nicoleta</cp:lastModifiedBy>
  <cp:revision>466</cp:revision>
  <dcterms:created xsi:type="dcterms:W3CDTF">2020-03-27T18:32:40Z</dcterms:created>
  <dcterms:modified xsi:type="dcterms:W3CDTF">2020-04-23T02:00:44Z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