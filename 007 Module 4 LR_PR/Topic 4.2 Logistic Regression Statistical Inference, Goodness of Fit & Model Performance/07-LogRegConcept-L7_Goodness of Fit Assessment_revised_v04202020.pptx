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6" r:id="rId2"/>
  </p:sldMasterIdLst>
  <p:notesMasterIdLst>
    <p:notesMasterId r:id="rId15"/>
  </p:notesMasterIdLst>
  <p:handoutMasterIdLst>
    <p:handoutMasterId r:id="rId16"/>
  </p:handoutMasterIdLst>
  <p:sldIdLst>
    <p:sldId id="434" r:id="rId3"/>
    <p:sldId id="522" r:id="rId4"/>
    <p:sldId id="445" r:id="rId5"/>
    <p:sldId id="478" r:id="rId6"/>
    <p:sldId id="479" r:id="rId7"/>
    <p:sldId id="538" r:id="rId8"/>
    <p:sldId id="480" r:id="rId9"/>
    <p:sldId id="481" r:id="rId10"/>
    <p:sldId id="536" r:id="rId11"/>
    <p:sldId id="530" r:id="rId12"/>
    <p:sldId id="539" r:id="rId13"/>
    <p:sldId id="537" r:id="rId14"/>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C567BE6-4E2E-2A45-BD72-59F9659A3211}">
          <p14:sldIdLst>
            <p14:sldId id="434"/>
            <p14:sldId id="522"/>
            <p14:sldId id="445"/>
            <p14:sldId id="478"/>
            <p14:sldId id="479"/>
            <p14:sldId id="538"/>
            <p14:sldId id="480"/>
            <p14:sldId id="481"/>
            <p14:sldId id="536"/>
            <p14:sldId id="530"/>
            <p14:sldId id="539"/>
            <p14:sldId id="537"/>
          </p14:sldIdLst>
        </p14:section>
      </p14:sectionLst>
    </p:ext>
    <p:ext uri="{EFAFB233-063F-42B5-8137-9DF3F51BA10A}">
      <p15:sldGuideLst xmlns:p15="http://schemas.microsoft.com/office/powerpoint/2012/main">
        <p15:guide id="1" orient="horz" pos="372" userDrawn="1">
          <p15:clr>
            <a:srgbClr val="A4A3A4"/>
          </p15:clr>
        </p15:guide>
        <p15:guide id="2" pos="2863">
          <p15:clr>
            <a:srgbClr val="A4A3A4"/>
          </p15:clr>
        </p15:guide>
        <p15:guide id="3" pos="144" userDrawn="1">
          <p15:clr>
            <a:srgbClr val="A4A3A4"/>
          </p15:clr>
        </p15:guide>
        <p15:guide id="4" pos="360" userDrawn="1">
          <p15:clr>
            <a:srgbClr val="A4A3A4"/>
          </p15:clr>
        </p15:guide>
        <p15:guide id="5" pos="3456" userDrawn="1">
          <p15:clr>
            <a:srgbClr val="A4A3A4"/>
          </p15:clr>
        </p15:guide>
        <p15:guide id="6" pos="5664" userDrawn="1">
          <p15:clr>
            <a:srgbClr val="A4A3A4"/>
          </p15:clr>
        </p15:guide>
        <p15:guide id="7" orient="horz" pos="1620" userDrawn="1">
          <p15:clr>
            <a:srgbClr val="A4A3A4"/>
          </p15:clr>
        </p15:guide>
        <p15:guide id="8" orient="horz" pos="732" userDrawn="1">
          <p15:clr>
            <a:srgbClr val="A4A3A4"/>
          </p15:clr>
        </p15:guide>
        <p15:guide id="9" orient="horz" pos="3084"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igueroa, Shabana" initials="FS" lastIdx="16" clrIdx="0"/>
  <p:cmAuthor id="2" name="zwen42@gatech.com" initials="z" lastIdx="1" clrIdx="1"/>
  <p:cmAuthor id="3" name="Serban, Nicoleta" initials="SN" lastIdx="11" clrIdx="2"/>
  <p:cmAuthor id="4" name="Hu, Rui" initials="HR" lastIdx="1" clrIdx="3"/>
  <p:cmAuthor id="6" name="Richard Levine" initials="RL" lastIdx="2"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B211"/>
    <a:srgbClr val="1F497D"/>
    <a:srgbClr val="8E4221"/>
    <a:srgbClr val="984807"/>
    <a:srgbClr val="993200"/>
    <a:srgbClr val="F8FFF1"/>
    <a:srgbClr val="000000"/>
    <a:srgbClr val="F7FFEE"/>
    <a:srgbClr val="F5FCEA"/>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566" autoAdjust="0"/>
    <p:restoredTop sz="89858" autoAdjust="0"/>
  </p:normalViewPr>
  <p:slideViewPr>
    <p:cSldViewPr snapToGrid="0">
      <p:cViewPr varScale="1">
        <p:scale>
          <a:sx n="78" d="100"/>
          <a:sy n="78" d="100"/>
        </p:scale>
        <p:origin x="1064" y="44"/>
      </p:cViewPr>
      <p:guideLst>
        <p:guide orient="horz" pos="372"/>
        <p:guide pos="2863"/>
        <p:guide pos="144"/>
        <p:guide pos="360"/>
        <p:guide pos="3456"/>
        <p:guide pos="5664"/>
        <p:guide orient="horz" pos="1620"/>
        <p:guide orient="horz" pos="732"/>
        <p:guide orient="horz" pos="3084"/>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9DFD447-ACB1-BC49-B8EF-23729E0A333F}" type="datetimeFigureOut">
              <a:rPr lang="en-US" smtClean="0"/>
              <a:t>5/18/2020</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9EF598F-7A46-204A-ADDD-A1229C86B248}" type="slidenum">
              <a:rPr lang="en-US" smtClean="0"/>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1738FA-185A-CF4F-BD02-7990310E47F3}" type="datetimeFigureOut">
              <a:rPr lang="en-US" smtClean="0"/>
              <a:t>5/18/2020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3F7A93-C87A-E149-BF89-5D793380F19A}"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13F7A93-C87A-E149-BF89-5D793380F19A}"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30E0AC54-004F-48AD-88CD-0E7DEA96DBEE}" type="slidenum">
              <a:rPr lang="en-US" smtClean="0"/>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30E0AC54-004F-48AD-88CD-0E7DEA96DBEE}" type="slidenum">
              <a:rPr lang="en-US" smtClean="0"/>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30E0AC54-004F-48AD-88CD-0E7DEA96DBEE}" type="slidenum">
              <a:rPr lang="en-US" smtClean="0"/>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30E0AC54-004F-48AD-88CD-0E7DEA96DBEE}" type="slidenum">
              <a:rPr lang="en-US" smtClean="0"/>
              <a:t>6</a:t>
            </a:fld>
            <a:endParaRPr lang="en-US"/>
          </a:p>
        </p:txBody>
      </p:sp>
    </p:spTree>
    <p:extLst>
      <p:ext uri="{BB962C8B-B14F-4D97-AF65-F5344CB8AC3E}">
        <p14:creationId xmlns:p14="http://schemas.microsoft.com/office/powerpoint/2010/main" val="12223684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30E0AC54-004F-48AD-88CD-0E7DEA96DBEE}" type="slidenum">
              <a:rPr lang="en-US" smtClean="0"/>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30E0AC54-004F-48AD-88CD-0E7DEA96DBEE}" type="slidenum">
              <a:rPr lang="en-US" smtClean="0"/>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30E0AC54-004F-48AD-88CD-0E7DEA96DBEE}" type="slidenum">
              <a:rPr lang="en-US" smtClean="0"/>
              <a:t>9</a:t>
            </a:fld>
            <a:endParaRPr lang="en-US"/>
          </a:p>
        </p:txBody>
      </p:sp>
    </p:spTree>
    <p:extLst>
      <p:ext uri="{BB962C8B-B14F-4D97-AF65-F5344CB8AC3E}">
        <p14:creationId xmlns:p14="http://schemas.microsoft.com/office/powerpoint/2010/main" val="39344050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30E0AC54-004F-48AD-88CD-0E7DEA96DBEE}" type="slidenum">
              <a:rPr lang="en-US" smtClean="0"/>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30E0AC54-004F-48AD-88CD-0E7DEA96DBEE}" type="slidenum">
              <a:rPr lang="en-US" smtClean="0"/>
              <a:t>11</a:t>
            </a:fld>
            <a:endParaRPr lang="en-US"/>
          </a:p>
        </p:txBody>
      </p:sp>
    </p:spTree>
    <p:extLst>
      <p:ext uri="{BB962C8B-B14F-4D97-AF65-F5344CB8AC3E}">
        <p14:creationId xmlns:p14="http://schemas.microsoft.com/office/powerpoint/2010/main" val="5073860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age">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a:xfrm>
            <a:off x="266461" y="780732"/>
            <a:ext cx="5672951" cy="542236"/>
          </a:xfrm>
          <a:prstGeom prst="rect">
            <a:avLst/>
          </a:prstGeom>
        </p:spPr>
        <p:txBody>
          <a:bodyPr/>
          <a:lstStyle>
            <a:lvl1pPr marL="0" indent="0">
              <a:buNone/>
              <a:defRPr lang="en-US" sz="2400" b="0" i="0" kern="1200" dirty="0">
                <a:solidFill>
                  <a:schemeClr val="tx2"/>
                </a:solidFill>
                <a:latin typeface="Vitesse Medium" charset="0"/>
                <a:ea typeface="Vitesse Medium" charset="0"/>
                <a:cs typeface="Vitesse Medium" charset="0"/>
              </a:defRPr>
            </a:lvl1pPr>
          </a:lstStyle>
          <a:p>
            <a:pPr lvl="0"/>
            <a:r>
              <a:rPr lang="en-US" dirty="0"/>
              <a:t>Module Name</a:t>
            </a:r>
          </a:p>
        </p:txBody>
      </p:sp>
      <p:sp>
        <p:nvSpPr>
          <p:cNvPr id="9" name="Text Placeholder 5"/>
          <p:cNvSpPr>
            <a:spLocks noGrp="1"/>
          </p:cNvSpPr>
          <p:nvPr>
            <p:ph type="body" sz="quarter" idx="13" hasCustomPrompt="1"/>
          </p:nvPr>
        </p:nvSpPr>
        <p:spPr>
          <a:xfrm>
            <a:off x="247647" y="4379683"/>
            <a:ext cx="4305091" cy="681037"/>
          </a:xfrm>
          <a:prstGeom prst="rect">
            <a:avLst/>
          </a:prstGeom>
        </p:spPr>
        <p:txBody>
          <a:bodyPr/>
          <a:lstStyle>
            <a:lvl1pPr marL="0" indent="0">
              <a:buNone/>
              <a:defRPr sz="1800" b="0" i="0" baseline="0">
                <a:solidFill>
                  <a:schemeClr val="tx2"/>
                </a:solidFill>
                <a:latin typeface="Helvetica" charset="0"/>
                <a:ea typeface="Helvetica" charset="0"/>
                <a:cs typeface="Helvetica" charset="0"/>
              </a:defRPr>
            </a:lvl1pPr>
          </a:lstStyle>
          <a:p>
            <a:pPr lvl="0"/>
            <a:r>
              <a:rPr lang="en-US" dirty="0"/>
              <a:t>Lesson name: e.g. R Examples</a:t>
            </a:r>
          </a:p>
          <a:p>
            <a:pPr lvl="0"/>
            <a:r>
              <a:rPr lang="en-US" dirty="0" err="1"/>
              <a:t>Subname</a:t>
            </a:r>
            <a:r>
              <a:rPr lang="en-US" dirty="0"/>
              <a:t> if applicable (e.g. Part II)</a:t>
            </a:r>
          </a:p>
          <a:p>
            <a:pPr lvl="0"/>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Full Page w/ Graphic">
    <p:spTree>
      <p:nvGrpSpPr>
        <p:cNvPr id="1" name=""/>
        <p:cNvGrpSpPr/>
        <p:nvPr/>
      </p:nvGrpSpPr>
      <p:grpSpPr>
        <a:xfrm>
          <a:off x="0" y="0"/>
          <a:ext cx="0" cy="0"/>
          <a:chOff x="0" y="0"/>
          <a:chExt cx="0" cy="0"/>
        </a:xfrm>
      </p:grpSpPr>
      <p:sp>
        <p:nvSpPr>
          <p:cNvPr id="4" name="Chart Placeholder 3"/>
          <p:cNvSpPr>
            <a:spLocks noGrp="1"/>
          </p:cNvSpPr>
          <p:nvPr>
            <p:ph type="chart" sz="quarter" idx="10"/>
          </p:nvPr>
        </p:nvSpPr>
        <p:spPr>
          <a:xfrm>
            <a:off x="252349" y="1093392"/>
            <a:ext cx="8110832" cy="3739377"/>
          </a:xfrm>
          <a:prstGeom prst="rect">
            <a:avLst/>
          </a:prstGeom>
        </p:spPr>
        <p:txBody>
          <a:bodyPr/>
          <a:lstStyle>
            <a:lvl1pPr marL="0" indent="0">
              <a:buNone/>
              <a:defRPr/>
            </a:lvl1pPr>
          </a:lstStyle>
          <a:p>
            <a:endParaRPr lang="en-US" dirty="0"/>
          </a:p>
        </p:txBody>
      </p:sp>
      <p:sp>
        <p:nvSpPr>
          <p:cNvPr id="5" name="Title 1"/>
          <p:cNvSpPr>
            <a:spLocks noGrp="1"/>
          </p:cNvSpPr>
          <p:nvPr>
            <p:ph type="title" hasCustomPrompt="1"/>
          </p:nvPr>
        </p:nvSpPr>
        <p:spPr>
          <a:xfrm>
            <a:off x="252348" y="274678"/>
            <a:ext cx="8186095" cy="993775"/>
          </a:xfrm>
          <a:prstGeom prst="rect">
            <a:avLst/>
          </a:prstGeom>
        </p:spPr>
        <p:txBody>
          <a:bodyPr/>
          <a:lstStyle>
            <a:lvl1pPr algn="l">
              <a:defRPr lang="en-US" sz="4000" kern="1200" dirty="0">
                <a:solidFill>
                  <a:schemeClr val="tx1"/>
                </a:solidFill>
                <a:latin typeface="Vitesse Bold"/>
                <a:ea typeface="+mj-ea"/>
                <a:cs typeface="Vitesse Bold"/>
              </a:defRPr>
            </a:lvl1pPr>
          </a:lstStyle>
          <a:p>
            <a:r>
              <a:rPr lang="en-US" dirty="0"/>
              <a:t>Click to edit</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Full Page Blank">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252349" y="274678"/>
            <a:ext cx="8562392" cy="993775"/>
          </a:xfrm>
          <a:prstGeom prst="rect">
            <a:avLst/>
          </a:prstGeom>
        </p:spPr>
        <p:txBody>
          <a:bodyPr/>
          <a:lstStyle>
            <a:lvl1pPr algn="l">
              <a:defRPr lang="en-US" sz="4000" kern="1200" dirty="0">
                <a:solidFill>
                  <a:schemeClr val="tx1"/>
                </a:solidFill>
                <a:latin typeface="Vitesse Bold"/>
                <a:ea typeface="+mj-ea"/>
                <a:cs typeface="Vitesse Bold"/>
              </a:defRPr>
            </a:lvl1pPr>
          </a:lstStyle>
          <a:p>
            <a:r>
              <a:rPr lang="en-US" dirty="0"/>
              <a:t>Click to edit</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p:spPr>
        <p:txBody>
          <a:bodyPr/>
          <a:lstStyle/>
          <a:p>
            <a:fld id="{FDE934FF-F4E1-47C5-9CA5-30A81DDE2BE4}" type="datetimeFigureOut">
              <a:rPr lang="en-US" smtClean="0"/>
              <a:t>5/18/2020</a:t>
            </a:fld>
            <a:endParaRPr lang="en-US"/>
          </a:p>
        </p:txBody>
      </p:sp>
      <p:sp>
        <p:nvSpPr>
          <p:cNvPr id="4" name="Footer Placeholder 3"/>
          <p:cNvSpPr>
            <a:spLocks noGrp="1"/>
          </p:cNvSpPr>
          <p:nvPr>
            <p:ph type="ftr" sz="quarter" idx="11"/>
          </p:nvPr>
        </p:nvSpPr>
        <p:spPr>
          <a:xfrm>
            <a:off x="4038600" y="6356350"/>
            <a:ext cx="4114800" cy="365125"/>
          </a:xfrm>
        </p:spPr>
        <p:txBody>
          <a:bodyPr/>
          <a:lstStyle/>
          <a:p>
            <a:endParaRPr lang="en-US"/>
          </a:p>
        </p:txBody>
      </p:sp>
      <p:sp>
        <p:nvSpPr>
          <p:cNvPr id="5" name="Slide Number Placeholder 4"/>
          <p:cNvSpPr>
            <a:spLocks noGrp="1"/>
          </p:cNvSpPr>
          <p:nvPr>
            <p:ph type="sldNum" sz="quarter" idx="12"/>
          </p:nvPr>
        </p:nvSpPr>
        <p:spPr>
          <a:xfrm>
            <a:off x="8610600" y="6356350"/>
            <a:ext cx="2743200" cy="365125"/>
          </a:xfrm>
        </p:spPr>
        <p:txBody>
          <a:bodyPr/>
          <a:lstStyle/>
          <a:p>
            <a:fld id="{B3561BA9-CDCF-4958-B8AB-66F3BF063E1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p:spPr>
        <p:txBody>
          <a:bodyPr/>
          <a:lstStyle/>
          <a:p>
            <a:fld id="{FDE934FF-F4E1-47C5-9CA5-30A81DDE2BE4}" type="datetimeFigureOut">
              <a:rPr lang="en-US" smtClean="0"/>
              <a:t>5/18/2020</a:t>
            </a:fld>
            <a:endParaRPr lang="en-US"/>
          </a:p>
        </p:txBody>
      </p:sp>
      <p:sp>
        <p:nvSpPr>
          <p:cNvPr id="4" name="Footer Placeholder 3"/>
          <p:cNvSpPr>
            <a:spLocks noGrp="1"/>
          </p:cNvSpPr>
          <p:nvPr>
            <p:ph type="ftr" sz="quarter" idx="11"/>
          </p:nvPr>
        </p:nvSpPr>
        <p:spPr>
          <a:xfrm>
            <a:off x="4038600" y="6356350"/>
            <a:ext cx="4114800" cy="365125"/>
          </a:xfrm>
        </p:spPr>
        <p:txBody>
          <a:bodyPr/>
          <a:lstStyle/>
          <a:p>
            <a:endParaRPr lang="en-US"/>
          </a:p>
        </p:txBody>
      </p:sp>
      <p:sp>
        <p:nvSpPr>
          <p:cNvPr id="5" name="Slide Number Placeholder 4"/>
          <p:cNvSpPr>
            <a:spLocks noGrp="1"/>
          </p:cNvSpPr>
          <p:nvPr>
            <p:ph type="sldNum" sz="quarter" idx="12"/>
          </p:nvPr>
        </p:nvSpPr>
        <p:spPr>
          <a:xfrm>
            <a:off x="8610600" y="6356350"/>
            <a:ext cx="2743200" cy="365125"/>
          </a:xfrm>
        </p:spPr>
        <p:txBody>
          <a:bodyPr/>
          <a:lstStyle/>
          <a:p>
            <a:fld id="{B3561BA9-CDCF-4958-B8AB-66F3BF063E1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p:spPr>
        <p:txBody>
          <a:bodyPr/>
          <a:lstStyle/>
          <a:p>
            <a:fld id="{FDE934FF-F4E1-47C5-9CA5-30A81DDE2BE4}" type="datetimeFigureOut">
              <a:rPr lang="en-US" smtClean="0"/>
              <a:t>5/18/2020</a:t>
            </a:fld>
            <a:endParaRPr lang="en-US"/>
          </a:p>
        </p:txBody>
      </p:sp>
      <p:sp>
        <p:nvSpPr>
          <p:cNvPr id="4" name="Footer Placeholder 3"/>
          <p:cNvSpPr>
            <a:spLocks noGrp="1"/>
          </p:cNvSpPr>
          <p:nvPr>
            <p:ph type="ftr" sz="quarter" idx="11"/>
          </p:nvPr>
        </p:nvSpPr>
        <p:spPr>
          <a:xfrm>
            <a:off x="4038600" y="6356350"/>
            <a:ext cx="4114800" cy="365125"/>
          </a:xfrm>
        </p:spPr>
        <p:txBody>
          <a:bodyPr/>
          <a:lstStyle/>
          <a:p>
            <a:endParaRPr lang="en-US"/>
          </a:p>
        </p:txBody>
      </p:sp>
      <p:sp>
        <p:nvSpPr>
          <p:cNvPr id="5" name="Slide Number Placeholder 4"/>
          <p:cNvSpPr>
            <a:spLocks noGrp="1"/>
          </p:cNvSpPr>
          <p:nvPr>
            <p:ph type="sldNum" sz="quarter" idx="12"/>
          </p:nvPr>
        </p:nvSpPr>
        <p:spPr>
          <a:xfrm>
            <a:off x="8610600" y="6356350"/>
            <a:ext cx="2743200" cy="365125"/>
          </a:xfrm>
        </p:spPr>
        <p:txBody>
          <a:bodyPr/>
          <a:lstStyle/>
          <a:p>
            <a:fld id="{B3561BA9-CDCF-4958-B8AB-66F3BF063E1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ull Page Blank">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252349" y="274678"/>
            <a:ext cx="8562392"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ull Page w/ Bullets">
    <p:spTree>
      <p:nvGrpSpPr>
        <p:cNvPr id="1" name=""/>
        <p:cNvGrpSpPr/>
        <p:nvPr/>
      </p:nvGrpSpPr>
      <p:grpSpPr>
        <a:xfrm>
          <a:off x="0" y="0"/>
          <a:ext cx="0" cy="0"/>
          <a:chOff x="0" y="0"/>
          <a:chExt cx="0" cy="0"/>
        </a:xfrm>
      </p:grpSpPr>
      <p:sp>
        <p:nvSpPr>
          <p:cNvPr id="10" name="Content Placeholder 5"/>
          <p:cNvSpPr>
            <a:spLocks noGrp="1"/>
          </p:cNvSpPr>
          <p:nvPr>
            <p:ph sz="quarter" idx="10"/>
          </p:nvPr>
        </p:nvSpPr>
        <p:spPr>
          <a:xfrm>
            <a:off x="252349" y="1268453"/>
            <a:ext cx="8280166" cy="3519917"/>
          </a:xfrm>
          <a:prstGeom prst="rect">
            <a:avLst/>
          </a:prstGeom>
        </p:spPr>
        <p:txBody>
          <a:bodyPr/>
          <a:lstStyle>
            <a:lvl1pPr>
              <a:defRPr sz="2000">
                <a:latin typeface="Helvetica" charset="0"/>
                <a:ea typeface="Helvetica" charset="0"/>
                <a:cs typeface="Helvetica" charset="0"/>
              </a:defRPr>
            </a:lvl1pPr>
            <a:lvl2pPr>
              <a:defRPr sz="1800">
                <a:latin typeface="Helvetica" charset="0"/>
                <a:ea typeface="Helvetica" charset="0"/>
                <a:cs typeface="Helvetica" charset="0"/>
              </a:defRPr>
            </a:lvl2pPr>
            <a:lvl3pPr>
              <a:defRPr sz="1800">
                <a:latin typeface="Helvetica" charset="0"/>
                <a:ea typeface="Helvetica" charset="0"/>
                <a:cs typeface="Helvetica" charset="0"/>
              </a:defRPr>
            </a:lvl3pPr>
            <a:lvl4pPr>
              <a:defRPr sz="1800">
                <a:latin typeface="Helvetica" charset="0"/>
                <a:ea typeface="Helvetica" charset="0"/>
                <a:cs typeface="Helvetica" charset="0"/>
              </a:defRPr>
            </a:lvl4pPr>
            <a:lvl5pPr>
              <a:defRPr sz="1800">
                <a:latin typeface="Helvetica" charset="0"/>
                <a:ea typeface="Helvetica" charset="0"/>
                <a:cs typeface="Helvetica"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p:cNvSpPr>
            <a:spLocks noGrp="1"/>
          </p:cNvSpPr>
          <p:nvPr>
            <p:ph type="title" hasCustomPrompt="1"/>
          </p:nvPr>
        </p:nvSpPr>
        <p:spPr>
          <a:xfrm>
            <a:off x="252349" y="274678"/>
            <a:ext cx="8280166"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ull Page w/ Text">
    <p:spTree>
      <p:nvGrpSpPr>
        <p:cNvPr id="1" name=""/>
        <p:cNvGrpSpPr/>
        <p:nvPr/>
      </p:nvGrpSpPr>
      <p:grpSpPr>
        <a:xfrm>
          <a:off x="0" y="0"/>
          <a:ext cx="0" cy="0"/>
          <a:chOff x="0" y="0"/>
          <a:chExt cx="0" cy="0"/>
        </a:xfrm>
      </p:grpSpPr>
      <p:sp>
        <p:nvSpPr>
          <p:cNvPr id="4" name="Content Placeholder 4"/>
          <p:cNvSpPr>
            <a:spLocks noGrp="1"/>
          </p:cNvSpPr>
          <p:nvPr>
            <p:ph sz="quarter" idx="10" hasCustomPrompt="1"/>
          </p:nvPr>
        </p:nvSpPr>
        <p:spPr>
          <a:xfrm>
            <a:off x="252347" y="1268453"/>
            <a:ext cx="8449503" cy="3286125"/>
          </a:xfrm>
          <a:prstGeom prst="rect">
            <a:avLst/>
          </a:prstGeom>
        </p:spPr>
        <p:txBody>
          <a:bodyPr/>
          <a:lstStyle>
            <a:lvl1pPr marL="0" indent="0">
              <a:buFont typeface="Arial" panose="020B0604020202020204"/>
              <a:buNone/>
              <a:defRPr sz="2000">
                <a:latin typeface="Helvetica" charset="0"/>
                <a:ea typeface="Helvetica" charset="0"/>
                <a:cs typeface="Helvetica" charset="0"/>
              </a:defRPr>
            </a:lvl1pPr>
          </a:lstStyle>
          <a:p>
            <a:r>
              <a:rPr lang="en-US" b="1" dirty="0" err="1">
                <a:latin typeface="Helvetica"/>
                <a:cs typeface="Helvetica"/>
              </a:rPr>
              <a:t>Lorem</a:t>
            </a:r>
            <a:r>
              <a:rPr lang="en-US" b="1" dirty="0">
                <a:latin typeface="Helvetica"/>
                <a:cs typeface="Helvetica"/>
              </a:rPr>
              <a:t> </a:t>
            </a:r>
            <a:r>
              <a:rPr lang="en-US" b="1" dirty="0" err="1">
                <a:latin typeface="Helvetica"/>
                <a:cs typeface="Helvetica"/>
              </a:rPr>
              <a:t>Ipsum</a:t>
            </a:r>
            <a:r>
              <a:rPr lang="en-US" b="1" dirty="0">
                <a:latin typeface="Helvetica"/>
                <a:cs typeface="Helvetica"/>
              </a:rPr>
              <a:t> is simply dummy text </a:t>
            </a:r>
          </a:p>
          <a:p>
            <a:r>
              <a:rPr lang="en-US" sz="1800" dirty="0"/>
              <a:t>of the printing and typesetting industry. </a:t>
            </a:r>
            <a:r>
              <a:rPr lang="en-US" sz="1800" dirty="0" err="1"/>
              <a:t>Lorem</a:t>
            </a:r>
            <a:r>
              <a:rPr lang="en-US" sz="1800" dirty="0"/>
              <a:t> </a:t>
            </a:r>
            <a:r>
              <a:rPr lang="en-US" sz="1800" dirty="0" err="1"/>
              <a:t>Ipsum</a:t>
            </a:r>
            <a:r>
              <a:rPr lang="en-US" sz="1800" dirty="0"/>
              <a:t> has been the industry's standard dummy text ever since the 1500s, when an unknown printer took a galley of type and scrambled it to make a type specimen book. </a:t>
            </a:r>
          </a:p>
          <a:p>
            <a:endParaRPr lang="en-US" sz="1800" dirty="0"/>
          </a:p>
          <a:p>
            <a:r>
              <a:rPr lang="en-US" b="1" dirty="0"/>
              <a:t>It has survived</a:t>
            </a:r>
          </a:p>
          <a:p>
            <a:pPr marL="285750" indent="-285750">
              <a:buFont typeface="Arial" panose="020B0604020202020204"/>
              <a:buChar char="•"/>
            </a:pPr>
            <a:r>
              <a:rPr lang="en-US" sz="1800" dirty="0"/>
              <a:t>not only five centuries</a:t>
            </a:r>
          </a:p>
          <a:p>
            <a:pPr marL="285750" indent="-285750">
              <a:buFont typeface="Arial" panose="020B0604020202020204"/>
              <a:buChar char="•"/>
            </a:pPr>
            <a:r>
              <a:rPr lang="en-US" sz="1800" dirty="0"/>
              <a:t>but also the leap into electronic typesetting, </a:t>
            </a:r>
          </a:p>
          <a:p>
            <a:pPr marL="285750" indent="-285750">
              <a:buFont typeface="Arial" panose="020B0604020202020204"/>
              <a:buChar char="•"/>
            </a:pPr>
            <a:r>
              <a:rPr lang="en-US" sz="1800" dirty="0"/>
              <a:t>remaining essentially unchanged. </a:t>
            </a:r>
          </a:p>
        </p:txBody>
      </p:sp>
      <p:sp>
        <p:nvSpPr>
          <p:cNvPr id="5" name="Title 1"/>
          <p:cNvSpPr>
            <a:spLocks noGrp="1"/>
          </p:cNvSpPr>
          <p:nvPr>
            <p:ph type="title" hasCustomPrompt="1"/>
          </p:nvPr>
        </p:nvSpPr>
        <p:spPr>
          <a:xfrm>
            <a:off x="252348" y="274678"/>
            <a:ext cx="8449503"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Page w/ Text + Graphic">
    <p:spTree>
      <p:nvGrpSpPr>
        <p:cNvPr id="1" name=""/>
        <p:cNvGrpSpPr/>
        <p:nvPr/>
      </p:nvGrpSpPr>
      <p:grpSpPr>
        <a:xfrm>
          <a:off x="0" y="0"/>
          <a:ext cx="0" cy="0"/>
          <a:chOff x="0" y="0"/>
          <a:chExt cx="0" cy="0"/>
        </a:xfrm>
      </p:grpSpPr>
      <p:sp>
        <p:nvSpPr>
          <p:cNvPr id="5" name="Content Placeholder 4"/>
          <p:cNvSpPr>
            <a:spLocks noGrp="1"/>
          </p:cNvSpPr>
          <p:nvPr>
            <p:ph sz="quarter" idx="10" hasCustomPrompt="1"/>
          </p:nvPr>
        </p:nvSpPr>
        <p:spPr>
          <a:xfrm>
            <a:off x="233538" y="1110075"/>
            <a:ext cx="3595277" cy="3612444"/>
          </a:xfrm>
          <a:prstGeom prst="rect">
            <a:avLst/>
          </a:prstGeom>
        </p:spPr>
        <p:txBody>
          <a:bodyPr/>
          <a:lstStyle>
            <a:lvl1pPr marL="0" indent="0">
              <a:buFont typeface="Arial" panose="020B0604020202020204"/>
              <a:buNone/>
              <a:defRPr sz="2000">
                <a:latin typeface="Helvetica" charset="0"/>
                <a:ea typeface="Helvetica" charset="0"/>
                <a:cs typeface="Helvetica" charset="0"/>
              </a:defRPr>
            </a:lvl1pPr>
          </a:lstStyle>
          <a:p>
            <a:r>
              <a:rPr lang="en-US" b="1" dirty="0" err="1">
                <a:latin typeface="Helvetica"/>
                <a:cs typeface="Helvetica"/>
              </a:rPr>
              <a:t>Lorem</a:t>
            </a:r>
            <a:r>
              <a:rPr lang="en-US" b="1" dirty="0">
                <a:latin typeface="Helvetica"/>
                <a:cs typeface="Helvetica"/>
              </a:rPr>
              <a:t> </a:t>
            </a:r>
            <a:r>
              <a:rPr lang="en-US" b="1" dirty="0" err="1">
                <a:latin typeface="Helvetica"/>
                <a:cs typeface="Helvetica"/>
              </a:rPr>
              <a:t>Ipsum</a:t>
            </a:r>
            <a:r>
              <a:rPr lang="en-US" b="1" dirty="0">
                <a:latin typeface="Helvetica"/>
                <a:cs typeface="Helvetica"/>
              </a:rPr>
              <a:t> is simply dummy text.</a:t>
            </a:r>
          </a:p>
          <a:p>
            <a:endParaRPr lang="en-US" sz="1800" dirty="0"/>
          </a:p>
          <a:p>
            <a:r>
              <a:rPr lang="en-US" b="1" dirty="0"/>
              <a:t>It has survived</a:t>
            </a:r>
          </a:p>
          <a:p>
            <a:pPr marL="285750" indent="-285750">
              <a:buFont typeface="Arial" panose="020B0604020202020204"/>
              <a:buChar char="•"/>
            </a:pPr>
            <a:r>
              <a:rPr lang="en-US" sz="1800" dirty="0"/>
              <a:t>not only five centuries</a:t>
            </a:r>
          </a:p>
          <a:p>
            <a:pPr marL="285750" indent="-285750">
              <a:buFont typeface="Arial" panose="020B0604020202020204"/>
              <a:buChar char="•"/>
            </a:pPr>
            <a:r>
              <a:rPr lang="en-US" sz="1800" dirty="0"/>
              <a:t>but also the leap into electronic typesetting, </a:t>
            </a:r>
          </a:p>
          <a:p>
            <a:pPr marL="285750" indent="-285750">
              <a:buFont typeface="Arial" panose="020B0604020202020204"/>
              <a:buChar char="•"/>
            </a:pPr>
            <a:r>
              <a:rPr lang="en-US" sz="1800" dirty="0"/>
              <a:t>remaining essentially unchanged. </a:t>
            </a:r>
          </a:p>
        </p:txBody>
      </p:sp>
      <p:sp>
        <p:nvSpPr>
          <p:cNvPr id="6" name="Chart Placeholder 3"/>
          <p:cNvSpPr>
            <a:spLocks noGrp="1"/>
          </p:cNvSpPr>
          <p:nvPr>
            <p:ph type="chart" sz="quarter" idx="11"/>
          </p:nvPr>
        </p:nvSpPr>
        <p:spPr>
          <a:xfrm>
            <a:off x="3828815" y="1110075"/>
            <a:ext cx="4948296" cy="3612444"/>
          </a:xfrm>
          <a:prstGeom prst="rect">
            <a:avLst/>
          </a:prstGeom>
        </p:spPr>
        <p:txBody>
          <a:bodyPr/>
          <a:lstStyle>
            <a:lvl1pPr marL="0" indent="0">
              <a:buNone/>
              <a:defRPr/>
            </a:lvl1pPr>
          </a:lstStyle>
          <a:p>
            <a:endParaRPr lang="en-US" dirty="0"/>
          </a:p>
        </p:txBody>
      </p:sp>
      <p:sp>
        <p:nvSpPr>
          <p:cNvPr id="10" name="Title 1"/>
          <p:cNvSpPr>
            <a:spLocks noGrp="1"/>
          </p:cNvSpPr>
          <p:nvPr>
            <p:ph type="title" hasCustomPrompt="1"/>
          </p:nvPr>
        </p:nvSpPr>
        <p:spPr>
          <a:xfrm>
            <a:off x="252348" y="274678"/>
            <a:ext cx="8186095"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ull Page w/ Graphic">
    <p:spTree>
      <p:nvGrpSpPr>
        <p:cNvPr id="1" name=""/>
        <p:cNvGrpSpPr/>
        <p:nvPr/>
      </p:nvGrpSpPr>
      <p:grpSpPr>
        <a:xfrm>
          <a:off x="0" y="0"/>
          <a:ext cx="0" cy="0"/>
          <a:chOff x="0" y="0"/>
          <a:chExt cx="0" cy="0"/>
        </a:xfrm>
      </p:grpSpPr>
      <p:sp>
        <p:nvSpPr>
          <p:cNvPr id="4" name="Chart Placeholder 3"/>
          <p:cNvSpPr>
            <a:spLocks noGrp="1"/>
          </p:cNvSpPr>
          <p:nvPr>
            <p:ph type="chart" sz="quarter" idx="10"/>
          </p:nvPr>
        </p:nvSpPr>
        <p:spPr>
          <a:xfrm>
            <a:off x="252349" y="1268453"/>
            <a:ext cx="8110832" cy="3564316"/>
          </a:xfrm>
          <a:prstGeom prst="rect">
            <a:avLst/>
          </a:prstGeom>
        </p:spPr>
        <p:txBody>
          <a:bodyPr/>
          <a:lstStyle>
            <a:lvl1pPr marL="0" indent="0">
              <a:buNone/>
              <a:defRPr sz="2000">
                <a:latin typeface="Helvetica" charset="0"/>
                <a:ea typeface="Helvetica" charset="0"/>
                <a:cs typeface="Helvetica" charset="0"/>
              </a:defRPr>
            </a:lvl1pPr>
          </a:lstStyle>
          <a:p>
            <a:endParaRPr lang="en-US" dirty="0"/>
          </a:p>
        </p:txBody>
      </p:sp>
      <p:sp>
        <p:nvSpPr>
          <p:cNvPr id="5" name="Title 1"/>
          <p:cNvSpPr>
            <a:spLocks noGrp="1"/>
          </p:cNvSpPr>
          <p:nvPr>
            <p:ph type="title" hasCustomPrompt="1"/>
          </p:nvPr>
        </p:nvSpPr>
        <p:spPr>
          <a:xfrm>
            <a:off x="252348" y="274678"/>
            <a:ext cx="8186095"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9.xml"/><Relationship Id="rId7" Type="http://schemas.openxmlformats.org/officeDocument/2006/relationships/image" Target="../media/image2.png"/><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theme" Target="../theme/theme2.xml"/><Relationship Id="rId5" Type="http://schemas.openxmlformats.org/officeDocument/2006/relationships/slideLayout" Target="../slideLayouts/slideLayout11.xml"/><Relationship Id="rId4" Type="http://schemas.openxmlformats.org/officeDocument/2006/relationships/slideLayout" Target="../slideLayouts/slideLayout10.xml"/><Relationship Id="rId9"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8"/>
          <a:stretch>
            <a:fillRect/>
          </a:stretch>
        </p:blipFill>
        <p:spPr>
          <a:xfrm>
            <a:off x="0" y="0"/>
            <a:ext cx="9144000" cy="51435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 name="Group 2"/>
          <p:cNvGrpSpPr/>
          <p:nvPr userDrawn="1"/>
        </p:nvGrpSpPr>
        <p:grpSpPr>
          <a:xfrm>
            <a:off x="0" y="0"/>
            <a:ext cx="9142647" cy="5144187"/>
            <a:chOff x="0" y="0"/>
            <a:chExt cx="9142647" cy="5144187"/>
          </a:xfrm>
        </p:grpSpPr>
        <p:pic>
          <p:nvPicPr>
            <p:cNvPr id="4" name="Picture 3"/>
            <p:cNvPicPr>
              <a:picLocks noChangeAspect="1"/>
            </p:cNvPicPr>
            <p:nvPr userDrawn="1"/>
          </p:nvPicPr>
          <p:blipFill>
            <a:blip r:embed="rId7"/>
            <a:stretch>
              <a:fillRect/>
            </a:stretch>
          </p:blipFill>
          <p:spPr>
            <a:xfrm flipH="1" flipV="1">
              <a:off x="5423765" y="2211757"/>
              <a:ext cx="3718882" cy="2932430"/>
            </a:xfrm>
            <a:prstGeom prst="rect">
              <a:avLst/>
            </a:prstGeom>
          </p:spPr>
        </p:pic>
        <p:pic>
          <p:nvPicPr>
            <p:cNvPr id="6" name="Picture 5"/>
            <p:cNvPicPr>
              <a:picLocks noChangeAspect="1"/>
            </p:cNvPicPr>
            <p:nvPr userDrawn="1"/>
          </p:nvPicPr>
          <p:blipFill>
            <a:blip r:embed="rId8"/>
            <a:stretch>
              <a:fillRect/>
            </a:stretch>
          </p:blipFill>
          <p:spPr>
            <a:xfrm>
              <a:off x="8111132" y="4644572"/>
              <a:ext cx="945783" cy="401634"/>
            </a:xfrm>
            <a:prstGeom prst="rect">
              <a:avLst/>
            </a:prstGeom>
          </p:spPr>
        </p:pic>
        <p:pic>
          <p:nvPicPr>
            <p:cNvPr id="7" name="Picture 6"/>
            <p:cNvPicPr>
              <a:picLocks noChangeAspect="1"/>
            </p:cNvPicPr>
            <p:nvPr userDrawn="1"/>
          </p:nvPicPr>
          <p:blipFill>
            <a:blip r:embed="rId9"/>
            <a:stretch>
              <a:fillRect/>
            </a:stretch>
          </p:blipFill>
          <p:spPr>
            <a:xfrm>
              <a:off x="0" y="0"/>
              <a:ext cx="3719590" cy="2933934"/>
            </a:xfrm>
            <a:prstGeom prst="rect">
              <a:avLst/>
            </a:prstGeom>
          </p:spPr>
        </p:pic>
      </p:grpSp>
    </p:spTree>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Lst>
  <p:txStyles>
    <p:titleStyle>
      <a:lvl1pPr algn="l" defTabSz="457200" rtl="0" eaLnBrk="1" latinLnBrk="0" hangingPunct="1">
        <a:spcBef>
          <a:spcPct val="0"/>
        </a:spcBef>
        <a:buNone/>
        <a:defRPr sz="4400" kern="1200">
          <a:solidFill>
            <a:schemeClr val="tx1"/>
          </a:solidFill>
          <a:latin typeface="+mj-lt"/>
          <a:ea typeface="+mj-ea"/>
          <a:cs typeface="+mj-cs"/>
        </a:defRPr>
      </a:lvl1pPr>
    </p:titleStyle>
    <p:bodyStyle>
      <a:lvl1pPr marL="0" indent="0" algn="l" defTabSz="457200" rtl="0" eaLnBrk="1" latinLnBrk="0" hangingPunct="1">
        <a:spcBef>
          <a:spcPct val="20000"/>
        </a:spcBef>
        <a:buFont typeface="Arial" panose="020B0604020202020204"/>
        <a:buNone/>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nvSpPr>
        <p:spPr>
          <a:xfrm>
            <a:off x="110461" y="108666"/>
            <a:ext cx="5691763" cy="712848"/>
          </a:xfrm>
          <a:prstGeom prst="rect">
            <a:avLst/>
          </a:prstGeom>
        </p:spPr>
        <p:txBody>
          <a:bodyPr/>
          <a:lstStyle>
            <a:lvl1pPr algn="l" defTabSz="457200" rtl="0" eaLnBrk="1" latinLnBrk="0" hangingPunct="1">
              <a:spcBef>
                <a:spcPct val="0"/>
              </a:spcBef>
              <a:buNone/>
              <a:defRPr lang="en-US" sz="4000" b="0" i="0" kern="1200" dirty="0">
                <a:solidFill>
                  <a:schemeClr val="tx1"/>
                </a:solidFill>
                <a:latin typeface="Vitesse Bold"/>
                <a:ea typeface="Vitesse" charset="0"/>
                <a:cs typeface="Vitesse Bold"/>
              </a:defRPr>
            </a:lvl1pPr>
          </a:lstStyle>
          <a:p>
            <a:r>
              <a:rPr lang="en-US" sz="3600" dirty="0">
                <a:latin typeface="Vitesse"/>
              </a:rPr>
              <a:t>Regression Analysis</a:t>
            </a:r>
          </a:p>
        </p:txBody>
      </p:sp>
      <p:sp>
        <p:nvSpPr>
          <p:cNvPr id="6" name="Text Placeholder 2"/>
          <p:cNvSpPr>
            <a:spLocks noGrp="1"/>
          </p:cNvSpPr>
          <p:nvPr/>
        </p:nvSpPr>
        <p:spPr>
          <a:xfrm>
            <a:off x="117956" y="673536"/>
            <a:ext cx="5511340" cy="542236"/>
          </a:xfrm>
          <a:prstGeom prst="rect">
            <a:avLst/>
          </a:prstGeom>
        </p:spPr>
        <p:txBody>
          <a:bodyPr/>
          <a:lstStyle>
            <a:lvl1pPr marL="0" indent="0" algn="l" defTabSz="457200" rtl="0" eaLnBrk="1" latinLnBrk="0" hangingPunct="1">
              <a:spcBef>
                <a:spcPct val="20000"/>
              </a:spcBef>
              <a:buFont typeface="Arial" panose="020B0604020202020204"/>
              <a:buNone/>
              <a:defRPr lang="en-US" sz="3000" b="0" i="0" kern="1200" dirty="0">
                <a:solidFill>
                  <a:schemeClr val="tx2"/>
                </a:solidFill>
                <a:latin typeface="Vitesse Medium" charset="0"/>
                <a:ea typeface="Vitesse Medium" charset="0"/>
                <a:cs typeface="Vitesse Medium" charset="0"/>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r>
              <a:rPr lang="en-US" sz="2400" dirty="0">
                <a:solidFill>
                  <a:schemeClr val="tx2"/>
                </a:solidFill>
              </a:rPr>
              <a:t>Logistic Regression</a:t>
            </a:r>
          </a:p>
        </p:txBody>
      </p:sp>
      <p:sp>
        <p:nvSpPr>
          <p:cNvPr id="7" name="Text Placeholder 3"/>
          <p:cNvSpPr>
            <a:spLocks noGrp="1"/>
          </p:cNvSpPr>
          <p:nvPr/>
        </p:nvSpPr>
        <p:spPr>
          <a:xfrm>
            <a:off x="124827" y="2018346"/>
            <a:ext cx="4305091" cy="432669"/>
          </a:xfrm>
          <a:prstGeom prst="rect">
            <a:avLst/>
          </a:prstGeom>
        </p:spPr>
        <p:txBody>
          <a:bodyPr anchor="ctr"/>
          <a:lstStyle>
            <a:lvl1pPr marL="0" indent="0" algn="l" defTabSz="457200" rtl="0" eaLnBrk="1" latinLnBrk="0" hangingPunct="1">
              <a:lnSpc>
                <a:spcPts val="1400"/>
              </a:lnSpc>
              <a:spcBef>
                <a:spcPct val="20000"/>
              </a:spcBef>
              <a:buFont typeface="Arial" panose="020B0604020202020204"/>
              <a:buNone/>
              <a:defRPr lang="en-US" sz="2400" b="1" kern="1200" baseline="0" dirty="0">
                <a:solidFill>
                  <a:srgbClr val="EEB211"/>
                </a:solidFill>
                <a:latin typeface="Helvetica" charset="0"/>
                <a:ea typeface="Helvetica" charset="0"/>
                <a:cs typeface="Helvetica" charset="0"/>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endParaRPr lang="en-US" dirty="0"/>
          </a:p>
          <a:p>
            <a:r>
              <a:rPr lang="en-US" dirty="0" err="1"/>
              <a:t>Nicoleta</a:t>
            </a:r>
            <a:r>
              <a:rPr lang="en-US" dirty="0"/>
              <a:t> </a:t>
            </a:r>
            <a:r>
              <a:rPr lang="en-US" dirty="0" err="1"/>
              <a:t>Serban</a:t>
            </a:r>
            <a:r>
              <a:rPr lang="en-US" dirty="0"/>
              <a:t>, Ph.D. </a:t>
            </a:r>
          </a:p>
        </p:txBody>
      </p:sp>
      <p:sp>
        <p:nvSpPr>
          <p:cNvPr id="8" name="Text Placeholder 4"/>
          <p:cNvSpPr>
            <a:spLocks noGrp="1"/>
          </p:cNvSpPr>
          <p:nvPr/>
        </p:nvSpPr>
        <p:spPr>
          <a:xfrm>
            <a:off x="141340" y="2406316"/>
            <a:ext cx="4305091" cy="254281"/>
          </a:xfrm>
          <a:prstGeom prst="rect">
            <a:avLst/>
          </a:prstGeom>
        </p:spPr>
        <p:txBody>
          <a:bodyPr/>
          <a:lstStyle>
            <a:lvl1pPr marL="0" indent="0" algn="l" defTabSz="457200" rtl="0" eaLnBrk="1" latinLnBrk="0" hangingPunct="1">
              <a:spcBef>
                <a:spcPct val="20000"/>
              </a:spcBef>
              <a:buFont typeface="Arial" panose="020B0604020202020204"/>
              <a:buNone/>
              <a:defRPr sz="1600" b="0" i="1" kern="1200" baseline="0">
                <a:solidFill>
                  <a:schemeClr val="tx1"/>
                </a:solidFill>
                <a:latin typeface="Helvetica" charset="0"/>
                <a:ea typeface="Helvetica" charset="0"/>
                <a:cs typeface="Helvetica" charset="0"/>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r>
              <a:rPr lang="en-US" dirty="0"/>
              <a:t>Professor </a:t>
            </a:r>
          </a:p>
        </p:txBody>
      </p:sp>
      <p:sp>
        <p:nvSpPr>
          <p:cNvPr id="10" name="Text Placeholder 6"/>
          <p:cNvSpPr>
            <a:spLocks noGrp="1"/>
          </p:cNvSpPr>
          <p:nvPr/>
        </p:nvSpPr>
        <p:spPr>
          <a:xfrm>
            <a:off x="140336" y="2661666"/>
            <a:ext cx="4305091" cy="322253"/>
          </a:xfrm>
          <a:prstGeom prst="rect">
            <a:avLst/>
          </a:prstGeom>
        </p:spPr>
        <p:txBody>
          <a:bodyPr/>
          <a:lstStyle>
            <a:lvl1pPr marL="0" indent="0" algn="l" defTabSz="457200" rtl="0" eaLnBrk="1" latinLnBrk="0" hangingPunct="1">
              <a:spcBef>
                <a:spcPct val="20000"/>
              </a:spcBef>
              <a:buFont typeface="Arial" panose="020B0604020202020204"/>
              <a:buNone/>
              <a:defRPr sz="1200" b="0" i="0" kern="1200" baseline="0">
                <a:solidFill>
                  <a:schemeClr val="tx1"/>
                </a:solidFill>
                <a:latin typeface="Helvetica" charset="0"/>
                <a:ea typeface="Helvetica" charset="0"/>
                <a:cs typeface="Helvetica" charset="0"/>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r>
              <a:rPr lang="en-US" dirty="0"/>
              <a:t>Stewart School of Industrial and Systems Engineering</a:t>
            </a:r>
          </a:p>
        </p:txBody>
      </p:sp>
      <p:sp>
        <p:nvSpPr>
          <p:cNvPr id="11" name="Text Placeholder 5">
            <a:extLst>
              <a:ext uri="{FF2B5EF4-FFF2-40B4-BE49-F238E27FC236}">
                <a16:creationId xmlns:a16="http://schemas.microsoft.com/office/drawing/2014/main" id="{AA4C3DE4-06D4-48CF-8988-01CD934E236E}"/>
              </a:ext>
            </a:extLst>
          </p:cNvPr>
          <p:cNvSpPr>
            <a:spLocks noGrp="1"/>
          </p:cNvSpPr>
          <p:nvPr/>
        </p:nvSpPr>
        <p:spPr>
          <a:xfrm>
            <a:off x="117956" y="4102100"/>
            <a:ext cx="4305091" cy="878110"/>
          </a:xfrm>
          <a:prstGeom prst="rect">
            <a:avLst/>
          </a:prstGeom>
        </p:spPr>
        <p:txBody>
          <a:bodyPr/>
          <a:lstStyle>
            <a:lvl1pPr marL="0" indent="0" algn="l" defTabSz="457200" rtl="0" eaLnBrk="1" latinLnBrk="0" hangingPunct="1">
              <a:spcBef>
                <a:spcPct val="20000"/>
              </a:spcBef>
              <a:buFont typeface="Arial" panose="020B0604020202020204"/>
              <a:buNone/>
              <a:defRPr sz="1400" b="0" i="0" kern="1200" baseline="0">
                <a:solidFill>
                  <a:schemeClr val="tx2"/>
                </a:solidFill>
                <a:latin typeface="Helvetica" charset="0"/>
                <a:ea typeface="Helvetica" charset="0"/>
                <a:cs typeface="Helvetica" charset="0"/>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r>
              <a:rPr lang="en-US" sz="2000" dirty="0"/>
              <a:t>Goodness of Fit Assessment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15820" t="7499" r="15454" b="5507"/>
          <a:stretch>
            <a:fillRect/>
          </a:stretch>
        </p:blipFill>
        <p:spPr>
          <a:xfrm>
            <a:off x="3441090" y="1085849"/>
            <a:ext cx="2440322" cy="3088911"/>
          </a:xfrm>
          <a:prstGeom prst="rect">
            <a:avLst/>
          </a:prstGeom>
        </p:spPr>
      </p:pic>
      <p:sp>
        <p:nvSpPr>
          <p:cNvPr id="6" name="Text Placeholder 1">
            <a:extLst>
              <a:ext uri="{FF2B5EF4-FFF2-40B4-BE49-F238E27FC236}">
                <a16:creationId xmlns:a16="http://schemas.microsoft.com/office/drawing/2014/main" id="{A5FE4467-4468-4543-828C-04337E75C594}"/>
              </a:ext>
            </a:extLst>
          </p:cNvPr>
          <p:cNvSpPr txBox="1">
            <a:spLocks/>
          </p:cNvSpPr>
          <p:nvPr/>
        </p:nvSpPr>
        <p:spPr>
          <a:xfrm>
            <a:off x="147119" y="120499"/>
            <a:ext cx="4727575" cy="731706"/>
          </a:xfrm>
        </p:spPr>
        <p:txBody>
          <a:bodyPr anchor="t">
            <a:normAutofit/>
          </a:bodyPr>
          <a:lstStyle>
            <a:lvl1pPr marL="0" indent="0" algn="l" defTabSz="457200" rtl="0" eaLnBrk="1" latinLnBrk="0" hangingPunct="1">
              <a:spcBef>
                <a:spcPct val="20000"/>
              </a:spcBef>
              <a:buFont typeface="Arial" panose="020B0604020202020204"/>
              <a:buNone/>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0"/>
              </a:spcBef>
              <a:spcAft>
                <a:spcPts val="0"/>
              </a:spcAft>
              <a:buClrTx/>
              <a:buSzTx/>
              <a:buFont typeface="Arial" panose="020B0604020202020204"/>
              <a:buNone/>
              <a:tabLst/>
              <a:defRPr/>
            </a:pPr>
            <a:r>
              <a:rPr kumimoji="0" lang="en-US" sz="3600" b="0" i="0" u="none" strike="noStrike" kern="1200" cap="none" spc="0" normalizeH="0" baseline="0" noProof="0" dirty="0">
                <a:ln>
                  <a:noFill/>
                </a:ln>
                <a:solidFill>
                  <a:prstClr val="black"/>
                </a:solidFill>
                <a:effectLst/>
                <a:uLnTx/>
                <a:uFillTx/>
                <a:latin typeface="Vitesse" charset="0"/>
                <a:ea typeface="Vitesse" charset="0"/>
                <a:cs typeface="Vitesse" charset="0"/>
              </a:rPr>
              <a:t>About This Lesson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36" y="115287"/>
            <a:ext cx="8562392" cy="648111"/>
          </a:xfrm>
        </p:spPr>
        <p:txBody>
          <a:bodyPr/>
          <a:lstStyle/>
          <a:p>
            <a:pPr algn="l"/>
            <a:r>
              <a:rPr lang="en-US" sz="3600" dirty="0">
                <a:latin typeface="Vitesse"/>
              </a:rPr>
              <a:t>Logistic Regression Model</a:t>
            </a:r>
          </a:p>
        </p:txBody>
      </p:sp>
      <mc:AlternateContent xmlns:mc="http://schemas.openxmlformats.org/markup-compatibility/2006" xmlns:a14="http://schemas.microsoft.com/office/drawing/2010/main">
        <mc:Choice Requires="a14">
          <p:sp>
            <p:nvSpPr>
              <p:cNvPr id="9" name="Rectangle 9"/>
              <p:cNvSpPr>
                <a:spLocks noChangeArrowheads="1"/>
              </p:cNvSpPr>
              <p:nvPr/>
            </p:nvSpPr>
            <p:spPr bwMode="auto">
              <a:xfrm>
                <a:off x="159608" y="1921229"/>
                <a:ext cx="8012857" cy="193783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spcBef>
                    <a:spcPct val="50000"/>
                  </a:spcBef>
                </a:pPr>
                <a:r>
                  <a:rPr lang="en-US" altLang="en-US" b="1" dirty="0">
                    <a:solidFill>
                      <a:srgbClr val="EEB211"/>
                    </a:solidFill>
                    <a:latin typeface="Helvetica" panose="020B0604020202020204" pitchFamily="34" charset="0"/>
                    <a:ea typeface="Helvetica Neue" charset="0"/>
                    <a:cs typeface="Helvetica" panose="020B0604020202020204" pitchFamily="34" charset="0"/>
                  </a:rPr>
                  <a:t>Assumptions</a:t>
                </a:r>
                <a:r>
                  <a:rPr lang="en-US" altLang="en-US" dirty="0">
                    <a:solidFill>
                      <a:srgbClr val="EEB211"/>
                    </a:solidFill>
                    <a:latin typeface="Helvetica" panose="020B0604020202020204" pitchFamily="34" charset="0"/>
                    <a:ea typeface="Helvetica Neue" charset="0"/>
                    <a:cs typeface="Helvetica" panose="020B0604020202020204" pitchFamily="34" charset="0"/>
                  </a:rPr>
                  <a:t>:  </a:t>
                </a:r>
              </a:p>
              <a:p>
                <a:pPr marL="344488" indent="-344488">
                  <a:spcAft>
                    <a:spcPts val="1200"/>
                  </a:spcAft>
                  <a:buFontTx/>
                  <a:buChar char="•"/>
                </a:pPr>
                <a:r>
                  <a:rPr lang="en-US" altLang="en-US" i="1" dirty="0">
                    <a:latin typeface="Helvetica" panose="020B0604020202020204" pitchFamily="34" charset="0"/>
                    <a:ea typeface="Helvetica Neue" charset="0"/>
                    <a:cs typeface="Helvetica" panose="020B0604020202020204" pitchFamily="34" charset="0"/>
                  </a:rPr>
                  <a:t>Linearity</a:t>
                </a:r>
                <a:r>
                  <a:rPr lang="en-US" altLang="en-US" dirty="0">
                    <a:latin typeface="Helvetica" panose="020B0604020202020204" pitchFamily="34" charset="0"/>
                    <a:ea typeface="Helvetica Neue" charset="0"/>
                    <a:cs typeface="Helvetica" panose="020B0604020202020204" pitchFamily="34" charset="0"/>
                  </a:rPr>
                  <a:t> </a:t>
                </a:r>
                <a:r>
                  <a:rPr lang="en-US" altLang="en-US" i="1" dirty="0">
                    <a:latin typeface="Helvetica" panose="020B0604020202020204" pitchFamily="34" charset="0"/>
                    <a:ea typeface="Helvetica Neue" charset="0"/>
                    <a:cs typeface="Helvetica" panose="020B0604020202020204" pitchFamily="34" charset="0"/>
                  </a:rPr>
                  <a:t>Assumption</a:t>
                </a:r>
                <a:r>
                  <a:rPr lang="en-US" altLang="en-US" dirty="0">
                    <a:latin typeface="Helvetica" panose="020B0604020202020204" pitchFamily="34" charset="0"/>
                    <a:ea typeface="Helvetica Neue" charset="0"/>
                    <a:cs typeface="Helvetica" panose="020B0604020202020204" pitchFamily="34" charset="0"/>
                  </a:rPr>
                  <a:t>: </a:t>
                </a:r>
                <a14:m>
                  <m:oMath xmlns:m="http://schemas.openxmlformats.org/officeDocument/2006/math">
                    <m:r>
                      <m:rPr>
                        <m:sty m:val="p"/>
                      </m:rPr>
                      <a:rPr lang="en-US" altLang="en-US" dirty="0">
                        <a:latin typeface="Cambria Math" panose="02040503050406030204" pitchFamily="18" charset="0"/>
                        <a:ea typeface="Cambria Math" panose="02040503050406030204" pitchFamily="18" charset="0"/>
                      </a:rPr>
                      <m:t>g</m:t>
                    </m:r>
                    <m:d>
                      <m:dPr>
                        <m:ctrlPr>
                          <a:rPr lang="en-US" altLang="en-US" i="1" dirty="0">
                            <a:latin typeface="Cambria Math" panose="02040503050406030204" pitchFamily="18" charset="0"/>
                            <a:ea typeface="Cambria Math" panose="02040503050406030204" pitchFamily="18" charset="0"/>
                          </a:rPr>
                        </m:ctrlPr>
                      </m:dPr>
                      <m:e>
                        <m:r>
                          <m:rPr>
                            <m:sty m:val="p"/>
                          </m:rPr>
                          <a:rPr lang="en-US">
                            <a:solidFill>
                              <a:srgbClr val="000000"/>
                            </a:solidFill>
                            <a:latin typeface="Cambria Math" panose="02040503050406030204" pitchFamily="18" charset="0"/>
                            <a:cs typeface="Helvetica"/>
                          </a:rPr>
                          <m:t>p</m:t>
                        </m:r>
                        <m:d>
                          <m:dPr>
                            <m:ctrlPr>
                              <a:rPr lang="en-US" i="1">
                                <a:solidFill>
                                  <a:srgbClr val="000000"/>
                                </a:solidFill>
                                <a:latin typeface="Cambria Math" panose="02040503050406030204" pitchFamily="18" charset="0"/>
                                <a:cs typeface="Helvetica"/>
                              </a:rPr>
                            </m:ctrlPr>
                          </m:dPr>
                          <m:e>
                            <m:sSub>
                              <m:sSubPr>
                                <m:ctrlPr>
                                  <a:rPr lang="en-US" altLang="en-US" i="1">
                                    <a:latin typeface="Cambria Math" panose="02040503050406030204" pitchFamily="18" charset="0"/>
                                  </a:rPr>
                                </m:ctrlPr>
                              </m:sSubPr>
                              <m:e>
                                <m:r>
                                  <a:rPr lang="en-US" altLang="en-US" i="1">
                                    <a:latin typeface="Cambria Math" panose="02040503050406030204" pitchFamily="18" charset="0"/>
                                  </a:rPr>
                                  <m:t>𝑋</m:t>
                                </m:r>
                              </m:e>
                              <m:sub>
                                <m:r>
                                  <a:rPr lang="en-US" altLang="en-US" i="1">
                                    <a:latin typeface="Cambria Math" panose="02040503050406030204" pitchFamily="18" charset="0"/>
                                  </a:rPr>
                                  <m:t>1</m:t>
                                </m:r>
                              </m:sub>
                            </m:sSub>
                            <m:r>
                              <a:rPr lang="en-US" altLang="en-US" i="1">
                                <a:latin typeface="Cambria Math" panose="02040503050406030204" pitchFamily="18" charset="0"/>
                              </a:rPr>
                              <m:t>,</m:t>
                            </m:r>
                            <m:r>
                              <a:rPr lang="en-US" altLang="en-US" i="1">
                                <a:latin typeface="Cambria Math" panose="02040503050406030204" pitchFamily="18" charset="0"/>
                                <a:ea typeface="Cambria Math" panose="02040503050406030204" pitchFamily="18" charset="0"/>
                              </a:rPr>
                              <m:t>⋯,</m:t>
                            </m:r>
                            <m:sSub>
                              <m:sSubPr>
                                <m:ctrlPr>
                                  <a:rPr lang="en-US" altLang="en-US" i="1">
                                    <a:latin typeface="Cambria Math" panose="02040503050406030204" pitchFamily="18" charset="0"/>
                                  </a:rPr>
                                </m:ctrlPr>
                              </m:sSubPr>
                              <m:e>
                                <m:r>
                                  <a:rPr lang="en-US" altLang="en-US" i="1">
                                    <a:latin typeface="Cambria Math" panose="02040503050406030204" pitchFamily="18" charset="0"/>
                                  </a:rPr>
                                  <m:t>𝑋</m:t>
                                </m:r>
                              </m:e>
                              <m:sub>
                                <m:r>
                                  <a:rPr lang="en-US" altLang="en-US" i="1">
                                    <a:latin typeface="Cambria Math" panose="02040503050406030204" pitchFamily="18" charset="0"/>
                                  </a:rPr>
                                  <m:t>𝑝</m:t>
                                </m:r>
                              </m:sub>
                            </m:sSub>
                          </m:e>
                        </m:d>
                      </m:e>
                    </m:d>
                    <m:r>
                      <a:rPr lang="en-US" altLang="en-US" i="1" dirty="0">
                        <a:latin typeface="Cambria Math" panose="02040503050406030204" pitchFamily="18" charset="0"/>
                        <a:ea typeface="Cambria Math" panose="02040503050406030204" pitchFamily="18" charset="0"/>
                      </a:rPr>
                      <m:t>=</m:t>
                    </m:r>
                    <m:sSub>
                      <m:sSubPr>
                        <m:ctrlPr>
                          <a:rPr lang="en-US" altLang="en-US" i="1" dirty="0">
                            <a:latin typeface="Cambria Math" panose="02040503050406030204" pitchFamily="18" charset="0"/>
                            <a:ea typeface="Cambria Math" panose="02040503050406030204" pitchFamily="18" charset="0"/>
                          </a:rPr>
                        </m:ctrlPr>
                      </m:sSubPr>
                      <m:e>
                        <m:r>
                          <a:rPr lang="en-US" altLang="en-US" i="1" dirty="0">
                            <a:latin typeface="Cambria Math" panose="02040503050406030204" pitchFamily="18" charset="0"/>
                            <a:ea typeface="Cambria Math" panose="02040503050406030204" pitchFamily="18" charset="0"/>
                          </a:rPr>
                          <m:t>𝛽</m:t>
                        </m:r>
                      </m:e>
                      <m:sub>
                        <m:r>
                          <a:rPr lang="en-US" altLang="en-US" i="1" dirty="0">
                            <a:latin typeface="Cambria Math" panose="02040503050406030204" pitchFamily="18" charset="0"/>
                            <a:ea typeface="Cambria Math" panose="02040503050406030204" pitchFamily="18" charset="0"/>
                          </a:rPr>
                          <m:t>0</m:t>
                        </m:r>
                      </m:sub>
                    </m:sSub>
                    <m:r>
                      <a:rPr lang="en-US" altLang="en-US" i="1" dirty="0">
                        <a:latin typeface="Cambria Math" panose="02040503050406030204" pitchFamily="18" charset="0"/>
                        <a:ea typeface="Cambria Math" panose="02040503050406030204" pitchFamily="18" charset="0"/>
                      </a:rPr>
                      <m:t>+</m:t>
                    </m:r>
                    <m:sSub>
                      <m:sSubPr>
                        <m:ctrlPr>
                          <a:rPr lang="en-US" altLang="en-US" i="1" dirty="0">
                            <a:latin typeface="Cambria Math" panose="02040503050406030204" pitchFamily="18" charset="0"/>
                            <a:ea typeface="Cambria Math" panose="02040503050406030204" pitchFamily="18" charset="0"/>
                          </a:rPr>
                        </m:ctrlPr>
                      </m:sSubPr>
                      <m:e>
                        <m:r>
                          <a:rPr lang="en-US" altLang="en-US" i="1" dirty="0">
                            <a:latin typeface="Cambria Math" panose="02040503050406030204" pitchFamily="18" charset="0"/>
                            <a:ea typeface="Cambria Math" panose="02040503050406030204" pitchFamily="18" charset="0"/>
                          </a:rPr>
                          <m:t>𝛽</m:t>
                        </m:r>
                      </m:e>
                      <m:sub>
                        <m:r>
                          <a:rPr lang="en-US" altLang="en-US" i="1" dirty="0">
                            <a:latin typeface="Cambria Math" panose="02040503050406030204" pitchFamily="18" charset="0"/>
                            <a:ea typeface="Cambria Math" panose="02040503050406030204" pitchFamily="18" charset="0"/>
                          </a:rPr>
                          <m:t>1</m:t>
                        </m:r>
                      </m:sub>
                    </m:sSub>
                    <m:sSub>
                      <m:sSubPr>
                        <m:ctrlPr>
                          <a:rPr lang="en-US" altLang="en-US" i="1" dirty="0">
                            <a:latin typeface="Cambria Math" panose="02040503050406030204" pitchFamily="18" charset="0"/>
                            <a:ea typeface="Cambria Math" panose="02040503050406030204" pitchFamily="18" charset="0"/>
                          </a:rPr>
                        </m:ctrlPr>
                      </m:sSubPr>
                      <m:e>
                        <m:r>
                          <a:rPr lang="en-US" altLang="en-US" i="1" dirty="0">
                            <a:latin typeface="Cambria Math" panose="02040503050406030204" pitchFamily="18" charset="0"/>
                            <a:ea typeface="Cambria Math" panose="02040503050406030204" pitchFamily="18" charset="0"/>
                          </a:rPr>
                          <m:t>𝑋</m:t>
                        </m:r>
                      </m:e>
                      <m:sub>
                        <m:r>
                          <a:rPr lang="en-US" altLang="en-US" i="1" dirty="0">
                            <a:latin typeface="Cambria Math" panose="02040503050406030204" pitchFamily="18" charset="0"/>
                            <a:ea typeface="Cambria Math" panose="02040503050406030204" pitchFamily="18" charset="0"/>
                          </a:rPr>
                          <m:t>1</m:t>
                        </m:r>
                      </m:sub>
                    </m:sSub>
                    <m:r>
                      <a:rPr lang="en-US" altLang="en-US" i="1" dirty="0">
                        <a:latin typeface="Cambria Math" panose="02040503050406030204" pitchFamily="18" charset="0"/>
                        <a:ea typeface="Cambria Math" panose="02040503050406030204" pitchFamily="18" charset="0"/>
                      </a:rPr>
                      <m:t>+⋯+</m:t>
                    </m:r>
                    <m:sSub>
                      <m:sSubPr>
                        <m:ctrlPr>
                          <a:rPr lang="en-US" altLang="en-US" i="1" dirty="0">
                            <a:latin typeface="Cambria Math" panose="02040503050406030204" pitchFamily="18" charset="0"/>
                            <a:ea typeface="Cambria Math" panose="02040503050406030204" pitchFamily="18" charset="0"/>
                          </a:rPr>
                        </m:ctrlPr>
                      </m:sSubPr>
                      <m:e>
                        <m:r>
                          <a:rPr lang="en-US" altLang="en-US" i="1" dirty="0">
                            <a:latin typeface="Cambria Math" panose="02040503050406030204" pitchFamily="18" charset="0"/>
                            <a:ea typeface="Cambria Math" panose="02040503050406030204" pitchFamily="18" charset="0"/>
                          </a:rPr>
                          <m:t>𝛽</m:t>
                        </m:r>
                      </m:e>
                      <m:sub>
                        <m:r>
                          <a:rPr lang="en-US" altLang="en-US" i="1" dirty="0">
                            <a:latin typeface="Cambria Math" panose="02040503050406030204" pitchFamily="18" charset="0"/>
                            <a:ea typeface="Cambria Math" panose="02040503050406030204" pitchFamily="18" charset="0"/>
                          </a:rPr>
                          <m:t>𝑝</m:t>
                        </m:r>
                      </m:sub>
                    </m:sSub>
                    <m:sSub>
                      <m:sSubPr>
                        <m:ctrlPr>
                          <a:rPr lang="en-US" altLang="en-US" i="1" dirty="0">
                            <a:latin typeface="Cambria Math" panose="02040503050406030204" pitchFamily="18" charset="0"/>
                            <a:ea typeface="Cambria Math" panose="02040503050406030204" pitchFamily="18" charset="0"/>
                          </a:rPr>
                        </m:ctrlPr>
                      </m:sSubPr>
                      <m:e>
                        <m:r>
                          <a:rPr lang="en-US" altLang="en-US" i="1" dirty="0">
                            <a:latin typeface="Cambria Math" panose="02040503050406030204" pitchFamily="18" charset="0"/>
                            <a:ea typeface="Cambria Math" panose="02040503050406030204" pitchFamily="18" charset="0"/>
                          </a:rPr>
                          <m:t>𝑋</m:t>
                        </m:r>
                      </m:e>
                      <m:sub>
                        <m:r>
                          <a:rPr lang="en-US" altLang="en-US" i="1" dirty="0">
                            <a:latin typeface="Cambria Math" panose="02040503050406030204" pitchFamily="18" charset="0"/>
                            <a:ea typeface="Cambria Math" panose="02040503050406030204" pitchFamily="18" charset="0"/>
                          </a:rPr>
                          <m:t>𝑝</m:t>
                        </m:r>
                      </m:sub>
                    </m:sSub>
                  </m:oMath>
                </a14:m>
                <a:endParaRPr lang="en-US" altLang="en-US" dirty="0">
                  <a:latin typeface="Helvetica" panose="020B0604020202020204" pitchFamily="34" charset="0"/>
                  <a:ea typeface="Cambria Math" charset="0"/>
                  <a:cs typeface="Helvetica" panose="020B0604020202020204" pitchFamily="34" charset="0"/>
                </a:endParaRPr>
              </a:p>
              <a:p>
                <a:pPr marL="344488" indent="-344488">
                  <a:spcAft>
                    <a:spcPts val="1200"/>
                  </a:spcAft>
                  <a:buFontTx/>
                  <a:buChar char="•"/>
                </a:pPr>
                <a:r>
                  <a:rPr lang="en-US" altLang="en-US" i="1" dirty="0">
                    <a:latin typeface="Helvetica" panose="020B0604020202020204" pitchFamily="34" charset="0"/>
                    <a:ea typeface="Helvetica Neue" charset="0"/>
                    <a:cs typeface="Helvetica" panose="020B0604020202020204" pitchFamily="34" charset="0"/>
                  </a:rPr>
                  <a:t>Independence</a:t>
                </a:r>
                <a:r>
                  <a:rPr lang="en-US" altLang="en-US" dirty="0">
                    <a:latin typeface="Helvetica" panose="020B0604020202020204" pitchFamily="34" charset="0"/>
                    <a:ea typeface="Helvetica Neue" charset="0"/>
                    <a:cs typeface="Helvetica" panose="020B0604020202020204" pitchFamily="34" charset="0"/>
                  </a:rPr>
                  <a:t> </a:t>
                </a:r>
                <a:r>
                  <a:rPr lang="en-US" altLang="en-US" i="1" dirty="0">
                    <a:latin typeface="Helvetica" panose="020B0604020202020204" pitchFamily="34" charset="0"/>
                    <a:ea typeface="Helvetica Neue" charset="0"/>
                    <a:cs typeface="Helvetica" panose="020B0604020202020204" pitchFamily="34" charset="0"/>
                  </a:rPr>
                  <a:t>Assumption</a:t>
                </a:r>
                <a:r>
                  <a:rPr lang="en-US" altLang="en-US" dirty="0">
                    <a:latin typeface="Helvetica" panose="020B0604020202020204" pitchFamily="34" charset="0"/>
                    <a:ea typeface="Helvetica Neue" charset="0"/>
                    <a:cs typeface="Helvetica" panose="020B0604020202020204" pitchFamily="34" charset="0"/>
                  </a:rPr>
                  <a:t>: </a:t>
                </a:r>
                <a14:m>
                  <m:oMath xmlns:m="http://schemas.openxmlformats.org/officeDocument/2006/math">
                    <m:sSub>
                      <m:sSubPr>
                        <m:ctrlPr>
                          <a:rPr lang="en-US" altLang="en-US" i="1">
                            <a:latin typeface="Cambria Math" panose="02040503050406030204" pitchFamily="18" charset="0"/>
                          </a:rPr>
                        </m:ctrlPr>
                      </m:sSubPr>
                      <m:e>
                        <m:r>
                          <a:rPr lang="en-US" altLang="en-US" b="1" i="1">
                            <a:latin typeface="Cambria Math" panose="02040503050406030204" pitchFamily="18" charset="0"/>
                          </a:rPr>
                          <m:t>𝒀</m:t>
                        </m:r>
                      </m:e>
                      <m:sub>
                        <m:r>
                          <a:rPr lang="en-US" altLang="en-US" i="1">
                            <a:latin typeface="Cambria Math" panose="02040503050406030204" pitchFamily="18" charset="0"/>
                          </a:rPr>
                          <m:t>1</m:t>
                        </m:r>
                      </m:sub>
                    </m:sSub>
                    <m:r>
                      <a:rPr lang="en-US" altLang="en-US" i="1">
                        <a:latin typeface="Cambria Math" panose="02040503050406030204" pitchFamily="18" charset="0"/>
                      </a:rPr>
                      <m:t>,</m:t>
                    </m:r>
                    <m:r>
                      <a:rPr lang="en-US" altLang="en-US" i="1">
                        <a:latin typeface="Cambria Math" panose="02040503050406030204" pitchFamily="18" charset="0"/>
                        <a:ea typeface="Cambria Math" panose="02040503050406030204" pitchFamily="18" charset="0"/>
                      </a:rPr>
                      <m:t>⋯,</m:t>
                    </m:r>
                    <m:sSub>
                      <m:sSubPr>
                        <m:ctrlPr>
                          <a:rPr lang="en-US" altLang="en-US" i="1">
                            <a:latin typeface="Cambria Math" panose="02040503050406030204" pitchFamily="18" charset="0"/>
                          </a:rPr>
                        </m:ctrlPr>
                      </m:sSubPr>
                      <m:e>
                        <m:r>
                          <a:rPr lang="en-US" altLang="en-US" b="1" i="1">
                            <a:latin typeface="Cambria Math" panose="02040503050406030204" pitchFamily="18" charset="0"/>
                          </a:rPr>
                          <m:t>𝒀</m:t>
                        </m:r>
                      </m:e>
                      <m:sub>
                        <m:r>
                          <a:rPr lang="en-US" altLang="en-US" i="1">
                            <a:latin typeface="Cambria Math" panose="02040503050406030204" pitchFamily="18" charset="0"/>
                          </a:rPr>
                          <m:t>𝑛</m:t>
                        </m:r>
                      </m:sub>
                    </m:sSub>
                    <m:r>
                      <a:rPr lang="en-US" altLang="en-US" i="1">
                        <a:latin typeface="Cambria Math" panose="02040503050406030204" pitchFamily="18" charset="0"/>
                      </a:rPr>
                      <m:t> </m:t>
                    </m:r>
                  </m:oMath>
                </a14:m>
                <a:r>
                  <a:rPr lang="en-US" altLang="en-US" dirty="0">
                    <a:latin typeface="Helvetica" panose="020B0604020202020204" pitchFamily="34" charset="0"/>
                    <a:ea typeface="Helvetica Neue" charset="0"/>
                    <a:cs typeface="Helvetica" panose="020B0604020202020204" pitchFamily="34" charset="0"/>
                  </a:rPr>
                  <a:t>are independent random variables</a:t>
                </a:r>
              </a:p>
              <a:p>
                <a:pPr marL="344488" indent="-344488">
                  <a:spcBef>
                    <a:spcPts val="600"/>
                  </a:spcBef>
                  <a:buFontTx/>
                  <a:buChar char="•"/>
                </a:pPr>
                <a:r>
                  <a:rPr lang="en-US" altLang="en-US" i="1" dirty="0">
                    <a:latin typeface="Helvetica" panose="020B0604020202020204" pitchFamily="34" charset="0"/>
                    <a:ea typeface="Helvetica Neue" charset="0"/>
                    <a:cs typeface="Helvetica" panose="020B0604020202020204" pitchFamily="34" charset="0"/>
                  </a:rPr>
                  <a:t>Logit Link Function: </a:t>
                </a:r>
                <a14:m>
                  <m:oMath xmlns:m="http://schemas.openxmlformats.org/officeDocument/2006/math">
                    <m:func>
                      <m:funcPr>
                        <m:ctrlPr>
                          <a:rPr lang="en-US" i="1">
                            <a:latin typeface="Cambria Math" panose="02040503050406030204" pitchFamily="18" charset="0"/>
                            <a:ea typeface="Cambria Math" panose="02040503050406030204" pitchFamily="18" charset="0"/>
                            <a:cs typeface="Helvetica Neue" charset="0"/>
                          </a:rPr>
                        </m:ctrlPr>
                      </m:funcPr>
                      <m:fName>
                        <m:r>
                          <m:rPr>
                            <m:nor/>
                          </m:rPr>
                          <a:rPr lang="en-US" i="0">
                            <a:latin typeface="Cambria Math" panose="02040503050406030204" pitchFamily="18" charset="0"/>
                            <a:ea typeface="Cambria Math" panose="02040503050406030204" pitchFamily="18" charset="0"/>
                            <a:cs typeface="Helvetica" panose="020B0604020202020204" pitchFamily="34" charset="0"/>
                          </a:rPr>
                          <m:t>g</m:t>
                        </m:r>
                        <m:d>
                          <m:dPr>
                            <m:ctrlPr>
                              <a:rPr lang="en-US" i="1">
                                <a:latin typeface="Cambria Math" panose="02040503050406030204" pitchFamily="18" charset="0"/>
                                <a:ea typeface="Cambria Math" panose="02040503050406030204" pitchFamily="18" charset="0"/>
                                <a:cs typeface="Helvetica Neue" charset="0"/>
                              </a:rPr>
                            </m:ctrlPr>
                          </m:dPr>
                          <m:e>
                            <m:r>
                              <m:rPr>
                                <m:nor/>
                              </m:rPr>
                              <a:rPr lang="en-US" i="0">
                                <a:latin typeface="Cambria Math" panose="02040503050406030204" pitchFamily="18" charset="0"/>
                                <a:ea typeface="Cambria Math" panose="02040503050406030204" pitchFamily="18" charset="0"/>
                                <a:cs typeface="Helvetica" panose="020B0604020202020204" pitchFamily="34" charset="0"/>
                              </a:rPr>
                              <m:t>p</m:t>
                            </m:r>
                          </m:e>
                        </m:d>
                        <m:r>
                          <m:rPr>
                            <m:nor/>
                          </m:rPr>
                          <a:rPr lang="en-US" b="0" i="0" smtClean="0">
                            <a:latin typeface="Cambria Math" panose="02040503050406030204" pitchFamily="18" charset="0"/>
                            <a:ea typeface="Cambria Math" panose="02040503050406030204" pitchFamily="18" charset="0"/>
                            <a:cs typeface="Helvetica" panose="020B0604020202020204" pitchFamily="34" charset="0"/>
                          </a:rPr>
                          <m:t> </m:t>
                        </m:r>
                        <m:r>
                          <m:rPr>
                            <m:nor/>
                          </m:rPr>
                          <a:rPr lang="en-US" i="0">
                            <a:latin typeface="Cambria Math" panose="02040503050406030204" pitchFamily="18" charset="0"/>
                            <a:ea typeface="Cambria Math" panose="02040503050406030204" pitchFamily="18" charset="0"/>
                            <a:cs typeface="Helvetica" panose="020B0604020202020204" pitchFamily="34" charset="0"/>
                          </a:rPr>
                          <m:t>=</m:t>
                        </m:r>
                        <m:r>
                          <m:rPr>
                            <m:nor/>
                          </m:rPr>
                          <a:rPr lang="en-US" b="0" i="0" smtClean="0">
                            <a:latin typeface="Cambria Math" panose="02040503050406030204" pitchFamily="18" charset="0"/>
                            <a:ea typeface="Cambria Math" panose="02040503050406030204" pitchFamily="18" charset="0"/>
                            <a:cs typeface="Helvetica" panose="020B0604020202020204" pitchFamily="34" charset="0"/>
                          </a:rPr>
                          <m:t> </m:t>
                        </m:r>
                        <m:r>
                          <m:rPr>
                            <m:nor/>
                          </m:rPr>
                          <a:rPr lang="en-US" i="0">
                            <a:latin typeface="Cambria Math" panose="02040503050406030204" pitchFamily="18" charset="0"/>
                            <a:ea typeface="Cambria Math" panose="02040503050406030204" pitchFamily="18" charset="0"/>
                            <a:cs typeface="Helvetica" panose="020B0604020202020204" pitchFamily="34" charset="0"/>
                          </a:rPr>
                          <m:t>ln</m:t>
                        </m:r>
                      </m:fName>
                      <m:e>
                        <m:d>
                          <m:dPr>
                            <m:ctrlPr>
                              <a:rPr lang="en-US" i="1">
                                <a:latin typeface="Cambria Math" panose="02040503050406030204" pitchFamily="18" charset="0"/>
                                <a:ea typeface="Cambria Math" panose="02040503050406030204" pitchFamily="18" charset="0"/>
                                <a:cs typeface="Helvetica Neue" charset="0"/>
                              </a:rPr>
                            </m:ctrlPr>
                          </m:dPr>
                          <m:e>
                            <m:f>
                              <m:fPr>
                                <m:ctrlPr>
                                  <a:rPr lang="en-US" i="1">
                                    <a:latin typeface="Cambria Math" panose="02040503050406030204" pitchFamily="18" charset="0"/>
                                    <a:ea typeface="Cambria Math" panose="02040503050406030204" pitchFamily="18" charset="0"/>
                                    <a:cs typeface="Helvetica Neue" charset="0"/>
                                  </a:rPr>
                                </m:ctrlPr>
                              </m:fPr>
                              <m:num>
                                <m:r>
                                  <m:rPr>
                                    <m:nor/>
                                  </m:rPr>
                                  <a:rPr lang="en-US" i="0">
                                    <a:latin typeface="Cambria Math" panose="02040503050406030204" pitchFamily="18" charset="0"/>
                                    <a:ea typeface="Cambria Math" panose="02040503050406030204" pitchFamily="18" charset="0"/>
                                    <a:cs typeface="Helvetica" panose="020B0604020202020204" pitchFamily="34" charset="0"/>
                                  </a:rPr>
                                  <m:t>p</m:t>
                                </m:r>
                              </m:num>
                              <m:den>
                                <m:r>
                                  <m:rPr>
                                    <m:nor/>
                                  </m:rPr>
                                  <a:rPr lang="en-US" i="0">
                                    <a:latin typeface="Cambria Math" panose="02040503050406030204" pitchFamily="18" charset="0"/>
                                    <a:ea typeface="Cambria Math" panose="02040503050406030204" pitchFamily="18" charset="0"/>
                                    <a:cs typeface="Helvetica" panose="020B0604020202020204" pitchFamily="34" charset="0"/>
                                  </a:rPr>
                                  <m:t>1−</m:t>
                                </m:r>
                                <m:r>
                                  <m:rPr>
                                    <m:nor/>
                                  </m:rPr>
                                  <a:rPr lang="en-US" i="0">
                                    <a:latin typeface="Cambria Math" panose="02040503050406030204" pitchFamily="18" charset="0"/>
                                    <a:ea typeface="Cambria Math" panose="02040503050406030204" pitchFamily="18" charset="0"/>
                                    <a:cs typeface="Helvetica" panose="020B0604020202020204" pitchFamily="34" charset="0"/>
                                  </a:rPr>
                                  <m:t>p</m:t>
                                </m:r>
                              </m:den>
                            </m:f>
                          </m:e>
                        </m:d>
                      </m:e>
                    </m:func>
                  </m:oMath>
                </a14:m>
                <a:endParaRPr lang="en-US" altLang="en-US" dirty="0">
                  <a:latin typeface="Cambria Math" panose="02040503050406030204" pitchFamily="18" charset="0"/>
                  <a:ea typeface="Cambria Math" panose="02040503050406030204" pitchFamily="18" charset="0"/>
                  <a:cs typeface="Helvetica" panose="020B0604020202020204" pitchFamily="34" charset="0"/>
                </a:endParaRPr>
              </a:p>
            </p:txBody>
          </p:sp>
        </mc:Choice>
        <mc:Fallback xmlns="">
          <p:sp>
            <p:nvSpPr>
              <p:cNvPr id="9" name="Rectangle 9"/>
              <p:cNvSpPr>
                <a:spLocks noRot="1" noChangeAspect="1" noMove="1" noResize="1" noEditPoints="1" noAdjustHandles="1" noChangeArrowheads="1" noChangeShapeType="1" noTextEdit="1"/>
              </p:cNvSpPr>
              <p:nvPr/>
            </p:nvSpPr>
            <p:spPr bwMode="auto">
              <a:xfrm>
                <a:off x="159608" y="1921229"/>
                <a:ext cx="8012857" cy="1937838"/>
              </a:xfrm>
              <a:prstGeom prst="rect">
                <a:avLst/>
              </a:prstGeom>
              <a:blipFill>
                <a:blip r:embed="rId3"/>
                <a:stretch>
                  <a:fillRect l="-608" t="-157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 Box 3"/>
              <p:cNvSpPr txBox="1">
                <a:spLocks noChangeArrowheads="1"/>
              </p:cNvSpPr>
              <p:nvPr/>
            </p:nvSpPr>
            <p:spPr bwMode="auto">
              <a:xfrm>
                <a:off x="126052" y="904610"/>
                <a:ext cx="8865548" cy="96449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r>
                  <a:rPr lang="en-US" altLang="en-US" b="1" dirty="0">
                    <a:solidFill>
                      <a:srgbClr val="EEB211"/>
                    </a:solidFill>
                    <a:latin typeface="Helvetica" panose="020B0604020202020204" pitchFamily="34" charset="0"/>
                    <a:ea typeface="Helvetica Neue" charset="0"/>
                    <a:cs typeface="Helvetica" panose="020B0604020202020204" pitchFamily="34" charset="0"/>
                  </a:rPr>
                  <a:t>Data</a:t>
                </a:r>
                <a:r>
                  <a:rPr lang="en-US" altLang="en-US" dirty="0">
                    <a:solidFill>
                      <a:srgbClr val="EEB211"/>
                    </a:solidFill>
                    <a:latin typeface="Helvetica" panose="020B0604020202020204" pitchFamily="34" charset="0"/>
                    <a:ea typeface="Helvetica Neue" charset="0"/>
                    <a:cs typeface="Helvetica" panose="020B0604020202020204" pitchFamily="34" charset="0"/>
                  </a:rPr>
                  <a:t>:</a:t>
                </a:r>
              </a:p>
              <a:p>
                <a:pPr marL="687388"/>
                <a14:m>
                  <m:oMathPara xmlns:m="http://schemas.openxmlformats.org/officeDocument/2006/math">
                    <m:oMathParaPr>
                      <m:jc m:val="centerGroup"/>
                    </m:oMathParaPr>
                    <m:oMath xmlns:m="http://schemas.openxmlformats.org/officeDocument/2006/math">
                      <m:d>
                        <m:dPr>
                          <m:begChr m:val="{"/>
                          <m:endChr m:val="}"/>
                          <m:ctrlPr>
                            <a:rPr lang="en-US" altLang="en-US" i="1" smtClean="0">
                              <a:latin typeface="Cambria Math" panose="02040503050406030204" pitchFamily="18" charset="0"/>
                            </a:rPr>
                          </m:ctrlPr>
                        </m:dPr>
                        <m:e>
                          <m:d>
                            <m:dPr>
                              <m:ctrlPr>
                                <a:rPr lang="en-US" altLang="en-US" i="1" smtClean="0">
                                  <a:latin typeface="Cambria Math" panose="02040503050406030204" pitchFamily="18" charset="0"/>
                                </a:rPr>
                              </m:ctrlPr>
                            </m:dPr>
                            <m:e>
                              <m:sSub>
                                <m:sSubPr>
                                  <m:ctrlPr>
                                    <a:rPr lang="en-US" altLang="en-US" i="1" smtClean="0">
                                      <a:latin typeface="Cambria Math" panose="02040503050406030204" pitchFamily="18" charset="0"/>
                                    </a:rPr>
                                  </m:ctrlPr>
                                </m:sSubPr>
                                <m:e>
                                  <m:r>
                                    <a:rPr lang="en-US" altLang="en-US" b="1" i="1" smtClean="0">
                                      <a:latin typeface="Cambria Math" panose="02040503050406030204" pitchFamily="18" charset="0"/>
                                    </a:rPr>
                                    <m:t>𝑿</m:t>
                                  </m:r>
                                </m:e>
                                <m:sub>
                                  <m:r>
                                    <a:rPr lang="en-US" altLang="en-US" b="0" i="1" smtClean="0">
                                      <a:latin typeface="Cambria Math" panose="02040503050406030204" pitchFamily="18" charset="0"/>
                                    </a:rPr>
                                    <m:t>1,1</m:t>
                                  </m:r>
                                </m:sub>
                              </m:sSub>
                              <m:r>
                                <a:rPr lang="en-US" altLang="en-US" b="0" i="1" smtClean="0">
                                  <a:latin typeface="Cambria Math" panose="02040503050406030204" pitchFamily="18" charset="0"/>
                                </a:rPr>
                                <m:t>,</m:t>
                              </m:r>
                              <m:sSub>
                                <m:sSubPr>
                                  <m:ctrlPr>
                                    <a:rPr lang="en-US" altLang="en-US" b="0" i="1" smtClean="0">
                                      <a:latin typeface="Cambria Math" panose="02040503050406030204" pitchFamily="18" charset="0"/>
                                    </a:rPr>
                                  </m:ctrlPr>
                                </m:sSubPr>
                                <m:e>
                                  <m:r>
                                    <a:rPr lang="en-US" altLang="en-US" b="1" i="1">
                                      <a:latin typeface="Cambria Math" panose="02040503050406030204" pitchFamily="18" charset="0"/>
                                    </a:rPr>
                                    <m:t>𝑿</m:t>
                                  </m:r>
                                </m:e>
                                <m:sub>
                                  <m:r>
                                    <a:rPr lang="en-US" altLang="en-US" b="0" i="1" smtClean="0">
                                      <a:latin typeface="Cambria Math" panose="02040503050406030204" pitchFamily="18" charset="0"/>
                                    </a:rPr>
                                    <m:t>1,2</m:t>
                                  </m:r>
                                </m:sub>
                              </m:sSub>
                              <m:r>
                                <a:rPr lang="en-US" altLang="en-US" b="0" i="1" smtClean="0">
                                  <a:latin typeface="Cambria Math" panose="02040503050406030204" pitchFamily="18" charset="0"/>
                                </a:rPr>
                                <m:t>,</m:t>
                              </m:r>
                              <m:r>
                                <a:rPr lang="en-US" altLang="en-US" b="0" i="1" smtClean="0">
                                  <a:latin typeface="Cambria Math" panose="02040503050406030204" pitchFamily="18" charset="0"/>
                                  <a:ea typeface="Cambria Math" panose="02040503050406030204" pitchFamily="18" charset="0"/>
                                </a:rPr>
                                <m:t>⋯,</m:t>
                              </m:r>
                              <m:sSub>
                                <m:sSubPr>
                                  <m:ctrlPr>
                                    <a:rPr lang="en-US" altLang="en-US" b="0" i="1" smtClean="0">
                                      <a:latin typeface="Cambria Math" panose="02040503050406030204" pitchFamily="18" charset="0"/>
                                      <a:ea typeface="Cambria Math" panose="02040503050406030204" pitchFamily="18" charset="0"/>
                                    </a:rPr>
                                  </m:ctrlPr>
                                </m:sSubPr>
                                <m:e>
                                  <m:r>
                                    <a:rPr lang="en-US" altLang="en-US" b="1" i="1">
                                      <a:latin typeface="Cambria Math" panose="02040503050406030204" pitchFamily="18" charset="0"/>
                                    </a:rPr>
                                    <m:t>𝑿</m:t>
                                  </m:r>
                                </m:e>
                                <m:sub>
                                  <m:r>
                                    <a:rPr lang="en-US" altLang="en-US" b="0" i="1" smtClean="0">
                                      <a:latin typeface="Cambria Math" panose="02040503050406030204" pitchFamily="18" charset="0"/>
                                      <a:ea typeface="Cambria Math" panose="02040503050406030204" pitchFamily="18" charset="0"/>
                                    </a:rPr>
                                    <m:t>1,</m:t>
                                  </m:r>
                                  <m:r>
                                    <a:rPr lang="en-US" altLang="en-US" b="0" i="1" smtClean="0">
                                      <a:latin typeface="Cambria Math" panose="02040503050406030204" pitchFamily="18" charset="0"/>
                                      <a:ea typeface="Cambria Math" panose="02040503050406030204" pitchFamily="18" charset="0"/>
                                    </a:rPr>
                                    <m:t>𝑝</m:t>
                                  </m:r>
                                </m:sub>
                              </m:sSub>
                            </m:e>
                          </m:d>
                          <m:r>
                            <a:rPr lang="en-US" altLang="en-US" b="0" i="1" smtClean="0">
                              <a:latin typeface="Cambria Math" panose="02040503050406030204" pitchFamily="18" charset="0"/>
                            </a:rPr>
                            <m:t>,</m:t>
                          </m:r>
                          <m:sSub>
                            <m:sSubPr>
                              <m:ctrlPr>
                                <a:rPr lang="en-US" altLang="en-US" i="1" smtClean="0">
                                  <a:latin typeface="Cambria Math" panose="02040503050406030204" pitchFamily="18" charset="0"/>
                                </a:rPr>
                              </m:ctrlPr>
                            </m:sSubPr>
                            <m:e>
                              <m:r>
                                <a:rPr lang="en-US" altLang="en-US" b="1" i="1" smtClean="0">
                                  <a:latin typeface="Cambria Math" panose="02040503050406030204" pitchFamily="18" charset="0"/>
                                </a:rPr>
                                <m:t>𝒀</m:t>
                              </m:r>
                            </m:e>
                            <m:sub>
                              <m:r>
                                <a:rPr lang="en-US" altLang="en-US" b="0" i="1" smtClean="0">
                                  <a:latin typeface="Cambria Math" panose="02040503050406030204" pitchFamily="18" charset="0"/>
                                </a:rPr>
                                <m:t>1</m:t>
                              </m:r>
                            </m:sub>
                          </m:sSub>
                        </m:e>
                      </m:d>
                      <m:r>
                        <a:rPr lang="en-US" altLang="en-US" b="0" i="1" smtClean="0">
                          <a:latin typeface="Cambria Math" panose="02040503050406030204" pitchFamily="18" charset="0"/>
                        </a:rPr>
                        <m:t>,</m:t>
                      </m:r>
                      <m:d>
                        <m:dPr>
                          <m:begChr m:val="{"/>
                          <m:endChr m:val="}"/>
                          <m:ctrlPr>
                            <a:rPr lang="en-US" altLang="en-US" i="1">
                              <a:latin typeface="Cambria Math" panose="02040503050406030204" pitchFamily="18" charset="0"/>
                            </a:rPr>
                          </m:ctrlPr>
                        </m:dPr>
                        <m:e>
                          <m:d>
                            <m:dPr>
                              <m:ctrlPr>
                                <a:rPr lang="en-US" altLang="en-US" i="1">
                                  <a:latin typeface="Cambria Math" panose="02040503050406030204" pitchFamily="18" charset="0"/>
                                </a:rPr>
                              </m:ctrlPr>
                            </m:dPr>
                            <m:e>
                              <m:sSub>
                                <m:sSubPr>
                                  <m:ctrlPr>
                                    <a:rPr lang="en-US" altLang="en-US" i="1">
                                      <a:latin typeface="Cambria Math" panose="02040503050406030204" pitchFamily="18" charset="0"/>
                                    </a:rPr>
                                  </m:ctrlPr>
                                </m:sSubPr>
                                <m:e>
                                  <m:r>
                                    <a:rPr lang="en-US" altLang="en-US" b="1" i="1">
                                      <a:latin typeface="Cambria Math" panose="02040503050406030204" pitchFamily="18" charset="0"/>
                                    </a:rPr>
                                    <m:t>𝑿</m:t>
                                  </m:r>
                                </m:e>
                                <m:sub>
                                  <m:r>
                                    <a:rPr lang="en-US" altLang="en-US" b="0" i="1" smtClean="0">
                                      <a:latin typeface="Cambria Math" panose="02040503050406030204" pitchFamily="18" charset="0"/>
                                    </a:rPr>
                                    <m:t>2</m:t>
                                  </m:r>
                                  <m:r>
                                    <a:rPr lang="en-US" altLang="en-US" i="1">
                                      <a:latin typeface="Cambria Math" panose="02040503050406030204" pitchFamily="18" charset="0"/>
                                    </a:rPr>
                                    <m:t>,1</m:t>
                                  </m:r>
                                </m:sub>
                              </m:sSub>
                              <m:r>
                                <a:rPr lang="en-US" altLang="en-US" i="1">
                                  <a:latin typeface="Cambria Math" panose="02040503050406030204" pitchFamily="18" charset="0"/>
                                </a:rPr>
                                <m:t>,</m:t>
                              </m:r>
                              <m:sSub>
                                <m:sSubPr>
                                  <m:ctrlPr>
                                    <a:rPr lang="en-US" altLang="en-US" i="1">
                                      <a:latin typeface="Cambria Math" panose="02040503050406030204" pitchFamily="18" charset="0"/>
                                    </a:rPr>
                                  </m:ctrlPr>
                                </m:sSubPr>
                                <m:e>
                                  <m:r>
                                    <a:rPr lang="en-US" altLang="en-US" b="1" i="1">
                                      <a:latin typeface="Cambria Math" panose="02040503050406030204" pitchFamily="18" charset="0"/>
                                    </a:rPr>
                                    <m:t>𝑿</m:t>
                                  </m:r>
                                </m:e>
                                <m:sub>
                                  <m:r>
                                    <a:rPr lang="en-US" altLang="en-US" b="0" i="1" smtClean="0">
                                      <a:latin typeface="Cambria Math" panose="02040503050406030204" pitchFamily="18" charset="0"/>
                                    </a:rPr>
                                    <m:t>2</m:t>
                                  </m:r>
                                  <m:r>
                                    <a:rPr lang="en-US" altLang="en-US" i="1">
                                      <a:latin typeface="Cambria Math" panose="02040503050406030204" pitchFamily="18" charset="0"/>
                                    </a:rPr>
                                    <m:t>,2</m:t>
                                  </m:r>
                                </m:sub>
                              </m:sSub>
                              <m:r>
                                <a:rPr lang="en-US" altLang="en-US" i="1">
                                  <a:latin typeface="Cambria Math" panose="02040503050406030204" pitchFamily="18" charset="0"/>
                                </a:rPr>
                                <m:t>,</m:t>
                              </m:r>
                              <m:r>
                                <a:rPr lang="en-US" altLang="en-US" i="1">
                                  <a:latin typeface="Cambria Math" panose="02040503050406030204" pitchFamily="18" charset="0"/>
                                  <a:ea typeface="Cambria Math" panose="02040503050406030204" pitchFamily="18" charset="0"/>
                                </a:rPr>
                                <m:t>⋯,</m:t>
                              </m:r>
                              <m:sSub>
                                <m:sSubPr>
                                  <m:ctrlPr>
                                    <a:rPr lang="en-US" altLang="en-US" i="1">
                                      <a:latin typeface="Cambria Math" panose="02040503050406030204" pitchFamily="18" charset="0"/>
                                      <a:ea typeface="Cambria Math" panose="02040503050406030204" pitchFamily="18" charset="0"/>
                                    </a:rPr>
                                  </m:ctrlPr>
                                </m:sSubPr>
                                <m:e>
                                  <m:r>
                                    <a:rPr lang="en-US" altLang="en-US" b="1" i="1">
                                      <a:latin typeface="Cambria Math" panose="02040503050406030204" pitchFamily="18" charset="0"/>
                                    </a:rPr>
                                    <m:t>𝑿</m:t>
                                  </m:r>
                                </m:e>
                                <m:sub>
                                  <m:r>
                                    <a:rPr lang="en-US" altLang="en-US" b="0" i="1" smtClean="0">
                                      <a:latin typeface="Cambria Math" panose="02040503050406030204" pitchFamily="18" charset="0"/>
                                      <a:ea typeface="Cambria Math" panose="02040503050406030204" pitchFamily="18" charset="0"/>
                                    </a:rPr>
                                    <m:t>2</m:t>
                                  </m:r>
                                  <m:r>
                                    <a:rPr lang="en-US" altLang="en-US" i="1">
                                      <a:latin typeface="Cambria Math" panose="02040503050406030204" pitchFamily="18" charset="0"/>
                                      <a:ea typeface="Cambria Math" panose="02040503050406030204" pitchFamily="18" charset="0"/>
                                    </a:rPr>
                                    <m:t>,</m:t>
                                  </m:r>
                                  <m:r>
                                    <a:rPr lang="en-US" altLang="en-US" i="1">
                                      <a:latin typeface="Cambria Math" panose="02040503050406030204" pitchFamily="18" charset="0"/>
                                      <a:ea typeface="Cambria Math" panose="02040503050406030204" pitchFamily="18" charset="0"/>
                                    </a:rPr>
                                    <m:t>𝑝</m:t>
                                  </m:r>
                                </m:sub>
                              </m:sSub>
                            </m:e>
                          </m:d>
                          <m:r>
                            <a:rPr lang="en-US" altLang="en-US" i="1">
                              <a:latin typeface="Cambria Math" panose="02040503050406030204" pitchFamily="18" charset="0"/>
                            </a:rPr>
                            <m:t>,</m:t>
                          </m:r>
                          <m:sSub>
                            <m:sSubPr>
                              <m:ctrlPr>
                                <a:rPr lang="en-US" altLang="en-US" i="1">
                                  <a:latin typeface="Cambria Math" panose="02040503050406030204" pitchFamily="18" charset="0"/>
                                </a:rPr>
                              </m:ctrlPr>
                            </m:sSubPr>
                            <m:e>
                              <m:r>
                                <a:rPr lang="en-US" altLang="en-US" b="1" i="1">
                                  <a:latin typeface="Cambria Math" panose="02040503050406030204" pitchFamily="18" charset="0"/>
                                </a:rPr>
                                <m:t>𝒀</m:t>
                              </m:r>
                            </m:e>
                            <m:sub>
                              <m:r>
                                <a:rPr lang="en-US" altLang="en-US" b="0" i="1" smtClean="0">
                                  <a:latin typeface="Cambria Math" panose="02040503050406030204" pitchFamily="18" charset="0"/>
                                </a:rPr>
                                <m:t>2</m:t>
                              </m:r>
                            </m:sub>
                          </m:sSub>
                        </m:e>
                      </m:d>
                      <m:r>
                        <a:rPr lang="en-US" altLang="en-US" b="0" i="1" smtClean="0">
                          <a:latin typeface="Cambria Math" panose="02040503050406030204" pitchFamily="18" charset="0"/>
                        </a:rPr>
                        <m:t>,</m:t>
                      </m:r>
                      <m:r>
                        <a:rPr lang="en-US" altLang="en-US" i="1">
                          <a:latin typeface="Cambria Math" panose="02040503050406030204" pitchFamily="18" charset="0"/>
                          <a:ea typeface="Cambria Math" panose="02040503050406030204" pitchFamily="18" charset="0"/>
                        </a:rPr>
                        <m:t>⋯</m:t>
                      </m:r>
                      <m:r>
                        <a:rPr lang="en-US" altLang="en-US" b="0" i="1" smtClean="0">
                          <a:latin typeface="Cambria Math" panose="02040503050406030204" pitchFamily="18" charset="0"/>
                          <a:ea typeface="Cambria Math" panose="02040503050406030204" pitchFamily="18" charset="0"/>
                        </a:rPr>
                        <m:t>,</m:t>
                      </m:r>
                      <m:d>
                        <m:dPr>
                          <m:begChr m:val="{"/>
                          <m:endChr m:val="}"/>
                          <m:ctrlPr>
                            <a:rPr lang="en-US" altLang="en-US" i="1">
                              <a:latin typeface="Cambria Math" panose="02040503050406030204" pitchFamily="18" charset="0"/>
                            </a:rPr>
                          </m:ctrlPr>
                        </m:dPr>
                        <m:e>
                          <m:d>
                            <m:dPr>
                              <m:ctrlPr>
                                <a:rPr lang="en-US" altLang="en-US" i="1">
                                  <a:latin typeface="Cambria Math" panose="02040503050406030204" pitchFamily="18" charset="0"/>
                                </a:rPr>
                              </m:ctrlPr>
                            </m:dPr>
                            <m:e>
                              <m:sSub>
                                <m:sSubPr>
                                  <m:ctrlPr>
                                    <a:rPr lang="en-US" altLang="en-US" i="1">
                                      <a:latin typeface="Cambria Math" panose="02040503050406030204" pitchFamily="18" charset="0"/>
                                    </a:rPr>
                                  </m:ctrlPr>
                                </m:sSubPr>
                                <m:e>
                                  <m:r>
                                    <a:rPr lang="en-US" altLang="en-US" b="1" i="1">
                                      <a:latin typeface="Cambria Math" panose="02040503050406030204" pitchFamily="18" charset="0"/>
                                    </a:rPr>
                                    <m:t>𝑿</m:t>
                                  </m:r>
                                </m:e>
                                <m:sub>
                                  <m:r>
                                    <a:rPr lang="en-US" altLang="en-US" b="0" i="1" smtClean="0">
                                      <a:latin typeface="Cambria Math" panose="02040503050406030204" pitchFamily="18" charset="0"/>
                                    </a:rPr>
                                    <m:t>𝑛</m:t>
                                  </m:r>
                                  <m:r>
                                    <a:rPr lang="en-US" altLang="en-US" i="1">
                                      <a:latin typeface="Cambria Math" panose="02040503050406030204" pitchFamily="18" charset="0"/>
                                    </a:rPr>
                                    <m:t>,1</m:t>
                                  </m:r>
                                </m:sub>
                              </m:sSub>
                              <m:r>
                                <a:rPr lang="en-US" altLang="en-US" i="1">
                                  <a:latin typeface="Cambria Math" panose="02040503050406030204" pitchFamily="18" charset="0"/>
                                </a:rPr>
                                <m:t>,</m:t>
                              </m:r>
                              <m:sSub>
                                <m:sSubPr>
                                  <m:ctrlPr>
                                    <a:rPr lang="en-US" altLang="en-US" i="1">
                                      <a:latin typeface="Cambria Math" panose="02040503050406030204" pitchFamily="18" charset="0"/>
                                    </a:rPr>
                                  </m:ctrlPr>
                                </m:sSubPr>
                                <m:e>
                                  <m:r>
                                    <a:rPr lang="en-US" altLang="en-US" b="1" i="1">
                                      <a:latin typeface="Cambria Math" panose="02040503050406030204" pitchFamily="18" charset="0"/>
                                    </a:rPr>
                                    <m:t>𝑿</m:t>
                                  </m:r>
                                </m:e>
                                <m:sub>
                                  <m:r>
                                    <a:rPr lang="en-US" altLang="en-US" b="0" i="1" smtClean="0">
                                      <a:latin typeface="Cambria Math" panose="02040503050406030204" pitchFamily="18" charset="0"/>
                                    </a:rPr>
                                    <m:t>𝑛</m:t>
                                  </m:r>
                                  <m:r>
                                    <a:rPr lang="en-US" altLang="en-US" i="1">
                                      <a:latin typeface="Cambria Math" panose="02040503050406030204" pitchFamily="18" charset="0"/>
                                    </a:rPr>
                                    <m:t>,2</m:t>
                                  </m:r>
                                </m:sub>
                              </m:sSub>
                              <m:r>
                                <a:rPr lang="en-US" altLang="en-US" i="1">
                                  <a:latin typeface="Cambria Math" panose="02040503050406030204" pitchFamily="18" charset="0"/>
                                </a:rPr>
                                <m:t>,</m:t>
                              </m:r>
                              <m:r>
                                <a:rPr lang="en-US" altLang="en-US" i="1">
                                  <a:latin typeface="Cambria Math" panose="02040503050406030204" pitchFamily="18" charset="0"/>
                                  <a:ea typeface="Cambria Math" panose="02040503050406030204" pitchFamily="18" charset="0"/>
                                </a:rPr>
                                <m:t>⋯,</m:t>
                              </m:r>
                              <m:sSub>
                                <m:sSubPr>
                                  <m:ctrlPr>
                                    <a:rPr lang="en-US" altLang="en-US" i="1">
                                      <a:latin typeface="Cambria Math" panose="02040503050406030204" pitchFamily="18" charset="0"/>
                                      <a:ea typeface="Cambria Math" panose="02040503050406030204" pitchFamily="18" charset="0"/>
                                    </a:rPr>
                                  </m:ctrlPr>
                                </m:sSubPr>
                                <m:e>
                                  <m:r>
                                    <a:rPr lang="en-US" altLang="en-US" b="1" i="1">
                                      <a:latin typeface="Cambria Math" panose="02040503050406030204" pitchFamily="18" charset="0"/>
                                    </a:rPr>
                                    <m:t>𝑿</m:t>
                                  </m:r>
                                </m:e>
                                <m:sub>
                                  <m:r>
                                    <a:rPr lang="en-US" altLang="en-US" b="0" i="1" smtClean="0">
                                      <a:latin typeface="Cambria Math" panose="02040503050406030204" pitchFamily="18" charset="0"/>
                                      <a:ea typeface="Cambria Math" panose="02040503050406030204" pitchFamily="18" charset="0"/>
                                    </a:rPr>
                                    <m:t>𝑛</m:t>
                                  </m:r>
                                  <m:r>
                                    <a:rPr lang="en-US" altLang="en-US" i="1">
                                      <a:latin typeface="Cambria Math" panose="02040503050406030204" pitchFamily="18" charset="0"/>
                                      <a:ea typeface="Cambria Math" panose="02040503050406030204" pitchFamily="18" charset="0"/>
                                    </a:rPr>
                                    <m:t>,</m:t>
                                  </m:r>
                                  <m:r>
                                    <a:rPr lang="en-US" altLang="en-US" i="1">
                                      <a:latin typeface="Cambria Math" panose="02040503050406030204" pitchFamily="18" charset="0"/>
                                      <a:ea typeface="Cambria Math" panose="02040503050406030204" pitchFamily="18" charset="0"/>
                                    </a:rPr>
                                    <m:t>𝑝</m:t>
                                  </m:r>
                                </m:sub>
                              </m:sSub>
                            </m:e>
                          </m:d>
                          <m:r>
                            <a:rPr lang="en-US" altLang="en-US" i="1">
                              <a:latin typeface="Cambria Math" panose="02040503050406030204" pitchFamily="18" charset="0"/>
                            </a:rPr>
                            <m:t>,</m:t>
                          </m:r>
                          <m:sSub>
                            <m:sSubPr>
                              <m:ctrlPr>
                                <a:rPr lang="en-US" altLang="en-US" i="1">
                                  <a:latin typeface="Cambria Math" panose="02040503050406030204" pitchFamily="18" charset="0"/>
                                </a:rPr>
                              </m:ctrlPr>
                            </m:sSubPr>
                            <m:e>
                              <m:r>
                                <a:rPr lang="en-US" altLang="en-US" b="1" i="1">
                                  <a:latin typeface="Cambria Math" panose="02040503050406030204" pitchFamily="18" charset="0"/>
                                </a:rPr>
                                <m:t>𝒀</m:t>
                              </m:r>
                            </m:e>
                            <m:sub>
                              <m:r>
                                <a:rPr lang="en-US" altLang="en-US" b="0" i="1" smtClean="0">
                                  <a:latin typeface="Cambria Math" panose="02040503050406030204" pitchFamily="18" charset="0"/>
                                </a:rPr>
                                <m:t>𝑛</m:t>
                              </m:r>
                            </m:sub>
                          </m:sSub>
                        </m:e>
                      </m:d>
                    </m:oMath>
                  </m:oMathPara>
                </a14:m>
                <a:endParaRPr lang="en-US" altLang="en-US" dirty="0">
                  <a:latin typeface="Helvetica" panose="020B0604020202020204" pitchFamily="34" charset="0"/>
                  <a:ea typeface="Helvetica Neue" charset="0"/>
                  <a:cs typeface="Helvetica" panose="020B0604020202020204" pitchFamily="34" charset="0"/>
                </a:endParaRPr>
              </a:p>
              <a:p>
                <a:pPr marL="687388"/>
                <a:r>
                  <a:rPr lang="en-US" altLang="en-US" dirty="0">
                    <a:latin typeface="Helvetica" panose="020B0604020202020204" pitchFamily="34" charset="0"/>
                    <a:ea typeface="Helvetica Neue" charset="0"/>
                    <a:cs typeface="Helvetica" panose="020B0604020202020204" pitchFamily="34" charset="0"/>
                  </a:rPr>
                  <a:t>where </a:t>
                </a:r>
                <a14:m>
                  <m:oMath xmlns:m="http://schemas.openxmlformats.org/officeDocument/2006/math">
                    <m:sSub>
                      <m:sSubPr>
                        <m:ctrlPr>
                          <a:rPr lang="en-US" altLang="en-US" i="1" smtClean="0">
                            <a:latin typeface="Cambria Math" panose="02040503050406030204" pitchFamily="18" charset="0"/>
                          </a:rPr>
                        </m:ctrlPr>
                      </m:sSubPr>
                      <m:e>
                        <m:r>
                          <a:rPr lang="en-US" altLang="en-US" b="1" i="1" smtClean="0">
                            <a:latin typeface="Cambria Math" panose="02040503050406030204" pitchFamily="18" charset="0"/>
                          </a:rPr>
                          <m:t>𝒀</m:t>
                        </m:r>
                      </m:e>
                      <m:sub>
                        <m:r>
                          <a:rPr lang="en-US" altLang="en-US" b="0" i="1" smtClean="0">
                            <a:latin typeface="Cambria Math" panose="02040503050406030204" pitchFamily="18" charset="0"/>
                          </a:rPr>
                          <m:t>1</m:t>
                        </m:r>
                      </m:sub>
                    </m:sSub>
                    <m:r>
                      <a:rPr lang="en-US" altLang="en-US" b="0" i="1" smtClean="0">
                        <a:latin typeface="Cambria Math" panose="02040503050406030204" pitchFamily="18" charset="0"/>
                      </a:rPr>
                      <m:t>,</m:t>
                    </m:r>
                    <m:r>
                      <a:rPr lang="en-US" altLang="en-US" b="0" i="1" smtClean="0">
                        <a:latin typeface="Cambria Math" panose="02040503050406030204" pitchFamily="18" charset="0"/>
                        <a:ea typeface="Cambria Math" panose="02040503050406030204" pitchFamily="18" charset="0"/>
                      </a:rPr>
                      <m:t>⋯,</m:t>
                    </m:r>
                    <m:sSub>
                      <m:sSubPr>
                        <m:ctrlPr>
                          <a:rPr lang="en-US" altLang="en-US" i="1">
                            <a:latin typeface="Cambria Math" panose="02040503050406030204" pitchFamily="18" charset="0"/>
                          </a:rPr>
                        </m:ctrlPr>
                      </m:sSubPr>
                      <m:e>
                        <m:r>
                          <a:rPr lang="en-US" altLang="en-US" b="1" i="1">
                            <a:latin typeface="Cambria Math" panose="02040503050406030204" pitchFamily="18" charset="0"/>
                          </a:rPr>
                          <m:t>𝒀</m:t>
                        </m:r>
                      </m:e>
                      <m:sub>
                        <m:r>
                          <a:rPr lang="en-US" altLang="en-US" b="0" i="1" smtClean="0">
                            <a:latin typeface="Cambria Math" panose="02040503050406030204" pitchFamily="18" charset="0"/>
                          </a:rPr>
                          <m:t>𝑛</m:t>
                        </m:r>
                      </m:sub>
                    </m:sSub>
                  </m:oMath>
                </a14:m>
                <a:r>
                  <a:rPr lang="en-US" altLang="en-US" dirty="0">
                    <a:latin typeface="Helvetica" panose="020B0604020202020204" pitchFamily="34" charset="0"/>
                    <a:ea typeface="Helvetica Neue" charset="0"/>
                    <a:cs typeface="Helvetica" panose="020B0604020202020204" pitchFamily="34" charset="0"/>
                  </a:rPr>
                  <a:t> are </a:t>
                </a:r>
                <a:r>
                  <a:rPr lang="en-US" altLang="en-US" i="1" dirty="0">
                    <a:latin typeface="Helvetica" panose="020B0604020202020204" pitchFamily="34" charset="0"/>
                    <a:ea typeface="Helvetica Neue" charset="0"/>
                    <a:cs typeface="Helvetica" panose="020B0604020202020204" pitchFamily="34" charset="0"/>
                  </a:rPr>
                  <a:t>binary</a:t>
                </a:r>
                <a:r>
                  <a:rPr lang="en-US" altLang="en-US" dirty="0">
                    <a:latin typeface="Helvetica" panose="020B0604020202020204" pitchFamily="34" charset="0"/>
                    <a:ea typeface="Helvetica Neue" charset="0"/>
                    <a:cs typeface="Helvetica" panose="020B0604020202020204" pitchFamily="34" charset="0"/>
                  </a:rPr>
                  <a:t> responses</a:t>
                </a:r>
              </a:p>
            </p:txBody>
          </p:sp>
        </mc:Choice>
        <mc:Fallback xmlns="">
          <p:sp>
            <p:nvSpPr>
              <p:cNvPr id="5" name="Text Box 3"/>
              <p:cNvSpPr txBox="1">
                <a:spLocks noRot="1" noChangeAspect="1" noMove="1" noResize="1" noEditPoints="1" noAdjustHandles="1" noChangeArrowheads="1" noChangeShapeType="1" noTextEdit="1"/>
              </p:cNvSpPr>
              <p:nvPr/>
            </p:nvSpPr>
            <p:spPr bwMode="auto">
              <a:xfrm>
                <a:off x="126052" y="904610"/>
                <a:ext cx="8865548" cy="964495"/>
              </a:xfrm>
              <a:prstGeom prst="rect">
                <a:avLst/>
              </a:prstGeom>
              <a:blipFill>
                <a:blip r:embed="rId4"/>
                <a:stretch>
                  <a:fillRect l="-619" t="-3145" b="-880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6" name="Content Placeholder 2"/>
          <p:cNvSpPr txBox="1"/>
          <p:nvPr/>
        </p:nvSpPr>
        <p:spPr>
          <a:xfrm>
            <a:off x="228600" y="3984420"/>
            <a:ext cx="4216319" cy="731624"/>
          </a:xfrm>
          <a:prstGeom prst="rect">
            <a:avLst/>
          </a:prstGeom>
          <a:solidFill>
            <a:schemeClr val="bg1"/>
          </a:solidFill>
          <a:ln w="19050">
            <a:solidFill>
              <a:schemeClr val="tx2"/>
            </a:solidFill>
          </a:ln>
          <a:effectLst/>
        </p:spPr>
        <p:txBody>
          <a:bodyPr vert="horz" lIns="0" tIns="34290" rIns="0" bIns="34290" rtlCol="0" anchor="ctr" anchorCtr="0">
            <a:noAutofit/>
          </a:bodyPr>
          <a:lstStyle>
            <a:lvl1pPr marL="457200" indent="-457200" algn="l" defTabSz="914400" rtl="0" eaLnBrk="1" latinLnBrk="0" hangingPunct="1">
              <a:lnSpc>
                <a:spcPct val="90000"/>
              </a:lnSpc>
              <a:spcBef>
                <a:spcPts val="1200"/>
              </a:spcBef>
              <a:spcAft>
                <a:spcPts val="200"/>
              </a:spcAft>
              <a:buClr>
                <a:schemeClr val="accent1"/>
              </a:buClr>
              <a:buSzPct val="100000"/>
              <a:buFont typeface="Wingdings" panose="05000000000000000000" pitchFamily="2" charset="2"/>
              <a:buChar char="q"/>
              <a:defRPr sz="3200" kern="1200">
                <a:solidFill>
                  <a:schemeClr val="tx1">
                    <a:lumMod val="75000"/>
                    <a:lumOff val="25000"/>
                  </a:schemeClr>
                </a:solidFill>
                <a:latin typeface="+mn-lt"/>
                <a:ea typeface="+mn-ea"/>
                <a:cs typeface="+mn-cs"/>
              </a:defRPr>
            </a:lvl1pPr>
            <a:lvl2pPr marL="658495" indent="-4572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2800" kern="1200">
                <a:solidFill>
                  <a:schemeClr val="tx1">
                    <a:lumMod val="75000"/>
                    <a:lumOff val="25000"/>
                  </a:schemeClr>
                </a:solidFill>
                <a:latin typeface="+mn-lt"/>
                <a:ea typeface="+mn-ea"/>
                <a:cs typeface="+mn-cs"/>
              </a:defRPr>
            </a:lvl2pPr>
            <a:lvl3pPr marL="727075" indent="-342900" algn="l" defTabSz="914400" rtl="0" eaLnBrk="1" latinLnBrk="0" hangingPunct="1">
              <a:lnSpc>
                <a:spcPct val="90000"/>
              </a:lnSpc>
              <a:spcBef>
                <a:spcPts val="200"/>
              </a:spcBef>
              <a:spcAft>
                <a:spcPts val="400"/>
              </a:spcAft>
              <a:buClr>
                <a:schemeClr val="accent1"/>
              </a:buClr>
              <a:buFont typeface="Wingdings" panose="05000000000000000000" pitchFamily="2" charset="2"/>
              <a:buChar char="§"/>
              <a:defRPr sz="2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a:lstStyle>
          <a:p>
            <a:pPr marL="168275" indent="0">
              <a:lnSpc>
                <a:spcPct val="100000"/>
              </a:lnSpc>
              <a:spcBef>
                <a:spcPts val="0"/>
              </a:spcBef>
              <a:spcAft>
                <a:spcPts val="0"/>
              </a:spcAft>
              <a:buNone/>
            </a:pPr>
            <a:r>
              <a:rPr lang="en-US" sz="1800" dirty="0">
                <a:latin typeface="Helvetica Neue"/>
              </a:rPr>
              <a:t>There is no error term!</a:t>
            </a:r>
          </a:p>
          <a:p>
            <a:pPr marL="168275" indent="0">
              <a:lnSpc>
                <a:spcPct val="100000"/>
              </a:lnSpc>
              <a:spcBef>
                <a:spcPts val="0"/>
              </a:spcBef>
              <a:spcAft>
                <a:spcPts val="0"/>
              </a:spcAft>
              <a:buNone/>
            </a:pPr>
            <a:r>
              <a:rPr lang="en-US" sz="1800" dirty="0">
                <a:latin typeface="Helvetica Neue"/>
              </a:rPr>
              <a:t>How to check the model assumptions?</a:t>
            </a:r>
            <a:endParaRPr 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Rectangle 9"/>
              <p:cNvSpPr>
                <a:spLocks noChangeArrowheads="1"/>
              </p:cNvSpPr>
              <p:nvPr/>
            </p:nvSpPr>
            <p:spPr bwMode="auto">
              <a:xfrm>
                <a:off x="142830" y="1884828"/>
                <a:ext cx="8136886" cy="321876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344488" indent="-344488">
                  <a:spcBef>
                    <a:spcPct val="50000"/>
                  </a:spcBef>
                  <a:buFont typeface="Arial" panose="020B0604020202020204" pitchFamily="34" charset="0"/>
                  <a:buChar char="•"/>
                </a:pPr>
                <a:r>
                  <a:rPr lang="en-US" altLang="en-US" b="1" dirty="0">
                    <a:latin typeface="Helvetica" panose="020B0604020202020204" pitchFamily="34" charset="0"/>
                    <a:ea typeface="Helvetica Neue" charset="0"/>
                    <a:cs typeface="Helvetica" panose="020B0604020202020204" pitchFamily="34" charset="0"/>
                  </a:rPr>
                  <a:t>Logistic Regression Without Replications</a:t>
                </a:r>
              </a:p>
              <a:p>
                <a:pPr marL="631825" lvl="1">
                  <a:buFont typeface="Arial" panose="020B0604020202020204" pitchFamily="34" charset="0"/>
                  <a:buChar char="•"/>
                  <a:tabLst>
                    <a:tab pos="742950" algn="l"/>
                  </a:tabLst>
                </a:pPr>
                <a:r>
                  <a:rPr lang="en-US" altLang="en-US" dirty="0">
                    <a:latin typeface="Helvetica" panose="020B0604020202020204" pitchFamily="34" charset="0"/>
                    <a:ea typeface="Helvetica Neue" charset="0"/>
                    <a:cs typeface="Helvetica" panose="020B0604020202020204" pitchFamily="34" charset="0"/>
                  </a:rPr>
                  <a:t>One separate (possibly non-unique) set of predictors </a:t>
                </a:r>
                <a14:m>
                  <m:oMath xmlns:m="http://schemas.openxmlformats.org/officeDocument/2006/math">
                    <m:d>
                      <m:dPr>
                        <m:ctrlPr>
                          <a:rPr lang="en-US" altLang="en-US" i="1">
                            <a:latin typeface="Cambria Math" panose="02040503050406030204" pitchFamily="18" charset="0"/>
                          </a:rPr>
                        </m:ctrlPr>
                      </m:dPr>
                      <m:e>
                        <m:sSub>
                          <m:sSubPr>
                            <m:ctrlPr>
                              <a:rPr lang="en-US" altLang="en-US" i="1">
                                <a:latin typeface="Cambria Math" panose="02040503050406030204" pitchFamily="18" charset="0"/>
                              </a:rPr>
                            </m:ctrlPr>
                          </m:sSubPr>
                          <m:e>
                            <m:r>
                              <a:rPr lang="en-US" altLang="en-US" b="1" i="1">
                                <a:latin typeface="Cambria Math" panose="02040503050406030204" pitchFamily="18" charset="0"/>
                              </a:rPr>
                              <m:t>𝑿</m:t>
                            </m:r>
                          </m:e>
                          <m:sub>
                            <m:r>
                              <a:rPr lang="en-US" altLang="en-US" b="0" i="1" smtClean="0">
                                <a:latin typeface="Cambria Math" panose="02040503050406030204" pitchFamily="18" charset="0"/>
                              </a:rPr>
                              <m:t>𝑖</m:t>
                            </m:r>
                            <m:r>
                              <a:rPr lang="en-US" altLang="en-US" i="1">
                                <a:latin typeface="Cambria Math" panose="02040503050406030204" pitchFamily="18" charset="0"/>
                              </a:rPr>
                              <m:t>,1</m:t>
                            </m:r>
                          </m:sub>
                        </m:sSub>
                        <m:r>
                          <a:rPr lang="en-US" altLang="en-US" i="1">
                            <a:latin typeface="Cambria Math" panose="02040503050406030204" pitchFamily="18" charset="0"/>
                          </a:rPr>
                          <m:t>,</m:t>
                        </m:r>
                        <m:r>
                          <a:rPr lang="en-US" altLang="en-US" i="1" smtClean="0">
                            <a:latin typeface="Cambria Math" panose="02040503050406030204" pitchFamily="18" charset="0"/>
                          </a:rPr>
                          <m:t> </m:t>
                        </m:r>
                        <m:r>
                          <a:rPr lang="en-US" altLang="en-US" i="1">
                            <a:latin typeface="Cambria Math" panose="02040503050406030204" pitchFamily="18" charset="0"/>
                            <a:ea typeface="Cambria Math" panose="02040503050406030204" pitchFamily="18" charset="0"/>
                          </a:rPr>
                          <m:t>⋯,</m:t>
                        </m:r>
                        <m:sSub>
                          <m:sSubPr>
                            <m:ctrlPr>
                              <a:rPr lang="en-US" altLang="en-US" i="1">
                                <a:latin typeface="Cambria Math" panose="02040503050406030204" pitchFamily="18" charset="0"/>
                                <a:ea typeface="Cambria Math" panose="02040503050406030204" pitchFamily="18" charset="0"/>
                              </a:rPr>
                            </m:ctrlPr>
                          </m:sSubPr>
                          <m:e>
                            <m:r>
                              <a:rPr lang="en-US" altLang="en-US" b="1" i="1">
                                <a:latin typeface="Cambria Math" panose="02040503050406030204" pitchFamily="18" charset="0"/>
                              </a:rPr>
                              <m:t>𝑿</m:t>
                            </m:r>
                          </m:e>
                          <m:sub>
                            <m:r>
                              <a:rPr lang="en-US" altLang="en-US" b="0" i="1" smtClean="0">
                                <a:latin typeface="Cambria Math" panose="02040503050406030204" pitchFamily="18" charset="0"/>
                                <a:ea typeface="Cambria Math" panose="02040503050406030204" pitchFamily="18" charset="0"/>
                              </a:rPr>
                              <m:t>𝑖</m:t>
                            </m:r>
                            <m:r>
                              <a:rPr lang="en-US" altLang="en-US" i="1">
                                <a:latin typeface="Cambria Math" panose="02040503050406030204" pitchFamily="18" charset="0"/>
                                <a:ea typeface="Cambria Math" panose="02040503050406030204" pitchFamily="18" charset="0"/>
                              </a:rPr>
                              <m:t>,</m:t>
                            </m:r>
                            <m:r>
                              <a:rPr lang="en-US" altLang="en-US" i="1">
                                <a:latin typeface="Cambria Math" panose="02040503050406030204" pitchFamily="18" charset="0"/>
                                <a:ea typeface="Cambria Math" panose="02040503050406030204" pitchFamily="18" charset="0"/>
                              </a:rPr>
                              <m:t>𝑝</m:t>
                            </m:r>
                          </m:sub>
                        </m:sSub>
                      </m:e>
                    </m:d>
                  </m:oMath>
                </a14:m>
                <a:r>
                  <a:rPr lang="en-US" altLang="en-US" dirty="0">
                    <a:latin typeface="Helvetica" panose="020B0604020202020204" pitchFamily="34" charset="0"/>
                    <a:ea typeface="Helvetica Neue" charset="0"/>
                    <a:cs typeface="Helvetica" panose="020B0604020202020204" pitchFamily="34" charset="0"/>
                  </a:rPr>
                  <a:t> for each individual observation </a:t>
                </a:r>
                <a14:m>
                  <m:oMath xmlns:m="http://schemas.openxmlformats.org/officeDocument/2006/math">
                    <m:sSub>
                      <m:sSubPr>
                        <m:ctrlPr>
                          <a:rPr lang="en-US" altLang="en-US" i="1">
                            <a:latin typeface="Cambria Math" panose="02040503050406030204" pitchFamily="18" charset="0"/>
                            <a:ea typeface="Cambria Math" panose="02040503050406030204" pitchFamily="18" charset="0"/>
                          </a:rPr>
                        </m:ctrlPr>
                      </m:sSubPr>
                      <m:e>
                        <m:r>
                          <a:rPr lang="en-US" altLang="en-US" b="1" i="1">
                            <a:latin typeface="Cambria Math" panose="02040503050406030204" pitchFamily="18" charset="0"/>
                            <a:ea typeface="Cambria Math" panose="02040503050406030204" pitchFamily="18" charset="0"/>
                          </a:rPr>
                          <m:t>𝒀</m:t>
                        </m:r>
                      </m:e>
                      <m:sub>
                        <m:r>
                          <a:rPr lang="en-US" altLang="en-US" i="1">
                            <a:latin typeface="Cambria Math" panose="02040503050406030204" pitchFamily="18" charset="0"/>
                            <a:ea typeface="Cambria Math" panose="02040503050406030204" pitchFamily="18" charset="0"/>
                          </a:rPr>
                          <m:t>𝑖</m:t>
                        </m:r>
                      </m:sub>
                    </m:sSub>
                  </m:oMath>
                </a14:m>
                <a:r>
                  <a:rPr lang="en-US" altLang="en-US" dirty="0">
                    <a:latin typeface="Helvetica" panose="020B0604020202020204" pitchFamily="34" charset="0"/>
                    <a:ea typeface="Cambria Math" panose="02040503050406030204" pitchFamily="18" charset="0"/>
                    <a:cs typeface="Helvetica" panose="020B0604020202020204" pitchFamily="34" charset="0"/>
                  </a:rPr>
                  <a:t> </a:t>
                </a:r>
                <a:r>
                  <a:rPr lang="en-US" altLang="en-US" dirty="0">
                    <a:latin typeface="Cambria Math" panose="02040503050406030204" pitchFamily="18" charset="0"/>
                    <a:ea typeface="Cambria Math" panose="02040503050406030204" pitchFamily="18" charset="0"/>
                    <a:cs typeface="Helvetica" panose="020B0604020202020204" pitchFamily="34" charset="0"/>
                  </a:rPr>
                  <a:t>(i=1,..,</a:t>
                </a:r>
                <a:r>
                  <a:rPr lang="en-US" altLang="en-US" i="1" dirty="0">
                    <a:latin typeface="Cambria Math" panose="02040503050406030204" pitchFamily="18" charset="0"/>
                    <a:ea typeface="Cambria Math" panose="02040503050406030204" pitchFamily="18" charset="0"/>
                    <a:cs typeface="Helvetica" panose="020B0604020202020204" pitchFamily="34" charset="0"/>
                  </a:rPr>
                  <a:t>n</a:t>
                </a:r>
                <a:r>
                  <a:rPr lang="en-US" altLang="en-US" dirty="0">
                    <a:latin typeface="Cambria Math" panose="02040503050406030204" pitchFamily="18" charset="0"/>
                    <a:ea typeface="Cambria Math" panose="02040503050406030204" pitchFamily="18" charset="0"/>
                    <a:cs typeface="Helvetica" panose="020B0604020202020204" pitchFamily="34" charset="0"/>
                  </a:rPr>
                  <a:t>)</a:t>
                </a:r>
              </a:p>
              <a:p>
                <a:pPr marL="631825" lvl="1">
                  <a:buFont typeface="Arial" panose="020B0604020202020204" pitchFamily="34" charset="0"/>
                  <a:buChar char="•"/>
                </a:pPr>
                <a14:m>
                  <m:oMath xmlns:m="http://schemas.openxmlformats.org/officeDocument/2006/math">
                    <m:sSub>
                      <m:sSubPr>
                        <m:ctrlPr>
                          <a:rPr lang="en-US" altLang="en-US" i="1">
                            <a:latin typeface="Cambria Math" panose="02040503050406030204" pitchFamily="18" charset="0"/>
                          </a:rPr>
                        </m:ctrlPr>
                      </m:sSubPr>
                      <m:e>
                        <m:r>
                          <a:rPr lang="en-US" altLang="en-US" b="1" i="1">
                            <a:latin typeface="Cambria Math" panose="02040503050406030204" pitchFamily="18" charset="0"/>
                          </a:rPr>
                          <m:t>𝒀</m:t>
                        </m:r>
                      </m:e>
                      <m:sub>
                        <m:r>
                          <a:rPr lang="en-US" altLang="en-US" i="1">
                            <a:latin typeface="Cambria Math" panose="02040503050406030204" pitchFamily="18" charset="0"/>
                          </a:rPr>
                          <m:t>𝑖</m:t>
                        </m:r>
                      </m:sub>
                    </m:sSub>
                  </m:oMath>
                </a14:m>
                <a:r>
                  <a:rPr lang="en-US" altLang="en-US" dirty="0">
                    <a:latin typeface="Helvetica" panose="020B0604020202020204" pitchFamily="34" charset="0"/>
                    <a:ea typeface="Helvetica Neue" charset="0"/>
                    <a:cs typeface="Helvetica" panose="020B0604020202020204" pitchFamily="34" charset="0"/>
                  </a:rPr>
                  <a:t> | </a:t>
                </a:r>
                <a14:m>
                  <m:oMath xmlns:m="http://schemas.openxmlformats.org/officeDocument/2006/math">
                    <m:sSub>
                      <m:sSubPr>
                        <m:ctrlPr>
                          <a:rPr lang="en-US" altLang="en-US" i="1">
                            <a:latin typeface="Cambria Math" panose="02040503050406030204" pitchFamily="18" charset="0"/>
                          </a:rPr>
                        </m:ctrlPr>
                      </m:sSubPr>
                      <m:e>
                        <m:r>
                          <a:rPr lang="en-US" altLang="en-US" b="1" i="1">
                            <a:latin typeface="Cambria Math" panose="02040503050406030204" pitchFamily="18" charset="0"/>
                          </a:rPr>
                          <m:t>𝑿</m:t>
                        </m:r>
                      </m:e>
                      <m:sub>
                        <m:r>
                          <a:rPr lang="en-US" altLang="en-US" b="0" i="1" smtClean="0">
                            <a:latin typeface="Cambria Math" panose="02040503050406030204" pitchFamily="18" charset="0"/>
                          </a:rPr>
                          <m:t>𝑖</m:t>
                        </m:r>
                        <m:r>
                          <a:rPr lang="en-US" altLang="en-US" i="1">
                            <a:latin typeface="Cambria Math" panose="02040503050406030204" pitchFamily="18" charset="0"/>
                          </a:rPr>
                          <m:t>,1</m:t>
                        </m:r>
                      </m:sub>
                    </m:sSub>
                    <m:r>
                      <a:rPr lang="en-US" altLang="en-US" i="1">
                        <a:latin typeface="Cambria Math" panose="02040503050406030204" pitchFamily="18" charset="0"/>
                      </a:rPr>
                      <m:t>, </m:t>
                    </m:r>
                    <m:r>
                      <a:rPr lang="en-US" altLang="en-US" i="1">
                        <a:latin typeface="Cambria Math" panose="02040503050406030204" pitchFamily="18" charset="0"/>
                        <a:ea typeface="Cambria Math" panose="02040503050406030204" pitchFamily="18" charset="0"/>
                      </a:rPr>
                      <m:t>⋯,</m:t>
                    </m:r>
                    <m:sSub>
                      <m:sSubPr>
                        <m:ctrlPr>
                          <a:rPr lang="en-US" altLang="en-US" i="1">
                            <a:latin typeface="Cambria Math" panose="02040503050406030204" pitchFamily="18" charset="0"/>
                            <a:ea typeface="Cambria Math" panose="02040503050406030204" pitchFamily="18" charset="0"/>
                          </a:rPr>
                        </m:ctrlPr>
                      </m:sSubPr>
                      <m:e>
                        <m:r>
                          <a:rPr lang="en-US" altLang="en-US" b="1" i="1">
                            <a:latin typeface="Cambria Math" panose="02040503050406030204" pitchFamily="18" charset="0"/>
                          </a:rPr>
                          <m:t>𝑿</m:t>
                        </m:r>
                      </m:e>
                      <m:sub>
                        <m:r>
                          <a:rPr lang="en-US" altLang="en-US" b="0" i="1" smtClean="0">
                            <a:latin typeface="Cambria Math" panose="02040503050406030204" pitchFamily="18" charset="0"/>
                            <a:ea typeface="Cambria Math" panose="02040503050406030204" pitchFamily="18" charset="0"/>
                          </a:rPr>
                          <m:t>𝑖</m:t>
                        </m:r>
                        <m:r>
                          <a:rPr lang="en-US" altLang="en-US" i="1">
                            <a:latin typeface="Cambria Math" panose="02040503050406030204" pitchFamily="18" charset="0"/>
                            <a:ea typeface="Cambria Math" panose="02040503050406030204" pitchFamily="18" charset="0"/>
                          </a:rPr>
                          <m:t>,</m:t>
                        </m:r>
                        <m:r>
                          <a:rPr lang="en-US" altLang="en-US" i="1">
                            <a:latin typeface="Cambria Math" panose="02040503050406030204" pitchFamily="18" charset="0"/>
                            <a:ea typeface="Cambria Math" panose="02040503050406030204" pitchFamily="18" charset="0"/>
                          </a:rPr>
                          <m:t>𝑝</m:t>
                        </m:r>
                      </m:sub>
                    </m:sSub>
                    <m:r>
                      <a:rPr lang="en-US" altLang="en-US" i="1">
                        <a:latin typeface="Cambria Math" panose="02040503050406030204" pitchFamily="18" charset="0"/>
                        <a:ea typeface="Cambria Math" panose="02040503050406030204" pitchFamily="18" charset="0"/>
                      </a:rPr>
                      <m:t> </m:t>
                    </m:r>
                  </m:oMath>
                </a14:m>
                <a:r>
                  <a:rPr lang="en-US" altLang="en-US" dirty="0">
                    <a:latin typeface="Helvetica" panose="020B0604020202020204" pitchFamily="34" charset="0"/>
                    <a:ea typeface="Helvetica Neue" charset="0"/>
                    <a:cs typeface="Helvetica" panose="020B0604020202020204" pitchFamily="34" charset="0"/>
                  </a:rPr>
                  <a:t>~ </a:t>
                </a:r>
                <a:r>
                  <a:rPr lang="en-US" altLang="en-US" dirty="0">
                    <a:latin typeface="Helvetica" panose="020B0604020202020204" pitchFamily="34" charset="0"/>
                    <a:ea typeface="Cambria Math" panose="02040503050406030204" pitchFamily="18" charset="0"/>
                    <a:cs typeface="Helvetica" panose="020B0604020202020204" pitchFamily="34" charset="0"/>
                  </a:rPr>
                  <a:t>Bernoulli</a:t>
                </a:r>
                <a14:m>
                  <m:oMath xmlns:m="http://schemas.openxmlformats.org/officeDocument/2006/math">
                    <m:d>
                      <m:dPr>
                        <m:ctrlPr>
                          <a:rPr lang="en-US" b="0" i="1" smtClean="0">
                            <a:latin typeface="Cambria Math" panose="02040503050406030204" pitchFamily="18" charset="0"/>
                          </a:rPr>
                        </m:ctrlPr>
                      </m:dPr>
                      <m:e>
                        <m:r>
                          <m:rPr>
                            <m:sty m:val="p"/>
                          </m:rPr>
                          <a:rPr lang="en-US">
                            <a:latin typeface="Cambria Math" panose="02040503050406030204" pitchFamily="18" charset="0"/>
                            <a:ea typeface="Helvetica Neue" charset="0"/>
                            <a:cs typeface="Helvetica Neue" charset="0"/>
                          </a:rPr>
                          <m:t>p</m:t>
                        </m:r>
                        <m:d>
                          <m:dPr>
                            <m:ctrlPr>
                              <a:rPr lang="en-US" altLang="en-US" i="1">
                                <a:latin typeface="Cambria Math" panose="02040503050406030204" pitchFamily="18" charset="0"/>
                              </a:rPr>
                            </m:ctrlPr>
                          </m:dPr>
                          <m:e>
                            <m:sSub>
                              <m:sSubPr>
                                <m:ctrlPr>
                                  <a:rPr lang="en-US" altLang="en-US" i="1">
                                    <a:latin typeface="Cambria Math" panose="02040503050406030204" pitchFamily="18" charset="0"/>
                                  </a:rPr>
                                </m:ctrlPr>
                              </m:sSubPr>
                              <m:e>
                                <m:r>
                                  <a:rPr lang="en-US" altLang="en-US" b="1" i="1">
                                    <a:latin typeface="Cambria Math" panose="02040503050406030204" pitchFamily="18" charset="0"/>
                                  </a:rPr>
                                  <m:t>𝑿</m:t>
                                </m:r>
                              </m:e>
                              <m:sub>
                                <m:r>
                                  <a:rPr lang="en-US" altLang="en-US" b="0" i="1" smtClean="0">
                                    <a:latin typeface="Cambria Math" panose="02040503050406030204" pitchFamily="18" charset="0"/>
                                  </a:rPr>
                                  <m:t>𝑖</m:t>
                                </m:r>
                                <m:r>
                                  <a:rPr lang="en-US" altLang="en-US" i="1">
                                    <a:latin typeface="Cambria Math" panose="02040503050406030204" pitchFamily="18" charset="0"/>
                                  </a:rPr>
                                  <m:t>,1</m:t>
                                </m:r>
                              </m:sub>
                            </m:sSub>
                            <m:r>
                              <a:rPr lang="en-US" altLang="en-US" i="1">
                                <a:latin typeface="Cambria Math" panose="02040503050406030204" pitchFamily="18" charset="0"/>
                              </a:rPr>
                              <m:t>, </m:t>
                            </m:r>
                            <m:r>
                              <a:rPr lang="en-US" altLang="en-US" i="1">
                                <a:latin typeface="Cambria Math" panose="02040503050406030204" pitchFamily="18" charset="0"/>
                                <a:ea typeface="Cambria Math" panose="02040503050406030204" pitchFamily="18" charset="0"/>
                              </a:rPr>
                              <m:t>⋯,</m:t>
                            </m:r>
                            <m:sSub>
                              <m:sSubPr>
                                <m:ctrlPr>
                                  <a:rPr lang="en-US" altLang="en-US" i="1">
                                    <a:latin typeface="Cambria Math" panose="02040503050406030204" pitchFamily="18" charset="0"/>
                                    <a:ea typeface="Cambria Math" panose="02040503050406030204" pitchFamily="18" charset="0"/>
                                  </a:rPr>
                                </m:ctrlPr>
                              </m:sSubPr>
                              <m:e>
                                <m:r>
                                  <a:rPr lang="en-US" altLang="en-US" b="1" i="1">
                                    <a:latin typeface="Cambria Math" panose="02040503050406030204" pitchFamily="18" charset="0"/>
                                  </a:rPr>
                                  <m:t>𝑿</m:t>
                                </m:r>
                              </m:e>
                              <m:sub>
                                <m:r>
                                  <a:rPr lang="en-US" altLang="en-US" b="0" i="1" smtClean="0">
                                    <a:latin typeface="Cambria Math" panose="02040503050406030204" pitchFamily="18" charset="0"/>
                                    <a:ea typeface="Cambria Math" panose="02040503050406030204" pitchFamily="18" charset="0"/>
                                  </a:rPr>
                                  <m:t>𝑖</m:t>
                                </m:r>
                                <m:r>
                                  <a:rPr lang="en-US" altLang="en-US" i="1">
                                    <a:latin typeface="Cambria Math" panose="02040503050406030204" pitchFamily="18" charset="0"/>
                                    <a:ea typeface="Cambria Math" panose="02040503050406030204" pitchFamily="18" charset="0"/>
                                  </a:rPr>
                                  <m:t>,</m:t>
                                </m:r>
                                <m:r>
                                  <a:rPr lang="en-US" altLang="en-US" i="1">
                                    <a:latin typeface="Cambria Math" panose="02040503050406030204" pitchFamily="18" charset="0"/>
                                    <a:ea typeface="Cambria Math" panose="02040503050406030204" pitchFamily="18" charset="0"/>
                                  </a:rPr>
                                  <m:t>𝑝</m:t>
                                </m:r>
                              </m:sub>
                            </m:sSub>
                          </m:e>
                        </m:d>
                      </m:e>
                    </m:d>
                  </m:oMath>
                </a14:m>
                <a:r>
                  <a:rPr lang="en-US" altLang="en-US" dirty="0">
                    <a:latin typeface="Helvetica" panose="020B0604020202020204" pitchFamily="34" charset="0"/>
                    <a:ea typeface="Helvetica Neue" charset="0"/>
                    <a:cs typeface="Helvetica" panose="020B0604020202020204" pitchFamily="34" charset="0"/>
                  </a:rPr>
                  <a:t> or </a:t>
                </a:r>
              </a:p>
              <a:p>
                <a:pPr marL="631825" lvl="1" indent="0"/>
                <a14:m>
                  <m:oMath xmlns:m="http://schemas.openxmlformats.org/officeDocument/2006/math">
                    <m:sSub>
                      <m:sSubPr>
                        <m:ctrlPr>
                          <a:rPr lang="en-US" altLang="en-US" i="1">
                            <a:latin typeface="Cambria Math" panose="02040503050406030204" pitchFamily="18" charset="0"/>
                          </a:rPr>
                        </m:ctrlPr>
                      </m:sSubPr>
                      <m:e>
                        <m:r>
                          <a:rPr lang="en-US" altLang="en-US" b="1" i="1">
                            <a:latin typeface="Cambria Math" panose="02040503050406030204" pitchFamily="18" charset="0"/>
                          </a:rPr>
                          <m:t>𝒀</m:t>
                        </m:r>
                      </m:e>
                      <m:sub>
                        <m:r>
                          <a:rPr lang="en-US" altLang="en-US" i="1">
                            <a:latin typeface="Cambria Math" panose="02040503050406030204" pitchFamily="18" charset="0"/>
                          </a:rPr>
                          <m:t>𝑖</m:t>
                        </m:r>
                      </m:sub>
                    </m:sSub>
                  </m:oMath>
                </a14:m>
                <a:r>
                  <a:rPr lang="en-US" altLang="en-US" dirty="0">
                    <a:latin typeface="Helvetica" panose="020B0604020202020204" pitchFamily="34" charset="0"/>
                    <a:ea typeface="Helvetica Neue" charset="0"/>
                    <a:cs typeface="Helvetica" panose="020B0604020202020204" pitchFamily="34" charset="0"/>
                  </a:rPr>
                  <a:t> | </a:t>
                </a:r>
                <a14:m>
                  <m:oMath xmlns:m="http://schemas.openxmlformats.org/officeDocument/2006/math">
                    <m:sSub>
                      <m:sSubPr>
                        <m:ctrlPr>
                          <a:rPr lang="en-US" altLang="en-US" i="1">
                            <a:latin typeface="Cambria Math" panose="02040503050406030204" pitchFamily="18" charset="0"/>
                          </a:rPr>
                        </m:ctrlPr>
                      </m:sSubPr>
                      <m:e>
                        <m:r>
                          <a:rPr lang="en-US" altLang="en-US" b="1" i="1">
                            <a:latin typeface="Cambria Math" panose="02040503050406030204" pitchFamily="18" charset="0"/>
                          </a:rPr>
                          <m:t>𝑿</m:t>
                        </m:r>
                      </m:e>
                      <m:sub>
                        <m:r>
                          <a:rPr lang="en-US" altLang="en-US" b="0" i="1" smtClean="0">
                            <a:latin typeface="Cambria Math" panose="02040503050406030204" pitchFamily="18" charset="0"/>
                          </a:rPr>
                          <m:t>𝑖</m:t>
                        </m:r>
                        <m:r>
                          <a:rPr lang="en-US" altLang="en-US" i="1">
                            <a:latin typeface="Cambria Math" panose="02040503050406030204" pitchFamily="18" charset="0"/>
                          </a:rPr>
                          <m:t>,1</m:t>
                        </m:r>
                      </m:sub>
                    </m:sSub>
                    <m:r>
                      <a:rPr lang="en-US" altLang="en-US" i="1">
                        <a:latin typeface="Cambria Math" panose="02040503050406030204" pitchFamily="18" charset="0"/>
                      </a:rPr>
                      <m:t>, </m:t>
                    </m:r>
                    <m:r>
                      <a:rPr lang="en-US" altLang="en-US" i="1">
                        <a:latin typeface="Cambria Math" panose="02040503050406030204" pitchFamily="18" charset="0"/>
                        <a:ea typeface="Cambria Math" panose="02040503050406030204" pitchFamily="18" charset="0"/>
                      </a:rPr>
                      <m:t>⋯,</m:t>
                    </m:r>
                    <m:sSub>
                      <m:sSubPr>
                        <m:ctrlPr>
                          <a:rPr lang="en-US" altLang="en-US" i="1">
                            <a:latin typeface="Cambria Math" panose="02040503050406030204" pitchFamily="18" charset="0"/>
                            <a:ea typeface="Cambria Math" panose="02040503050406030204" pitchFamily="18" charset="0"/>
                          </a:rPr>
                        </m:ctrlPr>
                      </m:sSubPr>
                      <m:e>
                        <m:r>
                          <a:rPr lang="en-US" altLang="en-US" b="1" i="1">
                            <a:latin typeface="Cambria Math" panose="02040503050406030204" pitchFamily="18" charset="0"/>
                          </a:rPr>
                          <m:t>𝑿</m:t>
                        </m:r>
                      </m:e>
                      <m:sub>
                        <m:r>
                          <a:rPr lang="en-US" altLang="en-US" b="0" i="1" smtClean="0">
                            <a:latin typeface="Cambria Math" panose="02040503050406030204" pitchFamily="18" charset="0"/>
                            <a:ea typeface="Cambria Math" panose="02040503050406030204" pitchFamily="18" charset="0"/>
                          </a:rPr>
                          <m:t>𝑖</m:t>
                        </m:r>
                        <m:r>
                          <a:rPr lang="en-US" altLang="en-US" i="1">
                            <a:latin typeface="Cambria Math" panose="02040503050406030204" pitchFamily="18" charset="0"/>
                            <a:ea typeface="Cambria Math" panose="02040503050406030204" pitchFamily="18" charset="0"/>
                          </a:rPr>
                          <m:t>,</m:t>
                        </m:r>
                        <m:r>
                          <a:rPr lang="en-US" altLang="en-US" i="1">
                            <a:latin typeface="Cambria Math" panose="02040503050406030204" pitchFamily="18" charset="0"/>
                            <a:ea typeface="Cambria Math" panose="02040503050406030204" pitchFamily="18" charset="0"/>
                          </a:rPr>
                          <m:t>𝑝</m:t>
                        </m:r>
                      </m:sub>
                    </m:sSub>
                    <m:r>
                      <a:rPr lang="en-US" altLang="en-US" i="1">
                        <a:latin typeface="Cambria Math" panose="02040503050406030204" pitchFamily="18" charset="0"/>
                        <a:ea typeface="Cambria Math" panose="02040503050406030204" pitchFamily="18" charset="0"/>
                      </a:rPr>
                      <m:t> </m:t>
                    </m:r>
                  </m:oMath>
                </a14:m>
                <a:r>
                  <a:rPr lang="en-US" altLang="en-US" dirty="0">
                    <a:latin typeface="Helvetica" panose="020B0604020202020204" pitchFamily="34" charset="0"/>
                    <a:ea typeface="Helvetica Neue" charset="0"/>
                    <a:cs typeface="Helvetica" panose="020B0604020202020204" pitchFamily="34" charset="0"/>
                  </a:rPr>
                  <a:t>~ </a:t>
                </a:r>
                <a:r>
                  <a:rPr lang="en-US" altLang="en-US" dirty="0">
                    <a:latin typeface="Helvetica" panose="020B0604020202020204" pitchFamily="34" charset="0"/>
                    <a:ea typeface="Cambria Math" panose="02040503050406030204" pitchFamily="18" charset="0"/>
                    <a:cs typeface="Helvetica" panose="020B0604020202020204" pitchFamily="34" charset="0"/>
                  </a:rPr>
                  <a:t>Binomial</a:t>
                </a:r>
                <a14:m>
                  <m:oMath xmlns:m="http://schemas.openxmlformats.org/officeDocument/2006/math">
                    <m:d>
                      <m:dPr>
                        <m:ctrlPr>
                          <a:rPr lang="en-US" i="1">
                            <a:latin typeface="Cambria Math" panose="02040503050406030204" pitchFamily="18" charset="0"/>
                          </a:rPr>
                        </m:ctrlPr>
                      </m:dPr>
                      <m:e>
                        <m:r>
                          <a:rPr lang="en-US" b="0" i="1" smtClean="0">
                            <a:latin typeface="Cambria Math" panose="02040503050406030204" pitchFamily="18" charset="0"/>
                          </a:rPr>
                          <m:t>1, </m:t>
                        </m:r>
                        <m:r>
                          <m:rPr>
                            <m:sty m:val="p"/>
                          </m:rPr>
                          <a:rPr lang="en-US">
                            <a:latin typeface="Cambria Math" panose="02040503050406030204" pitchFamily="18" charset="0"/>
                            <a:ea typeface="Helvetica Neue" charset="0"/>
                            <a:cs typeface="Helvetica Neue" charset="0"/>
                          </a:rPr>
                          <m:t>p</m:t>
                        </m:r>
                        <m:d>
                          <m:dPr>
                            <m:ctrlPr>
                              <a:rPr lang="en-US" altLang="en-US" i="1">
                                <a:latin typeface="Cambria Math" panose="02040503050406030204" pitchFamily="18" charset="0"/>
                              </a:rPr>
                            </m:ctrlPr>
                          </m:dPr>
                          <m:e>
                            <m:sSub>
                              <m:sSubPr>
                                <m:ctrlPr>
                                  <a:rPr lang="en-US" altLang="en-US" i="1">
                                    <a:latin typeface="Cambria Math" panose="02040503050406030204" pitchFamily="18" charset="0"/>
                                  </a:rPr>
                                </m:ctrlPr>
                              </m:sSubPr>
                              <m:e>
                                <m:r>
                                  <a:rPr lang="en-US" altLang="en-US" b="1" i="1">
                                    <a:latin typeface="Cambria Math" panose="02040503050406030204" pitchFamily="18" charset="0"/>
                                  </a:rPr>
                                  <m:t>𝑿</m:t>
                                </m:r>
                              </m:e>
                              <m:sub>
                                <m:r>
                                  <a:rPr lang="en-US" altLang="en-US" b="0" i="1" smtClean="0">
                                    <a:latin typeface="Cambria Math" panose="02040503050406030204" pitchFamily="18" charset="0"/>
                                  </a:rPr>
                                  <m:t>𝑖</m:t>
                                </m:r>
                                <m:r>
                                  <a:rPr lang="en-US" altLang="en-US" i="1">
                                    <a:latin typeface="Cambria Math" panose="02040503050406030204" pitchFamily="18" charset="0"/>
                                  </a:rPr>
                                  <m:t>,1</m:t>
                                </m:r>
                              </m:sub>
                            </m:sSub>
                            <m:r>
                              <a:rPr lang="en-US" altLang="en-US" i="1">
                                <a:latin typeface="Cambria Math" panose="02040503050406030204" pitchFamily="18" charset="0"/>
                              </a:rPr>
                              <m:t>, </m:t>
                            </m:r>
                            <m:r>
                              <a:rPr lang="en-US" altLang="en-US" i="1">
                                <a:latin typeface="Cambria Math" panose="02040503050406030204" pitchFamily="18" charset="0"/>
                                <a:ea typeface="Cambria Math" panose="02040503050406030204" pitchFamily="18" charset="0"/>
                              </a:rPr>
                              <m:t>⋯,</m:t>
                            </m:r>
                            <m:sSub>
                              <m:sSubPr>
                                <m:ctrlPr>
                                  <a:rPr lang="en-US" altLang="en-US" i="1">
                                    <a:latin typeface="Cambria Math" panose="02040503050406030204" pitchFamily="18" charset="0"/>
                                    <a:ea typeface="Cambria Math" panose="02040503050406030204" pitchFamily="18" charset="0"/>
                                  </a:rPr>
                                </m:ctrlPr>
                              </m:sSubPr>
                              <m:e>
                                <m:r>
                                  <a:rPr lang="en-US" altLang="en-US" b="1" i="1">
                                    <a:latin typeface="Cambria Math" panose="02040503050406030204" pitchFamily="18" charset="0"/>
                                  </a:rPr>
                                  <m:t>𝑿</m:t>
                                </m:r>
                              </m:e>
                              <m:sub>
                                <m:r>
                                  <a:rPr lang="en-US" altLang="en-US" b="0" i="1" smtClean="0">
                                    <a:latin typeface="Cambria Math" panose="02040503050406030204" pitchFamily="18" charset="0"/>
                                    <a:ea typeface="Cambria Math" panose="02040503050406030204" pitchFamily="18" charset="0"/>
                                  </a:rPr>
                                  <m:t>𝑖</m:t>
                                </m:r>
                                <m:r>
                                  <a:rPr lang="en-US" altLang="en-US" i="1">
                                    <a:latin typeface="Cambria Math" panose="02040503050406030204" pitchFamily="18" charset="0"/>
                                    <a:ea typeface="Cambria Math" panose="02040503050406030204" pitchFamily="18" charset="0"/>
                                  </a:rPr>
                                  <m:t>,</m:t>
                                </m:r>
                                <m:r>
                                  <a:rPr lang="en-US" altLang="en-US" i="1">
                                    <a:latin typeface="Cambria Math" panose="02040503050406030204" pitchFamily="18" charset="0"/>
                                    <a:ea typeface="Cambria Math" panose="02040503050406030204" pitchFamily="18" charset="0"/>
                                  </a:rPr>
                                  <m:t>𝑝</m:t>
                                </m:r>
                              </m:sub>
                            </m:sSub>
                          </m:e>
                        </m:d>
                      </m:e>
                    </m:d>
                  </m:oMath>
                </a14:m>
                <a:endParaRPr lang="en-US" altLang="en-US" dirty="0">
                  <a:latin typeface="Helvetica" panose="020B0604020202020204" pitchFamily="34" charset="0"/>
                  <a:ea typeface="Helvetica Neue" charset="0"/>
                  <a:cs typeface="Helvetica" panose="020B0604020202020204" pitchFamily="34" charset="0"/>
                </a:endParaRPr>
              </a:p>
              <a:p>
                <a:pPr marL="344488" indent="-344488">
                  <a:spcBef>
                    <a:spcPct val="50000"/>
                  </a:spcBef>
                  <a:buFont typeface="Arial" panose="020B0604020202020204" pitchFamily="34" charset="0"/>
                  <a:buChar char="•"/>
                </a:pPr>
                <a:r>
                  <a:rPr lang="en-US" altLang="en-US" b="1" dirty="0">
                    <a:latin typeface="Helvetica" panose="020B0604020202020204" pitchFamily="34" charset="0"/>
                    <a:ea typeface="Helvetica Neue" charset="0"/>
                    <a:cs typeface="Helvetica" panose="020B0604020202020204" pitchFamily="34" charset="0"/>
                  </a:rPr>
                  <a:t>Logistic Regression With Replications</a:t>
                </a:r>
              </a:p>
              <a:p>
                <a:pPr marL="631825" lvl="1">
                  <a:buFont typeface="Arial" panose="020B0604020202020204" pitchFamily="34" charset="0"/>
                  <a:buChar char="•"/>
                </a:pPr>
                <a:r>
                  <a:rPr lang="en-US" altLang="en-US" dirty="0">
                    <a:latin typeface="Helvetica" panose="020B0604020202020204" pitchFamily="34" charset="0"/>
                    <a:ea typeface="Helvetica Neue" charset="0"/>
                    <a:cs typeface="Helvetica" panose="020B0604020202020204" pitchFamily="34" charset="0"/>
                  </a:rPr>
                  <a:t>Observe </a:t>
                </a:r>
                <a14:m>
                  <m:oMath xmlns:m="http://schemas.openxmlformats.org/officeDocument/2006/math">
                    <m:sSub>
                      <m:sSubPr>
                        <m:ctrlPr>
                          <a:rPr lang="en-US" altLang="en-US" i="1">
                            <a:latin typeface="Cambria Math" panose="02040503050406030204" pitchFamily="18" charset="0"/>
                            <a:ea typeface="Cambria Math" panose="02040503050406030204" pitchFamily="18" charset="0"/>
                          </a:rPr>
                        </m:ctrlPr>
                      </m:sSubPr>
                      <m:e>
                        <m:r>
                          <a:rPr lang="en-US" altLang="en-US" b="0" i="1" smtClean="0">
                            <a:latin typeface="Cambria Math" panose="02040503050406030204" pitchFamily="18" charset="0"/>
                            <a:ea typeface="Cambria Math" panose="02040503050406030204" pitchFamily="18" charset="0"/>
                          </a:rPr>
                          <m:t>𝑛</m:t>
                        </m:r>
                      </m:e>
                      <m:sub>
                        <m:r>
                          <a:rPr lang="en-US" altLang="en-US" i="1">
                            <a:latin typeface="Cambria Math" panose="02040503050406030204" pitchFamily="18" charset="0"/>
                            <a:ea typeface="Cambria Math" panose="02040503050406030204" pitchFamily="18" charset="0"/>
                          </a:rPr>
                          <m:t>𝑖</m:t>
                        </m:r>
                      </m:sub>
                    </m:sSub>
                  </m:oMath>
                </a14:m>
                <a:r>
                  <a:rPr lang="en-US" altLang="en-US" dirty="0">
                    <a:latin typeface="Helvetica" panose="020B0604020202020204" pitchFamily="34" charset="0"/>
                    <a:ea typeface="Cambria Math" panose="02040503050406030204" pitchFamily="18" charset="0"/>
                    <a:cs typeface="Helvetica" panose="020B0604020202020204" pitchFamily="34" charset="0"/>
                  </a:rPr>
                  <a:t> </a:t>
                </a:r>
                <a:r>
                  <a:rPr lang="en-US" altLang="en-US" dirty="0">
                    <a:latin typeface="Helvetica" panose="020B0604020202020204" pitchFamily="34" charset="0"/>
                    <a:ea typeface="Helvetica Neue" charset="0"/>
                    <a:cs typeface="Helvetica" panose="020B0604020202020204" pitchFamily="34" charset="0"/>
                  </a:rPr>
                  <a:t>repeated responses </a:t>
                </a:r>
                <a14:m>
                  <m:oMath xmlns:m="http://schemas.openxmlformats.org/officeDocument/2006/math">
                    <m:sSub>
                      <m:sSubPr>
                        <m:ctrlPr>
                          <a:rPr lang="en-US" altLang="en-US" i="1">
                            <a:latin typeface="Cambria Math" panose="02040503050406030204" pitchFamily="18" charset="0"/>
                            <a:ea typeface="Cambria Math" panose="02040503050406030204" pitchFamily="18" charset="0"/>
                          </a:rPr>
                        </m:ctrlPr>
                      </m:sSubPr>
                      <m:e>
                        <m:r>
                          <a:rPr lang="en-US" altLang="en-US" b="1" i="1">
                            <a:latin typeface="Cambria Math" panose="02040503050406030204" pitchFamily="18" charset="0"/>
                            <a:ea typeface="Cambria Math" panose="02040503050406030204" pitchFamily="18" charset="0"/>
                          </a:rPr>
                          <m:t>𝒀</m:t>
                        </m:r>
                      </m:e>
                      <m:sub>
                        <m:r>
                          <a:rPr lang="en-US" altLang="en-US" i="1">
                            <a:latin typeface="Cambria Math" panose="02040503050406030204" pitchFamily="18" charset="0"/>
                            <a:ea typeface="Cambria Math" panose="02040503050406030204" pitchFamily="18" charset="0"/>
                          </a:rPr>
                          <m:t>𝑖</m:t>
                        </m:r>
                      </m:sub>
                    </m:sSub>
                  </m:oMath>
                </a14:m>
                <a:r>
                  <a:rPr lang="en-US" altLang="en-US" dirty="0">
                    <a:latin typeface="Helvetica" panose="020B0604020202020204" pitchFamily="34" charset="0"/>
                    <a:ea typeface="Helvetica Neue" charset="0"/>
                    <a:cs typeface="Helvetica" panose="020B0604020202020204" pitchFamily="34" charset="0"/>
                  </a:rPr>
                  <a:t> for each unique set of predictors </a:t>
                </a:r>
                <a14:m>
                  <m:oMath xmlns:m="http://schemas.openxmlformats.org/officeDocument/2006/math">
                    <m:d>
                      <m:dPr>
                        <m:ctrlPr>
                          <a:rPr lang="en-US" altLang="en-US" i="1">
                            <a:latin typeface="Cambria Math" panose="02040503050406030204" pitchFamily="18" charset="0"/>
                          </a:rPr>
                        </m:ctrlPr>
                      </m:dPr>
                      <m:e>
                        <m:sSub>
                          <m:sSubPr>
                            <m:ctrlPr>
                              <a:rPr lang="en-US" altLang="en-US" i="1">
                                <a:latin typeface="Cambria Math" panose="02040503050406030204" pitchFamily="18" charset="0"/>
                              </a:rPr>
                            </m:ctrlPr>
                          </m:sSubPr>
                          <m:e>
                            <m:r>
                              <a:rPr lang="en-US" altLang="en-US" b="1" i="1">
                                <a:latin typeface="Cambria Math" panose="02040503050406030204" pitchFamily="18" charset="0"/>
                              </a:rPr>
                              <m:t>𝑿</m:t>
                            </m:r>
                          </m:e>
                          <m:sub>
                            <m:r>
                              <a:rPr lang="en-US" altLang="en-US" b="0" i="1" smtClean="0">
                                <a:latin typeface="Cambria Math" panose="02040503050406030204" pitchFamily="18" charset="0"/>
                              </a:rPr>
                              <m:t>𝑖</m:t>
                            </m:r>
                            <m:r>
                              <a:rPr lang="en-US" altLang="en-US" i="1">
                                <a:latin typeface="Cambria Math" panose="02040503050406030204" pitchFamily="18" charset="0"/>
                              </a:rPr>
                              <m:t>,1</m:t>
                            </m:r>
                          </m:sub>
                        </m:sSub>
                        <m:r>
                          <a:rPr lang="en-US" altLang="en-US" i="1">
                            <a:latin typeface="Cambria Math" panose="02040503050406030204" pitchFamily="18" charset="0"/>
                          </a:rPr>
                          <m:t>, </m:t>
                        </m:r>
                        <m:r>
                          <a:rPr lang="en-US" altLang="en-US" i="1">
                            <a:latin typeface="Cambria Math" panose="02040503050406030204" pitchFamily="18" charset="0"/>
                            <a:ea typeface="Cambria Math" panose="02040503050406030204" pitchFamily="18" charset="0"/>
                          </a:rPr>
                          <m:t>⋯,</m:t>
                        </m:r>
                        <m:sSub>
                          <m:sSubPr>
                            <m:ctrlPr>
                              <a:rPr lang="en-US" altLang="en-US" i="1">
                                <a:latin typeface="Cambria Math" panose="02040503050406030204" pitchFamily="18" charset="0"/>
                                <a:ea typeface="Cambria Math" panose="02040503050406030204" pitchFamily="18" charset="0"/>
                              </a:rPr>
                            </m:ctrlPr>
                          </m:sSubPr>
                          <m:e>
                            <m:r>
                              <a:rPr lang="en-US" altLang="en-US" b="1" i="1">
                                <a:latin typeface="Cambria Math" panose="02040503050406030204" pitchFamily="18" charset="0"/>
                              </a:rPr>
                              <m:t>𝑿</m:t>
                            </m:r>
                          </m:e>
                          <m:sub>
                            <m:r>
                              <a:rPr lang="en-US" altLang="en-US" b="0" i="1" smtClean="0">
                                <a:latin typeface="Cambria Math" panose="02040503050406030204" pitchFamily="18" charset="0"/>
                                <a:ea typeface="Cambria Math" panose="02040503050406030204" pitchFamily="18" charset="0"/>
                              </a:rPr>
                              <m:t>𝑖</m:t>
                            </m:r>
                            <m:r>
                              <a:rPr lang="en-US" altLang="en-US" i="1">
                                <a:latin typeface="Cambria Math" panose="02040503050406030204" pitchFamily="18" charset="0"/>
                                <a:ea typeface="Cambria Math" panose="02040503050406030204" pitchFamily="18" charset="0"/>
                              </a:rPr>
                              <m:t>,</m:t>
                            </m:r>
                            <m:r>
                              <a:rPr lang="en-US" altLang="en-US" i="1">
                                <a:latin typeface="Cambria Math" panose="02040503050406030204" pitchFamily="18" charset="0"/>
                                <a:ea typeface="Cambria Math" panose="02040503050406030204" pitchFamily="18" charset="0"/>
                              </a:rPr>
                              <m:t>𝑝</m:t>
                            </m:r>
                          </m:sub>
                        </m:sSub>
                      </m:e>
                    </m:d>
                    <m:r>
                      <a:rPr lang="en-US" altLang="en-US" i="1">
                        <a:latin typeface="Cambria Math" panose="02040503050406030204" pitchFamily="18" charset="0"/>
                        <a:ea typeface="Cambria Math" panose="02040503050406030204" pitchFamily="18" charset="0"/>
                      </a:rPr>
                      <m:t> </m:t>
                    </m:r>
                  </m:oMath>
                </a14:m>
                <a:r>
                  <a:rPr lang="en-US" altLang="en-US" dirty="0">
                    <a:latin typeface="Helvetica" panose="020B0604020202020204" pitchFamily="34" charset="0"/>
                    <a:ea typeface="Helvetica Neue" charset="0"/>
                    <a:cs typeface="Helvetica" panose="020B0604020202020204" pitchFamily="34" charset="0"/>
                  </a:rPr>
                  <a:t>across all </a:t>
                </a:r>
                <a:r>
                  <a:rPr lang="en-US" altLang="en-US" dirty="0" err="1">
                    <a:latin typeface="Cambria Math" panose="02040503050406030204" pitchFamily="18" charset="0"/>
                    <a:ea typeface="Cambria Math" panose="02040503050406030204" pitchFamily="18" charset="0"/>
                    <a:cs typeface="Helvetica" panose="020B0604020202020204" pitchFamily="34" charset="0"/>
                  </a:rPr>
                  <a:t>i</a:t>
                </a:r>
                <a:r>
                  <a:rPr lang="en-US" altLang="en-US" dirty="0">
                    <a:latin typeface="Cambria Math" panose="02040503050406030204" pitchFamily="18" charset="0"/>
                    <a:ea typeface="Cambria Math" panose="02040503050406030204" pitchFamily="18" charset="0"/>
                    <a:cs typeface="Helvetica" panose="020B0604020202020204" pitchFamily="34" charset="0"/>
                  </a:rPr>
                  <a:t>=1,..,</a:t>
                </a:r>
                <a:r>
                  <a:rPr lang="en-US" altLang="en-US" i="1" dirty="0">
                    <a:latin typeface="Cambria Math" panose="02040503050406030204" pitchFamily="18" charset="0"/>
                    <a:ea typeface="Cambria Math" panose="02040503050406030204" pitchFamily="18" charset="0"/>
                    <a:cs typeface="Helvetica" panose="020B0604020202020204" pitchFamily="34" charset="0"/>
                  </a:rPr>
                  <a:t>n</a:t>
                </a:r>
              </a:p>
              <a:p>
                <a:pPr marL="631825" lvl="1">
                  <a:buFont typeface="Arial" panose="020B0604020202020204" pitchFamily="34" charset="0"/>
                  <a:buChar char="•"/>
                </a:pPr>
                <a14:m>
                  <m:oMath xmlns:m="http://schemas.openxmlformats.org/officeDocument/2006/math">
                    <m:sSub>
                      <m:sSubPr>
                        <m:ctrlPr>
                          <a:rPr lang="en-US" altLang="en-US" i="1">
                            <a:latin typeface="Cambria Math" panose="02040503050406030204" pitchFamily="18" charset="0"/>
                          </a:rPr>
                        </m:ctrlPr>
                      </m:sSubPr>
                      <m:e>
                        <m:r>
                          <a:rPr lang="en-US" altLang="en-US" b="1" i="1">
                            <a:latin typeface="Cambria Math" panose="02040503050406030204" pitchFamily="18" charset="0"/>
                          </a:rPr>
                          <m:t>𝒀</m:t>
                        </m:r>
                      </m:e>
                      <m:sub>
                        <m:r>
                          <a:rPr lang="en-US" altLang="en-US" i="1">
                            <a:latin typeface="Cambria Math" panose="02040503050406030204" pitchFamily="18" charset="0"/>
                          </a:rPr>
                          <m:t>𝑖</m:t>
                        </m:r>
                      </m:sub>
                    </m:sSub>
                  </m:oMath>
                </a14:m>
                <a:r>
                  <a:rPr lang="en-US" altLang="en-US" dirty="0">
                    <a:latin typeface="Helvetica" panose="020B0604020202020204" pitchFamily="34" charset="0"/>
                    <a:ea typeface="Helvetica Neue" charset="0"/>
                    <a:cs typeface="Helvetica" panose="020B0604020202020204" pitchFamily="34" charset="0"/>
                  </a:rPr>
                  <a:t> | </a:t>
                </a:r>
                <a14:m>
                  <m:oMath xmlns:m="http://schemas.openxmlformats.org/officeDocument/2006/math">
                    <m:sSub>
                      <m:sSubPr>
                        <m:ctrlPr>
                          <a:rPr lang="en-US" altLang="en-US" i="1">
                            <a:latin typeface="Cambria Math" panose="02040503050406030204" pitchFamily="18" charset="0"/>
                          </a:rPr>
                        </m:ctrlPr>
                      </m:sSubPr>
                      <m:e>
                        <m:r>
                          <a:rPr lang="en-US" altLang="en-US" b="1" i="1">
                            <a:latin typeface="Cambria Math" panose="02040503050406030204" pitchFamily="18" charset="0"/>
                          </a:rPr>
                          <m:t>𝑿</m:t>
                        </m:r>
                      </m:e>
                      <m:sub>
                        <m:r>
                          <a:rPr lang="en-US" altLang="en-US" i="1">
                            <a:latin typeface="Cambria Math" panose="02040503050406030204" pitchFamily="18" charset="0"/>
                          </a:rPr>
                          <m:t>𝑖</m:t>
                        </m:r>
                        <m:r>
                          <a:rPr lang="en-US" altLang="en-US" i="1">
                            <a:latin typeface="Cambria Math" panose="02040503050406030204" pitchFamily="18" charset="0"/>
                          </a:rPr>
                          <m:t>,1</m:t>
                        </m:r>
                      </m:sub>
                    </m:sSub>
                    <m:r>
                      <a:rPr lang="en-US" altLang="en-US" i="1">
                        <a:latin typeface="Cambria Math" panose="02040503050406030204" pitchFamily="18" charset="0"/>
                      </a:rPr>
                      <m:t>, </m:t>
                    </m:r>
                    <m:r>
                      <a:rPr lang="en-US" altLang="en-US" i="1">
                        <a:latin typeface="Cambria Math" panose="02040503050406030204" pitchFamily="18" charset="0"/>
                        <a:ea typeface="Cambria Math" panose="02040503050406030204" pitchFamily="18" charset="0"/>
                      </a:rPr>
                      <m:t>⋯,</m:t>
                    </m:r>
                    <m:sSub>
                      <m:sSubPr>
                        <m:ctrlPr>
                          <a:rPr lang="en-US" altLang="en-US" i="1">
                            <a:latin typeface="Cambria Math" panose="02040503050406030204" pitchFamily="18" charset="0"/>
                            <a:ea typeface="Cambria Math" panose="02040503050406030204" pitchFamily="18" charset="0"/>
                          </a:rPr>
                        </m:ctrlPr>
                      </m:sSubPr>
                      <m:e>
                        <m:r>
                          <a:rPr lang="en-US" altLang="en-US" b="1" i="1">
                            <a:latin typeface="Cambria Math" panose="02040503050406030204" pitchFamily="18" charset="0"/>
                          </a:rPr>
                          <m:t>𝑿</m:t>
                        </m:r>
                      </m:e>
                      <m:sub>
                        <m:r>
                          <a:rPr lang="en-US" altLang="en-US" i="1">
                            <a:latin typeface="Cambria Math" panose="02040503050406030204" pitchFamily="18" charset="0"/>
                            <a:ea typeface="Cambria Math" panose="02040503050406030204" pitchFamily="18" charset="0"/>
                          </a:rPr>
                          <m:t>𝑖</m:t>
                        </m:r>
                        <m:r>
                          <a:rPr lang="en-US" altLang="en-US" i="1">
                            <a:latin typeface="Cambria Math" panose="02040503050406030204" pitchFamily="18" charset="0"/>
                            <a:ea typeface="Cambria Math" panose="02040503050406030204" pitchFamily="18" charset="0"/>
                          </a:rPr>
                          <m:t>,</m:t>
                        </m:r>
                        <m:r>
                          <a:rPr lang="en-US" altLang="en-US" i="1">
                            <a:latin typeface="Cambria Math" panose="02040503050406030204" pitchFamily="18" charset="0"/>
                            <a:ea typeface="Cambria Math" panose="02040503050406030204" pitchFamily="18" charset="0"/>
                          </a:rPr>
                          <m:t>𝑝</m:t>
                        </m:r>
                      </m:sub>
                    </m:sSub>
                    <m:r>
                      <a:rPr lang="en-US" altLang="en-US" i="1">
                        <a:latin typeface="Cambria Math" panose="02040503050406030204" pitchFamily="18" charset="0"/>
                        <a:ea typeface="Cambria Math" panose="02040503050406030204" pitchFamily="18" charset="0"/>
                      </a:rPr>
                      <m:t> </m:t>
                    </m:r>
                  </m:oMath>
                </a14:m>
                <a:r>
                  <a:rPr lang="en-US" altLang="en-US" dirty="0">
                    <a:latin typeface="Helvetica" panose="020B0604020202020204" pitchFamily="34" charset="0"/>
                    <a:ea typeface="Helvetica Neue" charset="0"/>
                    <a:cs typeface="Helvetica" panose="020B0604020202020204" pitchFamily="34" charset="0"/>
                  </a:rPr>
                  <a:t>~ </a:t>
                </a:r>
                <a:r>
                  <a:rPr lang="en-US" altLang="en-US" dirty="0">
                    <a:latin typeface="Helvetica" panose="020B0604020202020204" pitchFamily="34" charset="0"/>
                    <a:ea typeface="Cambria Math" panose="02040503050406030204" pitchFamily="18" charset="0"/>
                    <a:cs typeface="Helvetica" panose="020B0604020202020204" pitchFamily="34" charset="0"/>
                  </a:rPr>
                  <a:t>Binomial</a:t>
                </a:r>
                <a14:m>
                  <m:oMath xmlns:m="http://schemas.openxmlformats.org/officeDocument/2006/math">
                    <m:d>
                      <m:dPr>
                        <m:ctrlPr>
                          <a:rPr lang="en-US" i="1">
                            <a:latin typeface="Cambria Math" panose="02040503050406030204" pitchFamily="18" charset="0"/>
                          </a:rPr>
                        </m:ctrlPr>
                      </m:dPr>
                      <m:e>
                        <m:sSub>
                          <m:sSubPr>
                            <m:ctrlPr>
                              <a:rPr lang="en-US" altLang="en-US" i="1">
                                <a:latin typeface="Cambria Math" panose="02040503050406030204" pitchFamily="18" charset="0"/>
                                <a:ea typeface="Cambria Math" panose="02040503050406030204" pitchFamily="18" charset="0"/>
                              </a:rPr>
                            </m:ctrlPr>
                          </m:sSubPr>
                          <m:e>
                            <m:r>
                              <a:rPr lang="en-US" altLang="en-US" i="1">
                                <a:latin typeface="Cambria Math" panose="02040503050406030204" pitchFamily="18" charset="0"/>
                                <a:ea typeface="Cambria Math" panose="02040503050406030204" pitchFamily="18" charset="0"/>
                              </a:rPr>
                              <m:t>𝑛</m:t>
                            </m:r>
                          </m:e>
                          <m:sub>
                            <m:r>
                              <a:rPr lang="en-US" altLang="en-US" i="1">
                                <a:latin typeface="Cambria Math" panose="02040503050406030204" pitchFamily="18" charset="0"/>
                                <a:ea typeface="Cambria Math" panose="02040503050406030204" pitchFamily="18" charset="0"/>
                              </a:rPr>
                              <m:t>𝑖</m:t>
                            </m:r>
                          </m:sub>
                        </m:sSub>
                        <m:r>
                          <a:rPr lang="en-US" i="1">
                            <a:latin typeface="Cambria Math" panose="02040503050406030204" pitchFamily="18" charset="0"/>
                          </a:rPr>
                          <m:t>, </m:t>
                        </m:r>
                        <m:r>
                          <m:rPr>
                            <m:sty m:val="p"/>
                          </m:rPr>
                          <a:rPr lang="en-US">
                            <a:latin typeface="Cambria Math" panose="02040503050406030204" pitchFamily="18" charset="0"/>
                            <a:ea typeface="Helvetica Neue" charset="0"/>
                            <a:cs typeface="Helvetica Neue" charset="0"/>
                          </a:rPr>
                          <m:t>p</m:t>
                        </m:r>
                        <m:d>
                          <m:dPr>
                            <m:ctrlPr>
                              <a:rPr lang="en-US" altLang="en-US" i="1">
                                <a:latin typeface="Cambria Math" panose="02040503050406030204" pitchFamily="18" charset="0"/>
                              </a:rPr>
                            </m:ctrlPr>
                          </m:dPr>
                          <m:e>
                            <m:sSub>
                              <m:sSubPr>
                                <m:ctrlPr>
                                  <a:rPr lang="en-US" altLang="en-US" i="1">
                                    <a:latin typeface="Cambria Math" panose="02040503050406030204" pitchFamily="18" charset="0"/>
                                  </a:rPr>
                                </m:ctrlPr>
                              </m:sSubPr>
                              <m:e>
                                <m:r>
                                  <a:rPr lang="en-US" altLang="en-US" b="1" i="1">
                                    <a:latin typeface="Cambria Math" panose="02040503050406030204" pitchFamily="18" charset="0"/>
                                  </a:rPr>
                                  <m:t>𝑿</m:t>
                                </m:r>
                              </m:e>
                              <m:sub>
                                <m:r>
                                  <a:rPr lang="en-US" altLang="en-US" i="1">
                                    <a:latin typeface="Cambria Math" panose="02040503050406030204" pitchFamily="18" charset="0"/>
                                  </a:rPr>
                                  <m:t>𝑖</m:t>
                                </m:r>
                                <m:r>
                                  <a:rPr lang="en-US" altLang="en-US" i="1">
                                    <a:latin typeface="Cambria Math" panose="02040503050406030204" pitchFamily="18" charset="0"/>
                                  </a:rPr>
                                  <m:t>,1</m:t>
                                </m:r>
                              </m:sub>
                            </m:sSub>
                            <m:r>
                              <a:rPr lang="en-US" altLang="en-US" i="1">
                                <a:latin typeface="Cambria Math" panose="02040503050406030204" pitchFamily="18" charset="0"/>
                              </a:rPr>
                              <m:t>, </m:t>
                            </m:r>
                            <m:r>
                              <a:rPr lang="en-US" altLang="en-US" i="1">
                                <a:latin typeface="Cambria Math" panose="02040503050406030204" pitchFamily="18" charset="0"/>
                                <a:ea typeface="Cambria Math" panose="02040503050406030204" pitchFamily="18" charset="0"/>
                              </a:rPr>
                              <m:t>⋯,</m:t>
                            </m:r>
                            <m:sSub>
                              <m:sSubPr>
                                <m:ctrlPr>
                                  <a:rPr lang="en-US" altLang="en-US" i="1">
                                    <a:latin typeface="Cambria Math" panose="02040503050406030204" pitchFamily="18" charset="0"/>
                                    <a:ea typeface="Cambria Math" panose="02040503050406030204" pitchFamily="18" charset="0"/>
                                  </a:rPr>
                                </m:ctrlPr>
                              </m:sSubPr>
                              <m:e>
                                <m:r>
                                  <a:rPr lang="en-US" altLang="en-US" b="1" i="1">
                                    <a:latin typeface="Cambria Math" panose="02040503050406030204" pitchFamily="18" charset="0"/>
                                  </a:rPr>
                                  <m:t>𝑿</m:t>
                                </m:r>
                              </m:e>
                              <m:sub>
                                <m:r>
                                  <a:rPr lang="en-US" altLang="en-US" i="1">
                                    <a:latin typeface="Cambria Math" panose="02040503050406030204" pitchFamily="18" charset="0"/>
                                    <a:ea typeface="Cambria Math" panose="02040503050406030204" pitchFamily="18" charset="0"/>
                                  </a:rPr>
                                  <m:t>𝑖</m:t>
                                </m:r>
                                <m:r>
                                  <a:rPr lang="en-US" altLang="en-US" i="1">
                                    <a:latin typeface="Cambria Math" panose="02040503050406030204" pitchFamily="18" charset="0"/>
                                    <a:ea typeface="Cambria Math" panose="02040503050406030204" pitchFamily="18" charset="0"/>
                                  </a:rPr>
                                  <m:t>,</m:t>
                                </m:r>
                                <m:r>
                                  <a:rPr lang="en-US" altLang="en-US" i="1">
                                    <a:latin typeface="Cambria Math" panose="02040503050406030204" pitchFamily="18" charset="0"/>
                                    <a:ea typeface="Cambria Math" panose="02040503050406030204" pitchFamily="18" charset="0"/>
                                  </a:rPr>
                                  <m:t>𝑝</m:t>
                                </m:r>
                              </m:sub>
                            </m:sSub>
                          </m:e>
                        </m:d>
                      </m:e>
                    </m:d>
                    <m:r>
                      <a:rPr lang="en-US" altLang="en-US" b="0" i="1" smtClean="0">
                        <a:latin typeface="Cambria Math" panose="02040503050406030204" pitchFamily="18" charset="0"/>
                        <a:ea typeface="Cambria Math" panose="02040503050406030204" pitchFamily="18" charset="0"/>
                      </a:rPr>
                      <m:t>,</m:t>
                    </m:r>
                  </m:oMath>
                </a14:m>
                <a:r>
                  <a:rPr lang="en-US" altLang="en-US" dirty="0">
                    <a:latin typeface="Helvetica" panose="020B0604020202020204" pitchFamily="34" charset="0"/>
                    <a:ea typeface="Helvetica Neue" charset="0"/>
                    <a:cs typeface="Helvetica" panose="020B0604020202020204" pitchFamily="34" charset="0"/>
                  </a:rPr>
                  <a:t> </a:t>
                </a:r>
                <a14:m>
                  <m:oMath xmlns:m="http://schemas.openxmlformats.org/officeDocument/2006/math">
                    <m:sSub>
                      <m:sSubPr>
                        <m:ctrlPr>
                          <a:rPr lang="en-US" altLang="en-US" i="1">
                            <a:latin typeface="Cambria Math" panose="02040503050406030204" pitchFamily="18" charset="0"/>
                            <a:ea typeface="Cambria Math" panose="02040503050406030204" pitchFamily="18" charset="0"/>
                          </a:rPr>
                        </m:ctrlPr>
                      </m:sSubPr>
                      <m:e>
                        <m:r>
                          <a:rPr lang="en-US" altLang="en-US" i="1">
                            <a:latin typeface="Cambria Math" panose="02040503050406030204" pitchFamily="18" charset="0"/>
                            <a:ea typeface="Cambria Math" panose="02040503050406030204" pitchFamily="18" charset="0"/>
                          </a:rPr>
                          <m:t>𝑛</m:t>
                        </m:r>
                      </m:e>
                      <m:sub>
                        <m:r>
                          <a:rPr lang="en-US" altLang="en-US" i="1">
                            <a:latin typeface="Cambria Math" panose="02040503050406030204" pitchFamily="18" charset="0"/>
                            <a:ea typeface="Cambria Math" panose="02040503050406030204" pitchFamily="18" charset="0"/>
                          </a:rPr>
                          <m:t>𝑖</m:t>
                        </m:r>
                      </m:sub>
                    </m:sSub>
                    <m:r>
                      <a:rPr lang="en-US" altLang="en-US" b="0" i="1" smtClean="0">
                        <a:latin typeface="Cambria Math" panose="02040503050406030204" pitchFamily="18" charset="0"/>
                        <a:ea typeface="Cambria Math" panose="02040503050406030204" pitchFamily="18" charset="0"/>
                      </a:rPr>
                      <m:t>&gt;</m:t>
                    </m:r>
                    <m:r>
                      <a:rPr lang="en-US" altLang="en-US" dirty="0">
                        <a:latin typeface="Cambria Math" panose="02040503050406030204" pitchFamily="18" charset="0"/>
                        <a:ea typeface="Cambria Math" panose="02040503050406030204" pitchFamily="18" charset="0"/>
                      </a:rPr>
                      <m:t>1</m:t>
                    </m:r>
                  </m:oMath>
                </a14:m>
                <a:endParaRPr lang="en-US" altLang="en-US" dirty="0">
                  <a:latin typeface="Helvetica" panose="020B0604020202020204" pitchFamily="34" charset="0"/>
                  <a:ea typeface="Helvetica Neue" charset="0"/>
                  <a:cs typeface="Helvetica" panose="020B0604020202020204" pitchFamily="34" charset="0"/>
                </a:endParaRPr>
              </a:p>
            </p:txBody>
          </p:sp>
        </mc:Choice>
        <mc:Fallback xmlns="">
          <p:sp>
            <p:nvSpPr>
              <p:cNvPr id="9" name="Rectangle 9"/>
              <p:cNvSpPr>
                <a:spLocks noRot="1" noChangeAspect="1" noMove="1" noResize="1" noEditPoints="1" noAdjustHandles="1" noChangeArrowheads="1" noChangeShapeType="1" noTextEdit="1"/>
              </p:cNvSpPr>
              <p:nvPr/>
            </p:nvSpPr>
            <p:spPr bwMode="auto">
              <a:xfrm>
                <a:off x="142830" y="1884828"/>
                <a:ext cx="8136886" cy="3218766"/>
              </a:xfrm>
              <a:prstGeom prst="rect">
                <a:avLst/>
              </a:prstGeom>
              <a:blipFill>
                <a:blip r:embed="rId3"/>
                <a:stretch>
                  <a:fillRect l="-449" t="-94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3" name="Title 2"/>
          <p:cNvSpPr>
            <a:spLocks noGrp="1"/>
          </p:cNvSpPr>
          <p:nvPr>
            <p:ph type="title"/>
          </p:nvPr>
        </p:nvSpPr>
        <p:spPr>
          <a:xfrm>
            <a:off x="109736" y="115287"/>
            <a:ext cx="8562392" cy="599597"/>
          </a:xfrm>
        </p:spPr>
        <p:txBody>
          <a:bodyPr/>
          <a:lstStyle/>
          <a:p>
            <a:r>
              <a:rPr lang="en-US" sz="3600" dirty="0">
                <a:latin typeface="Vitesse"/>
              </a:rPr>
              <a:t>Residuals in Logistic Regression</a:t>
            </a:r>
          </a:p>
        </p:txBody>
      </p:sp>
      <mc:AlternateContent xmlns:mc="http://schemas.openxmlformats.org/markup-compatibility/2006" xmlns:a14="http://schemas.microsoft.com/office/drawing/2010/main">
        <mc:Choice Requires="a14">
          <p:sp>
            <p:nvSpPr>
              <p:cNvPr id="6" name="Text Box 3">
                <a:extLst>
                  <a:ext uri="{FF2B5EF4-FFF2-40B4-BE49-F238E27FC236}">
                    <a16:creationId xmlns:a16="http://schemas.microsoft.com/office/drawing/2014/main" id="{65EB36F1-720A-4862-9AB0-7627039B6D5F}"/>
                  </a:ext>
                </a:extLst>
              </p:cNvPr>
              <p:cNvSpPr txBox="1">
                <a:spLocks noChangeArrowheads="1"/>
              </p:cNvSpPr>
              <p:nvPr/>
            </p:nvSpPr>
            <p:spPr bwMode="auto">
              <a:xfrm>
                <a:off x="126051" y="905962"/>
                <a:ext cx="8865548" cy="96449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r>
                  <a:rPr lang="en-US" altLang="en-US" b="1" dirty="0">
                    <a:solidFill>
                      <a:srgbClr val="EEB211"/>
                    </a:solidFill>
                    <a:latin typeface="Helvetica" panose="020B0604020202020204" pitchFamily="34" charset="0"/>
                    <a:ea typeface="Helvetica Neue" charset="0"/>
                    <a:cs typeface="Helvetica" panose="020B0604020202020204" pitchFamily="34" charset="0"/>
                  </a:rPr>
                  <a:t>Data</a:t>
                </a:r>
                <a:r>
                  <a:rPr lang="en-US" altLang="en-US" dirty="0">
                    <a:solidFill>
                      <a:srgbClr val="EEB211"/>
                    </a:solidFill>
                    <a:latin typeface="Helvetica" panose="020B0604020202020204" pitchFamily="34" charset="0"/>
                    <a:ea typeface="Helvetica Neue" charset="0"/>
                    <a:cs typeface="Helvetica" panose="020B0604020202020204" pitchFamily="34" charset="0"/>
                  </a:rPr>
                  <a:t>:</a:t>
                </a:r>
              </a:p>
              <a:p>
                <a:pPr marL="687388"/>
                <a14:m>
                  <m:oMathPara xmlns:m="http://schemas.openxmlformats.org/officeDocument/2006/math">
                    <m:oMathParaPr>
                      <m:jc m:val="centerGroup"/>
                    </m:oMathParaPr>
                    <m:oMath xmlns:m="http://schemas.openxmlformats.org/officeDocument/2006/math">
                      <m:d>
                        <m:dPr>
                          <m:begChr m:val="{"/>
                          <m:endChr m:val="}"/>
                          <m:ctrlPr>
                            <a:rPr lang="en-US" altLang="en-US" i="1" smtClean="0">
                              <a:latin typeface="Cambria Math" panose="02040503050406030204" pitchFamily="18" charset="0"/>
                            </a:rPr>
                          </m:ctrlPr>
                        </m:dPr>
                        <m:e>
                          <m:d>
                            <m:dPr>
                              <m:ctrlPr>
                                <a:rPr lang="en-US" altLang="en-US" i="1" smtClean="0">
                                  <a:latin typeface="Cambria Math" panose="02040503050406030204" pitchFamily="18" charset="0"/>
                                </a:rPr>
                              </m:ctrlPr>
                            </m:dPr>
                            <m:e>
                              <m:sSub>
                                <m:sSubPr>
                                  <m:ctrlPr>
                                    <a:rPr lang="en-US" altLang="en-US" i="1" smtClean="0">
                                      <a:latin typeface="Cambria Math" panose="02040503050406030204" pitchFamily="18" charset="0"/>
                                    </a:rPr>
                                  </m:ctrlPr>
                                </m:sSubPr>
                                <m:e>
                                  <m:r>
                                    <a:rPr lang="en-US" altLang="en-US" b="1" i="1" smtClean="0">
                                      <a:latin typeface="Cambria Math" panose="02040503050406030204" pitchFamily="18" charset="0"/>
                                    </a:rPr>
                                    <m:t>𝑿</m:t>
                                  </m:r>
                                </m:e>
                                <m:sub>
                                  <m:r>
                                    <a:rPr lang="en-US" altLang="en-US" b="0" i="1" smtClean="0">
                                      <a:latin typeface="Cambria Math" panose="02040503050406030204" pitchFamily="18" charset="0"/>
                                    </a:rPr>
                                    <m:t>1,1</m:t>
                                  </m:r>
                                </m:sub>
                              </m:sSub>
                              <m:r>
                                <a:rPr lang="en-US" altLang="en-US" b="0" i="1" smtClean="0">
                                  <a:latin typeface="Cambria Math" panose="02040503050406030204" pitchFamily="18" charset="0"/>
                                </a:rPr>
                                <m:t>,</m:t>
                              </m:r>
                              <m:sSub>
                                <m:sSubPr>
                                  <m:ctrlPr>
                                    <a:rPr lang="en-US" altLang="en-US" b="0" i="1" smtClean="0">
                                      <a:latin typeface="Cambria Math" panose="02040503050406030204" pitchFamily="18" charset="0"/>
                                    </a:rPr>
                                  </m:ctrlPr>
                                </m:sSubPr>
                                <m:e>
                                  <m:r>
                                    <a:rPr lang="en-US" altLang="en-US" b="1" i="1">
                                      <a:latin typeface="Cambria Math" panose="02040503050406030204" pitchFamily="18" charset="0"/>
                                    </a:rPr>
                                    <m:t>𝑿</m:t>
                                  </m:r>
                                </m:e>
                                <m:sub>
                                  <m:r>
                                    <a:rPr lang="en-US" altLang="en-US" b="0" i="1" smtClean="0">
                                      <a:latin typeface="Cambria Math" panose="02040503050406030204" pitchFamily="18" charset="0"/>
                                    </a:rPr>
                                    <m:t>1,2</m:t>
                                  </m:r>
                                </m:sub>
                              </m:sSub>
                              <m:r>
                                <a:rPr lang="en-US" altLang="en-US" b="0" i="1" smtClean="0">
                                  <a:latin typeface="Cambria Math" panose="02040503050406030204" pitchFamily="18" charset="0"/>
                                </a:rPr>
                                <m:t>,</m:t>
                              </m:r>
                              <m:r>
                                <a:rPr lang="en-US" altLang="en-US" b="0" i="1" smtClean="0">
                                  <a:latin typeface="Cambria Math" panose="02040503050406030204" pitchFamily="18" charset="0"/>
                                  <a:ea typeface="Cambria Math" panose="02040503050406030204" pitchFamily="18" charset="0"/>
                                </a:rPr>
                                <m:t>⋯,</m:t>
                              </m:r>
                              <m:sSub>
                                <m:sSubPr>
                                  <m:ctrlPr>
                                    <a:rPr lang="en-US" altLang="en-US" b="0" i="1" smtClean="0">
                                      <a:latin typeface="Cambria Math" panose="02040503050406030204" pitchFamily="18" charset="0"/>
                                      <a:ea typeface="Cambria Math" panose="02040503050406030204" pitchFamily="18" charset="0"/>
                                    </a:rPr>
                                  </m:ctrlPr>
                                </m:sSubPr>
                                <m:e>
                                  <m:r>
                                    <a:rPr lang="en-US" altLang="en-US" b="1" i="1">
                                      <a:latin typeface="Cambria Math" panose="02040503050406030204" pitchFamily="18" charset="0"/>
                                    </a:rPr>
                                    <m:t>𝑿</m:t>
                                  </m:r>
                                </m:e>
                                <m:sub>
                                  <m:r>
                                    <a:rPr lang="en-US" altLang="en-US" b="0" i="1" smtClean="0">
                                      <a:latin typeface="Cambria Math" panose="02040503050406030204" pitchFamily="18" charset="0"/>
                                      <a:ea typeface="Cambria Math" panose="02040503050406030204" pitchFamily="18" charset="0"/>
                                    </a:rPr>
                                    <m:t>1,</m:t>
                                  </m:r>
                                  <m:r>
                                    <a:rPr lang="en-US" altLang="en-US" b="0" i="1" smtClean="0">
                                      <a:latin typeface="Cambria Math" panose="02040503050406030204" pitchFamily="18" charset="0"/>
                                      <a:ea typeface="Cambria Math" panose="02040503050406030204" pitchFamily="18" charset="0"/>
                                    </a:rPr>
                                    <m:t>𝑝</m:t>
                                  </m:r>
                                </m:sub>
                              </m:sSub>
                            </m:e>
                          </m:d>
                          <m:r>
                            <a:rPr lang="en-US" altLang="en-US" b="0" i="1" smtClean="0">
                              <a:latin typeface="Cambria Math" panose="02040503050406030204" pitchFamily="18" charset="0"/>
                            </a:rPr>
                            <m:t>,</m:t>
                          </m:r>
                          <m:sSub>
                            <m:sSubPr>
                              <m:ctrlPr>
                                <a:rPr lang="en-US" altLang="en-US" i="1" smtClean="0">
                                  <a:latin typeface="Cambria Math" panose="02040503050406030204" pitchFamily="18" charset="0"/>
                                </a:rPr>
                              </m:ctrlPr>
                            </m:sSubPr>
                            <m:e>
                              <m:r>
                                <a:rPr lang="en-US" altLang="en-US" b="1" i="1" smtClean="0">
                                  <a:latin typeface="Cambria Math" panose="02040503050406030204" pitchFamily="18" charset="0"/>
                                </a:rPr>
                                <m:t>𝒀</m:t>
                              </m:r>
                            </m:e>
                            <m:sub>
                              <m:r>
                                <a:rPr lang="en-US" altLang="en-US" b="0" i="1" smtClean="0">
                                  <a:latin typeface="Cambria Math" panose="02040503050406030204" pitchFamily="18" charset="0"/>
                                </a:rPr>
                                <m:t>1</m:t>
                              </m:r>
                            </m:sub>
                          </m:sSub>
                        </m:e>
                      </m:d>
                      <m:r>
                        <a:rPr lang="en-US" altLang="en-US" b="0" i="1" smtClean="0">
                          <a:latin typeface="Cambria Math" panose="02040503050406030204" pitchFamily="18" charset="0"/>
                        </a:rPr>
                        <m:t>,</m:t>
                      </m:r>
                      <m:d>
                        <m:dPr>
                          <m:begChr m:val="{"/>
                          <m:endChr m:val="}"/>
                          <m:ctrlPr>
                            <a:rPr lang="en-US" altLang="en-US" i="1">
                              <a:latin typeface="Cambria Math" panose="02040503050406030204" pitchFamily="18" charset="0"/>
                            </a:rPr>
                          </m:ctrlPr>
                        </m:dPr>
                        <m:e>
                          <m:d>
                            <m:dPr>
                              <m:ctrlPr>
                                <a:rPr lang="en-US" altLang="en-US" i="1">
                                  <a:latin typeface="Cambria Math" panose="02040503050406030204" pitchFamily="18" charset="0"/>
                                </a:rPr>
                              </m:ctrlPr>
                            </m:dPr>
                            <m:e>
                              <m:sSub>
                                <m:sSubPr>
                                  <m:ctrlPr>
                                    <a:rPr lang="en-US" altLang="en-US" i="1">
                                      <a:latin typeface="Cambria Math" panose="02040503050406030204" pitchFamily="18" charset="0"/>
                                    </a:rPr>
                                  </m:ctrlPr>
                                </m:sSubPr>
                                <m:e>
                                  <m:r>
                                    <a:rPr lang="en-US" altLang="en-US" b="1" i="1">
                                      <a:latin typeface="Cambria Math" panose="02040503050406030204" pitchFamily="18" charset="0"/>
                                    </a:rPr>
                                    <m:t>𝑿</m:t>
                                  </m:r>
                                </m:e>
                                <m:sub>
                                  <m:r>
                                    <a:rPr lang="en-US" altLang="en-US" b="0" i="1" smtClean="0">
                                      <a:latin typeface="Cambria Math" panose="02040503050406030204" pitchFamily="18" charset="0"/>
                                    </a:rPr>
                                    <m:t>2</m:t>
                                  </m:r>
                                  <m:r>
                                    <a:rPr lang="en-US" altLang="en-US" i="1">
                                      <a:latin typeface="Cambria Math" panose="02040503050406030204" pitchFamily="18" charset="0"/>
                                    </a:rPr>
                                    <m:t>,1</m:t>
                                  </m:r>
                                </m:sub>
                              </m:sSub>
                              <m:r>
                                <a:rPr lang="en-US" altLang="en-US" i="1">
                                  <a:latin typeface="Cambria Math" panose="02040503050406030204" pitchFamily="18" charset="0"/>
                                </a:rPr>
                                <m:t>,</m:t>
                              </m:r>
                              <m:sSub>
                                <m:sSubPr>
                                  <m:ctrlPr>
                                    <a:rPr lang="en-US" altLang="en-US" i="1">
                                      <a:latin typeface="Cambria Math" panose="02040503050406030204" pitchFamily="18" charset="0"/>
                                    </a:rPr>
                                  </m:ctrlPr>
                                </m:sSubPr>
                                <m:e>
                                  <m:r>
                                    <a:rPr lang="en-US" altLang="en-US" b="1" i="1">
                                      <a:latin typeface="Cambria Math" panose="02040503050406030204" pitchFamily="18" charset="0"/>
                                    </a:rPr>
                                    <m:t>𝑿</m:t>
                                  </m:r>
                                </m:e>
                                <m:sub>
                                  <m:r>
                                    <a:rPr lang="en-US" altLang="en-US" b="0" i="1" smtClean="0">
                                      <a:latin typeface="Cambria Math" panose="02040503050406030204" pitchFamily="18" charset="0"/>
                                    </a:rPr>
                                    <m:t>2</m:t>
                                  </m:r>
                                  <m:r>
                                    <a:rPr lang="en-US" altLang="en-US" i="1">
                                      <a:latin typeface="Cambria Math" panose="02040503050406030204" pitchFamily="18" charset="0"/>
                                    </a:rPr>
                                    <m:t>,2</m:t>
                                  </m:r>
                                </m:sub>
                              </m:sSub>
                              <m:r>
                                <a:rPr lang="en-US" altLang="en-US" i="1">
                                  <a:latin typeface="Cambria Math" panose="02040503050406030204" pitchFamily="18" charset="0"/>
                                </a:rPr>
                                <m:t>,</m:t>
                              </m:r>
                              <m:r>
                                <a:rPr lang="en-US" altLang="en-US" i="1">
                                  <a:latin typeface="Cambria Math" panose="02040503050406030204" pitchFamily="18" charset="0"/>
                                  <a:ea typeface="Cambria Math" panose="02040503050406030204" pitchFamily="18" charset="0"/>
                                </a:rPr>
                                <m:t>⋯,</m:t>
                              </m:r>
                              <m:sSub>
                                <m:sSubPr>
                                  <m:ctrlPr>
                                    <a:rPr lang="en-US" altLang="en-US" i="1">
                                      <a:latin typeface="Cambria Math" panose="02040503050406030204" pitchFamily="18" charset="0"/>
                                      <a:ea typeface="Cambria Math" panose="02040503050406030204" pitchFamily="18" charset="0"/>
                                    </a:rPr>
                                  </m:ctrlPr>
                                </m:sSubPr>
                                <m:e>
                                  <m:r>
                                    <a:rPr lang="en-US" altLang="en-US" b="1" i="1">
                                      <a:latin typeface="Cambria Math" panose="02040503050406030204" pitchFamily="18" charset="0"/>
                                    </a:rPr>
                                    <m:t>𝑿</m:t>
                                  </m:r>
                                </m:e>
                                <m:sub>
                                  <m:r>
                                    <a:rPr lang="en-US" altLang="en-US" b="0" i="1" smtClean="0">
                                      <a:latin typeface="Cambria Math" panose="02040503050406030204" pitchFamily="18" charset="0"/>
                                      <a:ea typeface="Cambria Math" panose="02040503050406030204" pitchFamily="18" charset="0"/>
                                    </a:rPr>
                                    <m:t>2</m:t>
                                  </m:r>
                                  <m:r>
                                    <a:rPr lang="en-US" altLang="en-US" i="1">
                                      <a:latin typeface="Cambria Math" panose="02040503050406030204" pitchFamily="18" charset="0"/>
                                      <a:ea typeface="Cambria Math" panose="02040503050406030204" pitchFamily="18" charset="0"/>
                                    </a:rPr>
                                    <m:t>,</m:t>
                                  </m:r>
                                  <m:r>
                                    <a:rPr lang="en-US" altLang="en-US" i="1">
                                      <a:latin typeface="Cambria Math" panose="02040503050406030204" pitchFamily="18" charset="0"/>
                                      <a:ea typeface="Cambria Math" panose="02040503050406030204" pitchFamily="18" charset="0"/>
                                    </a:rPr>
                                    <m:t>𝑝</m:t>
                                  </m:r>
                                </m:sub>
                              </m:sSub>
                            </m:e>
                          </m:d>
                          <m:r>
                            <a:rPr lang="en-US" altLang="en-US" i="1">
                              <a:latin typeface="Cambria Math" panose="02040503050406030204" pitchFamily="18" charset="0"/>
                            </a:rPr>
                            <m:t>,</m:t>
                          </m:r>
                          <m:sSub>
                            <m:sSubPr>
                              <m:ctrlPr>
                                <a:rPr lang="en-US" altLang="en-US" i="1">
                                  <a:latin typeface="Cambria Math" panose="02040503050406030204" pitchFamily="18" charset="0"/>
                                </a:rPr>
                              </m:ctrlPr>
                            </m:sSubPr>
                            <m:e>
                              <m:r>
                                <a:rPr lang="en-US" altLang="en-US" b="1" i="1">
                                  <a:latin typeface="Cambria Math" panose="02040503050406030204" pitchFamily="18" charset="0"/>
                                </a:rPr>
                                <m:t>𝒀</m:t>
                              </m:r>
                            </m:e>
                            <m:sub>
                              <m:r>
                                <a:rPr lang="en-US" altLang="en-US" b="0" i="1" smtClean="0">
                                  <a:latin typeface="Cambria Math" panose="02040503050406030204" pitchFamily="18" charset="0"/>
                                </a:rPr>
                                <m:t>2</m:t>
                              </m:r>
                            </m:sub>
                          </m:sSub>
                        </m:e>
                      </m:d>
                      <m:r>
                        <a:rPr lang="en-US" altLang="en-US" b="0" i="1" smtClean="0">
                          <a:latin typeface="Cambria Math" panose="02040503050406030204" pitchFamily="18" charset="0"/>
                        </a:rPr>
                        <m:t>,</m:t>
                      </m:r>
                      <m:r>
                        <a:rPr lang="en-US" altLang="en-US" i="1">
                          <a:latin typeface="Cambria Math" panose="02040503050406030204" pitchFamily="18" charset="0"/>
                          <a:ea typeface="Cambria Math" panose="02040503050406030204" pitchFamily="18" charset="0"/>
                        </a:rPr>
                        <m:t>⋯</m:t>
                      </m:r>
                      <m:r>
                        <a:rPr lang="en-US" altLang="en-US" b="0" i="1" smtClean="0">
                          <a:latin typeface="Cambria Math" panose="02040503050406030204" pitchFamily="18" charset="0"/>
                          <a:ea typeface="Cambria Math" panose="02040503050406030204" pitchFamily="18" charset="0"/>
                        </a:rPr>
                        <m:t>,</m:t>
                      </m:r>
                      <m:d>
                        <m:dPr>
                          <m:begChr m:val="{"/>
                          <m:endChr m:val="}"/>
                          <m:ctrlPr>
                            <a:rPr lang="en-US" altLang="en-US" i="1">
                              <a:latin typeface="Cambria Math" panose="02040503050406030204" pitchFamily="18" charset="0"/>
                            </a:rPr>
                          </m:ctrlPr>
                        </m:dPr>
                        <m:e>
                          <m:d>
                            <m:dPr>
                              <m:ctrlPr>
                                <a:rPr lang="en-US" altLang="en-US" i="1">
                                  <a:latin typeface="Cambria Math" panose="02040503050406030204" pitchFamily="18" charset="0"/>
                                </a:rPr>
                              </m:ctrlPr>
                            </m:dPr>
                            <m:e>
                              <m:sSub>
                                <m:sSubPr>
                                  <m:ctrlPr>
                                    <a:rPr lang="en-US" altLang="en-US" i="1">
                                      <a:latin typeface="Cambria Math" panose="02040503050406030204" pitchFamily="18" charset="0"/>
                                    </a:rPr>
                                  </m:ctrlPr>
                                </m:sSubPr>
                                <m:e>
                                  <m:r>
                                    <a:rPr lang="en-US" altLang="en-US" b="1" i="1">
                                      <a:latin typeface="Cambria Math" panose="02040503050406030204" pitchFamily="18" charset="0"/>
                                    </a:rPr>
                                    <m:t>𝑿</m:t>
                                  </m:r>
                                </m:e>
                                <m:sub>
                                  <m:r>
                                    <a:rPr lang="en-US" altLang="en-US" b="0" i="1" smtClean="0">
                                      <a:latin typeface="Cambria Math" panose="02040503050406030204" pitchFamily="18" charset="0"/>
                                    </a:rPr>
                                    <m:t>𝑛</m:t>
                                  </m:r>
                                  <m:r>
                                    <a:rPr lang="en-US" altLang="en-US" i="1">
                                      <a:latin typeface="Cambria Math" panose="02040503050406030204" pitchFamily="18" charset="0"/>
                                    </a:rPr>
                                    <m:t>,1</m:t>
                                  </m:r>
                                </m:sub>
                              </m:sSub>
                              <m:r>
                                <a:rPr lang="en-US" altLang="en-US" i="1">
                                  <a:latin typeface="Cambria Math" panose="02040503050406030204" pitchFamily="18" charset="0"/>
                                </a:rPr>
                                <m:t>,</m:t>
                              </m:r>
                              <m:sSub>
                                <m:sSubPr>
                                  <m:ctrlPr>
                                    <a:rPr lang="en-US" altLang="en-US" i="1">
                                      <a:latin typeface="Cambria Math" panose="02040503050406030204" pitchFamily="18" charset="0"/>
                                    </a:rPr>
                                  </m:ctrlPr>
                                </m:sSubPr>
                                <m:e>
                                  <m:r>
                                    <a:rPr lang="en-US" altLang="en-US" b="1" i="1">
                                      <a:latin typeface="Cambria Math" panose="02040503050406030204" pitchFamily="18" charset="0"/>
                                    </a:rPr>
                                    <m:t>𝑿</m:t>
                                  </m:r>
                                </m:e>
                                <m:sub>
                                  <m:r>
                                    <a:rPr lang="en-US" altLang="en-US" b="0" i="1" smtClean="0">
                                      <a:latin typeface="Cambria Math" panose="02040503050406030204" pitchFamily="18" charset="0"/>
                                    </a:rPr>
                                    <m:t>𝑛</m:t>
                                  </m:r>
                                  <m:r>
                                    <a:rPr lang="en-US" altLang="en-US" i="1">
                                      <a:latin typeface="Cambria Math" panose="02040503050406030204" pitchFamily="18" charset="0"/>
                                    </a:rPr>
                                    <m:t>,2</m:t>
                                  </m:r>
                                </m:sub>
                              </m:sSub>
                              <m:r>
                                <a:rPr lang="en-US" altLang="en-US" i="1">
                                  <a:latin typeface="Cambria Math" panose="02040503050406030204" pitchFamily="18" charset="0"/>
                                </a:rPr>
                                <m:t>,</m:t>
                              </m:r>
                              <m:r>
                                <a:rPr lang="en-US" altLang="en-US" i="1">
                                  <a:latin typeface="Cambria Math" panose="02040503050406030204" pitchFamily="18" charset="0"/>
                                  <a:ea typeface="Cambria Math" panose="02040503050406030204" pitchFamily="18" charset="0"/>
                                </a:rPr>
                                <m:t>⋯,</m:t>
                              </m:r>
                              <m:sSub>
                                <m:sSubPr>
                                  <m:ctrlPr>
                                    <a:rPr lang="en-US" altLang="en-US" i="1">
                                      <a:latin typeface="Cambria Math" panose="02040503050406030204" pitchFamily="18" charset="0"/>
                                      <a:ea typeface="Cambria Math" panose="02040503050406030204" pitchFamily="18" charset="0"/>
                                    </a:rPr>
                                  </m:ctrlPr>
                                </m:sSubPr>
                                <m:e>
                                  <m:r>
                                    <a:rPr lang="en-US" altLang="en-US" b="1" i="1">
                                      <a:latin typeface="Cambria Math" panose="02040503050406030204" pitchFamily="18" charset="0"/>
                                    </a:rPr>
                                    <m:t>𝑿</m:t>
                                  </m:r>
                                </m:e>
                                <m:sub>
                                  <m:r>
                                    <a:rPr lang="en-US" altLang="en-US" b="0" i="1" smtClean="0">
                                      <a:latin typeface="Cambria Math" panose="02040503050406030204" pitchFamily="18" charset="0"/>
                                      <a:ea typeface="Cambria Math" panose="02040503050406030204" pitchFamily="18" charset="0"/>
                                    </a:rPr>
                                    <m:t>𝑛</m:t>
                                  </m:r>
                                  <m:r>
                                    <a:rPr lang="en-US" altLang="en-US" i="1">
                                      <a:latin typeface="Cambria Math" panose="02040503050406030204" pitchFamily="18" charset="0"/>
                                      <a:ea typeface="Cambria Math" panose="02040503050406030204" pitchFamily="18" charset="0"/>
                                    </a:rPr>
                                    <m:t>,</m:t>
                                  </m:r>
                                  <m:r>
                                    <a:rPr lang="en-US" altLang="en-US" i="1">
                                      <a:latin typeface="Cambria Math" panose="02040503050406030204" pitchFamily="18" charset="0"/>
                                      <a:ea typeface="Cambria Math" panose="02040503050406030204" pitchFamily="18" charset="0"/>
                                    </a:rPr>
                                    <m:t>𝑝</m:t>
                                  </m:r>
                                </m:sub>
                              </m:sSub>
                            </m:e>
                          </m:d>
                          <m:r>
                            <a:rPr lang="en-US" altLang="en-US" i="1">
                              <a:latin typeface="Cambria Math" panose="02040503050406030204" pitchFamily="18" charset="0"/>
                            </a:rPr>
                            <m:t>,</m:t>
                          </m:r>
                          <m:sSub>
                            <m:sSubPr>
                              <m:ctrlPr>
                                <a:rPr lang="en-US" altLang="en-US" i="1">
                                  <a:latin typeface="Cambria Math" panose="02040503050406030204" pitchFamily="18" charset="0"/>
                                </a:rPr>
                              </m:ctrlPr>
                            </m:sSubPr>
                            <m:e>
                              <m:r>
                                <a:rPr lang="en-US" altLang="en-US" b="1" i="1">
                                  <a:latin typeface="Cambria Math" panose="02040503050406030204" pitchFamily="18" charset="0"/>
                                </a:rPr>
                                <m:t>𝒀</m:t>
                              </m:r>
                            </m:e>
                            <m:sub>
                              <m:r>
                                <a:rPr lang="en-US" altLang="en-US" b="0" i="1" smtClean="0">
                                  <a:latin typeface="Cambria Math" panose="02040503050406030204" pitchFamily="18" charset="0"/>
                                </a:rPr>
                                <m:t>𝑛</m:t>
                              </m:r>
                            </m:sub>
                          </m:sSub>
                        </m:e>
                      </m:d>
                    </m:oMath>
                  </m:oMathPara>
                </a14:m>
                <a:endParaRPr lang="en-US" altLang="en-US" dirty="0">
                  <a:latin typeface="Helvetica" panose="020B0604020202020204" pitchFamily="34" charset="0"/>
                  <a:ea typeface="Helvetica Neue" charset="0"/>
                  <a:cs typeface="Helvetica" panose="020B0604020202020204" pitchFamily="34" charset="0"/>
                </a:endParaRPr>
              </a:p>
              <a:p>
                <a:pPr marL="687388"/>
                <a:r>
                  <a:rPr lang="en-US" altLang="en-US" dirty="0">
                    <a:latin typeface="Helvetica" panose="020B0604020202020204" pitchFamily="34" charset="0"/>
                    <a:ea typeface="Helvetica Neue" charset="0"/>
                    <a:cs typeface="Helvetica" panose="020B0604020202020204" pitchFamily="34" charset="0"/>
                  </a:rPr>
                  <a:t>where </a:t>
                </a:r>
                <a14:m>
                  <m:oMath xmlns:m="http://schemas.openxmlformats.org/officeDocument/2006/math">
                    <m:sSub>
                      <m:sSubPr>
                        <m:ctrlPr>
                          <a:rPr lang="en-US" altLang="en-US" i="1" smtClean="0">
                            <a:latin typeface="Cambria Math" panose="02040503050406030204" pitchFamily="18" charset="0"/>
                          </a:rPr>
                        </m:ctrlPr>
                      </m:sSubPr>
                      <m:e>
                        <m:r>
                          <a:rPr lang="en-US" altLang="en-US" b="1" i="1" smtClean="0">
                            <a:latin typeface="Cambria Math" panose="02040503050406030204" pitchFamily="18" charset="0"/>
                          </a:rPr>
                          <m:t>𝒀</m:t>
                        </m:r>
                      </m:e>
                      <m:sub>
                        <m:r>
                          <a:rPr lang="en-US" altLang="en-US" b="0" i="1" smtClean="0">
                            <a:latin typeface="Cambria Math" panose="02040503050406030204" pitchFamily="18" charset="0"/>
                          </a:rPr>
                          <m:t>1</m:t>
                        </m:r>
                      </m:sub>
                    </m:sSub>
                    <m:r>
                      <a:rPr lang="en-US" altLang="en-US" b="0" i="1" smtClean="0">
                        <a:latin typeface="Cambria Math" panose="02040503050406030204" pitchFamily="18" charset="0"/>
                      </a:rPr>
                      <m:t>,</m:t>
                    </m:r>
                    <m:r>
                      <a:rPr lang="en-US" altLang="en-US" b="0" i="1" smtClean="0">
                        <a:latin typeface="Cambria Math" panose="02040503050406030204" pitchFamily="18" charset="0"/>
                        <a:ea typeface="Cambria Math" panose="02040503050406030204" pitchFamily="18" charset="0"/>
                      </a:rPr>
                      <m:t>⋯,</m:t>
                    </m:r>
                    <m:sSub>
                      <m:sSubPr>
                        <m:ctrlPr>
                          <a:rPr lang="en-US" altLang="en-US" i="1">
                            <a:latin typeface="Cambria Math" panose="02040503050406030204" pitchFamily="18" charset="0"/>
                          </a:rPr>
                        </m:ctrlPr>
                      </m:sSubPr>
                      <m:e>
                        <m:r>
                          <a:rPr lang="en-US" altLang="en-US" b="1" i="1">
                            <a:latin typeface="Cambria Math" panose="02040503050406030204" pitchFamily="18" charset="0"/>
                          </a:rPr>
                          <m:t>𝒀</m:t>
                        </m:r>
                      </m:e>
                      <m:sub>
                        <m:r>
                          <a:rPr lang="en-US" altLang="en-US" b="0" i="1" smtClean="0">
                            <a:latin typeface="Cambria Math" panose="02040503050406030204" pitchFamily="18" charset="0"/>
                          </a:rPr>
                          <m:t>𝑛</m:t>
                        </m:r>
                      </m:sub>
                    </m:sSub>
                  </m:oMath>
                </a14:m>
                <a:r>
                  <a:rPr lang="en-US" altLang="en-US" dirty="0">
                    <a:latin typeface="Helvetica" panose="020B0604020202020204" pitchFamily="34" charset="0"/>
                    <a:ea typeface="Helvetica Neue" charset="0"/>
                    <a:cs typeface="Helvetica" panose="020B0604020202020204" pitchFamily="34" charset="0"/>
                  </a:rPr>
                  <a:t> are </a:t>
                </a:r>
                <a:r>
                  <a:rPr lang="en-US" altLang="en-US" i="1" dirty="0">
                    <a:latin typeface="Helvetica" panose="020B0604020202020204" pitchFamily="34" charset="0"/>
                    <a:ea typeface="Helvetica Neue" charset="0"/>
                    <a:cs typeface="Helvetica" panose="020B0604020202020204" pitchFamily="34" charset="0"/>
                  </a:rPr>
                  <a:t>binary</a:t>
                </a:r>
                <a:r>
                  <a:rPr lang="en-US" altLang="en-US" dirty="0">
                    <a:latin typeface="Helvetica" panose="020B0604020202020204" pitchFamily="34" charset="0"/>
                    <a:ea typeface="Helvetica Neue" charset="0"/>
                    <a:cs typeface="Helvetica" panose="020B0604020202020204" pitchFamily="34" charset="0"/>
                  </a:rPr>
                  <a:t> responses</a:t>
                </a:r>
              </a:p>
            </p:txBody>
          </p:sp>
        </mc:Choice>
        <mc:Fallback xmlns="">
          <p:sp>
            <p:nvSpPr>
              <p:cNvPr id="6" name="Text Box 3">
                <a:extLst>
                  <a:ext uri="{FF2B5EF4-FFF2-40B4-BE49-F238E27FC236}">
                    <a16:creationId xmlns:a16="http://schemas.microsoft.com/office/drawing/2014/main" id="{65EB36F1-720A-4862-9AB0-7627039B6D5F}"/>
                  </a:ext>
                </a:extLst>
              </p:cNvPr>
              <p:cNvSpPr txBox="1">
                <a:spLocks noRot="1" noChangeAspect="1" noMove="1" noResize="1" noEditPoints="1" noAdjustHandles="1" noChangeArrowheads="1" noChangeShapeType="1" noTextEdit="1"/>
              </p:cNvSpPr>
              <p:nvPr/>
            </p:nvSpPr>
            <p:spPr bwMode="auto">
              <a:xfrm>
                <a:off x="126051" y="905962"/>
                <a:ext cx="8865548" cy="964495"/>
              </a:xfrm>
              <a:prstGeom prst="rect">
                <a:avLst/>
              </a:prstGeom>
              <a:blipFill>
                <a:blip r:embed="rId4"/>
                <a:stretch>
                  <a:fillRect l="-619" t="-3797" b="-949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5" name="Oval 4">
            <a:extLst>
              <a:ext uri="{FF2B5EF4-FFF2-40B4-BE49-F238E27FC236}">
                <a16:creationId xmlns:a16="http://schemas.microsoft.com/office/drawing/2014/main" id="{145C9889-977E-4068-B091-20F6A185C3EC}"/>
              </a:ext>
            </a:extLst>
          </p:cNvPr>
          <p:cNvSpPr/>
          <p:nvPr/>
        </p:nvSpPr>
        <p:spPr>
          <a:xfrm>
            <a:off x="3520735" y="3252019"/>
            <a:ext cx="372839" cy="398454"/>
          </a:xfrm>
          <a:prstGeom prst="ellipse">
            <a:avLst/>
          </a:prstGeom>
          <a:noFill/>
          <a:ln w="28575"/>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0CA6C350-38A0-47B2-812C-8A745249CA6E}"/>
              </a:ext>
            </a:extLst>
          </p:cNvPr>
          <p:cNvSpPr/>
          <p:nvPr/>
        </p:nvSpPr>
        <p:spPr>
          <a:xfrm>
            <a:off x="3506595" y="4611817"/>
            <a:ext cx="453347" cy="506148"/>
          </a:xfrm>
          <a:prstGeom prst="ellipse">
            <a:avLst/>
          </a:prstGeom>
          <a:noFill/>
          <a:ln w="28575"/>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Rectangle 9"/>
              <p:cNvSpPr>
                <a:spLocks noChangeArrowheads="1"/>
              </p:cNvSpPr>
              <p:nvPr/>
            </p:nvSpPr>
            <p:spPr bwMode="auto">
              <a:xfrm>
                <a:off x="133000" y="916774"/>
                <a:ext cx="8858600" cy="349172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spcBef>
                    <a:spcPct val="50000"/>
                  </a:spcBef>
                </a:pPr>
                <a:r>
                  <a:rPr lang="en-US" altLang="en-US" sz="1600" b="1" dirty="0">
                    <a:latin typeface="Helvetica" panose="020B0604020202020204" pitchFamily="34" charset="0"/>
                    <a:ea typeface="Helvetica Neue" charset="0"/>
                    <a:cs typeface="Helvetica" panose="020B0604020202020204" pitchFamily="34" charset="0"/>
                  </a:rPr>
                  <a:t>Logistic Regression With Replications</a:t>
                </a:r>
                <a:endParaRPr lang="en-US" altLang="en-US" sz="1600" dirty="0">
                  <a:latin typeface="Helvetica" panose="020B0604020202020204" pitchFamily="34" charset="0"/>
                  <a:ea typeface="Helvetica Neue" charset="0"/>
                  <a:cs typeface="Helvetica" panose="020B0604020202020204" pitchFamily="34" charset="0"/>
                </a:endParaRPr>
              </a:p>
              <a:p>
                <a:pPr marL="344488" indent="-344488">
                  <a:buFont typeface="Arial" panose="020B0604020202020204" pitchFamily="34" charset="0"/>
                  <a:buChar char="•"/>
                </a:pPr>
                <a14:m>
                  <m:oMath xmlns:m="http://schemas.openxmlformats.org/officeDocument/2006/math">
                    <m:sSub>
                      <m:sSubPr>
                        <m:ctrlPr>
                          <a:rPr lang="en-US" altLang="en-US" sz="1600" i="1">
                            <a:latin typeface="Cambria Math" panose="02040503050406030204" pitchFamily="18" charset="0"/>
                          </a:rPr>
                        </m:ctrlPr>
                      </m:sSubPr>
                      <m:e>
                        <m:r>
                          <a:rPr lang="en-US" altLang="en-US" sz="1600" b="1" i="1">
                            <a:latin typeface="Cambria Math" panose="02040503050406030204" pitchFamily="18" charset="0"/>
                          </a:rPr>
                          <m:t>𝒀</m:t>
                        </m:r>
                      </m:e>
                      <m:sub>
                        <m:r>
                          <a:rPr lang="en-US" altLang="en-US" sz="1600" i="1">
                            <a:latin typeface="Cambria Math" panose="02040503050406030204" pitchFamily="18" charset="0"/>
                          </a:rPr>
                          <m:t>𝑖</m:t>
                        </m:r>
                      </m:sub>
                    </m:sSub>
                  </m:oMath>
                </a14:m>
                <a:r>
                  <a:rPr lang="en-US" altLang="en-US" sz="1600" dirty="0">
                    <a:latin typeface="Helvetica" panose="020B0604020202020204" pitchFamily="34" charset="0"/>
                    <a:ea typeface="Helvetica Neue" charset="0"/>
                    <a:cs typeface="Helvetica" panose="020B0604020202020204" pitchFamily="34" charset="0"/>
                  </a:rPr>
                  <a:t> | </a:t>
                </a:r>
                <a14:m>
                  <m:oMath xmlns:m="http://schemas.openxmlformats.org/officeDocument/2006/math">
                    <m:sSub>
                      <m:sSubPr>
                        <m:ctrlPr>
                          <a:rPr lang="en-US" altLang="en-US" sz="1600" i="1">
                            <a:latin typeface="Cambria Math" panose="02040503050406030204" pitchFamily="18" charset="0"/>
                          </a:rPr>
                        </m:ctrlPr>
                      </m:sSubPr>
                      <m:e>
                        <m:r>
                          <a:rPr lang="en-US" altLang="en-US" sz="1600" b="1" i="1">
                            <a:latin typeface="Cambria Math" panose="02040503050406030204" pitchFamily="18" charset="0"/>
                          </a:rPr>
                          <m:t>𝑿</m:t>
                        </m:r>
                      </m:e>
                      <m:sub>
                        <m:r>
                          <a:rPr lang="en-US" altLang="en-US" sz="1600" i="1">
                            <a:latin typeface="Cambria Math" panose="02040503050406030204" pitchFamily="18" charset="0"/>
                          </a:rPr>
                          <m:t>𝑖</m:t>
                        </m:r>
                        <m:r>
                          <a:rPr lang="en-US" altLang="en-US" sz="1600" i="1">
                            <a:latin typeface="Cambria Math" panose="02040503050406030204" pitchFamily="18" charset="0"/>
                          </a:rPr>
                          <m:t>,1</m:t>
                        </m:r>
                      </m:sub>
                    </m:sSub>
                    <m:r>
                      <a:rPr lang="en-US" altLang="en-US" sz="1600" i="1">
                        <a:latin typeface="Cambria Math" panose="02040503050406030204" pitchFamily="18" charset="0"/>
                      </a:rPr>
                      <m:t>, </m:t>
                    </m:r>
                    <m:r>
                      <a:rPr lang="en-US" altLang="en-US" sz="1600" i="1">
                        <a:latin typeface="Cambria Math" panose="02040503050406030204" pitchFamily="18" charset="0"/>
                        <a:ea typeface="Cambria Math" panose="02040503050406030204" pitchFamily="18" charset="0"/>
                      </a:rPr>
                      <m:t>⋯,</m:t>
                    </m:r>
                    <m:sSub>
                      <m:sSubPr>
                        <m:ctrlPr>
                          <a:rPr lang="en-US" altLang="en-US" sz="1600" i="1">
                            <a:latin typeface="Cambria Math" panose="02040503050406030204" pitchFamily="18" charset="0"/>
                            <a:ea typeface="Cambria Math" panose="02040503050406030204" pitchFamily="18" charset="0"/>
                          </a:rPr>
                        </m:ctrlPr>
                      </m:sSubPr>
                      <m:e>
                        <m:r>
                          <a:rPr lang="en-US" altLang="en-US" sz="1600" b="1" i="1">
                            <a:latin typeface="Cambria Math" panose="02040503050406030204" pitchFamily="18" charset="0"/>
                          </a:rPr>
                          <m:t>𝑿</m:t>
                        </m:r>
                      </m:e>
                      <m:sub>
                        <m:r>
                          <a:rPr lang="en-US" altLang="en-US" sz="1600" i="1">
                            <a:latin typeface="Cambria Math" panose="02040503050406030204" pitchFamily="18" charset="0"/>
                            <a:ea typeface="Cambria Math" panose="02040503050406030204" pitchFamily="18" charset="0"/>
                          </a:rPr>
                          <m:t>𝑖</m:t>
                        </m:r>
                        <m:r>
                          <a:rPr lang="en-US" altLang="en-US" sz="1600" i="1">
                            <a:latin typeface="Cambria Math" panose="02040503050406030204" pitchFamily="18" charset="0"/>
                            <a:ea typeface="Cambria Math" panose="02040503050406030204" pitchFamily="18" charset="0"/>
                          </a:rPr>
                          <m:t>,</m:t>
                        </m:r>
                        <m:r>
                          <a:rPr lang="en-US" altLang="en-US" sz="1600" i="1">
                            <a:latin typeface="Cambria Math" panose="02040503050406030204" pitchFamily="18" charset="0"/>
                            <a:ea typeface="Cambria Math" panose="02040503050406030204" pitchFamily="18" charset="0"/>
                          </a:rPr>
                          <m:t>𝑝</m:t>
                        </m:r>
                      </m:sub>
                    </m:sSub>
                    <m:r>
                      <a:rPr lang="en-US" altLang="en-US" sz="1600" i="1">
                        <a:latin typeface="Cambria Math" panose="02040503050406030204" pitchFamily="18" charset="0"/>
                        <a:ea typeface="Cambria Math" panose="02040503050406030204" pitchFamily="18" charset="0"/>
                      </a:rPr>
                      <m:t> </m:t>
                    </m:r>
                  </m:oMath>
                </a14:m>
                <a:r>
                  <a:rPr lang="en-US" altLang="en-US" sz="1600" dirty="0">
                    <a:latin typeface="Helvetica" panose="020B0604020202020204" pitchFamily="34" charset="0"/>
                    <a:ea typeface="Helvetica Neue" charset="0"/>
                    <a:cs typeface="Helvetica" panose="020B0604020202020204" pitchFamily="34" charset="0"/>
                  </a:rPr>
                  <a:t>~ </a:t>
                </a:r>
                <a:r>
                  <a:rPr lang="en-US" altLang="en-US" sz="1600" dirty="0">
                    <a:latin typeface="Cambria Math" panose="02040503050406030204" pitchFamily="18" charset="0"/>
                    <a:ea typeface="Cambria Math" panose="02040503050406030204" pitchFamily="18" charset="0"/>
                    <a:cs typeface="Helvetica" panose="020B0604020202020204" pitchFamily="34" charset="0"/>
                  </a:rPr>
                  <a:t>Binomial</a:t>
                </a:r>
                <a14:m>
                  <m:oMath xmlns:m="http://schemas.openxmlformats.org/officeDocument/2006/math">
                    <m:d>
                      <m:dPr>
                        <m:ctrlPr>
                          <a:rPr lang="en-US" sz="1600" i="1">
                            <a:latin typeface="Cambria Math" panose="02040503050406030204" pitchFamily="18" charset="0"/>
                          </a:rPr>
                        </m:ctrlPr>
                      </m:dPr>
                      <m:e>
                        <m:sSub>
                          <m:sSubPr>
                            <m:ctrlPr>
                              <a:rPr lang="en-US" altLang="en-US" sz="1600" i="1">
                                <a:latin typeface="Cambria Math" panose="02040503050406030204" pitchFamily="18" charset="0"/>
                                <a:ea typeface="Cambria Math" panose="02040503050406030204" pitchFamily="18" charset="0"/>
                              </a:rPr>
                            </m:ctrlPr>
                          </m:sSubPr>
                          <m:e>
                            <m:r>
                              <a:rPr lang="en-US" altLang="en-US" sz="1600" i="1">
                                <a:latin typeface="Cambria Math" panose="02040503050406030204" pitchFamily="18" charset="0"/>
                                <a:ea typeface="Cambria Math" panose="02040503050406030204" pitchFamily="18" charset="0"/>
                              </a:rPr>
                              <m:t>𝑛</m:t>
                            </m:r>
                          </m:e>
                          <m:sub>
                            <m:r>
                              <a:rPr lang="en-US" altLang="en-US" sz="1600" i="1">
                                <a:latin typeface="Cambria Math" panose="02040503050406030204" pitchFamily="18" charset="0"/>
                                <a:ea typeface="Cambria Math" panose="02040503050406030204" pitchFamily="18" charset="0"/>
                              </a:rPr>
                              <m:t>𝑖</m:t>
                            </m:r>
                          </m:sub>
                        </m:sSub>
                        <m:r>
                          <a:rPr lang="en-US" sz="1600" i="1">
                            <a:latin typeface="Cambria Math" panose="02040503050406030204" pitchFamily="18" charset="0"/>
                          </a:rPr>
                          <m:t>, </m:t>
                        </m:r>
                        <m:r>
                          <m:rPr>
                            <m:sty m:val="p"/>
                          </m:rPr>
                          <a:rPr lang="en-US" sz="1600">
                            <a:latin typeface="Cambria Math" panose="02040503050406030204" pitchFamily="18" charset="0"/>
                            <a:ea typeface="Helvetica Neue" charset="0"/>
                            <a:cs typeface="Helvetica Neue" charset="0"/>
                          </a:rPr>
                          <m:t>p</m:t>
                        </m:r>
                        <m:d>
                          <m:dPr>
                            <m:ctrlPr>
                              <a:rPr lang="en-US" altLang="en-US" sz="1600" i="1">
                                <a:latin typeface="Cambria Math" panose="02040503050406030204" pitchFamily="18" charset="0"/>
                              </a:rPr>
                            </m:ctrlPr>
                          </m:dPr>
                          <m:e>
                            <m:sSub>
                              <m:sSubPr>
                                <m:ctrlPr>
                                  <a:rPr lang="en-US" altLang="en-US" sz="1600" i="1">
                                    <a:latin typeface="Cambria Math" panose="02040503050406030204" pitchFamily="18" charset="0"/>
                                  </a:rPr>
                                </m:ctrlPr>
                              </m:sSubPr>
                              <m:e>
                                <m:r>
                                  <a:rPr lang="en-US" altLang="en-US" sz="1600" b="1" i="1">
                                    <a:latin typeface="Cambria Math" panose="02040503050406030204" pitchFamily="18" charset="0"/>
                                  </a:rPr>
                                  <m:t>𝑿</m:t>
                                </m:r>
                              </m:e>
                              <m:sub>
                                <m:r>
                                  <a:rPr lang="en-US" altLang="en-US" sz="1600" i="1">
                                    <a:latin typeface="Cambria Math" panose="02040503050406030204" pitchFamily="18" charset="0"/>
                                  </a:rPr>
                                  <m:t>𝑖</m:t>
                                </m:r>
                                <m:r>
                                  <a:rPr lang="en-US" altLang="en-US" sz="1600" i="1">
                                    <a:latin typeface="Cambria Math" panose="02040503050406030204" pitchFamily="18" charset="0"/>
                                  </a:rPr>
                                  <m:t>,1</m:t>
                                </m:r>
                              </m:sub>
                            </m:sSub>
                            <m:r>
                              <a:rPr lang="en-US" altLang="en-US" sz="1600" i="1">
                                <a:latin typeface="Cambria Math" panose="02040503050406030204" pitchFamily="18" charset="0"/>
                              </a:rPr>
                              <m:t>, </m:t>
                            </m:r>
                            <m:r>
                              <a:rPr lang="en-US" altLang="en-US" sz="1600" i="1">
                                <a:latin typeface="Cambria Math" panose="02040503050406030204" pitchFamily="18" charset="0"/>
                                <a:ea typeface="Cambria Math" panose="02040503050406030204" pitchFamily="18" charset="0"/>
                              </a:rPr>
                              <m:t>⋯,</m:t>
                            </m:r>
                            <m:sSub>
                              <m:sSubPr>
                                <m:ctrlPr>
                                  <a:rPr lang="en-US" altLang="en-US" sz="1600" i="1">
                                    <a:latin typeface="Cambria Math" panose="02040503050406030204" pitchFamily="18" charset="0"/>
                                    <a:ea typeface="Cambria Math" panose="02040503050406030204" pitchFamily="18" charset="0"/>
                                  </a:rPr>
                                </m:ctrlPr>
                              </m:sSubPr>
                              <m:e>
                                <m:r>
                                  <a:rPr lang="en-US" altLang="en-US" sz="1600" b="1" i="1">
                                    <a:latin typeface="Cambria Math" panose="02040503050406030204" pitchFamily="18" charset="0"/>
                                  </a:rPr>
                                  <m:t>𝑿</m:t>
                                </m:r>
                              </m:e>
                              <m:sub>
                                <m:r>
                                  <a:rPr lang="en-US" altLang="en-US" sz="1600" i="1">
                                    <a:latin typeface="Cambria Math" panose="02040503050406030204" pitchFamily="18" charset="0"/>
                                    <a:ea typeface="Cambria Math" panose="02040503050406030204" pitchFamily="18" charset="0"/>
                                  </a:rPr>
                                  <m:t>𝑖</m:t>
                                </m:r>
                                <m:r>
                                  <a:rPr lang="en-US" altLang="en-US" sz="1600" i="1">
                                    <a:latin typeface="Cambria Math" panose="02040503050406030204" pitchFamily="18" charset="0"/>
                                    <a:ea typeface="Cambria Math" panose="02040503050406030204" pitchFamily="18" charset="0"/>
                                  </a:rPr>
                                  <m:t>,</m:t>
                                </m:r>
                                <m:r>
                                  <a:rPr lang="en-US" altLang="en-US" sz="1600" i="1">
                                    <a:latin typeface="Cambria Math" panose="02040503050406030204" pitchFamily="18" charset="0"/>
                                    <a:ea typeface="Cambria Math" panose="02040503050406030204" pitchFamily="18" charset="0"/>
                                  </a:rPr>
                                  <m:t>𝑝</m:t>
                                </m:r>
                              </m:sub>
                            </m:sSub>
                          </m:e>
                        </m:d>
                      </m:e>
                    </m:d>
                    <m:r>
                      <a:rPr lang="en-US" altLang="en-US" sz="1600" i="1">
                        <a:latin typeface="Cambria Math" panose="02040503050406030204" pitchFamily="18" charset="0"/>
                        <a:ea typeface="Cambria Math" panose="02040503050406030204" pitchFamily="18" charset="0"/>
                      </a:rPr>
                      <m:t>,</m:t>
                    </m:r>
                  </m:oMath>
                </a14:m>
                <a:r>
                  <a:rPr lang="en-US" altLang="en-US" sz="1600" dirty="0">
                    <a:latin typeface="Helvetica" panose="020B0604020202020204" pitchFamily="34" charset="0"/>
                    <a:ea typeface="Helvetica Neue" charset="0"/>
                    <a:cs typeface="Helvetica" panose="020B0604020202020204" pitchFamily="34" charset="0"/>
                  </a:rPr>
                  <a:t> </a:t>
                </a:r>
                <a14:m>
                  <m:oMath xmlns:m="http://schemas.openxmlformats.org/officeDocument/2006/math">
                    <m:sSub>
                      <m:sSubPr>
                        <m:ctrlPr>
                          <a:rPr lang="en-US" altLang="en-US" sz="1600" i="1">
                            <a:latin typeface="Cambria Math" panose="02040503050406030204" pitchFamily="18" charset="0"/>
                            <a:ea typeface="Cambria Math" panose="02040503050406030204" pitchFamily="18" charset="0"/>
                          </a:rPr>
                        </m:ctrlPr>
                      </m:sSubPr>
                      <m:e>
                        <m:r>
                          <a:rPr lang="en-US" altLang="en-US" sz="1600" i="1">
                            <a:latin typeface="Cambria Math" panose="02040503050406030204" pitchFamily="18" charset="0"/>
                            <a:ea typeface="Cambria Math" panose="02040503050406030204" pitchFamily="18" charset="0"/>
                          </a:rPr>
                          <m:t>𝑛</m:t>
                        </m:r>
                      </m:e>
                      <m:sub>
                        <m:r>
                          <a:rPr lang="en-US" altLang="en-US" sz="1600" i="1">
                            <a:latin typeface="Cambria Math" panose="02040503050406030204" pitchFamily="18" charset="0"/>
                            <a:ea typeface="Cambria Math" panose="02040503050406030204" pitchFamily="18" charset="0"/>
                          </a:rPr>
                          <m:t>𝑖</m:t>
                        </m:r>
                      </m:sub>
                    </m:sSub>
                    <m:r>
                      <a:rPr lang="en-US" altLang="en-US" sz="1600" i="1">
                        <a:latin typeface="Cambria Math" panose="02040503050406030204" pitchFamily="18" charset="0"/>
                        <a:ea typeface="Cambria Math" panose="02040503050406030204" pitchFamily="18" charset="0"/>
                      </a:rPr>
                      <m:t>&gt;</m:t>
                    </m:r>
                    <m:r>
                      <a:rPr lang="en-US" altLang="en-US" sz="1600" dirty="0">
                        <a:latin typeface="Cambria Math" panose="02040503050406030204" pitchFamily="18" charset="0"/>
                        <a:ea typeface="Cambria Math" panose="02040503050406030204" pitchFamily="18" charset="0"/>
                      </a:rPr>
                      <m:t>1</m:t>
                    </m:r>
                  </m:oMath>
                </a14:m>
                <a:r>
                  <a:rPr lang="en-US" altLang="en-US" sz="1600" dirty="0">
                    <a:latin typeface="Helvetica" panose="020B0604020202020204" pitchFamily="34" charset="0"/>
                    <a:ea typeface="Helvetica Neue" charset="0"/>
                    <a:cs typeface="Helvetica" panose="020B0604020202020204" pitchFamily="34" charset="0"/>
                  </a:rPr>
                  <a:t>               </a:t>
                </a:r>
              </a:p>
              <a:p>
                <a:pPr marL="344488" indent="-344488">
                  <a:spcBef>
                    <a:spcPts val="1200"/>
                  </a:spcBef>
                  <a:buFont typeface="Arial" panose="020B0604020202020204" pitchFamily="34" charset="0"/>
                  <a:buChar char="•"/>
                </a:pPr>
                <a:r>
                  <a:rPr lang="en-US" altLang="en-US" sz="1600" dirty="0">
                    <a:latin typeface="Helvetica" panose="020B0604020202020204" pitchFamily="34" charset="0"/>
                    <a:ea typeface="Helvetica Neue" charset="0"/>
                    <a:cs typeface="Helvetica" panose="020B0604020202020204" pitchFamily="34" charset="0"/>
                  </a:rPr>
                  <a:t>Estimated probabilities are:</a:t>
                </a:r>
              </a:p>
              <a:p>
                <a:pPr marL="746125"/>
                <a14:m>
                  <m:oMath xmlns:m="http://schemas.openxmlformats.org/officeDocument/2006/math">
                    <m:sSub>
                      <m:sSubPr>
                        <m:ctrlPr>
                          <a:rPr lang="en-US" sz="1600" i="1">
                            <a:latin typeface="Cambria Math" panose="02040503050406030204" pitchFamily="18" charset="0"/>
                            <a:ea typeface="Cambria Math" panose="02040503050406030204" pitchFamily="18" charset="0"/>
                          </a:rPr>
                        </m:ctrlPr>
                      </m:sSubPr>
                      <m:e>
                        <m:acc>
                          <m:accPr>
                            <m:chr m:val="̂"/>
                            <m:ctrlPr>
                              <a:rPr lang="en-US" sz="1600" i="1">
                                <a:latin typeface="Cambria Math" panose="02040503050406030204" pitchFamily="18" charset="0"/>
                                <a:ea typeface="Cambria Math" panose="02040503050406030204" pitchFamily="18" charset="0"/>
                              </a:rPr>
                            </m:ctrlPr>
                          </m:accPr>
                          <m:e>
                            <m:r>
                              <m:rPr>
                                <m:nor/>
                              </m:rPr>
                              <a:rPr lang="en-US" sz="1600">
                                <a:latin typeface="Helvetica" panose="020B0604020202020204" pitchFamily="34" charset="0"/>
                                <a:ea typeface="Cambria Math" panose="02040503050406030204" pitchFamily="18" charset="0"/>
                                <a:cs typeface="Helvetica" panose="020B0604020202020204" pitchFamily="34" charset="0"/>
                              </a:rPr>
                              <m:t>p</m:t>
                            </m:r>
                          </m:e>
                        </m:acc>
                      </m:e>
                      <m:sub>
                        <m:r>
                          <a:rPr lang="en-US" sz="1600" i="1">
                            <a:latin typeface="Cambria Math" panose="02040503050406030204" pitchFamily="18" charset="0"/>
                            <a:ea typeface="Cambria Math" panose="02040503050406030204" pitchFamily="18" charset="0"/>
                          </a:rPr>
                          <m:t>𝑖</m:t>
                        </m:r>
                      </m:sub>
                    </m:sSub>
                    <m:r>
                      <a:rPr lang="en-US" altLang="en-US" sz="1600" i="1">
                        <a:latin typeface="Cambria Math" panose="02040503050406030204" pitchFamily="18" charset="0"/>
                      </a:rPr>
                      <m:t>=</m:t>
                    </m:r>
                    <m:sSub>
                      <m:sSubPr>
                        <m:ctrlPr>
                          <a:rPr lang="en-US" sz="1600" i="1">
                            <a:latin typeface="Cambria Math" panose="02040503050406030204" pitchFamily="18" charset="0"/>
                            <a:ea typeface="Cambria Math" panose="02040503050406030204" pitchFamily="18" charset="0"/>
                          </a:rPr>
                        </m:ctrlPr>
                      </m:sSubPr>
                      <m:e>
                        <m:acc>
                          <m:accPr>
                            <m:chr m:val="̂"/>
                            <m:ctrlPr>
                              <a:rPr lang="en-US" sz="1600" i="1">
                                <a:latin typeface="Cambria Math" panose="02040503050406030204" pitchFamily="18" charset="0"/>
                                <a:ea typeface="Cambria Math" panose="02040503050406030204" pitchFamily="18" charset="0"/>
                              </a:rPr>
                            </m:ctrlPr>
                          </m:accPr>
                          <m:e>
                            <m:r>
                              <m:rPr>
                                <m:nor/>
                              </m:rPr>
                              <a:rPr lang="en-US" sz="1600" b="0" i="0" smtClean="0">
                                <a:latin typeface="Helvetica" panose="020B0604020202020204" pitchFamily="34" charset="0"/>
                                <a:ea typeface="Cambria Math" panose="02040503050406030204" pitchFamily="18" charset="0"/>
                                <a:cs typeface="Helvetica" panose="020B0604020202020204" pitchFamily="34" charset="0"/>
                              </a:rPr>
                              <m:t>p</m:t>
                            </m:r>
                          </m:e>
                        </m:acc>
                      </m:e>
                      <m:sub>
                        <m:r>
                          <a:rPr lang="en-US" sz="1600" i="1">
                            <a:latin typeface="Cambria Math" panose="02040503050406030204" pitchFamily="18" charset="0"/>
                            <a:ea typeface="Cambria Math" panose="02040503050406030204" pitchFamily="18" charset="0"/>
                          </a:rPr>
                          <m:t>𝑖</m:t>
                        </m:r>
                      </m:sub>
                    </m:sSub>
                    <m:d>
                      <m:dPr>
                        <m:ctrlPr>
                          <a:rPr lang="en-US" altLang="en-US" sz="1600" i="1">
                            <a:latin typeface="Cambria Math" panose="02040503050406030204" pitchFamily="18" charset="0"/>
                          </a:rPr>
                        </m:ctrlPr>
                      </m:dPr>
                      <m:e>
                        <m:sSub>
                          <m:sSubPr>
                            <m:ctrlPr>
                              <a:rPr lang="en-US" altLang="en-US" sz="1600" i="1">
                                <a:latin typeface="Cambria Math" panose="02040503050406030204" pitchFamily="18" charset="0"/>
                              </a:rPr>
                            </m:ctrlPr>
                          </m:sSubPr>
                          <m:e>
                            <m:r>
                              <a:rPr lang="en-US" altLang="en-US" sz="1600" b="1" i="1">
                                <a:latin typeface="Cambria Math" panose="02040503050406030204" pitchFamily="18" charset="0"/>
                              </a:rPr>
                              <m:t>𝑿</m:t>
                            </m:r>
                          </m:e>
                          <m:sub>
                            <m:r>
                              <a:rPr lang="en-US" altLang="en-US" sz="1600" i="1">
                                <a:latin typeface="Cambria Math" panose="02040503050406030204" pitchFamily="18" charset="0"/>
                              </a:rPr>
                              <m:t>𝑖</m:t>
                            </m:r>
                            <m:r>
                              <a:rPr lang="en-US" altLang="en-US" sz="1600" i="1">
                                <a:latin typeface="Cambria Math" panose="02040503050406030204" pitchFamily="18" charset="0"/>
                              </a:rPr>
                              <m:t>,1</m:t>
                            </m:r>
                          </m:sub>
                        </m:sSub>
                        <m:r>
                          <a:rPr lang="en-US" altLang="en-US" sz="1600" i="1">
                            <a:latin typeface="Cambria Math" panose="02040503050406030204" pitchFamily="18" charset="0"/>
                          </a:rPr>
                          <m:t>, </m:t>
                        </m:r>
                        <m:r>
                          <a:rPr lang="en-US" altLang="en-US" sz="1600" i="1">
                            <a:latin typeface="Cambria Math" panose="02040503050406030204" pitchFamily="18" charset="0"/>
                            <a:ea typeface="Cambria Math" panose="02040503050406030204" pitchFamily="18" charset="0"/>
                          </a:rPr>
                          <m:t>⋯,</m:t>
                        </m:r>
                        <m:sSub>
                          <m:sSubPr>
                            <m:ctrlPr>
                              <a:rPr lang="en-US" altLang="en-US" sz="1600" i="1">
                                <a:latin typeface="Cambria Math" panose="02040503050406030204" pitchFamily="18" charset="0"/>
                                <a:ea typeface="Cambria Math" panose="02040503050406030204" pitchFamily="18" charset="0"/>
                              </a:rPr>
                            </m:ctrlPr>
                          </m:sSubPr>
                          <m:e>
                            <m:r>
                              <a:rPr lang="en-US" altLang="en-US" sz="1600" b="1" i="1">
                                <a:latin typeface="Cambria Math" panose="02040503050406030204" pitchFamily="18" charset="0"/>
                              </a:rPr>
                              <m:t>𝑿</m:t>
                            </m:r>
                          </m:e>
                          <m:sub>
                            <m:r>
                              <a:rPr lang="en-US" altLang="en-US" sz="1600" i="1">
                                <a:latin typeface="Cambria Math" panose="02040503050406030204" pitchFamily="18" charset="0"/>
                                <a:ea typeface="Cambria Math" panose="02040503050406030204" pitchFamily="18" charset="0"/>
                              </a:rPr>
                              <m:t>𝑖</m:t>
                            </m:r>
                            <m:r>
                              <a:rPr lang="en-US" altLang="en-US" sz="1600" i="1">
                                <a:latin typeface="Cambria Math" panose="02040503050406030204" pitchFamily="18" charset="0"/>
                                <a:ea typeface="Cambria Math" panose="02040503050406030204" pitchFamily="18" charset="0"/>
                              </a:rPr>
                              <m:t>,</m:t>
                            </m:r>
                            <m:r>
                              <a:rPr lang="en-US" altLang="en-US" sz="1600" i="1">
                                <a:latin typeface="Cambria Math" panose="02040503050406030204" pitchFamily="18" charset="0"/>
                                <a:ea typeface="Cambria Math" panose="02040503050406030204" pitchFamily="18" charset="0"/>
                              </a:rPr>
                              <m:t>𝑝</m:t>
                            </m:r>
                          </m:sub>
                        </m:sSub>
                      </m:e>
                    </m:d>
                    <m:r>
                      <a:rPr lang="en-US" sz="1600" i="1">
                        <a:solidFill>
                          <a:srgbClr val="000000"/>
                        </a:solidFill>
                        <a:latin typeface="Cambria Math" panose="02040503050406030204" pitchFamily="18" charset="0"/>
                        <a:cs typeface="Helvetica"/>
                      </a:rPr>
                      <m:t>=</m:t>
                    </m:r>
                  </m:oMath>
                </a14:m>
                <a:r>
                  <a:rPr lang="en-US" altLang="en-US" sz="1600" dirty="0">
                    <a:latin typeface="Helvetica" panose="020B0604020202020204" pitchFamily="34" charset="0"/>
                    <a:ea typeface="Helvetica Neue" charset="0"/>
                    <a:cs typeface="Helvetica" panose="020B0604020202020204" pitchFamily="34" charset="0"/>
                  </a:rPr>
                  <a:t> </a:t>
                </a:r>
                <a14:m>
                  <m:oMath xmlns:m="http://schemas.openxmlformats.org/officeDocument/2006/math">
                    <m:f>
                      <m:fPr>
                        <m:ctrlPr>
                          <a:rPr lang="en-US" sz="2000" i="1">
                            <a:solidFill>
                              <a:srgbClr val="000000"/>
                            </a:solidFill>
                            <a:latin typeface="Cambria Math" panose="02040503050406030204" pitchFamily="18" charset="0"/>
                            <a:cs typeface="Helvetica"/>
                          </a:rPr>
                        </m:ctrlPr>
                      </m:fPr>
                      <m:num>
                        <m:sSup>
                          <m:sSupPr>
                            <m:ctrlPr>
                              <a:rPr lang="en-US" sz="2000" i="1">
                                <a:solidFill>
                                  <a:srgbClr val="000000"/>
                                </a:solidFill>
                                <a:latin typeface="Cambria Math" panose="02040503050406030204" pitchFamily="18" charset="0"/>
                                <a:cs typeface="Helvetica"/>
                              </a:rPr>
                            </m:ctrlPr>
                          </m:sSupPr>
                          <m:e>
                            <m:r>
                              <m:rPr>
                                <m:sty m:val="p"/>
                              </m:rPr>
                              <a:rPr lang="en-US" sz="2000">
                                <a:solidFill>
                                  <a:srgbClr val="000000"/>
                                </a:solidFill>
                                <a:latin typeface="Cambria Math" panose="02040503050406030204" pitchFamily="18" charset="0"/>
                                <a:cs typeface="Helvetica"/>
                              </a:rPr>
                              <m:t>e</m:t>
                            </m:r>
                          </m:e>
                          <m:sup>
                            <m:acc>
                              <m:accPr>
                                <m:chr m:val="̂"/>
                                <m:ctrlPr>
                                  <a:rPr lang="en-US" sz="2000" i="1" smtClean="0">
                                    <a:solidFill>
                                      <a:srgbClr val="000000"/>
                                    </a:solidFill>
                                    <a:latin typeface="Cambria Math" panose="02040503050406030204" pitchFamily="18" charset="0"/>
                                    <a:cs typeface="Helvetica"/>
                                  </a:rPr>
                                </m:ctrlPr>
                              </m:accPr>
                              <m:e>
                                <m:sSub>
                                  <m:sSubPr>
                                    <m:ctrlPr>
                                      <a:rPr lang="en-US" altLang="en-US" sz="2000" i="1" dirty="0">
                                        <a:latin typeface="Cambria Math" panose="02040503050406030204" pitchFamily="18" charset="0"/>
                                        <a:ea typeface="Cambria Math" panose="02040503050406030204" pitchFamily="18" charset="0"/>
                                      </a:rPr>
                                    </m:ctrlPr>
                                  </m:sSubPr>
                                  <m:e>
                                    <m:r>
                                      <a:rPr lang="en-US" altLang="en-US" sz="2000" i="1" dirty="0">
                                        <a:latin typeface="Cambria Math" panose="02040503050406030204" pitchFamily="18" charset="0"/>
                                        <a:ea typeface="Cambria Math" panose="02040503050406030204" pitchFamily="18" charset="0"/>
                                      </a:rPr>
                                      <m:t>𝛽</m:t>
                                    </m:r>
                                  </m:e>
                                  <m:sub>
                                    <m:r>
                                      <a:rPr lang="en-US" altLang="en-US" sz="2000" i="1" dirty="0">
                                        <a:latin typeface="Cambria Math" panose="02040503050406030204" pitchFamily="18" charset="0"/>
                                        <a:ea typeface="Cambria Math" panose="02040503050406030204" pitchFamily="18" charset="0"/>
                                      </a:rPr>
                                      <m:t>0</m:t>
                                    </m:r>
                                  </m:sub>
                                </m:sSub>
                              </m:e>
                            </m:acc>
                            <m:r>
                              <a:rPr lang="en-US" altLang="en-US" sz="2000" i="1" dirty="0">
                                <a:latin typeface="Cambria Math" panose="02040503050406030204" pitchFamily="18" charset="0"/>
                                <a:ea typeface="Cambria Math" panose="02040503050406030204" pitchFamily="18" charset="0"/>
                              </a:rPr>
                              <m:t>+</m:t>
                            </m:r>
                            <m:acc>
                              <m:accPr>
                                <m:chr m:val="̂"/>
                                <m:ctrlPr>
                                  <a:rPr lang="en-US" altLang="en-US" sz="2000" i="1" dirty="0" smtClean="0">
                                    <a:solidFill>
                                      <a:srgbClr val="000000"/>
                                    </a:solidFill>
                                    <a:latin typeface="Cambria Math" panose="02040503050406030204" pitchFamily="18" charset="0"/>
                                    <a:ea typeface="Cambria Math" panose="02040503050406030204" pitchFamily="18" charset="0"/>
                                    <a:cs typeface="Helvetica"/>
                                  </a:rPr>
                                </m:ctrlPr>
                              </m:accPr>
                              <m:e>
                                <m:sSub>
                                  <m:sSubPr>
                                    <m:ctrlPr>
                                      <a:rPr lang="en-US" altLang="en-US" sz="2000" i="1" dirty="0">
                                        <a:latin typeface="Cambria Math" panose="02040503050406030204" pitchFamily="18" charset="0"/>
                                        <a:ea typeface="Cambria Math" panose="02040503050406030204" pitchFamily="18" charset="0"/>
                                      </a:rPr>
                                    </m:ctrlPr>
                                  </m:sSubPr>
                                  <m:e>
                                    <m:r>
                                      <a:rPr lang="en-US" altLang="en-US" sz="2000" i="1" dirty="0">
                                        <a:latin typeface="Cambria Math" panose="02040503050406030204" pitchFamily="18" charset="0"/>
                                        <a:ea typeface="Cambria Math" panose="02040503050406030204" pitchFamily="18" charset="0"/>
                                      </a:rPr>
                                      <m:t>𝛽</m:t>
                                    </m:r>
                                  </m:e>
                                  <m:sub>
                                    <m:r>
                                      <a:rPr lang="en-US" altLang="en-US" sz="2000" i="1" dirty="0">
                                        <a:latin typeface="Cambria Math" panose="02040503050406030204" pitchFamily="18" charset="0"/>
                                        <a:ea typeface="Cambria Math" panose="02040503050406030204" pitchFamily="18" charset="0"/>
                                      </a:rPr>
                                      <m:t>1</m:t>
                                    </m:r>
                                  </m:sub>
                                </m:sSub>
                              </m:e>
                            </m:acc>
                            <m:sSub>
                              <m:sSubPr>
                                <m:ctrlPr>
                                  <a:rPr lang="en-US" altLang="en-US" sz="2000" i="1">
                                    <a:latin typeface="Cambria Math" panose="02040503050406030204" pitchFamily="18" charset="0"/>
                                  </a:rPr>
                                </m:ctrlPr>
                              </m:sSubPr>
                              <m:e>
                                <m:r>
                                  <a:rPr lang="en-US" altLang="en-US" sz="2000" b="1" i="1">
                                    <a:latin typeface="Cambria Math" panose="02040503050406030204" pitchFamily="18" charset="0"/>
                                  </a:rPr>
                                  <m:t>𝑿</m:t>
                                </m:r>
                              </m:e>
                              <m:sub>
                                <m:r>
                                  <a:rPr lang="en-US" altLang="en-US" sz="2000" i="1">
                                    <a:latin typeface="Cambria Math" panose="02040503050406030204" pitchFamily="18" charset="0"/>
                                  </a:rPr>
                                  <m:t>𝑖</m:t>
                                </m:r>
                                <m:r>
                                  <a:rPr lang="en-US" altLang="en-US" sz="2000" i="1">
                                    <a:latin typeface="Cambria Math" panose="02040503050406030204" pitchFamily="18" charset="0"/>
                                  </a:rPr>
                                  <m:t>,1</m:t>
                                </m:r>
                              </m:sub>
                            </m:sSub>
                            <m:r>
                              <a:rPr lang="en-US" altLang="en-US" sz="2000" i="1" dirty="0">
                                <a:latin typeface="Cambria Math" panose="02040503050406030204" pitchFamily="18" charset="0"/>
                                <a:ea typeface="Cambria Math" panose="02040503050406030204" pitchFamily="18" charset="0"/>
                              </a:rPr>
                              <m:t>+⋯+</m:t>
                            </m:r>
                            <m:acc>
                              <m:accPr>
                                <m:chr m:val="̂"/>
                                <m:ctrlPr>
                                  <a:rPr lang="en-US" altLang="en-US" sz="2000" i="1" dirty="0" smtClean="0">
                                    <a:solidFill>
                                      <a:srgbClr val="000000"/>
                                    </a:solidFill>
                                    <a:latin typeface="Cambria Math" panose="02040503050406030204" pitchFamily="18" charset="0"/>
                                    <a:ea typeface="Cambria Math" panose="02040503050406030204" pitchFamily="18" charset="0"/>
                                    <a:cs typeface="Helvetica"/>
                                  </a:rPr>
                                </m:ctrlPr>
                              </m:accPr>
                              <m:e>
                                <m:sSub>
                                  <m:sSubPr>
                                    <m:ctrlPr>
                                      <a:rPr lang="en-US" altLang="en-US" sz="2000" i="1" dirty="0">
                                        <a:latin typeface="Cambria Math" panose="02040503050406030204" pitchFamily="18" charset="0"/>
                                        <a:ea typeface="Cambria Math" panose="02040503050406030204" pitchFamily="18" charset="0"/>
                                      </a:rPr>
                                    </m:ctrlPr>
                                  </m:sSubPr>
                                  <m:e>
                                    <m:r>
                                      <a:rPr lang="en-US" altLang="en-US" sz="2000" i="1" dirty="0">
                                        <a:latin typeface="Cambria Math" panose="02040503050406030204" pitchFamily="18" charset="0"/>
                                        <a:ea typeface="Cambria Math" panose="02040503050406030204" pitchFamily="18" charset="0"/>
                                      </a:rPr>
                                      <m:t>𝛽</m:t>
                                    </m:r>
                                  </m:e>
                                  <m:sub>
                                    <m:r>
                                      <a:rPr lang="en-US" altLang="en-US" sz="2000" i="1" dirty="0">
                                        <a:latin typeface="Cambria Math" panose="02040503050406030204" pitchFamily="18" charset="0"/>
                                        <a:ea typeface="Cambria Math" panose="02040503050406030204" pitchFamily="18" charset="0"/>
                                      </a:rPr>
                                      <m:t>𝑝</m:t>
                                    </m:r>
                                  </m:sub>
                                </m:sSub>
                              </m:e>
                            </m:acc>
                            <m:sSub>
                              <m:sSubPr>
                                <m:ctrlPr>
                                  <a:rPr lang="en-US" altLang="en-US" sz="2000" i="1">
                                    <a:latin typeface="Cambria Math" panose="02040503050406030204" pitchFamily="18" charset="0"/>
                                    <a:ea typeface="Cambria Math" panose="02040503050406030204" pitchFamily="18" charset="0"/>
                                  </a:rPr>
                                </m:ctrlPr>
                              </m:sSubPr>
                              <m:e>
                                <m:r>
                                  <a:rPr lang="en-US" altLang="en-US" sz="2000" b="1" i="1">
                                    <a:latin typeface="Cambria Math" panose="02040503050406030204" pitchFamily="18" charset="0"/>
                                  </a:rPr>
                                  <m:t>𝑿</m:t>
                                </m:r>
                              </m:e>
                              <m:sub>
                                <m:r>
                                  <a:rPr lang="en-US" altLang="en-US" sz="2000" i="1">
                                    <a:latin typeface="Cambria Math" panose="02040503050406030204" pitchFamily="18" charset="0"/>
                                    <a:ea typeface="Cambria Math" panose="02040503050406030204" pitchFamily="18" charset="0"/>
                                  </a:rPr>
                                  <m:t>𝑖</m:t>
                                </m:r>
                                <m:r>
                                  <a:rPr lang="en-US" altLang="en-US" sz="2000" i="1">
                                    <a:latin typeface="Cambria Math" panose="02040503050406030204" pitchFamily="18" charset="0"/>
                                    <a:ea typeface="Cambria Math" panose="02040503050406030204" pitchFamily="18" charset="0"/>
                                  </a:rPr>
                                  <m:t>,</m:t>
                                </m:r>
                                <m:r>
                                  <a:rPr lang="en-US" altLang="en-US" sz="2000" i="1">
                                    <a:latin typeface="Cambria Math" panose="02040503050406030204" pitchFamily="18" charset="0"/>
                                    <a:ea typeface="Cambria Math" panose="02040503050406030204" pitchFamily="18" charset="0"/>
                                  </a:rPr>
                                  <m:t>𝑝</m:t>
                                </m:r>
                              </m:sub>
                            </m:sSub>
                          </m:sup>
                        </m:sSup>
                      </m:num>
                      <m:den>
                        <m:r>
                          <a:rPr lang="en-US" sz="2000" i="1">
                            <a:solidFill>
                              <a:srgbClr val="000000"/>
                            </a:solidFill>
                            <a:latin typeface="Cambria Math" panose="02040503050406030204" pitchFamily="18" charset="0"/>
                            <a:cs typeface="Helvetica"/>
                          </a:rPr>
                          <m:t>1+</m:t>
                        </m:r>
                        <m:sSup>
                          <m:sSupPr>
                            <m:ctrlPr>
                              <a:rPr lang="en-US" sz="2000" i="1">
                                <a:solidFill>
                                  <a:srgbClr val="000000"/>
                                </a:solidFill>
                                <a:latin typeface="Cambria Math" panose="02040503050406030204" pitchFamily="18" charset="0"/>
                                <a:cs typeface="Helvetica"/>
                              </a:rPr>
                            </m:ctrlPr>
                          </m:sSupPr>
                          <m:e>
                            <m:r>
                              <m:rPr>
                                <m:sty m:val="p"/>
                              </m:rPr>
                              <a:rPr lang="en-US" sz="2000">
                                <a:solidFill>
                                  <a:srgbClr val="000000"/>
                                </a:solidFill>
                                <a:latin typeface="Cambria Math" panose="02040503050406030204" pitchFamily="18" charset="0"/>
                                <a:cs typeface="Helvetica"/>
                              </a:rPr>
                              <m:t>e</m:t>
                            </m:r>
                          </m:e>
                          <m:sup>
                            <m:acc>
                              <m:accPr>
                                <m:chr m:val="̂"/>
                                <m:ctrlPr>
                                  <a:rPr lang="en-US" sz="2000" i="1">
                                    <a:solidFill>
                                      <a:srgbClr val="000000"/>
                                    </a:solidFill>
                                    <a:latin typeface="Cambria Math" panose="02040503050406030204" pitchFamily="18" charset="0"/>
                                    <a:cs typeface="Helvetica"/>
                                  </a:rPr>
                                </m:ctrlPr>
                              </m:accPr>
                              <m:e>
                                <m:sSub>
                                  <m:sSubPr>
                                    <m:ctrlPr>
                                      <a:rPr lang="en-US" altLang="en-US" sz="2000" i="1" dirty="0">
                                        <a:latin typeface="Cambria Math" panose="02040503050406030204" pitchFamily="18" charset="0"/>
                                        <a:ea typeface="Cambria Math" panose="02040503050406030204" pitchFamily="18" charset="0"/>
                                      </a:rPr>
                                    </m:ctrlPr>
                                  </m:sSubPr>
                                  <m:e>
                                    <m:r>
                                      <a:rPr lang="en-US" altLang="en-US" sz="2000" i="1" dirty="0">
                                        <a:latin typeface="Cambria Math" panose="02040503050406030204" pitchFamily="18" charset="0"/>
                                        <a:ea typeface="Cambria Math" panose="02040503050406030204" pitchFamily="18" charset="0"/>
                                      </a:rPr>
                                      <m:t>𝛽</m:t>
                                    </m:r>
                                  </m:e>
                                  <m:sub>
                                    <m:r>
                                      <a:rPr lang="en-US" altLang="en-US" sz="2000" i="1" dirty="0">
                                        <a:latin typeface="Cambria Math" panose="02040503050406030204" pitchFamily="18" charset="0"/>
                                        <a:ea typeface="Cambria Math" panose="02040503050406030204" pitchFamily="18" charset="0"/>
                                      </a:rPr>
                                      <m:t>0</m:t>
                                    </m:r>
                                  </m:sub>
                                </m:sSub>
                              </m:e>
                            </m:acc>
                            <m:r>
                              <a:rPr lang="en-US" altLang="en-US" sz="2000" i="1" dirty="0">
                                <a:latin typeface="Cambria Math" panose="02040503050406030204" pitchFamily="18" charset="0"/>
                                <a:ea typeface="Cambria Math" panose="02040503050406030204" pitchFamily="18" charset="0"/>
                              </a:rPr>
                              <m:t>+</m:t>
                            </m:r>
                            <m:acc>
                              <m:accPr>
                                <m:chr m:val="̂"/>
                                <m:ctrlPr>
                                  <a:rPr lang="en-US" altLang="en-US" sz="2000" i="1" dirty="0">
                                    <a:solidFill>
                                      <a:srgbClr val="000000"/>
                                    </a:solidFill>
                                    <a:latin typeface="Cambria Math" panose="02040503050406030204" pitchFamily="18" charset="0"/>
                                    <a:ea typeface="Cambria Math" panose="02040503050406030204" pitchFamily="18" charset="0"/>
                                    <a:cs typeface="Helvetica"/>
                                  </a:rPr>
                                </m:ctrlPr>
                              </m:accPr>
                              <m:e>
                                <m:sSub>
                                  <m:sSubPr>
                                    <m:ctrlPr>
                                      <a:rPr lang="en-US" altLang="en-US" sz="2000" i="1" dirty="0">
                                        <a:latin typeface="Cambria Math" panose="02040503050406030204" pitchFamily="18" charset="0"/>
                                        <a:ea typeface="Cambria Math" panose="02040503050406030204" pitchFamily="18" charset="0"/>
                                      </a:rPr>
                                    </m:ctrlPr>
                                  </m:sSubPr>
                                  <m:e>
                                    <m:r>
                                      <a:rPr lang="en-US" altLang="en-US" sz="2000" i="1" dirty="0">
                                        <a:latin typeface="Cambria Math" panose="02040503050406030204" pitchFamily="18" charset="0"/>
                                        <a:ea typeface="Cambria Math" panose="02040503050406030204" pitchFamily="18" charset="0"/>
                                      </a:rPr>
                                      <m:t>𝛽</m:t>
                                    </m:r>
                                  </m:e>
                                  <m:sub>
                                    <m:r>
                                      <a:rPr lang="en-US" altLang="en-US" sz="2000" i="1" dirty="0">
                                        <a:latin typeface="Cambria Math" panose="02040503050406030204" pitchFamily="18" charset="0"/>
                                        <a:ea typeface="Cambria Math" panose="02040503050406030204" pitchFamily="18" charset="0"/>
                                      </a:rPr>
                                      <m:t>1</m:t>
                                    </m:r>
                                  </m:sub>
                                </m:sSub>
                              </m:e>
                            </m:acc>
                            <m:sSub>
                              <m:sSubPr>
                                <m:ctrlPr>
                                  <a:rPr lang="en-US" altLang="en-US" sz="2000" i="1">
                                    <a:latin typeface="Cambria Math" panose="02040503050406030204" pitchFamily="18" charset="0"/>
                                  </a:rPr>
                                </m:ctrlPr>
                              </m:sSubPr>
                              <m:e>
                                <m:r>
                                  <a:rPr lang="en-US" altLang="en-US" sz="2000" b="1" i="1">
                                    <a:latin typeface="Cambria Math" panose="02040503050406030204" pitchFamily="18" charset="0"/>
                                  </a:rPr>
                                  <m:t>𝑿</m:t>
                                </m:r>
                              </m:e>
                              <m:sub>
                                <m:r>
                                  <a:rPr lang="en-US" altLang="en-US" sz="2000" i="1">
                                    <a:latin typeface="Cambria Math" panose="02040503050406030204" pitchFamily="18" charset="0"/>
                                  </a:rPr>
                                  <m:t>𝑖</m:t>
                                </m:r>
                                <m:r>
                                  <a:rPr lang="en-US" altLang="en-US" sz="2000" i="1">
                                    <a:latin typeface="Cambria Math" panose="02040503050406030204" pitchFamily="18" charset="0"/>
                                  </a:rPr>
                                  <m:t>,1</m:t>
                                </m:r>
                              </m:sub>
                            </m:sSub>
                            <m:r>
                              <a:rPr lang="en-US" altLang="en-US" sz="2000" i="1" dirty="0">
                                <a:latin typeface="Cambria Math" panose="02040503050406030204" pitchFamily="18" charset="0"/>
                                <a:ea typeface="Cambria Math" panose="02040503050406030204" pitchFamily="18" charset="0"/>
                              </a:rPr>
                              <m:t>+⋯+</m:t>
                            </m:r>
                            <m:acc>
                              <m:accPr>
                                <m:chr m:val="̂"/>
                                <m:ctrlPr>
                                  <a:rPr lang="en-US" altLang="en-US" sz="2000" i="1" dirty="0">
                                    <a:solidFill>
                                      <a:srgbClr val="000000"/>
                                    </a:solidFill>
                                    <a:latin typeface="Cambria Math" panose="02040503050406030204" pitchFamily="18" charset="0"/>
                                    <a:ea typeface="Cambria Math" panose="02040503050406030204" pitchFamily="18" charset="0"/>
                                    <a:cs typeface="Helvetica"/>
                                  </a:rPr>
                                </m:ctrlPr>
                              </m:accPr>
                              <m:e>
                                <m:sSub>
                                  <m:sSubPr>
                                    <m:ctrlPr>
                                      <a:rPr lang="en-US" altLang="en-US" sz="2000" i="1" dirty="0">
                                        <a:latin typeface="Cambria Math" panose="02040503050406030204" pitchFamily="18" charset="0"/>
                                        <a:ea typeface="Cambria Math" panose="02040503050406030204" pitchFamily="18" charset="0"/>
                                      </a:rPr>
                                    </m:ctrlPr>
                                  </m:sSubPr>
                                  <m:e>
                                    <m:r>
                                      <a:rPr lang="en-US" altLang="en-US" sz="2000" i="1" dirty="0">
                                        <a:latin typeface="Cambria Math" panose="02040503050406030204" pitchFamily="18" charset="0"/>
                                        <a:ea typeface="Cambria Math" panose="02040503050406030204" pitchFamily="18" charset="0"/>
                                      </a:rPr>
                                      <m:t>𝛽</m:t>
                                    </m:r>
                                  </m:e>
                                  <m:sub>
                                    <m:r>
                                      <a:rPr lang="en-US" altLang="en-US" sz="2000" i="1" dirty="0">
                                        <a:latin typeface="Cambria Math" panose="02040503050406030204" pitchFamily="18" charset="0"/>
                                        <a:ea typeface="Cambria Math" panose="02040503050406030204" pitchFamily="18" charset="0"/>
                                      </a:rPr>
                                      <m:t>𝑝</m:t>
                                    </m:r>
                                  </m:sub>
                                </m:sSub>
                              </m:e>
                            </m:acc>
                            <m:sSub>
                              <m:sSubPr>
                                <m:ctrlPr>
                                  <a:rPr lang="en-US" altLang="en-US" sz="2000" i="1">
                                    <a:latin typeface="Cambria Math" panose="02040503050406030204" pitchFamily="18" charset="0"/>
                                    <a:ea typeface="Cambria Math" panose="02040503050406030204" pitchFamily="18" charset="0"/>
                                  </a:rPr>
                                </m:ctrlPr>
                              </m:sSubPr>
                              <m:e>
                                <m:r>
                                  <a:rPr lang="en-US" altLang="en-US" sz="2000" b="1" i="1">
                                    <a:latin typeface="Cambria Math" panose="02040503050406030204" pitchFamily="18" charset="0"/>
                                  </a:rPr>
                                  <m:t>𝑿</m:t>
                                </m:r>
                              </m:e>
                              <m:sub>
                                <m:r>
                                  <a:rPr lang="en-US" altLang="en-US" sz="2000" i="1">
                                    <a:latin typeface="Cambria Math" panose="02040503050406030204" pitchFamily="18" charset="0"/>
                                    <a:ea typeface="Cambria Math" panose="02040503050406030204" pitchFamily="18" charset="0"/>
                                  </a:rPr>
                                  <m:t>𝑖</m:t>
                                </m:r>
                                <m:r>
                                  <a:rPr lang="en-US" altLang="en-US" sz="2000" i="1">
                                    <a:latin typeface="Cambria Math" panose="02040503050406030204" pitchFamily="18" charset="0"/>
                                    <a:ea typeface="Cambria Math" panose="02040503050406030204" pitchFamily="18" charset="0"/>
                                  </a:rPr>
                                  <m:t>,</m:t>
                                </m:r>
                                <m:r>
                                  <a:rPr lang="en-US" altLang="en-US" sz="2000" i="1">
                                    <a:latin typeface="Cambria Math" panose="02040503050406030204" pitchFamily="18" charset="0"/>
                                    <a:ea typeface="Cambria Math" panose="02040503050406030204" pitchFamily="18" charset="0"/>
                                  </a:rPr>
                                  <m:t>𝑝</m:t>
                                </m:r>
                              </m:sub>
                            </m:sSub>
                          </m:sup>
                        </m:sSup>
                      </m:den>
                    </m:f>
                  </m:oMath>
                </a14:m>
                <a:endParaRPr lang="en-US" altLang="en-US" sz="2000" dirty="0">
                  <a:latin typeface="Helvetica" panose="020B0604020202020204" pitchFamily="34" charset="0"/>
                  <a:ea typeface="Helvetica Neue" charset="0"/>
                  <a:cs typeface="Helvetica" panose="020B0604020202020204" pitchFamily="34" charset="0"/>
                </a:endParaRPr>
              </a:p>
              <a:p>
                <a:pPr marL="344488" indent="-344488">
                  <a:spcBef>
                    <a:spcPts val="600"/>
                  </a:spcBef>
                  <a:buFont typeface="Arial" panose="020B0604020202020204" pitchFamily="34" charset="0"/>
                  <a:buChar char="•"/>
                </a:pPr>
                <a:r>
                  <a:rPr lang="en-US" altLang="en-US" sz="1600" dirty="0">
                    <a:latin typeface="Helvetica" panose="020B0604020202020204" pitchFamily="34" charset="0"/>
                    <a:ea typeface="Helvetica Neue" charset="0"/>
                    <a:cs typeface="Helvetica" panose="020B0604020202020204" pitchFamily="34" charset="0"/>
                  </a:rPr>
                  <a:t>Pearson residuals: </a:t>
                </a:r>
              </a:p>
              <a:p>
                <a:pPr marL="746125">
                  <a:spcBef>
                    <a:spcPts val="600"/>
                  </a:spcBef>
                </a:pPr>
                <a14:m>
                  <m:oMath xmlns:m="http://schemas.openxmlformats.org/officeDocument/2006/math">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𝑟</m:t>
                        </m:r>
                      </m:e>
                      <m:sub>
                        <m:r>
                          <a:rPr lang="en-US" sz="1600" i="1">
                            <a:latin typeface="Cambria Math" panose="02040503050406030204" pitchFamily="18" charset="0"/>
                            <a:ea typeface="Cambria Math" panose="02040503050406030204" pitchFamily="18" charset="0"/>
                          </a:rPr>
                          <m:t>𝑖</m:t>
                        </m:r>
                      </m:sub>
                    </m:sSub>
                    <m:r>
                      <a:rPr lang="en-US" sz="1600" i="1">
                        <a:latin typeface="Cambria Math" panose="02040503050406030204" pitchFamily="18" charset="0"/>
                        <a:ea typeface="Cambria Math" panose="02040503050406030204" pitchFamily="18" charset="0"/>
                      </a:rPr>
                      <m:t>=</m:t>
                    </m:r>
                  </m:oMath>
                </a14:m>
                <a:r>
                  <a:rPr lang="en-US" sz="1600" dirty="0">
                    <a:latin typeface="Helvetica" panose="020B0604020202020204" pitchFamily="34" charset="0"/>
                    <a:ea typeface="Cambria Math" panose="02040503050406030204" pitchFamily="18" charset="0"/>
                    <a:cs typeface="Helvetica" panose="020B0604020202020204" pitchFamily="34" charset="0"/>
                  </a:rPr>
                  <a:t> </a:t>
                </a: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𝑌</m:t>
                            </m:r>
                          </m:e>
                          <m:sub>
                            <m:r>
                              <a:rPr lang="en-US" sz="2000" i="1">
                                <a:latin typeface="Cambria Math" panose="02040503050406030204" pitchFamily="18" charset="0"/>
                                <a:ea typeface="Cambria Math" panose="02040503050406030204" pitchFamily="18" charset="0"/>
                              </a:rPr>
                              <m:t>𝑖</m:t>
                            </m:r>
                          </m:sub>
                        </m:sSub>
                        <m:sSub>
                          <m:sSubPr>
                            <m:ctrlPr>
                              <a:rPr lang="en-US" altLang="en-US" sz="2000" i="1">
                                <a:latin typeface="Cambria Math" panose="02040503050406030204" pitchFamily="18" charset="0"/>
                                <a:ea typeface="Cambria Math" panose="02040503050406030204" pitchFamily="18" charset="0"/>
                              </a:rPr>
                            </m:ctrlPr>
                          </m:sSubPr>
                          <m:e>
                            <m:r>
                              <a:rPr lang="en-US" altLang="en-US" sz="2000" b="0" i="1" smtClean="0">
                                <a:latin typeface="Cambria Math" panose="02040503050406030204" pitchFamily="18" charset="0"/>
                                <a:ea typeface="Cambria Math" panose="02040503050406030204" pitchFamily="18" charset="0"/>
                              </a:rPr>
                              <m:t>−</m:t>
                            </m:r>
                            <m:r>
                              <a:rPr lang="en-US" altLang="en-US" sz="2000" i="1">
                                <a:latin typeface="Cambria Math" panose="02040503050406030204" pitchFamily="18" charset="0"/>
                                <a:ea typeface="Cambria Math" panose="02040503050406030204" pitchFamily="18" charset="0"/>
                              </a:rPr>
                              <m:t>𝑛</m:t>
                            </m:r>
                          </m:e>
                          <m:sub>
                            <m:r>
                              <a:rPr lang="en-US" altLang="en-US" sz="2000" i="1">
                                <a:latin typeface="Cambria Math" panose="02040503050406030204" pitchFamily="18" charset="0"/>
                                <a:ea typeface="Cambria Math" panose="02040503050406030204" pitchFamily="18" charset="0"/>
                              </a:rPr>
                              <m:t>𝑖</m:t>
                            </m:r>
                          </m:sub>
                        </m:sSub>
                        <m:sSub>
                          <m:sSubPr>
                            <m:ctrlPr>
                              <a:rPr lang="en-US" sz="2000" i="1">
                                <a:latin typeface="Cambria Math" panose="02040503050406030204" pitchFamily="18" charset="0"/>
                                <a:ea typeface="Cambria Math" panose="02040503050406030204" pitchFamily="18" charset="0"/>
                              </a:rPr>
                            </m:ctrlPr>
                          </m:sSubPr>
                          <m:e>
                            <m:acc>
                              <m:accPr>
                                <m:chr m:val="̂"/>
                                <m:ctrlPr>
                                  <a:rPr lang="en-US" sz="2000" i="1">
                                    <a:latin typeface="Cambria Math" panose="02040503050406030204" pitchFamily="18" charset="0"/>
                                    <a:ea typeface="Cambria Math" panose="02040503050406030204" pitchFamily="18" charset="0"/>
                                  </a:rPr>
                                </m:ctrlPr>
                              </m:accPr>
                              <m:e>
                                <m:r>
                                  <m:rPr>
                                    <m:sty m:val="p"/>
                                  </m:rPr>
                                  <a:rPr lang="en-US" sz="2000">
                                    <a:latin typeface="Cambria Math" panose="02040503050406030204" pitchFamily="18" charset="0"/>
                                    <a:ea typeface="Cambria Math" panose="02040503050406030204" pitchFamily="18" charset="0"/>
                                  </a:rPr>
                                  <m:t>p</m:t>
                                </m:r>
                              </m:e>
                            </m:acc>
                          </m:e>
                          <m:sub>
                            <m:r>
                              <a:rPr lang="en-US" sz="2000" i="1">
                                <a:latin typeface="Cambria Math" panose="02040503050406030204" pitchFamily="18" charset="0"/>
                                <a:ea typeface="Cambria Math" panose="02040503050406030204" pitchFamily="18" charset="0"/>
                              </a:rPr>
                              <m:t>𝑖</m:t>
                            </m:r>
                          </m:sub>
                        </m:sSub>
                      </m:num>
                      <m:den>
                        <m:rad>
                          <m:radPr>
                            <m:degHide m:val="on"/>
                            <m:ctrlPr>
                              <a:rPr lang="en-US" sz="2000" i="1">
                                <a:latin typeface="Cambria Math" panose="02040503050406030204" pitchFamily="18" charset="0"/>
                                <a:ea typeface="Cambria Math" panose="02040503050406030204" pitchFamily="18" charset="0"/>
                              </a:rPr>
                            </m:ctrlPr>
                          </m:radPr>
                          <m:deg/>
                          <m:e>
                            <m:sSub>
                              <m:sSubPr>
                                <m:ctrlPr>
                                  <a:rPr lang="en-US" altLang="en-US" sz="2000" i="1">
                                    <a:latin typeface="Cambria Math" panose="02040503050406030204" pitchFamily="18" charset="0"/>
                                    <a:ea typeface="Cambria Math" panose="02040503050406030204" pitchFamily="18" charset="0"/>
                                  </a:rPr>
                                </m:ctrlPr>
                              </m:sSubPr>
                              <m:e>
                                <m:r>
                                  <a:rPr lang="en-US" altLang="en-US" sz="2000" i="1">
                                    <a:latin typeface="Cambria Math" panose="02040503050406030204" pitchFamily="18" charset="0"/>
                                    <a:ea typeface="Cambria Math" panose="02040503050406030204" pitchFamily="18" charset="0"/>
                                  </a:rPr>
                                  <m:t>𝑛</m:t>
                                </m:r>
                              </m:e>
                              <m:sub>
                                <m:r>
                                  <a:rPr lang="en-US" altLang="en-US" sz="2000" i="1">
                                    <a:latin typeface="Cambria Math" panose="02040503050406030204" pitchFamily="18" charset="0"/>
                                    <a:ea typeface="Cambria Math" panose="02040503050406030204" pitchFamily="18" charset="0"/>
                                  </a:rPr>
                                  <m:t>𝑖</m:t>
                                </m:r>
                              </m:sub>
                            </m:sSub>
                            <m:sSub>
                              <m:sSubPr>
                                <m:ctrlPr>
                                  <a:rPr lang="en-US" sz="2000" i="1">
                                    <a:latin typeface="Cambria Math" panose="02040503050406030204" pitchFamily="18" charset="0"/>
                                    <a:ea typeface="Cambria Math" panose="02040503050406030204" pitchFamily="18" charset="0"/>
                                  </a:rPr>
                                </m:ctrlPr>
                              </m:sSubPr>
                              <m:e>
                                <m:acc>
                                  <m:accPr>
                                    <m:chr m:val="̂"/>
                                    <m:ctrlPr>
                                      <a:rPr lang="en-US" sz="2000" i="1">
                                        <a:latin typeface="Cambria Math" panose="02040503050406030204" pitchFamily="18" charset="0"/>
                                        <a:ea typeface="Cambria Math" panose="02040503050406030204" pitchFamily="18" charset="0"/>
                                      </a:rPr>
                                    </m:ctrlPr>
                                  </m:accPr>
                                  <m:e>
                                    <m:r>
                                      <m:rPr>
                                        <m:sty m:val="p"/>
                                      </m:rPr>
                                      <a:rPr lang="en-US" sz="2000">
                                        <a:latin typeface="Cambria Math" panose="02040503050406030204" pitchFamily="18" charset="0"/>
                                        <a:ea typeface="Cambria Math" panose="02040503050406030204" pitchFamily="18" charset="0"/>
                                      </a:rPr>
                                      <m:t>p</m:t>
                                    </m:r>
                                  </m:e>
                                </m:acc>
                              </m:e>
                              <m:sub>
                                <m:r>
                                  <a:rPr lang="en-US" sz="2000" i="1">
                                    <a:latin typeface="Cambria Math" panose="02040503050406030204" pitchFamily="18" charset="0"/>
                                    <a:ea typeface="Cambria Math" panose="02040503050406030204" pitchFamily="18" charset="0"/>
                                  </a:rPr>
                                  <m:t>𝑖</m:t>
                                </m:r>
                              </m:sub>
                            </m:sSub>
                            <m:d>
                              <m:dPr>
                                <m:ctrlPr>
                                  <a:rPr lang="en-US" sz="2000" i="1">
                                    <a:latin typeface="Cambria Math" panose="02040503050406030204" pitchFamily="18" charset="0"/>
                                    <a:ea typeface="Cambria Math" panose="02040503050406030204" pitchFamily="18" charset="0"/>
                                  </a:rPr>
                                </m:ctrlPr>
                              </m:dPr>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1−</m:t>
                                    </m:r>
                                    <m:acc>
                                      <m:accPr>
                                        <m:chr m:val="̂"/>
                                        <m:ctrlPr>
                                          <a:rPr lang="en-US" sz="2000" i="1">
                                            <a:latin typeface="Cambria Math" panose="02040503050406030204" pitchFamily="18" charset="0"/>
                                            <a:ea typeface="Cambria Math" panose="02040503050406030204" pitchFamily="18" charset="0"/>
                                          </a:rPr>
                                        </m:ctrlPr>
                                      </m:accPr>
                                      <m:e>
                                        <m:r>
                                          <m:rPr>
                                            <m:sty m:val="p"/>
                                          </m:rPr>
                                          <a:rPr lang="en-US" sz="2000">
                                            <a:latin typeface="Cambria Math" panose="02040503050406030204" pitchFamily="18" charset="0"/>
                                            <a:ea typeface="Cambria Math" panose="02040503050406030204" pitchFamily="18" charset="0"/>
                                          </a:rPr>
                                          <m:t>p</m:t>
                                        </m:r>
                                      </m:e>
                                    </m:acc>
                                  </m:e>
                                  <m:sub>
                                    <m:r>
                                      <a:rPr lang="en-US" sz="2000" i="1">
                                        <a:latin typeface="Cambria Math" panose="02040503050406030204" pitchFamily="18" charset="0"/>
                                        <a:ea typeface="Cambria Math" panose="02040503050406030204" pitchFamily="18" charset="0"/>
                                      </a:rPr>
                                      <m:t>𝑖</m:t>
                                    </m:r>
                                  </m:sub>
                                </m:sSub>
                              </m:e>
                            </m:d>
                          </m:e>
                        </m:rad>
                      </m:den>
                    </m:f>
                  </m:oMath>
                </a14:m>
                <a:endParaRPr lang="en-US" altLang="en-US" sz="1600" dirty="0">
                  <a:latin typeface="Helvetica" panose="020B0604020202020204" pitchFamily="34" charset="0"/>
                  <a:ea typeface="Helvetica Neue" charset="0"/>
                  <a:cs typeface="Helvetica" panose="020B0604020202020204" pitchFamily="34" charset="0"/>
                </a:endParaRPr>
              </a:p>
              <a:p>
                <a:pPr marL="344488" indent="-344488">
                  <a:spcBef>
                    <a:spcPts val="600"/>
                  </a:spcBef>
                  <a:buFont typeface="Arial" panose="020B0604020202020204" pitchFamily="34" charset="0"/>
                  <a:buChar char="•"/>
                </a:pPr>
                <a:r>
                  <a:rPr lang="en-US" altLang="en-US" sz="1600" dirty="0">
                    <a:latin typeface="Helvetica" panose="020B0604020202020204" pitchFamily="34" charset="0"/>
                    <a:ea typeface="Helvetica Neue" charset="0"/>
                    <a:cs typeface="Helvetica" panose="020B0604020202020204" pitchFamily="34" charset="0"/>
                  </a:rPr>
                  <a:t>Deviance residuals:</a:t>
                </a:r>
              </a:p>
              <a:p>
                <a:pPr marL="746125"/>
                <a14:m>
                  <m:oMathPara xmlns:m="http://schemas.openxmlformats.org/officeDocument/2006/math">
                    <m:oMathParaPr>
                      <m:jc m:val="left"/>
                    </m:oMathParaPr>
                    <m:oMath xmlns:m="http://schemas.openxmlformats.org/officeDocument/2006/math">
                      <m:sSub>
                        <m:sSubPr>
                          <m:ctrlPr>
                            <a:rPr lang="en-US" altLang="en-US" sz="1600" i="1" smtClean="0">
                              <a:latin typeface="Cambria Math" panose="02040503050406030204" pitchFamily="18" charset="0"/>
                            </a:rPr>
                          </m:ctrlPr>
                        </m:sSubPr>
                        <m:e>
                          <m:r>
                            <m:rPr>
                              <m:sty m:val="p"/>
                            </m:rPr>
                            <a:rPr lang="en-US" altLang="en-US" sz="1600" b="0" i="0" smtClean="0">
                              <a:latin typeface="Cambria Math" panose="02040503050406030204" pitchFamily="18" charset="0"/>
                            </a:rPr>
                            <m:t>d</m:t>
                          </m:r>
                        </m:e>
                        <m:sub>
                          <m:r>
                            <a:rPr lang="en-US" altLang="en-US" sz="1600" b="0" i="1" smtClean="0">
                              <a:latin typeface="Cambria Math" panose="02040503050406030204" pitchFamily="18" charset="0"/>
                            </a:rPr>
                            <m:t>𝑖</m:t>
                          </m:r>
                        </m:sub>
                      </m:sSub>
                      <m:r>
                        <a:rPr lang="en-US" altLang="en-US" sz="1600" b="0" i="1" smtClean="0">
                          <a:latin typeface="Cambria Math" panose="02040503050406030204" pitchFamily="18" charset="0"/>
                        </a:rPr>
                        <m:t>=</m:t>
                      </m:r>
                      <m:r>
                        <m:rPr>
                          <m:sty m:val="p"/>
                        </m:rPr>
                        <a:rPr lang="en-US" altLang="en-US" sz="1600" b="0" i="0" smtClean="0">
                          <a:latin typeface="Cambria Math" panose="02040503050406030204" pitchFamily="18" charset="0"/>
                        </a:rPr>
                        <m:t>sign</m:t>
                      </m:r>
                      <m:d>
                        <m:dPr>
                          <m:ctrlPr>
                            <a:rPr lang="en-US" altLang="en-US" sz="1600" b="0" i="1" smtClean="0">
                              <a:latin typeface="Cambria Math" panose="02040503050406030204" pitchFamily="18" charset="0"/>
                            </a:rPr>
                          </m:ctrlPr>
                        </m:dPr>
                        <m:e>
                          <m:sSub>
                            <m:sSubPr>
                              <m:ctrlPr>
                                <a:rPr lang="en-US" altLang="en-US" sz="1600" i="1">
                                  <a:latin typeface="Cambria Math" panose="02040503050406030204" pitchFamily="18" charset="0"/>
                                </a:rPr>
                              </m:ctrlPr>
                            </m:sSubPr>
                            <m:e>
                              <m:r>
                                <a:rPr lang="en-US" altLang="en-US" sz="1600" b="1" i="1">
                                  <a:latin typeface="Cambria Math" panose="02040503050406030204" pitchFamily="18" charset="0"/>
                                </a:rPr>
                                <m:t>𝒀</m:t>
                              </m:r>
                            </m:e>
                            <m:sub>
                              <m:r>
                                <a:rPr lang="en-US" altLang="en-US" sz="1600" i="1">
                                  <a:latin typeface="Cambria Math" panose="02040503050406030204" pitchFamily="18" charset="0"/>
                                </a:rPr>
                                <m:t>𝑖</m:t>
                              </m:r>
                            </m:sub>
                          </m:sSub>
                          <m:r>
                            <a:rPr lang="en-US" altLang="en-US" sz="1600" i="1">
                              <a:latin typeface="Cambria Math" panose="02040503050406030204" pitchFamily="18" charset="0"/>
                            </a:rPr>
                            <m:t>−</m:t>
                          </m:r>
                          <m:sSub>
                            <m:sSubPr>
                              <m:ctrlPr>
                                <a:rPr lang="en-US" altLang="en-US" sz="1600" i="1">
                                  <a:latin typeface="Cambria Math" panose="02040503050406030204" pitchFamily="18" charset="0"/>
                                </a:rPr>
                              </m:ctrlPr>
                            </m:sSubPr>
                            <m:e>
                              <m:acc>
                                <m:accPr>
                                  <m:chr m:val="̂"/>
                                  <m:ctrlPr>
                                    <a:rPr lang="en-US" altLang="en-US" sz="1600" i="1" smtClean="0">
                                      <a:latin typeface="Cambria Math" panose="02040503050406030204" pitchFamily="18" charset="0"/>
                                    </a:rPr>
                                  </m:ctrlPr>
                                </m:accPr>
                                <m:e>
                                  <m:r>
                                    <a:rPr lang="en-US" altLang="en-US" sz="1600" b="1" i="1">
                                      <a:latin typeface="Cambria Math" panose="02040503050406030204" pitchFamily="18" charset="0"/>
                                    </a:rPr>
                                    <m:t>𝒀</m:t>
                                  </m:r>
                                </m:e>
                              </m:acc>
                            </m:e>
                            <m:sub>
                              <m:r>
                                <a:rPr lang="en-US" altLang="en-US" sz="1600" b="0" i="1" smtClean="0">
                                  <a:latin typeface="Cambria Math" panose="02040503050406030204" pitchFamily="18" charset="0"/>
                                </a:rPr>
                                <m:t>𝑖</m:t>
                              </m:r>
                            </m:sub>
                          </m:sSub>
                        </m:e>
                      </m:d>
                      <m:rad>
                        <m:radPr>
                          <m:degHide m:val="on"/>
                          <m:ctrlPr>
                            <a:rPr lang="en-US" altLang="en-US" sz="1600" b="0" i="1" smtClean="0">
                              <a:latin typeface="Cambria Math" panose="02040503050406030204" pitchFamily="18" charset="0"/>
                            </a:rPr>
                          </m:ctrlPr>
                        </m:radPr>
                        <m:deg/>
                        <m:e>
                          <m:r>
                            <a:rPr lang="en-US" altLang="en-US" sz="1600" b="0" i="1" smtClean="0">
                              <a:latin typeface="Cambria Math" panose="02040503050406030204" pitchFamily="18" charset="0"/>
                            </a:rPr>
                            <m:t>2</m:t>
                          </m:r>
                          <m:sSub>
                            <m:sSubPr>
                              <m:ctrlPr>
                                <a:rPr lang="en-US" altLang="en-US" sz="1600" i="1">
                                  <a:latin typeface="Cambria Math" panose="02040503050406030204" pitchFamily="18" charset="0"/>
                                </a:rPr>
                              </m:ctrlPr>
                            </m:sSubPr>
                            <m:e>
                              <m:r>
                                <a:rPr lang="en-US" altLang="en-US" sz="1600" b="1" i="1">
                                  <a:latin typeface="Cambria Math" panose="02040503050406030204" pitchFamily="18" charset="0"/>
                                </a:rPr>
                                <m:t>𝒀</m:t>
                              </m:r>
                            </m:e>
                            <m:sub>
                              <m:r>
                                <a:rPr lang="en-US" altLang="en-US" sz="1600" i="1">
                                  <a:latin typeface="Cambria Math" panose="02040503050406030204" pitchFamily="18" charset="0"/>
                                </a:rPr>
                                <m:t>𝑖</m:t>
                              </m:r>
                            </m:sub>
                          </m:sSub>
                          <m:r>
                            <m:rPr>
                              <m:sty m:val="p"/>
                            </m:rPr>
                            <a:rPr lang="en-US" altLang="en-US" sz="1600" b="0" i="0" smtClean="0">
                              <a:latin typeface="Cambria Math" panose="02040503050406030204" pitchFamily="18" charset="0"/>
                            </a:rPr>
                            <m:t>log</m:t>
                          </m:r>
                          <m:d>
                            <m:dPr>
                              <m:ctrlPr>
                                <a:rPr lang="en-US" altLang="en-US" sz="1600" b="0" i="1" smtClean="0">
                                  <a:latin typeface="Cambria Math" panose="02040503050406030204" pitchFamily="18" charset="0"/>
                                </a:rPr>
                              </m:ctrlPr>
                            </m:dPr>
                            <m:e>
                              <m:f>
                                <m:fPr>
                                  <m:type m:val="lin"/>
                                  <m:ctrlPr>
                                    <a:rPr lang="en-US" altLang="en-US" sz="1600" b="0" i="1" smtClean="0">
                                      <a:latin typeface="Cambria Math" panose="02040503050406030204" pitchFamily="18" charset="0"/>
                                    </a:rPr>
                                  </m:ctrlPr>
                                </m:fPr>
                                <m:num>
                                  <m:sSub>
                                    <m:sSubPr>
                                      <m:ctrlPr>
                                        <a:rPr lang="en-US" altLang="en-US" sz="1600" i="1">
                                          <a:latin typeface="Cambria Math" panose="02040503050406030204" pitchFamily="18" charset="0"/>
                                        </a:rPr>
                                      </m:ctrlPr>
                                    </m:sSubPr>
                                    <m:e>
                                      <m:r>
                                        <a:rPr lang="en-US" altLang="en-US" sz="1600" b="1" i="1">
                                          <a:latin typeface="Cambria Math" panose="02040503050406030204" pitchFamily="18" charset="0"/>
                                        </a:rPr>
                                        <m:t>𝒀</m:t>
                                      </m:r>
                                    </m:e>
                                    <m:sub>
                                      <m:r>
                                        <a:rPr lang="en-US" altLang="en-US" sz="1600" i="1">
                                          <a:latin typeface="Cambria Math" panose="02040503050406030204" pitchFamily="18" charset="0"/>
                                        </a:rPr>
                                        <m:t>𝑖</m:t>
                                      </m:r>
                                    </m:sub>
                                  </m:sSub>
                                </m:num>
                                <m:den>
                                  <m:sSub>
                                    <m:sSubPr>
                                      <m:ctrlPr>
                                        <a:rPr lang="en-US" altLang="en-US" sz="1600" i="1">
                                          <a:latin typeface="Cambria Math" panose="02040503050406030204" pitchFamily="18" charset="0"/>
                                        </a:rPr>
                                      </m:ctrlPr>
                                    </m:sSubPr>
                                    <m:e>
                                      <m:acc>
                                        <m:accPr>
                                          <m:chr m:val="̂"/>
                                          <m:ctrlPr>
                                            <a:rPr lang="en-US" altLang="en-US" sz="1600" i="1">
                                              <a:latin typeface="Cambria Math" panose="02040503050406030204" pitchFamily="18" charset="0"/>
                                            </a:rPr>
                                          </m:ctrlPr>
                                        </m:accPr>
                                        <m:e>
                                          <m:r>
                                            <a:rPr lang="en-US" altLang="en-US" sz="1600" b="1" i="1">
                                              <a:latin typeface="Cambria Math" panose="02040503050406030204" pitchFamily="18" charset="0"/>
                                            </a:rPr>
                                            <m:t>𝒀</m:t>
                                          </m:r>
                                        </m:e>
                                      </m:acc>
                                    </m:e>
                                    <m:sub>
                                      <m:r>
                                        <a:rPr lang="en-US" altLang="en-US" sz="1600" i="1">
                                          <a:latin typeface="Cambria Math" panose="02040503050406030204" pitchFamily="18" charset="0"/>
                                        </a:rPr>
                                        <m:t>𝑖</m:t>
                                      </m:r>
                                    </m:sub>
                                  </m:sSub>
                                </m:den>
                              </m:f>
                            </m:e>
                          </m:d>
                          <m:r>
                            <a:rPr lang="en-US" altLang="en-US" sz="1600" b="0" i="1" smtClean="0">
                              <a:latin typeface="Cambria Math" panose="02040503050406030204" pitchFamily="18" charset="0"/>
                            </a:rPr>
                            <m:t>+2</m:t>
                          </m:r>
                          <m:d>
                            <m:dPr>
                              <m:ctrlPr>
                                <a:rPr lang="en-US" altLang="en-US" sz="1600" b="0" i="1" smtClean="0">
                                  <a:latin typeface="Cambria Math" panose="02040503050406030204" pitchFamily="18" charset="0"/>
                                </a:rPr>
                              </m:ctrlPr>
                            </m:dPr>
                            <m:e>
                              <m:sSub>
                                <m:sSubPr>
                                  <m:ctrlPr>
                                    <a:rPr lang="en-US" altLang="en-US" sz="1600" i="1">
                                      <a:latin typeface="Cambria Math" panose="02040503050406030204" pitchFamily="18" charset="0"/>
                                      <a:ea typeface="Cambria Math" panose="02040503050406030204" pitchFamily="18" charset="0"/>
                                    </a:rPr>
                                  </m:ctrlPr>
                                </m:sSubPr>
                                <m:e>
                                  <m:r>
                                    <a:rPr lang="en-US" altLang="en-US" sz="1600" i="1">
                                      <a:latin typeface="Cambria Math" panose="02040503050406030204" pitchFamily="18" charset="0"/>
                                      <a:ea typeface="Cambria Math" panose="02040503050406030204" pitchFamily="18" charset="0"/>
                                    </a:rPr>
                                    <m:t>𝑛</m:t>
                                  </m:r>
                                </m:e>
                                <m:sub>
                                  <m:r>
                                    <a:rPr lang="en-US" altLang="en-US" sz="1600" i="1">
                                      <a:latin typeface="Cambria Math" panose="02040503050406030204" pitchFamily="18" charset="0"/>
                                      <a:ea typeface="Cambria Math" panose="02040503050406030204" pitchFamily="18" charset="0"/>
                                    </a:rPr>
                                    <m:t>𝑖</m:t>
                                  </m:r>
                                </m:sub>
                              </m:sSub>
                              <m:r>
                                <a:rPr lang="en-US" altLang="en-US" sz="1600" b="0" i="1" smtClean="0">
                                  <a:latin typeface="Cambria Math" panose="02040503050406030204" pitchFamily="18" charset="0"/>
                                </a:rPr>
                                <m:t>−</m:t>
                              </m:r>
                              <m:sSub>
                                <m:sSubPr>
                                  <m:ctrlPr>
                                    <a:rPr lang="en-US" altLang="en-US" sz="1600" i="1">
                                      <a:latin typeface="Cambria Math" panose="02040503050406030204" pitchFamily="18" charset="0"/>
                                    </a:rPr>
                                  </m:ctrlPr>
                                </m:sSubPr>
                                <m:e>
                                  <m:r>
                                    <a:rPr lang="en-US" altLang="en-US" sz="1600" b="1" i="1">
                                      <a:latin typeface="Cambria Math" panose="02040503050406030204" pitchFamily="18" charset="0"/>
                                    </a:rPr>
                                    <m:t>𝒀</m:t>
                                  </m:r>
                                </m:e>
                                <m:sub>
                                  <m:r>
                                    <a:rPr lang="en-US" altLang="en-US" sz="1600" i="1">
                                      <a:latin typeface="Cambria Math" panose="02040503050406030204" pitchFamily="18" charset="0"/>
                                    </a:rPr>
                                    <m:t>𝑖</m:t>
                                  </m:r>
                                </m:sub>
                              </m:sSub>
                            </m:e>
                          </m:d>
                          <m:r>
                            <m:rPr>
                              <m:sty m:val="p"/>
                            </m:rPr>
                            <a:rPr lang="en-US" altLang="en-US" sz="1600" b="0" i="0" smtClean="0">
                              <a:latin typeface="Cambria Math" panose="02040503050406030204" pitchFamily="18" charset="0"/>
                            </a:rPr>
                            <m:t>log</m:t>
                          </m:r>
                          <m:d>
                            <m:dPr>
                              <m:ctrlPr>
                                <a:rPr lang="en-US" altLang="en-US" sz="1600" b="0" i="1" smtClean="0">
                                  <a:latin typeface="Cambria Math" panose="02040503050406030204" pitchFamily="18" charset="0"/>
                                </a:rPr>
                              </m:ctrlPr>
                            </m:dPr>
                            <m:e>
                              <m:f>
                                <m:fPr>
                                  <m:type m:val="lin"/>
                                  <m:ctrlPr>
                                    <a:rPr lang="en-US" altLang="en-US" sz="1600" b="0" i="1" smtClean="0">
                                      <a:latin typeface="Cambria Math" panose="02040503050406030204" pitchFamily="18" charset="0"/>
                                    </a:rPr>
                                  </m:ctrlPr>
                                </m:fPr>
                                <m:num>
                                  <m:d>
                                    <m:dPr>
                                      <m:ctrlPr>
                                        <a:rPr lang="en-US" altLang="en-US" sz="1600" b="0" i="1" smtClean="0">
                                          <a:latin typeface="Cambria Math" panose="02040503050406030204" pitchFamily="18" charset="0"/>
                                        </a:rPr>
                                      </m:ctrlPr>
                                    </m:dPr>
                                    <m:e>
                                      <m:sSub>
                                        <m:sSubPr>
                                          <m:ctrlPr>
                                            <a:rPr lang="en-US" altLang="en-US" sz="1600" i="1">
                                              <a:latin typeface="Cambria Math" panose="02040503050406030204" pitchFamily="18" charset="0"/>
                                              <a:ea typeface="Cambria Math" panose="02040503050406030204" pitchFamily="18" charset="0"/>
                                            </a:rPr>
                                          </m:ctrlPr>
                                        </m:sSubPr>
                                        <m:e>
                                          <m:r>
                                            <a:rPr lang="en-US" altLang="en-US" sz="1600" i="1">
                                              <a:latin typeface="Cambria Math" panose="02040503050406030204" pitchFamily="18" charset="0"/>
                                              <a:ea typeface="Cambria Math" panose="02040503050406030204" pitchFamily="18" charset="0"/>
                                            </a:rPr>
                                            <m:t>𝑛</m:t>
                                          </m:r>
                                        </m:e>
                                        <m:sub>
                                          <m:r>
                                            <a:rPr lang="en-US" altLang="en-US" sz="1600" i="1">
                                              <a:latin typeface="Cambria Math" panose="02040503050406030204" pitchFamily="18" charset="0"/>
                                              <a:ea typeface="Cambria Math" panose="02040503050406030204" pitchFamily="18" charset="0"/>
                                            </a:rPr>
                                            <m:t>𝑖</m:t>
                                          </m:r>
                                        </m:sub>
                                      </m:sSub>
                                      <m:r>
                                        <a:rPr lang="en-US" altLang="en-US" sz="1600" i="1">
                                          <a:latin typeface="Cambria Math" panose="02040503050406030204" pitchFamily="18" charset="0"/>
                                        </a:rPr>
                                        <m:t>−</m:t>
                                      </m:r>
                                      <m:sSub>
                                        <m:sSubPr>
                                          <m:ctrlPr>
                                            <a:rPr lang="en-US" altLang="en-US" sz="1600" i="1">
                                              <a:latin typeface="Cambria Math" panose="02040503050406030204" pitchFamily="18" charset="0"/>
                                            </a:rPr>
                                          </m:ctrlPr>
                                        </m:sSubPr>
                                        <m:e>
                                          <m:r>
                                            <a:rPr lang="en-US" altLang="en-US" sz="1600" b="1" i="1">
                                              <a:latin typeface="Cambria Math" panose="02040503050406030204" pitchFamily="18" charset="0"/>
                                            </a:rPr>
                                            <m:t>𝒀</m:t>
                                          </m:r>
                                        </m:e>
                                        <m:sub>
                                          <m:r>
                                            <a:rPr lang="en-US" altLang="en-US" sz="1600" i="1">
                                              <a:latin typeface="Cambria Math" panose="02040503050406030204" pitchFamily="18" charset="0"/>
                                            </a:rPr>
                                            <m:t>𝑖</m:t>
                                          </m:r>
                                        </m:sub>
                                      </m:sSub>
                                    </m:e>
                                  </m:d>
                                </m:num>
                                <m:den>
                                  <m:d>
                                    <m:dPr>
                                      <m:ctrlPr>
                                        <a:rPr lang="en-US" altLang="en-US" sz="1600" b="0" i="1" smtClean="0">
                                          <a:latin typeface="Cambria Math" panose="02040503050406030204" pitchFamily="18" charset="0"/>
                                        </a:rPr>
                                      </m:ctrlPr>
                                    </m:dPr>
                                    <m:e>
                                      <m:sSub>
                                        <m:sSubPr>
                                          <m:ctrlPr>
                                            <a:rPr lang="en-US" altLang="en-US" sz="1600" i="1">
                                              <a:latin typeface="Cambria Math" panose="02040503050406030204" pitchFamily="18" charset="0"/>
                                              <a:ea typeface="Cambria Math" panose="02040503050406030204" pitchFamily="18" charset="0"/>
                                            </a:rPr>
                                          </m:ctrlPr>
                                        </m:sSubPr>
                                        <m:e>
                                          <m:r>
                                            <a:rPr lang="en-US" altLang="en-US" sz="1600" i="1">
                                              <a:latin typeface="Cambria Math" panose="02040503050406030204" pitchFamily="18" charset="0"/>
                                              <a:ea typeface="Cambria Math" panose="02040503050406030204" pitchFamily="18" charset="0"/>
                                            </a:rPr>
                                            <m:t>𝑛</m:t>
                                          </m:r>
                                        </m:e>
                                        <m:sub>
                                          <m:r>
                                            <a:rPr lang="en-US" altLang="en-US" sz="1600" i="1">
                                              <a:latin typeface="Cambria Math" panose="02040503050406030204" pitchFamily="18" charset="0"/>
                                              <a:ea typeface="Cambria Math" panose="02040503050406030204" pitchFamily="18" charset="0"/>
                                            </a:rPr>
                                            <m:t>𝑖</m:t>
                                          </m:r>
                                        </m:sub>
                                      </m:sSub>
                                      <m:r>
                                        <a:rPr lang="en-US" altLang="en-US" sz="1600" i="1">
                                          <a:latin typeface="Cambria Math" panose="02040503050406030204" pitchFamily="18" charset="0"/>
                                        </a:rPr>
                                        <m:t>−</m:t>
                                      </m:r>
                                      <m:sSub>
                                        <m:sSubPr>
                                          <m:ctrlPr>
                                            <a:rPr lang="en-US" altLang="en-US" sz="1600" i="1">
                                              <a:latin typeface="Cambria Math" panose="02040503050406030204" pitchFamily="18" charset="0"/>
                                            </a:rPr>
                                          </m:ctrlPr>
                                        </m:sSubPr>
                                        <m:e>
                                          <m:acc>
                                            <m:accPr>
                                              <m:chr m:val="̂"/>
                                              <m:ctrlPr>
                                                <a:rPr lang="en-US" altLang="en-US" sz="1600" i="1">
                                                  <a:latin typeface="Cambria Math" panose="02040503050406030204" pitchFamily="18" charset="0"/>
                                                </a:rPr>
                                              </m:ctrlPr>
                                            </m:accPr>
                                            <m:e>
                                              <m:r>
                                                <a:rPr lang="en-US" altLang="en-US" sz="1600" b="1" i="1">
                                                  <a:latin typeface="Cambria Math" panose="02040503050406030204" pitchFamily="18" charset="0"/>
                                                </a:rPr>
                                                <m:t>𝒀</m:t>
                                              </m:r>
                                            </m:e>
                                          </m:acc>
                                        </m:e>
                                        <m:sub>
                                          <m:r>
                                            <a:rPr lang="en-US" altLang="en-US" sz="1600" i="1">
                                              <a:latin typeface="Cambria Math" panose="02040503050406030204" pitchFamily="18" charset="0"/>
                                            </a:rPr>
                                            <m:t>𝑖</m:t>
                                          </m:r>
                                        </m:sub>
                                      </m:sSub>
                                    </m:e>
                                  </m:d>
                                </m:den>
                              </m:f>
                            </m:e>
                          </m:d>
                        </m:e>
                      </m:rad>
                    </m:oMath>
                  </m:oMathPara>
                </a14:m>
                <a:endParaRPr lang="en-US" altLang="en-US" sz="1600" b="0" dirty="0">
                  <a:latin typeface="Helvetica" panose="020B0604020202020204" pitchFamily="34" charset="0"/>
                  <a:cs typeface="Helvetica" panose="020B0604020202020204" pitchFamily="34" charset="0"/>
                </a:endParaRPr>
              </a:p>
            </p:txBody>
          </p:sp>
        </mc:Choice>
        <mc:Fallback xmlns="">
          <p:sp>
            <p:nvSpPr>
              <p:cNvPr id="9" name="Rectangle 9"/>
              <p:cNvSpPr>
                <a:spLocks noRot="1" noChangeAspect="1" noMove="1" noResize="1" noEditPoints="1" noAdjustHandles="1" noChangeArrowheads="1" noChangeShapeType="1" noTextEdit="1"/>
              </p:cNvSpPr>
              <p:nvPr/>
            </p:nvSpPr>
            <p:spPr bwMode="auto">
              <a:xfrm>
                <a:off x="133000" y="916774"/>
                <a:ext cx="8858600" cy="3491725"/>
              </a:xfrm>
              <a:prstGeom prst="rect">
                <a:avLst/>
              </a:prstGeom>
              <a:blipFill>
                <a:blip r:embed="rId3"/>
                <a:stretch>
                  <a:fillRect l="-413" t="-52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6" name="Title 2">
            <a:extLst>
              <a:ext uri="{FF2B5EF4-FFF2-40B4-BE49-F238E27FC236}">
                <a16:creationId xmlns:a16="http://schemas.microsoft.com/office/drawing/2014/main" id="{87AF654A-2353-4859-A067-25517347DA22}"/>
              </a:ext>
            </a:extLst>
          </p:cNvPr>
          <p:cNvSpPr>
            <a:spLocks noGrp="1"/>
          </p:cNvSpPr>
          <p:nvPr>
            <p:ph type="title"/>
          </p:nvPr>
        </p:nvSpPr>
        <p:spPr>
          <a:xfrm>
            <a:off x="109736" y="115287"/>
            <a:ext cx="8562392" cy="599597"/>
          </a:xfrm>
        </p:spPr>
        <p:txBody>
          <a:bodyPr/>
          <a:lstStyle/>
          <a:p>
            <a:r>
              <a:rPr lang="en-US" sz="3600" dirty="0">
                <a:latin typeface="Vitesse"/>
              </a:rPr>
              <a:t>Residuals in Logistic Regression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Rectangle 9"/>
              <p:cNvSpPr>
                <a:spLocks noChangeArrowheads="1"/>
              </p:cNvSpPr>
              <p:nvPr/>
            </p:nvSpPr>
            <p:spPr bwMode="auto">
              <a:xfrm>
                <a:off x="133000" y="916774"/>
                <a:ext cx="8858600" cy="349172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spcBef>
                    <a:spcPct val="50000"/>
                  </a:spcBef>
                </a:pPr>
                <a:r>
                  <a:rPr lang="en-US" altLang="en-US" sz="1600" b="1" dirty="0">
                    <a:latin typeface="Helvetica" panose="020B0604020202020204" pitchFamily="34" charset="0"/>
                    <a:ea typeface="Helvetica Neue" charset="0"/>
                    <a:cs typeface="Helvetica" panose="020B0604020202020204" pitchFamily="34" charset="0"/>
                  </a:rPr>
                  <a:t>Logistic Regression With Replications</a:t>
                </a:r>
                <a:endParaRPr lang="en-US" altLang="en-US" sz="1600" dirty="0">
                  <a:latin typeface="Helvetica" panose="020B0604020202020204" pitchFamily="34" charset="0"/>
                  <a:ea typeface="Helvetica Neue" charset="0"/>
                  <a:cs typeface="Helvetica" panose="020B0604020202020204" pitchFamily="34" charset="0"/>
                </a:endParaRPr>
              </a:p>
              <a:p>
                <a:pPr marL="344488" indent="-344488">
                  <a:buFont typeface="Arial" panose="020B0604020202020204" pitchFamily="34" charset="0"/>
                  <a:buChar char="•"/>
                </a:pPr>
                <a14:m>
                  <m:oMath xmlns:m="http://schemas.openxmlformats.org/officeDocument/2006/math">
                    <m:sSub>
                      <m:sSubPr>
                        <m:ctrlPr>
                          <a:rPr lang="en-US" altLang="en-US" sz="1600" i="1">
                            <a:latin typeface="Cambria Math" panose="02040503050406030204" pitchFamily="18" charset="0"/>
                          </a:rPr>
                        </m:ctrlPr>
                      </m:sSubPr>
                      <m:e>
                        <m:r>
                          <a:rPr lang="en-US" altLang="en-US" sz="1600" b="1" i="1">
                            <a:latin typeface="Cambria Math" panose="02040503050406030204" pitchFamily="18" charset="0"/>
                          </a:rPr>
                          <m:t>𝒀</m:t>
                        </m:r>
                      </m:e>
                      <m:sub>
                        <m:r>
                          <a:rPr lang="en-US" altLang="en-US" sz="1600" i="1">
                            <a:latin typeface="Cambria Math" panose="02040503050406030204" pitchFamily="18" charset="0"/>
                          </a:rPr>
                          <m:t>𝑖</m:t>
                        </m:r>
                      </m:sub>
                    </m:sSub>
                  </m:oMath>
                </a14:m>
                <a:r>
                  <a:rPr lang="en-US" altLang="en-US" sz="1600" dirty="0">
                    <a:latin typeface="Helvetica" panose="020B0604020202020204" pitchFamily="34" charset="0"/>
                    <a:ea typeface="Helvetica Neue" charset="0"/>
                    <a:cs typeface="Helvetica" panose="020B0604020202020204" pitchFamily="34" charset="0"/>
                  </a:rPr>
                  <a:t> | </a:t>
                </a:r>
                <a14:m>
                  <m:oMath xmlns:m="http://schemas.openxmlformats.org/officeDocument/2006/math">
                    <m:sSub>
                      <m:sSubPr>
                        <m:ctrlPr>
                          <a:rPr lang="en-US" altLang="en-US" sz="1600" i="1">
                            <a:latin typeface="Cambria Math" panose="02040503050406030204" pitchFamily="18" charset="0"/>
                          </a:rPr>
                        </m:ctrlPr>
                      </m:sSubPr>
                      <m:e>
                        <m:r>
                          <a:rPr lang="en-US" altLang="en-US" sz="1600" b="1" i="1">
                            <a:latin typeface="Cambria Math" panose="02040503050406030204" pitchFamily="18" charset="0"/>
                          </a:rPr>
                          <m:t>𝑿</m:t>
                        </m:r>
                      </m:e>
                      <m:sub>
                        <m:r>
                          <a:rPr lang="en-US" altLang="en-US" sz="1600" i="1">
                            <a:latin typeface="Cambria Math" panose="02040503050406030204" pitchFamily="18" charset="0"/>
                          </a:rPr>
                          <m:t>𝑖</m:t>
                        </m:r>
                        <m:r>
                          <a:rPr lang="en-US" altLang="en-US" sz="1600" i="1">
                            <a:latin typeface="Cambria Math" panose="02040503050406030204" pitchFamily="18" charset="0"/>
                          </a:rPr>
                          <m:t>,1</m:t>
                        </m:r>
                      </m:sub>
                    </m:sSub>
                    <m:r>
                      <a:rPr lang="en-US" altLang="en-US" sz="1600" i="1">
                        <a:latin typeface="Cambria Math" panose="02040503050406030204" pitchFamily="18" charset="0"/>
                      </a:rPr>
                      <m:t>, </m:t>
                    </m:r>
                    <m:r>
                      <a:rPr lang="en-US" altLang="en-US" sz="1600" i="1">
                        <a:latin typeface="Cambria Math" panose="02040503050406030204" pitchFamily="18" charset="0"/>
                        <a:ea typeface="Cambria Math" panose="02040503050406030204" pitchFamily="18" charset="0"/>
                      </a:rPr>
                      <m:t>⋯,</m:t>
                    </m:r>
                    <m:sSub>
                      <m:sSubPr>
                        <m:ctrlPr>
                          <a:rPr lang="en-US" altLang="en-US" sz="1600" i="1">
                            <a:latin typeface="Cambria Math" panose="02040503050406030204" pitchFamily="18" charset="0"/>
                            <a:ea typeface="Cambria Math" panose="02040503050406030204" pitchFamily="18" charset="0"/>
                          </a:rPr>
                        </m:ctrlPr>
                      </m:sSubPr>
                      <m:e>
                        <m:r>
                          <a:rPr lang="en-US" altLang="en-US" sz="1600" b="1" i="1">
                            <a:latin typeface="Cambria Math" panose="02040503050406030204" pitchFamily="18" charset="0"/>
                          </a:rPr>
                          <m:t>𝑿</m:t>
                        </m:r>
                      </m:e>
                      <m:sub>
                        <m:r>
                          <a:rPr lang="en-US" altLang="en-US" sz="1600" i="1">
                            <a:latin typeface="Cambria Math" panose="02040503050406030204" pitchFamily="18" charset="0"/>
                            <a:ea typeface="Cambria Math" panose="02040503050406030204" pitchFamily="18" charset="0"/>
                          </a:rPr>
                          <m:t>𝑖</m:t>
                        </m:r>
                        <m:r>
                          <a:rPr lang="en-US" altLang="en-US" sz="1600" i="1">
                            <a:latin typeface="Cambria Math" panose="02040503050406030204" pitchFamily="18" charset="0"/>
                            <a:ea typeface="Cambria Math" panose="02040503050406030204" pitchFamily="18" charset="0"/>
                          </a:rPr>
                          <m:t>,</m:t>
                        </m:r>
                        <m:r>
                          <a:rPr lang="en-US" altLang="en-US" sz="1600" i="1">
                            <a:latin typeface="Cambria Math" panose="02040503050406030204" pitchFamily="18" charset="0"/>
                            <a:ea typeface="Cambria Math" panose="02040503050406030204" pitchFamily="18" charset="0"/>
                          </a:rPr>
                          <m:t>𝑝</m:t>
                        </m:r>
                      </m:sub>
                    </m:sSub>
                    <m:r>
                      <a:rPr lang="en-US" altLang="en-US" sz="1600" i="1">
                        <a:latin typeface="Cambria Math" panose="02040503050406030204" pitchFamily="18" charset="0"/>
                        <a:ea typeface="Cambria Math" panose="02040503050406030204" pitchFamily="18" charset="0"/>
                      </a:rPr>
                      <m:t> </m:t>
                    </m:r>
                  </m:oMath>
                </a14:m>
                <a:r>
                  <a:rPr lang="en-US" altLang="en-US" sz="1600" dirty="0">
                    <a:latin typeface="Helvetica" panose="020B0604020202020204" pitchFamily="34" charset="0"/>
                    <a:ea typeface="Helvetica Neue" charset="0"/>
                    <a:cs typeface="Helvetica" panose="020B0604020202020204" pitchFamily="34" charset="0"/>
                  </a:rPr>
                  <a:t>~ </a:t>
                </a:r>
                <a:r>
                  <a:rPr lang="en-US" altLang="en-US" sz="1600" dirty="0">
                    <a:latin typeface="Cambria Math" panose="02040503050406030204" pitchFamily="18" charset="0"/>
                    <a:ea typeface="Cambria Math" panose="02040503050406030204" pitchFamily="18" charset="0"/>
                    <a:cs typeface="Helvetica" panose="020B0604020202020204" pitchFamily="34" charset="0"/>
                  </a:rPr>
                  <a:t>Binomial</a:t>
                </a:r>
                <a14:m>
                  <m:oMath xmlns:m="http://schemas.openxmlformats.org/officeDocument/2006/math">
                    <m:d>
                      <m:dPr>
                        <m:ctrlPr>
                          <a:rPr lang="en-US" sz="1600" i="1">
                            <a:latin typeface="Cambria Math" panose="02040503050406030204" pitchFamily="18" charset="0"/>
                          </a:rPr>
                        </m:ctrlPr>
                      </m:dPr>
                      <m:e>
                        <m:sSub>
                          <m:sSubPr>
                            <m:ctrlPr>
                              <a:rPr lang="en-US" altLang="en-US" sz="1600" i="1">
                                <a:latin typeface="Cambria Math" panose="02040503050406030204" pitchFamily="18" charset="0"/>
                                <a:ea typeface="Cambria Math" panose="02040503050406030204" pitchFamily="18" charset="0"/>
                              </a:rPr>
                            </m:ctrlPr>
                          </m:sSubPr>
                          <m:e>
                            <m:r>
                              <a:rPr lang="en-US" altLang="en-US" sz="1600" i="1">
                                <a:latin typeface="Cambria Math" panose="02040503050406030204" pitchFamily="18" charset="0"/>
                                <a:ea typeface="Cambria Math" panose="02040503050406030204" pitchFamily="18" charset="0"/>
                              </a:rPr>
                              <m:t>𝑛</m:t>
                            </m:r>
                          </m:e>
                          <m:sub>
                            <m:r>
                              <a:rPr lang="en-US" altLang="en-US" sz="1600" i="1">
                                <a:latin typeface="Cambria Math" panose="02040503050406030204" pitchFamily="18" charset="0"/>
                                <a:ea typeface="Cambria Math" panose="02040503050406030204" pitchFamily="18" charset="0"/>
                              </a:rPr>
                              <m:t>𝑖</m:t>
                            </m:r>
                          </m:sub>
                        </m:sSub>
                        <m:r>
                          <a:rPr lang="en-US" sz="1600" i="1">
                            <a:latin typeface="Cambria Math" panose="02040503050406030204" pitchFamily="18" charset="0"/>
                          </a:rPr>
                          <m:t>, </m:t>
                        </m:r>
                        <m:r>
                          <m:rPr>
                            <m:sty m:val="p"/>
                          </m:rPr>
                          <a:rPr lang="en-US" sz="1600">
                            <a:latin typeface="Cambria Math" panose="02040503050406030204" pitchFamily="18" charset="0"/>
                            <a:ea typeface="Helvetica Neue" charset="0"/>
                            <a:cs typeface="Helvetica Neue" charset="0"/>
                          </a:rPr>
                          <m:t>p</m:t>
                        </m:r>
                        <m:d>
                          <m:dPr>
                            <m:ctrlPr>
                              <a:rPr lang="en-US" altLang="en-US" sz="1600" i="1">
                                <a:latin typeface="Cambria Math" panose="02040503050406030204" pitchFamily="18" charset="0"/>
                              </a:rPr>
                            </m:ctrlPr>
                          </m:dPr>
                          <m:e>
                            <m:sSub>
                              <m:sSubPr>
                                <m:ctrlPr>
                                  <a:rPr lang="en-US" altLang="en-US" sz="1600" i="1">
                                    <a:latin typeface="Cambria Math" panose="02040503050406030204" pitchFamily="18" charset="0"/>
                                  </a:rPr>
                                </m:ctrlPr>
                              </m:sSubPr>
                              <m:e>
                                <m:r>
                                  <a:rPr lang="en-US" altLang="en-US" sz="1600" b="1" i="1">
                                    <a:latin typeface="Cambria Math" panose="02040503050406030204" pitchFamily="18" charset="0"/>
                                  </a:rPr>
                                  <m:t>𝑿</m:t>
                                </m:r>
                              </m:e>
                              <m:sub>
                                <m:r>
                                  <a:rPr lang="en-US" altLang="en-US" sz="1600" i="1">
                                    <a:latin typeface="Cambria Math" panose="02040503050406030204" pitchFamily="18" charset="0"/>
                                  </a:rPr>
                                  <m:t>𝑖</m:t>
                                </m:r>
                                <m:r>
                                  <a:rPr lang="en-US" altLang="en-US" sz="1600" i="1">
                                    <a:latin typeface="Cambria Math" panose="02040503050406030204" pitchFamily="18" charset="0"/>
                                  </a:rPr>
                                  <m:t>,1</m:t>
                                </m:r>
                              </m:sub>
                            </m:sSub>
                            <m:r>
                              <a:rPr lang="en-US" altLang="en-US" sz="1600" i="1">
                                <a:latin typeface="Cambria Math" panose="02040503050406030204" pitchFamily="18" charset="0"/>
                              </a:rPr>
                              <m:t>, </m:t>
                            </m:r>
                            <m:r>
                              <a:rPr lang="en-US" altLang="en-US" sz="1600" i="1">
                                <a:latin typeface="Cambria Math" panose="02040503050406030204" pitchFamily="18" charset="0"/>
                                <a:ea typeface="Cambria Math" panose="02040503050406030204" pitchFamily="18" charset="0"/>
                              </a:rPr>
                              <m:t>⋯,</m:t>
                            </m:r>
                            <m:sSub>
                              <m:sSubPr>
                                <m:ctrlPr>
                                  <a:rPr lang="en-US" altLang="en-US" sz="1600" i="1">
                                    <a:latin typeface="Cambria Math" panose="02040503050406030204" pitchFamily="18" charset="0"/>
                                    <a:ea typeface="Cambria Math" panose="02040503050406030204" pitchFamily="18" charset="0"/>
                                  </a:rPr>
                                </m:ctrlPr>
                              </m:sSubPr>
                              <m:e>
                                <m:r>
                                  <a:rPr lang="en-US" altLang="en-US" sz="1600" b="1" i="1">
                                    <a:latin typeface="Cambria Math" panose="02040503050406030204" pitchFamily="18" charset="0"/>
                                  </a:rPr>
                                  <m:t>𝑿</m:t>
                                </m:r>
                              </m:e>
                              <m:sub>
                                <m:r>
                                  <a:rPr lang="en-US" altLang="en-US" sz="1600" i="1">
                                    <a:latin typeface="Cambria Math" panose="02040503050406030204" pitchFamily="18" charset="0"/>
                                    <a:ea typeface="Cambria Math" panose="02040503050406030204" pitchFamily="18" charset="0"/>
                                  </a:rPr>
                                  <m:t>𝑖</m:t>
                                </m:r>
                                <m:r>
                                  <a:rPr lang="en-US" altLang="en-US" sz="1600" i="1">
                                    <a:latin typeface="Cambria Math" panose="02040503050406030204" pitchFamily="18" charset="0"/>
                                    <a:ea typeface="Cambria Math" panose="02040503050406030204" pitchFamily="18" charset="0"/>
                                  </a:rPr>
                                  <m:t>,</m:t>
                                </m:r>
                                <m:r>
                                  <a:rPr lang="en-US" altLang="en-US" sz="1600" i="1">
                                    <a:latin typeface="Cambria Math" panose="02040503050406030204" pitchFamily="18" charset="0"/>
                                    <a:ea typeface="Cambria Math" panose="02040503050406030204" pitchFamily="18" charset="0"/>
                                  </a:rPr>
                                  <m:t>𝑝</m:t>
                                </m:r>
                              </m:sub>
                            </m:sSub>
                          </m:e>
                        </m:d>
                      </m:e>
                    </m:d>
                    <m:r>
                      <a:rPr lang="en-US" altLang="en-US" sz="1600" i="1">
                        <a:latin typeface="Cambria Math" panose="02040503050406030204" pitchFamily="18" charset="0"/>
                        <a:ea typeface="Cambria Math" panose="02040503050406030204" pitchFamily="18" charset="0"/>
                      </a:rPr>
                      <m:t>,</m:t>
                    </m:r>
                  </m:oMath>
                </a14:m>
                <a:r>
                  <a:rPr lang="en-US" altLang="en-US" sz="1600" dirty="0">
                    <a:latin typeface="Helvetica" panose="020B0604020202020204" pitchFamily="34" charset="0"/>
                    <a:ea typeface="Helvetica Neue" charset="0"/>
                    <a:cs typeface="Helvetica" panose="020B0604020202020204" pitchFamily="34" charset="0"/>
                  </a:rPr>
                  <a:t> </a:t>
                </a:r>
                <a14:m>
                  <m:oMath xmlns:m="http://schemas.openxmlformats.org/officeDocument/2006/math">
                    <m:sSub>
                      <m:sSubPr>
                        <m:ctrlPr>
                          <a:rPr lang="en-US" altLang="en-US" sz="1600" i="1">
                            <a:latin typeface="Cambria Math" panose="02040503050406030204" pitchFamily="18" charset="0"/>
                            <a:ea typeface="Cambria Math" panose="02040503050406030204" pitchFamily="18" charset="0"/>
                          </a:rPr>
                        </m:ctrlPr>
                      </m:sSubPr>
                      <m:e>
                        <m:r>
                          <a:rPr lang="en-US" altLang="en-US" sz="1600" i="1">
                            <a:latin typeface="Cambria Math" panose="02040503050406030204" pitchFamily="18" charset="0"/>
                            <a:ea typeface="Cambria Math" panose="02040503050406030204" pitchFamily="18" charset="0"/>
                          </a:rPr>
                          <m:t>𝑛</m:t>
                        </m:r>
                      </m:e>
                      <m:sub>
                        <m:r>
                          <a:rPr lang="en-US" altLang="en-US" sz="1600" i="1">
                            <a:latin typeface="Cambria Math" panose="02040503050406030204" pitchFamily="18" charset="0"/>
                            <a:ea typeface="Cambria Math" panose="02040503050406030204" pitchFamily="18" charset="0"/>
                          </a:rPr>
                          <m:t>𝑖</m:t>
                        </m:r>
                      </m:sub>
                    </m:sSub>
                    <m:r>
                      <a:rPr lang="en-US" altLang="en-US" sz="1600" i="1">
                        <a:latin typeface="Cambria Math" panose="02040503050406030204" pitchFamily="18" charset="0"/>
                        <a:ea typeface="Cambria Math" panose="02040503050406030204" pitchFamily="18" charset="0"/>
                      </a:rPr>
                      <m:t>&gt;</m:t>
                    </m:r>
                    <m:r>
                      <a:rPr lang="en-US" altLang="en-US" sz="1600" dirty="0">
                        <a:latin typeface="Cambria Math" panose="02040503050406030204" pitchFamily="18" charset="0"/>
                        <a:ea typeface="Cambria Math" panose="02040503050406030204" pitchFamily="18" charset="0"/>
                      </a:rPr>
                      <m:t>1</m:t>
                    </m:r>
                  </m:oMath>
                </a14:m>
                <a:r>
                  <a:rPr lang="en-US" altLang="en-US" sz="1600" dirty="0">
                    <a:latin typeface="Helvetica" panose="020B0604020202020204" pitchFamily="34" charset="0"/>
                    <a:ea typeface="Helvetica Neue" charset="0"/>
                    <a:cs typeface="Helvetica" panose="020B0604020202020204" pitchFamily="34" charset="0"/>
                  </a:rPr>
                  <a:t>               </a:t>
                </a:r>
              </a:p>
              <a:p>
                <a:pPr marL="344488" indent="-344488">
                  <a:spcBef>
                    <a:spcPts val="1200"/>
                  </a:spcBef>
                  <a:buFont typeface="Arial" panose="020B0604020202020204" pitchFamily="34" charset="0"/>
                  <a:buChar char="•"/>
                </a:pPr>
                <a:r>
                  <a:rPr lang="en-US" altLang="en-US" sz="1600" dirty="0">
                    <a:latin typeface="Helvetica" panose="020B0604020202020204" pitchFamily="34" charset="0"/>
                    <a:ea typeface="Helvetica Neue" charset="0"/>
                    <a:cs typeface="Helvetica" panose="020B0604020202020204" pitchFamily="34" charset="0"/>
                  </a:rPr>
                  <a:t>Estimated probabilities are:</a:t>
                </a:r>
              </a:p>
              <a:p>
                <a:pPr marL="746125"/>
                <a14:m>
                  <m:oMath xmlns:m="http://schemas.openxmlformats.org/officeDocument/2006/math">
                    <m:sSub>
                      <m:sSubPr>
                        <m:ctrlPr>
                          <a:rPr lang="en-US" sz="1600" i="1">
                            <a:latin typeface="Cambria Math" panose="02040503050406030204" pitchFamily="18" charset="0"/>
                            <a:ea typeface="Cambria Math" panose="02040503050406030204" pitchFamily="18" charset="0"/>
                          </a:rPr>
                        </m:ctrlPr>
                      </m:sSubPr>
                      <m:e>
                        <m:acc>
                          <m:accPr>
                            <m:chr m:val="̂"/>
                            <m:ctrlPr>
                              <a:rPr lang="en-US" sz="1600" i="1">
                                <a:latin typeface="Cambria Math" panose="02040503050406030204" pitchFamily="18" charset="0"/>
                                <a:ea typeface="Cambria Math" panose="02040503050406030204" pitchFamily="18" charset="0"/>
                              </a:rPr>
                            </m:ctrlPr>
                          </m:accPr>
                          <m:e>
                            <m:r>
                              <m:rPr>
                                <m:nor/>
                              </m:rPr>
                              <a:rPr lang="en-US" sz="1600">
                                <a:latin typeface="Helvetica" panose="020B0604020202020204" pitchFamily="34" charset="0"/>
                                <a:ea typeface="Cambria Math" panose="02040503050406030204" pitchFamily="18" charset="0"/>
                                <a:cs typeface="Helvetica" panose="020B0604020202020204" pitchFamily="34" charset="0"/>
                              </a:rPr>
                              <m:t>p</m:t>
                            </m:r>
                          </m:e>
                        </m:acc>
                      </m:e>
                      <m:sub>
                        <m:r>
                          <a:rPr lang="en-US" sz="1600" i="1">
                            <a:latin typeface="Cambria Math" panose="02040503050406030204" pitchFamily="18" charset="0"/>
                            <a:ea typeface="Cambria Math" panose="02040503050406030204" pitchFamily="18" charset="0"/>
                          </a:rPr>
                          <m:t>𝑖</m:t>
                        </m:r>
                      </m:sub>
                    </m:sSub>
                    <m:r>
                      <a:rPr lang="en-US" altLang="en-US" sz="1600" i="1">
                        <a:latin typeface="Cambria Math" panose="02040503050406030204" pitchFamily="18" charset="0"/>
                      </a:rPr>
                      <m:t>=</m:t>
                    </m:r>
                    <m:sSub>
                      <m:sSubPr>
                        <m:ctrlPr>
                          <a:rPr lang="en-US" sz="1600" i="1">
                            <a:latin typeface="Cambria Math" panose="02040503050406030204" pitchFamily="18" charset="0"/>
                            <a:ea typeface="Cambria Math" panose="02040503050406030204" pitchFamily="18" charset="0"/>
                          </a:rPr>
                        </m:ctrlPr>
                      </m:sSubPr>
                      <m:e>
                        <m:acc>
                          <m:accPr>
                            <m:chr m:val="̂"/>
                            <m:ctrlPr>
                              <a:rPr lang="en-US" sz="1600" i="1">
                                <a:latin typeface="Cambria Math" panose="02040503050406030204" pitchFamily="18" charset="0"/>
                                <a:ea typeface="Cambria Math" panose="02040503050406030204" pitchFamily="18" charset="0"/>
                              </a:rPr>
                            </m:ctrlPr>
                          </m:accPr>
                          <m:e>
                            <m:r>
                              <m:rPr>
                                <m:nor/>
                              </m:rPr>
                              <a:rPr lang="en-US" sz="1600" b="0" i="0" smtClean="0">
                                <a:latin typeface="Helvetica" panose="020B0604020202020204" pitchFamily="34" charset="0"/>
                                <a:ea typeface="Cambria Math" panose="02040503050406030204" pitchFamily="18" charset="0"/>
                                <a:cs typeface="Helvetica" panose="020B0604020202020204" pitchFamily="34" charset="0"/>
                              </a:rPr>
                              <m:t>p</m:t>
                            </m:r>
                          </m:e>
                        </m:acc>
                      </m:e>
                      <m:sub>
                        <m:r>
                          <a:rPr lang="en-US" sz="1600" i="1">
                            <a:latin typeface="Cambria Math" panose="02040503050406030204" pitchFamily="18" charset="0"/>
                            <a:ea typeface="Cambria Math" panose="02040503050406030204" pitchFamily="18" charset="0"/>
                          </a:rPr>
                          <m:t>𝑖</m:t>
                        </m:r>
                      </m:sub>
                    </m:sSub>
                    <m:d>
                      <m:dPr>
                        <m:ctrlPr>
                          <a:rPr lang="en-US" altLang="en-US" sz="1600" i="1">
                            <a:latin typeface="Cambria Math" panose="02040503050406030204" pitchFamily="18" charset="0"/>
                          </a:rPr>
                        </m:ctrlPr>
                      </m:dPr>
                      <m:e>
                        <m:sSub>
                          <m:sSubPr>
                            <m:ctrlPr>
                              <a:rPr lang="en-US" altLang="en-US" sz="1600" i="1">
                                <a:latin typeface="Cambria Math" panose="02040503050406030204" pitchFamily="18" charset="0"/>
                              </a:rPr>
                            </m:ctrlPr>
                          </m:sSubPr>
                          <m:e>
                            <m:r>
                              <a:rPr lang="en-US" altLang="en-US" sz="1600" b="1" i="1">
                                <a:latin typeface="Cambria Math" panose="02040503050406030204" pitchFamily="18" charset="0"/>
                              </a:rPr>
                              <m:t>𝑿</m:t>
                            </m:r>
                          </m:e>
                          <m:sub>
                            <m:r>
                              <a:rPr lang="en-US" altLang="en-US" sz="1600" i="1">
                                <a:latin typeface="Cambria Math" panose="02040503050406030204" pitchFamily="18" charset="0"/>
                              </a:rPr>
                              <m:t>𝑖</m:t>
                            </m:r>
                            <m:r>
                              <a:rPr lang="en-US" altLang="en-US" sz="1600" i="1">
                                <a:latin typeface="Cambria Math" panose="02040503050406030204" pitchFamily="18" charset="0"/>
                              </a:rPr>
                              <m:t>,1</m:t>
                            </m:r>
                          </m:sub>
                        </m:sSub>
                        <m:r>
                          <a:rPr lang="en-US" altLang="en-US" sz="1600" i="1">
                            <a:latin typeface="Cambria Math" panose="02040503050406030204" pitchFamily="18" charset="0"/>
                          </a:rPr>
                          <m:t>, </m:t>
                        </m:r>
                        <m:r>
                          <a:rPr lang="en-US" altLang="en-US" sz="1600" i="1">
                            <a:latin typeface="Cambria Math" panose="02040503050406030204" pitchFamily="18" charset="0"/>
                            <a:ea typeface="Cambria Math" panose="02040503050406030204" pitchFamily="18" charset="0"/>
                          </a:rPr>
                          <m:t>⋯,</m:t>
                        </m:r>
                        <m:sSub>
                          <m:sSubPr>
                            <m:ctrlPr>
                              <a:rPr lang="en-US" altLang="en-US" sz="1600" i="1">
                                <a:latin typeface="Cambria Math" panose="02040503050406030204" pitchFamily="18" charset="0"/>
                                <a:ea typeface="Cambria Math" panose="02040503050406030204" pitchFamily="18" charset="0"/>
                              </a:rPr>
                            </m:ctrlPr>
                          </m:sSubPr>
                          <m:e>
                            <m:r>
                              <a:rPr lang="en-US" altLang="en-US" sz="1600" b="1" i="1">
                                <a:latin typeface="Cambria Math" panose="02040503050406030204" pitchFamily="18" charset="0"/>
                              </a:rPr>
                              <m:t>𝑿</m:t>
                            </m:r>
                          </m:e>
                          <m:sub>
                            <m:r>
                              <a:rPr lang="en-US" altLang="en-US" sz="1600" i="1">
                                <a:latin typeface="Cambria Math" panose="02040503050406030204" pitchFamily="18" charset="0"/>
                                <a:ea typeface="Cambria Math" panose="02040503050406030204" pitchFamily="18" charset="0"/>
                              </a:rPr>
                              <m:t>𝑖</m:t>
                            </m:r>
                            <m:r>
                              <a:rPr lang="en-US" altLang="en-US" sz="1600" i="1">
                                <a:latin typeface="Cambria Math" panose="02040503050406030204" pitchFamily="18" charset="0"/>
                                <a:ea typeface="Cambria Math" panose="02040503050406030204" pitchFamily="18" charset="0"/>
                              </a:rPr>
                              <m:t>,</m:t>
                            </m:r>
                            <m:r>
                              <a:rPr lang="en-US" altLang="en-US" sz="1600" i="1">
                                <a:latin typeface="Cambria Math" panose="02040503050406030204" pitchFamily="18" charset="0"/>
                                <a:ea typeface="Cambria Math" panose="02040503050406030204" pitchFamily="18" charset="0"/>
                              </a:rPr>
                              <m:t>𝑝</m:t>
                            </m:r>
                          </m:sub>
                        </m:sSub>
                      </m:e>
                    </m:d>
                    <m:r>
                      <a:rPr lang="en-US" sz="1600" i="1">
                        <a:solidFill>
                          <a:srgbClr val="000000"/>
                        </a:solidFill>
                        <a:latin typeface="Cambria Math" panose="02040503050406030204" pitchFamily="18" charset="0"/>
                        <a:cs typeface="Helvetica"/>
                      </a:rPr>
                      <m:t>=</m:t>
                    </m:r>
                  </m:oMath>
                </a14:m>
                <a:r>
                  <a:rPr lang="en-US" altLang="en-US" sz="1600" dirty="0">
                    <a:latin typeface="Helvetica" panose="020B0604020202020204" pitchFamily="34" charset="0"/>
                    <a:ea typeface="Helvetica Neue" charset="0"/>
                    <a:cs typeface="Helvetica" panose="020B0604020202020204" pitchFamily="34" charset="0"/>
                  </a:rPr>
                  <a:t> </a:t>
                </a:r>
                <a14:m>
                  <m:oMath xmlns:m="http://schemas.openxmlformats.org/officeDocument/2006/math">
                    <m:f>
                      <m:fPr>
                        <m:ctrlPr>
                          <a:rPr lang="en-US" sz="2000" i="1">
                            <a:solidFill>
                              <a:srgbClr val="000000"/>
                            </a:solidFill>
                            <a:latin typeface="Cambria Math" panose="02040503050406030204" pitchFamily="18" charset="0"/>
                            <a:cs typeface="Helvetica"/>
                          </a:rPr>
                        </m:ctrlPr>
                      </m:fPr>
                      <m:num>
                        <m:sSup>
                          <m:sSupPr>
                            <m:ctrlPr>
                              <a:rPr lang="en-US" sz="2000" i="1">
                                <a:solidFill>
                                  <a:srgbClr val="000000"/>
                                </a:solidFill>
                                <a:latin typeface="Cambria Math" panose="02040503050406030204" pitchFamily="18" charset="0"/>
                                <a:cs typeface="Helvetica"/>
                              </a:rPr>
                            </m:ctrlPr>
                          </m:sSupPr>
                          <m:e>
                            <m:r>
                              <m:rPr>
                                <m:sty m:val="p"/>
                              </m:rPr>
                              <a:rPr lang="en-US" sz="2000">
                                <a:solidFill>
                                  <a:srgbClr val="000000"/>
                                </a:solidFill>
                                <a:latin typeface="Cambria Math" panose="02040503050406030204" pitchFamily="18" charset="0"/>
                                <a:cs typeface="Helvetica"/>
                              </a:rPr>
                              <m:t>e</m:t>
                            </m:r>
                          </m:e>
                          <m:sup>
                            <m:acc>
                              <m:accPr>
                                <m:chr m:val="̂"/>
                                <m:ctrlPr>
                                  <a:rPr lang="en-US" sz="2000" i="1" smtClean="0">
                                    <a:solidFill>
                                      <a:srgbClr val="000000"/>
                                    </a:solidFill>
                                    <a:latin typeface="Cambria Math" panose="02040503050406030204" pitchFamily="18" charset="0"/>
                                    <a:cs typeface="Helvetica"/>
                                  </a:rPr>
                                </m:ctrlPr>
                              </m:accPr>
                              <m:e>
                                <m:sSub>
                                  <m:sSubPr>
                                    <m:ctrlPr>
                                      <a:rPr lang="en-US" altLang="en-US" sz="2000" i="1" dirty="0">
                                        <a:latin typeface="Cambria Math" panose="02040503050406030204" pitchFamily="18" charset="0"/>
                                        <a:ea typeface="Cambria Math" panose="02040503050406030204" pitchFamily="18" charset="0"/>
                                      </a:rPr>
                                    </m:ctrlPr>
                                  </m:sSubPr>
                                  <m:e>
                                    <m:r>
                                      <a:rPr lang="en-US" altLang="en-US" sz="2000" i="1" dirty="0">
                                        <a:latin typeface="Cambria Math" panose="02040503050406030204" pitchFamily="18" charset="0"/>
                                        <a:ea typeface="Cambria Math" panose="02040503050406030204" pitchFamily="18" charset="0"/>
                                      </a:rPr>
                                      <m:t>𝛽</m:t>
                                    </m:r>
                                  </m:e>
                                  <m:sub>
                                    <m:r>
                                      <a:rPr lang="en-US" altLang="en-US" sz="2000" i="1" dirty="0">
                                        <a:latin typeface="Cambria Math" panose="02040503050406030204" pitchFamily="18" charset="0"/>
                                        <a:ea typeface="Cambria Math" panose="02040503050406030204" pitchFamily="18" charset="0"/>
                                      </a:rPr>
                                      <m:t>0</m:t>
                                    </m:r>
                                  </m:sub>
                                </m:sSub>
                              </m:e>
                            </m:acc>
                            <m:r>
                              <a:rPr lang="en-US" altLang="en-US" sz="2000" i="1" dirty="0">
                                <a:latin typeface="Cambria Math" panose="02040503050406030204" pitchFamily="18" charset="0"/>
                                <a:ea typeface="Cambria Math" panose="02040503050406030204" pitchFamily="18" charset="0"/>
                              </a:rPr>
                              <m:t>+</m:t>
                            </m:r>
                            <m:acc>
                              <m:accPr>
                                <m:chr m:val="̂"/>
                                <m:ctrlPr>
                                  <a:rPr lang="en-US" altLang="en-US" sz="2000" i="1" dirty="0" smtClean="0">
                                    <a:solidFill>
                                      <a:srgbClr val="000000"/>
                                    </a:solidFill>
                                    <a:latin typeface="Cambria Math" panose="02040503050406030204" pitchFamily="18" charset="0"/>
                                    <a:ea typeface="Cambria Math" panose="02040503050406030204" pitchFamily="18" charset="0"/>
                                    <a:cs typeface="Helvetica"/>
                                  </a:rPr>
                                </m:ctrlPr>
                              </m:accPr>
                              <m:e>
                                <m:sSub>
                                  <m:sSubPr>
                                    <m:ctrlPr>
                                      <a:rPr lang="en-US" altLang="en-US" sz="2000" i="1" dirty="0">
                                        <a:latin typeface="Cambria Math" panose="02040503050406030204" pitchFamily="18" charset="0"/>
                                        <a:ea typeface="Cambria Math" panose="02040503050406030204" pitchFamily="18" charset="0"/>
                                      </a:rPr>
                                    </m:ctrlPr>
                                  </m:sSubPr>
                                  <m:e>
                                    <m:r>
                                      <a:rPr lang="en-US" altLang="en-US" sz="2000" i="1" dirty="0">
                                        <a:latin typeface="Cambria Math" panose="02040503050406030204" pitchFamily="18" charset="0"/>
                                        <a:ea typeface="Cambria Math" panose="02040503050406030204" pitchFamily="18" charset="0"/>
                                      </a:rPr>
                                      <m:t>𝛽</m:t>
                                    </m:r>
                                  </m:e>
                                  <m:sub>
                                    <m:r>
                                      <a:rPr lang="en-US" altLang="en-US" sz="2000" i="1" dirty="0">
                                        <a:latin typeface="Cambria Math" panose="02040503050406030204" pitchFamily="18" charset="0"/>
                                        <a:ea typeface="Cambria Math" panose="02040503050406030204" pitchFamily="18" charset="0"/>
                                      </a:rPr>
                                      <m:t>1</m:t>
                                    </m:r>
                                  </m:sub>
                                </m:sSub>
                              </m:e>
                            </m:acc>
                            <m:sSub>
                              <m:sSubPr>
                                <m:ctrlPr>
                                  <a:rPr lang="en-US" altLang="en-US" sz="2000" i="1">
                                    <a:latin typeface="Cambria Math" panose="02040503050406030204" pitchFamily="18" charset="0"/>
                                  </a:rPr>
                                </m:ctrlPr>
                              </m:sSubPr>
                              <m:e>
                                <m:r>
                                  <a:rPr lang="en-US" altLang="en-US" sz="2000" b="1" i="1">
                                    <a:latin typeface="Cambria Math" panose="02040503050406030204" pitchFamily="18" charset="0"/>
                                  </a:rPr>
                                  <m:t>𝑿</m:t>
                                </m:r>
                              </m:e>
                              <m:sub>
                                <m:r>
                                  <a:rPr lang="en-US" altLang="en-US" sz="2000" i="1">
                                    <a:latin typeface="Cambria Math" panose="02040503050406030204" pitchFamily="18" charset="0"/>
                                  </a:rPr>
                                  <m:t>𝑖</m:t>
                                </m:r>
                                <m:r>
                                  <a:rPr lang="en-US" altLang="en-US" sz="2000" i="1">
                                    <a:latin typeface="Cambria Math" panose="02040503050406030204" pitchFamily="18" charset="0"/>
                                  </a:rPr>
                                  <m:t>,1</m:t>
                                </m:r>
                              </m:sub>
                            </m:sSub>
                            <m:r>
                              <a:rPr lang="en-US" altLang="en-US" sz="2000" i="1" dirty="0">
                                <a:latin typeface="Cambria Math" panose="02040503050406030204" pitchFamily="18" charset="0"/>
                                <a:ea typeface="Cambria Math" panose="02040503050406030204" pitchFamily="18" charset="0"/>
                              </a:rPr>
                              <m:t>+⋯+</m:t>
                            </m:r>
                            <m:acc>
                              <m:accPr>
                                <m:chr m:val="̂"/>
                                <m:ctrlPr>
                                  <a:rPr lang="en-US" altLang="en-US" sz="2000" i="1" dirty="0" smtClean="0">
                                    <a:solidFill>
                                      <a:srgbClr val="000000"/>
                                    </a:solidFill>
                                    <a:latin typeface="Cambria Math" panose="02040503050406030204" pitchFamily="18" charset="0"/>
                                    <a:ea typeface="Cambria Math" panose="02040503050406030204" pitchFamily="18" charset="0"/>
                                    <a:cs typeface="Helvetica"/>
                                  </a:rPr>
                                </m:ctrlPr>
                              </m:accPr>
                              <m:e>
                                <m:sSub>
                                  <m:sSubPr>
                                    <m:ctrlPr>
                                      <a:rPr lang="en-US" altLang="en-US" sz="2000" i="1" dirty="0">
                                        <a:latin typeface="Cambria Math" panose="02040503050406030204" pitchFamily="18" charset="0"/>
                                        <a:ea typeface="Cambria Math" panose="02040503050406030204" pitchFamily="18" charset="0"/>
                                      </a:rPr>
                                    </m:ctrlPr>
                                  </m:sSubPr>
                                  <m:e>
                                    <m:r>
                                      <a:rPr lang="en-US" altLang="en-US" sz="2000" i="1" dirty="0">
                                        <a:latin typeface="Cambria Math" panose="02040503050406030204" pitchFamily="18" charset="0"/>
                                        <a:ea typeface="Cambria Math" panose="02040503050406030204" pitchFamily="18" charset="0"/>
                                      </a:rPr>
                                      <m:t>𝛽</m:t>
                                    </m:r>
                                  </m:e>
                                  <m:sub>
                                    <m:r>
                                      <a:rPr lang="en-US" altLang="en-US" sz="2000" i="1" dirty="0">
                                        <a:latin typeface="Cambria Math" panose="02040503050406030204" pitchFamily="18" charset="0"/>
                                        <a:ea typeface="Cambria Math" panose="02040503050406030204" pitchFamily="18" charset="0"/>
                                      </a:rPr>
                                      <m:t>𝑝</m:t>
                                    </m:r>
                                  </m:sub>
                                </m:sSub>
                              </m:e>
                            </m:acc>
                            <m:sSub>
                              <m:sSubPr>
                                <m:ctrlPr>
                                  <a:rPr lang="en-US" altLang="en-US" sz="2000" i="1">
                                    <a:latin typeface="Cambria Math" panose="02040503050406030204" pitchFamily="18" charset="0"/>
                                    <a:ea typeface="Cambria Math" panose="02040503050406030204" pitchFamily="18" charset="0"/>
                                  </a:rPr>
                                </m:ctrlPr>
                              </m:sSubPr>
                              <m:e>
                                <m:r>
                                  <a:rPr lang="en-US" altLang="en-US" sz="2000" b="1" i="1">
                                    <a:latin typeface="Cambria Math" panose="02040503050406030204" pitchFamily="18" charset="0"/>
                                  </a:rPr>
                                  <m:t>𝑿</m:t>
                                </m:r>
                              </m:e>
                              <m:sub>
                                <m:r>
                                  <a:rPr lang="en-US" altLang="en-US" sz="2000" i="1">
                                    <a:latin typeface="Cambria Math" panose="02040503050406030204" pitchFamily="18" charset="0"/>
                                    <a:ea typeface="Cambria Math" panose="02040503050406030204" pitchFamily="18" charset="0"/>
                                  </a:rPr>
                                  <m:t>𝑖</m:t>
                                </m:r>
                                <m:r>
                                  <a:rPr lang="en-US" altLang="en-US" sz="2000" i="1">
                                    <a:latin typeface="Cambria Math" panose="02040503050406030204" pitchFamily="18" charset="0"/>
                                    <a:ea typeface="Cambria Math" panose="02040503050406030204" pitchFamily="18" charset="0"/>
                                  </a:rPr>
                                  <m:t>,</m:t>
                                </m:r>
                                <m:r>
                                  <a:rPr lang="en-US" altLang="en-US" sz="2000" i="1">
                                    <a:latin typeface="Cambria Math" panose="02040503050406030204" pitchFamily="18" charset="0"/>
                                    <a:ea typeface="Cambria Math" panose="02040503050406030204" pitchFamily="18" charset="0"/>
                                  </a:rPr>
                                  <m:t>𝑝</m:t>
                                </m:r>
                              </m:sub>
                            </m:sSub>
                          </m:sup>
                        </m:sSup>
                      </m:num>
                      <m:den>
                        <m:r>
                          <a:rPr lang="en-US" sz="2000" i="1">
                            <a:solidFill>
                              <a:srgbClr val="000000"/>
                            </a:solidFill>
                            <a:latin typeface="Cambria Math" panose="02040503050406030204" pitchFamily="18" charset="0"/>
                            <a:cs typeface="Helvetica"/>
                          </a:rPr>
                          <m:t>1+</m:t>
                        </m:r>
                        <m:sSup>
                          <m:sSupPr>
                            <m:ctrlPr>
                              <a:rPr lang="en-US" sz="2000" i="1">
                                <a:solidFill>
                                  <a:srgbClr val="000000"/>
                                </a:solidFill>
                                <a:latin typeface="Cambria Math" panose="02040503050406030204" pitchFamily="18" charset="0"/>
                                <a:cs typeface="Helvetica"/>
                              </a:rPr>
                            </m:ctrlPr>
                          </m:sSupPr>
                          <m:e>
                            <m:r>
                              <m:rPr>
                                <m:sty m:val="p"/>
                              </m:rPr>
                              <a:rPr lang="en-US" sz="2000">
                                <a:solidFill>
                                  <a:srgbClr val="000000"/>
                                </a:solidFill>
                                <a:latin typeface="Cambria Math" panose="02040503050406030204" pitchFamily="18" charset="0"/>
                                <a:cs typeface="Helvetica"/>
                              </a:rPr>
                              <m:t>e</m:t>
                            </m:r>
                          </m:e>
                          <m:sup>
                            <m:acc>
                              <m:accPr>
                                <m:chr m:val="̂"/>
                                <m:ctrlPr>
                                  <a:rPr lang="en-US" sz="2000" i="1">
                                    <a:solidFill>
                                      <a:srgbClr val="000000"/>
                                    </a:solidFill>
                                    <a:latin typeface="Cambria Math" panose="02040503050406030204" pitchFamily="18" charset="0"/>
                                    <a:cs typeface="Helvetica"/>
                                  </a:rPr>
                                </m:ctrlPr>
                              </m:accPr>
                              <m:e>
                                <m:sSub>
                                  <m:sSubPr>
                                    <m:ctrlPr>
                                      <a:rPr lang="en-US" altLang="en-US" sz="2000" i="1" dirty="0">
                                        <a:latin typeface="Cambria Math" panose="02040503050406030204" pitchFamily="18" charset="0"/>
                                        <a:ea typeface="Cambria Math" panose="02040503050406030204" pitchFamily="18" charset="0"/>
                                      </a:rPr>
                                    </m:ctrlPr>
                                  </m:sSubPr>
                                  <m:e>
                                    <m:r>
                                      <a:rPr lang="en-US" altLang="en-US" sz="2000" i="1" dirty="0">
                                        <a:latin typeface="Cambria Math" panose="02040503050406030204" pitchFamily="18" charset="0"/>
                                        <a:ea typeface="Cambria Math" panose="02040503050406030204" pitchFamily="18" charset="0"/>
                                      </a:rPr>
                                      <m:t>𝛽</m:t>
                                    </m:r>
                                  </m:e>
                                  <m:sub>
                                    <m:r>
                                      <a:rPr lang="en-US" altLang="en-US" sz="2000" i="1" dirty="0">
                                        <a:latin typeface="Cambria Math" panose="02040503050406030204" pitchFamily="18" charset="0"/>
                                        <a:ea typeface="Cambria Math" panose="02040503050406030204" pitchFamily="18" charset="0"/>
                                      </a:rPr>
                                      <m:t>0</m:t>
                                    </m:r>
                                  </m:sub>
                                </m:sSub>
                              </m:e>
                            </m:acc>
                            <m:r>
                              <a:rPr lang="en-US" altLang="en-US" sz="2000" i="1" dirty="0">
                                <a:latin typeface="Cambria Math" panose="02040503050406030204" pitchFamily="18" charset="0"/>
                                <a:ea typeface="Cambria Math" panose="02040503050406030204" pitchFamily="18" charset="0"/>
                              </a:rPr>
                              <m:t>+</m:t>
                            </m:r>
                            <m:acc>
                              <m:accPr>
                                <m:chr m:val="̂"/>
                                <m:ctrlPr>
                                  <a:rPr lang="en-US" altLang="en-US" sz="2000" i="1" dirty="0">
                                    <a:solidFill>
                                      <a:srgbClr val="000000"/>
                                    </a:solidFill>
                                    <a:latin typeface="Cambria Math" panose="02040503050406030204" pitchFamily="18" charset="0"/>
                                    <a:ea typeface="Cambria Math" panose="02040503050406030204" pitchFamily="18" charset="0"/>
                                    <a:cs typeface="Helvetica"/>
                                  </a:rPr>
                                </m:ctrlPr>
                              </m:accPr>
                              <m:e>
                                <m:sSub>
                                  <m:sSubPr>
                                    <m:ctrlPr>
                                      <a:rPr lang="en-US" altLang="en-US" sz="2000" i="1" dirty="0">
                                        <a:latin typeface="Cambria Math" panose="02040503050406030204" pitchFamily="18" charset="0"/>
                                        <a:ea typeface="Cambria Math" panose="02040503050406030204" pitchFamily="18" charset="0"/>
                                      </a:rPr>
                                    </m:ctrlPr>
                                  </m:sSubPr>
                                  <m:e>
                                    <m:r>
                                      <a:rPr lang="en-US" altLang="en-US" sz="2000" i="1" dirty="0">
                                        <a:latin typeface="Cambria Math" panose="02040503050406030204" pitchFamily="18" charset="0"/>
                                        <a:ea typeface="Cambria Math" panose="02040503050406030204" pitchFamily="18" charset="0"/>
                                      </a:rPr>
                                      <m:t>𝛽</m:t>
                                    </m:r>
                                  </m:e>
                                  <m:sub>
                                    <m:r>
                                      <a:rPr lang="en-US" altLang="en-US" sz="2000" i="1" dirty="0">
                                        <a:latin typeface="Cambria Math" panose="02040503050406030204" pitchFamily="18" charset="0"/>
                                        <a:ea typeface="Cambria Math" panose="02040503050406030204" pitchFamily="18" charset="0"/>
                                      </a:rPr>
                                      <m:t>1</m:t>
                                    </m:r>
                                  </m:sub>
                                </m:sSub>
                              </m:e>
                            </m:acc>
                            <m:sSub>
                              <m:sSubPr>
                                <m:ctrlPr>
                                  <a:rPr lang="en-US" altLang="en-US" sz="2000" i="1">
                                    <a:latin typeface="Cambria Math" panose="02040503050406030204" pitchFamily="18" charset="0"/>
                                  </a:rPr>
                                </m:ctrlPr>
                              </m:sSubPr>
                              <m:e>
                                <m:r>
                                  <a:rPr lang="en-US" altLang="en-US" sz="2000" b="1" i="1">
                                    <a:latin typeface="Cambria Math" panose="02040503050406030204" pitchFamily="18" charset="0"/>
                                  </a:rPr>
                                  <m:t>𝑿</m:t>
                                </m:r>
                              </m:e>
                              <m:sub>
                                <m:r>
                                  <a:rPr lang="en-US" altLang="en-US" sz="2000" i="1">
                                    <a:latin typeface="Cambria Math" panose="02040503050406030204" pitchFamily="18" charset="0"/>
                                  </a:rPr>
                                  <m:t>𝑖</m:t>
                                </m:r>
                                <m:r>
                                  <a:rPr lang="en-US" altLang="en-US" sz="2000" i="1">
                                    <a:latin typeface="Cambria Math" panose="02040503050406030204" pitchFamily="18" charset="0"/>
                                  </a:rPr>
                                  <m:t>,1</m:t>
                                </m:r>
                              </m:sub>
                            </m:sSub>
                            <m:r>
                              <a:rPr lang="en-US" altLang="en-US" sz="2000" i="1" dirty="0">
                                <a:latin typeface="Cambria Math" panose="02040503050406030204" pitchFamily="18" charset="0"/>
                                <a:ea typeface="Cambria Math" panose="02040503050406030204" pitchFamily="18" charset="0"/>
                              </a:rPr>
                              <m:t>+⋯+</m:t>
                            </m:r>
                            <m:acc>
                              <m:accPr>
                                <m:chr m:val="̂"/>
                                <m:ctrlPr>
                                  <a:rPr lang="en-US" altLang="en-US" sz="2000" i="1" dirty="0">
                                    <a:solidFill>
                                      <a:srgbClr val="000000"/>
                                    </a:solidFill>
                                    <a:latin typeface="Cambria Math" panose="02040503050406030204" pitchFamily="18" charset="0"/>
                                    <a:ea typeface="Cambria Math" panose="02040503050406030204" pitchFamily="18" charset="0"/>
                                    <a:cs typeface="Helvetica"/>
                                  </a:rPr>
                                </m:ctrlPr>
                              </m:accPr>
                              <m:e>
                                <m:sSub>
                                  <m:sSubPr>
                                    <m:ctrlPr>
                                      <a:rPr lang="en-US" altLang="en-US" sz="2000" i="1" dirty="0">
                                        <a:latin typeface="Cambria Math" panose="02040503050406030204" pitchFamily="18" charset="0"/>
                                        <a:ea typeface="Cambria Math" panose="02040503050406030204" pitchFamily="18" charset="0"/>
                                      </a:rPr>
                                    </m:ctrlPr>
                                  </m:sSubPr>
                                  <m:e>
                                    <m:r>
                                      <a:rPr lang="en-US" altLang="en-US" sz="2000" i="1" dirty="0">
                                        <a:latin typeface="Cambria Math" panose="02040503050406030204" pitchFamily="18" charset="0"/>
                                        <a:ea typeface="Cambria Math" panose="02040503050406030204" pitchFamily="18" charset="0"/>
                                      </a:rPr>
                                      <m:t>𝛽</m:t>
                                    </m:r>
                                  </m:e>
                                  <m:sub>
                                    <m:r>
                                      <a:rPr lang="en-US" altLang="en-US" sz="2000" i="1" dirty="0">
                                        <a:latin typeface="Cambria Math" panose="02040503050406030204" pitchFamily="18" charset="0"/>
                                        <a:ea typeface="Cambria Math" panose="02040503050406030204" pitchFamily="18" charset="0"/>
                                      </a:rPr>
                                      <m:t>𝑝</m:t>
                                    </m:r>
                                  </m:sub>
                                </m:sSub>
                              </m:e>
                            </m:acc>
                            <m:sSub>
                              <m:sSubPr>
                                <m:ctrlPr>
                                  <a:rPr lang="en-US" altLang="en-US" sz="2000" i="1">
                                    <a:latin typeface="Cambria Math" panose="02040503050406030204" pitchFamily="18" charset="0"/>
                                    <a:ea typeface="Cambria Math" panose="02040503050406030204" pitchFamily="18" charset="0"/>
                                  </a:rPr>
                                </m:ctrlPr>
                              </m:sSubPr>
                              <m:e>
                                <m:r>
                                  <a:rPr lang="en-US" altLang="en-US" sz="2000" b="1" i="1">
                                    <a:latin typeface="Cambria Math" panose="02040503050406030204" pitchFamily="18" charset="0"/>
                                  </a:rPr>
                                  <m:t>𝑿</m:t>
                                </m:r>
                              </m:e>
                              <m:sub>
                                <m:r>
                                  <a:rPr lang="en-US" altLang="en-US" sz="2000" i="1">
                                    <a:latin typeface="Cambria Math" panose="02040503050406030204" pitchFamily="18" charset="0"/>
                                    <a:ea typeface="Cambria Math" panose="02040503050406030204" pitchFamily="18" charset="0"/>
                                  </a:rPr>
                                  <m:t>𝑖</m:t>
                                </m:r>
                                <m:r>
                                  <a:rPr lang="en-US" altLang="en-US" sz="2000" i="1">
                                    <a:latin typeface="Cambria Math" panose="02040503050406030204" pitchFamily="18" charset="0"/>
                                    <a:ea typeface="Cambria Math" panose="02040503050406030204" pitchFamily="18" charset="0"/>
                                  </a:rPr>
                                  <m:t>,</m:t>
                                </m:r>
                                <m:r>
                                  <a:rPr lang="en-US" altLang="en-US" sz="2000" i="1">
                                    <a:latin typeface="Cambria Math" panose="02040503050406030204" pitchFamily="18" charset="0"/>
                                    <a:ea typeface="Cambria Math" panose="02040503050406030204" pitchFamily="18" charset="0"/>
                                  </a:rPr>
                                  <m:t>𝑝</m:t>
                                </m:r>
                              </m:sub>
                            </m:sSub>
                          </m:sup>
                        </m:sSup>
                      </m:den>
                    </m:f>
                  </m:oMath>
                </a14:m>
                <a:endParaRPr lang="en-US" altLang="en-US" sz="2000" dirty="0">
                  <a:latin typeface="Helvetica" panose="020B0604020202020204" pitchFamily="34" charset="0"/>
                  <a:ea typeface="Helvetica Neue" charset="0"/>
                  <a:cs typeface="Helvetica" panose="020B0604020202020204" pitchFamily="34" charset="0"/>
                </a:endParaRPr>
              </a:p>
              <a:p>
                <a:pPr marL="344488" indent="-344488">
                  <a:spcBef>
                    <a:spcPts val="600"/>
                  </a:spcBef>
                  <a:buFont typeface="Arial" panose="020B0604020202020204" pitchFamily="34" charset="0"/>
                  <a:buChar char="•"/>
                </a:pPr>
                <a:r>
                  <a:rPr lang="en-US" altLang="en-US" sz="1600" dirty="0">
                    <a:latin typeface="Helvetica" panose="020B0604020202020204" pitchFamily="34" charset="0"/>
                    <a:ea typeface="Helvetica Neue" charset="0"/>
                    <a:cs typeface="Helvetica" panose="020B0604020202020204" pitchFamily="34" charset="0"/>
                  </a:rPr>
                  <a:t>Pearson residuals: </a:t>
                </a:r>
              </a:p>
              <a:p>
                <a:pPr marL="746125">
                  <a:spcBef>
                    <a:spcPts val="600"/>
                  </a:spcBef>
                </a:pPr>
                <a14:m>
                  <m:oMath xmlns:m="http://schemas.openxmlformats.org/officeDocument/2006/math">
                    <m:sSub>
                      <m:sSubPr>
                        <m:ctrlPr>
                          <a:rPr lang="en-US" sz="1600" i="1">
                            <a:latin typeface="Cambria Math" panose="02040503050406030204" pitchFamily="18" charset="0"/>
                            <a:ea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𝑟</m:t>
                        </m:r>
                      </m:e>
                      <m:sub>
                        <m:r>
                          <a:rPr lang="en-US" sz="1600" i="1">
                            <a:latin typeface="Cambria Math" panose="02040503050406030204" pitchFamily="18" charset="0"/>
                            <a:ea typeface="Cambria Math" panose="02040503050406030204" pitchFamily="18" charset="0"/>
                          </a:rPr>
                          <m:t>𝑖</m:t>
                        </m:r>
                      </m:sub>
                    </m:sSub>
                    <m:r>
                      <a:rPr lang="en-US" sz="1600" i="1">
                        <a:latin typeface="Cambria Math" panose="02040503050406030204" pitchFamily="18" charset="0"/>
                        <a:ea typeface="Cambria Math" panose="02040503050406030204" pitchFamily="18" charset="0"/>
                      </a:rPr>
                      <m:t>=</m:t>
                    </m:r>
                  </m:oMath>
                </a14:m>
                <a:r>
                  <a:rPr lang="en-US" sz="1600" dirty="0">
                    <a:latin typeface="Helvetica" panose="020B0604020202020204" pitchFamily="34" charset="0"/>
                    <a:ea typeface="Cambria Math" panose="02040503050406030204" pitchFamily="18" charset="0"/>
                    <a:cs typeface="Helvetica" panose="020B0604020202020204" pitchFamily="34" charset="0"/>
                  </a:rPr>
                  <a:t> </a:t>
                </a: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𝑌</m:t>
                            </m:r>
                          </m:e>
                          <m:sub>
                            <m:r>
                              <a:rPr lang="en-US" sz="2000" i="1">
                                <a:latin typeface="Cambria Math" panose="02040503050406030204" pitchFamily="18" charset="0"/>
                                <a:ea typeface="Cambria Math" panose="02040503050406030204" pitchFamily="18" charset="0"/>
                              </a:rPr>
                              <m:t>𝑖</m:t>
                            </m:r>
                          </m:sub>
                        </m:sSub>
                        <m:sSub>
                          <m:sSubPr>
                            <m:ctrlPr>
                              <a:rPr lang="en-US" altLang="en-US" sz="2000" i="1">
                                <a:latin typeface="Cambria Math" panose="02040503050406030204" pitchFamily="18" charset="0"/>
                                <a:ea typeface="Cambria Math" panose="02040503050406030204" pitchFamily="18" charset="0"/>
                              </a:rPr>
                            </m:ctrlPr>
                          </m:sSubPr>
                          <m:e>
                            <m:r>
                              <a:rPr lang="en-US" altLang="en-US" sz="2000" b="0" i="1" smtClean="0">
                                <a:latin typeface="Cambria Math" panose="02040503050406030204" pitchFamily="18" charset="0"/>
                                <a:ea typeface="Cambria Math" panose="02040503050406030204" pitchFamily="18" charset="0"/>
                              </a:rPr>
                              <m:t>−</m:t>
                            </m:r>
                            <m:r>
                              <a:rPr lang="en-US" altLang="en-US" sz="2000" i="1">
                                <a:latin typeface="Cambria Math" panose="02040503050406030204" pitchFamily="18" charset="0"/>
                                <a:ea typeface="Cambria Math" panose="02040503050406030204" pitchFamily="18" charset="0"/>
                              </a:rPr>
                              <m:t>𝑛</m:t>
                            </m:r>
                          </m:e>
                          <m:sub>
                            <m:r>
                              <a:rPr lang="en-US" altLang="en-US" sz="2000" i="1">
                                <a:latin typeface="Cambria Math" panose="02040503050406030204" pitchFamily="18" charset="0"/>
                                <a:ea typeface="Cambria Math" panose="02040503050406030204" pitchFamily="18" charset="0"/>
                              </a:rPr>
                              <m:t>𝑖</m:t>
                            </m:r>
                          </m:sub>
                        </m:sSub>
                        <m:sSub>
                          <m:sSubPr>
                            <m:ctrlPr>
                              <a:rPr lang="en-US" sz="2000" i="1">
                                <a:latin typeface="Cambria Math" panose="02040503050406030204" pitchFamily="18" charset="0"/>
                                <a:ea typeface="Cambria Math" panose="02040503050406030204" pitchFamily="18" charset="0"/>
                              </a:rPr>
                            </m:ctrlPr>
                          </m:sSubPr>
                          <m:e>
                            <m:acc>
                              <m:accPr>
                                <m:chr m:val="̂"/>
                                <m:ctrlPr>
                                  <a:rPr lang="en-US" sz="2000" i="1">
                                    <a:latin typeface="Cambria Math" panose="02040503050406030204" pitchFamily="18" charset="0"/>
                                    <a:ea typeface="Cambria Math" panose="02040503050406030204" pitchFamily="18" charset="0"/>
                                  </a:rPr>
                                </m:ctrlPr>
                              </m:accPr>
                              <m:e>
                                <m:r>
                                  <m:rPr>
                                    <m:sty m:val="p"/>
                                  </m:rPr>
                                  <a:rPr lang="en-US" sz="2000">
                                    <a:latin typeface="Cambria Math" panose="02040503050406030204" pitchFamily="18" charset="0"/>
                                    <a:ea typeface="Cambria Math" panose="02040503050406030204" pitchFamily="18" charset="0"/>
                                  </a:rPr>
                                  <m:t>p</m:t>
                                </m:r>
                              </m:e>
                            </m:acc>
                          </m:e>
                          <m:sub>
                            <m:r>
                              <a:rPr lang="en-US" sz="2000" i="1">
                                <a:latin typeface="Cambria Math" panose="02040503050406030204" pitchFamily="18" charset="0"/>
                                <a:ea typeface="Cambria Math" panose="02040503050406030204" pitchFamily="18" charset="0"/>
                              </a:rPr>
                              <m:t>𝑖</m:t>
                            </m:r>
                          </m:sub>
                        </m:sSub>
                      </m:num>
                      <m:den>
                        <m:rad>
                          <m:radPr>
                            <m:degHide m:val="on"/>
                            <m:ctrlPr>
                              <a:rPr lang="en-US" sz="2000" i="1">
                                <a:latin typeface="Cambria Math" panose="02040503050406030204" pitchFamily="18" charset="0"/>
                                <a:ea typeface="Cambria Math" panose="02040503050406030204" pitchFamily="18" charset="0"/>
                              </a:rPr>
                            </m:ctrlPr>
                          </m:radPr>
                          <m:deg/>
                          <m:e>
                            <m:sSub>
                              <m:sSubPr>
                                <m:ctrlPr>
                                  <a:rPr lang="en-US" altLang="en-US" sz="2000" i="1">
                                    <a:latin typeface="Cambria Math" panose="02040503050406030204" pitchFamily="18" charset="0"/>
                                    <a:ea typeface="Cambria Math" panose="02040503050406030204" pitchFamily="18" charset="0"/>
                                  </a:rPr>
                                </m:ctrlPr>
                              </m:sSubPr>
                              <m:e>
                                <m:r>
                                  <a:rPr lang="en-US" altLang="en-US" sz="2000" i="1">
                                    <a:latin typeface="Cambria Math" panose="02040503050406030204" pitchFamily="18" charset="0"/>
                                    <a:ea typeface="Cambria Math" panose="02040503050406030204" pitchFamily="18" charset="0"/>
                                  </a:rPr>
                                  <m:t>𝑛</m:t>
                                </m:r>
                              </m:e>
                              <m:sub>
                                <m:r>
                                  <a:rPr lang="en-US" altLang="en-US" sz="2000" i="1">
                                    <a:latin typeface="Cambria Math" panose="02040503050406030204" pitchFamily="18" charset="0"/>
                                    <a:ea typeface="Cambria Math" panose="02040503050406030204" pitchFamily="18" charset="0"/>
                                  </a:rPr>
                                  <m:t>𝑖</m:t>
                                </m:r>
                              </m:sub>
                            </m:sSub>
                            <m:sSub>
                              <m:sSubPr>
                                <m:ctrlPr>
                                  <a:rPr lang="en-US" sz="2000" i="1">
                                    <a:latin typeface="Cambria Math" panose="02040503050406030204" pitchFamily="18" charset="0"/>
                                    <a:ea typeface="Cambria Math" panose="02040503050406030204" pitchFamily="18" charset="0"/>
                                  </a:rPr>
                                </m:ctrlPr>
                              </m:sSubPr>
                              <m:e>
                                <m:acc>
                                  <m:accPr>
                                    <m:chr m:val="̂"/>
                                    <m:ctrlPr>
                                      <a:rPr lang="en-US" sz="2000" i="1">
                                        <a:latin typeface="Cambria Math" panose="02040503050406030204" pitchFamily="18" charset="0"/>
                                        <a:ea typeface="Cambria Math" panose="02040503050406030204" pitchFamily="18" charset="0"/>
                                      </a:rPr>
                                    </m:ctrlPr>
                                  </m:accPr>
                                  <m:e>
                                    <m:r>
                                      <m:rPr>
                                        <m:sty m:val="p"/>
                                      </m:rPr>
                                      <a:rPr lang="en-US" sz="2000">
                                        <a:latin typeface="Cambria Math" panose="02040503050406030204" pitchFamily="18" charset="0"/>
                                        <a:ea typeface="Cambria Math" panose="02040503050406030204" pitchFamily="18" charset="0"/>
                                      </a:rPr>
                                      <m:t>p</m:t>
                                    </m:r>
                                  </m:e>
                                </m:acc>
                              </m:e>
                              <m:sub>
                                <m:r>
                                  <a:rPr lang="en-US" sz="2000" i="1">
                                    <a:latin typeface="Cambria Math" panose="02040503050406030204" pitchFamily="18" charset="0"/>
                                    <a:ea typeface="Cambria Math" panose="02040503050406030204" pitchFamily="18" charset="0"/>
                                  </a:rPr>
                                  <m:t>𝑖</m:t>
                                </m:r>
                              </m:sub>
                            </m:sSub>
                            <m:d>
                              <m:dPr>
                                <m:ctrlPr>
                                  <a:rPr lang="en-US" sz="2000" i="1">
                                    <a:latin typeface="Cambria Math" panose="02040503050406030204" pitchFamily="18" charset="0"/>
                                    <a:ea typeface="Cambria Math" panose="02040503050406030204" pitchFamily="18" charset="0"/>
                                  </a:rPr>
                                </m:ctrlPr>
                              </m:dPr>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1−</m:t>
                                    </m:r>
                                    <m:acc>
                                      <m:accPr>
                                        <m:chr m:val="̂"/>
                                        <m:ctrlPr>
                                          <a:rPr lang="en-US" sz="2000" i="1">
                                            <a:latin typeface="Cambria Math" panose="02040503050406030204" pitchFamily="18" charset="0"/>
                                            <a:ea typeface="Cambria Math" panose="02040503050406030204" pitchFamily="18" charset="0"/>
                                          </a:rPr>
                                        </m:ctrlPr>
                                      </m:accPr>
                                      <m:e>
                                        <m:r>
                                          <m:rPr>
                                            <m:sty m:val="p"/>
                                          </m:rPr>
                                          <a:rPr lang="en-US" sz="2000">
                                            <a:latin typeface="Cambria Math" panose="02040503050406030204" pitchFamily="18" charset="0"/>
                                            <a:ea typeface="Cambria Math" panose="02040503050406030204" pitchFamily="18" charset="0"/>
                                          </a:rPr>
                                          <m:t>p</m:t>
                                        </m:r>
                                      </m:e>
                                    </m:acc>
                                  </m:e>
                                  <m:sub>
                                    <m:r>
                                      <a:rPr lang="en-US" sz="2000" i="1">
                                        <a:latin typeface="Cambria Math" panose="02040503050406030204" pitchFamily="18" charset="0"/>
                                        <a:ea typeface="Cambria Math" panose="02040503050406030204" pitchFamily="18" charset="0"/>
                                      </a:rPr>
                                      <m:t>𝑖</m:t>
                                    </m:r>
                                  </m:sub>
                                </m:sSub>
                              </m:e>
                            </m:d>
                          </m:e>
                        </m:rad>
                      </m:den>
                    </m:f>
                  </m:oMath>
                </a14:m>
                <a:endParaRPr lang="en-US" altLang="en-US" sz="1600" dirty="0">
                  <a:latin typeface="Helvetica" panose="020B0604020202020204" pitchFamily="34" charset="0"/>
                  <a:ea typeface="Helvetica Neue" charset="0"/>
                  <a:cs typeface="Helvetica" panose="020B0604020202020204" pitchFamily="34" charset="0"/>
                </a:endParaRPr>
              </a:p>
              <a:p>
                <a:pPr marL="344488" indent="-344488">
                  <a:spcBef>
                    <a:spcPts val="600"/>
                  </a:spcBef>
                  <a:buFont typeface="Arial" panose="020B0604020202020204" pitchFamily="34" charset="0"/>
                  <a:buChar char="•"/>
                </a:pPr>
                <a:r>
                  <a:rPr lang="en-US" altLang="en-US" sz="1600" dirty="0">
                    <a:latin typeface="Helvetica" panose="020B0604020202020204" pitchFamily="34" charset="0"/>
                    <a:ea typeface="Helvetica Neue" charset="0"/>
                    <a:cs typeface="Helvetica" panose="020B0604020202020204" pitchFamily="34" charset="0"/>
                  </a:rPr>
                  <a:t>Deviance residuals:</a:t>
                </a:r>
              </a:p>
              <a:p>
                <a:pPr marL="746125"/>
                <a14:m>
                  <m:oMathPara xmlns:m="http://schemas.openxmlformats.org/officeDocument/2006/math">
                    <m:oMathParaPr>
                      <m:jc m:val="left"/>
                    </m:oMathParaPr>
                    <m:oMath xmlns:m="http://schemas.openxmlformats.org/officeDocument/2006/math">
                      <m:sSub>
                        <m:sSubPr>
                          <m:ctrlPr>
                            <a:rPr lang="en-US" altLang="en-US" sz="1600" i="1" smtClean="0">
                              <a:latin typeface="Cambria Math" panose="02040503050406030204" pitchFamily="18" charset="0"/>
                            </a:rPr>
                          </m:ctrlPr>
                        </m:sSubPr>
                        <m:e>
                          <m:r>
                            <m:rPr>
                              <m:sty m:val="p"/>
                            </m:rPr>
                            <a:rPr lang="en-US" altLang="en-US" sz="1600" b="0" i="0" smtClean="0">
                              <a:latin typeface="Cambria Math" panose="02040503050406030204" pitchFamily="18" charset="0"/>
                            </a:rPr>
                            <m:t>d</m:t>
                          </m:r>
                        </m:e>
                        <m:sub>
                          <m:r>
                            <a:rPr lang="en-US" altLang="en-US" sz="1600" b="0" i="1" smtClean="0">
                              <a:latin typeface="Cambria Math" panose="02040503050406030204" pitchFamily="18" charset="0"/>
                            </a:rPr>
                            <m:t>𝑖</m:t>
                          </m:r>
                        </m:sub>
                      </m:sSub>
                      <m:r>
                        <a:rPr lang="en-US" altLang="en-US" sz="1600" b="0" i="1" smtClean="0">
                          <a:latin typeface="Cambria Math" panose="02040503050406030204" pitchFamily="18" charset="0"/>
                        </a:rPr>
                        <m:t>=</m:t>
                      </m:r>
                      <m:r>
                        <m:rPr>
                          <m:sty m:val="p"/>
                        </m:rPr>
                        <a:rPr lang="en-US" altLang="en-US" sz="1600" b="0" i="0" smtClean="0">
                          <a:latin typeface="Cambria Math" panose="02040503050406030204" pitchFamily="18" charset="0"/>
                        </a:rPr>
                        <m:t>sign</m:t>
                      </m:r>
                      <m:d>
                        <m:dPr>
                          <m:ctrlPr>
                            <a:rPr lang="en-US" altLang="en-US" sz="1600" b="0" i="1" smtClean="0">
                              <a:latin typeface="Cambria Math" panose="02040503050406030204" pitchFamily="18" charset="0"/>
                            </a:rPr>
                          </m:ctrlPr>
                        </m:dPr>
                        <m:e>
                          <m:sSub>
                            <m:sSubPr>
                              <m:ctrlPr>
                                <a:rPr lang="en-US" altLang="en-US" sz="1600" i="1">
                                  <a:latin typeface="Cambria Math" panose="02040503050406030204" pitchFamily="18" charset="0"/>
                                </a:rPr>
                              </m:ctrlPr>
                            </m:sSubPr>
                            <m:e>
                              <m:r>
                                <a:rPr lang="en-US" altLang="en-US" sz="1600" b="1" i="1">
                                  <a:latin typeface="Cambria Math" panose="02040503050406030204" pitchFamily="18" charset="0"/>
                                </a:rPr>
                                <m:t>𝒀</m:t>
                              </m:r>
                            </m:e>
                            <m:sub>
                              <m:r>
                                <a:rPr lang="en-US" altLang="en-US" sz="1600" i="1">
                                  <a:latin typeface="Cambria Math" panose="02040503050406030204" pitchFamily="18" charset="0"/>
                                </a:rPr>
                                <m:t>𝑖</m:t>
                              </m:r>
                            </m:sub>
                          </m:sSub>
                          <m:r>
                            <a:rPr lang="en-US" altLang="en-US" sz="1600" i="1">
                              <a:latin typeface="Cambria Math" panose="02040503050406030204" pitchFamily="18" charset="0"/>
                            </a:rPr>
                            <m:t>−</m:t>
                          </m:r>
                          <m:sSub>
                            <m:sSubPr>
                              <m:ctrlPr>
                                <a:rPr lang="en-US" altLang="en-US" sz="1600" i="1">
                                  <a:latin typeface="Cambria Math" panose="02040503050406030204" pitchFamily="18" charset="0"/>
                                </a:rPr>
                              </m:ctrlPr>
                            </m:sSubPr>
                            <m:e>
                              <m:acc>
                                <m:accPr>
                                  <m:chr m:val="̂"/>
                                  <m:ctrlPr>
                                    <a:rPr lang="en-US" altLang="en-US" sz="1600" i="1" smtClean="0">
                                      <a:latin typeface="Cambria Math" panose="02040503050406030204" pitchFamily="18" charset="0"/>
                                    </a:rPr>
                                  </m:ctrlPr>
                                </m:accPr>
                                <m:e>
                                  <m:r>
                                    <a:rPr lang="en-US" altLang="en-US" sz="1600" b="1" i="1">
                                      <a:latin typeface="Cambria Math" panose="02040503050406030204" pitchFamily="18" charset="0"/>
                                    </a:rPr>
                                    <m:t>𝒀</m:t>
                                  </m:r>
                                </m:e>
                              </m:acc>
                            </m:e>
                            <m:sub>
                              <m:r>
                                <a:rPr lang="en-US" altLang="en-US" sz="1600" b="0" i="1" smtClean="0">
                                  <a:latin typeface="Cambria Math" panose="02040503050406030204" pitchFamily="18" charset="0"/>
                                </a:rPr>
                                <m:t>𝑖</m:t>
                              </m:r>
                            </m:sub>
                          </m:sSub>
                        </m:e>
                      </m:d>
                      <m:rad>
                        <m:radPr>
                          <m:degHide m:val="on"/>
                          <m:ctrlPr>
                            <a:rPr lang="en-US" altLang="en-US" sz="1600" b="0" i="1" smtClean="0">
                              <a:latin typeface="Cambria Math" panose="02040503050406030204" pitchFamily="18" charset="0"/>
                            </a:rPr>
                          </m:ctrlPr>
                        </m:radPr>
                        <m:deg/>
                        <m:e>
                          <m:r>
                            <a:rPr lang="en-US" altLang="en-US" sz="1600" b="0" i="1" smtClean="0">
                              <a:latin typeface="Cambria Math" panose="02040503050406030204" pitchFamily="18" charset="0"/>
                            </a:rPr>
                            <m:t>2</m:t>
                          </m:r>
                          <m:sSub>
                            <m:sSubPr>
                              <m:ctrlPr>
                                <a:rPr lang="en-US" altLang="en-US" sz="1600" i="1">
                                  <a:latin typeface="Cambria Math" panose="02040503050406030204" pitchFamily="18" charset="0"/>
                                </a:rPr>
                              </m:ctrlPr>
                            </m:sSubPr>
                            <m:e>
                              <m:r>
                                <a:rPr lang="en-US" altLang="en-US" sz="1600" b="1" i="1">
                                  <a:latin typeface="Cambria Math" panose="02040503050406030204" pitchFamily="18" charset="0"/>
                                </a:rPr>
                                <m:t>𝒀</m:t>
                              </m:r>
                            </m:e>
                            <m:sub>
                              <m:r>
                                <a:rPr lang="en-US" altLang="en-US" sz="1600" i="1">
                                  <a:latin typeface="Cambria Math" panose="02040503050406030204" pitchFamily="18" charset="0"/>
                                </a:rPr>
                                <m:t>𝑖</m:t>
                              </m:r>
                            </m:sub>
                          </m:sSub>
                          <m:r>
                            <m:rPr>
                              <m:sty m:val="p"/>
                            </m:rPr>
                            <a:rPr lang="en-US" altLang="en-US" sz="1600" b="0" i="0" smtClean="0">
                              <a:latin typeface="Cambria Math" panose="02040503050406030204" pitchFamily="18" charset="0"/>
                            </a:rPr>
                            <m:t>log</m:t>
                          </m:r>
                          <m:d>
                            <m:dPr>
                              <m:ctrlPr>
                                <a:rPr lang="en-US" altLang="en-US" sz="1600" b="0" i="1" smtClean="0">
                                  <a:latin typeface="Cambria Math" panose="02040503050406030204" pitchFamily="18" charset="0"/>
                                </a:rPr>
                              </m:ctrlPr>
                            </m:dPr>
                            <m:e>
                              <m:f>
                                <m:fPr>
                                  <m:type m:val="lin"/>
                                  <m:ctrlPr>
                                    <a:rPr lang="en-US" altLang="en-US" sz="1600" b="0" i="1" smtClean="0">
                                      <a:latin typeface="Cambria Math" panose="02040503050406030204" pitchFamily="18" charset="0"/>
                                    </a:rPr>
                                  </m:ctrlPr>
                                </m:fPr>
                                <m:num>
                                  <m:sSub>
                                    <m:sSubPr>
                                      <m:ctrlPr>
                                        <a:rPr lang="en-US" altLang="en-US" sz="1600" i="1">
                                          <a:latin typeface="Cambria Math" panose="02040503050406030204" pitchFamily="18" charset="0"/>
                                        </a:rPr>
                                      </m:ctrlPr>
                                    </m:sSubPr>
                                    <m:e>
                                      <m:r>
                                        <a:rPr lang="en-US" altLang="en-US" sz="1600" b="1" i="1">
                                          <a:latin typeface="Cambria Math" panose="02040503050406030204" pitchFamily="18" charset="0"/>
                                        </a:rPr>
                                        <m:t>𝒀</m:t>
                                      </m:r>
                                    </m:e>
                                    <m:sub>
                                      <m:r>
                                        <a:rPr lang="en-US" altLang="en-US" sz="1600" i="1">
                                          <a:latin typeface="Cambria Math" panose="02040503050406030204" pitchFamily="18" charset="0"/>
                                        </a:rPr>
                                        <m:t>𝑖</m:t>
                                      </m:r>
                                    </m:sub>
                                  </m:sSub>
                                </m:num>
                                <m:den>
                                  <m:sSub>
                                    <m:sSubPr>
                                      <m:ctrlPr>
                                        <a:rPr lang="en-US" altLang="en-US" sz="1600" i="1">
                                          <a:latin typeface="Cambria Math" panose="02040503050406030204" pitchFamily="18" charset="0"/>
                                        </a:rPr>
                                      </m:ctrlPr>
                                    </m:sSubPr>
                                    <m:e>
                                      <m:acc>
                                        <m:accPr>
                                          <m:chr m:val="̂"/>
                                          <m:ctrlPr>
                                            <a:rPr lang="en-US" altLang="en-US" sz="1600" i="1">
                                              <a:latin typeface="Cambria Math" panose="02040503050406030204" pitchFamily="18" charset="0"/>
                                            </a:rPr>
                                          </m:ctrlPr>
                                        </m:accPr>
                                        <m:e>
                                          <m:r>
                                            <a:rPr lang="en-US" altLang="en-US" sz="1600" b="1" i="1">
                                              <a:latin typeface="Cambria Math" panose="02040503050406030204" pitchFamily="18" charset="0"/>
                                            </a:rPr>
                                            <m:t>𝒀</m:t>
                                          </m:r>
                                        </m:e>
                                      </m:acc>
                                    </m:e>
                                    <m:sub>
                                      <m:r>
                                        <a:rPr lang="en-US" altLang="en-US" sz="1600" i="1">
                                          <a:latin typeface="Cambria Math" panose="02040503050406030204" pitchFamily="18" charset="0"/>
                                        </a:rPr>
                                        <m:t>𝑖</m:t>
                                      </m:r>
                                    </m:sub>
                                  </m:sSub>
                                </m:den>
                              </m:f>
                            </m:e>
                          </m:d>
                          <m:r>
                            <a:rPr lang="en-US" altLang="en-US" sz="1600" b="0" i="1" smtClean="0">
                              <a:latin typeface="Cambria Math" panose="02040503050406030204" pitchFamily="18" charset="0"/>
                            </a:rPr>
                            <m:t>+2</m:t>
                          </m:r>
                          <m:d>
                            <m:dPr>
                              <m:ctrlPr>
                                <a:rPr lang="en-US" altLang="en-US" sz="1600" b="0" i="1" smtClean="0">
                                  <a:latin typeface="Cambria Math" panose="02040503050406030204" pitchFamily="18" charset="0"/>
                                </a:rPr>
                              </m:ctrlPr>
                            </m:dPr>
                            <m:e>
                              <m:sSub>
                                <m:sSubPr>
                                  <m:ctrlPr>
                                    <a:rPr lang="en-US" altLang="en-US" sz="1600" i="1">
                                      <a:latin typeface="Cambria Math" panose="02040503050406030204" pitchFamily="18" charset="0"/>
                                      <a:ea typeface="Cambria Math" panose="02040503050406030204" pitchFamily="18" charset="0"/>
                                    </a:rPr>
                                  </m:ctrlPr>
                                </m:sSubPr>
                                <m:e>
                                  <m:r>
                                    <a:rPr lang="en-US" altLang="en-US" sz="1600" i="1">
                                      <a:latin typeface="Cambria Math" panose="02040503050406030204" pitchFamily="18" charset="0"/>
                                      <a:ea typeface="Cambria Math" panose="02040503050406030204" pitchFamily="18" charset="0"/>
                                    </a:rPr>
                                    <m:t>𝑛</m:t>
                                  </m:r>
                                </m:e>
                                <m:sub>
                                  <m:r>
                                    <a:rPr lang="en-US" altLang="en-US" sz="1600" i="1">
                                      <a:latin typeface="Cambria Math" panose="02040503050406030204" pitchFamily="18" charset="0"/>
                                      <a:ea typeface="Cambria Math" panose="02040503050406030204" pitchFamily="18" charset="0"/>
                                    </a:rPr>
                                    <m:t>𝑖</m:t>
                                  </m:r>
                                </m:sub>
                              </m:sSub>
                              <m:r>
                                <a:rPr lang="en-US" altLang="en-US" sz="1600" b="0" i="1" smtClean="0">
                                  <a:latin typeface="Cambria Math" panose="02040503050406030204" pitchFamily="18" charset="0"/>
                                </a:rPr>
                                <m:t>−</m:t>
                              </m:r>
                              <m:sSub>
                                <m:sSubPr>
                                  <m:ctrlPr>
                                    <a:rPr lang="en-US" altLang="en-US" sz="1600" i="1">
                                      <a:latin typeface="Cambria Math" panose="02040503050406030204" pitchFamily="18" charset="0"/>
                                    </a:rPr>
                                  </m:ctrlPr>
                                </m:sSubPr>
                                <m:e>
                                  <m:r>
                                    <a:rPr lang="en-US" altLang="en-US" sz="1600" b="1" i="1">
                                      <a:latin typeface="Cambria Math" panose="02040503050406030204" pitchFamily="18" charset="0"/>
                                    </a:rPr>
                                    <m:t>𝒀</m:t>
                                  </m:r>
                                </m:e>
                                <m:sub>
                                  <m:r>
                                    <a:rPr lang="en-US" altLang="en-US" sz="1600" i="1">
                                      <a:latin typeface="Cambria Math" panose="02040503050406030204" pitchFamily="18" charset="0"/>
                                    </a:rPr>
                                    <m:t>𝑖</m:t>
                                  </m:r>
                                </m:sub>
                              </m:sSub>
                            </m:e>
                          </m:d>
                          <m:r>
                            <m:rPr>
                              <m:sty m:val="p"/>
                            </m:rPr>
                            <a:rPr lang="en-US" altLang="en-US" sz="1600" b="0" i="0" smtClean="0">
                              <a:latin typeface="Cambria Math" panose="02040503050406030204" pitchFamily="18" charset="0"/>
                            </a:rPr>
                            <m:t>log</m:t>
                          </m:r>
                          <m:d>
                            <m:dPr>
                              <m:ctrlPr>
                                <a:rPr lang="en-US" altLang="en-US" sz="1600" b="0" i="1" smtClean="0">
                                  <a:latin typeface="Cambria Math" panose="02040503050406030204" pitchFamily="18" charset="0"/>
                                </a:rPr>
                              </m:ctrlPr>
                            </m:dPr>
                            <m:e>
                              <m:f>
                                <m:fPr>
                                  <m:type m:val="lin"/>
                                  <m:ctrlPr>
                                    <a:rPr lang="en-US" altLang="en-US" sz="1600" b="0" i="1" smtClean="0">
                                      <a:latin typeface="Cambria Math" panose="02040503050406030204" pitchFamily="18" charset="0"/>
                                    </a:rPr>
                                  </m:ctrlPr>
                                </m:fPr>
                                <m:num>
                                  <m:d>
                                    <m:dPr>
                                      <m:ctrlPr>
                                        <a:rPr lang="en-US" altLang="en-US" sz="1600" b="0" i="1" smtClean="0">
                                          <a:latin typeface="Cambria Math" panose="02040503050406030204" pitchFamily="18" charset="0"/>
                                        </a:rPr>
                                      </m:ctrlPr>
                                    </m:dPr>
                                    <m:e>
                                      <m:sSub>
                                        <m:sSubPr>
                                          <m:ctrlPr>
                                            <a:rPr lang="en-US" altLang="en-US" sz="1600" i="1">
                                              <a:latin typeface="Cambria Math" panose="02040503050406030204" pitchFamily="18" charset="0"/>
                                              <a:ea typeface="Cambria Math" panose="02040503050406030204" pitchFamily="18" charset="0"/>
                                            </a:rPr>
                                          </m:ctrlPr>
                                        </m:sSubPr>
                                        <m:e>
                                          <m:r>
                                            <a:rPr lang="en-US" altLang="en-US" sz="1600" i="1">
                                              <a:latin typeface="Cambria Math" panose="02040503050406030204" pitchFamily="18" charset="0"/>
                                              <a:ea typeface="Cambria Math" panose="02040503050406030204" pitchFamily="18" charset="0"/>
                                            </a:rPr>
                                            <m:t>𝑛</m:t>
                                          </m:r>
                                        </m:e>
                                        <m:sub>
                                          <m:r>
                                            <a:rPr lang="en-US" altLang="en-US" sz="1600" i="1">
                                              <a:latin typeface="Cambria Math" panose="02040503050406030204" pitchFamily="18" charset="0"/>
                                              <a:ea typeface="Cambria Math" panose="02040503050406030204" pitchFamily="18" charset="0"/>
                                            </a:rPr>
                                            <m:t>𝑖</m:t>
                                          </m:r>
                                        </m:sub>
                                      </m:sSub>
                                      <m:r>
                                        <a:rPr lang="en-US" altLang="en-US" sz="1600" i="1">
                                          <a:latin typeface="Cambria Math" panose="02040503050406030204" pitchFamily="18" charset="0"/>
                                        </a:rPr>
                                        <m:t>−</m:t>
                                      </m:r>
                                      <m:sSub>
                                        <m:sSubPr>
                                          <m:ctrlPr>
                                            <a:rPr lang="en-US" altLang="en-US" sz="1600" i="1">
                                              <a:latin typeface="Cambria Math" panose="02040503050406030204" pitchFamily="18" charset="0"/>
                                            </a:rPr>
                                          </m:ctrlPr>
                                        </m:sSubPr>
                                        <m:e>
                                          <m:r>
                                            <a:rPr lang="en-US" altLang="en-US" sz="1600" b="1" i="1">
                                              <a:latin typeface="Cambria Math" panose="02040503050406030204" pitchFamily="18" charset="0"/>
                                            </a:rPr>
                                            <m:t>𝒀</m:t>
                                          </m:r>
                                        </m:e>
                                        <m:sub>
                                          <m:r>
                                            <a:rPr lang="en-US" altLang="en-US" sz="1600" i="1">
                                              <a:latin typeface="Cambria Math" panose="02040503050406030204" pitchFamily="18" charset="0"/>
                                            </a:rPr>
                                            <m:t>𝑖</m:t>
                                          </m:r>
                                        </m:sub>
                                      </m:sSub>
                                    </m:e>
                                  </m:d>
                                </m:num>
                                <m:den>
                                  <m:d>
                                    <m:dPr>
                                      <m:ctrlPr>
                                        <a:rPr lang="en-US" altLang="en-US" sz="1600" b="0" i="1" smtClean="0">
                                          <a:latin typeface="Cambria Math" panose="02040503050406030204" pitchFamily="18" charset="0"/>
                                        </a:rPr>
                                      </m:ctrlPr>
                                    </m:dPr>
                                    <m:e>
                                      <m:sSub>
                                        <m:sSubPr>
                                          <m:ctrlPr>
                                            <a:rPr lang="en-US" altLang="en-US" sz="1600" i="1">
                                              <a:latin typeface="Cambria Math" panose="02040503050406030204" pitchFamily="18" charset="0"/>
                                              <a:ea typeface="Cambria Math" panose="02040503050406030204" pitchFamily="18" charset="0"/>
                                            </a:rPr>
                                          </m:ctrlPr>
                                        </m:sSubPr>
                                        <m:e>
                                          <m:r>
                                            <a:rPr lang="en-US" altLang="en-US" sz="1600" i="1">
                                              <a:latin typeface="Cambria Math" panose="02040503050406030204" pitchFamily="18" charset="0"/>
                                              <a:ea typeface="Cambria Math" panose="02040503050406030204" pitchFamily="18" charset="0"/>
                                            </a:rPr>
                                            <m:t>𝑛</m:t>
                                          </m:r>
                                        </m:e>
                                        <m:sub>
                                          <m:r>
                                            <a:rPr lang="en-US" altLang="en-US" sz="1600" i="1">
                                              <a:latin typeface="Cambria Math" panose="02040503050406030204" pitchFamily="18" charset="0"/>
                                              <a:ea typeface="Cambria Math" panose="02040503050406030204" pitchFamily="18" charset="0"/>
                                            </a:rPr>
                                            <m:t>𝑖</m:t>
                                          </m:r>
                                        </m:sub>
                                      </m:sSub>
                                      <m:r>
                                        <a:rPr lang="en-US" altLang="en-US" sz="1600" i="1">
                                          <a:latin typeface="Cambria Math" panose="02040503050406030204" pitchFamily="18" charset="0"/>
                                        </a:rPr>
                                        <m:t>−</m:t>
                                      </m:r>
                                      <m:sSub>
                                        <m:sSubPr>
                                          <m:ctrlPr>
                                            <a:rPr lang="en-US" altLang="en-US" sz="1600" i="1">
                                              <a:latin typeface="Cambria Math" panose="02040503050406030204" pitchFamily="18" charset="0"/>
                                            </a:rPr>
                                          </m:ctrlPr>
                                        </m:sSubPr>
                                        <m:e>
                                          <m:acc>
                                            <m:accPr>
                                              <m:chr m:val="̂"/>
                                              <m:ctrlPr>
                                                <a:rPr lang="en-US" altLang="en-US" sz="1600" i="1">
                                                  <a:latin typeface="Cambria Math" panose="02040503050406030204" pitchFamily="18" charset="0"/>
                                                </a:rPr>
                                              </m:ctrlPr>
                                            </m:accPr>
                                            <m:e>
                                              <m:r>
                                                <a:rPr lang="en-US" altLang="en-US" sz="1600" b="1" i="1">
                                                  <a:latin typeface="Cambria Math" panose="02040503050406030204" pitchFamily="18" charset="0"/>
                                                </a:rPr>
                                                <m:t>𝒀</m:t>
                                              </m:r>
                                            </m:e>
                                          </m:acc>
                                        </m:e>
                                        <m:sub>
                                          <m:r>
                                            <a:rPr lang="en-US" altLang="en-US" sz="1600" i="1">
                                              <a:latin typeface="Cambria Math" panose="02040503050406030204" pitchFamily="18" charset="0"/>
                                            </a:rPr>
                                            <m:t>𝑖</m:t>
                                          </m:r>
                                        </m:sub>
                                      </m:sSub>
                                    </m:e>
                                  </m:d>
                                </m:den>
                              </m:f>
                            </m:e>
                          </m:d>
                        </m:e>
                      </m:rad>
                    </m:oMath>
                  </m:oMathPara>
                </a14:m>
                <a:endParaRPr lang="en-US" altLang="en-US" sz="1600" b="0" dirty="0">
                  <a:latin typeface="Helvetica" panose="020B0604020202020204" pitchFamily="34" charset="0"/>
                  <a:cs typeface="Helvetica" panose="020B0604020202020204" pitchFamily="34" charset="0"/>
                </a:endParaRPr>
              </a:p>
            </p:txBody>
          </p:sp>
        </mc:Choice>
        <mc:Fallback xmlns="">
          <p:sp>
            <p:nvSpPr>
              <p:cNvPr id="9" name="Rectangle 9"/>
              <p:cNvSpPr>
                <a:spLocks noRot="1" noChangeAspect="1" noMove="1" noResize="1" noEditPoints="1" noAdjustHandles="1" noChangeArrowheads="1" noChangeShapeType="1" noTextEdit="1"/>
              </p:cNvSpPr>
              <p:nvPr/>
            </p:nvSpPr>
            <p:spPr bwMode="auto">
              <a:xfrm>
                <a:off x="133000" y="916774"/>
                <a:ext cx="8858600" cy="3491725"/>
              </a:xfrm>
              <a:prstGeom prst="rect">
                <a:avLst/>
              </a:prstGeom>
              <a:blipFill>
                <a:blip r:embed="rId3"/>
                <a:stretch>
                  <a:fillRect l="-413" t="-52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6" name="Title 2">
            <a:extLst>
              <a:ext uri="{FF2B5EF4-FFF2-40B4-BE49-F238E27FC236}">
                <a16:creationId xmlns:a16="http://schemas.microsoft.com/office/drawing/2014/main" id="{87AF654A-2353-4859-A067-25517347DA22}"/>
              </a:ext>
            </a:extLst>
          </p:cNvPr>
          <p:cNvSpPr>
            <a:spLocks noGrp="1"/>
          </p:cNvSpPr>
          <p:nvPr>
            <p:ph type="title"/>
          </p:nvPr>
        </p:nvSpPr>
        <p:spPr>
          <a:xfrm>
            <a:off x="109736" y="115287"/>
            <a:ext cx="8562392" cy="599597"/>
          </a:xfrm>
        </p:spPr>
        <p:txBody>
          <a:bodyPr/>
          <a:lstStyle/>
          <a:p>
            <a:r>
              <a:rPr lang="en-US" sz="3600" dirty="0">
                <a:latin typeface="Vitesse"/>
              </a:rPr>
              <a:t>Residuals in Logistic Regression</a:t>
            </a:r>
          </a:p>
        </p:txBody>
      </p:sp>
      <p:sp>
        <p:nvSpPr>
          <p:cNvPr id="4" name="Rectangle 3">
            <a:extLst>
              <a:ext uri="{FF2B5EF4-FFF2-40B4-BE49-F238E27FC236}">
                <a16:creationId xmlns:a16="http://schemas.microsoft.com/office/drawing/2014/main" id="{F1A60BFF-FD74-404E-904F-80D1EDF10E43}"/>
              </a:ext>
            </a:extLst>
          </p:cNvPr>
          <p:cNvSpPr/>
          <p:nvPr/>
        </p:nvSpPr>
        <p:spPr>
          <a:xfrm>
            <a:off x="5486400" y="1162050"/>
            <a:ext cx="3505200" cy="2554545"/>
          </a:xfrm>
          <a:prstGeom prst="rect">
            <a:avLst/>
          </a:prstGeom>
          <a:ln w="19050">
            <a:solidFill>
              <a:schemeClr val="tx2"/>
            </a:solidFill>
          </a:ln>
        </p:spPr>
        <p:txBody>
          <a:bodyPr wrap="square">
            <a:spAutoFit/>
          </a:bodyPr>
          <a:lstStyle/>
          <a:p>
            <a:pPr marL="344488" indent="-285750">
              <a:lnSpc>
                <a:spcPct val="100000"/>
              </a:lnSpc>
              <a:buClrTx/>
              <a:buFont typeface="Arial" panose="020B0604020202020204" pitchFamily="34" charset="0"/>
              <a:buChar char="•"/>
            </a:pPr>
            <a:r>
              <a:rPr lang="en-US" sz="1600" dirty="0">
                <a:latin typeface="Helvetica" panose="020B0604020202020204" pitchFamily="34" charset="0"/>
                <a:cs typeface="Helvetica" panose="020B0604020202020204" pitchFamily="34" charset="0"/>
              </a:rPr>
              <a:t>Pearson’s residuals follow directly a normal approximation to a binomial, hence approximately </a:t>
            </a:r>
            <a:r>
              <a:rPr lang="en-US" sz="1600" i="1" dirty="0">
                <a:latin typeface="Helvetica" panose="020B0604020202020204" pitchFamily="34" charset="0"/>
                <a:cs typeface="Helvetica" panose="020B0604020202020204" pitchFamily="34" charset="0"/>
              </a:rPr>
              <a:t>N(0,1).</a:t>
            </a:r>
          </a:p>
          <a:p>
            <a:pPr marL="344488" indent="-285750">
              <a:buFont typeface="Arial" panose="020B0604020202020204" pitchFamily="34" charset="0"/>
              <a:buChar char="•"/>
            </a:pPr>
            <a:r>
              <a:rPr lang="en-US" sz="1600" dirty="0">
                <a:latin typeface="Helvetica" panose="020B0604020202020204" pitchFamily="34" charset="0"/>
                <a:cs typeface="Helvetica" panose="020B0604020202020204" pitchFamily="34" charset="0"/>
              </a:rPr>
              <a:t>The deviance residuals are the signed square root of the log-likelihood evaluated at the saturated model vs. the fitted model, thus approximately </a:t>
            </a:r>
            <a:r>
              <a:rPr lang="en-US" sz="1600" i="1" dirty="0">
                <a:latin typeface="Helvetica" panose="020B0604020202020204" pitchFamily="34" charset="0"/>
                <a:cs typeface="Helvetica" panose="020B0604020202020204" pitchFamily="34" charset="0"/>
              </a:rPr>
              <a:t>N(0,1) </a:t>
            </a:r>
            <a:r>
              <a:rPr lang="en-US" sz="1600" dirty="0">
                <a:latin typeface="Helvetica" panose="020B0604020202020204" pitchFamily="34" charset="0"/>
                <a:cs typeface="Helvetica" panose="020B0604020202020204" pitchFamily="34" charset="0"/>
              </a:rPr>
              <a:t>if the model is a good fit.</a:t>
            </a:r>
          </a:p>
        </p:txBody>
      </p:sp>
    </p:spTree>
    <p:extLst>
      <p:ext uri="{BB962C8B-B14F-4D97-AF65-F5344CB8AC3E}">
        <p14:creationId xmlns:p14="http://schemas.microsoft.com/office/powerpoint/2010/main" val="32609578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36" y="115287"/>
            <a:ext cx="8562392" cy="627881"/>
          </a:xfrm>
        </p:spPr>
        <p:txBody>
          <a:bodyPr/>
          <a:lstStyle/>
          <a:p>
            <a:pPr algn="l"/>
            <a:r>
              <a:rPr lang="en-US" sz="3600" dirty="0">
                <a:latin typeface="Vitesse"/>
              </a:rPr>
              <a:t>Model Goodness of Fit</a:t>
            </a:r>
          </a:p>
        </p:txBody>
      </p:sp>
      <mc:AlternateContent xmlns:mc="http://schemas.openxmlformats.org/markup-compatibility/2006" xmlns:a14="http://schemas.microsoft.com/office/drawing/2010/main">
        <mc:Choice Requires="a14">
          <p:sp>
            <p:nvSpPr>
              <p:cNvPr id="9" name="Rectangle 9"/>
              <p:cNvSpPr>
                <a:spLocks noChangeArrowheads="1"/>
              </p:cNvSpPr>
              <p:nvPr/>
            </p:nvSpPr>
            <p:spPr bwMode="auto">
              <a:xfrm>
                <a:off x="143905" y="906010"/>
                <a:ext cx="7802129" cy="318337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spcBef>
                    <a:spcPct val="50000"/>
                  </a:spcBef>
                </a:pPr>
                <a:r>
                  <a:rPr lang="en-US" altLang="en-US" sz="1600" b="1" dirty="0">
                    <a:latin typeface="Helvetica" panose="020B0604020202020204" pitchFamily="34" charset="0"/>
                    <a:ea typeface="Helvetica Neue" charset="0"/>
                    <a:cs typeface="Helvetica" panose="020B0604020202020204" pitchFamily="34" charset="0"/>
                  </a:rPr>
                  <a:t>GOF Visual Analytics</a:t>
                </a:r>
                <a:endParaRPr lang="en-US" altLang="en-US" sz="1600" dirty="0">
                  <a:latin typeface="Helvetica" panose="020B0604020202020204" pitchFamily="34" charset="0"/>
                  <a:ea typeface="Helvetica Neue" charset="0"/>
                  <a:cs typeface="Helvetica" panose="020B0604020202020204" pitchFamily="34" charset="0"/>
                </a:endParaRPr>
              </a:p>
              <a:p>
                <a:pPr marL="342900" indent="-342900">
                  <a:buFont typeface="Arial" panose="020B0604020202020204" pitchFamily="34" charset="0"/>
                  <a:buChar char="•"/>
                </a:pPr>
                <a:r>
                  <a:rPr lang="en-US" altLang="en-US" sz="1600" dirty="0">
                    <a:latin typeface="Helvetica" panose="020B0604020202020204" pitchFamily="34" charset="0"/>
                    <a:ea typeface="Helvetica Neue" charset="0"/>
                    <a:cs typeface="Helvetica" panose="020B0604020202020204" pitchFamily="34" charset="0"/>
                  </a:rPr>
                  <a:t>Normal probability plot &amp; histogram of the residuals</a:t>
                </a:r>
              </a:p>
              <a:p>
                <a:pPr>
                  <a:spcBef>
                    <a:spcPts val="1200"/>
                  </a:spcBef>
                </a:pPr>
                <a:endParaRPr lang="en-US" altLang="en-US" sz="1600" b="1" dirty="0">
                  <a:latin typeface="Helvetica" panose="020B0604020202020204" pitchFamily="34" charset="0"/>
                  <a:ea typeface="Helvetica Neue" charset="0"/>
                  <a:cs typeface="Helvetica" panose="020B0604020202020204" pitchFamily="34" charset="0"/>
                </a:endParaRPr>
              </a:p>
              <a:p>
                <a:pPr>
                  <a:spcBef>
                    <a:spcPts val="1200"/>
                  </a:spcBef>
                </a:pPr>
                <a:r>
                  <a:rPr lang="en-US" altLang="en-US" sz="1600" b="1" dirty="0">
                    <a:latin typeface="Helvetica" panose="020B0604020202020204" pitchFamily="34" charset="0"/>
                    <a:ea typeface="Helvetica Neue" charset="0"/>
                    <a:cs typeface="Helvetica" panose="020B0604020202020204" pitchFamily="34" charset="0"/>
                  </a:rPr>
                  <a:t>Hypothesis Testing Procedure</a:t>
                </a:r>
                <a:endParaRPr lang="en-US" altLang="en-US" sz="1600" dirty="0">
                  <a:latin typeface="Helvetica" panose="020B0604020202020204" pitchFamily="34" charset="0"/>
                  <a:ea typeface="Helvetica Neue" charset="0"/>
                  <a:cs typeface="Helvetica" panose="020B0604020202020204" pitchFamily="34" charset="0"/>
                </a:endParaRPr>
              </a:p>
              <a:p>
                <a:pPr marL="342900" indent="-342900">
                  <a:buFont typeface="Arial" panose="020B0604020202020204" pitchFamily="34" charset="0"/>
                  <a:buChar char="•"/>
                </a:pPr>
                <a14:m>
                  <m:oMath xmlns:m="http://schemas.openxmlformats.org/officeDocument/2006/math">
                    <m:sSub>
                      <m:sSubPr>
                        <m:ctrlPr>
                          <a:rPr lang="en-US" altLang="en-US" sz="1600" b="1" i="1">
                            <a:latin typeface="Cambria Math" panose="02040503050406030204" pitchFamily="18" charset="0"/>
                          </a:rPr>
                        </m:ctrlPr>
                      </m:sSubPr>
                      <m:e>
                        <m:r>
                          <a:rPr lang="en-US" altLang="en-US" sz="1600" b="1" i="0">
                            <a:latin typeface="Cambria Math" panose="02040503050406030204" pitchFamily="18" charset="0"/>
                          </a:rPr>
                          <m:t>𝐇</m:t>
                        </m:r>
                      </m:e>
                      <m:sub>
                        <m:r>
                          <a:rPr lang="en-US" altLang="en-US" sz="1600" b="1" i="1">
                            <a:latin typeface="Cambria Math" panose="02040503050406030204" pitchFamily="18" charset="0"/>
                          </a:rPr>
                          <m:t>𝟎</m:t>
                        </m:r>
                      </m:sub>
                    </m:sSub>
                    <m:r>
                      <a:rPr lang="en-US" altLang="en-US" sz="1600" b="1" i="1">
                        <a:latin typeface="Cambria Math" panose="02040503050406030204" pitchFamily="18" charset="0"/>
                      </a:rPr>
                      <m:t>: </m:t>
                    </m:r>
                  </m:oMath>
                </a14:m>
                <a:r>
                  <a:rPr lang="en-US" sz="1600" b="1" dirty="0">
                    <a:latin typeface="Helvetica" panose="020B0604020202020204" pitchFamily="34" charset="0"/>
                    <a:cs typeface="Helvetica" panose="020B0604020202020204" pitchFamily="34" charset="0"/>
                  </a:rPr>
                  <a:t>the logistic model fits the data </a:t>
                </a:r>
                <a:r>
                  <a:rPr lang="en-US" sz="1600" dirty="0">
                    <a:latin typeface="Helvetica" panose="020B0604020202020204" pitchFamily="34" charset="0"/>
                    <a:cs typeface="Helvetica" panose="020B0604020202020204" pitchFamily="34" charset="0"/>
                  </a:rPr>
                  <a:t>vs. </a:t>
                </a:r>
                <a:br>
                  <a:rPr lang="en-US" sz="1600" dirty="0">
                    <a:latin typeface="Helvetica" panose="020B0604020202020204" pitchFamily="34" charset="0"/>
                    <a:cs typeface="Helvetica" panose="020B0604020202020204" pitchFamily="34" charset="0"/>
                  </a:rPr>
                </a:br>
                <a14:m>
                  <m:oMath xmlns:m="http://schemas.openxmlformats.org/officeDocument/2006/math">
                    <m:sSub>
                      <m:sSubPr>
                        <m:ctrlPr>
                          <a:rPr lang="en-US" altLang="en-US" sz="1600" b="1" i="1">
                            <a:latin typeface="Cambria Math" panose="02040503050406030204" pitchFamily="18" charset="0"/>
                          </a:rPr>
                        </m:ctrlPr>
                      </m:sSubPr>
                      <m:e>
                        <m:r>
                          <a:rPr lang="en-US" altLang="en-US" sz="1600" b="1" i="0">
                            <a:latin typeface="Cambria Math" panose="02040503050406030204" pitchFamily="18" charset="0"/>
                          </a:rPr>
                          <m:t>𝐇</m:t>
                        </m:r>
                      </m:e>
                      <m:sub>
                        <m:r>
                          <a:rPr lang="en-US" altLang="en-US" sz="1600" b="1" i="0" smtClean="0">
                            <a:latin typeface="Cambria Math" panose="02040503050406030204" pitchFamily="18" charset="0"/>
                          </a:rPr>
                          <m:t>𝐚</m:t>
                        </m:r>
                      </m:sub>
                    </m:sSub>
                    <m:r>
                      <a:rPr lang="en-US" altLang="en-US" sz="1600" b="1" i="1">
                        <a:latin typeface="Cambria Math" panose="02040503050406030204" pitchFamily="18" charset="0"/>
                      </a:rPr>
                      <m:t>:</m:t>
                    </m:r>
                  </m:oMath>
                </a14:m>
                <a:r>
                  <a:rPr lang="en-US" sz="1600" b="1" dirty="0">
                    <a:latin typeface="Helvetica" panose="020B0604020202020204" pitchFamily="34" charset="0"/>
                    <a:cs typeface="Helvetica" panose="020B0604020202020204" pitchFamily="34" charset="0"/>
                  </a:rPr>
                  <a:t> the logistic model does not fit the data</a:t>
                </a:r>
                <a:endParaRPr lang="en-US" altLang="en-US" sz="1600" dirty="0">
                  <a:latin typeface="Helvetica" panose="020B0604020202020204" pitchFamily="34" charset="0"/>
                  <a:ea typeface="Helvetica Neue" charset="0"/>
                  <a:cs typeface="Helvetica" panose="020B0604020202020204" pitchFamily="34" charset="0"/>
                </a:endParaRPr>
              </a:p>
              <a:p>
                <a:pPr marL="342900" indent="-342900">
                  <a:spcBef>
                    <a:spcPts val="600"/>
                  </a:spcBef>
                  <a:buFont typeface="Arial" panose="020B0604020202020204" pitchFamily="34" charset="0"/>
                  <a:buChar char="•"/>
                </a:pPr>
                <a:r>
                  <a:rPr lang="en-US" altLang="en-US" sz="1600" dirty="0">
                    <a:latin typeface="Helvetica" panose="020B0604020202020204" pitchFamily="34" charset="0"/>
                    <a:ea typeface="Helvetica Neue" charset="0"/>
                    <a:cs typeface="Helvetica" panose="020B0604020202020204" pitchFamily="34" charset="0"/>
                  </a:rPr>
                  <a:t>Deviance test statistic: </a:t>
                </a:r>
                <a14:m>
                  <m:oMath xmlns:m="http://schemas.openxmlformats.org/officeDocument/2006/math">
                    <m:r>
                      <m:rPr>
                        <m:sty m:val="p"/>
                      </m:rPr>
                      <a:rPr lang="en-US" altLang="en-US" sz="1600" b="0" i="0" smtClean="0">
                        <a:latin typeface="Cambria Math" panose="02040503050406030204" pitchFamily="18" charset="0"/>
                      </a:rPr>
                      <m:t>D</m:t>
                    </m:r>
                    <m:r>
                      <a:rPr lang="en-US" altLang="en-US" sz="1600" b="0" i="0" smtClean="0">
                        <a:latin typeface="Cambria Math" panose="02040503050406030204" pitchFamily="18" charset="0"/>
                      </a:rPr>
                      <m:t>=</m:t>
                    </m:r>
                    <m:nary>
                      <m:naryPr>
                        <m:chr m:val="∑"/>
                        <m:limLoc m:val="subSup"/>
                        <m:ctrlPr>
                          <a:rPr lang="en-US" altLang="en-US" sz="1600" i="1" smtClean="0">
                            <a:latin typeface="Cambria Math" panose="02040503050406030204" pitchFamily="18" charset="0"/>
                          </a:rPr>
                        </m:ctrlPr>
                      </m:naryPr>
                      <m:sub>
                        <m:r>
                          <m:rPr>
                            <m:brk m:alnAt="25"/>
                          </m:rPr>
                          <a:rPr lang="en-US" altLang="en-US" sz="1600" b="0" i="1" smtClean="0">
                            <a:latin typeface="Cambria Math" panose="02040503050406030204" pitchFamily="18" charset="0"/>
                          </a:rPr>
                          <m:t>𝑖</m:t>
                        </m:r>
                        <m:r>
                          <a:rPr lang="en-US" altLang="en-US" sz="1600" b="0" i="1" smtClean="0">
                            <a:latin typeface="Cambria Math" panose="02040503050406030204" pitchFamily="18" charset="0"/>
                          </a:rPr>
                          <m:t>=1</m:t>
                        </m:r>
                      </m:sub>
                      <m:sup>
                        <m:r>
                          <a:rPr lang="en-US" altLang="en-US" sz="1600" b="0" i="1" smtClean="0">
                            <a:latin typeface="Cambria Math" panose="02040503050406030204" pitchFamily="18" charset="0"/>
                          </a:rPr>
                          <m:t>𝑛</m:t>
                        </m:r>
                      </m:sup>
                      <m:e>
                        <m:sSubSup>
                          <m:sSubSupPr>
                            <m:ctrlPr>
                              <a:rPr lang="en-US" altLang="en-US" sz="1600" i="1" smtClean="0">
                                <a:latin typeface="Cambria Math" panose="02040503050406030204" pitchFamily="18" charset="0"/>
                              </a:rPr>
                            </m:ctrlPr>
                          </m:sSubSupPr>
                          <m:e>
                            <m:r>
                              <a:rPr lang="en-US" altLang="en-US" sz="1600" b="0" i="1" smtClean="0">
                                <a:latin typeface="Cambria Math" panose="02040503050406030204" pitchFamily="18" charset="0"/>
                              </a:rPr>
                              <m:t>𝑑</m:t>
                            </m:r>
                          </m:e>
                          <m:sub>
                            <m:r>
                              <a:rPr lang="en-US" altLang="en-US" sz="1600" b="0" i="1" smtClean="0">
                                <a:latin typeface="Cambria Math" panose="02040503050406030204" pitchFamily="18" charset="0"/>
                              </a:rPr>
                              <m:t>𝑖</m:t>
                            </m:r>
                          </m:sub>
                          <m:sup>
                            <m:r>
                              <a:rPr lang="en-US" altLang="en-US" sz="1600" b="0" i="1" smtClean="0">
                                <a:latin typeface="Cambria Math" panose="02040503050406030204" pitchFamily="18" charset="0"/>
                              </a:rPr>
                              <m:t>2</m:t>
                            </m:r>
                          </m:sup>
                        </m:sSubSup>
                      </m:e>
                    </m:nary>
                  </m:oMath>
                </a14:m>
                <a:endParaRPr lang="en-US" altLang="en-US" sz="1600" dirty="0">
                  <a:latin typeface="Helvetica" panose="020B0604020202020204" pitchFamily="34" charset="0"/>
                  <a:ea typeface="Helvetica Neue" charset="0"/>
                  <a:cs typeface="Helvetica" panose="020B0604020202020204" pitchFamily="34" charset="0"/>
                </a:endParaRPr>
              </a:p>
              <a:p>
                <a:pPr marL="687388" lvl="2" indent="-342900">
                  <a:buFont typeface="Arial" panose="020B0604020202020204" pitchFamily="34" charset="0"/>
                  <a:buChar char="•"/>
                </a:pPr>
                <a:r>
                  <a:rPr lang="en-US" altLang="en-US" sz="1600" dirty="0">
                    <a:latin typeface="Helvetica" panose="020B0604020202020204" pitchFamily="34" charset="0"/>
                    <a:ea typeface="Helvetica Neue" charset="0"/>
                    <a:cs typeface="Helvetica" panose="020B0604020202020204" pitchFamily="34" charset="0"/>
                  </a:rPr>
                  <a:t>Under </a:t>
                </a:r>
                <a14:m>
                  <m:oMath xmlns:m="http://schemas.openxmlformats.org/officeDocument/2006/math">
                    <m:sSub>
                      <m:sSubPr>
                        <m:ctrlPr>
                          <a:rPr lang="en-US" altLang="en-US" sz="1600" b="1" i="1">
                            <a:latin typeface="Cambria Math" panose="02040503050406030204" pitchFamily="18" charset="0"/>
                          </a:rPr>
                        </m:ctrlPr>
                      </m:sSubPr>
                      <m:e>
                        <m:r>
                          <a:rPr lang="en-US" altLang="en-US" sz="1600" b="1">
                            <a:latin typeface="Cambria Math" panose="02040503050406030204" pitchFamily="18" charset="0"/>
                          </a:rPr>
                          <m:t>𝐇</m:t>
                        </m:r>
                      </m:e>
                      <m:sub>
                        <m:r>
                          <a:rPr lang="en-US" altLang="en-US" sz="1600" b="1" i="1">
                            <a:latin typeface="Cambria Math" panose="02040503050406030204" pitchFamily="18" charset="0"/>
                          </a:rPr>
                          <m:t>𝟎</m:t>
                        </m:r>
                      </m:sub>
                    </m:sSub>
                  </m:oMath>
                </a14:m>
                <a:r>
                  <a:rPr lang="en-US" altLang="en-US" sz="1600" dirty="0">
                    <a:latin typeface="Helvetica" panose="020B0604020202020204" pitchFamily="34" charset="0"/>
                    <a:ea typeface="Helvetica Neue" charset="0"/>
                    <a:cs typeface="Helvetica" panose="020B0604020202020204" pitchFamily="34" charset="0"/>
                  </a:rPr>
                  <a:t>, </a:t>
                </a:r>
                <a14:m>
                  <m:oMath xmlns:m="http://schemas.openxmlformats.org/officeDocument/2006/math">
                    <m:sSubSup>
                      <m:sSubSupPr>
                        <m:ctrlPr>
                          <a:rPr lang="en-US" altLang="en-US" sz="1600" i="1" smtClean="0">
                            <a:latin typeface="Cambria Math" panose="02040503050406030204" pitchFamily="18" charset="0"/>
                          </a:rPr>
                        </m:ctrlPr>
                      </m:sSubSupPr>
                      <m:e>
                        <m:r>
                          <m:rPr>
                            <m:sty m:val="p"/>
                          </m:rPr>
                          <a:rPr lang="en-US" altLang="en-US" sz="1600" b="0" i="0" smtClean="0">
                            <a:latin typeface="Cambria Math" panose="02040503050406030204" pitchFamily="18" charset="0"/>
                          </a:rPr>
                          <m:t>D</m:t>
                        </m:r>
                        <m:r>
                          <a:rPr lang="en-US" altLang="en-US" sz="1600" b="0" i="1" smtClean="0">
                            <a:latin typeface="Cambria Math" panose="02040503050406030204" pitchFamily="18" charset="0"/>
                          </a:rPr>
                          <m:t> </m:t>
                        </m:r>
                        <m:r>
                          <a:rPr lang="en-US" altLang="en-US" sz="1600" i="1" smtClean="0">
                            <a:latin typeface="Cambria Math" panose="02040503050406030204" pitchFamily="18" charset="0"/>
                            <a:ea typeface="Cambria Math" panose="02040503050406030204" pitchFamily="18" charset="0"/>
                          </a:rPr>
                          <m:t>~</m:t>
                        </m:r>
                        <m:r>
                          <a:rPr lang="en-US" altLang="en-US" sz="1600" b="0" i="1" smtClean="0">
                            <a:latin typeface="Cambria Math" panose="02040503050406030204" pitchFamily="18" charset="0"/>
                            <a:ea typeface="Cambria Math" panose="02040503050406030204" pitchFamily="18" charset="0"/>
                          </a:rPr>
                          <m:t> </m:t>
                        </m:r>
                        <m:r>
                          <a:rPr lang="en-US" altLang="en-US" sz="1600" i="1" smtClean="0">
                            <a:latin typeface="Cambria Math" panose="02040503050406030204" pitchFamily="18" charset="0"/>
                            <a:ea typeface="Cambria Math" panose="02040503050406030204" pitchFamily="18" charset="0"/>
                          </a:rPr>
                          <m:t>𝜒</m:t>
                        </m:r>
                      </m:e>
                      <m:sub>
                        <m:r>
                          <a:rPr lang="en-US" altLang="en-US" sz="1600" b="0" i="1" smtClean="0">
                            <a:latin typeface="Cambria Math" panose="02040503050406030204" pitchFamily="18" charset="0"/>
                          </a:rPr>
                          <m:t>𝑛</m:t>
                        </m:r>
                        <m:r>
                          <a:rPr lang="en-US" altLang="en-US" sz="1600" b="0" i="1" smtClean="0">
                            <a:latin typeface="Cambria Math" panose="02040503050406030204" pitchFamily="18" charset="0"/>
                          </a:rPr>
                          <m:t>−</m:t>
                        </m:r>
                        <m:r>
                          <a:rPr lang="en-US" altLang="en-US" sz="1600" b="0" i="1" smtClean="0">
                            <a:latin typeface="Cambria Math" panose="02040503050406030204" pitchFamily="18" charset="0"/>
                          </a:rPr>
                          <m:t>𝑝</m:t>
                        </m:r>
                        <m:r>
                          <a:rPr lang="en-US" altLang="en-US" sz="1600" b="0" i="1" smtClean="0">
                            <a:latin typeface="Cambria Math" panose="02040503050406030204" pitchFamily="18" charset="0"/>
                          </a:rPr>
                          <m:t>−1</m:t>
                        </m:r>
                      </m:sub>
                      <m:sup>
                        <m:r>
                          <a:rPr lang="en-US" altLang="en-US" sz="1600" b="0" i="1" smtClean="0">
                            <a:latin typeface="Cambria Math" panose="02040503050406030204" pitchFamily="18" charset="0"/>
                          </a:rPr>
                          <m:t>2</m:t>
                        </m:r>
                      </m:sup>
                    </m:sSubSup>
                  </m:oMath>
                </a14:m>
                <a:endParaRPr lang="en-US" altLang="en-US" sz="1600" b="0" dirty="0">
                  <a:latin typeface="Helvetica" panose="020B0604020202020204" pitchFamily="34" charset="0"/>
                  <a:cs typeface="Helvetica" panose="020B0604020202020204" pitchFamily="34" charset="0"/>
                </a:endParaRPr>
              </a:p>
              <a:p>
                <a:pPr marL="342900" lvl="1" indent="-342900">
                  <a:spcBef>
                    <a:spcPts val="600"/>
                  </a:spcBef>
                  <a:buFont typeface="Arial" panose="020B0604020202020204" pitchFamily="34" charset="0"/>
                  <a:buChar char="•"/>
                </a:pPr>
                <a:r>
                  <a:rPr lang="en-US" altLang="en-US" sz="1600" dirty="0">
                    <a:latin typeface="Helvetica" panose="020B0604020202020204" pitchFamily="34" charset="0"/>
                    <a:ea typeface="Helvetica Neue" charset="0"/>
                    <a:cs typeface="Helvetica" panose="020B0604020202020204" pitchFamily="34" charset="0"/>
                  </a:rPr>
                  <a:t>Reject </a:t>
                </a:r>
                <a14:m>
                  <m:oMath xmlns:m="http://schemas.openxmlformats.org/officeDocument/2006/math">
                    <m:sSub>
                      <m:sSubPr>
                        <m:ctrlPr>
                          <a:rPr lang="en-US" altLang="en-US" sz="1600" b="1" i="1">
                            <a:latin typeface="Cambria Math" panose="02040503050406030204" pitchFamily="18" charset="0"/>
                          </a:rPr>
                        </m:ctrlPr>
                      </m:sSubPr>
                      <m:e>
                        <m:r>
                          <a:rPr lang="en-US" altLang="en-US" sz="1600" b="1">
                            <a:latin typeface="Cambria Math" panose="02040503050406030204" pitchFamily="18" charset="0"/>
                          </a:rPr>
                          <m:t>𝐇</m:t>
                        </m:r>
                      </m:e>
                      <m:sub>
                        <m:r>
                          <a:rPr lang="en-US" altLang="en-US" sz="1600" b="1" i="1">
                            <a:latin typeface="Cambria Math" panose="02040503050406030204" pitchFamily="18" charset="0"/>
                          </a:rPr>
                          <m:t>𝟎</m:t>
                        </m:r>
                      </m:sub>
                    </m:sSub>
                    <m:r>
                      <a:rPr lang="en-US" altLang="en-US" sz="1600" b="1" i="1">
                        <a:latin typeface="Cambria Math" panose="02040503050406030204" pitchFamily="18" charset="0"/>
                      </a:rPr>
                      <m:t> </m:t>
                    </m:r>
                  </m:oMath>
                </a14:m>
                <a:r>
                  <a:rPr lang="en-US" altLang="en-US" sz="1600" dirty="0">
                    <a:latin typeface="Helvetica" panose="020B0604020202020204" pitchFamily="34" charset="0"/>
                    <a:ea typeface="Helvetica Neue" charset="0"/>
                    <a:cs typeface="Helvetica" panose="020B0604020202020204" pitchFamily="34" charset="0"/>
                  </a:rPr>
                  <a:t>if </a:t>
                </a:r>
                <a14:m>
                  <m:oMath xmlns:m="http://schemas.openxmlformats.org/officeDocument/2006/math">
                    <m:r>
                      <m:rPr>
                        <m:sty m:val="p"/>
                      </m:rPr>
                      <a:rPr lang="en-US" altLang="en-US" sz="1600" b="0" i="0" smtClean="0">
                        <a:latin typeface="Cambria Math" panose="02040503050406030204" pitchFamily="18" charset="0"/>
                      </a:rPr>
                      <m:t>P</m:t>
                    </m:r>
                    <m:r>
                      <m:rPr>
                        <m:nor/>
                      </m:rPr>
                      <a:rPr lang="en-US" altLang="en-US" sz="1600" dirty="0">
                        <a:latin typeface="Helvetica" panose="020B0604020202020204" pitchFamily="34" charset="0"/>
                        <a:ea typeface="Helvetica Neue" charset="0"/>
                        <a:cs typeface="Helvetica" panose="020B0604020202020204" pitchFamily="34" charset="0"/>
                      </a:rPr>
                      <m:t>−</m:t>
                    </m:r>
                    <m:r>
                      <m:rPr>
                        <m:sty m:val="p"/>
                      </m:rPr>
                      <a:rPr lang="en-US" altLang="en-US" sz="1600" b="0" i="0" smtClean="0">
                        <a:latin typeface="Cambria Math" panose="02040503050406030204" pitchFamily="18" charset="0"/>
                      </a:rPr>
                      <m:t>value</m:t>
                    </m:r>
                    <m:r>
                      <a:rPr lang="en-US" altLang="en-US" sz="1600" b="0" i="0" smtClean="0">
                        <a:latin typeface="Cambria Math" panose="02040503050406030204" pitchFamily="18" charset="0"/>
                      </a:rPr>
                      <m:t>=</m:t>
                    </m:r>
                    <m:r>
                      <m:rPr>
                        <m:sty m:val="p"/>
                      </m:rPr>
                      <a:rPr lang="en-US" altLang="en-US" sz="1600" b="0" i="0" smtClean="0">
                        <a:latin typeface="Cambria Math" panose="02040503050406030204" pitchFamily="18" charset="0"/>
                      </a:rPr>
                      <m:t>Pr</m:t>
                    </m:r>
                    <m:d>
                      <m:dPr>
                        <m:ctrlPr>
                          <a:rPr lang="en-US" altLang="en-US" sz="1600" i="1" smtClean="0">
                            <a:latin typeface="Cambria Math" panose="02040503050406030204" pitchFamily="18" charset="0"/>
                          </a:rPr>
                        </m:ctrlPr>
                      </m:dPr>
                      <m:e>
                        <m:sSubSup>
                          <m:sSubSupPr>
                            <m:ctrlPr>
                              <a:rPr lang="en-US" altLang="en-US" sz="1600" i="1">
                                <a:latin typeface="Cambria Math" panose="02040503050406030204" pitchFamily="18" charset="0"/>
                              </a:rPr>
                            </m:ctrlPr>
                          </m:sSubSupPr>
                          <m:e>
                            <m:r>
                              <a:rPr lang="en-US" altLang="en-US" sz="1600" i="1">
                                <a:latin typeface="Cambria Math" panose="02040503050406030204" pitchFamily="18" charset="0"/>
                                <a:ea typeface="Cambria Math" panose="02040503050406030204" pitchFamily="18" charset="0"/>
                              </a:rPr>
                              <m:t>𝜒</m:t>
                            </m:r>
                          </m:e>
                          <m:sub>
                            <m:r>
                              <a:rPr lang="en-US" altLang="en-US" sz="1600" i="1">
                                <a:latin typeface="Cambria Math" panose="02040503050406030204" pitchFamily="18" charset="0"/>
                              </a:rPr>
                              <m:t>𝑑𝑓</m:t>
                            </m:r>
                          </m:sub>
                          <m:sup>
                            <m:r>
                              <a:rPr lang="en-US" altLang="en-US" sz="1600" i="1">
                                <a:latin typeface="Cambria Math" panose="02040503050406030204" pitchFamily="18" charset="0"/>
                              </a:rPr>
                              <m:t>2</m:t>
                            </m:r>
                          </m:sup>
                        </m:sSubSup>
                        <m:r>
                          <a:rPr lang="en-US" altLang="en-US" sz="1600" i="1">
                            <a:latin typeface="Cambria Math" panose="02040503050406030204" pitchFamily="18" charset="0"/>
                            <a:ea typeface="Cambria Math" panose="02040503050406030204" pitchFamily="18" charset="0"/>
                          </a:rPr>
                          <m:t>&gt;</m:t>
                        </m:r>
                        <m:r>
                          <m:rPr>
                            <m:sty m:val="p"/>
                          </m:rPr>
                          <a:rPr lang="en-US" altLang="en-US" sz="1600">
                            <a:latin typeface="Cambria Math" panose="02040503050406030204" pitchFamily="18" charset="0"/>
                            <a:ea typeface="Cambria Math" panose="02040503050406030204" pitchFamily="18" charset="0"/>
                          </a:rPr>
                          <m:t>D</m:t>
                        </m:r>
                      </m:e>
                    </m:d>
                  </m:oMath>
                </a14:m>
                <a:r>
                  <a:rPr lang="en-US" altLang="en-US" sz="1600" dirty="0">
                    <a:latin typeface="Helvetica" panose="020B0604020202020204" pitchFamily="34" charset="0"/>
                    <a:ea typeface="Helvetica Neue" charset="0"/>
                    <a:cs typeface="Helvetica" panose="020B0604020202020204" pitchFamily="34" charset="0"/>
                  </a:rPr>
                  <a:t> is small</a:t>
                </a:r>
              </a:p>
              <a:p>
                <a:pPr marL="342900" lvl="1" indent="-342900">
                  <a:spcBef>
                    <a:spcPts val="600"/>
                  </a:spcBef>
                  <a:buFont typeface="Arial" panose="020B0604020202020204" pitchFamily="34" charset="0"/>
                  <a:buChar char="•"/>
                </a:pPr>
                <a:r>
                  <a:rPr lang="en-US" altLang="en-US" sz="1600" dirty="0">
                    <a:latin typeface="Helvetica" panose="020B0604020202020204" pitchFamily="34" charset="0"/>
                    <a:ea typeface="Helvetica Neue" charset="0"/>
                    <a:cs typeface="Helvetica" panose="020B0604020202020204" pitchFamily="34" charset="0"/>
                  </a:rPr>
                  <a:t>For this test we want large p-values!!!!</a:t>
                </a:r>
              </a:p>
            </p:txBody>
          </p:sp>
        </mc:Choice>
        <mc:Fallback xmlns="">
          <p:sp>
            <p:nvSpPr>
              <p:cNvPr id="9" name="Rectangle 9"/>
              <p:cNvSpPr>
                <a:spLocks noRot="1" noChangeAspect="1" noMove="1" noResize="1" noEditPoints="1" noAdjustHandles="1" noChangeArrowheads="1" noChangeShapeType="1" noTextEdit="1"/>
              </p:cNvSpPr>
              <p:nvPr/>
            </p:nvSpPr>
            <p:spPr bwMode="auto">
              <a:xfrm>
                <a:off x="143905" y="906010"/>
                <a:ext cx="7802129" cy="3183372"/>
              </a:xfrm>
              <a:prstGeom prst="rect">
                <a:avLst/>
              </a:prstGeom>
              <a:blipFill>
                <a:blip r:embed="rId3"/>
                <a:stretch>
                  <a:fillRect l="-469" t="-575" b="-172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3" name="Rectangle 2"/>
          <p:cNvSpPr/>
          <p:nvPr/>
        </p:nvSpPr>
        <p:spPr>
          <a:xfrm>
            <a:off x="1648392" y="3758165"/>
            <a:ext cx="2422163" cy="331217"/>
          </a:xfrm>
          <a:prstGeom prst="rect">
            <a:avLst/>
          </a:prstGeom>
          <a:noFill/>
          <a:ln w="19050">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5464274" y="2252706"/>
            <a:ext cx="3568567" cy="1990918"/>
          </a:xfrm>
          <a:prstGeom prst="rect">
            <a:avLst/>
          </a:prstGeom>
        </p:spPr>
      </p:pic>
      <p:sp>
        <p:nvSpPr>
          <p:cNvPr id="2" name="Title 1"/>
          <p:cNvSpPr>
            <a:spLocks noGrp="1"/>
          </p:cNvSpPr>
          <p:nvPr>
            <p:ph type="title"/>
          </p:nvPr>
        </p:nvSpPr>
        <p:spPr>
          <a:xfrm>
            <a:off x="134903" y="115288"/>
            <a:ext cx="8562392" cy="667386"/>
          </a:xfrm>
        </p:spPr>
        <p:txBody>
          <a:bodyPr/>
          <a:lstStyle/>
          <a:p>
            <a:pPr algn="l"/>
            <a:r>
              <a:rPr lang="en-US" sz="3600" dirty="0">
                <a:latin typeface="Vitesse"/>
              </a:rPr>
              <a:t>Goodness of Fit vs. Predictive Power</a:t>
            </a:r>
          </a:p>
        </p:txBody>
      </p:sp>
      <p:sp>
        <p:nvSpPr>
          <p:cNvPr id="9" name="Rectangle 9"/>
          <p:cNvSpPr>
            <a:spLocks noChangeArrowheads="1"/>
          </p:cNvSpPr>
          <p:nvPr/>
        </p:nvSpPr>
        <p:spPr bwMode="auto">
          <a:xfrm>
            <a:off x="235247" y="2321470"/>
            <a:ext cx="4309765" cy="1661993"/>
          </a:xfrm>
          <a:prstGeom prst="rect">
            <a:avLst/>
          </a:prstGeom>
          <a:noFill/>
          <a:ln w="19050">
            <a:solidFill>
              <a:schemeClr val="tx2"/>
            </a:solidFill>
            <a:miter lim="800000"/>
          </a:ln>
          <a:extLst>
            <a:ext uri="{909E8E84-426E-40DD-AFC4-6F175D3DCCD1}">
              <a14:hiddenFill xmlns:a14="http://schemas.microsoft.com/office/drawing/2010/main">
                <a:solidFill>
                  <a:srgbClr val="FFFFFF"/>
                </a:solidFill>
              </a14:hiddenFill>
            </a:ext>
          </a:extLst>
        </p:spPr>
        <p:txBody>
          <a:bodyPr wrap="square" lIns="182880" tIns="91440" rIns="182880" bIns="91440">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r>
              <a:rPr lang="en-US" sz="1600" dirty="0">
                <a:latin typeface="Helvetica" panose="020B0604020202020204" pitchFamily="34" charset="0"/>
                <a:cs typeface="Helvetica" panose="020B0604020202020204" pitchFamily="34" charset="0"/>
              </a:rPr>
              <a:t>While the logistic model is a  sensible one for probabilities, it is not necessarily appropriate for any particular data set. That does not mean that the predicting variables are not good predictors of the probability of success.</a:t>
            </a:r>
            <a:endParaRPr lang="en-US" altLang="en-US" dirty="0">
              <a:latin typeface="Helvetica" panose="020B0604020202020204" pitchFamily="34" charset="0"/>
              <a:ea typeface="Helvetica Neue" charset="0"/>
              <a:cs typeface="Helvetica" panose="020B0604020202020204" pitchFamily="34" charset="0"/>
            </a:endParaRPr>
          </a:p>
        </p:txBody>
      </p:sp>
      <p:sp>
        <p:nvSpPr>
          <p:cNvPr id="4" name="TextBox 3"/>
          <p:cNvSpPr txBox="1"/>
          <p:nvPr/>
        </p:nvSpPr>
        <p:spPr>
          <a:xfrm flipH="1">
            <a:off x="134580" y="899877"/>
            <a:ext cx="7790132" cy="1200329"/>
          </a:xfrm>
          <a:prstGeom prst="rect">
            <a:avLst/>
          </a:prstGeom>
          <a:noFill/>
        </p:spPr>
        <p:txBody>
          <a:bodyPr wrap="square" rtlCol="0">
            <a:spAutoFit/>
          </a:bodyPr>
          <a:lstStyle/>
          <a:p>
            <a:pPr marL="344488" indent="-344488">
              <a:spcBef>
                <a:spcPct val="50000"/>
              </a:spcBef>
              <a:buFont typeface="Arial" panose="020B0604020202020204" pitchFamily="34" charset="0"/>
              <a:buChar char="•"/>
            </a:pPr>
            <a:r>
              <a:rPr lang="en-US" altLang="en-US" sz="1600" b="1" dirty="0">
                <a:latin typeface="Helvetica" panose="020B0604020202020204" pitchFamily="34" charset="0"/>
                <a:ea typeface="Helvetica Neue" charset="0"/>
                <a:cs typeface="Helvetica" panose="020B0604020202020204" pitchFamily="34" charset="0"/>
              </a:rPr>
              <a:t>Goodness of fit</a:t>
            </a:r>
            <a:r>
              <a:rPr lang="en-US" altLang="en-US" sz="1600" dirty="0">
                <a:latin typeface="Helvetica" panose="020B0604020202020204" pitchFamily="34" charset="0"/>
                <a:ea typeface="Helvetica Neue" charset="0"/>
                <a:cs typeface="Helvetica" panose="020B0604020202020204" pitchFamily="34" charset="0"/>
              </a:rPr>
              <a:t>: Model assumptions hold</a:t>
            </a:r>
          </a:p>
          <a:p>
            <a:pPr marL="687388" lvl="1" indent="-344488">
              <a:buFont typeface="Arial" panose="020B0604020202020204" pitchFamily="34" charset="0"/>
              <a:buChar char="•"/>
            </a:pPr>
            <a:r>
              <a:rPr lang="en-US" altLang="en-US" sz="1600" dirty="0">
                <a:latin typeface="Helvetica" panose="020B0604020202020204" pitchFamily="34" charset="0"/>
                <a:ea typeface="Helvetica Neue" charset="0"/>
                <a:cs typeface="Helvetica" panose="020B0604020202020204" pitchFamily="34" charset="0"/>
              </a:rPr>
              <a:t>For example, does the S-shape logit function fit the data?</a:t>
            </a:r>
          </a:p>
          <a:p>
            <a:pPr marL="344488" indent="-344488">
              <a:spcBef>
                <a:spcPct val="50000"/>
              </a:spcBef>
              <a:buFont typeface="Arial" panose="020B0604020202020204" pitchFamily="34" charset="0"/>
              <a:buChar char="•"/>
            </a:pPr>
            <a:r>
              <a:rPr lang="en-US" altLang="en-US" sz="1600" b="1" dirty="0">
                <a:latin typeface="Helvetica" panose="020B0604020202020204" pitchFamily="34" charset="0"/>
                <a:ea typeface="Helvetica Neue" charset="0"/>
                <a:cs typeface="Helvetica" panose="020B0604020202020204" pitchFamily="34" charset="0"/>
              </a:rPr>
              <a:t>Predictive Power</a:t>
            </a:r>
            <a:r>
              <a:rPr lang="en-US" altLang="en-US" sz="1600" dirty="0">
                <a:latin typeface="Helvetica" panose="020B0604020202020204" pitchFamily="34" charset="0"/>
                <a:ea typeface="Helvetica Neue" charset="0"/>
                <a:cs typeface="Helvetica" panose="020B0604020202020204" pitchFamily="34" charset="0"/>
              </a:rPr>
              <a:t>: The predicting variables predict the data</a:t>
            </a:r>
          </a:p>
          <a:p>
            <a:pPr marL="687388" lvl="1" indent="-344488">
              <a:buFont typeface="Arial" panose="020B0604020202020204" pitchFamily="34" charset="0"/>
              <a:buChar char="•"/>
            </a:pPr>
            <a:r>
              <a:rPr lang="en-US" altLang="en-US" sz="1600" dirty="0">
                <a:latin typeface="Helvetica" panose="020B0604020202020204" pitchFamily="34" charset="0"/>
                <a:ea typeface="Helvetica Neue" charset="0"/>
                <a:cs typeface="Helvetica" panose="020B0604020202020204" pitchFamily="34" charset="0"/>
              </a:rPr>
              <a:t>Even if the one or more assumptions do not hold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292" y="115287"/>
            <a:ext cx="8562392" cy="614555"/>
          </a:xfrm>
        </p:spPr>
        <p:txBody>
          <a:bodyPr/>
          <a:lstStyle/>
          <a:p>
            <a:pPr algn="l"/>
            <a:r>
              <a:rPr lang="en-US" sz="3600" dirty="0">
                <a:latin typeface="Vitesse"/>
              </a:rPr>
              <a:t>What If No Goodness of Fit?</a:t>
            </a:r>
          </a:p>
        </p:txBody>
      </p:sp>
      <p:sp>
        <p:nvSpPr>
          <p:cNvPr id="9" name="Rectangle 9"/>
          <p:cNvSpPr>
            <a:spLocks noChangeArrowheads="1"/>
          </p:cNvSpPr>
          <p:nvPr/>
        </p:nvSpPr>
        <p:spPr bwMode="auto">
          <a:xfrm>
            <a:off x="137507" y="921592"/>
            <a:ext cx="5348893" cy="4178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344488" indent="-344488">
              <a:buFont typeface="Arial" panose="020B0604020202020204" pitchFamily="34" charset="0"/>
              <a:buChar char="•"/>
            </a:pPr>
            <a:r>
              <a:rPr lang="en-US" sz="1600" dirty="0">
                <a:latin typeface="Helvetica" panose="020B0604020202020204" pitchFamily="34" charset="0"/>
                <a:cs typeface="Helvetica" panose="020B0604020202020204" pitchFamily="34" charset="0"/>
              </a:rPr>
              <a:t>Add predicting variables</a:t>
            </a:r>
          </a:p>
          <a:p>
            <a:pPr marL="344488" indent="-344488">
              <a:spcBef>
                <a:spcPts val="1200"/>
              </a:spcBef>
              <a:buFont typeface="Arial" panose="020B0604020202020204" pitchFamily="34" charset="0"/>
              <a:buChar char="•"/>
            </a:pPr>
            <a:r>
              <a:rPr lang="en-US" sz="1600" dirty="0">
                <a:latin typeface="Helvetica" panose="020B0604020202020204" pitchFamily="34" charset="0"/>
                <a:cs typeface="Helvetica" panose="020B0604020202020204" pitchFamily="34" charset="0"/>
              </a:rPr>
              <a:t>Transform predicting variables to improve linearity</a:t>
            </a:r>
          </a:p>
          <a:p>
            <a:pPr marL="344488" indent="-344488">
              <a:spcBef>
                <a:spcPts val="1200"/>
              </a:spcBef>
              <a:buFont typeface="Arial" panose="020B0604020202020204" pitchFamily="34" charset="0"/>
              <a:buChar char="•"/>
            </a:pPr>
            <a:r>
              <a:rPr lang="en-US" altLang="en-US" sz="1600" dirty="0">
                <a:latin typeface="Helvetica" panose="020B0604020202020204" pitchFamily="34" charset="0"/>
                <a:ea typeface="Helvetica Neue" charset="0"/>
                <a:cs typeface="Helvetica" panose="020B0604020202020204" pitchFamily="34" charset="0"/>
              </a:rPr>
              <a:t>Identify unusual observations</a:t>
            </a:r>
            <a:r>
              <a:rPr lang="en-US" sz="1600" dirty="0">
                <a:latin typeface="Helvetica" panose="020B0604020202020204" pitchFamily="34" charset="0"/>
                <a:cs typeface="Helvetica" panose="020B0604020202020204" pitchFamily="34" charset="0"/>
              </a:rPr>
              <a:t> (outliers, leverage points)</a:t>
            </a:r>
          </a:p>
          <a:p>
            <a:pPr marL="344488" indent="-344488">
              <a:spcBef>
                <a:spcPts val="1200"/>
              </a:spcBef>
              <a:buFont typeface="Arial" panose="020B0604020202020204" pitchFamily="34" charset="0"/>
              <a:buChar char="•"/>
            </a:pPr>
            <a:r>
              <a:rPr lang="en-US" altLang="en-US" sz="1600" dirty="0">
                <a:latin typeface="Helvetica" panose="020B0604020202020204" pitchFamily="34" charset="0"/>
                <a:ea typeface="Helvetica Neue" charset="0"/>
                <a:cs typeface="Helvetica" panose="020B0604020202020204" pitchFamily="34" charset="0"/>
              </a:rPr>
              <a:t>The binomial distribution may not be appropriate</a:t>
            </a:r>
          </a:p>
          <a:p>
            <a:pPr marL="687388" lvl="1" indent="-344488">
              <a:spcBef>
                <a:spcPts val="600"/>
              </a:spcBef>
              <a:buFont typeface="Arial" panose="020B0604020202020204" pitchFamily="34" charset="0"/>
              <a:buChar char="•"/>
            </a:pPr>
            <a:r>
              <a:rPr lang="en-US" altLang="en-US" sz="1400" dirty="0">
                <a:latin typeface="Helvetica" panose="020B0604020202020204" pitchFamily="34" charset="0"/>
                <a:ea typeface="Helvetica Neue" charset="0"/>
                <a:cs typeface="Helvetica" panose="020B0604020202020204" pitchFamily="34" charset="0"/>
              </a:rPr>
              <a:t>Overdispersion: The variability of the probability estimates is larger than would be implied by a binomial random variable</a:t>
            </a:r>
          </a:p>
          <a:p>
            <a:pPr marL="1031875" lvl="1" indent="-346075">
              <a:spcBef>
                <a:spcPts val="300"/>
              </a:spcBef>
              <a:buFont typeface="Arial" panose="020B0604020202020204" pitchFamily="34" charset="0"/>
              <a:buChar char="•"/>
            </a:pPr>
            <a:r>
              <a:rPr lang="en-US" altLang="en-US" sz="1200" dirty="0">
                <a:latin typeface="Helvetica" panose="020B0604020202020204" pitchFamily="34" charset="0"/>
                <a:ea typeface="Helvetica Neue" charset="0"/>
                <a:cs typeface="Helvetica" panose="020B0604020202020204" pitchFamily="34" charset="0"/>
              </a:rPr>
              <a:t>Correlation in the observed responses</a:t>
            </a:r>
          </a:p>
          <a:p>
            <a:pPr marL="1031875" lvl="1" indent="-346075">
              <a:buFont typeface="Arial" panose="020B0604020202020204" pitchFamily="34" charset="0"/>
              <a:buChar char="•"/>
            </a:pPr>
            <a:r>
              <a:rPr lang="en-US" altLang="en-US" sz="1200" dirty="0">
                <a:latin typeface="Helvetica" panose="020B0604020202020204" pitchFamily="34" charset="0"/>
                <a:cs typeface="Helvetica" panose="020B0604020202020204" pitchFamily="34" charset="0"/>
              </a:rPr>
              <a:t>H</a:t>
            </a:r>
            <a:r>
              <a:rPr lang="en-US" sz="1200" dirty="0">
                <a:latin typeface="Helvetica" panose="020B0604020202020204" pitchFamily="34" charset="0"/>
                <a:cs typeface="Helvetica" panose="020B0604020202020204" pitchFamily="34" charset="0"/>
              </a:rPr>
              <a:t>eterogeneity in the success probabilities that hasn’t been modeled</a:t>
            </a:r>
          </a:p>
          <a:p>
            <a:pPr marL="344488" lvl="1" indent="-344488">
              <a:spcBef>
                <a:spcPts val="1200"/>
              </a:spcBef>
              <a:buFont typeface="Arial" panose="020B0604020202020204" pitchFamily="34" charset="0"/>
              <a:buChar char="•"/>
            </a:pPr>
            <a:r>
              <a:rPr lang="en-US" altLang="en-US" sz="1600" dirty="0">
                <a:latin typeface="Helvetica" panose="020B0604020202020204" pitchFamily="34" charset="0"/>
                <a:ea typeface="Helvetica Neue" charset="0"/>
                <a:cs typeface="Helvetica" panose="020B0604020202020204" pitchFamily="34" charset="0"/>
              </a:rPr>
              <a:t>Logit function may not fit data</a:t>
            </a:r>
          </a:p>
          <a:p>
            <a:pPr marL="687388" lvl="1" indent="-344488">
              <a:spcBef>
                <a:spcPts val="600"/>
              </a:spcBef>
              <a:buFont typeface="Arial" panose="020B0604020202020204" pitchFamily="34" charset="0"/>
              <a:buChar char="•"/>
            </a:pPr>
            <a:r>
              <a:rPr lang="en-US" altLang="en-US" sz="1400" dirty="0">
                <a:latin typeface="Helvetica" panose="020B0604020202020204" pitchFamily="34" charset="0"/>
                <a:ea typeface="Helvetica Neue" charset="0"/>
                <a:cs typeface="Helvetica" panose="020B0604020202020204" pitchFamily="34" charset="0"/>
              </a:rPr>
              <a:t>Other S-shape functions</a:t>
            </a:r>
          </a:p>
          <a:p>
            <a:pPr marL="1031875" lvl="2" indent="-346075">
              <a:spcBef>
                <a:spcPts val="600"/>
              </a:spcBef>
              <a:buFont typeface="Arial" panose="020B0604020202020204" pitchFamily="34" charset="0"/>
              <a:buChar char="•"/>
            </a:pPr>
            <a:r>
              <a:rPr lang="en-US" altLang="en-US" sz="1200" dirty="0" err="1">
                <a:latin typeface="Helvetica" panose="020B0604020202020204" pitchFamily="34" charset="0"/>
                <a:ea typeface="Helvetica Neue" charset="0"/>
                <a:cs typeface="Helvetica" panose="020B0604020202020204" pitchFamily="34" charset="0"/>
              </a:rPr>
              <a:t>probit</a:t>
            </a:r>
            <a:r>
              <a:rPr lang="en-US" altLang="en-US" sz="1200" dirty="0">
                <a:latin typeface="Helvetica" panose="020B0604020202020204" pitchFamily="34" charset="0"/>
                <a:ea typeface="Helvetica Neue" charset="0"/>
                <a:cs typeface="Helvetica" panose="020B0604020202020204" pitchFamily="34" charset="0"/>
              </a:rPr>
              <a:t>, complementary log-log (c-log-log)</a:t>
            </a:r>
          </a:p>
        </p:txBody>
      </p:sp>
    </p:spTree>
    <p:extLst>
      <p:ext uri="{BB962C8B-B14F-4D97-AF65-F5344CB8AC3E}">
        <p14:creationId xmlns:p14="http://schemas.microsoft.com/office/powerpoint/2010/main" val="3215771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9">
            <a:extLst>
              <a:ext uri="{FF2B5EF4-FFF2-40B4-BE49-F238E27FC236}">
                <a16:creationId xmlns:a16="http://schemas.microsoft.com/office/drawing/2014/main" id="{F7308A0E-5220-4CC2-9497-8186176ED0FB}"/>
              </a:ext>
            </a:extLst>
          </p:cNvPr>
          <p:cNvSpPr>
            <a:spLocks noChangeArrowheads="1"/>
          </p:cNvSpPr>
          <p:nvPr/>
        </p:nvSpPr>
        <p:spPr bwMode="auto">
          <a:xfrm>
            <a:off x="137507" y="921592"/>
            <a:ext cx="5348893" cy="4178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344488" indent="-344488">
              <a:buFont typeface="Arial" panose="020B0604020202020204" pitchFamily="34" charset="0"/>
              <a:buChar char="•"/>
            </a:pPr>
            <a:r>
              <a:rPr lang="en-US" sz="1600" dirty="0">
                <a:latin typeface="Helvetica" panose="020B0604020202020204" pitchFamily="34" charset="0"/>
                <a:cs typeface="Helvetica" panose="020B0604020202020204" pitchFamily="34" charset="0"/>
              </a:rPr>
              <a:t>Add predicting variables</a:t>
            </a:r>
          </a:p>
          <a:p>
            <a:pPr marL="344488" indent="-344488">
              <a:spcBef>
                <a:spcPts val="1200"/>
              </a:spcBef>
              <a:buFont typeface="Arial" panose="020B0604020202020204" pitchFamily="34" charset="0"/>
              <a:buChar char="•"/>
            </a:pPr>
            <a:r>
              <a:rPr lang="en-US" sz="1600" dirty="0">
                <a:latin typeface="Helvetica" panose="020B0604020202020204" pitchFamily="34" charset="0"/>
                <a:cs typeface="Helvetica" panose="020B0604020202020204" pitchFamily="34" charset="0"/>
              </a:rPr>
              <a:t>Transform predicting variables to improve linearity</a:t>
            </a:r>
          </a:p>
          <a:p>
            <a:pPr marL="344488" indent="-344488">
              <a:spcBef>
                <a:spcPts val="1200"/>
              </a:spcBef>
              <a:buFont typeface="Arial" panose="020B0604020202020204" pitchFamily="34" charset="0"/>
              <a:buChar char="•"/>
            </a:pPr>
            <a:r>
              <a:rPr lang="en-US" altLang="en-US" sz="1600" dirty="0">
                <a:latin typeface="Helvetica" panose="020B0604020202020204" pitchFamily="34" charset="0"/>
                <a:ea typeface="Helvetica Neue" charset="0"/>
                <a:cs typeface="Helvetica" panose="020B0604020202020204" pitchFamily="34" charset="0"/>
              </a:rPr>
              <a:t>Identify unusual observations</a:t>
            </a:r>
            <a:r>
              <a:rPr lang="en-US" sz="1600" dirty="0">
                <a:latin typeface="Helvetica" panose="020B0604020202020204" pitchFamily="34" charset="0"/>
                <a:cs typeface="Helvetica" panose="020B0604020202020204" pitchFamily="34" charset="0"/>
              </a:rPr>
              <a:t> (outliers, leverage points)</a:t>
            </a:r>
          </a:p>
          <a:p>
            <a:pPr marL="344488" indent="-344488">
              <a:spcBef>
                <a:spcPts val="1200"/>
              </a:spcBef>
              <a:buFont typeface="Arial" panose="020B0604020202020204" pitchFamily="34" charset="0"/>
              <a:buChar char="•"/>
            </a:pPr>
            <a:r>
              <a:rPr lang="en-US" altLang="en-US" sz="1600" dirty="0">
                <a:latin typeface="Helvetica" panose="020B0604020202020204" pitchFamily="34" charset="0"/>
                <a:ea typeface="Helvetica Neue" charset="0"/>
                <a:cs typeface="Helvetica" panose="020B0604020202020204" pitchFamily="34" charset="0"/>
              </a:rPr>
              <a:t>The binomial distribution may not be appropriate</a:t>
            </a:r>
          </a:p>
          <a:p>
            <a:pPr marL="687388" lvl="1" indent="-344488">
              <a:spcBef>
                <a:spcPts val="600"/>
              </a:spcBef>
              <a:buFont typeface="Arial" panose="020B0604020202020204" pitchFamily="34" charset="0"/>
              <a:buChar char="•"/>
            </a:pPr>
            <a:r>
              <a:rPr lang="en-US" altLang="en-US" sz="1400" dirty="0">
                <a:latin typeface="Helvetica" panose="020B0604020202020204" pitchFamily="34" charset="0"/>
                <a:ea typeface="Helvetica Neue" charset="0"/>
                <a:cs typeface="Helvetica" panose="020B0604020202020204" pitchFamily="34" charset="0"/>
              </a:rPr>
              <a:t>Overdispersion: The variability of the probability estimates is larger than would be implied by a binomial random variable</a:t>
            </a:r>
          </a:p>
          <a:p>
            <a:pPr marL="1031875" lvl="1" indent="-346075">
              <a:spcBef>
                <a:spcPts val="300"/>
              </a:spcBef>
              <a:buFont typeface="Arial" panose="020B0604020202020204" pitchFamily="34" charset="0"/>
              <a:buChar char="•"/>
            </a:pPr>
            <a:r>
              <a:rPr lang="en-US" altLang="en-US" sz="1200" dirty="0">
                <a:latin typeface="Helvetica" panose="020B0604020202020204" pitchFamily="34" charset="0"/>
                <a:ea typeface="Helvetica Neue" charset="0"/>
                <a:cs typeface="Helvetica" panose="020B0604020202020204" pitchFamily="34" charset="0"/>
              </a:rPr>
              <a:t>Correlation in the observed responses</a:t>
            </a:r>
          </a:p>
          <a:p>
            <a:pPr marL="1031875" lvl="1" indent="-346075">
              <a:buFont typeface="Arial" panose="020B0604020202020204" pitchFamily="34" charset="0"/>
              <a:buChar char="•"/>
            </a:pPr>
            <a:r>
              <a:rPr lang="en-US" altLang="en-US" sz="1200" dirty="0">
                <a:latin typeface="Helvetica" panose="020B0604020202020204" pitchFamily="34" charset="0"/>
                <a:cs typeface="Helvetica" panose="020B0604020202020204" pitchFamily="34" charset="0"/>
              </a:rPr>
              <a:t>H</a:t>
            </a:r>
            <a:r>
              <a:rPr lang="en-US" sz="1200" dirty="0">
                <a:latin typeface="Helvetica" panose="020B0604020202020204" pitchFamily="34" charset="0"/>
                <a:cs typeface="Helvetica" panose="020B0604020202020204" pitchFamily="34" charset="0"/>
              </a:rPr>
              <a:t>eterogeneity in the success probabilities that hasn’t been modeled</a:t>
            </a:r>
          </a:p>
          <a:p>
            <a:pPr marL="344488" lvl="1" indent="-344488">
              <a:spcBef>
                <a:spcPts val="1200"/>
              </a:spcBef>
              <a:buFont typeface="Arial" panose="020B0604020202020204" pitchFamily="34" charset="0"/>
              <a:buChar char="•"/>
            </a:pPr>
            <a:r>
              <a:rPr lang="en-US" altLang="en-US" sz="1600" dirty="0">
                <a:latin typeface="Helvetica" panose="020B0604020202020204" pitchFamily="34" charset="0"/>
                <a:ea typeface="Helvetica Neue" charset="0"/>
                <a:cs typeface="Helvetica" panose="020B0604020202020204" pitchFamily="34" charset="0"/>
              </a:rPr>
              <a:t>Logit function may not fit data</a:t>
            </a:r>
          </a:p>
          <a:p>
            <a:pPr marL="687388" lvl="1" indent="-344488">
              <a:spcBef>
                <a:spcPts val="600"/>
              </a:spcBef>
              <a:buFont typeface="Arial" panose="020B0604020202020204" pitchFamily="34" charset="0"/>
              <a:buChar char="•"/>
            </a:pPr>
            <a:r>
              <a:rPr lang="en-US" altLang="en-US" sz="1400" dirty="0">
                <a:latin typeface="Helvetica" panose="020B0604020202020204" pitchFamily="34" charset="0"/>
                <a:ea typeface="Helvetica Neue" charset="0"/>
                <a:cs typeface="Helvetica" panose="020B0604020202020204" pitchFamily="34" charset="0"/>
              </a:rPr>
              <a:t>Other S-shape functions</a:t>
            </a:r>
          </a:p>
          <a:p>
            <a:pPr marL="1031875" lvl="2" indent="-346075">
              <a:spcBef>
                <a:spcPts val="600"/>
              </a:spcBef>
              <a:buFont typeface="Arial" panose="020B0604020202020204" pitchFamily="34" charset="0"/>
              <a:buChar char="•"/>
            </a:pPr>
            <a:r>
              <a:rPr lang="en-US" altLang="en-US" sz="1200" dirty="0" err="1">
                <a:latin typeface="Helvetica" panose="020B0604020202020204" pitchFamily="34" charset="0"/>
                <a:ea typeface="Helvetica Neue" charset="0"/>
                <a:cs typeface="Helvetica" panose="020B0604020202020204" pitchFamily="34" charset="0"/>
              </a:rPr>
              <a:t>probit</a:t>
            </a:r>
            <a:r>
              <a:rPr lang="en-US" altLang="en-US" sz="1200" dirty="0">
                <a:latin typeface="Helvetica" panose="020B0604020202020204" pitchFamily="34" charset="0"/>
                <a:ea typeface="Helvetica Neue" charset="0"/>
                <a:cs typeface="Helvetica" panose="020B0604020202020204" pitchFamily="34" charset="0"/>
              </a:rPr>
              <a:t>, complementary log-log (c-log-log)</a:t>
            </a:r>
          </a:p>
        </p:txBody>
      </p:sp>
      <p:pic>
        <p:nvPicPr>
          <p:cNvPr id="6" name="Picture 5">
            <a:extLst>
              <a:ext uri="{FF2B5EF4-FFF2-40B4-BE49-F238E27FC236}">
                <a16:creationId xmlns:a16="http://schemas.microsoft.com/office/drawing/2014/main" id="{98FC29A3-12A4-4A91-BD42-3824B55B7E6B}"/>
              </a:ext>
            </a:extLst>
          </p:cNvPr>
          <p:cNvPicPr>
            <a:picLocks noChangeAspect="1"/>
          </p:cNvPicPr>
          <p:nvPr/>
        </p:nvPicPr>
        <p:blipFill>
          <a:blip r:embed="rId3"/>
          <a:stretch>
            <a:fillRect/>
          </a:stretch>
        </p:blipFill>
        <p:spPr>
          <a:xfrm>
            <a:off x="5414487" y="1136883"/>
            <a:ext cx="3610669" cy="2050934"/>
          </a:xfrm>
          <a:prstGeom prst="rect">
            <a:avLst/>
          </a:prstGeom>
        </p:spPr>
      </p:pic>
      <p:sp>
        <p:nvSpPr>
          <p:cNvPr id="10" name="Title 1">
            <a:extLst>
              <a:ext uri="{FF2B5EF4-FFF2-40B4-BE49-F238E27FC236}">
                <a16:creationId xmlns:a16="http://schemas.microsoft.com/office/drawing/2014/main" id="{4A8E7263-3F4F-4699-8AD6-92256CEDDB74}"/>
              </a:ext>
            </a:extLst>
          </p:cNvPr>
          <p:cNvSpPr>
            <a:spLocks noGrp="1"/>
          </p:cNvSpPr>
          <p:nvPr>
            <p:ph type="title"/>
          </p:nvPr>
        </p:nvSpPr>
        <p:spPr>
          <a:xfrm>
            <a:off x="143292" y="115287"/>
            <a:ext cx="8562392" cy="614555"/>
          </a:xfrm>
        </p:spPr>
        <p:txBody>
          <a:bodyPr/>
          <a:lstStyle/>
          <a:p>
            <a:pPr algn="l"/>
            <a:r>
              <a:rPr lang="en-US" sz="3600" dirty="0">
                <a:latin typeface="Vitesse"/>
              </a:rPr>
              <a:t>What If No Goodness of Fit?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292" y="115287"/>
            <a:ext cx="8562392" cy="614555"/>
          </a:xfrm>
        </p:spPr>
        <p:txBody>
          <a:bodyPr/>
          <a:lstStyle/>
          <a:p>
            <a:pPr algn="l"/>
            <a:r>
              <a:rPr lang="en-US" sz="3600" dirty="0">
                <a:latin typeface="Vitesse"/>
              </a:rPr>
              <a:t>What If No Goodness of Fit?</a:t>
            </a:r>
          </a:p>
        </p:txBody>
      </p:sp>
      <p:sp>
        <p:nvSpPr>
          <p:cNvPr id="9" name="Rectangle 9"/>
          <p:cNvSpPr>
            <a:spLocks noChangeArrowheads="1"/>
          </p:cNvSpPr>
          <p:nvPr/>
        </p:nvSpPr>
        <p:spPr bwMode="auto">
          <a:xfrm>
            <a:off x="137507" y="921592"/>
            <a:ext cx="5348893" cy="4178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marL="344488" indent="-344488">
              <a:buFont typeface="Arial" panose="020B0604020202020204" pitchFamily="34" charset="0"/>
              <a:buChar char="•"/>
            </a:pPr>
            <a:r>
              <a:rPr lang="en-US" sz="1600" dirty="0">
                <a:latin typeface="Helvetica" panose="020B0604020202020204" pitchFamily="34" charset="0"/>
                <a:cs typeface="Helvetica" panose="020B0604020202020204" pitchFamily="34" charset="0"/>
              </a:rPr>
              <a:t>Add predicting variables</a:t>
            </a:r>
          </a:p>
          <a:p>
            <a:pPr marL="344488" indent="-344488">
              <a:spcBef>
                <a:spcPts val="1200"/>
              </a:spcBef>
              <a:buFont typeface="Arial" panose="020B0604020202020204" pitchFamily="34" charset="0"/>
              <a:buChar char="•"/>
            </a:pPr>
            <a:r>
              <a:rPr lang="en-US" sz="1600" dirty="0">
                <a:latin typeface="Helvetica" panose="020B0604020202020204" pitchFamily="34" charset="0"/>
                <a:cs typeface="Helvetica" panose="020B0604020202020204" pitchFamily="34" charset="0"/>
              </a:rPr>
              <a:t>Transform predicting variables to improve linearity</a:t>
            </a:r>
          </a:p>
          <a:p>
            <a:pPr marL="344488" indent="-344488">
              <a:spcBef>
                <a:spcPts val="1200"/>
              </a:spcBef>
              <a:buFont typeface="Arial" panose="020B0604020202020204" pitchFamily="34" charset="0"/>
              <a:buChar char="•"/>
            </a:pPr>
            <a:r>
              <a:rPr lang="en-US" altLang="en-US" sz="1600" dirty="0">
                <a:latin typeface="Helvetica" panose="020B0604020202020204" pitchFamily="34" charset="0"/>
                <a:ea typeface="Helvetica Neue" charset="0"/>
                <a:cs typeface="Helvetica" panose="020B0604020202020204" pitchFamily="34" charset="0"/>
              </a:rPr>
              <a:t>Identify unusual observations</a:t>
            </a:r>
            <a:r>
              <a:rPr lang="en-US" sz="1600" dirty="0">
                <a:latin typeface="Helvetica" panose="020B0604020202020204" pitchFamily="34" charset="0"/>
                <a:cs typeface="Helvetica" panose="020B0604020202020204" pitchFamily="34" charset="0"/>
              </a:rPr>
              <a:t> (outliers, leverage points)</a:t>
            </a:r>
          </a:p>
          <a:p>
            <a:pPr marL="344488" indent="-344488">
              <a:spcBef>
                <a:spcPts val="1200"/>
              </a:spcBef>
              <a:buFont typeface="Arial" panose="020B0604020202020204" pitchFamily="34" charset="0"/>
              <a:buChar char="•"/>
            </a:pPr>
            <a:r>
              <a:rPr lang="en-US" altLang="en-US" sz="1600" dirty="0">
                <a:latin typeface="Helvetica" panose="020B0604020202020204" pitchFamily="34" charset="0"/>
                <a:ea typeface="Helvetica Neue" charset="0"/>
                <a:cs typeface="Helvetica" panose="020B0604020202020204" pitchFamily="34" charset="0"/>
              </a:rPr>
              <a:t>The binomial distribution may not be appropriate</a:t>
            </a:r>
          </a:p>
          <a:p>
            <a:pPr marL="687388" lvl="1" indent="-344488">
              <a:spcBef>
                <a:spcPts val="600"/>
              </a:spcBef>
              <a:buFont typeface="Arial" panose="020B0604020202020204" pitchFamily="34" charset="0"/>
              <a:buChar char="•"/>
            </a:pPr>
            <a:r>
              <a:rPr lang="en-US" altLang="en-US" sz="1400" dirty="0">
                <a:latin typeface="Helvetica" panose="020B0604020202020204" pitchFamily="34" charset="0"/>
                <a:ea typeface="Helvetica Neue" charset="0"/>
                <a:cs typeface="Helvetica" panose="020B0604020202020204" pitchFamily="34" charset="0"/>
              </a:rPr>
              <a:t>Overdispersion: The variability of the probability estimates is larger than would be implied by a binomial random variable</a:t>
            </a:r>
          </a:p>
          <a:p>
            <a:pPr marL="1031875" lvl="1" indent="-346075">
              <a:spcBef>
                <a:spcPts val="300"/>
              </a:spcBef>
              <a:buFont typeface="Arial" panose="020B0604020202020204" pitchFamily="34" charset="0"/>
              <a:buChar char="•"/>
            </a:pPr>
            <a:r>
              <a:rPr lang="en-US" altLang="en-US" sz="1200" dirty="0">
                <a:latin typeface="Helvetica" panose="020B0604020202020204" pitchFamily="34" charset="0"/>
                <a:ea typeface="Helvetica Neue" charset="0"/>
                <a:cs typeface="Helvetica" panose="020B0604020202020204" pitchFamily="34" charset="0"/>
              </a:rPr>
              <a:t>Correlation in the observed responses</a:t>
            </a:r>
          </a:p>
          <a:p>
            <a:pPr marL="1031875" lvl="1" indent="-346075">
              <a:buFont typeface="Arial" panose="020B0604020202020204" pitchFamily="34" charset="0"/>
              <a:buChar char="•"/>
            </a:pPr>
            <a:r>
              <a:rPr lang="en-US" altLang="en-US" sz="1200" dirty="0">
                <a:latin typeface="Helvetica" panose="020B0604020202020204" pitchFamily="34" charset="0"/>
                <a:cs typeface="Helvetica" panose="020B0604020202020204" pitchFamily="34" charset="0"/>
              </a:rPr>
              <a:t>H</a:t>
            </a:r>
            <a:r>
              <a:rPr lang="en-US" sz="1200" dirty="0">
                <a:latin typeface="Helvetica" panose="020B0604020202020204" pitchFamily="34" charset="0"/>
                <a:cs typeface="Helvetica" panose="020B0604020202020204" pitchFamily="34" charset="0"/>
              </a:rPr>
              <a:t>eterogeneity in the success probabilities that hasn’t been modeled</a:t>
            </a:r>
          </a:p>
          <a:p>
            <a:pPr marL="344488" lvl="1" indent="-344488">
              <a:spcBef>
                <a:spcPts val="1200"/>
              </a:spcBef>
              <a:buFont typeface="Arial" panose="020B0604020202020204" pitchFamily="34" charset="0"/>
              <a:buChar char="•"/>
            </a:pPr>
            <a:r>
              <a:rPr lang="en-US" altLang="en-US" sz="1600" dirty="0">
                <a:latin typeface="Helvetica" panose="020B0604020202020204" pitchFamily="34" charset="0"/>
                <a:ea typeface="Helvetica Neue" charset="0"/>
                <a:cs typeface="Helvetica" panose="020B0604020202020204" pitchFamily="34" charset="0"/>
              </a:rPr>
              <a:t>Logit function may not fit data</a:t>
            </a:r>
          </a:p>
          <a:p>
            <a:pPr marL="687388" lvl="1" indent="-344488">
              <a:spcBef>
                <a:spcPts val="600"/>
              </a:spcBef>
              <a:buFont typeface="Arial" panose="020B0604020202020204" pitchFamily="34" charset="0"/>
              <a:buChar char="•"/>
            </a:pPr>
            <a:r>
              <a:rPr lang="en-US" altLang="en-US" sz="1400" dirty="0">
                <a:latin typeface="Helvetica" panose="020B0604020202020204" pitchFamily="34" charset="0"/>
                <a:ea typeface="Helvetica Neue" charset="0"/>
                <a:cs typeface="Helvetica" panose="020B0604020202020204" pitchFamily="34" charset="0"/>
              </a:rPr>
              <a:t>Other S-shape functions</a:t>
            </a:r>
          </a:p>
          <a:p>
            <a:pPr marL="1031875" lvl="2" indent="-346075">
              <a:spcBef>
                <a:spcPts val="600"/>
              </a:spcBef>
              <a:buFont typeface="Arial" panose="020B0604020202020204" pitchFamily="34" charset="0"/>
              <a:buChar char="•"/>
            </a:pPr>
            <a:r>
              <a:rPr lang="en-US" altLang="en-US" sz="1200" dirty="0" err="1">
                <a:latin typeface="Helvetica" panose="020B0604020202020204" pitchFamily="34" charset="0"/>
                <a:ea typeface="Helvetica Neue" charset="0"/>
                <a:cs typeface="Helvetica" panose="020B0604020202020204" pitchFamily="34" charset="0"/>
              </a:rPr>
              <a:t>probit</a:t>
            </a:r>
            <a:r>
              <a:rPr lang="en-US" altLang="en-US" sz="1200" dirty="0">
                <a:latin typeface="Helvetica" panose="020B0604020202020204" pitchFamily="34" charset="0"/>
                <a:ea typeface="Helvetica Neue" charset="0"/>
                <a:cs typeface="Helvetica" panose="020B0604020202020204" pitchFamily="34" charset="0"/>
              </a:rPr>
              <a:t>, complementary log-log (c-log-log)</a:t>
            </a:r>
          </a:p>
        </p:txBody>
      </p:sp>
      <p:sp>
        <p:nvSpPr>
          <p:cNvPr id="4" name="Content Placeholder 2">
            <a:extLst>
              <a:ext uri="{FF2B5EF4-FFF2-40B4-BE49-F238E27FC236}">
                <a16:creationId xmlns:a16="http://schemas.microsoft.com/office/drawing/2014/main" id="{CD45E0FD-2E45-4A10-8BC5-530B25A1817C}"/>
              </a:ext>
            </a:extLst>
          </p:cNvPr>
          <p:cNvSpPr txBox="1">
            <a:spLocks/>
          </p:cNvSpPr>
          <p:nvPr/>
        </p:nvSpPr>
        <p:spPr>
          <a:xfrm>
            <a:off x="5486400" y="1170529"/>
            <a:ext cx="3505200" cy="2020100"/>
          </a:xfrm>
          <a:prstGeom prst="rect">
            <a:avLst/>
          </a:prstGeom>
          <a:noFill/>
          <a:ln w="19050">
            <a:solidFill>
              <a:schemeClr val="tx2"/>
            </a:solidFill>
          </a:ln>
          <a:effectLst/>
        </p:spPr>
        <p:txBody>
          <a:bodyPr vert="horz" lIns="182880" tIns="182880" rIns="182880" bIns="182880" rtlCol="0" anchor="ctr" anchorCtr="0">
            <a:noAutofit/>
          </a:bodyPr>
          <a:lstStyle>
            <a:lvl1pPr marL="457200" indent="-457200" algn="l" defTabSz="914400" rtl="0" eaLnBrk="1" latinLnBrk="0" hangingPunct="1">
              <a:lnSpc>
                <a:spcPct val="90000"/>
              </a:lnSpc>
              <a:spcBef>
                <a:spcPts val="1200"/>
              </a:spcBef>
              <a:spcAft>
                <a:spcPts val="200"/>
              </a:spcAft>
              <a:buClr>
                <a:schemeClr val="accent1"/>
              </a:buClr>
              <a:buSzPct val="100000"/>
              <a:buFont typeface="Wingdings" panose="05000000000000000000" pitchFamily="2" charset="2"/>
              <a:buChar char="q"/>
              <a:defRPr sz="3200" kern="1200">
                <a:solidFill>
                  <a:schemeClr val="tx1">
                    <a:lumMod val="75000"/>
                    <a:lumOff val="25000"/>
                  </a:schemeClr>
                </a:solidFill>
                <a:latin typeface="+mn-lt"/>
                <a:ea typeface="+mn-ea"/>
                <a:cs typeface="+mn-cs"/>
              </a:defRPr>
            </a:lvl1pPr>
            <a:lvl2pPr marL="658368" indent="-457200" algn="l" defTabSz="914400" rtl="0" eaLnBrk="1" latinLnBrk="0" hangingPunct="1">
              <a:lnSpc>
                <a:spcPct val="90000"/>
              </a:lnSpc>
              <a:spcBef>
                <a:spcPts val="200"/>
              </a:spcBef>
              <a:spcAft>
                <a:spcPts val="400"/>
              </a:spcAft>
              <a:buClr>
                <a:schemeClr val="accent1"/>
              </a:buClr>
              <a:buFont typeface="Calibri" pitchFamily="34" charset="0"/>
              <a:buChar char="−"/>
              <a:defRPr sz="2800" kern="1200">
                <a:solidFill>
                  <a:schemeClr val="tx1">
                    <a:lumMod val="75000"/>
                    <a:lumOff val="25000"/>
                  </a:schemeClr>
                </a:solidFill>
                <a:latin typeface="+mn-lt"/>
                <a:ea typeface="+mn-ea"/>
                <a:cs typeface="+mn-cs"/>
              </a:defRPr>
            </a:lvl2pPr>
            <a:lvl3pPr marL="726948" indent="-342900" algn="l" defTabSz="914400" rtl="0" eaLnBrk="1" latinLnBrk="0" hangingPunct="1">
              <a:lnSpc>
                <a:spcPct val="90000"/>
              </a:lnSpc>
              <a:spcBef>
                <a:spcPts val="200"/>
              </a:spcBef>
              <a:spcAft>
                <a:spcPts val="400"/>
              </a:spcAft>
              <a:buClr>
                <a:schemeClr val="accent1"/>
              </a:buClr>
              <a:buFont typeface="Wingdings" panose="05000000000000000000" pitchFamily="2" charset="2"/>
              <a:buChar char="§"/>
              <a:defRPr sz="2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nSpc>
                <a:spcPct val="100000"/>
              </a:lnSpc>
              <a:buClrTx/>
              <a:buNone/>
            </a:pPr>
            <a:endParaRPr lang="en-US" sz="1600" dirty="0">
              <a:latin typeface="Helvetica" panose="020B0604020202020204" pitchFamily="34" charset="0"/>
              <a:cs typeface="Helvetica" panose="020B0604020202020204" pitchFamily="34" charset="0"/>
            </a:endParaRPr>
          </a:p>
          <a:p>
            <a:pPr marL="0" indent="0">
              <a:lnSpc>
                <a:spcPct val="100000"/>
              </a:lnSpc>
              <a:buClrTx/>
              <a:buNone/>
            </a:pPr>
            <a:r>
              <a:rPr lang="en-US" sz="1600" dirty="0">
                <a:latin typeface="Helvetica" panose="020B0604020202020204" pitchFamily="34" charset="0"/>
                <a:cs typeface="Helvetica" panose="020B0604020202020204" pitchFamily="34" charset="0"/>
              </a:rPr>
              <a:t>Why logistic regression?</a:t>
            </a:r>
          </a:p>
          <a:p>
            <a:pPr>
              <a:lnSpc>
                <a:spcPct val="100000"/>
              </a:lnSpc>
              <a:buClrTx/>
              <a:buFont typeface="Arial" panose="020B0604020202020204" pitchFamily="34" charset="0"/>
              <a:buChar char="•"/>
            </a:pPr>
            <a:r>
              <a:rPr lang="en-US" sz="1600" dirty="0">
                <a:latin typeface="Helvetica" panose="020B0604020202020204" pitchFamily="34" charset="0"/>
                <a:cs typeface="Helvetica" panose="020B0604020202020204" pitchFamily="34" charset="0"/>
              </a:rPr>
              <a:t>Logit link function is the canonical link function</a:t>
            </a:r>
          </a:p>
          <a:p>
            <a:pPr>
              <a:lnSpc>
                <a:spcPct val="100000"/>
              </a:lnSpc>
              <a:buClrTx/>
              <a:buFont typeface="Arial" panose="020B0604020202020204" pitchFamily="34" charset="0"/>
              <a:buChar char="•"/>
            </a:pPr>
            <a:r>
              <a:rPr lang="en-US" sz="1600" dirty="0">
                <a:latin typeface="Helvetica" panose="020B0604020202020204" pitchFamily="34" charset="0"/>
                <a:cs typeface="Helvetica" panose="020B0604020202020204" pitchFamily="34" charset="0"/>
              </a:rPr>
              <a:t>Ease of interpretation of the regression coefficients</a:t>
            </a:r>
          </a:p>
          <a:p>
            <a:pPr>
              <a:lnSpc>
                <a:spcPct val="100000"/>
              </a:lnSpc>
              <a:buClrTx/>
              <a:buFont typeface="Arial" panose="020B0604020202020204" pitchFamily="34" charset="0"/>
              <a:buChar char="•"/>
            </a:pPr>
            <a:endParaRPr lang="en-US" sz="16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17303392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4294967295"/>
          </p:nvPr>
        </p:nvSpPr>
        <p:spPr>
          <a:xfrm>
            <a:off x="142405" y="111125"/>
            <a:ext cx="4727575" cy="698500"/>
          </a:xfrm>
        </p:spPr>
        <p:txBody>
          <a:bodyPr>
            <a:normAutofit/>
          </a:bodyPr>
          <a:lstStyle/>
          <a:p>
            <a:pPr>
              <a:spcBef>
                <a:spcPct val="0"/>
              </a:spcBef>
            </a:pPr>
            <a:r>
              <a:rPr lang="en-US" sz="3600" dirty="0">
                <a:latin typeface="Vitesse" charset="0"/>
                <a:ea typeface="Vitesse" charset="0"/>
                <a:cs typeface="Vitesse" charset="0"/>
              </a:rPr>
              <a:t>Summary</a:t>
            </a:r>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7759" t="6607" r="13881" b="7744"/>
          <a:stretch>
            <a:fillRect/>
          </a:stretch>
        </p:blipFill>
        <p:spPr>
          <a:xfrm>
            <a:off x="3103133" y="1085850"/>
            <a:ext cx="2728044" cy="2981817"/>
          </a:xfrm>
          <a:prstGeom prst="rect">
            <a:avLst/>
          </a:prstGeom>
        </p:spPr>
      </p:pic>
    </p:spTree>
  </p:cSld>
  <p:clrMapOvr>
    <a:masterClrMapping/>
  </p:clrMapOvr>
</p:sld>
</file>

<file path=ppt/theme/theme1.xml><?xml version="1.0" encoding="utf-8"?>
<a:theme xmlns:a="http://schemas.openxmlformats.org/drawingml/2006/main" name="2_Half Page Slash">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lnSpc>
            <a:spcPts val="1200"/>
          </a:lnSpc>
          <a:defRPr sz="1200" dirty="0" smtClean="0">
            <a:solidFill>
              <a:srgbClr val="000000"/>
            </a:solidFill>
            <a:latin typeface="Helvetica"/>
            <a:cs typeface="Helvetica"/>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Full Page Layou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TotalTime>
  <Words>508</Words>
  <Application>Microsoft Office PowerPoint</Application>
  <PresentationFormat>On-screen Show (16:9)</PresentationFormat>
  <Paragraphs>113</Paragraphs>
  <Slides>12</Slides>
  <Notes>10</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12</vt:i4>
      </vt:variant>
    </vt:vector>
  </HeadingPairs>
  <TitlesOfParts>
    <vt:vector size="24" baseType="lpstr">
      <vt:lpstr>MS PGothic</vt:lpstr>
      <vt:lpstr>Arial</vt:lpstr>
      <vt:lpstr>Calibri</vt:lpstr>
      <vt:lpstr>Cambria Math</vt:lpstr>
      <vt:lpstr>Helvetica</vt:lpstr>
      <vt:lpstr>Helvetica Neue</vt:lpstr>
      <vt:lpstr>Vitesse</vt:lpstr>
      <vt:lpstr>Vitesse Bold</vt:lpstr>
      <vt:lpstr>Vitesse Medium</vt:lpstr>
      <vt:lpstr>Wingdings</vt:lpstr>
      <vt:lpstr>2_Half Page Slash</vt:lpstr>
      <vt:lpstr>Full Page Layout</vt:lpstr>
      <vt:lpstr>PowerPoint Presentation</vt:lpstr>
      <vt:lpstr>PowerPoint Presentation</vt:lpstr>
      <vt:lpstr>Logistic Regression Model</vt:lpstr>
      <vt:lpstr>Residuals in Logistic Regression</vt:lpstr>
      <vt:lpstr>Residuals in Logistic Regression</vt:lpstr>
      <vt:lpstr>Residuals in Logistic Regression</vt:lpstr>
      <vt:lpstr>Model Goodness of Fit</vt:lpstr>
      <vt:lpstr>Goodness of Fit vs. Predictive Power</vt:lpstr>
      <vt:lpstr>What If No Goodness of Fit?</vt:lpstr>
      <vt:lpstr>What If No Goodness of Fit?</vt:lpstr>
      <vt:lpstr>What If No Goodness of Fit?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Serban, Nicoleta</dc:creator>
  <cp:lastModifiedBy>Rodriguez, Ramon S</cp:lastModifiedBy>
  <cp:revision>490</cp:revision>
  <dcterms:created xsi:type="dcterms:W3CDTF">2020-03-30T17:49:14Z</dcterms:created>
  <dcterms:modified xsi:type="dcterms:W3CDTF">2020-05-18T17:03:43Z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0x010100E16D43FDACDF02458C96071D7628C880</vt:lpwstr>
  </property>
  <property fmtid="{D5CDD505-2E9C-101B-9397-08002B2CF9AE}" pid="3" name="KSOProductBuildVer">
    <vt:lpwstr>1033-11.2.0.8970</vt:lpwstr>
  </property>
</Properties>
</file>