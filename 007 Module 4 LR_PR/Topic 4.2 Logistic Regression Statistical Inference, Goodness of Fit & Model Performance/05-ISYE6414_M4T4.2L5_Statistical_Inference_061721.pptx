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4" r:id="rId2"/>
  </p:sldMasterIdLst>
  <p:notesMasterIdLst>
    <p:notesMasterId r:id="rId14"/>
  </p:notesMasterIdLst>
  <p:handoutMasterIdLst>
    <p:handoutMasterId r:id="rId15"/>
  </p:handoutMasterIdLst>
  <p:sldIdLst>
    <p:sldId id="434" r:id="rId3"/>
    <p:sldId id="532" r:id="rId4"/>
    <p:sldId id="454" r:id="rId5"/>
    <p:sldId id="519" r:id="rId6"/>
    <p:sldId id="470" r:id="rId7"/>
    <p:sldId id="533" r:id="rId8"/>
    <p:sldId id="534" r:id="rId9"/>
    <p:sldId id="520" r:id="rId10"/>
    <p:sldId id="531" r:id="rId11"/>
    <p:sldId id="528" r:id="rId12"/>
    <p:sldId id="448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34"/>
            <p14:sldId id="532"/>
            <p14:sldId id="454"/>
            <p14:sldId id="519"/>
            <p14:sldId id="470"/>
            <p14:sldId id="533"/>
            <p14:sldId id="534"/>
            <p14:sldId id="520"/>
            <p14:sldId id="531"/>
            <p14:sldId id="528"/>
            <p14:sldId id="4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56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60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5640" userDrawn="1">
          <p15:clr>
            <a:srgbClr val="A4A3A4"/>
          </p15:clr>
        </p15:guide>
        <p15:guide id="7" orient="horz" pos="372" userDrawn="1">
          <p15:clr>
            <a:srgbClr val="A4A3A4"/>
          </p15:clr>
        </p15:guide>
        <p15:guide id="8" orient="horz" pos="684" userDrawn="1">
          <p15:clr>
            <a:srgbClr val="A4A3A4"/>
          </p15:clr>
        </p15:guide>
        <p15:guide id="9" orient="horz" pos="3084" userDrawn="1">
          <p15:clr>
            <a:srgbClr val="A4A3A4"/>
          </p15:clr>
        </p15:guide>
        <p15:guide id="10" pos="576" userDrawn="1">
          <p15:clr>
            <a:srgbClr val="A4A3A4"/>
          </p15:clr>
        </p15:guide>
        <p15:guide id="11" pos="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/>
  <p:cmAuthor id="2" name="zwen42@gatech.com" initials="z" lastIdx="1" clrIdx="1"/>
  <p:cmAuthor id="3" name="Serban, Nicoleta" initials="SN" lastIdx="11" clrIdx="2"/>
  <p:cmAuthor id="4" name="Hu, Rui" initials="HR" lastIdx="1" clrIdx="3"/>
  <p:cmAuthor id="6" name="Richard Levine" initials="R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EEB211"/>
    <a:srgbClr val="8E4221"/>
    <a:srgbClr val="984807"/>
    <a:srgbClr val="993200"/>
    <a:srgbClr val="F8FFF1"/>
    <a:srgbClr val="000000"/>
    <a:srgbClr val="F7FFEE"/>
    <a:srgbClr val="F5FC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E82577-B90B-4C3B-A650-8CB73E2ECD6E}" v="2" dt="2021-06-04T13:25:36.6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49" autoAdjust="0"/>
    <p:restoredTop sz="89969" autoAdjust="0"/>
  </p:normalViewPr>
  <p:slideViewPr>
    <p:cSldViewPr snapToGrid="0">
      <p:cViewPr varScale="1">
        <p:scale>
          <a:sx n="106" d="100"/>
          <a:sy n="106" d="100"/>
        </p:scale>
        <p:origin x="1013" y="67"/>
      </p:cViewPr>
      <p:guideLst>
        <p:guide orient="horz" pos="1620"/>
        <p:guide pos="2856"/>
        <p:guide pos="144"/>
        <p:guide pos="360"/>
        <p:guide pos="3456"/>
        <p:guide pos="5640"/>
        <p:guide orient="horz" pos="372"/>
        <p:guide orient="horz" pos="684"/>
        <p:guide orient="horz" pos="3084"/>
        <p:guide pos="576"/>
        <p:guide pos="8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z, Ramon S" userId="2fd46b25-7eaa-49e2-87fd-bd0e69daa70a" providerId="ADAL" clId="{54E82577-B90B-4C3B-A650-8CB73E2ECD6E}"/>
    <pc:docChg chg="addSld delSld modSld modSection">
      <pc:chgData name="Rodriguez, Ramon S" userId="2fd46b25-7eaa-49e2-87fd-bd0e69daa70a" providerId="ADAL" clId="{54E82577-B90B-4C3B-A650-8CB73E2ECD6E}" dt="2021-06-04T13:25:50.513" v="3" actId="2696"/>
      <pc:docMkLst>
        <pc:docMk/>
      </pc:docMkLst>
      <pc:sldChg chg="del">
        <pc:chgData name="Rodriguez, Ramon S" userId="2fd46b25-7eaa-49e2-87fd-bd0e69daa70a" providerId="ADAL" clId="{54E82577-B90B-4C3B-A650-8CB73E2ECD6E}" dt="2021-06-04T13:25:27.595" v="1" actId="2696"/>
        <pc:sldMkLst>
          <pc:docMk/>
          <pc:sldMk cId="0" sldId="471"/>
        </pc:sldMkLst>
      </pc:sldChg>
      <pc:sldChg chg="del">
        <pc:chgData name="Rodriguez, Ramon S" userId="2fd46b25-7eaa-49e2-87fd-bd0e69daa70a" providerId="ADAL" clId="{54E82577-B90B-4C3B-A650-8CB73E2ECD6E}" dt="2021-06-04T13:25:50.513" v="3" actId="2696"/>
        <pc:sldMkLst>
          <pc:docMk/>
          <pc:sldMk cId="841184515" sldId="530"/>
        </pc:sldMkLst>
      </pc:sldChg>
      <pc:sldChg chg="add">
        <pc:chgData name="Rodriguez, Ramon S" userId="2fd46b25-7eaa-49e2-87fd-bd0e69daa70a" providerId="ADAL" clId="{54E82577-B90B-4C3B-A650-8CB73E2ECD6E}" dt="2021-06-04T13:25:15.101" v="0"/>
        <pc:sldMkLst>
          <pc:docMk/>
          <pc:sldMk cId="0" sldId="533"/>
        </pc:sldMkLst>
      </pc:sldChg>
      <pc:sldChg chg="add">
        <pc:chgData name="Rodriguez, Ramon S" userId="2fd46b25-7eaa-49e2-87fd-bd0e69daa70a" providerId="ADAL" clId="{54E82577-B90B-4C3B-A650-8CB73E2ECD6E}" dt="2021-06-04T13:25:36.668" v="2"/>
        <pc:sldMkLst>
          <pc:docMk/>
          <pc:sldMk cId="2736789408" sldId="53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6/17/2021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660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6/17/2021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68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672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38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40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143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842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60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455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1" y="780732"/>
            <a:ext cx="5672951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4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/>
              <a:t>Module Name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3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Lesson name: e.g. R Examples</a:t>
            </a:r>
          </a:p>
          <a:p>
            <a:pPr lvl="0"/>
            <a:r>
              <a:rPr lang="en-US" dirty="0" err="1"/>
              <a:t>Subname</a:t>
            </a:r>
            <a:r>
              <a:rPr lang="en-US" dirty="0"/>
              <a:t> if applicable (e.g. Part II)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6/17/2021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 panose="020B0604020202020204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0461" y="108666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/>
              </a:rPr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673536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2"/>
                </a:solidFill>
              </a:rPr>
              <a:t>Logistic Regression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2482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 panose="020B0604020202020204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41340" y="240631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4033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Stewart School of Industrial and Systems Engineering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="" xmlns:a16="http://schemas.microsoft.com/office/drawing/2014/main" id="{D1F54963-47F6-4B06-9577-B4EDA4406C34}"/>
              </a:ext>
            </a:extLst>
          </p:cNvPr>
          <p:cNvSpPr>
            <a:spLocks noGrp="1"/>
          </p:cNvSpPr>
          <p:nvPr/>
        </p:nvSpPr>
        <p:spPr>
          <a:xfrm>
            <a:off x="117956" y="4102100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Statistical Inference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>
            <a:fillRect/>
          </a:stretch>
        </p:blipFill>
        <p:spPr>
          <a:xfrm>
            <a:off x="3441090" y="1085849"/>
            <a:ext cx="2440322" cy="3088911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="" xmlns:a16="http://schemas.microsoft.com/office/drawing/2014/main" id="{A5FE4467-4468-4543-828C-04337E75C594}"/>
              </a:ext>
            </a:extLst>
          </p:cNvPr>
          <p:cNvSpPr txBox="1">
            <a:spLocks/>
          </p:cNvSpPr>
          <p:nvPr/>
        </p:nvSpPr>
        <p:spPr>
          <a:xfrm>
            <a:off x="147119" y="120499"/>
            <a:ext cx="4727575" cy="731706"/>
          </a:xfrm>
        </p:spPr>
        <p:txBody>
          <a:bodyPr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15288"/>
            <a:ext cx="8562392" cy="656500"/>
          </a:xfrm>
        </p:spPr>
        <p:txBody>
          <a:bodyPr/>
          <a:lstStyle/>
          <a:p>
            <a:pPr algn="l"/>
            <a:r>
              <a:rPr lang="en-US" sz="3600" dirty="0"/>
              <a:t>Model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118124" y="847616"/>
                <a:ext cx="8153421" cy="4185165"/>
              </a:xfrm>
              <a:prstGeom prst="rect">
                <a:avLst/>
              </a:prstGeom>
            </p:spPr>
            <p:txBody>
              <a:bodyPr vert="horz" lIns="91440" tIns="34290" rIns="91440" bIns="34290" rtlCol="0">
                <a:noAutofit/>
              </a:bodyPr>
              <a:lstStyle>
                <a:lvl1pPr marL="457200" indent="-45720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q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58368" indent="-4572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−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26948" indent="-3429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EEB21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Model</a:t>
                </a:r>
                <a:r>
                  <a:rPr lang="en-US" sz="18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probability of success given predictor(s):</a:t>
                </a:r>
              </a:p>
              <a:p>
                <a:pPr marL="344488" indent="0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Logit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  <m:t>Pr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Helvetica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Helvetica"/>
                              </a:rPr>
                              <m:t>𝑌</m:t>
                            </m:r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Helvetica"/>
                              </a:rPr>
                              <m:t>=1 |</m:t>
                            </m:r>
                            <m:sSub>
                              <m:sSub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en-US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⋯,</m:t>
                            </m:r>
                            <m:sSub>
                              <m:sSub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Helvetica"/>
                      </a:rPr>
                      <m:t>=</m:t>
                    </m:r>
                    <m:r>
                      <m:rPr>
                        <m:nor/>
                      </m:rPr>
                      <a:rPr lang="en-US" sz="1600" dirty="0">
                        <a:solidFill>
                          <a:srgbClr val="000000"/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rPr>
                      <m:t>Logit</m:t>
                    </m:r>
                    <m:d>
                      <m:d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"/>
                          </a:rPr>
                          <m:t>p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Helvetica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en-US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⋯,</m:t>
                            </m:r>
                            <m:sSub>
                              <m:sSub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1600" dirty="0">
                  <a:latin typeface="Helvetica" panose="020B0604020202020204" pitchFamily="34" charset="0"/>
                  <a:ea typeface="Cambria Math" charset="0"/>
                  <a:cs typeface="Helvetica" panose="020B0604020202020204" pitchFamily="34" charset="0"/>
                </a:endParaRPr>
              </a:p>
              <a:p>
                <a:pPr marL="0" indent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800" b="1" dirty="0">
                    <a:solidFill>
                      <a:srgbClr val="EEB21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Parameters:</a:t>
                </a:r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18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sz="1800" b="1" dirty="0">
                    <a:solidFill>
                      <a:srgbClr val="EEB21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Approach:</a:t>
                </a:r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Maximum Likelihood Estimation</a:t>
                </a:r>
              </a:p>
              <a:p>
                <a:pPr marL="344488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" charset="0"/>
                            </a:rPr>
                            <m:t>ℒ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latin typeface="Helvetica" panose="020B0604020202020204" pitchFamily="34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,⋯,</m:t>
                          </m:r>
                          <m:sSub>
                            <m:sSubPr>
                              <m:ctrlP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1600" dirty="0">
                              <a:latin typeface="Helvetica" panose="020B0604020202020204" pitchFamily="34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)</m:t>
                          </m:r>
                        </m:e>
                      </m:func>
                      <m:r>
                        <m:rPr>
                          <m:nor/>
                        </m:rPr>
                        <a:rPr lang="en-US" sz="1600" dirty="0">
                          <a:latin typeface="Helvetica" panose="020B0604020202020204" pitchFamily="34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16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sSup>
                            <m:sSup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6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,1</m:t>
                                      </m:r>
                                    </m:sub>
                                  </m:s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6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,2</m:t>
                                      </m:r>
                                    </m:sub>
                                  </m:s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,⋯,</m:t>
                                  </m:r>
                                  <m:sSub>
                                    <m:sSubPr>
                                      <m:ctrlP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6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  <m:sSup>
                        <m:sSup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lang="en-US" sz="160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</m:t>
                              </m:r>
                              <m:d>
                                <m:dPr>
                                  <m:ctrlP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6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,1</m:t>
                                      </m:r>
                                    </m:sub>
                                  </m:s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6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,2</m:t>
                                      </m:r>
                                    </m:sub>
                                  </m:s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,⋯,</m:t>
                                  </m:r>
                                  <m:sSub>
                                    <m:sSubPr>
                                      <m:ctrlP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6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1800" dirty="0">
                  <a:latin typeface="Helvetica" panose="020B0604020202020204" pitchFamily="34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or</a:t>
                </a:r>
              </a:p>
              <a:p>
                <a:pPr marL="344488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600" i="1">
                              <a:latin typeface="Cambria Math" panose="02040503050406030204" pitchFamily="18" charset="0"/>
                              <a:ea typeface="Helvetica Neue" charset="0"/>
                              <a:cs typeface="Helvetica Neue" charset="0"/>
                            </a:rPr>
                          </m:ctrlPr>
                        </m:funcPr>
                        <m:fName>
                          <m:func>
                            <m:func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Helvetica Neue" charset="0"/>
                                  <a:cs typeface="Helvetica Neue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Helvetica Neue" charset="0"/>
                                      <a:cs typeface="Helvetica Neue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latin typeface="Cambria Math" panose="02040503050406030204" pitchFamily="18" charset="0"/>
                                      <a:ea typeface="Helvetica Neue" charset="0"/>
                                      <a:cs typeface="Helvetica Neue" charset="0"/>
                                    </a:rPr>
                                    <m:t>max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,⋯,</m:t>
                                  </m:r>
                                  <m:sSub>
                                    <m:sSubPr>
                                      <m:ctrlP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lim>
                              </m:limLow>
                              <m:r>
                                <a:rPr lang="en-US" altLang="en-US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,⋯,</m:t>
                                  </m:r>
                                  <m:sSub>
                                    <m:sSubPr>
                                      <m:ctrlP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Helvetica Neue" charset="0"/>
                              <a:cs typeface="Helvetica Neue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Helvetica Neue" charset="0"/>
                                  <a:cs typeface="Helvetica Neue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latin typeface="Cambria Math" panose="02040503050406030204" pitchFamily="18" charset="0"/>
                                  <a:ea typeface="Helvetica Neue" charset="0"/>
                                  <a:cs typeface="Helvetica Neue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m:rPr>
                              <m:sty m:val="p"/>
                            </m:rPr>
                            <a:rPr lang="en-US" altLang="en-US" sz="16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  <m:d>
                            <m:dPr>
                              <m:ctrlPr>
                                <a:rPr lang="en-US" altLang="en-US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" charset="0"/>
                                </a:rPr>
                                <m:t>ℒ</m:t>
                              </m:r>
                              <m:r>
                                <m:rPr>
                                  <m:nor/>
                                </m:rPr>
                                <a:rPr lang="en-US" sz="1600" dirty="0">
                                  <a:latin typeface="Helvetica" panose="020B0604020202020204" pitchFamily="34" charset="0"/>
                                  <a:ea typeface="Helvetica Neue" charset="0"/>
                                  <a:cs typeface="Helvetica" panose="020B060402020202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600" dirty="0">
                                  <a:latin typeface="Helvetica" panose="020B0604020202020204" pitchFamily="34" charset="0"/>
                                  <a:ea typeface="Helvetica Neue" charset="0"/>
                                  <a:cs typeface="Helvetica" panose="020B0604020202020204" pitchFamily="34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1600" i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344488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600" i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344488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500" b="0" i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344488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  <a:ea typeface="Helvetica Neue" charset="0"/>
                          <a:cs typeface="Helvetica Neue" charset="0"/>
                        </a:rPr>
                        <m:t>=</m:t>
                      </m:r>
                      <m:func>
                        <m:funcPr>
                          <m:ctrlPr>
                            <a:rPr lang="en-US" sz="1600" i="1">
                              <a:latin typeface="Cambria Math" panose="02040503050406030204" pitchFamily="18" charset="0"/>
                              <a:ea typeface="Helvetica Neue" charset="0"/>
                              <a:cs typeface="Helvetica Neue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Helvetica Neue" charset="0"/>
                                  <a:cs typeface="Helvetica Neue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latin typeface="Cambria Math" panose="02040503050406030204" pitchFamily="18" charset="0"/>
                                  <a:ea typeface="Helvetica Neue" charset="0"/>
                                  <a:cs typeface="Helvetica Neue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𝒀</m:t>
                                      </m:r>
                                    </m:e>
                                    <m:sub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altLang="en-US" sz="1600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  <m:d>
                                    <m:dPr>
                                      <m:ctrlP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en-US" sz="16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Helvetica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6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Helvetica"/>
                                                </a:rPr>
                                                <m:t>e</m:t>
                                              </m:r>
                                            </m:e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en-US" sz="16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en-US" sz="16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+⋯+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sub>
                                              </m:sSub>
                                            </m:sup>
                                          </m:sSup>
                                        </m:num>
                                        <m:den>
                                          <m:r>
                                            <a:rPr lang="en-US" altLang="en-US" sz="16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Helvetica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6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Helvetica"/>
                                                </a:rPr>
                                                <m:t>e</m:t>
                                              </m:r>
                                            </m:e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en-US" sz="16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en-US" sz="16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+⋯+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sub>
                                              </m:sSub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ea typeface="Helvetica Neue" charset="0"/>
                                      <a:cs typeface="Helvetica Neue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1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US" sz="16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altLang="en-US" sz="1600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  <m:d>
                                    <m:dPr>
                                      <m:ctrlPr>
                                        <a:rPr lang="en-US" altLang="en-US" sz="16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en-US" sz="16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cs typeface="Helvetica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altLang="en-US" sz="16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Helvetica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60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cs typeface="Helvetica"/>
                                                </a:rPr>
                                                <m:t>e</m:t>
                                              </m:r>
                                            </m:e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en-US" sz="16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en-US" sz="16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+⋯+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en-US" sz="1600" i="1" dirty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sub>
                                              </m:sSub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US" sz="18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charset="0"/>
                          <a:ea typeface="Helvetica Neue" charset="0"/>
                          <a:cs typeface="Helvetica Neue" charset="0"/>
                        </a:rPr>
                        <m:t>    </m:t>
                      </m:r>
                    </m:oMath>
                  </m:oMathPara>
                </a14:m>
                <a:endParaRPr lang="en-US" sz="16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                 </a:t>
                </a:r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24" y="847616"/>
                <a:ext cx="8153421" cy="4185165"/>
              </a:xfrm>
              <a:prstGeom prst="rect">
                <a:avLst/>
              </a:prstGeom>
              <a:blipFill>
                <a:blip r:embed="rId3"/>
                <a:stretch>
                  <a:fillRect l="-598" t="-1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14" y="115288"/>
            <a:ext cx="8562392" cy="652690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Statistical Inference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44834" y="3538327"/>
            <a:ext cx="4774454" cy="900246"/>
            <a:chOff x="2617152" y="3700654"/>
            <a:chExt cx="4216651" cy="9002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3"/>
                <p:cNvSpPr txBox="1"/>
                <p:nvPr/>
              </p:nvSpPr>
              <p:spPr>
                <a:xfrm>
                  <a:off x="4694072" y="3773087"/>
                  <a:ext cx="2139731" cy="79129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68580" tIns="34290" rIns="68580" bIns="3429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just"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000" i="0" kern="100">
                            <a:latin typeface="KishoreFont Medium" charset="0"/>
                            <a:ea typeface="KishoreFont Medium" charset="0"/>
                            <a:cs typeface="KishoreFont Medium" charset="0"/>
                          </a:rPr>
                          <m:t>±</m:t>
                        </m:r>
                        <m:r>
                          <m:rPr>
                            <m:nor/>
                          </m:rPr>
                          <a:rPr lang="zh-CN" altLang="en-US" sz="2000" b="0" i="0" kern="100" smtClean="0">
                            <a:latin typeface="KishoreFont Medium" charset="0"/>
                            <a:ea typeface="KishoreFont Medium" charset="0"/>
                            <a:cs typeface="KishoreFont Medium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000" b="0" i="1" kern="10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kern="10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f>
                              <m:fPr>
                                <m:type m:val="lin"/>
                                <m:ctrlPr>
                                  <a:rPr lang="en-US" altLang="zh-CN" sz="2000" b="0" i="1" kern="10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altLang="en-US" sz="2000" i="1" dirty="0">
                                    <a:latin typeface="KishoreFont Medium" charset="0"/>
                                    <a:ea typeface="KishoreFont Medium" charset="0"/>
                                    <a:cs typeface="KishoreFont Medium" charset="0"/>
                                  </a:rPr>
                                  <m:t>α</m:t>
                                </m:r>
                              </m:num>
                              <m:den>
                                <m:r>
                                  <a:rPr lang="en-US" altLang="zh-CN" sz="2000" b="0" i="1" kern="10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rad>
                          <m:radPr>
                            <m:degHide m:val="on"/>
                            <m:ctrlPr>
                              <a:rPr lang="en-US" sz="2000" i="1" kern="100">
                                <a:latin typeface="Cambria Math" panose="02040503050406030204" pitchFamily="18" charset="0"/>
                                <a:ea typeface="KishoreFont Medium" charset="0"/>
                                <a:cs typeface="KishoreFont Medium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nor/>
                              </m:rPr>
                              <a:rPr lang="en-US" sz="2000" b="0" i="0" kern="100" smtClean="0">
                                <a:latin typeface="Cambria Math" panose="02040503050406030204" pitchFamily="18" charset="0"/>
                                <a:ea typeface="KishoreFont Medium" charset="0"/>
                                <a:cs typeface="KishoreFont Medium" charset="0"/>
                              </a:rPr>
                              <m:t>Var</m:t>
                            </m:r>
                            <m:d>
                              <m:dPr>
                                <m:ctrlPr>
                                  <a:rPr lang="en-US" sz="2000" i="1" kern="100">
                                    <a:latin typeface="Cambria Math" panose="02040503050406030204" pitchFamily="18" charset="0"/>
                                    <a:ea typeface="KishoreFont Medium" charset="0"/>
                                    <a:cs typeface="KishoreFont Medium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rad>
                      </m:oMath>
                    </m:oMathPara>
                  </a14:m>
                  <a:endParaRPr lang="en-US" sz="2000" kern="100" dirty="0">
                    <a:latin typeface="KishoreFont Medium" charset="0"/>
                    <a:ea typeface="KishoreFont Medium" charset="0"/>
                    <a:cs typeface="KishoreFont Medium" charset="0"/>
                  </a:endParaRPr>
                </a:p>
              </p:txBody>
            </p:sp>
          </mc:Choice>
          <mc:Fallback xmlns="">
            <p:sp>
              <p:nvSpPr>
                <p:cNvPr id="10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4072" y="3773087"/>
                  <a:ext cx="2139731" cy="791293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  <a:endParaRPr lang="en-US">
                    <a:noFill/>
                  </a:endParaRPr>
                </a:p>
              </p:txBody>
            </p:sp>
          </mc:Fallback>
        </mc:AlternateContent>
        <p:sp>
          <p:nvSpPr>
            <p:cNvPr id="7" name="Rectangle 15"/>
            <p:cNvSpPr>
              <a:spLocks noChangeArrowheads="1"/>
            </p:cNvSpPr>
            <p:nvPr/>
          </p:nvSpPr>
          <p:spPr bwMode="auto">
            <a:xfrm>
              <a:off x="2617152" y="3700654"/>
              <a:ext cx="1892741" cy="900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68580" tIns="34290" rIns="68580" bIns="34290" numCol="1" anchor="ctr" anchorCtr="0" compatLnSpc="1">
              <a:spAutoFit/>
            </a:bodyPr>
            <a:lstStyle/>
            <a:p>
              <a:pPr algn="r" defTabSz="685800"/>
              <a:r>
                <a:rPr lang="en-US" altLang="en-US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rPr>
                <a:t>1-</a:t>
              </a:r>
              <a:r>
                <a:rPr lang="en-US" altLang="en-US" i="1" dirty="0">
                  <a:latin typeface="Helvetica" panose="020B0604020202020204" pitchFamily="34" charset="0"/>
                  <a:ea typeface="KishoreFont Medium" charset="0"/>
                  <a:cs typeface="Helvetica" panose="020B0604020202020204" pitchFamily="34" charset="0"/>
                </a:rPr>
                <a:t>α</a:t>
              </a:r>
              <a:r>
                <a:rPr lang="en-US" altLang="en-US" dirty="0">
                  <a:latin typeface="Helvetica" panose="020B0604020202020204" pitchFamily="34" charset="0"/>
                  <a:ea typeface="KishoreFont Medium" charset="0"/>
                  <a:cs typeface="Helvetica" panose="020B0604020202020204" pitchFamily="34" charset="0"/>
                </a:rPr>
                <a:t> </a:t>
              </a:r>
              <a:r>
                <a:rPr lang="en-US" altLang="en-US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rPr>
                <a:t>Approximate</a:t>
              </a:r>
            </a:p>
            <a:p>
              <a:pPr algn="r" defTabSz="685800"/>
              <a:r>
                <a:rPr lang="en-US" altLang="en-US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rPr>
                <a:t>Confidence interval</a:t>
              </a:r>
            </a:p>
          </p:txBody>
        </p:sp>
        <p:sp>
          <p:nvSpPr>
            <p:cNvPr id="9" name="右大括号 2"/>
            <p:cNvSpPr/>
            <p:nvPr/>
          </p:nvSpPr>
          <p:spPr>
            <a:xfrm flipH="1">
              <a:off x="4597395" y="3864527"/>
              <a:ext cx="72221" cy="606278"/>
            </a:xfrm>
            <a:prstGeom prst="rightBrace">
              <a:avLst/>
            </a:prstGeom>
            <a:ln>
              <a:solidFill>
                <a:schemeClr val="tx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7098" y="818311"/>
                <a:ext cx="8113487" cy="2553904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/>
              <a:p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Maximum Likelihood Estimators (MLEs): </a:t>
                </a:r>
              </a:p>
              <a:p>
                <a:pPr marL="344488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m:t>,…,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endParaRPr 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Statistical Properties of MLEs: </a:t>
                </a:r>
              </a:p>
              <a:p>
                <a:pPr marL="344488" indent="-344488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Approximate Sampling Distribution: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𝑽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4488" indent="-344488">
                  <a:spcBef>
                    <a:spcPts val="1200"/>
                  </a:spcBef>
                  <a:buClrTx/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The normal approximation relies on the assumption of </a:t>
                </a:r>
                <a:r>
                  <a:rPr lang="en-US" u="sng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large sample size</a:t>
                </a:r>
              </a:p>
              <a:p>
                <a:pPr marL="344488" indent="-344488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Statistical inference is not reliable for small sample data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98" y="818311"/>
                <a:ext cx="8113487" cy="2553904"/>
              </a:xfrm>
              <a:prstGeom prst="rect">
                <a:avLst/>
              </a:prstGeom>
              <a:blipFill>
                <a:blip r:embed="rId4"/>
                <a:stretch>
                  <a:fillRect l="-676" t="-1193" b="-2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903" y="115288"/>
            <a:ext cx="8562392" cy="622944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Statistical Inference (cont’d)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128817" y="814792"/>
                <a:ext cx="7988864" cy="3835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344488" indent="-344488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Hypothesis testing and Confidence Intervals rely on the approximately normal distribution of large sample sizes</a:t>
                </a:r>
              </a:p>
              <a:p>
                <a:pPr marL="344488" indent="-344488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Use the z-test (</a:t>
                </a:r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Wald test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)</a:t>
                </a:r>
              </a:p>
              <a:p>
                <a:pPr marL="687388" lvl="1" indent="-344488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Test is for the statistical significance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i="1" u="sng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given all other predicting variables in the model</a:t>
                </a:r>
              </a:p>
              <a:p>
                <a:pPr marL="687388" lvl="1" indent="-344488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Null hypothesis is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is not significant</a:t>
                </a:r>
              </a:p>
              <a:p>
                <a:pPr marL="1082675" indent="-739775">
                  <a:spcBef>
                    <a:spcPts val="3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US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en-US" i="1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en-US" i="1"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alt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en-US">
                          <a:latin typeface="Cambria Math" panose="02040503050406030204" pitchFamily="18" charset="0"/>
                        </a:rPr>
                        <m:t>vs</m:t>
                      </m:r>
                      <m:r>
                        <a:rPr lang="en-US" altLang="en-US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US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en-US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altLang="en-US" i="1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US" altLang="en-US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687388" lvl="1" indent="-344488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z</m:t>
                    </m:r>
                    <m:r>
                      <m:rPr>
                        <m:nor/>
                      </m:rPr>
                      <a:rPr lang="en-US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value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  <a:sym typeface="Math1" pitchFamily="2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−0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se</m:t>
                        </m:r>
                        <m:d>
                          <m:dPr>
                            <m:ctrlP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se</m:t>
                        </m:r>
                        <m:d>
                          <m:dPr>
                            <m:ctrlP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altLang="en-US" sz="2200" dirty="0">
                  <a:latin typeface="Helvetica" panose="020B0604020202020204" pitchFamily="34" charset="0"/>
                  <a:cs typeface="Helvetica" panose="020B0604020202020204" pitchFamily="34" charset="0"/>
                  <a:sym typeface="Math1" pitchFamily="2" charset="2"/>
                </a:endParaRPr>
              </a:p>
              <a:p>
                <a:pPr marL="687388" lvl="1" indent="-344488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i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en-US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kern="1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z</m:t>
                        </m:r>
                        <m:r>
                          <m:rPr>
                            <m:nor/>
                          </m:rPr>
                          <a:rPr lang="en-US" kern="100" dirty="0">
                            <a:latin typeface="Helvetica" panose="020B0604020202020204" pitchFamily="34" charset="0"/>
                            <a:ea typeface="Cambria Math" charset="0"/>
                            <a:cs typeface="Helvetica" panose="020B0604020202020204" pitchFamily="34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value</m:t>
                        </m:r>
                      </m:e>
                    </m:d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is too large</a:t>
                </a:r>
              </a:p>
              <a:p>
                <a:pPr marL="1082675" lvl="2" indent="-396875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Implies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is statistically significant</a:t>
                </a:r>
                <a:endParaRPr lang="en-US" altLang="en-US" sz="16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  <a:sym typeface="Math1" pitchFamily="2" charset="2"/>
                </a:endParaRPr>
              </a:p>
            </p:txBody>
          </p:sp>
        </mc:Choice>
        <mc:Fallback xmlns="">
          <p:sp>
            <p:nvSpPr>
              <p:cNvPr id="10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8817" y="814792"/>
                <a:ext cx="7988864" cy="3835152"/>
              </a:xfrm>
              <a:prstGeom prst="rect">
                <a:avLst/>
              </a:prstGeom>
              <a:blipFill>
                <a:blip r:embed="rId3"/>
                <a:stretch>
                  <a:fillRect l="-458" t="-95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401053" y="3137127"/>
            <a:ext cx="264160" cy="345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="" xmlns:a16="http://schemas.microsoft.com/office/drawing/2014/main" id="{4CCDEF69-2642-44B1-9B1A-75B8A137BE9F}"/>
              </a:ext>
            </a:extLst>
          </p:cNvPr>
          <p:cNvSpPr txBox="1">
            <a:spLocks/>
          </p:cNvSpPr>
          <p:nvPr/>
        </p:nvSpPr>
        <p:spPr>
          <a:xfrm>
            <a:off x="134903" y="115288"/>
            <a:ext cx="8562392" cy="622944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sz="3600" dirty="0">
                <a:latin typeface="Vitesse"/>
              </a:rPr>
              <a:t>Statistical Inference (cont’d)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="" xmlns:a16="http://schemas.microsoft.com/office/drawing/2014/main" id="{81F34991-C63D-4326-81E7-942CEDC47A20}"/>
                  </a:ext>
                </a:extLst>
              </p:cNvPr>
              <p:cNvSpPr/>
              <p:nvPr/>
            </p:nvSpPr>
            <p:spPr>
              <a:xfrm>
                <a:off x="127933" y="847289"/>
                <a:ext cx="4527957" cy="40213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1" i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altLang="en-US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en-US" sz="1600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16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1600" b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1600" b="0" i="0">
                        <a:latin typeface="Cambria Math" panose="02040503050406030204" pitchFamily="18" charset="0"/>
                      </a:rPr>
                      <m:t>vs</m:t>
                    </m:r>
                    <m:r>
                      <a:rPr lang="en-US" altLang="en-US" sz="1600" b="0" i="0">
                        <a:latin typeface="Cambria Math" panose="02040503050406030204" pitchFamily="18" charset="0"/>
                      </a:rPr>
                      <m:t>.  </m:t>
                    </m:r>
                    <m:sSub>
                      <m:sSubPr>
                        <m:ctrlPr>
                          <a:rPr lang="en-US" alt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1" i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altLang="en-US" sz="1600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en-US" sz="1600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1600" b="1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 </a:t>
                </a:r>
                <a:r>
                  <a:rPr lang="en-US" sz="1600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(to test if the coefficient equals constant </a:t>
                </a:r>
                <a14:m>
                  <m:oMath xmlns:m="http://schemas.openxmlformats.org/officeDocument/2006/math">
                    <m:r>
                      <a:rPr lang="en-US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600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)</a:t>
                </a:r>
              </a:p>
              <a:p>
                <a:pPr marL="344488" indent="-344488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z</m:t>
                    </m:r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value</m:t>
                    </m:r>
                    <m:r>
                      <a:rPr lang="en-US" sz="1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se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sz="2000" kern="100" dirty="0">
                  <a:latin typeface="Helvetica" panose="020B0604020202020204" pitchFamily="34" charset="0"/>
                  <a:ea typeface="Cambria Math" charset="0"/>
                  <a:cs typeface="Helvetica" panose="020B0604020202020204" pitchFamily="34" charset="0"/>
                </a:endParaRPr>
              </a:p>
              <a:p>
                <a:pPr marL="344488" indent="-344488">
                  <a:buFont typeface="Arial" panose="020B0604020202020204" pitchFamily="34" charset="0"/>
                  <a:buChar char="•"/>
                </a:pPr>
                <a:r>
                  <a:rPr lang="en-US" sz="1600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160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i="1" kern="1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z</m:t>
                        </m:r>
                        <m:r>
                          <m:rPr>
                            <m:nor/>
                          </m:rPr>
                          <a:rPr lang="en-US" sz="1600" kern="100" dirty="0">
                            <a:latin typeface="Helvetica" panose="020B0604020202020204" pitchFamily="34" charset="0"/>
                            <a:ea typeface="Cambria Math" charset="0"/>
                            <a:cs typeface="Helvetica" panose="020B0604020202020204" pitchFamily="34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value</m:t>
                        </m:r>
                      </m:e>
                    </m:d>
                    <m:r>
                      <a:rPr lang="en-US" altLang="zh-CN" sz="1600" kern="10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sz="1600" i="1" kern="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0" kern="10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f>
                          <m:fPr>
                            <m:type m:val="lin"/>
                            <m:ctrlPr>
                              <a:rPr lang="en-US" altLang="zh-CN" sz="1600" i="1" kern="10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1600" i="1" kern="10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en-US" sz="1600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 for significance level </a:t>
                </a:r>
                <a14:m>
                  <m:oMath xmlns:m="http://schemas.openxmlformats.org/officeDocument/2006/math">
                    <m:r>
                      <a:rPr lang="zh-CN" altLang="en-US" sz="1600" i="1" kern="10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altLang="zh-CN" sz="1600" kern="1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4488" indent="-344488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1600" kern="1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Alternatively, compute</a:t>
                </a:r>
                <a:r>
                  <a:rPr lang="en-US" sz="1600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 P-value</a:t>
                </a:r>
              </a:p>
              <a:p>
                <a:pPr marL="687388" lvl="1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P</m:t>
                    </m:r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−</m:t>
                    </m:r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value</m:t>
                    </m:r>
                    <m:r>
                      <m:rPr>
                        <m:nor/>
                      </m:rPr>
                      <a:rPr lang="en-US" sz="1600" b="0" i="0" kern="100" dirty="0" smtClean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 = 2</m:t>
                    </m:r>
                    <m:r>
                      <m:rPr>
                        <m:nor/>
                      </m:rPr>
                      <a:rPr lang="en-US" sz="1600" b="0" i="0" kern="100" dirty="0" smtClean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Pr</m:t>
                    </m:r>
                    <m:d>
                      <m:dPr>
                        <m:ctrlPr>
                          <a:rPr lang="en-US" sz="1600" b="0" i="1" kern="100" dirty="0" smtClean="0">
                            <a:latin typeface="Cambria Math" panose="02040503050406030204" pitchFamily="18" charset="0"/>
                            <a:ea typeface="Cambria Math" charset="0"/>
                          </a:rPr>
                        </m:ctrlPr>
                      </m:dPr>
                      <m:e>
                        <m:r>
                          <a:rPr lang="en-US" sz="1600" b="0" i="1" kern="100" dirty="0" smtClean="0">
                            <a:latin typeface="Cambria Math" panose="02040503050406030204" pitchFamily="18" charset="0"/>
                            <a:ea typeface="Cambria Math" charset="0"/>
                          </a:rPr>
                          <m:t>𝑍</m:t>
                        </m:r>
                        <m:r>
                          <a:rPr lang="en-US" sz="1600" b="0" i="1" kern="1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600" b="0" i="1" kern="10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z</m:t>
                            </m:r>
                            <m:r>
                              <m:rPr>
                                <m:nor/>
                              </m:rPr>
                              <a:rPr lang="en-US" sz="1600" kern="100" dirty="0">
                                <a:latin typeface="Helvetica" panose="020B0604020202020204" pitchFamily="34" charset="0"/>
                                <a:ea typeface="Cambria Math" charset="0"/>
                                <a:cs typeface="Helvetica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value</m:t>
                            </m:r>
                          </m:e>
                        </m:d>
                      </m:e>
                    </m:d>
                  </m:oMath>
                </a14:m>
                <a:endParaRPr lang="en-US" sz="1100" kern="100" dirty="0">
                  <a:latin typeface="Helvetica" panose="020B0604020202020204" pitchFamily="34" charset="0"/>
                  <a:ea typeface="Cambria Math" charset="0"/>
                  <a:cs typeface="Helvetica" panose="020B0604020202020204" pitchFamily="34" charset="0"/>
                </a:endParaRPr>
              </a:p>
              <a:p>
                <a:r>
                  <a:rPr lang="en-US" sz="1600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1" i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altLang="en-US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en-US" sz="1600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1600" b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1600" b="0" i="0">
                        <a:latin typeface="Cambria Math" panose="02040503050406030204" pitchFamily="18" charset="0"/>
                      </a:rPr>
                      <m:t>vs</m:t>
                    </m:r>
                    <m:r>
                      <a:rPr lang="en-US" altLang="en-US" sz="1600" b="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1" i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altLang="en-US" sz="1600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en-US" sz="1600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 (to test for a significantly positive coefficient)</a:t>
                </a:r>
              </a:p>
              <a:p>
                <a:pPr marL="687388" lvl="1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P</m:t>
                    </m:r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−</m:t>
                    </m:r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value</m:t>
                    </m:r>
                    <m:r>
                      <m:rPr>
                        <m:nor/>
                      </m:rPr>
                      <a:rPr lang="en-US" sz="1600" b="0" i="0" kern="100" dirty="0" smtClean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=</m:t>
                    </m:r>
                    <m:r>
                      <m:rPr>
                        <m:nor/>
                      </m:rPr>
                      <a:rPr lang="en-US" sz="1600" b="0" i="0" kern="100" dirty="0" smtClean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Pr</m:t>
                    </m:r>
                    <m:d>
                      <m:dPr>
                        <m:ctrlPr>
                          <a:rPr lang="en-US" sz="1600" i="1" kern="100" dirty="0">
                            <a:latin typeface="Cambria Math" panose="02040503050406030204" pitchFamily="18" charset="0"/>
                            <a:ea typeface="Cambria Math" charset="0"/>
                          </a:rPr>
                        </m:ctrlPr>
                      </m:dPr>
                      <m:e>
                        <m:r>
                          <a:rPr lang="en-US" sz="1600" i="1" kern="100" dirty="0">
                            <a:latin typeface="Cambria Math" panose="02040503050406030204" pitchFamily="18" charset="0"/>
                            <a:ea typeface="Cambria Math" charset="0"/>
                          </a:rPr>
                          <m:t>𝑍</m:t>
                        </m:r>
                        <m:r>
                          <a:rPr lang="en-US" sz="1600" i="1" kern="1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r>
                          <a:rPr lang="en-US" sz="1600" b="0" i="1" kern="1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sz="1600" b="0" i="1" kern="1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kern="1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𝑣𝑎𝑙𝑢𝑒</m:t>
                        </m:r>
                      </m:e>
                    </m:d>
                  </m:oMath>
                </a14:m>
                <a:endParaRPr lang="en-US" sz="1100" kern="100" dirty="0">
                  <a:latin typeface="Helvetica" panose="020B0604020202020204" pitchFamily="34" charset="0"/>
                  <a:ea typeface="Cambria Math" charset="0"/>
                  <a:cs typeface="Helvetica" panose="020B0604020202020204" pitchFamily="34" charset="0"/>
                </a:endParaRPr>
              </a:p>
              <a:p>
                <a:r>
                  <a:rPr lang="en-US" sz="1600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1" i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altLang="en-US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en-US" sz="1600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1600" b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1600" b="0" i="0">
                        <a:latin typeface="Cambria Math" panose="02040503050406030204" pitchFamily="18" charset="0"/>
                      </a:rPr>
                      <m:t>vs</m:t>
                    </m:r>
                    <m:r>
                      <a:rPr lang="en-US" altLang="en-US" sz="1600" b="0" i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1" i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altLang="en-US" sz="1600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en-US" sz="1600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1600" b="1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 </a:t>
                </a:r>
                <a:r>
                  <a:rPr lang="en-US" sz="1600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(to test for a significantly negative coefficient)</a:t>
                </a:r>
              </a:p>
              <a:p>
                <a:pPr marL="687388" lvl="1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P</m:t>
                    </m:r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−</m:t>
                    </m:r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value</m:t>
                    </m:r>
                    <m:r>
                      <m:rPr>
                        <m:nor/>
                      </m:rPr>
                      <a:rPr lang="en-US" sz="1600" b="0" i="0" kern="100" dirty="0" smtClean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=</m:t>
                    </m:r>
                    <m:r>
                      <m:rPr>
                        <m:nor/>
                      </m:rPr>
                      <a:rPr lang="en-US" sz="1600" b="0" i="0" kern="100" dirty="0" smtClean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Pr</m:t>
                    </m:r>
                    <m:d>
                      <m:dPr>
                        <m:ctrlPr>
                          <a:rPr lang="en-US" sz="1600" i="1" kern="100" dirty="0">
                            <a:latin typeface="Cambria Math" panose="02040503050406030204" pitchFamily="18" charset="0"/>
                            <a:ea typeface="Cambria Math" charset="0"/>
                          </a:rPr>
                        </m:ctrlPr>
                      </m:dPr>
                      <m:e>
                        <m:r>
                          <a:rPr lang="en-US" sz="1600" i="1" kern="100" dirty="0">
                            <a:latin typeface="Cambria Math" panose="02040503050406030204" pitchFamily="18" charset="0"/>
                            <a:ea typeface="Cambria Math" charset="0"/>
                          </a:rPr>
                          <m:t>𝑍</m:t>
                        </m:r>
                        <m:r>
                          <a:rPr lang="en-US" sz="1600" i="1" kern="1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sz="1600" b="0" i="1" kern="1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sz="1600" b="0" i="1" kern="1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kern="1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𝑣𝑎𝑙𝑢𝑒</m:t>
                        </m:r>
                      </m:e>
                    </m:d>
                  </m:oMath>
                </a14:m>
                <a:endParaRPr lang="en-US" sz="1600" kern="100" dirty="0">
                  <a:latin typeface="Helvetica" panose="020B0604020202020204" pitchFamily="34" charset="0"/>
                  <a:ea typeface="Cambria Math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1F34991-C63D-4326-81E7-942CEDC47A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933" y="847289"/>
                <a:ext cx="4527957" cy="4021357"/>
              </a:xfrm>
              <a:prstGeom prst="rect">
                <a:avLst/>
              </a:prstGeom>
              <a:blipFill>
                <a:blip r:embed="rId2"/>
                <a:stretch>
                  <a:fillRect l="-808" t="-455" r="-538" b="-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401053" y="3137127"/>
            <a:ext cx="264160" cy="345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CCE14446-A0DC-4396-829E-0C9FBBAF0EC1}"/>
              </a:ext>
            </a:extLst>
          </p:cNvPr>
          <p:cNvSpPr/>
          <p:nvPr/>
        </p:nvSpPr>
        <p:spPr>
          <a:xfrm>
            <a:off x="5486400" y="1090255"/>
            <a:ext cx="3467100" cy="3385542"/>
          </a:xfrm>
          <a:prstGeom prst="rect">
            <a:avLst/>
          </a:prstGeom>
          <a:ln w="19050">
            <a:solidFill>
              <a:srgbClr val="1F497D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Because the approximation of the normal distribution relies on large sample size, so do the hypothesis testing procedures.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What if </a:t>
            </a:r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</a:t>
            </a: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is small?</a:t>
            </a:r>
          </a:p>
          <a:p>
            <a:pPr marL="569913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hypothesis testing procedure will have a probability of type I error larger than the significance level.</a:t>
            </a:r>
          </a:p>
          <a:p>
            <a:pPr marL="569913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In other words, there will likely be more type I errors than expected.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="" xmlns:a16="http://schemas.microsoft.com/office/drawing/2014/main" id="{969837A8-37C4-44A9-9283-EE16F3160F6B}"/>
                  </a:ext>
                </a:extLst>
              </p:cNvPr>
              <p:cNvSpPr/>
              <p:nvPr/>
            </p:nvSpPr>
            <p:spPr>
              <a:xfrm>
                <a:off x="127933" y="847289"/>
                <a:ext cx="4527957" cy="40213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1" i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altLang="en-US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en-US" sz="1600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16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1600" b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1600" b="0" i="0">
                        <a:latin typeface="Cambria Math" panose="02040503050406030204" pitchFamily="18" charset="0"/>
                      </a:rPr>
                      <m:t>vs</m:t>
                    </m:r>
                    <m:r>
                      <a:rPr lang="en-US" altLang="en-US" sz="1600" b="0" i="0">
                        <a:latin typeface="Cambria Math" panose="02040503050406030204" pitchFamily="18" charset="0"/>
                      </a:rPr>
                      <m:t>.  </m:t>
                    </m:r>
                    <m:sSub>
                      <m:sSubPr>
                        <m:ctrlPr>
                          <a:rPr lang="en-US" alt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1" i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altLang="en-US" sz="1600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en-US" sz="1600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1600" b="1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 </a:t>
                </a:r>
                <a:r>
                  <a:rPr lang="en-US" sz="1600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(to test if the coefficient equals constant </a:t>
                </a:r>
                <a14:m>
                  <m:oMath xmlns:m="http://schemas.openxmlformats.org/officeDocument/2006/math">
                    <m:r>
                      <a:rPr lang="en-US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600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)</a:t>
                </a:r>
              </a:p>
              <a:p>
                <a:pPr marL="344488" indent="-344488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z</m:t>
                    </m:r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value</m:t>
                    </m:r>
                    <m:r>
                      <a:rPr lang="en-US" sz="1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se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sz="2000" kern="100" dirty="0">
                  <a:latin typeface="Helvetica" panose="020B0604020202020204" pitchFamily="34" charset="0"/>
                  <a:ea typeface="Cambria Math" charset="0"/>
                  <a:cs typeface="Helvetica" panose="020B0604020202020204" pitchFamily="34" charset="0"/>
                </a:endParaRPr>
              </a:p>
              <a:p>
                <a:pPr marL="344488" indent="-344488">
                  <a:buFont typeface="Arial" panose="020B0604020202020204" pitchFamily="34" charset="0"/>
                  <a:buChar char="•"/>
                </a:pPr>
                <a:r>
                  <a:rPr lang="en-US" sz="1600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160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i="1" kern="1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z</m:t>
                        </m:r>
                        <m:r>
                          <m:rPr>
                            <m:nor/>
                          </m:rPr>
                          <a:rPr lang="en-US" sz="1600" kern="100" dirty="0">
                            <a:latin typeface="Helvetica" panose="020B0604020202020204" pitchFamily="34" charset="0"/>
                            <a:ea typeface="Cambria Math" charset="0"/>
                            <a:cs typeface="Helvetica" panose="020B0604020202020204" pitchFamily="34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value</m:t>
                        </m:r>
                      </m:e>
                    </m:d>
                    <m:r>
                      <a:rPr lang="en-US" altLang="zh-CN" sz="1600" kern="10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sz="1600" i="1" kern="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0" kern="10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f>
                          <m:fPr>
                            <m:type m:val="lin"/>
                            <m:ctrlPr>
                              <a:rPr lang="en-US" altLang="zh-CN" sz="1600" i="1" kern="10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1600" i="1" kern="10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en-US" sz="1600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 for significance level </a:t>
                </a:r>
                <a14:m>
                  <m:oMath xmlns:m="http://schemas.openxmlformats.org/officeDocument/2006/math">
                    <m:r>
                      <a:rPr lang="zh-CN" altLang="en-US" sz="1600" i="1" kern="10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altLang="zh-CN" sz="1600" kern="1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4488" indent="-344488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1600" kern="1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Alternatively, compute</a:t>
                </a:r>
                <a:r>
                  <a:rPr lang="en-US" sz="1600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 P-value</a:t>
                </a:r>
              </a:p>
              <a:p>
                <a:pPr marL="687388" lvl="1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P</m:t>
                    </m:r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−</m:t>
                    </m:r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value</m:t>
                    </m:r>
                    <m:r>
                      <m:rPr>
                        <m:nor/>
                      </m:rPr>
                      <a:rPr lang="en-US" sz="1600" b="0" i="0" kern="100" dirty="0" smtClean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 = 2</m:t>
                    </m:r>
                    <m:r>
                      <m:rPr>
                        <m:nor/>
                      </m:rPr>
                      <a:rPr lang="en-US" sz="1600" b="0" i="0" kern="100" dirty="0" smtClean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Pr</m:t>
                    </m:r>
                    <m:d>
                      <m:dPr>
                        <m:ctrlPr>
                          <a:rPr lang="en-US" sz="1600" b="0" i="1" kern="100" dirty="0" smtClean="0">
                            <a:latin typeface="Cambria Math" panose="02040503050406030204" pitchFamily="18" charset="0"/>
                            <a:ea typeface="Cambria Math" charset="0"/>
                          </a:rPr>
                        </m:ctrlPr>
                      </m:dPr>
                      <m:e>
                        <m:r>
                          <a:rPr lang="en-US" sz="1600" b="0" i="1" kern="100" dirty="0" smtClean="0">
                            <a:latin typeface="Cambria Math" panose="02040503050406030204" pitchFamily="18" charset="0"/>
                            <a:ea typeface="Cambria Math" charset="0"/>
                          </a:rPr>
                          <m:t>𝑍</m:t>
                        </m:r>
                        <m:r>
                          <a:rPr lang="en-US" sz="1600" b="0" i="1" kern="1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600" b="0" i="1" kern="10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z</m:t>
                            </m:r>
                            <m:r>
                              <m:rPr>
                                <m:nor/>
                              </m:rPr>
                              <a:rPr lang="en-US" sz="1600" kern="100" dirty="0">
                                <a:latin typeface="Helvetica" panose="020B0604020202020204" pitchFamily="34" charset="0"/>
                                <a:ea typeface="Cambria Math" charset="0"/>
                                <a:cs typeface="Helvetica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value</m:t>
                            </m:r>
                          </m:e>
                        </m:d>
                      </m:e>
                    </m:d>
                  </m:oMath>
                </a14:m>
                <a:endParaRPr lang="en-US" sz="1100" kern="100" dirty="0">
                  <a:latin typeface="Helvetica" panose="020B0604020202020204" pitchFamily="34" charset="0"/>
                  <a:ea typeface="Cambria Math" charset="0"/>
                  <a:cs typeface="Helvetica" panose="020B0604020202020204" pitchFamily="34" charset="0"/>
                </a:endParaRPr>
              </a:p>
              <a:p>
                <a:r>
                  <a:rPr lang="en-US" sz="1600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1" i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altLang="en-US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en-US" sz="1600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1600" b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1600" b="0" i="0">
                        <a:latin typeface="Cambria Math" panose="02040503050406030204" pitchFamily="18" charset="0"/>
                      </a:rPr>
                      <m:t>vs</m:t>
                    </m:r>
                    <m:r>
                      <a:rPr lang="en-US" altLang="en-US" sz="1600" b="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1" i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altLang="en-US" sz="1600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en-US" sz="1600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 (to test for a significantly positive coefficient)</a:t>
                </a:r>
              </a:p>
              <a:p>
                <a:pPr marL="687388" lvl="1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P</m:t>
                    </m:r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−</m:t>
                    </m:r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value</m:t>
                    </m:r>
                    <m:r>
                      <m:rPr>
                        <m:nor/>
                      </m:rPr>
                      <a:rPr lang="en-US" sz="1600" b="0" i="0" kern="100" dirty="0" smtClean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=</m:t>
                    </m:r>
                    <m:r>
                      <m:rPr>
                        <m:nor/>
                      </m:rPr>
                      <a:rPr lang="en-US" sz="1600" b="0" i="0" kern="100" dirty="0" smtClean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Pr</m:t>
                    </m:r>
                    <m:d>
                      <m:dPr>
                        <m:ctrlPr>
                          <a:rPr lang="en-US" sz="1600" i="1" kern="100" dirty="0">
                            <a:latin typeface="Cambria Math" panose="02040503050406030204" pitchFamily="18" charset="0"/>
                            <a:ea typeface="Cambria Math" charset="0"/>
                          </a:rPr>
                        </m:ctrlPr>
                      </m:dPr>
                      <m:e>
                        <m:r>
                          <a:rPr lang="en-US" sz="1600" i="1" kern="100" dirty="0">
                            <a:latin typeface="Cambria Math" panose="02040503050406030204" pitchFamily="18" charset="0"/>
                            <a:ea typeface="Cambria Math" charset="0"/>
                          </a:rPr>
                          <m:t>𝑍</m:t>
                        </m:r>
                        <m:r>
                          <a:rPr lang="en-US" sz="1600" i="1" kern="1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r>
                          <a:rPr lang="en-US" sz="1600" i="1" kern="1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sz="1600" i="1" kern="1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 kern="1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𝑣𝑎𝑙𝑢𝑒</m:t>
                        </m:r>
                      </m:e>
                    </m:d>
                  </m:oMath>
                </a14:m>
                <a:endParaRPr lang="en-US" sz="1100" kern="100" dirty="0">
                  <a:latin typeface="Helvetica" panose="020B0604020202020204" pitchFamily="34" charset="0"/>
                  <a:ea typeface="Cambria Math" charset="0"/>
                  <a:cs typeface="Helvetica" panose="020B0604020202020204" pitchFamily="34" charset="0"/>
                </a:endParaRPr>
              </a:p>
              <a:p>
                <a:r>
                  <a:rPr lang="en-US" sz="1600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1" i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altLang="en-US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en-US" sz="1600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1600" b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1600" b="0" i="0">
                        <a:latin typeface="Cambria Math" panose="02040503050406030204" pitchFamily="18" charset="0"/>
                      </a:rPr>
                      <m:t>vs</m:t>
                    </m:r>
                    <m:r>
                      <a:rPr lang="en-US" altLang="en-US" sz="1600" b="0" i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1" i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altLang="en-US" sz="1600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en-US" sz="1600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1600" b="1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 </a:t>
                </a:r>
                <a:r>
                  <a:rPr lang="en-US" sz="1600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(to test for a significantly negative coefficient)</a:t>
                </a:r>
              </a:p>
              <a:p>
                <a:pPr marL="687388" lvl="1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P</m:t>
                    </m:r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−</m:t>
                    </m:r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value</m:t>
                    </m:r>
                    <m:r>
                      <m:rPr>
                        <m:nor/>
                      </m:rPr>
                      <a:rPr lang="en-US" sz="1600" b="0" i="0" kern="100" dirty="0" smtClean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=</m:t>
                    </m:r>
                    <m:r>
                      <m:rPr>
                        <m:nor/>
                      </m:rPr>
                      <a:rPr lang="en-US" sz="1600" b="0" i="0" kern="100" dirty="0" smtClean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kern="100" dirty="0">
                        <a:latin typeface="Helvetica" panose="020B0604020202020204" pitchFamily="34" charset="0"/>
                        <a:ea typeface="Cambria Math" charset="0"/>
                        <a:cs typeface="Helvetica" panose="020B0604020202020204" pitchFamily="34" charset="0"/>
                      </a:rPr>
                      <m:t>Pr</m:t>
                    </m:r>
                    <m:d>
                      <m:dPr>
                        <m:ctrlPr>
                          <a:rPr lang="en-US" sz="1600" i="1" kern="100" dirty="0">
                            <a:latin typeface="Cambria Math" panose="02040503050406030204" pitchFamily="18" charset="0"/>
                            <a:ea typeface="Cambria Math" charset="0"/>
                          </a:rPr>
                        </m:ctrlPr>
                      </m:dPr>
                      <m:e>
                        <m:r>
                          <a:rPr lang="en-US" sz="1600" i="1" kern="100" dirty="0">
                            <a:latin typeface="Cambria Math" panose="02040503050406030204" pitchFamily="18" charset="0"/>
                            <a:ea typeface="Cambria Math" charset="0"/>
                          </a:rPr>
                          <m:t>𝑍</m:t>
                        </m:r>
                        <m:r>
                          <a:rPr lang="en-US" sz="1600" i="1" kern="1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sz="1600" i="1" kern="1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sz="1600" i="1" kern="1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 kern="1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𝑣𝑎𝑙𝑢𝑒</m:t>
                        </m:r>
                      </m:e>
                    </m:d>
                  </m:oMath>
                </a14:m>
                <a:endParaRPr lang="en-US" sz="1600" kern="100" dirty="0">
                  <a:latin typeface="Helvetica" panose="020B0604020202020204" pitchFamily="34" charset="0"/>
                  <a:ea typeface="Cambria Math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69837A8-37C4-44A9-9283-EE16F3160F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933" y="847289"/>
                <a:ext cx="4527957" cy="4021357"/>
              </a:xfrm>
              <a:prstGeom prst="rect">
                <a:avLst/>
              </a:prstGeom>
              <a:blipFill>
                <a:blip r:embed="rId2"/>
                <a:stretch>
                  <a:fillRect l="-808" t="-455" r="-538" b="-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="" xmlns:a16="http://schemas.microsoft.com/office/drawing/2014/main" id="{50E9729D-22B5-4B84-9B0F-B74D2174F6B3}"/>
              </a:ext>
            </a:extLst>
          </p:cNvPr>
          <p:cNvSpPr txBox="1">
            <a:spLocks/>
          </p:cNvSpPr>
          <p:nvPr/>
        </p:nvSpPr>
        <p:spPr>
          <a:xfrm>
            <a:off x="134903" y="115288"/>
            <a:ext cx="8562392" cy="622944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sz="3600" dirty="0">
                <a:latin typeface="Vitesse"/>
              </a:rPr>
              <a:t>Statistical Inference (cont’d)</a:t>
            </a:r>
          </a:p>
        </p:txBody>
      </p:sp>
    </p:spTree>
    <p:extLst>
      <p:ext uri="{BB962C8B-B14F-4D97-AF65-F5344CB8AC3E}">
        <p14:creationId xmlns:p14="http://schemas.microsoft.com/office/powerpoint/2010/main" val="2736789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="" xmlns:a16="http://schemas.microsoft.com/office/drawing/2014/main" id="{CAA8455F-DC42-47B0-9C29-647557873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92" y="115288"/>
            <a:ext cx="8562392" cy="656500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Testing for Subsets of 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="" xmlns:a16="http://schemas.microsoft.com/office/drawing/2014/main" id="{A5202D04-43FF-4ED2-AFCD-9C0AFC719999}"/>
                  </a:ext>
                </a:extLst>
              </p:cNvPr>
              <p:cNvSpPr/>
              <p:nvPr/>
            </p:nvSpPr>
            <p:spPr>
              <a:xfrm>
                <a:off x="134414" y="851690"/>
                <a:ext cx="4572000" cy="158697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Full model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</a:t>
                </a:r>
              </a:p>
              <a:p>
                <a:pPr marL="34607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dirty="0">
                          <a:solidFill>
                            <a:srgbClr val="000000"/>
                          </a:solidFill>
                          <a:latin typeface="Helvetica" panose="020B0604020202020204" pitchFamily="34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Logit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Helvetica" panose="020B0604020202020204" pitchFamily="34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Reduced model:</a:t>
                </a:r>
              </a:p>
              <a:p>
                <a:pPr marL="34607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dirty="0">
                          <a:solidFill>
                            <a:srgbClr val="000000"/>
                          </a:solidFill>
                          <a:latin typeface="Helvetica" panose="020B0604020202020204" pitchFamily="34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Logit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5202D04-43FF-4ED2-AFCD-9C0AFC719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14" y="851690"/>
                <a:ext cx="4572000" cy="1586973"/>
              </a:xfrm>
              <a:prstGeom prst="rect">
                <a:avLst/>
              </a:prstGeom>
              <a:blipFill>
                <a:blip r:embed="rId3"/>
                <a:stretch>
                  <a:fillRect l="-667" t="-1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="" xmlns:a16="http://schemas.microsoft.com/office/drawing/2014/main" id="{D828EA41-DC85-4542-A751-4138E2B47A4C}"/>
                  </a:ext>
                </a:extLst>
              </p:cNvPr>
              <p:cNvSpPr/>
              <p:nvPr/>
            </p:nvSpPr>
            <p:spPr>
              <a:xfrm>
                <a:off x="143291" y="2346458"/>
                <a:ext cx="7784467" cy="26382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b="1" dirty="0" smtClean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hypothesis test: </a:t>
                </a:r>
              </a:p>
              <a:p>
                <a:pPr marL="346075">
                  <a:lnSpc>
                    <a:spcPts val="18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600" b="1"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600" b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600" b="1">
                          <a:latin typeface="Cambria Math" panose="02040503050406030204" pitchFamily="18" charset="0"/>
                        </a:rPr>
                        <m:t>=⋯=</m:t>
                      </m:r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</m:sSub>
                      <m:r>
                        <a:rPr lang="en-US" sz="16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600" b="1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>
                  <a:lnSpc>
                    <a:spcPts val="1800"/>
                  </a:lnSpc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vs</a:t>
                </a:r>
                <a:r>
                  <a:rPr 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.</a:t>
                </a:r>
              </a:p>
              <a:p>
                <a:pPr marL="346075">
                  <a:lnSpc>
                    <a:spcPts val="18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𝐟𝐨𝐫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𝐚𝐭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𝐥𝐞𝐚𝐬𝐭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𝐨𝐧𝐞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𝐢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600" b="1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sz="1600" b="1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</a:t>
                </a:r>
                <a:r>
                  <a:rPr lang="en-US" sz="1600" b="1" i="1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q</a:t>
                </a:r>
              </a:p>
              <a:p>
                <a:endParaRPr lang="en-US" sz="1600" b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Maximize the likelihood function under reduced model: </a:t>
                </a:r>
                <a:r>
                  <a:rPr lang="en-US" alt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,…,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1600" dirty="0" smtClean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Maximize </a:t>
                </a: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likelihood function under full model: </a:t>
                </a:r>
                <a:r>
                  <a:rPr lang="en-US" alt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,…,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,…,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T</a:t>
                </a:r>
                <a:r>
                  <a:rPr lang="en-US" sz="1600" dirty="0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est 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Statistics</a:t>
                </a:r>
              </a:p>
              <a:p>
                <a:pPr marL="684213" lvl="1" indent="-338138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Deviance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ℒ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(</m:t>
                            </m:r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))</m:t>
                        </m:r>
                        <m:r>
                          <a:rPr lang="en-US" sz="16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16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log</m:t>
                        </m:r>
                        <m:r>
                          <a:rPr lang="en-US" sz="16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en-US" sz="1600" dirty="0">
                            <a:latin typeface="Helvetica" panose="020B0604020202020204" pitchFamily="34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ℒ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(</m:t>
                            </m:r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Helvetica" panose="020B0604020202020204" pitchFamily="34" charset="0"/>
                            <a:ea typeface="Cambria Math" charset="0"/>
                            <a:cs typeface="Helvetica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Helvetica" panose="020B0604020202020204" pitchFamily="34" charset="0"/>
                            <a:ea typeface="Cambria Math" charset="0"/>
                            <a:cs typeface="Helvetica" panose="020B0604020202020204" pitchFamily="34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𝑝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Helvetica" panose="020B0604020202020204" pitchFamily="34" charset="0"/>
                            <a:ea typeface="Cambria Math" charset="0"/>
                            <a:cs typeface="Helvetica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𝛼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Helvetica" panose="020B0604020202020204" pitchFamily="34" charset="0"/>
                            <a:ea typeface="Cambria Math" charset="0"/>
                            <a:cs typeface="Helvetica" panose="020B0604020202020204" pitchFamily="34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𝛼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𝑞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Helvetica" panose="020B0604020202020204" pitchFamily="34" charset="0"/>
                            <a:ea typeface="Cambria Math" charset="0"/>
                            <a:cs typeface="Helvetica" panose="020B0604020202020204" pitchFamily="34" charset="0"/>
                          </a:rPr>
                          <m:t>)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16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684213" lvl="1" indent="-338138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P-value = </a:t>
                </a:r>
                <a:r>
                  <a:rPr lang="en-US" altLang="en-US" sz="1600" dirty="0" err="1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Pr</a:t>
                </a:r>
                <a:r>
                  <a:rPr lang="en-US" altLang="en-US" sz="16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en-US" sz="1600" b="0" i="0" dirty="0" smtClean="0">
                        <a:solidFill>
                          <a:prstClr val="black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&gt;</m:t>
                    </m:r>
                  </m:oMath>
                </a14:m>
                <a:r>
                  <a:rPr lang="en-US" altLang="en-US" sz="1600" i="1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</a:rPr>
                      <m:t>Deviance</m:t>
                    </m:r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828EA41-DC85-4542-A751-4138E2B47A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91" y="2346458"/>
                <a:ext cx="7784467" cy="2638286"/>
              </a:xfrm>
              <a:prstGeom prst="rect">
                <a:avLst/>
              </a:prstGeom>
              <a:blipFill rotWithShape="0">
                <a:blip r:embed="rId4"/>
                <a:stretch>
                  <a:fillRect l="-470" t="-693" b="-1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292" y="115288"/>
            <a:ext cx="8562392" cy="656500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Testing for Subsets of 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43291" y="2346458"/>
                <a:ext cx="7784467" cy="27152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hypothesis test: </a:t>
                </a:r>
              </a:p>
              <a:p>
                <a:pPr marL="346075">
                  <a:lnSpc>
                    <a:spcPts val="18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600" b="1"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600" b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600" b="1">
                          <a:latin typeface="Cambria Math" panose="02040503050406030204" pitchFamily="18" charset="0"/>
                        </a:rPr>
                        <m:t>=⋯=</m:t>
                      </m:r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</m:sSub>
                      <m:r>
                        <a:rPr lang="en-US" sz="16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600" b="1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>
                  <a:lnSpc>
                    <a:spcPts val="1800"/>
                  </a:lnSpc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vs</a:t>
                </a:r>
                <a:r>
                  <a:rPr 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.</a:t>
                </a:r>
              </a:p>
              <a:p>
                <a:pPr marL="346075">
                  <a:lnSpc>
                    <a:spcPts val="18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𝐟𝐨𝐫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𝐚𝐭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𝐥𝐞𝐚𝐬𝐭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𝐨𝐧𝐞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𝐢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600" b="1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sz="1600" b="1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</a:t>
                </a:r>
                <a:r>
                  <a:rPr lang="en-US" sz="1600" b="1" i="1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q</a:t>
                </a:r>
              </a:p>
              <a:p>
                <a:endParaRPr lang="en-US" sz="1600" b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346075" indent="-346075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Maximize the likelihood function under reduced model: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ℒ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,…,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𝑝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))</m:t>
                    </m:r>
                  </m:oMath>
                </a14:m>
                <a:endParaRPr lang="en-US" altLang="en-US" sz="1600" dirty="0" smtClean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346075" indent="-346075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Maximize the likelihood function under full model: </a:t>
                </a:r>
                <a:r>
                  <a:rPr lang="en-US" altLang="en-US" sz="1600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Helvetica" panose="020B0604020202020204" pitchFamily="34" charset="0"/>
                        <a:cs typeface="Helvetica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Helvetica" panose="020B0604020202020204" pitchFamily="34" charset="0"/>
                        <a:cs typeface="Helvetica" panose="020B0604020202020204" pitchFamily="34" charset="0"/>
                      </a:rPr>
                      <m:t>,…,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,</a:t>
                </a:r>
                <a:r>
                  <a:rPr lang="en-US" sz="1600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Helvetica" panose="020B0604020202020204" pitchFamily="34" charset="0"/>
                        <a:cs typeface="Helvetica" panose="020B0604020202020204" pitchFamily="34" charset="0"/>
                      </a:rPr>
                      <m:t>,…,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</m:acc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) </a:t>
                </a:r>
                <a:endParaRPr lang="en-US" altLang="en-US" sz="16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346075" indent="-346075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Test Statistics</a:t>
                </a:r>
              </a:p>
              <a:p>
                <a:pPr marL="684213" lvl="1" indent="-338138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Deviance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en-US" sz="1600" dirty="0">
                            <a:latin typeface="Helvetica" panose="020B0604020202020204" pitchFamily="34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ℒ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(</m:t>
                            </m:r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))</m:t>
                        </m:r>
                        <m:r>
                          <a:rPr lang="en-US" sz="16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16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log</m:t>
                        </m:r>
                        <m:r>
                          <a:rPr lang="en-US" sz="16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en-US" sz="1600" dirty="0">
                            <a:latin typeface="Helvetica" panose="020B0604020202020204" pitchFamily="34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ℒ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(</m:t>
                            </m:r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Helvetica" panose="020B0604020202020204" pitchFamily="34" charset="0"/>
                            <a:ea typeface="Cambria Math" charset="0"/>
                            <a:cs typeface="Helvetica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Helvetica" panose="020B0604020202020204" pitchFamily="34" charset="0"/>
                            <a:ea typeface="Cambria Math" charset="0"/>
                            <a:cs typeface="Helvetica" panose="020B0604020202020204" pitchFamily="34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𝑝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Helvetica" panose="020B0604020202020204" pitchFamily="34" charset="0"/>
                            <a:ea typeface="Cambria Math" charset="0"/>
                            <a:cs typeface="Helvetica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𝛼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Helvetica" panose="020B0604020202020204" pitchFamily="34" charset="0"/>
                            <a:ea typeface="Cambria Math" charset="0"/>
                            <a:cs typeface="Helvetica" panose="020B0604020202020204" pitchFamily="34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𝛼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𝑞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Helvetica" panose="020B0604020202020204" pitchFamily="34" charset="0"/>
                            <a:ea typeface="Cambria Math" charset="0"/>
                            <a:cs typeface="Helvetica" panose="020B0604020202020204" pitchFamily="34" charset="0"/>
                          </a:rPr>
                          <m:t>)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16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684213" lvl="1" indent="-338138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P-value = </a:t>
                </a:r>
                <a:r>
                  <a:rPr lang="en-US" altLang="en-US" sz="1600" dirty="0" err="1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Pr</a:t>
                </a:r>
                <a:r>
                  <a:rPr lang="en-US" altLang="en-US" sz="16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en-US" sz="1600" b="0" i="0" dirty="0" smtClean="0">
                        <a:solidFill>
                          <a:prstClr val="black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&gt;</m:t>
                    </m:r>
                  </m:oMath>
                </a14:m>
                <a:r>
                  <a:rPr lang="en-US" altLang="en-US" sz="1600" i="1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</a:rPr>
                      <m:t>Deviance</m:t>
                    </m:r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91" y="2346458"/>
                <a:ext cx="7784467" cy="2715230"/>
              </a:xfrm>
              <a:prstGeom prst="rect">
                <a:avLst/>
              </a:prstGeom>
              <a:blipFill rotWithShape="0">
                <a:blip r:embed="rId3"/>
                <a:stretch>
                  <a:fillRect l="-470" t="-674" b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3120A832-4B22-4A29-81B1-240C9DC334ED}"/>
              </a:ext>
            </a:extLst>
          </p:cNvPr>
          <p:cNvSpPr/>
          <p:nvPr/>
        </p:nvSpPr>
        <p:spPr>
          <a:xfrm>
            <a:off x="5058697" y="1081401"/>
            <a:ext cx="3894804" cy="1477328"/>
          </a:xfrm>
          <a:prstGeom prst="rect">
            <a:avLst/>
          </a:prstGeom>
          <a:ln w="1905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hypothesis test for subsets of coefficients is approximate</a:t>
            </a:r>
          </a:p>
          <a:p>
            <a:pPr marL="630238" lvl="1" indent="-346075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It relies on large sample size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This is not a test for goodness of fit!</a:t>
            </a:r>
          </a:p>
          <a:p>
            <a:pPr marL="630238" lvl="1" indent="-346075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It only compares two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="" xmlns:a16="http://schemas.microsoft.com/office/drawing/2014/main" id="{A724B7A1-55A7-4EC4-B16F-536183C02697}"/>
                  </a:ext>
                </a:extLst>
              </p:cNvPr>
              <p:cNvSpPr/>
              <p:nvPr/>
            </p:nvSpPr>
            <p:spPr>
              <a:xfrm>
                <a:off x="134414" y="851690"/>
                <a:ext cx="4572000" cy="158697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Full model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</a:t>
                </a:r>
              </a:p>
              <a:p>
                <a:pPr marL="34607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dirty="0">
                          <a:solidFill>
                            <a:srgbClr val="000000"/>
                          </a:solidFill>
                          <a:latin typeface="Helvetica" panose="020B0604020202020204" pitchFamily="34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Logit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Helvetica" panose="020B0604020202020204" pitchFamily="34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Reduced model:</a:t>
                </a:r>
              </a:p>
              <a:p>
                <a:pPr marL="34607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dirty="0">
                          <a:solidFill>
                            <a:srgbClr val="000000"/>
                          </a:solidFill>
                          <a:latin typeface="Helvetica" panose="020B0604020202020204" pitchFamily="34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Logit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724B7A1-55A7-4EC4-B16F-536183C026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14" y="851690"/>
                <a:ext cx="4572000" cy="1586973"/>
              </a:xfrm>
              <a:prstGeom prst="rect">
                <a:avLst/>
              </a:prstGeom>
              <a:blipFill>
                <a:blip r:embed="rId4"/>
                <a:stretch>
                  <a:fillRect l="-667" t="-1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0721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14" y="123753"/>
            <a:ext cx="8562392" cy="613474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Testing for Overall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27303" y="843762"/>
                <a:ext cx="8589459" cy="39538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b="1" dirty="0" smtClean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Full model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</a:t>
                </a:r>
              </a:p>
              <a:p>
                <a:pPr marL="346075" indent="-34607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dirty="0">
                          <a:solidFill>
                            <a:srgbClr val="000000"/>
                          </a:solidFill>
                          <a:latin typeface="Helvetica" panose="020B0604020202020204" pitchFamily="34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Logit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alt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Helvetica" panose="020B0604020202020204" pitchFamily="34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Reduced model:</a:t>
                </a:r>
              </a:p>
              <a:p>
                <a:pPr marL="346075" indent="-34607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dirty="0">
                          <a:solidFill>
                            <a:srgbClr val="000000"/>
                          </a:solidFill>
                          <a:latin typeface="Helvetica" panose="020B0604020202020204" pitchFamily="34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Logit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alt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hypothesis test: </a:t>
                </a:r>
              </a:p>
              <a:p>
                <a:pPr marL="346075" indent="-346075">
                  <a:lnSpc>
                    <a:spcPts val="18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600" b="1"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600" b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600" b="1">
                          <a:latin typeface="Cambria Math" panose="02040503050406030204" pitchFamily="18" charset="0"/>
                        </a:rPr>
                        <m:t>=⋯=</m:t>
                      </m:r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sz="16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600" b="1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>
                  <a:lnSpc>
                    <a:spcPts val="1800"/>
                  </a:lnSpc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vs</a:t>
                </a:r>
                <a:r>
                  <a:rPr 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.</a:t>
                </a:r>
              </a:p>
              <a:p>
                <a:pPr marL="346075">
                  <a:lnSpc>
                    <a:spcPts val="18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𝐟𝐨𝐫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𝐚𝐭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𝐥𝐞𝐚𝐬𝐭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𝐨𝐧𝐞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𝐢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600" b="1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sz="1600" b="1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</a:t>
                </a:r>
                <a:r>
                  <a:rPr lang="en-US" sz="1600" b="1" i="1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p</a:t>
                </a:r>
              </a:p>
              <a:p>
                <a:endParaRPr lang="en-US" sz="1600" b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Maximize the likelihood function under reduced model: </a:t>
                </a:r>
                <a:r>
                  <a:rPr lang="en-US" alt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346075" indent="-346075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Maximize the likelihood function under full model: </a:t>
                </a:r>
                <a:r>
                  <a:rPr lang="en-US" altLang="en-US" sz="1600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Helvetica" panose="020B0604020202020204" pitchFamily="34" charset="0"/>
                        <a:cs typeface="Helvetica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Helvetica" panose="020B0604020202020204" pitchFamily="34" charset="0"/>
                        <a:cs typeface="Helvetica" panose="020B0604020202020204" pitchFamily="34" charset="0"/>
                      </a:rPr>
                      <m:t>,…,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) </a:t>
                </a:r>
              </a:p>
              <a:p>
                <a:pPr marL="346075" indent="-346075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Test Statistics</a:t>
                </a:r>
              </a:p>
              <a:p>
                <a:pPr marL="684213" lvl="1" indent="-338138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Deviance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ℒ</m:t>
                        </m:r>
                        <m:r>
                          <m:rPr>
                            <m:nor/>
                          </m:rPr>
                          <a:rPr lang="en-US" alt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 </m:t>
                        </m:r>
                        <m:r>
                          <a:rPr lang="en-US" sz="16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)</m:t>
                        </m:r>
                        <m:r>
                          <a:rPr lang="en-US" sz="16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16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log</m:t>
                        </m:r>
                        <m:r>
                          <a:rPr lang="en-US" sz="16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en-US" sz="1600" dirty="0">
                            <a:latin typeface="Helvetica" panose="020B0604020202020204" pitchFamily="34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ℒ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(</m:t>
                            </m:r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Helvetica" panose="020B0604020202020204" pitchFamily="34" charset="0"/>
                            <a:ea typeface="Cambria Math" charset="0"/>
                            <a:cs typeface="Helvetica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Helvetica" panose="020B0604020202020204" pitchFamily="34" charset="0"/>
                            <a:ea typeface="Cambria Math" charset="0"/>
                            <a:cs typeface="Helvetica" panose="020B0604020202020204" pitchFamily="34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𝑝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Helvetica" panose="020B0604020202020204" pitchFamily="34" charset="0"/>
                            <a:ea typeface="Cambria Math" charset="0"/>
                            <a:cs typeface="Helvetica" panose="020B0604020202020204" pitchFamily="34" charset="0"/>
                          </a:rPr>
                          <m:t>)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16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684213" lvl="1" indent="-338138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P-value = </a:t>
                </a:r>
                <a:r>
                  <a:rPr lang="en-US" altLang="en-US" sz="1600" dirty="0" err="1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Pr</a:t>
                </a:r>
                <a:r>
                  <a:rPr lang="en-US" altLang="en-US" sz="16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en-US" sz="1600" b="0" i="0" dirty="0" smtClean="0">
                        <a:solidFill>
                          <a:prstClr val="black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&gt;</m:t>
                    </m:r>
                  </m:oMath>
                </a14:m>
                <a:r>
                  <a:rPr lang="en-US" altLang="en-US" sz="1600" i="1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</a:rPr>
                      <m:t>Deviance</m:t>
                    </m:r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03" y="843762"/>
                <a:ext cx="8589459" cy="3953839"/>
              </a:xfrm>
              <a:prstGeom prst="rect">
                <a:avLst/>
              </a:prstGeom>
              <a:blipFill rotWithShape="0">
                <a:blip r:embed="rId3"/>
                <a:stretch>
                  <a:fillRect l="-426" t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42405" y="111125"/>
            <a:ext cx="4727575" cy="6985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>
            <a:fillRect/>
          </a:stretch>
        </p:blipFill>
        <p:spPr>
          <a:xfrm>
            <a:off x="3103133" y="1085850"/>
            <a:ext cx="2728044" cy="29818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222</Words>
  <Application>Microsoft Office PowerPoint</Application>
  <PresentationFormat>On-screen Show (16:9)</PresentationFormat>
  <Paragraphs>122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6" baseType="lpstr">
      <vt:lpstr>MS PGothic</vt:lpstr>
      <vt:lpstr>宋体</vt:lpstr>
      <vt:lpstr>Arial</vt:lpstr>
      <vt:lpstr>Calibri</vt:lpstr>
      <vt:lpstr>Cambria Math</vt:lpstr>
      <vt:lpstr>Helvetica</vt:lpstr>
      <vt:lpstr>Helvetica Neue</vt:lpstr>
      <vt:lpstr>KishoreFont Medium</vt:lpstr>
      <vt:lpstr>Math1</vt:lpstr>
      <vt:lpstr>Vitesse</vt:lpstr>
      <vt:lpstr>Vitesse Bold</vt:lpstr>
      <vt:lpstr>Vitesse Medium</vt:lpstr>
      <vt:lpstr>Wingdings</vt:lpstr>
      <vt:lpstr>2_Half Page Slash</vt:lpstr>
      <vt:lpstr>Full Page Layout</vt:lpstr>
      <vt:lpstr>PowerPoint Presentation</vt:lpstr>
      <vt:lpstr>PowerPoint Presentation</vt:lpstr>
      <vt:lpstr>Model Estimation</vt:lpstr>
      <vt:lpstr>Statistical Inference</vt:lpstr>
      <vt:lpstr>Statistical Inference (cont’d)</vt:lpstr>
      <vt:lpstr>PowerPoint Presentation</vt:lpstr>
      <vt:lpstr>PowerPoint Presentation</vt:lpstr>
      <vt:lpstr>Testing for Subsets of Coefficients</vt:lpstr>
      <vt:lpstr>Testing for Subsets of Coefficients</vt:lpstr>
      <vt:lpstr>Testing for Overall Regression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Aymee Garcia</cp:lastModifiedBy>
  <cp:revision>483</cp:revision>
  <dcterms:created xsi:type="dcterms:W3CDTF">2020-03-27T19:21:06Z</dcterms:created>
  <dcterms:modified xsi:type="dcterms:W3CDTF">2021-06-17T09:49:35Z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  <property fmtid="{D5CDD505-2E9C-101B-9397-08002B2CF9AE}" pid="3" name="KSOProductBuildVer">
    <vt:lpwstr>1033-11.2.0.8970</vt:lpwstr>
  </property>
</Properties>
</file>