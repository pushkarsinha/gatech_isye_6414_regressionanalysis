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4"/>
    <p:sldMasterId id="2147483711" r:id="rId5"/>
    <p:sldMasterId id="2147483716" r:id="rId6"/>
  </p:sldMasterIdLst>
  <p:notesMasterIdLst>
    <p:notesMasterId r:id="rId17"/>
  </p:notesMasterIdLst>
  <p:handoutMasterIdLst>
    <p:handoutMasterId r:id="rId18"/>
  </p:handoutMasterIdLst>
  <p:sldIdLst>
    <p:sldId id="434" r:id="rId7"/>
    <p:sldId id="535" r:id="rId8"/>
    <p:sldId id="439" r:id="rId9"/>
    <p:sldId id="440" r:id="rId10"/>
    <p:sldId id="444" r:id="rId11"/>
    <p:sldId id="538" r:id="rId12"/>
    <p:sldId id="504" r:id="rId13"/>
    <p:sldId id="526" r:id="rId14"/>
    <p:sldId id="505" r:id="rId15"/>
    <p:sldId id="537" r:id="rId16"/>
  </p:sldIdLst>
  <p:sldSz cx="9144000" cy="5143500" type="screen16x9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535"/>
            <p14:sldId id="439"/>
            <p14:sldId id="440"/>
            <p14:sldId id="444"/>
            <p14:sldId id="538"/>
            <p14:sldId id="504"/>
            <p14:sldId id="526"/>
            <p14:sldId id="505"/>
            <p14:sldId id="5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72" userDrawn="1">
          <p15:clr>
            <a:srgbClr val="A4A3A4"/>
          </p15:clr>
        </p15:guide>
        <p15:guide id="8" orient="horz" pos="708" userDrawn="1">
          <p15:clr>
            <a:srgbClr val="A4A3A4"/>
          </p15:clr>
        </p15:guide>
        <p15:guide id="9" orient="horz" pos="30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1F497D"/>
    <a:srgbClr val="993200"/>
    <a:srgbClr val="FFFFF0"/>
    <a:srgbClr val="FFFFC8"/>
    <a:srgbClr val="FFFF82"/>
    <a:srgbClr val="8E4221"/>
    <a:srgbClr val="F8FFF1"/>
    <a:srgbClr val="000000"/>
    <a:srgbClr val="F7F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00" autoAdjust="0"/>
    <p:restoredTop sz="89880" autoAdjust="0"/>
  </p:normalViewPr>
  <p:slideViewPr>
    <p:cSldViewPr snapToGrid="0">
      <p:cViewPr varScale="1">
        <p:scale>
          <a:sx n="76" d="100"/>
          <a:sy n="76" d="100"/>
        </p:scale>
        <p:origin x="1224" y="44"/>
      </p:cViewPr>
      <p:guideLst>
        <p:guide orient="horz" pos="1620"/>
        <p:guide pos="2880"/>
        <p:guide pos="144"/>
        <p:guide pos="336"/>
        <p:guide pos="3456"/>
        <p:guide pos="5664"/>
        <p:guide orient="horz" pos="372"/>
        <p:guide orient="horz" pos="708"/>
        <p:guide orient="horz" pos="30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9160" y="36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3F7A93-C87A-E149-BF89-5D793380F1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12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33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64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060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67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27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72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47650" y="274639"/>
            <a:ext cx="8595313" cy="712848"/>
          </a:xfrm>
          <a:prstGeom prst="rect">
            <a:avLst/>
          </a:prstGeom>
        </p:spPr>
        <p:txBody>
          <a:bodyPr/>
          <a:lstStyle>
            <a:lvl1pPr algn="l"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/>
              <a:t>Course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96333"/>
            <a:ext cx="8576502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5"/>
            <a:ext cx="8595315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5"/>
            <a:ext cx="8604722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814376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7" y="2896113"/>
            <a:ext cx="8595316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School Name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370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557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2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45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38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 hasCustomPrompt="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61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 hasCustomPrompt="1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94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5548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274639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50" y="1436689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8762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80732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4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15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8358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764060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771276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158380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278151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213367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649230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294407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neycomb_gradient.png"/>
          <p:cNvPicPr>
            <a:picLocks noChangeAspect="1"/>
          </p:cNvPicPr>
          <p:nvPr/>
        </p:nvPicPr>
        <p:blipFill>
          <a:blip r:embed="rId10" cstate="print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C3D5242-B510-45AF-AE0A-FA8575B5CBA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354" y="0"/>
            <a:ext cx="914129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407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29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025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/>
              </a:rPr>
              <a:t>Regression Analysis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EB211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Serban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2E80E88-8420-4594-80B5-B4565AB1A221}"/>
              </a:ext>
            </a:extLst>
          </p:cNvPr>
          <p:cNvSpPr>
            <a:spLocks noGrp="1"/>
          </p:cNvSpPr>
          <p:nvPr/>
        </p:nvSpPr>
        <p:spPr>
          <a:xfrm>
            <a:off x="124868" y="4102100"/>
            <a:ext cx="3801456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Introduction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91368E2-32F9-4F21-B92C-45C4370EC66A}"/>
              </a:ext>
            </a:extLst>
          </p:cNvPr>
          <p:cNvSpPr txBox="1">
            <a:spLocks/>
          </p:cNvSpPr>
          <p:nvPr/>
        </p:nvSpPr>
        <p:spPr>
          <a:xfrm>
            <a:off x="123850" y="653721"/>
            <a:ext cx="5672951" cy="54223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rgbClr val="1F497D"/>
                </a:solidFill>
                <a:latin typeface="Vitesse Medium"/>
              </a:rPr>
              <a:t>Poisson Regression</a:t>
            </a:r>
            <a:endParaRPr lang="en-US" sz="2400" dirty="0">
              <a:solidFill>
                <a:srgbClr val="1F497D"/>
              </a:solidFill>
              <a:latin typeface="Vitesse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14" y="115288"/>
            <a:ext cx="8562392" cy="589388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Other Distributions of the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84772" y="1032582"/>
            <a:ext cx="8685647" cy="307833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4488" indent="-285750"/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en-US" sz="1800" dirty="0">
                <a:solidFill>
                  <a:srgbClr val="3F6CAF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The response variable (e.g. rate) has a </a:t>
            </a:r>
            <a:r>
              <a:rPr lang="en-US" sz="18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Poisson distribution </a:t>
            </a:r>
          </a:p>
          <a:p>
            <a:pPr marL="687388" lvl="1" indent="-344488">
              <a:buFont typeface="Arial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What drives the rate of phone calls per day in a calling service center?</a:t>
            </a:r>
          </a:p>
          <a:p>
            <a:pPr marL="687388" lvl="1" indent="-344488">
              <a:buFont typeface="Arial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What predicts the density per mile of trees in a forest?</a:t>
            </a:r>
          </a:p>
          <a:p>
            <a:pPr marL="344488" lvl="0" indent="-285750"/>
            <a:endParaRPr lang="en-US" sz="18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4488" lvl="0" indent="-285750">
              <a:buFont typeface="Wingdings" panose="05000000000000000000" pitchFamily="2" charset="2"/>
              <a:buChar char="è"/>
            </a:pPr>
            <a:r>
              <a:rPr lang="en-US" sz="18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The response variable (e.g. wait time) has an </a:t>
            </a:r>
            <a:r>
              <a:rPr lang="en-US" sz="18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exponential distribution</a:t>
            </a:r>
          </a:p>
          <a:p>
            <a:pPr marL="687388" lvl="1" indent="-344488">
              <a:buFont typeface="Arial" charset="0"/>
              <a:buChar char="•"/>
            </a:pPr>
            <a:r>
              <a:rPr lang="en-US" sz="18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What explains the wait time for a wellness visit at your physician offices?</a:t>
            </a:r>
          </a:p>
          <a:p>
            <a:pPr marL="344488" lvl="1">
              <a:buNone/>
            </a:pPr>
            <a:endParaRPr lang="en-US" sz="18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4488" lvl="0" indent="-285750">
              <a:buFont typeface="Wingdings" panose="05000000000000000000" pitchFamily="2" charset="2"/>
              <a:buChar char="è"/>
            </a:pPr>
            <a:r>
              <a:rPr lang="en-US" sz="18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The response variable can have other distributions from the </a:t>
            </a:r>
            <a:r>
              <a:rPr lang="en-US" sz="18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exponential family of distributions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CADC83-0F56-4F18-91CC-324936EEBE6D}"/>
              </a:ext>
            </a:extLst>
          </p:cNvPr>
          <p:cNvSpPr txBox="1"/>
          <p:nvPr/>
        </p:nvSpPr>
        <p:spPr>
          <a:xfrm>
            <a:off x="235770" y="4236754"/>
            <a:ext cx="3052916" cy="369332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Generalized Linear Model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242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14" y="115288"/>
            <a:ext cx="8562392" cy="606166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Standard Linear Regression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143290" y="1527735"/>
            <a:ext cx="7884973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Assumptions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 </a:t>
            </a:r>
          </a:p>
          <a:p>
            <a:pPr marL="285750" indent="-285750" eaLnBrk="1" hangingPunct="1">
              <a:spcBef>
                <a:spcPct val="50000"/>
              </a:spcBef>
              <a:buFontTx/>
              <a:buChar char="•"/>
            </a:pP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Linearity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/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Mean Zero Assumption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E(</a:t>
            </a:r>
            <a:r>
              <a:rPr lang="en-US" altLang="en-US" dirty="0" err="1">
                <a:latin typeface="Symbol" panose="05050102010706020507" pitchFamily="18" charset="2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 = 0</a:t>
            </a:r>
          </a:p>
          <a:p>
            <a:pPr marL="285750" indent="-285750" eaLnBrk="1" hangingPunct="1">
              <a:spcBef>
                <a:spcPct val="50000"/>
              </a:spcBef>
              <a:buFontTx/>
              <a:buChar char="•"/>
            </a:pP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Constant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Variance Assumption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Var(</a:t>
            </a:r>
            <a:r>
              <a:rPr lang="en-US" altLang="en-US" dirty="0" err="1">
                <a:latin typeface="Symbol" panose="05050102010706020507" pitchFamily="18" charset="2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 =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Symbol" panose="05050102010706020507" pitchFamily="18" charset="2"/>
              </a:rPr>
              <a:t>s</a:t>
            </a:r>
            <a:r>
              <a:rPr lang="en-US" altLang="en-US" baseline="30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r>
              <a:rPr lang="en-US" altLang="en-US" baseline="30000" dirty="0">
                <a:latin typeface="Times New Roman" panose="02020603050405020304" pitchFamily="18" charset="0"/>
              </a:rPr>
              <a:t> </a:t>
            </a:r>
          </a:p>
          <a:p>
            <a:pPr marL="285750" indent="-285750" eaLnBrk="1" hangingPunct="1">
              <a:spcBef>
                <a:spcPct val="50000"/>
              </a:spcBef>
              <a:buFontTx/>
              <a:buChar char="•"/>
            </a:pP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Independence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Assumption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</a:t>
            </a:r>
            <a:r>
              <a:rPr lang="en-US" altLang="en-US" dirty="0">
                <a:latin typeface="Symbol" panose="05050102010706020507" pitchFamily="18" charset="2"/>
              </a:rPr>
              <a:t>e</a:t>
            </a:r>
            <a:r>
              <a:rPr lang="en-US" altLang="en-US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,…,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Symbol" panose="05050102010706020507" pitchFamily="18" charset="2"/>
              </a:rPr>
              <a:t>e</a:t>
            </a:r>
            <a:r>
              <a:rPr lang="en-US" altLang="en-US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are independent random variables</a:t>
            </a:r>
          </a:p>
          <a:p>
            <a:pPr marL="285750" indent="-285750" eaLnBrk="1" hangingPunct="1">
              <a:spcBef>
                <a:spcPct val="50000"/>
              </a:spcBef>
              <a:buClr>
                <a:schemeClr val="tx1"/>
              </a:buClr>
              <a:buFontTx/>
              <a:buChar char="•"/>
            </a:pPr>
            <a:r>
              <a:rPr lang="en-US" altLang="en-US" b="1" i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Normality Assumption</a:t>
            </a:r>
            <a:r>
              <a:rPr lang="en-US" altLang="en-US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</a:t>
            </a:r>
            <a:r>
              <a:rPr lang="en-US" altLang="en-US" b="1" dirty="0" err="1">
                <a:solidFill>
                  <a:srgbClr val="EEB211"/>
                </a:solidFill>
                <a:latin typeface="Symbol" panose="05050102010706020507" pitchFamily="18" charset="2"/>
              </a:rPr>
              <a:t>e</a:t>
            </a:r>
            <a:r>
              <a:rPr lang="en-US" altLang="en-US" b="1" baseline="-25000" dirty="0" err="1">
                <a:solidFill>
                  <a:srgbClr val="EEB211"/>
                </a:solidFill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b="1" dirty="0">
                <a:solidFill>
                  <a:srgbClr val="EEB211"/>
                </a:solidFill>
                <a:latin typeface="Cambria Math" charset="0"/>
                <a:ea typeface="Cambria Math" charset="0"/>
                <a:cs typeface="Cambria Math" charset="0"/>
              </a:rPr>
              <a:t> ~ </a:t>
            </a:r>
            <a:r>
              <a:rPr lang="en-US" altLang="en-US" b="1" dirty="0">
                <a:solidFill>
                  <a:srgbClr val="EEB211"/>
                </a:solidFill>
                <a:latin typeface="Helvetica Neue" charset="0"/>
                <a:ea typeface="Helvetica Neue" charset="0"/>
                <a:cs typeface="Helvetica Neue" charset="0"/>
              </a:rPr>
              <a:t>Normal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34902" y="863950"/>
            <a:ext cx="71472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Model: </a:t>
            </a:r>
            <a:r>
              <a:rPr lang="en-US" altLang="en-US" b="1" dirty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="1" baseline="-25000" dirty="0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b="1" dirty="0">
                <a:latin typeface="Cambria Math" charset="0"/>
                <a:ea typeface="Cambria Math" charset="0"/>
                <a:cs typeface="Cambria Math" charset="0"/>
              </a:rPr>
              <a:t> = </a:t>
            </a:r>
            <a:r>
              <a:rPr lang="en-US" altLang="en-US" b="1" dirty="0">
                <a:latin typeface="Symbol" panose="05050102010706020507" pitchFamily="18" charset="2"/>
              </a:rPr>
              <a:t>b</a:t>
            </a:r>
            <a:r>
              <a:rPr lang="en-US" altLang="en-US" b="1" baseline="-25000" dirty="0">
                <a:latin typeface="Cambria Math" charset="0"/>
                <a:ea typeface="Cambria Math" charset="0"/>
                <a:cs typeface="Cambria Math" charset="0"/>
              </a:rPr>
              <a:t>0</a:t>
            </a:r>
            <a:r>
              <a:rPr lang="en-US" altLang="en-US" b="1" dirty="0">
                <a:latin typeface="Cambria Math" charset="0"/>
                <a:ea typeface="Cambria Math" charset="0"/>
                <a:cs typeface="Cambria Math" charset="0"/>
              </a:rPr>
              <a:t> + </a:t>
            </a:r>
            <a:r>
              <a:rPr lang="en-US" altLang="en-US" b="1" dirty="0">
                <a:latin typeface="Symbol" panose="05050102010706020507" pitchFamily="18" charset="2"/>
              </a:rPr>
              <a:t>b</a:t>
            </a:r>
            <a:r>
              <a:rPr lang="en-US" altLang="en-US" b="1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b="1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="1" baseline="-25000" dirty="0">
                <a:latin typeface="Cambria Math" charset="0"/>
                <a:ea typeface="Cambria Math" charset="0"/>
                <a:cs typeface="Cambria Math" charset="0"/>
              </a:rPr>
              <a:t>i1</a:t>
            </a:r>
            <a:r>
              <a:rPr lang="en-US" altLang="en-US" b="1" dirty="0">
                <a:latin typeface="Cambria Math" charset="0"/>
                <a:ea typeface="Cambria Math" charset="0"/>
                <a:cs typeface="Cambria Math" charset="0"/>
              </a:rPr>
              <a:t> + </a:t>
            </a:r>
            <a:r>
              <a:rPr lang="en-US" altLang="en-US" b="1" dirty="0">
                <a:latin typeface="Symbol" panose="05050102010706020507" pitchFamily="18" charset="2"/>
              </a:rPr>
              <a:t>b</a:t>
            </a:r>
            <a:r>
              <a:rPr lang="en-US" altLang="en-US" b="1" baseline="-25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r>
              <a:rPr lang="en-US" altLang="en-US" b="1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="1" baseline="-25000" dirty="0">
                <a:latin typeface="Cambria Math" charset="0"/>
                <a:ea typeface="Cambria Math" charset="0"/>
                <a:cs typeface="Cambria Math" charset="0"/>
              </a:rPr>
              <a:t>i2</a:t>
            </a:r>
            <a:r>
              <a:rPr lang="en-US" altLang="en-US" b="1" dirty="0">
                <a:latin typeface="Cambria Math" charset="0"/>
                <a:ea typeface="Cambria Math" charset="0"/>
                <a:cs typeface="Cambria Math" charset="0"/>
              </a:rPr>
              <a:t>+…+</a:t>
            </a:r>
            <a:r>
              <a:rPr lang="en-US" altLang="en-US" b="1" dirty="0" err="1">
                <a:latin typeface="Symbol" panose="05050102010706020507" pitchFamily="18" charset="2"/>
              </a:rPr>
              <a:t>b</a:t>
            </a:r>
            <a:r>
              <a:rPr lang="en-US" altLang="en-US" b="1" baseline="-25000" dirty="0" err="1">
                <a:latin typeface="Cambria Math" charset="0"/>
                <a:ea typeface="Cambria Math" charset="0"/>
                <a:cs typeface="Cambria Math" charset="0"/>
              </a:rPr>
              <a:t>p</a:t>
            </a:r>
            <a:r>
              <a:rPr lang="en-US" altLang="en-US" b="1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="1" baseline="-25000" dirty="0" err="1">
                <a:latin typeface="Cambria Math" charset="0"/>
                <a:ea typeface="Cambria Math" charset="0"/>
                <a:cs typeface="Cambria Math" charset="0"/>
              </a:rPr>
              <a:t>ip</a:t>
            </a:r>
            <a:r>
              <a:rPr lang="en-US" altLang="en-US" b="1" baseline="-25000" dirty="0"/>
              <a:t> </a:t>
            </a:r>
            <a:r>
              <a:rPr lang="en-US" altLang="en-US" b="1" dirty="0"/>
              <a:t>+ </a:t>
            </a:r>
            <a:r>
              <a:rPr lang="en-US" altLang="en-US" b="1" dirty="0" err="1">
                <a:latin typeface="Symbol" panose="05050102010706020507" pitchFamily="18" charset="2"/>
              </a:rPr>
              <a:t>e</a:t>
            </a:r>
            <a:r>
              <a:rPr lang="en-US" altLang="en-US" b="1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=1,…,n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8982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903" y="115287"/>
            <a:ext cx="8562392" cy="564221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Generalized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212313" y="1872150"/>
                <a:ext cx="7230782" cy="2914126"/>
              </a:xfrm>
              <a:prstGeom prst="rect">
                <a:avLst/>
              </a:prstGeom>
            </p:spPr>
            <p:txBody>
              <a:bodyPr vert="horz" lIns="0" tIns="34290" rIns="0" bIns="34290" rtlCol="0">
                <a:norm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Model</a:t>
                </a:r>
                <a:r>
                  <a:rPr lang="en-US" sz="1800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: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Model the conditional expectation</a:t>
                </a:r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 </a:t>
                </a:r>
              </a:p>
              <a:p>
                <a:pPr marL="344488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E</m:t>
                                </m:r>
                                <m:r>
                                  <a:rPr lang="en-US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Y</m:t>
                                </m:r>
                                <m:r>
                                  <a:rPr lang="en-US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p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)</m:t>
                            </m:r>
                          </m:fName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e>
                        </m:func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p</m:t>
                    </m:r>
                  </m:oMath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OR</a:t>
                </a:r>
                <a:r>
                  <a:rPr lang="en-US" sz="1800" dirty="0">
                    <a:latin typeface="Helvetica Neue"/>
                  </a:rPr>
                  <a:t> </a:t>
                </a:r>
              </a:p>
              <a:p>
                <a:pPr marL="344488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Y</m:t>
                                </m:r>
                                <m:r>
                                  <a:rPr lang="en-US" sz="180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80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, </m:t>
                                </m:r>
                                <m:r>
                                  <a:rPr lang="en-US" sz="18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p</m:t>
                                </m:r>
                              </m:e>
                            </m:d>
                          </m:fName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func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sz="1800" dirty="0">
                    <a:latin typeface="Cambria Math" charset="0"/>
                    <a:ea typeface="Cambria Math" charset="0"/>
                    <a:cs typeface="Cambria Math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p</m:t>
                    </m:r>
                  </m:oMath>
                </a14:m>
                <a:r>
                  <a:rPr lang="en-US" sz="1800" dirty="0">
                    <a:latin typeface="Cambria Math" charset="0"/>
                    <a:ea typeface="Cambria Math" charset="0"/>
                    <a:cs typeface="Cambria Math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 ) is a </a:t>
                </a:r>
                <a:r>
                  <a:rPr lang="en-US" sz="18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link function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 ) the </a:t>
                </a:r>
                <a:r>
                  <a:rPr lang="en-US" sz="18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inverse link function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depending on the distribution of Y. </a:t>
                </a: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13" y="1872150"/>
                <a:ext cx="7230782" cy="2914126"/>
              </a:xfrm>
              <a:prstGeom prst="rect">
                <a:avLst/>
              </a:prstGeom>
              <a:blipFill>
                <a:blip r:embed="rId4"/>
                <a:stretch>
                  <a:fillRect l="-2024" t="-2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34900" y="766853"/>
            <a:ext cx="6953250" cy="872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b="1" dirty="0">
                <a:solidFill>
                  <a:srgbClr val="EEB211"/>
                </a:solidFill>
                <a:latin typeface="Helvetica Neue" charset="0"/>
                <a:ea typeface="Helvetica Neue" charset="0"/>
                <a:cs typeface="Helvetica Neue" charset="0"/>
              </a:rPr>
              <a:t>Data</a:t>
            </a:r>
            <a:r>
              <a:rPr lang="en-US" altLang="en-US" dirty="0">
                <a:solidFill>
                  <a:srgbClr val="EEB211"/>
                </a:solidFill>
                <a:latin typeface="Helvetica Neue" charset="0"/>
                <a:ea typeface="Helvetica Neue" charset="0"/>
                <a:cs typeface="Helvetica Neue" charset="0"/>
              </a:rPr>
              <a:t>: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{(x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11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,.., x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1p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),Y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1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},….,{(x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n1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,.., </a:t>
            </a:r>
            <a:r>
              <a:rPr lang="en-US" altLang="en-US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np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 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),</a:t>
            </a:r>
            <a:r>
              <a:rPr lang="en-US" altLang="en-US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n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} 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Helvetica Neue" charset="0"/>
              </a:rPr>
              <a:t>where 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Y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1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, .., </a:t>
            </a:r>
            <a:r>
              <a:rPr lang="en-US" altLang="en-US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n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response variable with </a:t>
            </a: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 distribution from the exponential family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009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3"/>
              <p:cNvSpPr txBox="1">
                <a:spLocks noChangeArrowheads="1"/>
              </p:cNvSpPr>
              <p:nvPr/>
            </p:nvSpPr>
            <p:spPr bwMode="auto">
              <a:xfrm>
                <a:off x="160067" y="859163"/>
                <a:ext cx="8237018" cy="1188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buClrTx/>
                </a:pP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Y~ </a:t>
                </a:r>
                <a:r>
                  <a:rPr lang="en-US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distribution in the exponential family 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if its density function can be written as:</a:t>
                </a:r>
              </a:p>
              <a:p>
                <a:pPr marL="285750" indent="-285750">
                  <a:buClrTx/>
                </a:pPr>
                <a:endParaRPr lang="en-US" sz="8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Clr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285750" indent="-285750">
                  <a:buClrTx/>
                </a:pPr>
                <a:endParaRPr lang="en-US" sz="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>
                  <a:buClrTx/>
                </a:pP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is the parameter of the distribution and g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is the link function.</a:t>
                </a:r>
              </a:p>
            </p:txBody>
          </p:sp>
        </mc:Choice>
        <mc:Fallback xmlns="">
          <p:sp>
            <p:nvSpPr>
              <p:cNvPr id="8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067" y="859163"/>
                <a:ext cx="8237018" cy="1188146"/>
              </a:xfrm>
              <a:prstGeom prst="rect">
                <a:avLst/>
              </a:prstGeom>
              <a:blipFill>
                <a:blip r:embed="rId4"/>
                <a:stretch>
                  <a:fillRect l="-592" t="-3077" b="-717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AD72EAEF-8A37-4440-B228-F0F08A90125D}"/>
              </a:ext>
            </a:extLst>
          </p:cNvPr>
          <p:cNvSpPr txBox="1">
            <a:spLocks/>
          </p:cNvSpPr>
          <p:nvPr/>
        </p:nvSpPr>
        <p:spPr>
          <a:xfrm>
            <a:off x="134903" y="115287"/>
            <a:ext cx="8562392" cy="564221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sz="3600">
                <a:latin typeface="Vitesse"/>
              </a:rPr>
              <a:t>Generalized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4E4E52AB-C9DA-4674-8A5D-9BDD8BA079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6919411"/>
                  </p:ext>
                </p:extLst>
              </p:nvPr>
            </p:nvGraphicFramePr>
            <p:xfrm>
              <a:off x="547009" y="2226965"/>
              <a:ext cx="5845402" cy="2110573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4999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462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99252">
                      <a:extLst>
                        <a:ext uri="{9D8B030D-6E8A-4147-A177-3AD203B41FA5}">
                          <a16:colId xmlns:a16="http://schemas.microsoft.com/office/drawing/2014/main" val="597497708"/>
                        </a:ext>
                      </a:extLst>
                    </a:gridCol>
                  </a:tblGrid>
                  <a:tr h="386547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Distribution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B21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Link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B21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Regression Function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B21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936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Normal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g(m) = 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aseline="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 </a:t>
                          </a:r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m</a:t>
                          </a:r>
                          <a:r>
                            <a:rPr lang="en-US" sz="1600" baseline="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6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aseline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baseline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600" baseline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oMath>
                          </a14:m>
                          <a:endParaRPr lang="en-US" sz="1600" dirty="0">
                            <a:latin typeface="Helvetica" panose="020B060402020202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7698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Poisson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g(m) = log(m)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m</a:t>
                          </a:r>
                          <a:r>
                            <a:rPr lang="en-US" sz="1600" baseline="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 =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6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aseline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600" baseline="0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p>
                                    <m:sSupPr>
                                      <m:ctrlPr>
                                        <a:rPr lang="en-US" sz="160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aseline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600" baseline="0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sz="1600" baseline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 smtClean="0">
                                      <a:latin typeface="Helvetica" panose="020B0604020202020204" pitchFamily="34" charset="0"/>
                                      <a:cs typeface="Helvetica" panose="020B0604020202020204" pitchFamily="34" charset="0"/>
                                    </a:rPr>
                                    <m:t> </m:t>
                                  </m:r>
                                </m:sup>
                              </m:sSup>
                            </m:oMath>
                          </a14:m>
                          <a:endParaRPr lang="en-US" sz="1600" dirty="0">
                            <a:latin typeface="Helvetica" panose="020B060402020202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9876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Bernoulli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g(m) = log(m/1-m)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m</a:t>
                          </a:r>
                          <a:r>
                            <a:rPr lang="en-US" sz="1600" baseline="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60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aseline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1600" baseline="0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p>
                                        <m:sSupPr>
                                          <m:ctrlPr>
                                            <a:rPr lang="en-US" sz="1600" i="1" baseline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aseline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1600" baseline="0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sz="1600" baseline="0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1600" dirty="0" smtClean="0">
                                          <a:latin typeface="Helvetica" panose="020B0604020202020204" pitchFamily="34" charset="0"/>
                                          <a:cs typeface="Helvetica" panose="020B0604020202020204" pitchFamily="34" charset="0"/>
                                        </a:rPr>
                                        <m:t> 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600" baseline="0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sz="160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aseline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1600" baseline="0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p>
                                        <m:sSupPr>
                                          <m:ctrlPr>
                                            <a:rPr lang="en-US" sz="1600" i="1" baseline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aseline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1600" baseline="0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sz="1600" baseline="0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1600" dirty="0" smtClean="0">
                                          <a:latin typeface="Helvetica" panose="020B0604020202020204" pitchFamily="34" charset="0"/>
                                          <a:cs typeface="Helvetica" panose="020B0604020202020204" pitchFamily="34" charset="0"/>
                                        </a:rPr>
                                        <m:t> 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endParaRPr lang="en-US" sz="1600" dirty="0">
                            <a:latin typeface="Helvetica" panose="020B060402020202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8916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Gamma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g(m) = 1/m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m</a:t>
                          </a:r>
                          <a:r>
                            <a:rPr lang="en-US" sz="1600" baseline="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 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aseline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60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aseline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600" baseline="0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sz="1600" baseline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 smtClean="0">
                                      <a:latin typeface="Helvetica" panose="020B0604020202020204" pitchFamily="34" charset="0"/>
                                      <a:cs typeface="Helvetica" panose="020B0604020202020204" pitchFamily="34" charset="0"/>
                                    </a:rPr>
                                    <m:t> 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aseline="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 </a:t>
                          </a:r>
                          <a:endParaRPr lang="en-US" sz="1600" dirty="0">
                            <a:latin typeface="Helvetica" panose="020B0604020202020204" pitchFamily="34" charset="0"/>
                            <a:cs typeface="Helvetica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4E4E52AB-C9DA-4674-8A5D-9BDD8BA079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6919411"/>
                  </p:ext>
                </p:extLst>
              </p:nvPr>
            </p:nvGraphicFramePr>
            <p:xfrm>
              <a:off x="547009" y="2226965"/>
              <a:ext cx="5845402" cy="2110573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4999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462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99252">
                      <a:extLst>
                        <a:ext uri="{9D8B030D-6E8A-4147-A177-3AD203B41FA5}">
                          <a16:colId xmlns:a16="http://schemas.microsoft.com/office/drawing/2014/main" val="597497708"/>
                        </a:ext>
                      </a:extLst>
                    </a:gridCol>
                  </a:tblGrid>
                  <a:tr h="386547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Distribution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B21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Link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B21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Regression Function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B21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Normal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g(m) = 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3909" t="-121818" r="-508" b="-42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6238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Poisson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g(m) = log(m)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3909" t="-196774" r="-508" b="-27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5783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Bernoulli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g(m) = log(m/1-m)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3909" t="-206742" r="-508" b="-910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6725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Gamma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Helvetica" panose="020B0604020202020204" pitchFamily="34" charset="0"/>
                              <a:cs typeface="Helvetica" panose="020B0604020202020204" pitchFamily="34" charset="0"/>
                            </a:rPr>
                            <a:t>g(m) = 1/m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3909" t="-354545" r="-508" b="-51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187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608928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Poisson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218146" y="1953376"/>
                <a:ext cx="7230782" cy="2914126"/>
              </a:xfrm>
              <a:prstGeom prst="rect">
                <a:avLst/>
              </a:prstGeom>
            </p:spPr>
            <p:txBody>
              <a:bodyPr vert="horz" lIns="0" tIns="34290" rIns="0" bIns="34290" rtlCol="0">
                <a:norm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Model</a:t>
                </a:r>
                <a:r>
                  <a:rPr lang="en-US" sz="1800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: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Model the conditional expectation</a:t>
                </a:r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 </a:t>
                </a:r>
              </a:p>
              <a:p>
                <a:pPr marL="28575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log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E</m:t>
                                </m:r>
                                <m:r>
                                  <a:rPr lang="en-US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Y</m:t>
                                </m:r>
                                <m:r>
                                  <a:rPr lang="en-US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p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)</m:t>
                            </m:r>
                          </m:fName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=</m:t>
                            </m:r>
                          </m:e>
                        </m:func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1</m:t>
                    </m:r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p</m:t>
                    </m:r>
                  </m:oMath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OR </a:t>
                </a:r>
              </a:p>
              <a:p>
                <a:pPr marL="28575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  <m:t>Y</m:t>
                              </m:r>
                              <m:r>
                                <a:rPr lang="en-US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  <m:t>|</m:t>
                              </m:r>
                              <m:r>
                                <m:rPr>
                                  <m:nor/>
                                </m:rPr>
                                <a:rPr lang="en-US" altLang="en-US" sz="18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en-US" sz="1800" baseline="-250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,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  <m:t>…,</m:t>
                              </m:r>
                              <m:r>
                                <m:rPr>
                                  <m:nor/>
                                </m:rPr>
                                <a:rPr lang="en-US" altLang="en-US" sz="18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en-US" sz="1800" baseline="-250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p</m:t>
                              </m:r>
                            </m:e>
                          </m:d>
                        </m:fName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=</m:t>
                          </m:r>
                        </m:e>
                      </m:func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   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en-US" sz="1800" baseline="-25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en-US" sz="1800" baseline="-25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</p:txBody>
          </p:sp>
        </mc:Choice>
        <mc:Fallback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46" y="1953376"/>
                <a:ext cx="7230782" cy="2914126"/>
              </a:xfrm>
              <a:prstGeom prst="rect">
                <a:avLst/>
              </a:prstGeom>
              <a:blipFill>
                <a:blip r:embed="rId4"/>
                <a:stretch>
                  <a:fillRect l="-2024" t="-2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29829" y="764969"/>
            <a:ext cx="6953250" cy="872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Data</a:t>
            </a:r>
            <a:r>
              <a:rPr lang="en-US" altLang="en-US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{(x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11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,.., x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1p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),Y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1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},….,{(x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n1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,.., </a:t>
            </a:r>
            <a:r>
              <a:rPr lang="en-US" altLang="en-US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np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 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),</a:t>
            </a:r>
            <a:r>
              <a:rPr lang="en-US" altLang="en-US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n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} 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Helvetica Neue" charset="0"/>
              </a:rPr>
              <a:t>where 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Y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1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, .., </a:t>
            </a:r>
            <a:r>
              <a:rPr lang="en-US" altLang="en-US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n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Cambria Math" charset="0"/>
              </a:rPr>
              <a:t> 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response variable with </a:t>
            </a:r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a Poisson distribution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43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589388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Linear Regression versus Poisson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9"/>
              <p:cNvSpPr>
                <a:spLocks noChangeArrowheads="1"/>
              </p:cNvSpPr>
              <p:nvPr/>
            </p:nvSpPr>
            <p:spPr bwMode="auto">
              <a:xfrm>
                <a:off x="143219" y="863562"/>
                <a:ext cx="4697229" cy="41214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Standard Linear Regression with log-transformation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 </a:t>
                </a:r>
              </a:p>
              <a:p>
                <a:pPr marL="285750" indent="-28575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funcPr>
                          <m:fNam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log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⁡(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Y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)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p</m:t>
                                </m:r>
                              </m:e>
                            </m:d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=</m:t>
                            </m:r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p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charset="0"/>
                </a:endParaRPr>
              </a:p>
              <a:p>
                <a:pPr marL="285750" indent="-28575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log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⁡(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Y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)|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p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constant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Poisson Regression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</a:p>
              <a:p>
                <a:pPr marL="285750" indent="-28575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log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E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Y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p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)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=</m:t>
                            </m:r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p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charset="0"/>
                </a:endParaRPr>
              </a:p>
              <a:p>
                <a:pPr marL="285750" indent="-28575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Y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p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en-US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US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OR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</a:t>
                </a:r>
              </a:p>
              <a:p>
                <a:pPr marL="285750"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log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V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Y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p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)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=</m:t>
                            </m:r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p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endParaRPr lang="en-US" alt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 xmlns="">
          <p:sp>
            <p:nvSpPr>
              <p:cNvPr id="7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219" y="863562"/>
                <a:ext cx="4697229" cy="4121449"/>
              </a:xfrm>
              <a:prstGeom prst="rect">
                <a:avLst/>
              </a:prstGeom>
              <a:blipFill>
                <a:blip r:embed="rId4"/>
                <a:stretch>
                  <a:fillRect l="-1038" t="-8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587773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486400" y="1129355"/>
                <a:ext cx="3505200" cy="285270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Using Standard Linear Regression with log-transformation instead of Poisson Regression will result in violations of the assumption of constant variance.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Alternatively, Standard Linear Regression  could be use if the number of counts are large and with the variance stabilizing transformation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+3/8</m:t>
                        </m:r>
                      </m:e>
                    </m:rad>
                  </m:oMath>
                </a14:m>
                <a:r>
                  <a:rPr lang="en-US" alt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1129355"/>
                <a:ext cx="3505200" cy="2852704"/>
              </a:xfrm>
              <a:prstGeom prst="rect">
                <a:avLst/>
              </a:prstGeom>
              <a:blipFill>
                <a:blip r:embed="rId4"/>
                <a:stretch>
                  <a:fillRect l="-519" t="-425" r="-2076" b="-849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881A4E03-474E-493D-906F-8517EFA23FD5}"/>
              </a:ext>
            </a:extLst>
          </p:cNvPr>
          <p:cNvSpPr txBox="1">
            <a:spLocks/>
          </p:cNvSpPr>
          <p:nvPr/>
        </p:nvSpPr>
        <p:spPr>
          <a:xfrm>
            <a:off x="109736" y="115288"/>
            <a:ext cx="8562392" cy="58938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fr-FR" sz="3600">
                <a:latin typeface="Vitesse"/>
              </a:rPr>
              <a:t>Linear Regression versus Poisson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B31E0904-F579-42E9-B11B-41F0AF387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219" y="863562"/>
                <a:ext cx="4697229" cy="41214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Standard Linear Regression with log-transformation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 </a:t>
                </a:r>
              </a:p>
              <a:p>
                <a:pPr marL="285750" indent="-28575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funcPr>
                          <m:fNam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log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⁡(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Y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)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p</m:t>
                                </m:r>
                              </m:e>
                            </m:d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=</m:t>
                            </m:r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p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charset="0"/>
                </a:endParaRPr>
              </a:p>
              <a:p>
                <a:pPr marL="285750" indent="-28575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log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⁡(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Y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)|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p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constant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Poisson Regression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</a:p>
              <a:p>
                <a:pPr marL="285750" indent="-28575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log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E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Y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p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)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=</m:t>
                            </m:r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p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charset="0"/>
                </a:endParaRPr>
              </a:p>
              <a:p>
                <a:pPr marL="285750" indent="-28575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Y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p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en-US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US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OR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</a:t>
                </a:r>
              </a:p>
              <a:p>
                <a:pPr marL="285750"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log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V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Y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p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)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=</m:t>
                            </m:r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p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endParaRPr lang="en-US" alt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 xmlns=""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B31E0904-F579-42E9-B11B-41F0AF387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219" y="863562"/>
                <a:ext cx="4697229" cy="4121449"/>
              </a:xfrm>
              <a:prstGeom prst="rect">
                <a:avLst/>
              </a:prstGeom>
              <a:blipFill>
                <a:blip r:embed="rId5"/>
                <a:stretch>
                  <a:fillRect l="-1038" t="-8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2384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6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B8D62D-BE99-40AF-BF97-BFAE812B12CE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  <ds:schemaRef ds:uri="b057fda7-913b-4ab6-8820-932873bcd66c"/>
    <ds:schemaRef ds:uri="http://schemas.microsoft.com/office/infopath/2007/PartnerControls"/>
    <ds:schemaRef ds:uri="http://schemas.openxmlformats.org/package/2006/metadata/core-propertie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9940</TotalTime>
  <Words>540</Words>
  <Application>Microsoft Office PowerPoint</Application>
  <PresentationFormat>On-screen Show (16:9)</PresentationFormat>
  <Paragraphs>88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5" baseType="lpstr">
      <vt:lpstr>Arial</vt:lpstr>
      <vt:lpstr>Calibri</vt:lpstr>
      <vt:lpstr>Cambria Math</vt:lpstr>
      <vt:lpstr>Helvetica</vt:lpstr>
      <vt:lpstr>Helvetica Neue</vt:lpstr>
      <vt:lpstr>Symbol</vt:lpstr>
      <vt:lpstr>Times New Roman</vt:lpstr>
      <vt:lpstr>Vitesse</vt:lpstr>
      <vt:lpstr>Vitesse Bold</vt:lpstr>
      <vt:lpstr>Vitesse Book</vt:lpstr>
      <vt:lpstr>Vitesse Medium</vt:lpstr>
      <vt:lpstr>Wingdings</vt:lpstr>
      <vt:lpstr>6_Full Page Layout</vt:lpstr>
      <vt:lpstr>2_Half Page Slash</vt:lpstr>
      <vt:lpstr>Full Page Layout</vt:lpstr>
      <vt:lpstr>PowerPoint Presentation</vt:lpstr>
      <vt:lpstr>PowerPoint Presentation</vt:lpstr>
      <vt:lpstr>Other Distributions of the Response</vt:lpstr>
      <vt:lpstr>Standard Linear Regression</vt:lpstr>
      <vt:lpstr>Generalized Linear Model</vt:lpstr>
      <vt:lpstr>PowerPoint Presentation</vt:lpstr>
      <vt:lpstr>Poisson Regression</vt:lpstr>
      <vt:lpstr>Linear Regression versus Poisson Regression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538</cp:revision>
  <dcterms:modified xsi:type="dcterms:W3CDTF">2020-06-04T19:40:04Z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ArticulateGUID">
    <vt:lpwstr>C22E1A0E-F47F-4795-96BD-16B4213FA523</vt:lpwstr>
  </property>
  <property fmtid="{D5CDD505-2E9C-101B-9397-08002B2CF9AE}" pid="4" name="ArticulatePath">
    <vt:lpwstr>PoiRegConcept-L1 v042220</vt:lpwstr>
  </property>
</Properties>
</file>