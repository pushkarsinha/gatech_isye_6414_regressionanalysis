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4"/>
    <p:sldMasterId id="2147483712" r:id="rId5"/>
    <p:sldMasterId id="2147483713" r:id="rId6"/>
    <p:sldMasterId id="2147483720" r:id="rId7"/>
  </p:sldMasterIdLst>
  <p:notesMasterIdLst>
    <p:notesMasterId r:id="rId15"/>
  </p:notesMasterIdLst>
  <p:handoutMasterIdLst>
    <p:handoutMasterId r:id="rId16"/>
  </p:handoutMasterIdLst>
  <p:sldIdLst>
    <p:sldId id="434" r:id="rId8"/>
    <p:sldId id="535" r:id="rId9"/>
    <p:sldId id="452" r:id="rId10"/>
    <p:sldId id="453" r:id="rId11"/>
    <p:sldId id="454" r:id="rId12"/>
    <p:sldId id="455" r:id="rId13"/>
    <p:sldId id="537" r:id="rId14"/>
  </p:sldIdLst>
  <p:sldSz cx="9144000" cy="5143500" type="screen16x9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535"/>
            <p14:sldId id="452"/>
            <p14:sldId id="453"/>
            <p14:sldId id="454"/>
            <p14:sldId id="455"/>
            <p14:sldId id="5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60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72" userDrawn="1">
          <p15:clr>
            <a:srgbClr val="A4A3A4"/>
          </p15:clr>
        </p15:guide>
        <p15:guide id="8" orient="horz" pos="708" userDrawn="1">
          <p15:clr>
            <a:srgbClr val="A4A3A4"/>
          </p15:clr>
        </p15:guide>
        <p15:guide id="9" orient="horz" pos="31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993200"/>
    <a:srgbClr val="1F497D"/>
    <a:srgbClr val="FFFFF0"/>
    <a:srgbClr val="FFFFC8"/>
    <a:srgbClr val="FFFF82"/>
    <a:srgbClr val="8E4221"/>
    <a:srgbClr val="F8FFF1"/>
    <a:srgbClr val="000000"/>
    <a:srgbClr val="F7F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00" autoAdjust="0"/>
    <p:restoredTop sz="89880" autoAdjust="0"/>
  </p:normalViewPr>
  <p:slideViewPr>
    <p:cSldViewPr snapToGrid="0">
      <p:cViewPr varScale="1">
        <p:scale>
          <a:sx n="76" d="100"/>
          <a:sy n="76" d="100"/>
        </p:scale>
        <p:origin x="1224" y="44"/>
      </p:cViewPr>
      <p:guideLst>
        <p:guide orient="horz" pos="1620"/>
        <p:guide pos="2880"/>
        <p:guide pos="144"/>
        <p:guide pos="360"/>
        <p:guide pos="3456"/>
        <p:guide pos="5664"/>
        <p:guide orient="horz" pos="372"/>
        <p:guide orient="horz" pos="708"/>
        <p:guide orient="horz" pos="31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9160" y="36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3F7A93-C87A-E149-BF89-5D793380F1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23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47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93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12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9373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005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1326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45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1277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731764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114383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21571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6481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3669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661984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56708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4157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102034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487006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71828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25855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996246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14982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83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296774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307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2204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/>
              </a:rPr>
              <a:t>Regression Analysis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EB211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Serban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91368E2-32F9-4F21-B92C-45C4370EC66A}"/>
              </a:ext>
            </a:extLst>
          </p:cNvPr>
          <p:cNvSpPr txBox="1">
            <a:spLocks/>
          </p:cNvSpPr>
          <p:nvPr/>
        </p:nvSpPr>
        <p:spPr>
          <a:xfrm>
            <a:off x="123850" y="653721"/>
            <a:ext cx="5672951" cy="54223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/>
                <a:ea typeface="+mn-ea"/>
                <a:cs typeface="+mn-cs"/>
              </a:rPr>
              <a:t>Poisson Regression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Vitesse Medium"/>
              <a:ea typeface="+mn-ea"/>
              <a:cs typeface="+mn-cs"/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4811179-EAAD-4A6D-AA7A-0407E0CE39A8}"/>
              </a:ext>
            </a:extLst>
          </p:cNvPr>
          <p:cNvSpPr>
            <a:spLocks noGrp="1"/>
          </p:cNvSpPr>
          <p:nvPr/>
        </p:nvSpPr>
        <p:spPr>
          <a:xfrm>
            <a:off x="124868" y="4102100"/>
            <a:ext cx="3801456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Model Description and Estimation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606166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Poisson Regression Model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26514" y="763972"/>
            <a:ext cx="7364515" cy="872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Data: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1p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},….,{(x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n1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where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 ..,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are event count data per observation unit with a Poisson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209913" y="1680977"/>
                <a:ext cx="7230782" cy="2914126"/>
              </a:xfrm>
              <a:prstGeom prst="rect">
                <a:avLst/>
              </a:prstGeom>
            </p:spPr>
            <p:txBody>
              <a:bodyPr vert="horz" lIns="0" tIns="34290" rIns="0" bIns="34290" rtlCol="0">
                <a:no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Poisson Distribution: </a:t>
                </a:r>
                <a:r>
                  <a:rPr lang="en-US" sz="1800" dirty="0">
                    <a:solidFill>
                      <a:schemeClr val="tx1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Y ~ Poisson(</a:t>
                </a:r>
                <a:r>
                  <a:rPr lang="en-US" sz="1800" dirty="0"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  <a:r>
                  <a:rPr lang="en-US" sz="1800" dirty="0">
                    <a:solidFill>
                      <a:schemeClr val="tx1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):</a:t>
                </a:r>
                <a:r>
                  <a:rPr lang="en-US" sz="1800" dirty="0">
                    <a:solidFill>
                      <a:schemeClr val="tx1"/>
                    </a:solidFill>
                    <a:latin typeface="Helvetica Neue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P(Y=y) =</a:t>
                </a:r>
                <a:r>
                  <a:rPr lang="en-US" sz="1800" dirty="0">
                    <a:solidFill>
                      <a:schemeClr val="tx1"/>
                    </a:solidFill>
                    <a:latin typeface="Helvetica Neue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  <m:sSup>
                          <m:sSup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sz="1800" b="1" dirty="0">
                  <a:solidFill>
                    <a:schemeClr val="accent6">
                      <a:lumMod val="50000"/>
                    </a:schemeClr>
                  </a:solidFill>
                  <a:latin typeface="Helvetica Neue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accent6">
                        <a:lumMod val="50000"/>
                      </a:schemeClr>
                    </a:solidFill>
                    <a:latin typeface="Helvetica Neue"/>
                  </a:rPr>
                  <a:t>                                                               </a:t>
                </a:r>
                <a:r>
                  <a:rPr lang="en-US" sz="1800" dirty="0">
                    <a:solidFill>
                      <a:schemeClr val="tx1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E(Y) = V(Y) = </a:t>
                </a:r>
                <a:r>
                  <a:rPr lang="en-US" sz="1800" dirty="0"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  <a:endParaRPr lang="en-US" sz="1800" b="1" dirty="0">
                  <a:solidFill>
                    <a:schemeClr val="accent6">
                      <a:lumMod val="50000"/>
                    </a:schemeClr>
                  </a:solidFill>
                  <a:latin typeface="Helvetica Neue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Model:</a:t>
                </a:r>
                <a:r>
                  <a:rPr lang="en-US" sz="1800" dirty="0">
                    <a:latin typeface="Helvetica Neue"/>
                  </a:rPr>
                  <a:t>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Model the conditional expectation:</a:t>
                </a:r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</a:p>
              <a:p>
                <a:pPr marL="344488" indent="0">
                  <a:lnSpc>
                    <a:spcPct val="150000"/>
                  </a:lnSpc>
                  <a:buNone/>
                </a:pP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lang="en-US" altLang="en-US" sz="1800" baseline="-25000" dirty="0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sz="1800" b="1" dirty="0">
                    <a:latin typeface="Cambria Math" charset="0"/>
                    <a:ea typeface="Cambria Math" charset="0"/>
                    <a:cs typeface="Cambria Math" charset="0"/>
                  </a:rPr>
                  <a:t>|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18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="0" i="0" baseline="-25000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i</m:t>
                    </m:r>
                    <m:r>
                      <m:rPr>
                        <m:nor/>
                      </m:rPr>
                      <a:rPr lang="en-US" altLang="en-US" sz="1800" b="0" i="0" baseline="-25000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1, </m:t>
                    </m:r>
                    <m:r>
                      <a:rPr lang="en-US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…,</m:t>
                    </m:r>
                    <m:r>
                      <m:rPr>
                        <m:nor/>
                      </m:rPr>
                      <a:rPr lang="en-US" altLang="en-US" sz="18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a:rPr lang="en-US" altLang="en-US" sz="1800" b="0" i="1" baseline="-25000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𝑖𝑝</m:t>
                    </m:r>
                    <m:r>
                      <a:rPr lang="en-US" altLang="en-US" sz="1800" i="1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~Poisson(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)</a:t>
                </a:r>
                <a:r>
                  <a:rPr lang="en-US" sz="1800" dirty="0">
                    <a:solidFill>
                      <a:schemeClr val="tx1"/>
                    </a:solidFill>
                    <a:latin typeface="Helvetica Neue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with</a:t>
                </a:r>
              </a:p>
              <a:p>
                <a:pPr marL="344488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Y</m:t>
                              </m:r>
                              <m:r>
                                <a:rPr lang="en-US" sz="180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|</m:t>
                              </m:r>
                              <m:r>
                                <m:rPr>
                                  <m:nor/>
                                </m:rPr>
                                <a:rPr lang="en-US" altLang="en-US" sz="18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en-US" sz="1800" baseline="-250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, </m:t>
                              </m:r>
                              <m:r>
                                <a:rPr lang="en-US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…,</m:t>
                              </m:r>
                              <m:r>
                                <m:rPr>
                                  <m:nor/>
                                </m:rPr>
                                <a:rPr lang="en-US" altLang="en-US" sz="18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en-US" sz="1800" baseline="-250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p</m:t>
                              </m:r>
                            </m:e>
                          </m:d>
                        </m:fName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n-US" sz="1800" i="1">
                          <a:latin typeface="Cambria Math" panose="020405030504060302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en-US" sz="1800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en-US" sz="1800" baseline="-25000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sz="1800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en-US" sz="1800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en-US" sz="1800" baseline="-25000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sz="1800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sz="1800" dirty="0">
                  <a:latin typeface="Helvetica Neue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OR </a:t>
                </a:r>
                <a:endParaRPr lang="en-US" sz="1800" b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4488" indent="0">
                  <a:buNone/>
                </a:pPr>
                <a:r>
                  <a:rPr lang="en-US" sz="1800" dirty="0">
                    <a:latin typeface="Cambria Math" charset="0"/>
                    <a:ea typeface="Cambria Math" charset="0"/>
                    <a:cs typeface="Cambria Math" charset="0"/>
                  </a:rPr>
                  <a:t>log(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sz="1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 </m:t>
                            </m:r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E</m:t>
                                </m:r>
                                <m:r>
                                  <a:rPr lang="en-US" sz="1800" b="0" i="0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Y</m:t>
                                </m:r>
                                <m:r>
                                  <a:rPr lang="en-US" sz="1800" b="0" i="0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80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 </m:t>
                                </m:r>
                                <m:r>
                                  <a:rPr lang="en-US" sz="1800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p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fName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func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sz="1800" dirty="0">
                    <a:latin typeface="Cambria Math" charset="0"/>
                    <a:ea typeface="Cambria Math" charset="0"/>
                    <a:cs typeface="Cambria Math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p</m:t>
                    </m:r>
                  </m:oMath>
                </a14:m>
                <a:endParaRPr lang="en-US" sz="1800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13" y="1680977"/>
                <a:ext cx="7230782" cy="2914126"/>
              </a:xfrm>
              <a:prstGeom prst="rect">
                <a:avLst/>
              </a:prstGeom>
              <a:blipFill>
                <a:blip r:embed="rId4"/>
                <a:stretch>
                  <a:fillRect l="-1938" b="-16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9909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589388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Model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220777" y="893931"/>
                <a:ext cx="7995089" cy="4274735"/>
              </a:xfrm>
              <a:prstGeom prst="rect">
                <a:avLst/>
              </a:prstGeom>
            </p:spPr>
            <p:txBody>
              <a:bodyPr vert="horz" lIns="0" tIns="34290" rIns="0" bIns="34290" rtlCol="0">
                <a:norm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rate of event occurrence given predicting variable </a:t>
                </a:r>
                <a:r>
                  <a:rPr lang="en-US" sz="18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X = x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</a:p>
              <a:p>
                <a:pPr marL="344488" indent="0"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en-US" sz="18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x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m:rPr>
                            <m:nor/>
                          </m:rPr>
                          <a:rPr lang="en-US" altLang="en-US" sz="18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x</m:t>
                        </m:r>
                      </m:e>
                    </m:d>
                    <m:r>
                      <a:rPr lang="en-US" altLang="en-US" sz="1800" b="0" i="1" dirty="0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= </m:t>
                    </m:r>
                    <m:sSup>
                      <m:sSupPr>
                        <m:ctrlP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en-US" sz="18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en-US" sz="1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 </a:t>
                </a:r>
              </a:p>
              <a:p>
                <a:pPr marL="344488" indent="-344488">
                  <a:buClrTx/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log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func>
                              <m:func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en-US" sz="1800" dirty="0">
                                            <a:latin typeface="Helvetica" panose="020B0604020202020204" pitchFamily="34" charset="0"/>
                                            <a:ea typeface="Cambria Math" charset="0"/>
                                            <a:cs typeface="Helvetica" panose="020B0604020202020204" pitchFamily="34" charset="0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fName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func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x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 is the </a:t>
                </a:r>
                <a:r>
                  <a:rPr lang="en-US" sz="18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log rate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.</a:t>
                </a:r>
              </a:p>
              <a:p>
                <a:pPr marL="344488" indent="-344488">
                  <a:buClrTx/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With an increase with one unit in </a:t>
                </a:r>
                <a:r>
                  <a:rPr lang="en-US" sz="18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x (if quantitative):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+1)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=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</a:pPr>
                <a:endParaRPr lang="en-US" sz="8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4488" indent="-344488">
                  <a:buClrTx/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If x categorical: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=0)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=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endParaRPr lang="en-US" sz="18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0" indent="0" defTabSz="4572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None/>
                </a:pPr>
                <a:endParaRPr lang="en-US" sz="18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4488" indent="-344488" defTabSz="4572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Interpretation of the regression coefficients in terms of log ratio of the rate.</a:t>
                </a:r>
              </a:p>
              <a:p>
                <a:pPr marL="344488" indent="-344488" defTabSz="4572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4488" indent="-344488" defTabSz="4572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If other predicting variables are in the model, then we need to hold fixed all other predicting variables.</a:t>
                </a:r>
              </a:p>
            </p:txBody>
          </p:sp>
        </mc:Choice>
        <mc:Fallback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77" y="893931"/>
                <a:ext cx="7995089" cy="4274735"/>
              </a:xfrm>
              <a:prstGeom prst="rect">
                <a:avLst/>
              </a:prstGeom>
              <a:blipFill>
                <a:blip r:embed="rId4"/>
                <a:stretch>
                  <a:fillRect l="-1753" t="-1712" r="-1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95247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656500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Model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230077" y="899691"/>
                <a:ext cx="7958667" cy="3820720"/>
              </a:xfrm>
              <a:prstGeom prst="rect">
                <a:avLst/>
              </a:prstGeom>
            </p:spPr>
            <p:txBody>
              <a:bodyPr vert="horz" lIns="0" tIns="34290" rIns="0" bIns="34290" rtlCol="0">
                <a:norm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Model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log rate given predictor(s):</a:t>
                </a:r>
              </a:p>
              <a:p>
                <a:pPr marL="344488" indent="0">
                  <a:buNone/>
                </a:pP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log(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)</m:t>
                            </m:r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=</m:t>
                            </m:r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  <m: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Y</m:t>
                                </m:r>
                                <m: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p</m:t>
                                </m:r>
                              </m:e>
                            </m:d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fName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e>
                        </m:func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1</m:t>
                    </m: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p</m:t>
                    </m:r>
                    <m:r>
                      <a:rPr lang="en-US" altLang="en-US" sz="18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 </m:t>
                    </m:r>
                  </m:oMath>
                </a14:m>
                <a:endParaRPr lang="en-US" sz="1800" b="1" dirty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Parameters: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Approach: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Maximum Likelihood Estimation:</a:t>
                </a:r>
              </a:p>
              <a:p>
                <a:pPr marL="344488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/>
                        <m:e>
                          <m:r>
                            <m:rPr>
                              <m:nor/>
                            </m:rP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L</m:t>
                          </m:r>
                          <m:r>
                            <m:rPr>
                              <m:nor/>
                            </m:rP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)=</m:t>
                          </m:r>
                          <m:nary>
                            <m:naryPr>
                              <m:chr m:val="∏"/>
                              <m:limLoc m:val="subSup"/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8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sSubSup>
                                        <m:sSubSupPr>
                                          <m:ctrlPr>
                                            <a:rPr lang="en-US" sz="18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/>
                                      </m:sSubSup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!</m:t>
                                  </m:r>
                                </m:den>
                              </m:f>
                            </m:e>
                          </m:nary>
                        </m:e>
                      </m:func>
                    </m:oMath>
                  </m:oMathPara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344488" indent="0">
                  <a:buNone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lim>
                    </m:limLow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 = log(L(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)) =</a:t>
                </a:r>
              </a:p>
              <a:p>
                <a:pPr marL="344488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func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+…+</m:t>
                                </m:r>
                                <m:sSub>
                                  <m:sSub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+…+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p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                           </a:t>
                </a: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77" y="899691"/>
                <a:ext cx="7958667" cy="3820720"/>
              </a:xfrm>
              <a:prstGeom prst="rect">
                <a:avLst/>
              </a:prstGeom>
              <a:blipFill>
                <a:blip r:embed="rId4"/>
                <a:stretch>
                  <a:fillRect l="-1839" t="-1917" b="-4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554221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664889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Model Estimation (cont’d)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231354" y="895501"/>
                <a:ext cx="8760246" cy="4023360"/>
              </a:xfrm>
              <a:prstGeom prst="rect">
                <a:avLst/>
              </a:prstGeom>
            </p:spPr>
            <p:txBody>
              <a:bodyPr vert="horz" lIns="0" tIns="36576" rIns="0" bIns="34290" rtlCol="0">
                <a:no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Approach: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Maximum Likelihood Estimation</a:t>
                </a:r>
              </a:p>
              <a:p>
                <a:pPr marL="0" indent="0">
                  <a:buNone/>
                </a:pPr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4488" indent="-344488">
                  <a:lnSpc>
                    <a:spcPct val="100000"/>
                  </a:lnSpc>
                  <a:buClrTx/>
                  <a:buFont typeface="Arial" panose="020B0604020202020204" pitchFamily="34" charset="0"/>
                  <a:buChar char="•"/>
                </a:pPr>
                <a:endParaRPr lang="en-US" alt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44488" indent="-344488">
                  <a:lnSpc>
                    <a:spcPct val="100000"/>
                  </a:lnSpc>
                  <a:buClrTx/>
                  <a:buFont typeface="Arial" panose="020B0604020202020204" pitchFamily="34" charset="0"/>
                  <a:buChar char="•"/>
                </a:pPr>
                <a:endParaRPr lang="en-US" alt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44488" indent="-344488">
                  <a:lnSpc>
                    <a:spcPct val="10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Maximizing the (log-)likelihood function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in close form expression is not possible because the (log-)likelihood function is a non-linear function in the model parameters</a:t>
                </a:r>
              </a:p>
              <a:p>
                <a:pPr marL="344488" indent="-344488">
                  <a:lnSpc>
                    <a:spcPct val="10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Use numerical algorithm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Upshot: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estimated parameters and their standard errors are approximate estimates. Do not attempt to do it yourself! Use a statistical software to derive the estimated regression coefficients.                  </a:t>
                </a: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54" y="895501"/>
                <a:ext cx="8760246" cy="4023360"/>
              </a:xfrm>
              <a:prstGeom prst="rect">
                <a:avLst/>
              </a:prstGeom>
              <a:blipFill>
                <a:blip r:embed="rId4"/>
                <a:stretch>
                  <a:fillRect l="-1670" t="-1667" r="-557" b="-4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100152A-9712-4FBD-AF56-75D8E517562C}"/>
                  </a:ext>
                </a:extLst>
              </p:cNvPr>
              <p:cNvSpPr/>
              <p:nvPr/>
            </p:nvSpPr>
            <p:spPr>
              <a:xfrm>
                <a:off x="143836" y="1023282"/>
                <a:ext cx="8420100" cy="15446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4488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lim>
                      </m:limLow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,…,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) = 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log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,…,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)) =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344488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𝑖𝑝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altLang="en-US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panose="020B0604020202020204" pitchFamily="34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baseline="-2500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panose="020B0604020202020204" pitchFamily="34" charset="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panose="020B0604020202020204" pitchFamily="34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altLang="en-US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panose="020B0604020202020204" pitchFamily="34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baseline="-2500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panose="020B0604020202020204" pitchFamily="34" charset="0"/>
                                    </a:rPr>
                                    <m:t>p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panose="020B0604020202020204" pitchFamily="34" charset="0"/>
                                    </a:rPr>
                                    <m:t> 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100152A-9712-4FBD-AF56-75D8E51756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6" y="1023282"/>
                <a:ext cx="8420100" cy="15446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652486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B8D62D-BE99-40AF-BF97-BFAE812B12CE}">
  <ds:schemaRefs>
    <ds:schemaRef ds:uri="b057fda7-913b-4ab6-8820-932873bcd66c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9916</TotalTime>
  <Words>396</Words>
  <Application>Microsoft Office PowerPoint</Application>
  <PresentationFormat>On-screen Show (16:9)</PresentationFormat>
  <Paragraphs>53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22" baseType="lpstr">
      <vt:lpstr>Arial</vt:lpstr>
      <vt:lpstr>Calibri</vt:lpstr>
      <vt:lpstr>Cambria Math</vt:lpstr>
      <vt:lpstr>Helvetica</vt:lpstr>
      <vt:lpstr>Helvetica Neue</vt:lpstr>
      <vt:lpstr>Symbol</vt:lpstr>
      <vt:lpstr>Vitesse</vt:lpstr>
      <vt:lpstr>Vitesse Bold</vt:lpstr>
      <vt:lpstr>Vitesse Book</vt:lpstr>
      <vt:lpstr>Vitesse Medium</vt:lpstr>
      <vt:lpstr>Wingdings</vt:lpstr>
      <vt:lpstr>1_Half Page Slash</vt:lpstr>
      <vt:lpstr>2_Half Page Slash</vt:lpstr>
      <vt:lpstr>1_Full Page Layout</vt:lpstr>
      <vt:lpstr>Full Page Layout</vt:lpstr>
      <vt:lpstr>PowerPoint Presentation</vt:lpstr>
      <vt:lpstr>PowerPoint Presentation</vt:lpstr>
      <vt:lpstr>Poisson Regression Model</vt:lpstr>
      <vt:lpstr>Model Interpretation</vt:lpstr>
      <vt:lpstr>Model Estimation</vt:lpstr>
      <vt:lpstr>Model Estimation (cont’d)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534</cp:revision>
  <dcterms:modified xsi:type="dcterms:W3CDTF">2020-06-04T20:48:53Z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ArticulateGUID">
    <vt:lpwstr>354771A5-3350-4494-84B8-27253BA64ADB</vt:lpwstr>
  </property>
  <property fmtid="{D5CDD505-2E9C-101B-9397-08002B2CF9AE}" pid="4" name="ArticulatePath">
    <vt:lpwstr>PoiRegConcept-L3 v042220</vt:lpwstr>
  </property>
</Properties>
</file>