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</p:sldMasterIdLst>
  <p:notesMasterIdLst>
    <p:notesMasterId r:id="rId18"/>
  </p:notesMasterIdLst>
  <p:handoutMasterIdLst>
    <p:handoutMasterId r:id="rId19"/>
  </p:handoutMasterIdLst>
  <p:sldIdLst>
    <p:sldId id="434" r:id="rId7"/>
    <p:sldId id="535" r:id="rId8"/>
    <p:sldId id="511" r:id="rId9"/>
    <p:sldId id="512" r:id="rId10"/>
    <p:sldId id="514" r:id="rId11"/>
    <p:sldId id="545" r:id="rId12"/>
    <p:sldId id="546" r:id="rId13"/>
    <p:sldId id="547" r:id="rId14"/>
    <p:sldId id="543" r:id="rId15"/>
    <p:sldId id="518" r:id="rId16"/>
    <p:sldId id="537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511"/>
            <p14:sldId id="512"/>
            <p14:sldId id="514"/>
            <p14:sldId id="545"/>
            <p14:sldId id="546"/>
            <p14:sldId id="547"/>
            <p14:sldId id="543"/>
            <p14:sldId id="518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 autoAdjust="0"/>
    <p:restoredTop sz="89880" autoAdjust="0"/>
  </p:normalViewPr>
  <p:slideViewPr>
    <p:cSldViewPr snapToGrid="0">
      <p:cViewPr varScale="1">
        <p:scale>
          <a:sx n="106" d="100"/>
          <a:sy n="106" d="100"/>
        </p:scale>
        <p:origin x="1133" y="67"/>
      </p:cViewPr>
      <p:guideLst>
        <p:guide orient="horz" pos="1620"/>
        <p:guide pos="2880"/>
        <p:guide pos="144"/>
        <p:guide pos="360"/>
        <p:guide pos="3456"/>
        <p:guide pos="5664"/>
        <p:guide orient="horz" pos="372"/>
        <p:guide orient="horz" pos="708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442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936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3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83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45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45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84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292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932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61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32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202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3196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7205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8484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5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79874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04604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83706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0307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4205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067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=""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+mn-ea"/>
                <a:cs typeface="+mn-cs"/>
              </a:rPr>
              <a:t>Poisson Regression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534B590D-1636-4D94-8978-FDE8BFC313B7}"/>
              </a:ext>
            </a:extLst>
          </p:cNvPr>
          <p:cNvSpPr>
            <a:spLocks noGrp="1"/>
          </p:cNvSpPr>
          <p:nvPr/>
        </p:nvSpPr>
        <p:spPr>
          <a:xfrm>
            <a:off x="275870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Statistical Inference: Data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=""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43292" y="863927"/>
            <a:ext cx="789336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model and predict the number of awards earned by students at one high school for multiple high schools.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awards earned by students at a high school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year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type of program in which the student was enrolled, with three levels: 1 = "General", 2 = "Academic" and 3 ="Vocational"; and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score on the final exam in math.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47706" y="4468955"/>
            <a:ext cx="714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data example was acquired from the Institute for Digital Research and Education at University of California, Los Angeles.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06899"/>
            <a:ext cx="8562392" cy="656500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1: High School Awards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811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1DF85B61-029F-4B40-9E71-78D220F1A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96404"/>
              </p:ext>
            </p:extLst>
          </p:nvPr>
        </p:nvGraphicFramePr>
        <p:xfrm>
          <a:off x="156187" y="1416783"/>
          <a:ext cx="5413163" cy="1141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9642">
                  <a:extLst>
                    <a:ext uri="{9D8B030D-6E8A-4147-A177-3AD203B41FA5}">
                      <a16:colId xmlns="" xmlns:a16="http://schemas.microsoft.com/office/drawing/2014/main" val="3929680910"/>
                    </a:ext>
                  </a:extLst>
                </a:gridCol>
                <a:gridCol w="956045">
                  <a:extLst>
                    <a:ext uri="{9D8B030D-6E8A-4147-A177-3AD203B41FA5}">
                      <a16:colId xmlns="" xmlns:a16="http://schemas.microsoft.com/office/drawing/2014/main" val="2745154953"/>
                    </a:ext>
                  </a:extLst>
                </a:gridCol>
                <a:gridCol w="956045">
                  <a:extLst>
                    <a:ext uri="{9D8B030D-6E8A-4147-A177-3AD203B41FA5}">
                      <a16:colId xmlns="" xmlns:a16="http://schemas.microsoft.com/office/drawing/2014/main" val="2771480118"/>
                    </a:ext>
                  </a:extLst>
                </a:gridCol>
                <a:gridCol w="796704">
                  <a:extLst>
                    <a:ext uri="{9D8B030D-6E8A-4147-A177-3AD203B41FA5}">
                      <a16:colId xmlns="" xmlns:a16="http://schemas.microsoft.com/office/drawing/2014/main" val="1583881669"/>
                    </a:ext>
                  </a:extLst>
                </a:gridCol>
                <a:gridCol w="1274727">
                  <a:extLst>
                    <a:ext uri="{9D8B030D-6E8A-4147-A177-3AD203B41FA5}">
                      <a16:colId xmlns="" xmlns:a16="http://schemas.microsoft.com/office/drawing/2014/main" val="416146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79014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-5.24712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0.65845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-7.969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1.60e-15 ***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151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progAcademic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1.08386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0.35825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3.025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0.00248 **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228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progVocational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0.36981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0.44107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0.838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0.40179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9951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math   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0.07015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0.01060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6.619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3.63e-11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04024869"/>
                  </a:ext>
                </a:extLst>
              </a:tr>
            </a:tbl>
          </a:graphicData>
        </a:graphic>
      </p:graphicFrame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39409" y="904720"/>
            <a:ext cx="6211057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m1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num_awards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+ math, family="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 data=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summary(m1)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Null deviance: 287.67 on 199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189.45 on 196 degrees of freedom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fr-FR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1-pchisq((287.67-189.45),(199-196))</a:t>
            </a:r>
          </a:p>
          <a:p>
            <a:pPr>
              <a:defRPr/>
            </a:pPr>
            <a:r>
              <a:rPr lang="fr-FR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599" y="4063591"/>
                <a:ext cx="7254381" cy="83099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𝒎𝒂𝒕𝒉</m:t>
                        </m:r>
                      </m:sub>
                    </m:sSub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≈0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thus statistically significant</a:t>
                </a:r>
              </a:p>
              <a:p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 for overall regression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p-value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≈0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thus at least one predicting variables significantly explains the variability in the number of awards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9" y="4063591"/>
                <a:ext cx="7254381" cy="830997"/>
              </a:xfrm>
              <a:prstGeom prst="rect">
                <a:avLst/>
              </a:prstGeom>
              <a:blipFill>
                <a:blip r:embed="rId4"/>
                <a:stretch>
                  <a:fillRect l="-335" t="-1439" b="-7194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27256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1: Statistical Inference</a:t>
            </a:r>
            <a:endParaRPr lang="en-US" sz="3600" dirty="0">
              <a:latin typeface="Vitesse"/>
            </a:endParaRPr>
          </a:p>
        </p:txBody>
      </p:sp>
      <p:sp>
        <p:nvSpPr>
          <p:cNvPr id="6" name="Oval 5"/>
          <p:cNvSpPr/>
          <p:nvPr/>
        </p:nvSpPr>
        <p:spPr>
          <a:xfrm>
            <a:off x="2878921" y="4100829"/>
            <a:ext cx="1072294" cy="283241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37798" y="2242260"/>
            <a:ext cx="1173102" cy="291657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78921" y="4341435"/>
            <a:ext cx="1116754" cy="308406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7798" y="3497736"/>
            <a:ext cx="548488" cy="262078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 flipV="1">
            <a:off x="228599" y="3235658"/>
            <a:ext cx="2939351" cy="26207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1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30772" y="848326"/>
            <a:ext cx="7987996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explain factors that are associated to car insurance claims due to accidents or other events leading to car damage.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car insurance claims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policyholder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Holders: numbers of policyholders; and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Claims: numbers of claims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District of residence of policyholder (1 to 4): 4 is major cities.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Classification of cars with levels &lt;1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1–1.5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1.5–2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&gt;2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 group of the policyholder: &lt;25, 25–29, 30–35, &gt;35.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06898"/>
            <a:ext cx="8562392" cy="597777"/>
          </a:xfrm>
        </p:spPr>
        <p:txBody>
          <a:bodyPr/>
          <a:lstStyle/>
          <a:p>
            <a:pPr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Insurance Claims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205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3882" y="893757"/>
            <a:ext cx="5602577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(Claims ~ District + Group + Age + offset(log(Holders)), 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 = Insurance, family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Null deviance: 236.26 on 63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51.42 on 54 degrees of freedom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736525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Statistical Inference</a:t>
            </a:r>
            <a:endParaRPr lang="en-US" sz="3600" dirty="0">
              <a:latin typeface="Vitesse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56C60BFD-662C-4297-B5CD-0D19499B0258}"/>
              </a:ext>
            </a:extLst>
          </p:cNvPr>
          <p:cNvGraphicFramePr>
            <a:graphicFrameLocks noGrp="1"/>
          </p:cNvGraphicFramePr>
          <p:nvPr/>
        </p:nvGraphicFramePr>
        <p:xfrm>
          <a:off x="160660" y="1859370"/>
          <a:ext cx="5112551" cy="13696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0707">
                  <a:extLst>
                    <a:ext uri="{9D8B030D-6E8A-4147-A177-3AD203B41FA5}">
                      <a16:colId xmlns:a16="http://schemas.microsoft.com/office/drawing/2014/main" xmlns="" val="2723945544"/>
                    </a:ext>
                  </a:extLst>
                </a:gridCol>
                <a:gridCol w="1046756">
                  <a:extLst>
                    <a:ext uri="{9D8B030D-6E8A-4147-A177-3AD203B41FA5}">
                      <a16:colId xmlns:a16="http://schemas.microsoft.com/office/drawing/2014/main" xmlns="" val="4255814854"/>
                    </a:ext>
                  </a:extLst>
                </a:gridCol>
                <a:gridCol w="1053444">
                  <a:extLst>
                    <a:ext uri="{9D8B030D-6E8A-4147-A177-3AD203B41FA5}">
                      <a16:colId xmlns:a16="http://schemas.microsoft.com/office/drawing/2014/main" xmlns="" val="3515103140"/>
                    </a:ext>
                  </a:extLst>
                </a:gridCol>
                <a:gridCol w="827707">
                  <a:extLst>
                    <a:ext uri="{9D8B030D-6E8A-4147-A177-3AD203B41FA5}">
                      <a16:colId xmlns:a16="http://schemas.microsoft.com/office/drawing/2014/main" xmlns="" val="3845882457"/>
                    </a:ext>
                  </a:extLst>
                </a:gridCol>
                <a:gridCol w="1203937">
                  <a:extLst>
                    <a:ext uri="{9D8B030D-6E8A-4147-A177-3AD203B41FA5}">
                      <a16:colId xmlns:a16="http://schemas.microsoft.com/office/drawing/2014/main" xmlns="" val="2088497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77273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-1.810508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0.032972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-54.910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938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……….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4934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Age.L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-0.394432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0.049404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-7.984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1.42e-15 ***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800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Age.Q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-0.000355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0.048918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-0.007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0.994210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092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Age.C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-0.016737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0.048478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-0.345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0.729910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88956175"/>
                  </a:ext>
                </a:extLst>
              </a:tr>
            </a:tbl>
          </a:graphicData>
        </a:graphic>
      </p:graphicFrame>
      <p:sp>
        <p:nvSpPr>
          <p:cNvPr id="6" name="Arrow: Left 5">
            <a:extLst>
              <a:ext uri="{FF2B5EF4-FFF2-40B4-BE49-F238E27FC236}">
                <a16:creationId xmlns:a16="http://schemas.microsoft.com/office/drawing/2014/main" xmlns="" id="{CC261BA9-EF71-4CB6-8621-760E4BD4130D}"/>
              </a:ext>
            </a:extLst>
          </p:cNvPr>
          <p:cNvSpPr/>
          <p:nvPr/>
        </p:nvSpPr>
        <p:spPr>
          <a:xfrm>
            <a:off x="5158624" y="2610162"/>
            <a:ext cx="824459" cy="269824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FB7567F-A808-48ED-B06B-008FE8E358CF}"/>
              </a:ext>
            </a:extLst>
          </p:cNvPr>
          <p:cNvSpPr txBox="1"/>
          <p:nvPr/>
        </p:nvSpPr>
        <p:spPr>
          <a:xfrm>
            <a:off x="6265139" y="2494497"/>
            <a:ext cx="1754598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are these Age variables?</a:t>
            </a:r>
          </a:p>
        </p:txBody>
      </p:sp>
    </p:spTree>
    <p:extLst>
      <p:ext uri="{BB962C8B-B14F-4D97-AF65-F5344CB8AC3E}">
        <p14:creationId xmlns:p14="http://schemas.microsoft.com/office/powerpoint/2010/main" val="138094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52349" y="1268454"/>
            <a:ext cx="8280166" cy="3539158"/>
          </a:xfrm>
        </p:spPr>
        <p:txBody>
          <a:bodyPr/>
          <a:lstStyle/>
          <a:p>
            <a:r>
              <a:rPr lang="en-US" sz="1400" dirty="0"/>
              <a:t>library(MASS)</a:t>
            </a:r>
          </a:p>
          <a:p>
            <a:r>
              <a:rPr lang="en-US" sz="1400" dirty="0"/>
              <a:t>summary(Insurance)</a:t>
            </a:r>
          </a:p>
          <a:p>
            <a:endParaRPr lang="en-US" sz="1400" dirty="0"/>
          </a:p>
          <a:p>
            <a:r>
              <a:rPr lang="en-US" sz="1400" dirty="0"/>
              <a:t>Ins.dat = within(Insurance, {</a:t>
            </a:r>
          </a:p>
          <a:p>
            <a:r>
              <a:rPr lang="en-US" sz="1400" dirty="0"/>
              <a:t>  Age = factor(Age, </a:t>
            </a:r>
            <a:r>
              <a:rPr lang="en-US" sz="1400" dirty="0">
                <a:solidFill>
                  <a:srgbClr val="EEB211"/>
                </a:solidFill>
              </a:rPr>
              <a:t>ordered = F</a:t>
            </a:r>
            <a:r>
              <a:rPr lang="en-US" sz="1400" dirty="0"/>
              <a:t>)</a:t>
            </a:r>
          </a:p>
          <a:p>
            <a:r>
              <a:rPr lang="en-US" sz="1400" dirty="0"/>
              <a:t>  Group = factor(Group, </a:t>
            </a:r>
            <a:r>
              <a:rPr lang="en-US" sz="1400" dirty="0">
                <a:solidFill>
                  <a:srgbClr val="EEB211"/>
                </a:solidFill>
              </a:rPr>
              <a:t>ordered = F</a:t>
            </a:r>
            <a:r>
              <a:rPr lang="en-US" sz="1400" dirty="0"/>
              <a:t>)</a:t>
            </a:r>
          </a:p>
          <a:p>
            <a:r>
              <a:rPr lang="en-US" sz="1400" dirty="0"/>
              <a:t>  District = factor(District, </a:t>
            </a:r>
            <a:r>
              <a:rPr lang="en-US" sz="1400" dirty="0">
                <a:solidFill>
                  <a:srgbClr val="EEB211"/>
                </a:solidFill>
              </a:rPr>
              <a:t>ordered = F</a:t>
            </a:r>
            <a:r>
              <a:rPr lang="en-US" sz="1400" dirty="0"/>
              <a:t>)})</a:t>
            </a:r>
          </a:p>
          <a:p>
            <a:endParaRPr lang="en-US" sz="1400" dirty="0"/>
          </a:p>
          <a:p>
            <a:r>
              <a:rPr lang="en-US" sz="1400" dirty="0" err="1"/>
              <a:t>m.ins</a:t>
            </a:r>
            <a:r>
              <a:rPr lang="en-US" sz="1400" dirty="0"/>
              <a:t> = </a:t>
            </a:r>
            <a:r>
              <a:rPr lang="en-US" sz="1400" dirty="0" err="1"/>
              <a:t>glm</a:t>
            </a:r>
            <a:r>
              <a:rPr lang="en-US" sz="1400" dirty="0"/>
              <a:t>(Claims ~ District + Group + Age + offset(log(Holders)), data = Ins.dat, family = </a:t>
            </a:r>
            <a:r>
              <a:rPr lang="en-US" sz="1400" dirty="0" err="1"/>
              <a:t>poisson</a:t>
            </a:r>
            <a:r>
              <a:rPr lang="en-US" sz="1400" dirty="0"/>
              <a:t>)</a:t>
            </a:r>
          </a:p>
          <a:p>
            <a:r>
              <a:rPr lang="en-US" sz="1400" dirty="0"/>
              <a:t>summary(</a:t>
            </a:r>
            <a:r>
              <a:rPr lang="en-US" sz="1400" dirty="0" err="1"/>
              <a:t>m.ins</a:t>
            </a:r>
            <a:r>
              <a:rPr lang="en-US" sz="1400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Statistical Inference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1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3882" y="893757"/>
            <a:ext cx="560257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(Claims ~ District + Group + Age + offset(log(Holders)), 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 = Ins.dat, family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Null deviance: 236.26 on 63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51.42 on 54 degrees of freedom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736525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Statistical Inference</a:t>
            </a:r>
            <a:endParaRPr lang="en-US" sz="3600" dirty="0">
              <a:latin typeface="Vitesse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56C60BFD-662C-4297-B5CD-0D19499B025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60661" y="2075634"/>
          <a:ext cx="4966713" cy="21261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2732">
                  <a:extLst>
                    <a:ext uri="{9D8B030D-6E8A-4147-A177-3AD203B41FA5}">
                      <a16:colId xmlns:a16="http://schemas.microsoft.com/office/drawing/2014/main" xmlns="" val="2723945544"/>
                    </a:ext>
                  </a:extLst>
                </a:gridCol>
                <a:gridCol w="1016897">
                  <a:extLst>
                    <a:ext uri="{9D8B030D-6E8A-4147-A177-3AD203B41FA5}">
                      <a16:colId xmlns:a16="http://schemas.microsoft.com/office/drawing/2014/main" xmlns="" val="4255814854"/>
                    </a:ext>
                  </a:extLst>
                </a:gridCol>
                <a:gridCol w="1023394">
                  <a:extLst>
                    <a:ext uri="{9D8B030D-6E8A-4147-A177-3AD203B41FA5}">
                      <a16:colId xmlns:a16="http://schemas.microsoft.com/office/drawing/2014/main" xmlns="" val="3515103140"/>
                    </a:ext>
                  </a:extLst>
                </a:gridCol>
                <a:gridCol w="804096">
                  <a:extLst>
                    <a:ext uri="{9D8B030D-6E8A-4147-A177-3AD203B41FA5}">
                      <a16:colId xmlns:a16="http://schemas.microsoft.com/office/drawing/2014/main" xmlns="" val="3845882457"/>
                    </a:ext>
                  </a:extLst>
                </a:gridCol>
                <a:gridCol w="1169594">
                  <a:extLst>
                    <a:ext uri="{9D8B030D-6E8A-4147-A177-3AD203B41FA5}">
                      <a16:colId xmlns:a16="http://schemas.microsoft.com/office/drawing/2014/main" xmlns="" val="2088497372"/>
                    </a:ext>
                  </a:extLst>
                </a:gridCol>
              </a:tblGrid>
              <a:tr h="3543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77273645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-1.82174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0.07679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-23.724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9382006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……….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49345783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Age25-29     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-0.19101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0.08286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-2.305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0.021149  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8002816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Age30-35    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-0.34495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0.08137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-4.239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2.24e-05 ***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0920037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Age&gt;35    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-0.53667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0.06996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-7.672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Helvetica" panose="020B0604020202020204" pitchFamily="34" charset="0"/>
                        </a:rPr>
                        <a:t>1.70e-04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8895617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F4F8A8F2-8776-4B74-AE43-24A4473F1280}"/>
                  </a:ext>
                </a:extLst>
              </p:cNvPr>
              <p:cNvSpPr txBox="1"/>
              <p:nvPr/>
            </p:nvSpPr>
            <p:spPr>
              <a:xfrm>
                <a:off x="5211519" y="1903690"/>
                <a:ext cx="3097281" cy="2132122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600" b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</a:t>
                </a:r>
              </a:p>
              <a:p>
                <a:endParaRPr lang="en-US" altLang="en-US" sz="16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𝒂𝒈𝒆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𝟐𝟗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-0.191 or </a:t>
                </a:r>
                <a:r>
                  <a:rPr lang="en-US" altLang="en-US" sz="16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exp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𝒂𝒈𝒆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𝟐𝟗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= 0.826 </a:t>
                </a:r>
              </a:p>
              <a:p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𝒂𝒈𝒆</m:t>
                            </m:r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𝟐𝟓</m:t>
                            </m:r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𝟐𝟗</m:t>
                            </m:r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𝒂𝒈𝒆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𝟑𝟎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𝟑𝟓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𝒂𝒈𝒆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𝟑𝟓</m:t>
                        </m:r>
                      </m:sub>
                    </m:sSub>
                    <m:r>
                      <a:rPr lang="en-US" alt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p-value&lt;0.05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thus statistically significant.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4F8A8F2-8776-4B74-AE43-24A4473F1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9" y="1903690"/>
                <a:ext cx="3097281" cy="2132122"/>
              </a:xfrm>
              <a:prstGeom prst="rect">
                <a:avLst/>
              </a:prstGeom>
              <a:blipFill rotWithShape="0">
                <a:blip r:embed="rId4"/>
                <a:stretch>
                  <a:fillRect l="-978" t="-567" b="-2266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294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3882" y="893757"/>
            <a:ext cx="560257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(Claims ~ District + Group + Age + offset(log(Holders)), 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 = </a:t>
            </a:r>
            <a:r>
              <a:rPr lang="en-US" sz="1400" i="1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Ins.dat, 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family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test for overall regression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1-pchisq((236.26-51.42),(63-54)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736525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Statistical Inference (cont’d)</a:t>
            </a:r>
            <a:endParaRPr lang="en-US" sz="3600" dirty="0">
              <a:latin typeface="Vitess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563FF2F-5E70-4CF2-A5E1-78EB09065E00}"/>
              </a:ext>
            </a:extLst>
          </p:cNvPr>
          <p:cNvSpPr txBox="1"/>
          <p:nvPr/>
        </p:nvSpPr>
        <p:spPr>
          <a:xfrm>
            <a:off x="236160" y="2571946"/>
            <a:ext cx="4848447" cy="83099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 for overall regression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p-value ≈0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thus at least one predicting variables significantly explains the variability in the number of </a:t>
            </a:r>
            <a:r>
              <a:rPr lang="en-US" altLang="en-US" sz="1600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claims</a:t>
            </a:r>
            <a:endParaRPr lang="en-US" alt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28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9179" y="1977936"/>
            <a:ext cx="7789652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aod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wald.test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(b=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Sigma=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vcov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Terms=2:4)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Wald test: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----------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Chi-squared test: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X2 = 14.6, </a:t>
            </a:r>
            <a:r>
              <a:rPr lang="en-US" sz="14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df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3, P(&gt; X2) = 0.0022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012" y="878275"/>
            <a:ext cx="79065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Is the district of residence of policyholder a statistically significant variable given all other predicting variables in the model?</a:t>
            </a:r>
          </a:p>
          <a:p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 model: 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District + Group + Age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Reduced model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Group + Age</a:t>
            </a:r>
          </a:p>
        </p:txBody>
      </p:sp>
      <p:sp>
        <p:nvSpPr>
          <p:cNvPr id="8" name="Oval 7"/>
          <p:cNvSpPr/>
          <p:nvPr/>
        </p:nvSpPr>
        <p:spPr>
          <a:xfrm>
            <a:off x="3736622" y="2197916"/>
            <a:ext cx="1095437" cy="293614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071150" y="1434517"/>
            <a:ext cx="715706" cy="251670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5572" y="3816777"/>
            <a:ext cx="7322910" cy="58477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 for subsets of coefficients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p-value =0.002 </a:t>
            </a:r>
            <a:r>
              <a:rPr lang="en-US" altLang="en-US" sz="1600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reject the null hypothesis </a:t>
            </a:r>
            <a:r>
              <a:rPr lang="en-US" altLang="en-US" sz="1600" smtClean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and conclude </a:t>
            </a:r>
            <a:r>
              <a:rPr lang="en-US" altLang="en-US" sz="1600" dirty="0" smtClean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that </a:t>
            </a:r>
            <a:r>
              <a:rPr lang="en-US" altLang="en-US" sz="1600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the District variable does have significant explanatory power </a:t>
            </a:r>
            <a:endParaRPr lang="en-US" alt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6E86C87F-573A-4BF5-A515-CC3B8BEE6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736525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Statistical Inference (cont’d)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34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10574</TotalTime>
  <Words>765</Words>
  <Application>Microsoft Office PowerPoint</Application>
  <PresentationFormat>On-screen Show (16:9)</PresentationFormat>
  <Paragraphs>209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MS PGothic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Full Page Layout</vt:lpstr>
      <vt:lpstr>PowerPoint Presentation</vt:lpstr>
      <vt:lpstr>PowerPoint Presentation</vt:lpstr>
      <vt:lpstr>Data Example 1: High School Awards</vt:lpstr>
      <vt:lpstr>Data Example 1: Statistical Inference</vt:lpstr>
      <vt:lpstr>Data Example 2: Insurance Claims</vt:lpstr>
      <vt:lpstr>Data Example 2: Statistical Inference</vt:lpstr>
      <vt:lpstr>Data Example 2: Statistical Inference</vt:lpstr>
      <vt:lpstr>Data Example 2: Statistical Inference</vt:lpstr>
      <vt:lpstr>Data Example 2: Statistical Inference (cont’d)</vt:lpstr>
      <vt:lpstr>Data Example 2: Statistical Inference (cont’d)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543</cp:revision>
  <dcterms:modified xsi:type="dcterms:W3CDTF">2021-06-04T07:00:32Z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D72C3D62-488C-463D-B19E-F9044CC2D497</vt:lpwstr>
  </property>
  <property fmtid="{D5CDD505-2E9C-101B-9397-08002B2CF9AE}" pid="4" name="ArticulatePath">
    <vt:lpwstr>PoiRegConcept-L6 v042320</vt:lpwstr>
  </property>
</Properties>
</file>