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4"/>
    <p:sldMasterId id="2147483712" r:id="rId5"/>
    <p:sldMasterId id="2147483713" r:id="rId6"/>
  </p:sldMasterIdLst>
  <p:notesMasterIdLst>
    <p:notesMasterId r:id="rId18"/>
  </p:notesMasterIdLst>
  <p:handoutMasterIdLst>
    <p:handoutMasterId r:id="rId19"/>
  </p:handoutMasterIdLst>
  <p:sldIdLst>
    <p:sldId id="434" r:id="rId7"/>
    <p:sldId id="539" r:id="rId8"/>
    <p:sldId id="506" r:id="rId9"/>
    <p:sldId id="469" r:id="rId10"/>
    <p:sldId id="470" r:id="rId11"/>
    <p:sldId id="471" r:id="rId12"/>
    <p:sldId id="538" r:id="rId13"/>
    <p:sldId id="541" r:id="rId14"/>
    <p:sldId id="542" r:id="rId15"/>
    <p:sldId id="543" r:id="rId16"/>
    <p:sldId id="537" r:id="rId17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39"/>
            <p14:sldId id="506"/>
            <p14:sldId id="469"/>
            <p14:sldId id="470"/>
            <p14:sldId id="471"/>
            <p14:sldId id="538"/>
            <p14:sldId id="541"/>
            <p14:sldId id="542"/>
            <p14:sldId id="543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  <p15:guide id="10" pos="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993200"/>
    <a:srgbClr val="1F497D"/>
    <a:srgbClr val="FFFFF0"/>
    <a:srgbClr val="FFFFC8"/>
    <a:srgbClr val="FFFF82"/>
    <a:srgbClr val="8E4221"/>
    <a:srgbClr val="F8FFF1"/>
    <a:srgbClr val="000000"/>
    <a:srgbClr val="F7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E4B5A-E629-490A-B7E5-1AB9BF171E4D}" v="3" dt="2021-06-04T20:00:39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00" autoAdjust="0"/>
    <p:restoredTop sz="89880" autoAdjust="0"/>
  </p:normalViewPr>
  <p:slideViewPr>
    <p:cSldViewPr snapToGrid="0">
      <p:cViewPr varScale="1">
        <p:scale>
          <a:sx n="130" d="100"/>
          <a:sy n="130" d="100"/>
        </p:scale>
        <p:origin x="1440" y="120"/>
      </p:cViewPr>
      <p:guideLst>
        <p:guide orient="horz" pos="1620"/>
        <p:guide pos="2880"/>
        <p:guide pos="144"/>
        <p:guide pos="336"/>
        <p:guide pos="3456"/>
        <p:guide pos="5664"/>
        <p:guide orient="horz" pos="372"/>
        <p:guide orient="horz" pos="708"/>
        <p:guide orient="horz" pos="3108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9160" y="36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, Ramon S" userId="2fd46b25-7eaa-49e2-87fd-bd0e69daa70a" providerId="ADAL" clId="{588E4B5A-E629-490A-B7E5-1AB9BF171E4D}"/>
    <pc:docChg chg="addSld delSld modSld modSection">
      <pc:chgData name="Rodriguez, Ramon S" userId="2fd46b25-7eaa-49e2-87fd-bd0e69daa70a" providerId="ADAL" clId="{588E4B5A-E629-490A-B7E5-1AB9BF171E4D}" dt="2021-06-04T20:00:49.941" v="5" actId="2696"/>
      <pc:docMkLst>
        <pc:docMk/>
      </pc:docMkLst>
      <pc:sldChg chg="del">
        <pc:chgData name="Rodriguez, Ramon S" userId="2fd46b25-7eaa-49e2-87fd-bd0e69daa70a" providerId="ADAL" clId="{588E4B5A-E629-490A-B7E5-1AB9BF171E4D}" dt="2021-06-04T20:00:10.797" v="1" actId="2696"/>
        <pc:sldMkLst>
          <pc:docMk/>
          <pc:sldMk cId="2029014385" sldId="520"/>
        </pc:sldMkLst>
      </pc:sldChg>
      <pc:sldChg chg="del">
        <pc:chgData name="Rodriguez, Ramon S" userId="2fd46b25-7eaa-49e2-87fd-bd0e69daa70a" providerId="ADAL" clId="{588E4B5A-E629-490A-B7E5-1AB9BF171E4D}" dt="2021-06-04T20:00:49.941" v="5" actId="2696"/>
        <pc:sldMkLst>
          <pc:docMk/>
          <pc:sldMk cId="716464473" sldId="528"/>
        </pc:sldMkLst>
      </pc:sldChg>
      <pc:sldChg chg="del">
        <pc:chgData name="Rodriguez, Ramon S" userId="2fd46b25-7eaa-49e2-87fd-bd0e69daa70a" providerId="ADAL" clId="{588E4B5A-E629-490A-B7E5-1AB9BF171E4D}" dt="2021-06-04T20:00:29.828" v="3" actId="2696"/>
        <pc:sldMkLst>
          <pc:docMk/>
          <pc:sldMk cId="1592552493" sldId="540"/>
        </pc:sldMkLst>
      </pc:sldChg>
      <pc:sldChg chg="add">
        <pc:chgData name="Rodriguez, Ramon S" userId="2fd46b25-7eaa-49e2-87fd-bd0e69daa70a" providerId="ADAL" clId="{588E4B5A-E629-490A-B7E5-1AB9BF171E4D}" dt="2021-06-04T20:00:01.399" v="0"/>
        <pc:sldMkLst>
          <pc:docMk/>
          <pc:sldMk cId="2459886941" sldId="541"/>
        </pc:sldMkLst>
      </pc:sldChg>
      <pc:sldChg chg="add">
        <pc:chgData name="Rodriguez, Ramon S" userId="2fd46b25-7eaa-49e2-87fd-bd0e69daa70a" providerId="ADAL" clId="{588E4B5A-E629-490A-B7E5-1AB9BF171E4D}" dt="2021-06-04T20:00:20.826" v="2"/>
        <pc:sldMkLst>
          <pc:docMk/>
          <pc:sldMk cId="3283641389" sldId="542"/>
        </pc:sldMkLst>
      </pc:sldChg>
      <pc:sldChg chg="add">
        <pc:chgData name="Rodriguez, Ramon S" userId="2fd46b25-7eaa-49e2-87fd-bd0e69daa70a" providerId="ADAL" clId="{588E4B5A-E629-490A-B7E5-1AB9BF171E4D}" dt="2021-06-04T20:00:39.272" v="4"/>
        <pc:sldMkLst>
          <pc:docMk/>
          <pc:sldMk cId="334893419" sldId="5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35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71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3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44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37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0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067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01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736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4570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5635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415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0208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6787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4905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3408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4438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2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7" r:id="rId2"/>
    <p:sldLayoutId id="2147483708" r:id="rId3"/>
    <p:sldLayoutId id="2147483709" r:id="rId4"/>
    <p:sldLayoutId id="2147483710" r:id="rId5"/>
    <p:sldLayoutId id="2147483711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6236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784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/>
              </a:rPr>
              <a:t>Regression Analysis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EB211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Serban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91368E2-32F9-4F21-B92C-45C4370EC66A}"/>
              </a:ext>
            </a:extLst>
          </p:cNvPr>
          <p:cNvSpPr txBox="1">
            <a:spLocks/>
          </p:cNvSpPr>
          <p:nvPr/>
        </p:nvSpPr>
        <p:spPr>
          <a:xfrm>
            <a:off x="123850" y="653721"/>
            <a:ext cx="5672951" cy="54223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+mn-ea"/>
                <a:cs typeface="+mn-cs"/>
              </a:rPr>
              <a:t>Poisson Regression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+mn-ea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05ADBBD-DFE6-44FE-B9E3-569E52B0CABC}"/>
              </a:ext>
            </a:extLst>
          </p:cNvPr>
          <p:cNvSpPr>
            <a:spLocks noGrp="1"/>
          </p:cNvSpPr>
          <p:nvPr/>
        </p:nvSpPr>
        <p:spPr>
          <a:xfrm>
            <a:off x="133257" y="4102100"/>
            <a:ext cx="3801456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Statistical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25" y="106899"/>
            <a:ext cx="8562392" cy="57261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Model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13220" y="899768"/>
                <a:ext cx="8026400" cy="3820720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Model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log rate given predictor(s):</a:t>
                </a:r>
              </a:p>
              <a:p>
                <a:pPr marL="344488" indent="0">
                  <a:buNone/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)</m:t>
                            </m:r>
                            <m:r>
                              <a:rPr lang="en-US" sz="1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= </m:t>
                            </m:r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log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fName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</m:e>
                        </m:func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1800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p</m:t>
                    </m:r>
                    <m:r>
                      <a:rPr lang="en-US" altLang="en-US" sz="1800" i="1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 </m:t>
                    </m:r>
                  </m:oMath>
                </a14:m>
                <a:endParaRPr lang="en-US" sz="1800" b="1" dirty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EEB21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Approach: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Maximum Likelihood Estimation:</a:t>
                </a:r>
              </a:p>
              <a:p>
                <a:pPr marL="3444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8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 panose="020B0604020202020204" pitchFamily="34" charset="0"/>
                            </a:rPr>
                            <m:t>=</m:t>
                          </m:r>
                          <m:nary>
                            <m:naryPr>
                              <m:chr m:val="∏"/>
                              <m:limLoc m:val="subSup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sSubSup>
                                        <m:sSubSupPr>
                                          <m:ctrlPr>
                                            <a:rPr lang="en-US" sz="18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</m:sSubSup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func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li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lim>
                    </m:limLow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= log(L(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)) =</a:t>
                </a:r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func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+…+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alt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800" baseline="-250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                           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20" y="899768"/>
                <a:ext cx="8026400" cy="3820720"/>
              </a:xfrm>
              <a:prstGeom prst="rect">
                <a:avLst/>
              </a:prstGeom>
              <a:blipFill>
                <a:blip r:embed="rId4"/>
                <a:stretch>
                  <a:fillRect l="-1822" t="-1917" b="-4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3497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574724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221609" y="874601"/>
                <a:ext cx="7496175" cy="2145436"/>
              </a:xfrm>
              <a:prstGeom prst="rect">
                <a:avLst/>
              </a:prstGeom>
            </p:spPr>
            <p:txBody>
              <a:bodyPr vert="horz" lIns="0" tIns="34290" rIns="0" bIns="34290" rtlCol="0">
                <a:normAutofit/>
              </a:bodyPr>
              <a:lstStyle>
                <a:lvl1pPr marL="457200" indent="-45720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Wingdings" panose="05000000000000000000" pitchFamily="2" charset="2"/>
                  <a:buChar char="q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4572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−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26948" indent="-3429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Maximum Likelihood Estimators (MLEs)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Helvetica" panose="020B0604020202020204" pitchFamily="34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Statistical Properties of MLEs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 </a:t>
                </a:r>
              </a:p>
              <a:p>
                <a:pPr marL="344488" indent="-344488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Approximate Sampling Distribution: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acc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344488" indent="-344488">
                  <a:buClrTx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normal approximation relies on the assumption of </a:t>
                </a:r>
                <a:r>
                  <a:rPr lang="en-US" sz="1800" u="sng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large sample size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⇒ Statistical inference is not reliable for small sample data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09" y="874601"/>
                <a:ext cx="7496175" cy="2145436"/>
              </a:xfrm>
              <a:prstGeom prst="rect">
                <a:avLst/>
              </a:prstGeom>
              <a:blipFill>
                <a:blip r:embed="rId4"/>
                <a:stretch>
                  <a:fillRect l="-1870" t="-2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3255A51-FEE6-4478-B2FD-76AE852D8967}"/>
              </a:ext>
            </a:extLst>
          </p:cNvPr>
          <p:cNvGrpSpPr/>
          <p:nvPr/>
        </p:nvGrpSpPr>
        <p:grpSpPr>
          <a:xfrm>
            <a:off x="450390" y="2910768"/>
            <a:ext cx="5148872" cy="1263808"/>
            <a:chOff x="609781" y="3539943"/>
            <a:chExt cx="5148872" cy="1263808"/>
          </a:xfrm>
        </p:grpSpPr>
        <p:sp>
          <p:nvSpPr>
            <p:cNvPr id="4" name="Rectangle 15"/>
            <p:cNvSpPr>
              <a:spLocks noChangeArrowheads="1"/>
            </p:cNvSpPr>
            <p:nvPr/>
          </p:nvSpPr>
          <p:spPr bwMode="auto">
            <a:xfrm>
              <a:off x="609781" y="3539943"/>
              <a:ext cx="1823492" cy="1177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685800"/>
              <a:endParaRPr lang="en-US" altLang="en-US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r" defTabSz="685800"/>
              <a:r>
                <a:rPr lang="en-US" altLang="en-US" dirty="0">
                  <a:latin typeface="Helvetica" panose="020B0604020202020204" pitchFamily="34" charset="0"/>
                  <a:ea typeface="Cambria Math" charset="0"/>
                  <a:cs typeface="Helvetica" panose="020B0604020202020204" pitchFamily="34" charset="0"/>
                </a:rPr>
                <a:t>1-α </a:t>
              </a:r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Approximate</a:t>
              </a:r>
            </a:p>
            <a:p>
              <a:pPr algn="r" defTabSz="685800"/>
              <a:r>
                <a: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Confidence interval</a:t>
              </a:r>
            </a:p>
          </p:txBody>
        </p:sp>
        <p:sp>
          <p:nvSpPr>
            <p:cNvPr id="5" name="右大括号 2"/>
            <p:cNvSpPr/>
            <p:nvPr/>
          </p:nvSpPr>
          <p:spPr>
            <a:xfrm flipH="1">
              <a:off x="2433273" y="3787824"/>
              <a:ext cx="234426" cy="966188"/>
            </a:xfrm>
            <a:prstGeom prst="rightBrac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3"/>
                <p:cNvSpPr txBox="1"/>
                <p:nvPr/>
              </p:nvSpPr>
              <p:spPr>
                <a:xfrm>
                  <a:off x="2434060" y="3837563"/>
                  <a:ext cx="3324593" cy="9661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2000" kern="100" dirty="0">
                      <a:latin typeface="Cambria Math" panose="02040503050406030204" pitchFamily="18" charset="0"/>
                      <a:ea typeface="KishoreFont Medium" charset="0"/>
                      <a:cs typeface="KishoreFont Medium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 </m:t>
                      </m:r>
                      <m:r>
                        <a:rPr lang="zh-CN" altLang="en-US" sz="2000" b="0" i="0" kern="100" smtClean="0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  </m:t>
                      </m:r>
                      <m:acc>
                        <m:accPr>
                          <m:chr m:val="̂"/>
                          <m:ctrlPr>
                            <a:rPr lang="en-US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i="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i="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sz="20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zh-CN" altLang="en-US" sz="2000" b="0" i="0" kern="100" smtClean="0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000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zh-CN" altLang="en-US" sz="2000" b="0" i="0" kern="100" smtClean="0">
                          <a:latin typeface="Cambria Math" panose="02040503050406030204" pitchFamily="18" charset="0"/>
                          <a:ea typeface="KishoreFont Medium" charset="0"/>
                          <a:cs typeface="KishoreFont Medium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0" i="0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z</m:t>
                          </m:r>
                        </m:e>
                        <m:sub>
                          <m:f>
                            <m:fPr>
                              <m:ctrlPr>
                                <a:rPr lang="en-US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2000" i="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α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2000" i="0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sz="2000" i="0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 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sz="2000" b="0" i="0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en-US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 i="0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charset="0"/>
                                        </a:rPr>
                                        <m:t>β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000" i="0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a14:m>
                  <a:endParaRPr lang="en-US" sz="20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8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060" y="3837563"/>
                  <a:ext cx="3324593" cy="9661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46822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14" y="106898"/>
            <a:ext cx="8562392" cy="69950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Vitesse"/>
              </a:rPr>
              <a:t>Statistical Inference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45595" y="856737"/>
                <a:ext cx="7798779" cy="3835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Hypothesis testing and Confidence Intervals rely on the approximately normal distribution of large sample sizes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Use the z-test (Wald test)</a:t>
                </a:r>
              </a:p>
              <a:p>
                <a:pPr marL="628650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is for the statistical significance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u="sng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given all other predicting variables in the model</a:t>
                </a:r>
              </a:p>
              <a:p>
                <a:pPr marL="628650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Null hypothesis is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not significant</a:t>
                </a:r>
              </a:p>
              <a:p>
                <a:pPr marL="628650" indent="-344488"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alt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vs</m:t>
                      </m:r>
                      <m:r>
                        <a:rPr lang="en-US" alt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28650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lang="en-US" sz="2000" kern="1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value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  <a:sym typeface="Math1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se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en-US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  <a:sym typeface="Math1" pitchFamily="2" charset="2"/>
                </a:endParaRPr>
              </a:p>
              <a:p>
                <a:pPr marL="628650" lvl="1" indent="-34448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en-US" kern="1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value</m:t>
                        </m:r>
                      </m:e>
                    </m:d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too large</a:t>
                </a:r>
              </a:p>
              <a:p>
                <a:pPr marL="914400" lvl="2" indent="-287338"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is statistically significant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  <a:sym typeface="Math1" pitchFamily="2" charset="2"/>
                </a:endParaRPr>
              </a:p>
            </p:txBody>
          </p:sp>
        </mc:Choice>
        <mc:Fallback xmlns="">
          <p:sp>
            <p:nvSpPr>
              <p:cNvPr id="10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595" y="856737"/>
                <a:ext cx="7798779" cy="3835152"/>
              </a:xfrm>
              <a:prstGeom prst="rect">
                <a:avLst/>
              </a:prstGeom>
              <a:blipFill>
                <a:blip r:embed="rId4"/>
                <a:stretch>
                  <a:fillRect l="-547" t="-9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850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0196" y="630593"/>
                <a:ext cx="5028333" cy="8558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kern="100" dirty="0">
                    <a:latin typeface="Cambria Math" charset="0"/>
                    <a:ea typeface="Cambria Math" charset="0"/>
                    <a:cs typeface="Cambria Math" charset="0"/>
                  </a:rPr>
                  <a:t>z-value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1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latin typeface="KishoreFont Medium" charset="0"/>
                                    <a:ea typeface="KishoreFont Medium" charset="0"/>
                                    <a:cs typeface="KishoreFont Medium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se</m:t>
                        </m:r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KishoreFont Medium" charset="0"/>
                                        <a:cs typeface="KishoreFont Medium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kern="100">
                                        <a:latin typeface="KishoreFont Medium" charset="0"/>
                                        <a:ea typeface="KishoreFont Medium" charset="0"/>
                                        <a:cs typeface="KishoreFont Medium" charset="0"/>
                                      </a:rPr>
                                      <m:t>β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i="0" kern="10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  </a:t>
                </a:r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how large to reject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H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0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b?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96" y="630593"/>
                <a:ext cx="5028333" cy="855812"/>
              </a:xfrm>
              <a:prstGeom prst="rect">
                <a:avLst/>
              </a:prstGeom>
              <a:blipFill>
                <a:blip r:embed="rId3"/>
                <a:stretch>
                  <a:fillRect l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26111" y="1553623"/>
                <a:ext cx="6857134" cy="558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significance level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100">
                        <a:latin typeface="Cambria Math" charset="0"/>
                        <a:ea typeface="Cambria Math" charset="0"/>
                        <a:cs typeface="Cambria Math" charset="0"/>
                      </a:rPr>
                      <m:t>α</m:t>
                    </m:r>
                  </m:oMath>
                </a14:m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, Reject if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z-value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Cambria Math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z</m:t>
                        </m:r>
                      </m:e>
                      <m:sub>
                        <m:f>
                          <m:f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i="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α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11" y="1553623"/>
                <a:ext cx="6857134" cy="558166"/>
              </a:xfrm>
              <a:prstGeom prst="rect">
                <a:avLst/>
              </a:prstGeom>
              <a:blipFill rotWithShape="0">
                <a:blip r:embed="rId4"/>
                <a:stretch>
                  <a:fillRect l="-800" t="-7692" b="-6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51278" y="2165948"/>
            <a:ext cx="6171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kern="1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Alternatively, compute </a:t>
            </a:r>
            <a:r>
              <a:rPr lang="en-US" kern="1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P-value = 2P(Z</a:t>
            </a:r>
            <a:r>
              <a:rPr lang="en-US" kern="1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kern="1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&gt;| z-value|)</a:t>
            </a: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3184847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1280" y="2710384"/>
                <a:ext cx="6551579" cy="993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if we want to test for positive relationship?</a:t>
                </a:r>
                <a:b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≤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b="1" kern="100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r>
                      <a:rPr lang="zh-CN" altLang="en-US" b="0" i="1" kern="100" smtClean="0"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 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&gt;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  <m:r>
                      <m:rPr>
                        <m:nor/>
                      </m:rPr>
                      <a:rPr lang="en-US" kern="1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?</m:t>
                    </m:r>
                  </m:oMath>
                </a14:m>
                <a:b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</a:b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P(Z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&gt;z-value)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80" y="2710384"/>
                <a:ext cx="6551579" cy="993862"/>
              </a:xfrm>
              <a:prstGeom prst="rect">
                <a:avLst/>
              </a:prstGeom>
              <a:blipFill>
                <a:blip r:embed="rId5"/>
                <a:stretch>
                  <a:fillRect l="-837" t="-3681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24216" y="3862572"/>
                <a:ext cx="6551579" cy="993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if we want to test for negative relationship?</a:t>
                </a:r>
                <a14:m>
                  <m:oMath xmlns:m="http://schemas.openxmlformats.org/officeDocument/2006/math">
                    <m:r>
                      <a:rPr lang="en-US" i="1" kern="10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</m:oMath>
                </a14:m>
                <a:br>
                  <a:rPr lang="en-US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≥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</m:oMath>
                </a14:m>
                <a:r>
                  <a:rPr lang="zh-CN" altLang="en-US" kern="100" dirty="0">
                    <a:solidFill>
                      <a:srgbClr val="993200"/>
                    </a:solidFill>
                    <a:latin typeface="Cambria Math" panose="02040503050406030204" pitchFamily="18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b="1" kern="100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&lt;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?</m:t>
                    </m:r>
                  </m:oMath>
                </a14:m>
                <a:b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</a:b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P(Z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&lt;z -value)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6" y="3862572"/>
                <a:ext cx="6551579" cy="993862"/>
              </a:xfrm>
              <a:prstGeom prst="rect">
                <a:avLst/>
              </a:prstGeom>
              <a:blipFill>
                <a:blip r:embed="rId6"/>
                <a:stretch>
                  <a:fillRect l="-744" t="-3681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3CC75B82-B2C1-444B-AA32-C632D882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14" y="106898"/>
            <a:ext cx="8562392" cy="69950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Vitesse"/>
              </a:rPr>
              <a:t>Statistical Inference (cont’d)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314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401053" y="3184847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3D0ED68-878A-4FDB-84A9-602AFD9D2418}"/>
              </a:ext>
            </a:extLst>
          </p:cNvPr>
          <p:cNvSpPr txBox="1">
            <a:spLocks/>
          </p:cNvSpPr>
          <p:nvPr/>
        </p:nvSpPr>
        <p:spPr>
          <a:xfrm>
            <a:off x="126514" y="106898"/>
            <a:ext cx="8562392" cy="6995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Statistical Inference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B8957A4-2234-43A2-829E-61E3E5B812F6}"/>
                  </a:ext>
                </a:extLst>
              </p:cNvPr>
              <p:cNvSpPr/>
              <p:nvPr/>
            </p:nvSpPr>
            <p:spPr>
              <a:xfrm>
                <a:off x="130196" y="630593"/>
                <a:ext cx="5028333" cy="8558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kern="100" dirty="0">
                    <a:latin typeface="Cambria Math" charset="0"/>
                    <a:ea typeface="Cambria Math" charset="0"/>
                    <a:cs typeface="Cambria Math" charset="0"/>
                  </a:rPr>
                  <a:t>z-value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kern="100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latin typeface="KishoreFont Medium" charset="0"/>
                                    <a:ea typeface="KishoreFont Medium" charset="0"/>
                                    <a:cs typeface="KishoreFont Medium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0" kern="10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acc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kern="10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se</m:t>
                        </m:r>
                        <m:d>
                          <m:d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KishoreFont Medium" charset="0"/>
                                        <a:cs typeface="KishoreFont Medium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i="0" kern="100">
                                        <a:latin typeface="KishoreFont Medium" charset="0"/>
                                        <a:ea typeface="KishoreFont Medium" charset="0"/>
                                        <a:cs typeface="KishoreFont Medium" charset="0"/>
                                      </a:rPr>
                                      <m:t>β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i="0" kern="100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US" kern="100" dirty="0">
                    <a:latin typeface="KishoreFont Medium" charset="0"/>
                    <a:ea typeface="KishoreFont Medium" charset="0"/>
                    <a:cs typeface="KishoreFont Medium" charset="0"/>
                  </a:rPr>
                  <a:t>  </a:t>
                </a:r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how large to reject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H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0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charset="0"/>
                  </a:rPr>
                  <a:t> = b?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B8957A4-2234-43A2-829E-61E3E5B81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96" y="630593"/>
                <a:ext cx="5028333" cy="855812"/>
              </a:xfrm>
              <a:prstGeom prst="rect">
                <a:avLst/>
              </a:prstGeom>
              <a:blipFill>
                <a:blip r:embed="rId3"/>
                <a:stretch>
                  <a:fillRect l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7F517F2-4133-4B1C-81C9-1CF11B4CDCFC}"/>
                  </a:ext>
                </a:extLst>
              </p:cNvPr>
              <p:cNvSpPr/>
              <p:nvPr/>
            </p:nvSpPr>
            <p:spPr>
              <a:xfrm>
                <a:off x="126111" y="1553623"/>
                <a:ext cx="6857134" cy="558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For significance level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100">
                        <a:latin typeface="Cambria Math" charset="0"/>
                        <a:ea typeface="Cambria Math" charset="0"/>
                        <a:cs typeface="Cambria Math" charset="0"/>
                      </a:rPr>
                      <m:t>α</m:t>
                    </m:r>
                  </m:oMath>
                </a14:m>
                <a:r>
                  <a:rPr lang="en-US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, Reject if</a:t>
                </a:r>
                <a:r>
                  <a:rPr lang="en-US" kern="1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z-value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Cambria Math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z</m:t>
                        </m:r>
                      </m:e>
                      <m:sub>
                        <m:f>
                          <m:f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i="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α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0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" panose="020B0604020202020204" pitchFamily="34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kern="1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7F517F2-4133-4B1C-81C9-1CF11B4CDC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11" y="1553623"/>
                <a:ext cx="6857134" cy="558166"/>
              </a:xfrm>
              <a:prstGeom prst="rect">
                <a:avLst/>
              </a:prstGeom>
              <a:blipFill>
                <a:blip r:embed="rId4"/>
                <a:stretch>
                  <a:fillRect l="-800" t="-7692" b="-6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193A0EC-A693-4BC3-A771-BBF02A81E040}"/>
              </a:ext>
            </a:extLst>
          </p:cNvPr>
          <p:cNvSpPr/>
          <p:nvPr/>
        </p:nvSpPr>
        <p:spPr>
          <a:xfrm>
            <a:off x="151278" y="2165948"/>
            <a:ext cx="6171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kern="1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Alternatively, compute </a:t>
            </a:r>
            <a:r>
              <a:rPr lang="en-US" kern="1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P-value = 2P(Z</a:t>
            </a:r>
            <a:r>
              <a:rPr lang="en-US" kern="100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 </a:t>
            </a:r>
            <a:r>
              <a:rPr lang="en-US" kern="100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&gt;| z-value|)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333FFB7-DA7D-4596-8F74-A920B33CB9B5}"/>
                  </a:ext>
                </a:extLst>
              </p:cNvPr>
              <p:cNvSpPr/>
              <p:nvPr/>
            </p:nvSpPr>
            <p:spPr>
              <a:xfrm>
                <a:off x="121280" y="2710384"/>
                <a:ext cx="6551579" cy="993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if we want to test for positive relationship?</a:t>
                </a:r>
                <a:b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≤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</m:oMath>
                </a14:m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b="1" kern="100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r>
                      <a:rPr lang="zh-CN" altLang="en-US" b="0" i="1" kern="100" smtClean="0">
                        <a:latin typeface="Cambria Math" panose="02040503050406030204" pitchFamily="18" charset="0"/>
                        <a:ea typeface="KishoreFont Medium" charset="0"/>
                        <a:cs typeface="KishoreFont Medium" charset="0"/>
                      </a:rPr>
                      <m:t> 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&gt;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  <m:r>
                      <m:rPr>
                        <m:nor/>
                      </m:rPr>
                      <a:rPr lang="en-US" kern="1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?</m:t>
                    </m:r>
                  </m:oMath>
                </a14:m>
                <a:b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</a:b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P(Z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&gt;z-value)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333FFB7-DA7D-4596-8F74-A920B33CB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80" y="2710384"/>
                <a:ext cx="6551579" cy="993862"/>
              </a:xfrm>
              <a:prstGeom prst="rect">
                <a:avLst/>
              </a:prstGeom>
              <a:blipFill>
                <a:blip r:embed="rId5"/>
                <a:stretch>
                  <a:fillRect l="-837" t="-3681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F08D6C4-800D-42B5-B170-765DB031B607}"/>
                  </a:ext>
                </a:extLst>
              </p:cNvPr>
              <p:cNvSpPr/>
              <p:nvPr/>
            </p:nvSpPr>
            <p:spPr>
              <a:xfrm>
                <a:off x="124216" y="3862572"/>
                <a:ext cx="6551579" cy="9938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i="1" kern="1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if we want to test for negative relationship?</a:t>
                </a:r>
                <a14:m>
                  <m:oMath xmlns:m="http://schemas.openxmlformats.org/officeDocument/2006/math">
                    <m:r>
                      <a:rPr lang="en-US" i="1" kern="100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 </m:t>
                    </m:r>
                  </m:oMath>
                </a14:m>
                <a:br>
                  <a:rPr lang="en-US" kern="100" dirty="0">
                    <a:latin typeface="Helvetica" panose="020B0604020202020204" pitchFamily="34" charset="0"/>
                    <a:ea typeface="Cambria Math" charset="0"/>
                    <a:cs typeface="Helvetica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a:rPr lang="en-US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≥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</m:oMath>
                </a14:m>
                <a:r>
                  <a:rPr lang="zh-CN" altLang="en-US" kern="100" dirty="0">
                    <a:solidFill>
                      <a:srgbClr val="993200"/>
                    </a:solidFill>
                    <a:latin typeface="Cambria Math" panose="02040503050406030204" pitchFamily="18" charset="0"/>
                    <a:ea typeface="KishoreFont Medium" charset="0"/>
                    <a:cs typeface="Helvetica" panose="020B0604020202020204" pitchFamily="34" charset="0"/>
                  </a:rPr>
                  <a:t> </a:t>
                </a:r>
                <a:r>
                  <a:rPr lang="en-US" b="1" kern="100" dirty="0">
                    <a:solidFill>
                      <a:srgbClr val="EEB2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versus</a:t>
                </a:r>
                <a:r>
                  <a:rPr lang="en-US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A</m:t>
                        </m:r>
                      </m:sub>
                    </m:sSub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:</m:t>
                    </m:r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b="0" i="0" kern="100" smtClean="0">
                            <a:latin typeface="Cambria Math" panose="02040503050406030204" pitchFamily="18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j</m:t>
                        </m:r>
                      </m:sub>
                    </m:sSub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KishoreFont Medium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&lt;</m:t>
                    </m:r>
                    <m:r>
                      <m:rPr>
                        <m:nor/>
                      </m:rPr>
                      <a:rPr lang="zh-CN" altLang="en-US" b="0" i="0" kern="100" smtClean="0">
                        <a:latin typeface="Cambria Math" panose="02040503050406030204" pitchFamily="18" charset="0"/>
                        <a:ea typeface="Cambria Math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0</m:t>
                    </m:r>
                    <m:r>
                      <m:rPr>
                        <m:nor/>
                      </m:rPr>
                      <a:rPr lang="en-US" i="0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?</m:t>
                    </m:r>
                  </m:oMath>
                </a14:m>
                <a:b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</a:b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P(Z</a:t>
                </a:r>
                <a:r>
                  <a:rPr lang="en-US" kern="1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&lt;z -value)</a:t>
                </a: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F08D6C4-800D-42B5-B170-765DB031B6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6" y="3862572"/>
                <a:ext cx="6551579" cy="993862"/>
              </a:xfrm>
              <a:prstGeom prst="rect">
                <a:avLst/>
              </a:prstGeom>
              <a:blipFill>
                <a:blip r:embed="rId6"/>
                <a:stretch>
                  <a:fillRect l="-744" t="-3681" b="-7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43B8E80D-42D7-48FF-BECE-5D0E85CA2684}"/>
              </a:ext>
            </a:extLst>
          </p:cNvPr>
          <p:cNvSpPr/>
          <p:nvPr/>
        </p:nvSpPr>
        <p:spPr>
          <a:xfrm>
            <a:off x="5486400" y="931003"/>
            <a:ext cx="3505200" cy="3293209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Because the approximation of the normal distribution relies on large sample size, so do the hypothesis testing procedures.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if 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is small?</a:t>
            </a:r>
          </a:p>
          <a:p>
            <a:pPr marL="62865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hypothesis testing procedure will have a probability of type I error larger than the significance level.</a:t>
            </a:r>
          </a:p>
          <a:p>
            <a:pPr marL="628650" indent="-3429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 other words, there will likely be more type I errors than expected.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6956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92" y="106898"/>
            <a:ext cx="8562392" cy="66488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Testing for Subsets of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8397" y="892073"/>
                <a:ext cx="7501268" cy="3963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</a:t>
                </a:r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full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</a:t>
                </a:r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Statistics</a:t>
                </a:r>
              </a:p>
              <a:p>
                <a:pPr marL="628650" lvl="1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))−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28650" lvl="1" indent="-34448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7" y="892073"/>
                <a:ext cx="7501268" cy="3963649"/>
              </a:xfrm>
              <a:prstGeom prst="rect">
                <a:avLst/>
              </a:prstGeom>
              <a:blipFill>
                <a:blip r:embed="rId3"/>
                <a:stretch>
                  <a:fillRect l="-488" t="-461" b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988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92" y="106898"/>
            <a:ext cx="8562392" cy="66488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Testing for Subsets of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8397" y="892073"/>
                <a:ext cx="7361158" cy="39636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q</a:t>
                </a:r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full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</a:t>
                </a:r>
                <a:endParaRPr lang="en-US" alt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Statistics</a:t>
                </a:r>
              </a:p>
              <a:p>
                <a:pPr marL="628650" lvl="1" indent="-344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))−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28650" lvl="1" indent="-34448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7" y="892073"/>
                <a:ext cx="7361158" cy="3963649"/>
              </a:xfrm>
              <a:prstGeom prst="rect">
                <a:avLst/>
              </a:prstGeom>
              <a:blipFill>
                <a:blip r:embed="rId3"/>
                <a:stretch>
                  <a:fillRect l="-497" t="-461" b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FA418C2-A0CE-419E-90C6-7FDFF08026A7}"/>
              </a:ext>
            </a:extLst>
          </p:cNvPr>
          <p:cNvSpPr/>
          <p:nvPr/>
        </p:nvSpPr>
        <p:spPr>
          <a:xfrm>
            <a:off x="5715000" y="892073"/>
            <a:ext cx="3152972" cy="1815882"/>
          </a:xfrm>
          <a:prstGeom prst="rect">
            <a:avLst/>
          </a:prstGeom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hypothesis test for subsets of coefficients is approximate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This is not a test for goodness of fit!</a:t>
            </a:r>
          </a:p>
          <a:p>
            <a:pPr marL="569913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It only compares two models</a:t>
            </a:r>
          </a:p>
        </p:txBody>
      </p:sp>
    </p:spTree>
    <p:extLst>
      <p:ext uri="{BB962C8B-B14F-4D97-AF65-F5344CB8AC3E}">
        <p14:creationId xmlns:p14="http://schemas.microsoft.com/office/powerpoint/2010/main" val="328364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92" y="115287"/>
            <a:ext cx="8562392" cy="631333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Testing for Overall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1620" y="896617"/>
                <a:ext cx="8589459" cy="3920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Full model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Reduced model:</a:t>
                </a:r>
              </a:p>
              <a:p>
                <a:pPr marL="2857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" panose="020B0604020202020204" pitchFamily="34" charset="0"/>
                        </a:rPr>
                        <m:t>Log</m:t>
                      </m:r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Helvetica"/>
                            </a:rPr>
                            <m:t>p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Helvetic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hypothesis test: 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=⋯=</m:t>
                      </m:r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>
                  <a:lnSpc>
                    <a:spcPts val="1800"/>
                  </a:lnSpc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vs</a:t>
                </a:r>
                <a:r>
                  <a:rPr 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</a:p>
              <a:p>
                <a:pPr marL="285750">
                  <a:lnSpc>
                    <a:spcPts val="18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𝐟𝐨𝐫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𝐚𝐭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𝐥𝐞𝐚𝐬𝐭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𝐨𝐧𝐞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𝐢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:r>
                  <a:rPr lang="en-US" sz="16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reduced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Maximize the likelihood function under full model: 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,…,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 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Statistics</a:t>
                </a:r>
              </a:p>
              <a:p>
                <a:pPr marL="687388" lvl="1" indent="-40163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))−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log</m:t>
                        </m:r>
                        <m: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charset="0"/>
                              </a:rPr>
                              <m:t>𝑝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panose="020B0604020202020204" pitchFamily="34" charset="0"/>
                </a:endParaRPr>
              </a:p>
              <a:p>
                <a:pPr marL="687388" lvl="1" indent="-401638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P-value = </a:t>
                </a:r>
                <a:r>
                  <a:rPr lang="en-US" altLang="en-US" sz="16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Pr</a:t>
                </a:r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en-US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&gt;</m:t>
                    </m:r>
                  </m:oMath>
                </a14:m>
                <a:r>
                  <a:rPr lang="en-US" alt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Deviance</m:t>
                    </m:r>
                  </m:oMath>
                </a14:m>
                <a:r>
                  <a:rPr lang="en-US" alt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0" y="896617"/>
                <a:ext cx="8589459" cy="3920047"/>
              </a:xfrm>
              <a:prstGeom prst="rect">
                <a:avLst/>
              </a:prstGeom>
              <a:blipFill>
                <a:blip r:embed="rId3"/>
                <a:stretch>
                  <a:fillRect l="-426" t="-467" b="-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9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B8D62D-BE99-40AF-BF97-BFAE812B12CE}">
  <ds:schemaRefs>
    <ds:schemaRef ds:uri="b057fda7-913b-4ab6-8820-932873bcd66c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13229</TotalTime>
  <Words>889</Words>
  <Application>Microsoft Office PowerPoint</Application>
  <PresentationFormat>On-screen Show (16:9)</PresentationFormat>
  <Paragraphs>107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Cambria Math</vt:lpstr>
      <vt:lpstr>Helvetica</vt:lpstr>
      <vt:lpstr>KishoreFont Medium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Full Page Layout</vt:lpstr>
      <vt:lpstr>PowerPoint Presentation</vt:lpstr>
      <vt:lpstr>PowerPoint Presentation</vt:lpstr>
      <vt:lpstr>Model Estimation</vt:lpstr>
      <vt:lpstr>Statistical Inference</vt:lpstr>
      <vt:lpstr>Statistical Inference (cont’d)</vt:lpstr>
      <vt:lpstr>Statistical Inference (cont’d)</vt:lpstr>
      <vt:lpstr>PowerPoint Presentation</vt:lpstr>
      <vt:lpstr>Testing for Subsets of Coefficients</vt:lpstr>
      <vt:lpstr>Testing for Subsets of Coefficients</vt:lpstr>
      <vt:lpstr>Testing for Overall Regression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538</cp:revision>
  <dcterms:modified xsi:type="dcterms:W3CDTF">2021-06-04T20:00:56Z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C151AA89-B5DB-46A9-B438-940457B757DF</vt:lpwstr>
  </property>
  <property fmtid="{D5CDD505-2E9C-101B-9397-08002B2CF9AE}" pid="4" name="ArticulatePath">
    <vt:lpwstr>PoiRegConcept-L5 v042320</vt:lpwstr>
  </property>
</Properties>
</file>