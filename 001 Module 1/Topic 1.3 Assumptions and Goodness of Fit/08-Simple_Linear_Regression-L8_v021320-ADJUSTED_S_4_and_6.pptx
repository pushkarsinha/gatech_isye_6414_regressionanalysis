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  <p:sldMasterId id="2147483705" r:id="rId5"/>
    <p:sldMasterId id="2147483699" r:id="rId6"/>
  </p:sldMasterIdLst>
  <p:notesMasterIdLst>
    <p:notesMasterId r:id="rId19"/>
  </p:notesMasterIdLst>
  <p:handoutMasterIdLst>
    <p:handoutMasterId r:id="rId20"/>
  </p:handoutMasterIdLst>
  <p:sldIdLst>
    <p:sldId id="428" r:id="rId7"/>
    <p:sldId id="429" r:id="rId8"/>
    <p:sldId id="320" r:id="rId9"/>
    <p:sldId id="321" r:id="rId10"/>
    <p:sldId id="322" r:id="rId11"/>
    <p:sldId id="323" r:id="rId12"/>
    <p:sldId id="435" r:id="rId13"/>
    <p:sldId id="325" r:id="rId14"/>
    <p:sldId id="327" r:id="rId15"/>
    <p:sldId id="328" r:id="rId16"/>
    <p:sldId id="441" r:id="rId17"/>
    <p:sldId id="439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28"/>
            <p14:sldId id="429"/>
            <p14:sldId id="320"/>
            <p14:sldId id="321"/>
            <p14:sldId id="322"/>
            <p14:sldId id="323"/>
            <p14:sldId id="435"/>
            <p14:sldId id="325"/>
            <p14:sldId id="327"/>
            <p14:sldId id="328"/>
            <p14:sldId id="441"/>
            <p14:sldId id="4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56" userDrawn="1">
          <p15:clr>
            <a:srgbClr val="A4A3A4"/>
          </p15:clr>
        </p15:guide>
        <p15:guide id="3" pos="168" userDrawn="1">
          <p15:clr>
            <a:srgbClr val="A4A3A4"/>
          </p15:clr>
        </p15:guide>
        <p15:guide id="4" orient="horz" pos="444" userDrawn="1">
          <p15:clr>
            <a:srgbClr val="A4A3A4"/>
          </p15:clr>
        </p15:guide>
        <p15:guide id="5" orient="horz" pos="804" userDrawn="1">
          <p15:clr>
            <a:srgbClr val="A4A3A4"/>
          </p15:clr>
        </p15:guide>
        <p15:guide id="6" pos="3480" userDrawn="1">
          <p15:clr>
            <a:srgbClr val="A4A3A4"/>
          </p15:clr>
        </p15:guide>
        <p15:guide id="7" pos="432" userDrawn="1">
          <p15:clr>
            <a:srgbClr val="A4A3A4"/>
          </p15:clr>
        </p15:guide>
        <p15:guide id="8" pos="2568" userDrawn="1">
          <p15:clr>
            <a:srgbClr val="A4A3A4"/>
          </p15:clr>
        </p15:guide>
        <p15:guide id="9" orient="horz" pos="14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Rodriguez, Ramon S" initials="RRS" lastIdx="1" clrIdx="6">
    <p:extLst>
      <p:ext uri="{19B8F6BF-5375-455C-9EA6-DF929625EA0E}">
        <p15:presenceInfo xmlns:p15="http://schemas.microsoft.com/office/powerpoint/2012/main" userId="S-1-5-21-1177238915-2111687655-1060284298-1451345" providerId="AD"/>
      </p:ext>
    </p:extLst>
  </p:cmAuthor>
  <p:cmAuthor id="1" name="Figueroa, Shabana" initials="FS" lastIdx="16" clrIdx="0"/>
  <p:cmAuthor id="8" name="Gao, Shuyu" initials="GS" lastIdx="1" clrIdx="7">
    <p:extLst>
      <p:ext uri="{19B8F6BF-5375-455C-9EA6-DF929625EA0E}">
        <p15:presenceInfo xmlns:p15="http://schemas.microsoft.com/office/powerpoint/2012/main" userId="S::sgao303@gatech.edu::745fdf33-32d9-42c7-8a89-b5a22794559e" providerId="AD"/>
      </p:ext>
    </p:extLst>
  </p:cmAuthor>
  <p:cmAuthor id="2" name="Figueroa, Shabana" initials="FS [2]" lastIdx="1" clrIdx="1"/>
  <p:cmAuthor id="3" name="Serban, Nicoleta" initials="SN" lastIdx="12" clrIdx="2"/>
  <p:cmAuthor id="4" name="Hu, Rui" initials="HR" lastIdx="1" clrIdx="3"/>
  <p:cmAuthor id="5" name="Hu, Rui" initials="HR [2]" lastIdx="1" clrIdx="4"/>
  <p:cmAuthor id="6" name="Richard Levine" initials="RL" lastIdx="2" clrIdx="5">
    <p:extLst>
      <p:ext uri="{19B8F6BF-5375-455C-9EA6-DF929625EA0E}">
        <p15:presenceInfo xmlns:p15="http://schemas.microsoft.com/office/powerpoint/2012/main" userId="Richard Levi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A70B"/>
    <a:srgbClr val="F8FFF1"/>
    <a:srgbClr val="000000"/>
    <a:srgbClr val="EEB211"/>
    <a:srgbClr val="9932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B5B872-F0BC-4F37-8E81-7AC886C8DE38}" v="4" dt="2020-01-30T17:20:14.7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3" autoAdjust="0"/>
    <p:restoredTop sz="85976"/>
  </p:normalViewPr>
  <p:slideViewPr>
    <p:cSldViewPr snapToGrid="0">
      <p:cViewPr varScale="1">
        <p:scale>
          <a:sx n="96" d="100"/>
          <a:sy n="96" d="100"/>
        </p:scale>
        <p:origin x="998" y="77"/>
      </p:cViewPr>
      <p:guideLst>
        <p:guide orient="horz" pos="1620"/>
        <p:guide pos="2856"/>
        <p:guide pos="168"/>
        <p:guide orient="horz" pos="444"/>
        <p:guide orient="horz" pos="804"/>
        <p:guide pos="3480"/>
        <p:guide pos="432"/>
        <p:guide pos="2568"/>
        <p:guide orient="horz" pos="14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47B5B872-F0BC-4F37-8E81-7AC886C8DE38}"/>
    <pc:docChg chg="modSld">
      <pc:chgData name="" userId="" providerId="" clId="Web-{47B5B872-F0BC-4F37-8E81-7AC886C8DE38}" dt="2020-01-30T17:20:14.792" v="2"/>
      <pc:docMkLst>
        <pc:docMk/>
      </pc:docMkLst>
      <pc:sldChg chg="addSp delSp modSp">
        <pc:chgData name="" userId="" providerId="" clId="Web-{47B5B872-F0BC-4F37-8E81-7AC886C8DE38}" dt="2020-01-30T17:20:14.792" v="2"/>
        <pc:sldMkLst>
          <pc:docMk/>
          <pc:sldMk cId="61677090" sldId="320"/>
        </pc:sldMkLst>
        <pc:picChg chg="add del mod">
          <ac:chgData name="" userId="" providerId="" clId="Web-{47B5B872-F0BC-4F37-8E81-7AC886C8DE38}" dt="2020-01-30T17:20:14.792" v="2"/>
          <ac:picMkLst>
            <pc:docMk/>
            <pc:sldMk cId="61677090" sldId="320"/>
            <ac:picMk id="2" creationId="{2C8979E8-618F-451B-94D1-6BAFB45D01DB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5/27/2020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5/27/2020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>
              <a:ea typeface="MS PGothic" charset="-128"/>
            </a:endParaRPr>
          </a:p>
        </p:txBody>
      </p:sp>
      <p:sp>
        <p:nvSpPr>
          <p:cNvPr id="768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BBD81127-E537-1742-AAAB-19B30DDB8352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7413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84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729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302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443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73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80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0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0626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8251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9290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7198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9752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688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4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6575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36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6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0.png"/><Relationship Id="rId5" Type="http://schemas.openxmlformats.org/officeDocument/2006/relationships/image" Target="../media/image12.png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228858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40369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Simple Linear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17956" y="4036532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Helvetica" panose="020B0604020202020204" pitchFamily="34" charset="0"/>
                <a:ea typeface="Vitesse" charset="0"/>
                <a:cs typeface="Helvetica" panose="020B0604020202020204" pitchFamily="34" charset="0"/>
              </a:rPr>
              <a:t>Regression Concepts: </a:t>
            </a:r>
          </a:p>
          <a:p>
            <a:r>
              <a:rPr lang="en-US" sz="2000" dirty="0">
                <a:latin typeface="Helvetica" panose="020B0604020202020204" pitchFamily="34" charset="0"/>
                <a:ea typeface="Vitesse" charset="0"/>
                <a:cs typeface="Helvetica" panose="020B0604020202020204" pitchFamily="34" charset="0"/>
              </a:rPr>
              <a:t>Assumptions and Diagnostics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333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3478" y="-135358"/>
            <a:ext cx="4727575" cy="1330325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49995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ChangeArrowheads="1"/>
          </p:cNvSpPr>
          <p:nvPr/>
        </p:nvSpPr>
        <p:spPr bwMode="auto">
          <a:xfrm>
            <a:off x="169631" y="201351"/>
            <a:ext cx="88047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Simple Linear Regression: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3"/>
              <p:cNvSpPr txBox="1">
                <a:spLocks noChangeArrowheads="1"/>
              </p:cNvSpPr>
              <p:nvPr/>
            </p:nvSpPr>
            <p:spPr bwMode="auto">
              <a:xfrm>
                <a:off x="135837" y="984176"/>
                <a:ext cx="5772150" cy="7386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18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Data</a:t>
                </a:r>
                <a:r>
                  <a:rPr lang="en-US" alt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</a:t>
                </a:r>
                <a:r>
                  <a:rPr lang="en-US" altLang="en-US" sz="21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sz="2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{(x</a:t>
                </a:r>
                <a:r>
                  <a:rPr lang="en-US" altLang="en-US" sz="21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sz="2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,y</a:t>
                </a:r>
                <a:r>
                  <a:rPr lang="en-US" altLang="en-US" sz="21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sz="2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),…,(</a:t>
                </a:r>
                <a:r>
                  <a:rPr lang="en-US" altLang="en-US" sz="21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x</a:t>
                </a:r>
                <a:r>
                  <a:rPr lang="en-US" altLang="en-US" sz="2100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n</a:t>
                </a:r>
                <a:r>
                  <a:rPr lang="en-US" altLang="en-US" sz="21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,y</a:t>
                </a:r>
                <a:r>
                  <a:rPr lang="en-US" altLang="en-US" sz="2100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n</a:t>
                </a:r>
                <a:r>
                  <a:rPr lang="en-US" altLang="en-US" sz="2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)} </a:t>
                </a:r>
              </a:p>
              <a:p>
                <a:pPr>
                  <a:defRPr/>
                </a:pPr>
                <a:r>
                  <a:rPr lang="en-US" altLang="en-US" sz="18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Model</a:t>
                </a:r>
                <a:r>
                  <a:rPr lang="en-US" alt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</a:t>
                </a:r>
                <a:r>
                  <a:rPr lang="en-US" altLang="en-US" sz="21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Y</a:t>
                </a:r>
                <a:r>
                  <a:rPr lang="en-US" alt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alt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0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alt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x</a:t>
                </a:r>
                <a:r>
                  <a:rPr lang="en-US" alt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sz="2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ε</m:t>
                    </m:r>
                  </m:oMath>
                </a14:m>
                <a:r>
                  <a:rPr lang="en-US" altLang="en-US" sz="2100" b="1" baseline="-250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sz="21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sz="2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 =1,…,n</a:t>
                </a:r>
                <a:endParaRPr lang="en-US" altLang="en-US" sz="21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837" y="984176"/>
                <a:ext cx="5772150" cy="738664"/>
              </a:xfrm>
              <a:prstGeom prst="rect">
                <a:avLst/>
              </a:prstGeom>
              <a:blipFill>
                <a:blip r:embed="rId3"/>
                <a:stretch>
                  <a:fillRect l="-845" t="-4918" b="-1639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9"/>
              <p:cNvSpPr>
                <a:spLocks noChangeArrowheads="1"/>
              </p:cNvSpPr>
              <p:nvPr/>
            </p:nvSpPr>
            <p:spPr bwMode="auto">
              <a:xfrm>
                <a:off x="175982" y="2037637"/>
                <a:ext cx="7710721" cy="2308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Assumptions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  </a:t>
                </a:r>
              </a:p>
              <a:p>
                <a:pPr marL="457200" indent="-457200"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Linearity/Mean Zero Assumption: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E(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altLang="en-US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 = 0</a:t>
                </a:r>
              </a:p>
              <a:p>
                <a:pPr marL="457200" indent="-457200" eaLnBrk="1" hangingPunct="1"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Constant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Variance 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altLang="en-US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Var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altLang="en-US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𝜎</m:t>
                    </m:r>
                  </m:oMath>
                </a14:m>
                <a:r>
                  <a:rPr lang="en-US" altLang="en-US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2</a:t>
                </a:r>
                <a:r>
                  <a:rPr lang="en-US" altLang="en-US" baseline="300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</a:p>
              <a:p>
                <a:pPr marL="457200" indent="-457200"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Independence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{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alt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,…,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altLang="en-US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n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}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independent random variables</a:t>
                </a:r>
              </a:p>
              <a:p>
                <a:pPr marL="457200" indent="-457200"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Later we assume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altLang="en-US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~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Normal)</a:t>
                </a:r>
              </a:p>
            </p:txBody>
          </p:sp>
        </mc:Choice>
        <mc:Fallback xmlns="">
          <p:sp>
            <p:nvSpPr>
              <p:cNvPr id="6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982" y="2037637"/>
                <a:ext cx="7710721" cy="2308324"/>
              </a:xfrm>
              <a:prstGeom prst="rect">
                <a:avLst/>
              </a:prstGeom>
              <a:blipFill>
                <a:blip r:embed="rId4"/>
                <a:stretch>
                  <a:fillRect l="-711" t="-1319" b="-316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7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ChangeArrowheads="1"/>
          </p:cNvSpPr>
          <p:nvPr/>
        </p:nvSpPr>
        <p:spPr bwMode="auto">
          <a:xfrm>
            <a:off x="169414" y="193575"/>
            <a:ext cx="58293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Residual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539" name="Text Box 3"/>
              <p:cNvSpPr txBox="1">
                <a:spLocks noChangeArrowheads="1"/>
              </p:cNvSpPr>
              <p:nvPr/>
            </p:nvSpPr>
            <p:spPr bwMode="auto">
              <a:xfrm>
                <a:off x="169414" y="737980"/>
                <a:ext cx="6984324" cy="25853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endParaRPr lang="en-US" dirty="0" smtClean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>
                  <a:defRPr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Residual Values:</a:t>
                </a:r>
              </a:p>
              <a:p>
                <a:pPr>
                  <a:defRPr/>
                </a:pP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     </a:t>
                </a:r>
              </a:p>
              <a:p>
                <a:pPr>
                  <a:defRPr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Graphical display: </a:t>
                </a:r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Plot of the residuals</a:t>
                </a:r>
                <a14:m>
                  <m:oMath xmlns:m="http://schemas.openxmlformats.org/officeDocument/2006/math">
                    <m:r>
                      <a:rPr lang="en-US" altLang="en-US" b="1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 </m:t>
                    </m:r>
                    <m:r>
                      <a:rPr lang="en-US" altLang="en-US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𝜺</m:t>
                    </m:r>
                  </m:oMath>
                </a14:m>
                <a:r>
                  <a:rPr lang="en-US" altLang="en-US" b="1" baseline="-25000" dirty="0" err="1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defRPr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defRPr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If the scatter of</a:t>
                </a:r>
                <a14:m>
                  <m:oMath xmlns:m="http://schemas.openxmlformats.org/officeDocument/2006/math">
                    <m:r>
                      <a:rPr lang="en-US" alt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 </m:t>
                    </m:r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altLang="en-US" baseline="-25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 </a:t>
                </a:r>
                <a:r>
                  <a:rPr lang="en-US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</a:t>
                </a:r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not random around zero line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, it could be that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  <a:defRPr/>
                </a:pP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relationship between X and Y is not linear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  <a:defRPr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 Variances of error terms are not equal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  <a:defRPr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 Response data are not independent</a:t>
                </a:r>
              </a:p>
            </p:txBody>
          </p:sp>
        </mc:Choice>
        <mc:Fallback xmlns="">
          <p:sp>
            <p:nvSpPr>
              <p:cNvPr id="65539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414" y="737980"/>
                <a:ext cx="6984324" cy="2585323"/>
              </a:xfrm>
              <a:prstGeom prst="rect">
                <a:avLst/>
              </a:prstGeom>
              <a:blipFill>
                <a:blip r:embed="rId2"/>
                <a:stretch>
                  <a:fillRect l="-785" b="-283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827" name="Object 4"/>
              <p:cNvSpPr txBox="1"/>
              <p:nvPr/>
            </p:nvSpPr>
            <p:spPr bwMode="auto">
              <a:xfrm>
                <a:off x="2079950" y="1002959"/>
                <a:ext cx="3163252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𝜀</m:t>
                      </m:r>
                      <m:r>
                        <m:rPr>
                          <m:nor/>
                        </m:rPr>
                        <a:rPr lang="en-US" altLang="en-US" baseline="-250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US" altLang="en-US" b="0" i="0" baseline="-25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kern="1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→</m:t>
                      </m:r>
                      <m:r>
                        <a:rPr lang="en-US" b="0" i="1" kern="1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827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79950" y="1002959"/>
                <a:ext cx="3163252" cy="482600"/>
              </a:xfrm>
              <a:prstGeom prst="rect">
                <a:avLst/>
              </a:prstGeom>
              <a:blipFill>
                <a:blip r:embed="rId3"/>
                <a:stretch>
                  <a:fillRect t="-63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8810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ChangeArrowheads="1"/>
          </p:cNvSpPr>
          <p:nvPr/>
        </p:nvSpPr>
        <p:spPr bwMode="auto">
          <a:xfrm>
            <a:off x="149319" y="200806"/>
            <a:ext cx="89416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Checking Assumptions: Residual Analysis</a:t>
            </a:r>
          </a:p>
        </p:txBody>
      </p:sp>
      <p:graphicFrame>
        <p:nvGraphicFramePr>
          <p:cNvPr id="7885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9597247"/>
              </p:ext>
            </p:extLst>
          </p:nvPr>
        </p:nvGraphicFramePr>
        <p:xfrm>
          <a:off x="214399" y="1678775"/>
          <a:ext cx="4730596" cy="3145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Mtb Graph" r:id="rId3" imgW="5086662" imgH="3382780" progId="MinitabGraph.Document">
                  <p:embed/>
                </p:oleObj>
              </mc:Choice>
              <mc:Fallback>
                <p:oleObj name="Mtb Graph" r:id="rId3" imgW="5086662" imgH="3382780" progId="MinitabGraph.Document">
                  <p:embed/>
                  <p:pic>
                    <p:nvPicPr>
                      <p:cNvPr id="7885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99" y="1678775"/>
                        <a:ext cx="4730596" cy="31459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8" name="Text Box 4"/>
          <p:cNvSpPr txBox="1">
            <a:spLocks noChangeArrowheads="1"/>
          </p:cNvSpPr>
          <p:nvPr/>
        </p:nvSpPr>
        <p:spPr bwMode="auto">
          <a:xfrm>
            <a:off x="166676" y="1004607"/>
            <a:ext cx="8255081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Linearity Assumption:</a:t>
            </a:r>
            <a:endParaRPr lang="en-US" altLang="en-US" dirty="0">
              <a:solidFill>
                <a:srgbClr val="DFA70B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This shows that there may be a non-linear relationship between X and Y.</a:t>
            </a:r>
          </a:p>
        </p:txBody>
      </p:sp>
      <p:sp>
        <p:nvSpPr>
          <p:cNvPr id="66565" name="AutoShape 5"/>
          <p:cNvSpPr>
            <a:spLocks noChangeArrowheads="1"/>
          </p:cNvSpPr>
          <p:nvPr/>
        </p:nvSpPr>
        <p:spPr bwMode="auto">
          <a:xfrm>
            <a:off x="1149709" y="2851541"/>
            <a:ext cx="2571750" cy="222885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92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532" y="10968"/>
                </a:moveTo>
                <a:cubicBezTo>
                  <a:pt x="1531" y="10912"/>
                  <a:pt x="1531" y="10856"/>
                  <a:pt x="1531" y="10800"/>
                </a:cubicBezTo>
                <a:cubicBezTo>
                  <a:pt x="1531" y="5680"/>
                  <a:pt x="5680" y="1531"/>
                  <a:pt x="10800" y="1531"/>
                </a:cubicBezTo>
                <a:cubicBezTo>
                  <a:pt x="15919" y="1531"/>
                  <a:pt x="20069" y="5680"/>
                  <a:pt x="20069" y="10800"/>
                </a:cubicBezTo>
                <a:cubicBezTo>
                  <a:pt x="20069" y="10856"/>
                  <a:pt x="20068" y="10912"/>
                  <a:pt x="20067" y="10968"/>
                </a:cubicBezTo>
                <a:lnTo>
                  <a:pt x="21598" y="10996"/>
                </a:lnTo>
                <a:cubicBezTo>
                  <a:pt x="21599" y="10931"/>
                  <a:pt x="21600" y="108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-1" y="10865"/>
                  <a:pt x="0" y="10931"/>
                  <a:pt x="1" y="10996"/>
                </a:cubicBezTo>
                <a:lnTo>
                  <a:pt x="1532" y="1096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87205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87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732513"/>
              </p:ext>
            </p:extLst>
          </p:nvPr>
        </p:nvGraphicFramePr>
        <p:xfrm>
          <a:off x="307233" y="1796353"/>
          <a:ext cx="3771900" cy="258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Mtb Graph" r:id="rId3" imgW="5086662" imgH="3382780" progId="MinitabGraph.Document">
                  <p:embed/>
                </p:oleObj>
              </mc:Choice>
              <mc:Fallback>
                <p:oleObj name="Mtb Graph" r:id="rId3" imgW="5086662" imgH="3382780" progId="MinitabGraph.Document">
                  <p:embed/>
                  <p:pic>
                    <p:nvPicPr>
                      <p:cNvPr id="7987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233" y="1796353"/>
                        <a:ext cx="3771900" cy="2588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178044" y="1004621"/>
            <a:ext cx="8175914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Constant Variance Assumption:</a:t>
            </a:r>
          </a:p>
          <a:p>
            <a:pPr>
              <a:spcBef>
                <a:spcPct val="50000"/>
              </a:spcBef>
              <a:defRPr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residuals show larger variance as the </a:t>
            </a:r>
            <a:r>
              <a:rPr lang="en-US" dirty="0" smtClean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fitted values </a:t>
            </a:r>
            <a:r>
              <a:rPr lang="en-US" dirty="0" smtClean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increase. </a:t>
            </a:r>
            <a:endParaRPr 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362127" y="4104975"/>
            <a:ext cx="5460206" cy="507206"/>
            <a:chOff x="1174" y="3532"/>
            <a:chExt cx="4586" cy="426"/>
          </a:xfrm>
          <a:solidFill>
            <a:srgbClr val="F8FFF1"/>
          </a:solidFill>
        </p:grpSpPr>
        <p:sp>
          <p:nvSpPr>
            <p:cNvPr id="79880" name="AutoShape 6"/>
            <p:cNvSpPr>
              <a:spLocks noChangeArrowheads="1"/>
            </p:cNvSpPr>
            <p:nvPr/>
          </p:nvSpPr>
          <p:spPr bwMode="auto">
            <a:xfrm>
              <a:off x="1174" y="3532"/>
              <a:ext cx="170" cy="359"/>
            </a:xfrm>
            <a:prstGeom prst="upArrow">
              <a:avLst>
                <a:gd name="adj1" fmla="val 50000"/>
                <a:gd name="adj2" fmla="val 50245"/>
              </a:avLst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881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344" y="3648"/>
                  <a:ext cx="4416" cy="31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dirty="0">
                      <a:latin typeface="Helvetica" panose="020B0604020202020204" pitchFamily="34" charset="0"/>
                      <a:ea typeface="Helvetica Neue" charset="0"/>
                      <a:cs typeface="Helvetica" panose="020B0604020202020204" pitchFamily="34" charset="0"/>
                    </a:rPr>
                    <a:t>Here, it could be that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a14:m>
                  <a:r>
                    <a:rPr lang="en-US" altLang="en-US" baseline="30000" dirty="0">
                      <a:solidFill>
                        <a:srgbClr val="000000"/>
                      </a:solidFill>
                      <a:latin typeface="Helvetica" panose="020B0604020202020204" pitchFamily="34" charset="0"/>
                      <a:cs typeface="Helvetica" panose="020B0604020202020204" pitchFamily="34" charset="0"/>
                    </a:rPr>
                    <a:t>2</a:t>
                  </a:r>
                  <a:r>
                    <a:rPr lang="en-US" altLang="en-US" dirty="0">
                      <a:latin typeface="Helvetica" panose="020B0604020202020204" pitchFamily="34" charset="0"/>
                      <a:cs typeface="Helvetica" panose="020B0604020202020204" pitchFamily="34" charset="0"/>
                    </a:rPr>
                    <a:t> </a:t>
                  </a:r>
                  <a:r>
                    <a:rPr lang="en-US" altLang="en-US" dirty="0">
                      <a:latin typeface="Helvetica" panose="020B0604020202020204" pitchFamily="34" charset="0"/>
                      <a:ea typeface="Helvetica Neue" charset="0"/>
                      <a:cs typeface="Helvetica" panose="020B0604020202020204" pitchFamily="34" charset="0"/>
                    </a:rPr>
                    <a:t>is not constant.</a:t>
                  </a:r>
                </a:p>
              </p:txBody>
            </p:sp>
          </mc:Choice>
          <mc:Fallback xmlns="">
            <p:sp>
              <p:nvSpPr>
                <p:cNvPr id="79881" name="Text 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44" y="3648"/>
                  <a:ext cx="4416" cy="310"/>
                </a:xfrm>
                <a:prstGeom prst="rect">
                  <a:avLst/>
                </a:prstGeom>
                <a:blipFill>
                  <a:blip r:embed="rId5"/>
                  <a:stretch>
                    <a:fillRect l="-1044" t="-8197" b="-24590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107333" y="2576212"/>
            <a:ext cx="2000250" cy="1085850"/>
            <a:chOff x="1248" y="2160"/>
            <a:chExt cx="1680" cy="912"/>
          </a:xfrm>
        </p:grpSpPr>
        <p:sp>
          <p:nvSpPr>
            <p:cNvPr id="79878" name="Line 9"/>
            <p:cNvSpPr>
              <a:spLocks noChangeShapeType="1"/>
            </p:cNvSpPr>
            <p:nvPr/>
          </p:nvSpPr>
          <p:spPr bwMode="auto">
            <a:xfrm>
              <a:off x="1248" y="2592"/>
              <a:ext cx="1680" cy="480"/>
            </a:xfrm>
            <a:prstGeom prst="line">
              <a:avLst/>
            </a:prstGeom>
            <a:noFill/>
            <a:ln w="25400">
              <a:solidFill>
                <a:schemeClr val="accent6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79879" name="Line 10"/>
            <p:cNvSpPr>
              <a:spLocks noChangeShapeType="1"/>
            </p:cNvSpPr>
            <p:nvPr/>
          </p:nvSpPr>
          <p:spPr bwMode="auto">
            <a:xfrm flipV="1">
              <a:off x="1248" y="2160"/>
              <a:ext cx="1680" cy="384"/>
            </a:xfrm>
            <a:prstGeom prst="line">
              <a:avLst/>
            </a:prstGeom>
            <a:noFill/>
            <a:ln w="25400">
              <a:solidFill>
                <a:schemeClr val="accent6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</p:grp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149319" y="200806"/>
            <a:ext cx="89416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Checking Assumptions: Residual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6">
                <a:extLst>
                  <a:ext uri="{FF2B5EF4-FFF2-40B4-BE49-F238E27FC236}">
                    <a16:creationId xmlns:a16="http://schemas.microsoft.com/office/drawing/2014/main" xmlns="" id="{5E1EA179-8BC3-4C98-95DE-9ED6929D0C73}"/>
                  </a:ext>
                </a:extLst>
              </p:cNvPr>
              <p:cNvSpPr txBox="1"/>
              <p:nvPr/>
            </p:nvSpPr>
            <p:spPr>
              <a:xfrm flipH="1">
                <a:off x="2056760" y="4052933"/>
                <a:ext cx="272845" cy="24027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>
                <a:normAutofit/>
              </a:bodyPr>
              <a:lstStyle>
                <a:defPPr>
                  <a:defRPr lang="en-US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defRPr>
                </a:lvl9pPr>
              </a:lstStyle>
              <a:p>
                <a:pPr algn="l">
                  <a:lnSpc>
                    <a:spcPts val="1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1200" dirty="0">
                  <a:solidFill>
                    <a:srgbClr val="000000"/>
                  </a:solidFill>
                  <a:latin typeface="Helvetica"/>
                  <a:cs typeface="Helvetica"/>
                </a:endParaRPr>
              </a:p>
            </p:txBody>
          </p:sp>
        </mc:Choice>
        <mc:Fallback xmlns="">
          <p:sp>
            <p:nvSpPr>
              <p:cNvPr id="11" name="TextBox 6">
                <a:extLst>
                  <a:ext uri="{FF2B5EF4-FFF2-40B4-BE49-F238E27FC236}">
                    <a16:creationId xmlns:a16="http://schemas.microsoft.com/office/drawing/2014/main" id="{5E1EA179-8BC3-4C98-95DE-9ED6929D0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056760" y="4052933"/>
                <a:ext cx="272845" cy="240276"/>
              </a:xfrm>
              <a:prstGeom prst="rect">
                <a:avLst/>
              </a:prstGeom>
              <a:blipFill>
                <a:blip r:embed="rId6"/>
                <a:stretch>
                  <a:fillRect t="-30769" r="-6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908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/>
        </p:nvSpPr>
        <p:spPr>
          <a:xfrm>
            <a:off x="4578996" y="2318360"/>
            <a:ext cx="4118778" cy="2308324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Using residual analysis, we check for uncorrelated errors but not independence.</a:t>
            </a:r>
            <a:br>
              <a:rPr lang="en-US" sz="1600" b="1" dirty="0">
                <a:solidFill>
                  <a:schemeClr val="bg2">
                    <a:lumMod val="25000"/>
                  </a:schemeClr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</a:br>
            <a:endParaRPr lang="en-US" sz="1600" b="1" dirty="0">
              <a:solidFill>
                <a:schemeClr val="bg2">
                  <a:lumMod val="25000"/>
                </a:schemeClr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Independence is a more complicated matter. If the data are from a randomized trial, then independence is established, but most data are from observational studies.</a:t>
            </a:r>
          </a:p>
        </p:txBody>
      </p:sp>
      <p:sp>
        <p:nvSpPr>
          <p:cNvPr id="37" name="Text Box 3">
            <a:extLst>
              <a:ext uri="{FF2B5EF4-FFF2-40B4-BE49-F238E27FC236}">
                <a16:creationId xmlns:a16="http://schemas.microsoft.com/office/drawing/2014/main" xmlns="" id="{99EB57EE-F9D6-1748-A4F3-90E3ACBC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49" y="1001371"/>
            <a:ext cx="8134745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Independence Assumption:</a:t>
            </a:r>
          </a:p>
          <a:p>
            <a:pPr>
              <a:spcBef>
                <a:spcPct val="50000"/>
              </a:spcBef>
              <a:defRPr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There are clusters of residuals: the independence assumption does not hold.</a:t>
            </a:r>
          </a:p>
        </p:txBody>
      </p:sp>
      <p:sp>
        <p:nvSpPr>
          <p:cNvPr id="35" name="Rectangle 2"/>
          <p:cNvSpPr>
            <a:spLocks noChangeArrowheads="1"/>
          </p:cNvSpPr>
          <p:nvPr/>
        </p:nvSpPr>
        <p:spPr bwMode="auto">
          <a:xfrm>
            <a:off x="149319" y="200806"/>
            <a:ext cx="89416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Checking Assumptions: Residual Analysis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693028" y="2306100"/>
            <a:ext cx="2857500" cy="1828800"/>
            <a:chOff x="693028" y="2306100"/>
            <a:chExt cx="2857500" cy="1828800"/>
          </a:xfrm>
        </p:grpSpPr>
        <p:sp>
          <p:nvSpPr>
            <p:cNvPr id="39" name="Rectangle 4"/>
            <p:cNvSpPr>
              <a:spLocks noChangeArrowheads="1"/>
            </p:cNvSpPr>
            <p:nvPr/>
          </p:nvSpPr>
          <p:spPr bwMode="auto">
            <a:xfrm>
              <a:off x="693028" y="2306100"/>
              <a:ext cx="2857500" cy="18288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40" name="Line 5"/>
            <p:cNvSpPr>
              <a:spLocks noChangeShapeType="1"/>
            </p:cNvSpPr>
            <p:nvPr/>
          </p:nvSpPr>
          <p:spPr bwMode="auto">
            <a:xfrm>
              <a:off x="693028" y="3220500"/>
              <a:ext cx="28575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41" name="Oval 6"/>
            <p:cNvSpPr>
              <a:spLocks noChangeArrowheads="1"/>
            </p:cNvSpPr>
            <p:nvPr/>
          </p:nvSpPr>
          <p:spPr bwMode="auto">
            <a:xfrm>
              <a:off x="1035928" y="24775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42" name="Oval 7"/>
            <p:cNvSpPr>
              <a:spLocks noChangeArrowheads="1"/>
            </p:cNvSpPr>
            <p:nvPr/>
          </p:nvSpPr>
          <p:spPr bwMode="auto">
            <a:xfrm>
              <a:off x="1035928" y="26490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43" name="Oval 8"/>
            <p:cNvSpPr>
              <a:spLocks noChangeArrowheads="1"/>
            </p:cNvSpPr>
            <p:nvPr/>
          </p:nvSpPr>
          <p:spPr bwMode="auto">
            <a:xfrm>
              <a:off x="1264528" y="25347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44" name="Oval 9"/>
            <p:cNvSpPr>
              <a:spLocks noChangeArrowheads="1"/>
            </p:cNvSpPr>
            <p:nvPr/>
          </p:nvSpPr>
          <p:spPr bwMode="auto">
            <a:xfrm>
              <a:off x="1264528" y="29347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45" name="Oval 10"/>
            <p:cNvSpPr>
              <a:spLocks noChangeArrowheads="1"/>
            </p:cNvSpPr>
            <p:nvPr/>
          </p:nvSpPr>
          <p:spPr bwMode="auto">
            <a:xfrm>
              <a:off x="1035928" y="32776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46" name="Oval 11"/>
            <p:cNvSpPr>
              <a:spLocks noChangeArrowheads="1"/>
            </p:cNvSpPr>
            <p:nvPr/>
          </p:nvSpPr>
          <p:spPr bwMode="auto">
            <a:xfrm>
              <a:off x="1321678" y="32776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47" name="Oval 12"/>
            <p:cNvSpPr>
              <a:spLocks noChangeArrowheads="1"/>
            </p:cNvSpPr>
            <p:nvPr/>
          </p:nvSpPr>
          <p:spPr bwMode="auto">
            <a:xfrm>
              <a:off x="1093078" y="37348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48" name="Oval 13"/>
            <p:cNvSpPr>
              <a:spLocks noChangeArrowheads="1"/>
            </p:cNvSpPr>
            <p:nvPr/>
          </p:nvSpPr>
          <p:spPr bwMode="auto">
            <a:xfrm>
              <a:off x="1035928" y="29919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49" name="Oval 14"/>
            <p:cNvSpPr>
              <a:spLocks noChangeArrowheads="1"/>
            </p:cNvSpPr>
            <p:nvPr/>
          </p:nvSpPr>
          <p:spPr bwMode="auto">
            <a:xfrm>
              <a:off x="978778" y="35634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algn="ctr" eaLnBrk="1" hangingPunct="1"/>
              <a:endParaRPr lang="en-US" altLang="en-US" b="1">
                <a:latin typeface="Times New Roman" charset="0"/>
              </a:endParaRPr>
            </a:p>
          </p:txBody>
        </p:sp>
        <p:sp>
          <p:nvSpPr>
            <p:cNvPr id="50" name="Oval 15"/>
            <p:cNvSpPr>
              <a:spLocks noChangeArrowheads="1"/>
            </p:cNvSpPr>
            <p:nvPr/>
          </p:nvSpPr>
          <p:spPr bwMode="auto">
            <a:xfrm>
              <a:off x="1378828" y="28204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51" name="Oval 16"/>
            <p:cNvSpPr>
              <a:spLocks noChangeArrowheads="1"/>
            </p:cNvSpPr>
            <p:nvPr/>
          </p:nvSpPr>
          <p:spPr bwMode="auto">
            <a:xfrm>
              <a:off x="1207378" y="33919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52" name="Oval 17"/>
            <p:cNvSpPr>
              <a:spLocks noChangeArrowheads="1"/>
            </p:cNvSpPr>
            <p:nvPr/>
          </p:nvSpPr>
          <p:spPr bwMode="auto">
            <a:xfrm>
              <a:off x="2407528" y="24775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53" name="Oval 18"/>
            <p:cNvSpPr>
              <a:spLocks noChangeArrowheads="1"/>
            </p:cNvSpPr>
            <p:nvPr/>
          </p:nvSpPr>
          <p:spPr bwMode="auto">
            <a:xfrm>
              <a:off x="2636128" y="25347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54" name="Oval 19"/>
            <p:cNvSpPr>
              <a:spLocks noChangeArrowheads="1"/>
            </p:cNvSpPr>
            <p:nvPr/>
          </p:nvSpPr>
          <p:spPr bwMode="auto">
            <a:xfrm>
              <a:off x="2407528" y="28204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55" name="Oval 20"/>
            <p:cNvSpPr>
              <a:spLocks noChangeArrowheads="1"/>
            </p:cNvSpPr>
            <p:nvPr/>
          </p:nvSpPr>
          <p:spPr bwMode="auto">
            <a:xfrm>
              <a:off x="2693278" y="29347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56" name="Oval 21"/>
            <p:cNvSpPr>
              <a:spLocks noChangeArrowheads="1"/>
            </p:cNvSpPr>
            <p:nvPr/>
          </p:nvSpPr>
          <p:spPr bwMode="auto">
            <a:xfrm>
              <a:off x="2464678" y="31062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57" name="Oval 22"/>
            <p:cNvSpPr>
              <a:spLocks noChangeArrowheads="1"/>
            </p:cNvSpPr>
            <p:nvPr/>
          </p:nvSpPr>
          <p:spPr bwMode="auto">
            <a:xfrm>
              <a:off x="2636128" y="33348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58" name="Oval 23"/>
            <p:cNvSpPr>
              <a:spLocks noChangeArrowheads="1"/>
            </p:cNvSpPr>
            <p:nvPr/>
          </p:nvSpPr>
          <p:spPr bwMode="auto">
            <a:xfrm>
              <a:off x="2636128" y="35634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59" name="Oval 24"/>
            <p:cNvSpPr>
              <a:spLocks noChangeArrowheads="1"/>
            </p:cNvSpPr>
            <p:nvPr/>
          </p:nvSpPr>
          <p:spPr bwMode="auto">
            <a:xfrm>
              <a:off x="2464678" y="35062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60" name="Oval 25"/>
            <p:cNvSpPr>
              <a:spLocks noChangeArrowheads="1"/>
            </p:cNvSpPr>
            <p:nvPr/>
          </p:nvSpPr>
          <p:spPr bwMode="auto">
            <a:xfrm>
              <a:off x="2464678" y="38491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sp>
          <p:nvSpPr>
            <p:cNvPr id="61" name="Line 26"/>
            <p:cNvSpPr>
              <a:spLocks noChangeShapeType="1"/>
            </p:cNvSpPr>
            <p:nvPr/>
          </p:nvSpPr>
          <p:spPr bwMode="auto">
            <a:xfrm>
              <a:off x="1550278" y="2420400"/>
              <a:ext cx="0" cy="148590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62" name="Line 27"/>
            <p:cNvSpPr>
              <a:spLocks noChangeShapeType="1"/>
            </p:cNvSpPr>
            <p:nvPr/>
          </p:nvSpPr>
          <p:spPr bwMode="auto">
            <a:xfrm flipH="1">
              <a:off x="921628" y="3906300"/>
              <a:ext cx="628650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63" name="Line 28"/>
            <p:cNvSpPr>
              <a:spLocks noChangeShapeType="1"/>
            </p:cNvSpPr>
            <p:nvPr/>
          </p:nvSpPr>
          <p:spPr bwMode="auto">
            <a:xfrm flipV="1">
              <a:off x="921628" y="2420400"/>
              <a:ext cx="0" cy="148590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64" name="Line 29"/>
            <p:cNvSpPr>
              <a:spLocks noChangeShapeType="1"/>
            </p:cNvSpPr>
            <p:nvPr/>
          </p:nvSpPr>
          <p:spPr bwMode="auto">
            <a:xfrm>
              <a:off x="2350378" y="2420400"/>
              <a:ext cx="457200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65" name="Line 30"/>
            <p:cNvSpPr>
              <a:spLocks noChangeShapeType="1"/>
            </p:cNvSpPr>
            <p:nvPr/>
          </p:nvSpPr>
          <p:spPr bwMode="auto">
            <a:xfrm>
              <a:off x="2807578" y="2420400"/>
              <a:ext cx="0" cy="154305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66" name="Line 31"/>
            <p:cNvSpPr>
              <a:spLocks noChangeShapeType="1"/>
            </p:cNvSpPr>
            <p:nvPr/>
          </p:nvSpPr>
          <p:spPr bwMode="auto">
            <a:xfrm flipH="1">
              <a:off x="2350378" y="3963450"/>
              <a:ext cx="457200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67" name="Line 32"/>
            <p:cNvSpPr>
              <a:spLocks noChangeShapeType="1"/>
            </p:cNvSpPr>
            <p:nvPr/>
          </p:nvSpPr>
          <p:spPr bwMode="auto">
            <a:xfrm flipV="1">
              <a:off x="2350378" y="2420400"/>
              <a:ext cx="0" cy="154305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68" name="Line 33"/>
            <p:cNvSpPr>
              <a:spLocks noChangeShapeType="1"/>
            </p:cNvSpPr>
            <p:nvPr/>
          </p:nvSpPr>
          <p:spPr bwMode="auto">
            <a:xfrm>
              <a:off x="921628" y="2420400"/>
              <a:ext cx="628650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50602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6" name="Rectangle 5"/>
          <p:cNvSpPr>
            <a:spLocks noChangeArrowheads="1"/>
          </p:cNvSpPr>
          <p:nvPr/>
        </p:nvSpPr>
        <p:spPr bwMode="auto">
          <a:xfrm>
            <a:off x="697858" y="2117426"/>
            <a:ext cx="2549295" cy="751740"/>
          </a:xfrm>
          <a:prstGeom prst="rect">
            <a:avLst/>
          </a:prstGeom>
          <a:solidFill>
            <a:srgbClr val="DFA70B"/>
          </a:solidFill>
          <a:ln w="9525">
            <a:solidFill>
              <a:schemeClr val="accent3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81930" name="Rectangle 6"/>
          <p:cNvSpPr>
            <a:spLocks noChangeArrowheads="1"/>
          </p:cNvSpPr>
          <p:nvPr/>
        </p:nvSpPr>
        <p:spPr bwMode="auto">
          <a:xfrm>
            <a:off x="846206" y="2287486"/>
            <a:ext cx="851515" cy="369332"/>
          </a:xfrm>
          <a:prstGeom prst="rect">
            <a:avLst/>
          </a:prstGeom>
          <a:solidFill>
            <a:srgbClr val="DFA70B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x-axis:</a:t>
            </a:r>
          </a:p>
        </p:txBody>
      </p:sp>
      <p:sp>
        <p:nvSpPr>
          <p:cNvPr id="81921" name="Text Box 2"/>
          <p:cNvSpPr txBox="1">
            <a:spLocks noChangeArrowheads="1"/>
          </p:cNvSpPr>
          <p:nvPr/>
        </p:nvSpPr>
        <p:spPr bwMode="auto">
          <a:xfrm>
            <a:off x="146313" y="201413"/>
            <a:ext cx="81564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Checking the Assumption of Normality</a:t>
            </a:r>
          </a:p>
        </p:txBody>
      </p:sp>
      <p:sp>
        <p:nvSpPr>
          <p:cNvPr id="81922" name="Rectangle 3"/>
          <p:cNvSpPr>
            <a:spLocks noChangeArrowheads="1"/>
          </p:cNvSpPr>
          <p:nvPr/>
        </p:nvSpPr>
        <p:spPr bwMode="auto">
          <a:xfrm>
            <a:off x="168258" y="999406"/>
            <a:ext cx="68386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One way to check this assumption in a regression is using a </a:t>
            </a:r>
            <a:r>
              <a:rPr lang="en-US" altLang="en-US" b="1" u="sng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Normal Probability Plot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663" name="Text Box 7"/>
              <p:cNvSpPr txBox="1">
                <a:spLocks noChangeArrowheads="1"/>
              </p:cNvSpPr>
              <p:nvPr/>
            </p:nvSpPr>
            <p:spPr bwMode="auto">
              <a:xfrm>
                <a:off x="175574" y="3680376"/>
                <a:ext cx="3429000" cy="815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Times New Roman" charset="0"/>
                  </a:rPr>
                  <a:t> 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= rank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Times New Roman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(between 1, n)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altLang="en-US" dirty="0">
                    <a:latin typeface="Symbol" charset="2"/>
                  </a:rPr>
                  <a:t>F</a:t>
                </a:r>
                <a:r>
                  <a:rPr lang="en-US" altLang="en-US" dirty="0">
                    <a:latin typeface="Times New Roman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= CDF of Normal Distribution</a:t>
                </a:r>
              </a:p>
            </p:txBody>
          </p:sp>
        </mc:Choice>
        <mc:Fallback xmlns="">
          <p:sp>
            <p:nvSpPr>
              <p:cNvPr id="70663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574" y="3680376"/>
                <a:ext cx="3429000" cy="815608"/>
              </a:xfrm>
              <a:prstGeom prst="rect">
                <a:avLst/>
              </a:prstGeom>
              <a:blipFill>
                <a:blip r:embed="rId3"/>
                <a:stretch>
                  <a:fillRect l="-1601" t="-1493" b="-1044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3979663" y="2041934"/>
            <a:ext cx="494043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000000"/>
              </a:buClr>
              <a:buFont typeface="Wingdings" panose="05000000000000000000" pitchFamily="2" charset="2"/>
              <a:buChar char="Ø"/>
              <a:defRPr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Let the R statistical software do this for you!</a:t>
            </a:r>
            <a:b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</a:br>
            <a:endParaRPr 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285750" indent="-285750">
              <a:buClr>
                <a:srgbClr val="000000"/>
              </a:buClr>
              <a:buFont typeface="Wingdings" panose="05000000000000000000" pitchFamily="2" charset="2"/>
              <a:buChar char="Ø"/>
              <a:defRPr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 straight line in normal probability plot implies assumption of normality is valid</a:t>
            </a:r>
            <a:b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</a:br>
            <a:endParaRPr 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285750" indent="-285750">
              <a:buClr>
                <a:srgbClr val="000000"/>
              </a:buClr>
              <a:buFont typeface="Wingdings" panose="05000000000000000000" pitchFamily="2" charset="2"/>
              <a:buChar char="Ø"/>
              <a:defRPr/>
            </a:pPr>
            <a:r>
              <a:rPr lang="en-US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Curvature </a:t>
            </a:r>
            <a:r>
              <a:rPr lang="en-US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(especially at the ends) </a:t>
            </a: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shows non-normality</a:t>
            </a:r>
          </a:p>
        </p:txBody>
      </p:sp>
      <p:graphicFrame>
        <p:nvGraphicFramePr>
          <p:cNvPr id="1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360904"/>
              </p:ext>
            </p:extLst>
          </p:nvPr>
        </p:nvGraphicFramePr>
        <p:xfrm>
          <a:off x="1713995" y="2199589"/>
          <a:ext cx="1314450" cy="639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Equation" r:id="rId4" imgW="888614" imgH="431613" progId="Equation.3">
                  <p:embed/>
                </p:oleObj>
              </mc:Choice>
              <mc:Fallback>
                <p:oleObj name="Equation" r:id="rId4" imgW="888614" imgH="431613" progId="Equation.3">
                  <p:embed/>
                  <p:pic>
                    <p:nvPicPr>
                      <p:cNvPr id="1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3995" y="2199589"/>
                        <a:ext cx="1314450" cy="6393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CC6E5094-72FC-488D-87D7-539E6D85F204}"/>
              </a:ext>
            </a:extLst>
          </p:cNvPr>
          <p:cNvGrpSpPr>
            <a:grpSpLocks/>
          </p:cNvGrpSpPr>
          <p:nvPr/>
        </p:nvGrpSpPr>
        <p:grpSpPr bwMode="auto">
          <a:xfrm>
            <a:off x="697858" y="2865366"/>
            <a:ext cx="2549295" cy="751740"/>
            <a:chOff x="1518" y="2256"/>
            <a:chExt cx="2793" cy="480"/>
          </a:xfrm>
          <a:noFill/>
        </p:grpSpPr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xmlns="" id="{745FF9D4-D9C9-4E58-8974-A2407962E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8" y="2256"/>
              <a:ext cx="2793" cy="480"/>
            </a:xfrm>
            <a:prstGeom prst="rect">
              <a:avLst/>
            </a:prstGeom>
            <a:grpFill/>
            <a:ln w="9525">
              <a:solidFill>
                <a:srgbClr val="DFA70B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en-US" altLang="en-US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6">
                  <a:extLst>
                    <a:ext uri="{FF2B5EF4-FFF2-40B4-BE49-F238E27FC236}">
                      <a16:creationId xmlns:a16="http://schemas.microsoft.com/office/drawing/2014/main" xmlns="" id="{5E52C9D9-E3F5-4148-9EA8-62C0056650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1" y="2369"/>
                  <a:ext cx="1365" cy="255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dirty="0">
                      <a:solidFill>
                        <a:schemeClr val="bg2">
                          <a:lumMod val="10000"/>
                        </a:schemeClr>
                      </a:solidFill>
                      <a:latin typeface="Helvetica" panose="020B0604020202020204" pitchFamily="34" charset="0"/>
                      <a:cs typeface="Helvetica" panose="020B0604020202020204" pitchFamily="34" charset="0"/>
                    </a:rPr>
                    <a:t>y-axis: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US" altLang="en-US" sz="2000" dirty="0">
                    <a:solidFill>
                      <a:schemeClr val="bg2">
                        <a:lumMod val="10000"/>
                      </a:schemeClr>
                    </a:solidFill>
                    <a:latin typeface="Helvetica" panose="020B0604020202020204" pitchFamily="34" charset="0"/>
                    <a:cs typeface="Helvetica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" name="Rectangle 6">
                  <a:extLst>
                    <a:ext uri="{FF2B5EF4-FFF2-40B4-BE49-F238E27FC236}">
                      <a16:creationId xmlns:a16="http://schemas.microsoft.com/office/drawing/2014/main" id="{5E52C9D9-E3F5-4148-9EA8-62C0056650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81" y="2369"/>
                  <a:ext cx="1365" cy="255"/>
                </a:xfrm>
                <a:prstGeom prst="rect">
                  <a:avLst/>
                </a:prstGeom>
                <a:blipFill>
                  <a:blip r:embed="rId6"/>
                  <a:stretch>
                    <a:fillRect l="-4412" b="-22727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1879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ext Box 2"/>
          <p:cNvSpPr txBox="1">
            <a:spLocks noChangeArrowheads="1"/>
          </p:cNvSpPr>
          <p:nvPr/>
        </p:nvSpPr>
        <p:spPr bwMode="auto">
          <a:xfrm>
            <a:off x="146547" y="207437"/>
            <a:ext cx="858780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Checking the Assumption of Normality</a:t>
            </a:r>
          </a:p>
        </p:txBody>
      </p:sp>
      <p:sp>
        <p:nvSpPr>
          <p:cNvPr id="83970" name="Rectangle 3"/>
          <p:cNvSpPr>
            <a:spLocks noChangeArrowheads="1"/>
          </p:cNvSpPr>
          <p:nvPr/>
        </p:nvSpPr>
        <p:spPr bwMode="auto">
          <a:xfrm>
            <a:off x="3705434" y="1625604"/>
            <a:ext cx="47202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endParaRPr lang="en-US" altLang="en-US">
              <a:latin typeface="Times New Roman" charset="0"/>
            </a:endParaRPr>
          </a:p>
        </p:txBody>
      </p:sp>
      <p:sp>
        <p:nvSpPr>
          <p:cNvPr id="55" name="Text Box 4"/>
          <p:cNvSpPr txBox="1">
            <a:spLocks noChangeArrowheads="1"/>
          </p:cNvSpPr>
          <p:nvPr/>
        </p:nvSpPr>
        <p:spPr bwMode="auto">
          <a:xfrm>
            <a:off x="3991986" y="1182883"/>
            <a:ext cx="4610690" cy="2446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2" charset="0"/>
              </a:rPr>
              <a:t>A complementary approach to check for the normality assumption is by plotting the 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2" charset="0"/>
              </a:rPr>
              <a:t>histogram 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2" charset="0"/>
              </a:rPr>
              <a:t>of the residuals</a:t>
            </a:r>
          </a:p>
          <a:p>
            <a:pPr>
              <a:defRPr/>
            </a:pPr>
            <a:endParaRPr lang="en-US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elvetica" pitchFamily="2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en-US" b="1" dirty="0">
                <a:solidFill>
                  <a:srgbClr val="DFA70B"/>
                </a:solidFill>
                <a:latin typeface="Helvetica" pitchFamily="2" charset="0"/>
                <a:ea typeface="Helvetica Neue" charset="0"/>
                <a:cs typeface="Helvetica Neue" charset="0"/>
              </a:rPr>
              <a:t>Normality Assumption:</a:t>
            </a:r>
          </a:p>
          <a:p>
            <a:pPr>
              <a:defRPr/>
            </a:pPr>
            <a:r>
              <a:rPr lang="en-US" dirty="0">
                <a:latin typeface="Helvetica" pitchFamily="2" charset="0"/>
              </a:rPr>
              <a:t>The residuals should have an approximately symmetric distribution, unimodal, and with no gaps in the data. </a:t>
            </a:r>
          </a:p>
        </p:txBody>
      </p:sp>
      <p:pic>
        <p:nvPicPr>
          <p:cNvPr id="2" name="Picture 1" descr="chart2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86" y="1283411"/>
            <a:ext cx="2151219" cy="334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082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ext Box 2"/>
          <p:cNvSpPr txBox="1">
            <a:spLocks noChangeArrowheads="1"/>
          </p:cNvSpPr>
          <p:nvPr/>
        </p:nvSpPr>
        <p:spPr bwMode="auto">
          <a:xfrm>
            <a:off x="166108" y="196435"/>
            <a:ext cx="703346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Variable Transformation</a:t>
            </a:r>
          </a:p>
        </p:txBody>
      </p:sp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136848" y="999463"/>
            <a:ext cx="7227823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buFont typeface="Wingdings" charset="2"/>
              <a:buChar char="Ø"/>
              <a:defRPr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If the model fit is inadequate, it does not mean that a regression is not useful.</a:t>
            </a:r>
            <a:b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</a:br>
            <a:endParaRPr 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457200" indent="-457200">
              <a:buFont typeface="Wingdings" charset="2"/>
              <a:buChar char="Ø"/>
              <a:defRPr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One problem might be that the relationship between </a:t>
            </a:r>
            <a:r>
              <a:rPr 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and </a:t>
            </a:r>
            <a:r>
              <a:rPr 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 </a:t>
            </a: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is </a:t>
            </a:r>
            <a:r>
              <a:rPr lang="en-US" b="1" i="1" dirty="0">
                <a:solidFill>
                  <a:srgbClr val="DFA70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not exactly linear</a:t>
            </a:r>
            <a:r>
              <a:rPr lang="en-US" dirty="0">
                <a:solidFill>
                  <a:srgbClr val="9932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</a:t>
            </a: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/>
            </a:r>
            <a:b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</a:br>
            <a:endParaRPr 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457200" indent="-457200">
              <a:buFont typeface="Wingdings" charset="2"/>
              <a:buChar char="Ø"/>
              <a:defRPr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To model the nonlinear relationship, we can transform </a:t>
            </a:r>
            <a:r>
              <a:rPr 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by some nonlinear function such as:</a:t>
            </a:r>
          </a:p>
          <a:p>
            <a:pPr marL="342900" indent="-342900">
              <a:defRPr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defRPr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defRPr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8499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562360"/>
              </p:ext>
            </p:extLst>
          </p:nvPr>
        </p:nvGraphicFramePr>
        <p:xfrm>
          <a:off x="649561" y="3343860"/>
          <a:ext cx="3314700" cy="448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Equation" r:id="rId3" imgW="1689100" imgH="228600" progId="Equation.3">
                  <p:embed/>
                </p:oleObj>
              </mc:Choice>
              <mc:Fallback>
                <p:oleObj name="Equation" r:id="rId3" imgW="1689100" imgH="228600" progId="Equation.3">
                  <p:embed/>
                  <p:pic>
                    <p:nvPicPr>
                      <p:cNvPr id="8499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561" y="3343860"/>
                        <a:ext cx="3314700" cy="4488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5727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ChangeArrowheads="1"/>
          </p:cNvSpPr>
          <p:nvPr/>
        </p:nvSpPr>
        <p:spPr bwMode="auto">
          <a:xfrm>
            <a:off x="140100" y="210505"/>
            <a:ext cx="69825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Normality Transformations</a:t>
            </a:r>
          </a:p>
        </p:txBody>
      </p:sp>
      <p:sp>
        <p:nvSpPr>
          <p:cNvPr id="86018" name="Text Box 3"/>
          <p:cNvSpPr txBox="1">
            <a:spLocks noChangeArrowheads="1"/>
          </p:cNvSpPr>
          <p:nvPr/>
        </p:nvSpPr>
        <p:spPr bwMode="auto">
          <a:xfrm>
            <a:off x="169360" y="987387"/>
            <a:ext cx="739275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u="sng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Problem:</a:t>
            </a:r>
            <a:r>
              <a:rPr lang="en-US" altLang="en-US" b="1" dirty="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Normality or constant variance assumption does not hold.</a:t>
            </a:r>
            <a:b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</a:br>
            <a:r>
              <a:rPr lang="en-US" altLang="en-US" b="1" u="sng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Solution:</a:t>
            </a:r>
            <a:r>
              <a:rPr lang="en-US" altLang="en-US" b="1" dirty="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Transform the response variable from y to y* via</a:t>
            </a:r>
            <a:r>
              <a:rPr lang="en-US" altLang="en-US" dirty="0">
                <a:latin typeface="Helvetica" panose="020B0604020202020204" pitchFamily="34" charset="0"/>
                <a:cs typeface="Helvetica" panose="020B0604020202020204" pitchFamily="34" charset="0"/>
              </a:rPr>
              <a:t/>
            </a:r>
            <a:br>
              <a:rPr lang="en-US" alt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altLang="en-US" dirty="0">
                <a:latin typeface="Times New Roman" charset="0"/>
              </a:rPr>
              <a:t>	</a:t>
            </a:r>
            <a:r>
              <a:rPr lang="en-US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y* = </a:t>
            </a:r>
            <a:r>
              <a:rPr lang="en-US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l-GR" sz="2400" baseline="30000" dirty="0" smtClean="0">
                <a:solidFill>
                  <a:schemeClr val="bg2">
                    <a:lumMod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1600" baseline="30000" dirty="0" smtClean="0">
                <a:latin typeface="Symbol" charset="2"/>
              </a:rPr>
              <a:t>  </a:t>
            </a:r>
            <a:endParaRPr lang="en-US" altLang="en-US" dirty="0">
              <a:latin typeface="Times New Roman" charset="0"/>
            </a:endParaRPr>
          </a:p>
          <a:p>
            <a:pPr>
              <a:spcBef>
                <a:spcPct val="50000"/>
              </a:spcBef>
            </a:pPr>
            <a:r>
              <a:rPr lang="en-US" altLang="en-US" dirty="0">
                <a:latin typeface="Garamond" panose="02020404030301010803" pitchFamily="18" charset="0"/>
                <a:ea typeface="Helvetica Neue" charset="0"/>
                <a:cs typeface="Helvetica Neue" charset="0"/>
              </a:rPr>
              <a:t>where the value of </a:t>
            </a:r>
            <a:r>
              <a:rPr lang="el-GR" dirty="0">
                <a:solidFill>
                  <a:schemeClr val="bg2">
                    <a:lumMod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depends on how Var(Y) changes as X changes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.</a:t>
            </a:r>
          </a:p>
        </p:txBody>
      </p:sp>
      <p:graphicFrame>
        <p:nvGraphicFramePr>
          <p:cNvPr id="8601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551380"/>
              </p:ext>
            </p:extLst>
          </p:nvPr>
        </p:nvGraphicFramePr>
        <p:xfrm>
          <a:off x="655823" y="2546474"/>
          <a:ext cx="2508250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" name="Equation" r:id="rId4" imgW="1549080" imgH="1041120" progId="Equation.3">
                  <p:embed/>
                </p:oleObj>
              </mc:Choice>
              <mc:Fallback>
                <p:oleObj name="Equation" r:id="rId4" imgW="1549080" imgH="1041120" progId="Equation.3">
                  <p:embed/>
                  <p:pic>
                    <p:nvPicPr>
                      <p:cNvPr id="8601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823" y="2546474"/>
                        <a:ext cx="2508250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0" name="Text Box 5"/>
          <p:cNvSpPr txBox="1">
            <a:spLocks noChangeArrowheads="1"/>
          </p:cNvSpPr>
          <p:nvPr/>
        </p:nvSpPr>
        <p:spPr bwMode="auto">
          <a:xfrm>
            <a:off x="3384570" y="2509710"/>
            <a:ext cx="20162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(don’t transform)</a:t>
            </a:r>
          </a:p>
        </p:txBody>
      </p:sp>
      <p:sp>
        <p:nvSpPr>
          <p:cNvPr id="86021" name="Text Box 6"/>
          <p:cNvSpPr txBox="1">
            <a:spLocks noChangeArrowheads="1"/>
          </p:cNvSpPr>
          <p:nvPr/>
        </p:nvSpPr>
        <p:spPr bwMode="auto">
          <a:xfrm>
            <a:off x="3399200" y="3367491"/>
            <a:ext cx="12618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  <a:cs typeface="Helvetica" panose="020B0604020202020204" pitchFamily="34" charset="0"/>
              </a:rPr>
              <a:t>y* = ln(y)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E20EBC1-A8CF-4DB5-A986-4010F238AE60}"/>
              </a:ext>
            </a:extLst>
          </p:cNvPr>
          <p:cNvSpPr txBox="1"/>
          <p:nvPr/>
        </p:nvSpPr>
        <p:spPr>
          <a:xfrm>
            <a:off x="5539130" y="2587951"/>
            <a:ext cx="2719730" cy="1523494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This is called Box-Cox Transformation: The parameter </a:t>
            </a:r>
            <a:r>
              <a:rPr lang="el-GR" b="1" dirty="0">
                <a:solidFill>
                  <a:schemeClr val="bg2">
                    <a:lumMod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λ</a:t>
            </a:r>
            <a:r>
              <a:rPr lang="en-US" sz="21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can be determined using R statistical software.</a:t>
            </a:r>
            <a:endParaRPr lang="en-US" sz="2100" b="1" dirty="0">
              <a:solidFill>
                <a:schemeClr val="bg2">
                  <a:lumMod val="10000"/>
                </a:schemeClr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79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38732"/>
            <a:ext cx="4727575" cy="133032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B8D62D-BE99-40AF-BF97-BFAE812B12CE}">
  <ds:schemaRefs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b057fda7-913b-4ab6-8820-932873bcd66c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388</Words>
  <Application>Microsoft Office PowerPoint</Application>
  <PresentationFormat>On-screen Show (16:9)</PresentationFormat>
  <Paragraphs>70</Paragraphs>
  <Slides>12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32" baseType="lpstr">
      <vt:lpstr>MS PGothic</vt:lpstr>
      <vt:lpstr>Arial</vt:lpstr>
      <vt:lpstr>Calibri</vt:lpstr>
      <vt:lpstr>Cambria Math</vt:lpstr>
      <vt:lpstr>Garamond</vt:lpstr>
      <vt:lpstr>Helvetica</vt:lpstr>
      <vt:lpstr>Helvetica Neue</vt:lpstr>
      <vt:lpstr>KishoreFont Medium</vt:lpstr>
      <vt:lpstr>Symbol</vt:lpstr>
      <vt:lpstr>Times New Roman</vt:lpstr>
      <vt:lpstr>Vitesse</vt:lpstr>
      <vt:lpstr>Vitesse Bold</vt:lpstr>
      <vt:lpstr>Vitesse Book</vt:lpstr>
      <vt:lpstr>Vitesse Medium</vt:lpstr>
      <vt:lpstr>Wingdings</vt:lpstr>
      <vt:lpstr>1_Half Page Slash</vt:lpstr>
      <vt:lpstr>Half Page Slash</vt:lpstr>
      <vt:lpstr>Full Page Layout</vt:lpstr>
      <vt:lpstr>Mtb Graph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Levine</dc:creator>
  <cp:lastModifiedBy>Aymee Garcia</cp:lastModifiedBy>
  <cp:revision>216</cp:revision>
  <dcterms:modified xsi:type="dcterms:W3CDTF">2020-05-27T08:00:40Z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