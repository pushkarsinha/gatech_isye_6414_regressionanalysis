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7" r:id="rId4"/>
    <p:sldMasterId id="2147483705" r:id="rId5"/>
    <p:sldMasterId id="2147483699" r:id="rId6"/>
  </p:sldMasterIdLst>
  <p:notesMasterIdLst>
    <p:notesMasterId r:id="rId21"/>
  </p:notesMasterIdLst>
  <p:handoutMasterIdLst>
    <p:handoutMasterId r:id="rId22"/>
  </p:handoutMasterIdLst>
  <p:sldIdLst>
    <p:sldId id="428" r:id="rId7"/>
    <p:sldId id="429" r:id="rId8"/>
    <p:sldId id="430" r:id="rId9"/>
    <p:sldId id="431" r:id="rId10"/>
    <p:sldId id="432" r:id="rId11"/>
    <p:sldId id="433" r:id="rId12"/>
    <p:sldId id="434" r:id="rId13"/>
    <p:sldId id="440" r:id="rId14"/>
    <p:sldId id="443" r:id="rId15"/>
    <p:sldId id="436" r:id="rId16"/>
    <p:sldId id="437" r:id="rId17"/>
    <p:sldId id="444" r:id="rId18"/>
    <p:sldId id="438" r:id="rId19"/>
    <p:sldId id="439" r:id="rId2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C567BE6-4E2E-2A45-BD72-59F9659A3211}">
          <p14:sldIdLst>
            <p14:sldId id="428"/>
            <p14:sldId id="429"/>
            <p14:sldId id="430"/>
            <p14:sldId id="431"/>
            <p14:sldId id="432"/>
            <p14:sldId id="433"/>
            <p14:sldId id="434"/>
            <p14:sldId id="440"/>
            <p14:sldId id="443"/>
            <p14:sldId id="436"/>
            <p14:sldId id="437"/>
            <p14:sldId id="444"/>
            <p14:sldId id="438"/>
            <p14:sldId id="439"/>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guide id="3" pos="144" userDrawn="1">
          <p15:clr>
            <a:srgbClr val="A4A3A4"/>
          </p15:clr>
        </p15:guide>
        <p15:guide id="4" orient="horz" pos="444" userDrawn="1">
          <p15:clr>
            <a:srgbClr val="A4A3A4"/>
          </p15:clr>
        </p15:guide>
        <p15:guide id="5" orient="horz" pos="804" userDrawn="1">
          <p15:clr>
            <a:srgbClr val="A4A3A4"/>
          </p15:clr>
        </p15:guide>
        <p15:guide id="6" pos="3480" userDrawn="1">
          <p15:clr>
            <a:srgbClr val="A4A3A4"/>
          </p15:clr>
        </p15:guide>
        <p15:guide id="7" pos="432" userDrawn="1">
          <p15:clr>
            <a:srgbClr val="A4A3A4"/>
          </p15:clr>
        </p15:guide>
        <p15:guide id="8" pos="256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Rodriguez, Ramon S" initials="RRS" lastIdx="1" clrIdx="6">
    <p:extLst>
      <p:ext uri="{19B8F6BF-5375-455C-9EA6-DF929625EA0E}">
        <p15:presenceInfo xmlns:p15="http://schemas.microsoft.com/office/powerpoint/2012/main" userId="S-1-5-21-1177238915-2111687655-1060284298-1451345" providerId="AD"/>
      </p:ext>
    </p:extLst>
  </p:cmAuthor>
  <p:cmAuthor id="1" name="Figueroa, Shabana" initials="FS" lastIdx="16" clrIdx="0"/>
  <p:cmAuthor id="2" name="Figueroa, Shabana" initials="FS [2]" lastIdx="1" clrIdx="1"/>
  <p:cmAuthor id="3" name="Serban, Nicoleta" initials="SN" lastIdx="11" clrIdx="2"/>
  <p:cmAuthor id="4" name="Hu, Rui" initials="HR" lastIdx="1" clrIdx="3"/>
  <p:cmAuthor id="5" name="Hu, Rui" initials="HR [2]" lastIdx="1" clrIdx="4"/>
  <p:cmAuthor id="6" name="Richard Levine" initials="RL" lastIdx="2" clrIdx="5">
    <p:extLst>
      <p:ext uri="{19B8F6BF-5375-455C-9EA6-DF929625EA0E}">
        <p15:presenceInfo xmlns:p15="http://schemas.microsoft.com/office/powerpoint/2012/main" userId="Richard Levin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A70B"/>
    <a:srgbClr val="EEB211"/>
    <a:srgbClr val="F8FFF1"/>
    <a:srgbClr val="993200"/>
    <a:srgbClr val="000000"/>
    <a:srgbClr val="F7FFEE"/>
    <a:srgbClr val="F5FCEA"/>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641C2D-58FE-44BC-A089-D6D822E7D4A5}" v="3" dt="2020-01-17T15:48:14.9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05" autoAdjust="0"/>
    <p:restoredTop sz="86019"/>
  </p:normalViewPr>
  <p:slideViewPr>
    <p:cSldViewPr snapToGrid="0">
      <p:cViewPr varScale="1">
        <p:scale>
          <a:sx n="144" d="100"/>
          <a:sy n="144" d="100"/>
        </p:scale>
        <p:origin x="690" y="120"/>
      </p:cViewPr>
      <p:guideLst>
        <p:guide orient="horz" pos="1620"/>
        <p:guide pos="2880"/>
        <p:guide pos="144"/>
        <p:guide orient="horz" pos="444"/>
        <p:guide orient="horz" pos="804"/>
        <p:guide pos="3480"/>
        <p:guide pos="432"/>
        <p:guide pos="256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A7641C2D-58FE-44BC-A089-D6D822E7D4A5}"/>
    <pc:docChg chg="modSld">
      <pc:chgData name="" userId="" providerId="" clId="Web-{A7641C2D-58FE-44BC-A089-D6D822E7D4A5}" dt="2020-01-17T15:48:14.947" v="2"/>
      <pc:docMkLst>
        <pc:docMk/>
      </pc:docMkLst>
      <pc:sldChg chg="modAnim">
        <pc:chgData name="" userId="" providerId="" clId="Web-{A7641C2D-58FE-44BC-A089-D6D822E7D4A5}" dt="2020-01-17T15:48:14.947" v="2"/>
        <pc:sldMkLst>
          <pc:docMk/>
          <pc:sldMk cId="2015680960" sldId="43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9DFD447-ACB1-BC49-B8EF-23729E0A333F}" type="datetimeFigureOut">
              <a:rPr lang="en-US" smtClean="0"/>
              <a:t>1/17/2020</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EF598F-7A46-204A-ADDD-A1229C86B248}" type="slidenum">
              <a:rPr lang="en-US" smtClean="0"/>
              <a:t>‹#›</a:t>
            </a:fld>
            <a:endParaRPr lang="en-US"/>
          </a:p>
        </p:txBody>
      </p:sp>
    </p:spTree>
    <p:extLst>
      <p:ext uri="{BB962C8B-B14F-4D97-AF65-F5344CB8AC3E}">
        <p14:creationId xmlns:p14="http://schemas.microsoft.com/office/powerpoint/2010/main" val="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1738FA-185A-CF4F-BD02-7990310E47F3}" type="datetimeFigureOut">
              <a:rPr lang="en-US" smtClean="0"/>
              <a:t>1/17/2020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3F7A93-C87A-E149-BF89-5D793380F19A}"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F7A93-C87A-E149-BF89-5D793380F19A}" type="slidenum">
              <a:rPr lang="en-US" smtClean="0"/>
              <a:t>3</a:t>
            </a:fld>
            <a:endParaRPr lang="en-US"/>
          </a:p>
        </p:txBody>
      </p:sp>
    </p:spTree>
    <p:extLst>
      <p:ext uri="{BB962C8B-B14F-4D97-AF65-F5344CB8AC3E}">
        <p14:creationId xmlns:p14="http://schemas.microsoft.com/office/powerpoint/2010/main" val="15863353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819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ea typeface="MS PGothic" charset="-128"/>
            </a:endParaRPr>
          </a:p>
        </p:txBody>
      </p:sp>
      <p:sp>
        <p:nvSpPr>
          <p:cNvPr id="819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fld id="{7A2B99A0-E036-4043-A548-EC7A49EE0E5E}" type="slidenum">
              <a:rPr lang="en-US" altLang="en-US"/>
              <a:pPr/>
              <a:t>5</a:t>
            </a:fld>
            <a:endParaRPr lang="en-US" altLang="en-US"/>
          </a:p>
        </p:txBody>
      </p:sp>
    </p:spTree>
    <p:extLst>
      <p:ext uri="{BB962C8B-B14F-4D97-AF65-F5344CB8AC3E}">
        <p14:creationId xmlns:p14="http://schemas.microsoft.com/office/powerpoint/2010/main" val="9758703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126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endParaRPr lang="en-US" altLang="en-US">
              <a:ea typeface="MS PGothic" charset="-128"/>
            </a:endParaRPr>
          </a:p>
        </p:txBody>
      </p:sp>
      <p:sp>
        <p:nvSpPr>
          <p:cNvPr id="1126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fld id="{C2AC9BDD-D708-C946-BC2A-F64C504D2E2E}" type="slidenum">
              <a:rPr lang="en-US" altLang="en-US"/>
              <a:pPr/>
              <a:t>7</a:t>
            </a:fld>
            <a:endParaRPr lang="en-US" altLang="en-US"/>
          </a:p>
        </p:txBody>
      </p:sp>
    </p:spTree>
    <p:extLst>
      <p:ext uri="{BB962C8B-B14F-4D97-AF65-F5344CB8AC3E}">
        <p14:creationId xmlns:p14="http://schemas.microsoft.com/office/powerpoint/2010/main" val="175635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331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a:ea typeface="MS PGothic" charset="-128"/>
            </a:endParaRPr>
          </a:p>
        </p:txBody>
      </p:sp>
      <p:sp>
        <p:nvSpPr>
          <p:cNvPr id="1331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fld id="{D017BBB6-8E26-E04C-AAB0-D46608BB27C8}" type="slidenum">
              <a:rPr lang="en-US" altLang="en-US"/>
              <a:pPr/>
              <a:t>8</a:t>
            </a:fld>
            <a:endParaRPr lang="en-US" altLang="en-US"/>
          </a:p>
        </p:txBody>
      </p:sp>
    </p:spTree>
    <p:extLst>
      <p:ext uri="{BB962C8B-B14F-4D97-AF65-F5344CB8AC3E}">
        <p14:creationId xmlns:p14="http://schemas.microsoft.com/office/powerpoint/2010/main" val="1948154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331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a:ea typeface="MS PGothic" charset="-128"/>
            </a:endParaRPr>
          </a:p>
        </p:txBody>
      </p:sp>
      <p:sp>
        <p:nvSpPr>
          <p:cNvPr id="1331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fld id="{D017BBB6-8E26-E04C-AAB0-D46608BB27C8}" type="slidenum">
              <a:rPr lang="en-US" altLang="en-US"/>
              <a:pPr/>
              <a:t>9</a:t>
            </a:fld>
            <a:endParaRPr lang="en-US" altLang="en-US"/>
          </a:p>
        </p:txBody>
      </p:sp>
    </p:spTree>
    <p:extLst>
      <p:ext uri="{BB962C8B-B14F-4D97-AF65-F5344CB8AC3E}">
        <p14:creationId xmlns:p14="http://schemas.microsoft.com/office/powerpoint/2010/main" val="3926236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F7A93-C87A-E149-BF89-5D793380F19A}" type="slidenum">
              <a:rPr lang="en-US" smtClean="0"/>
              <a:t>10</a:t>
            </a:fld>
            <a:endParaRPr lang="en-US"/>
          </a:p>
        </p:txBody>
      </p:sp>
    </p:spTree>
    <p:extLst>
      <p:ext uri="{BB962C8B-B14F-4D97-AF65-F5344CB8AC3E}">
        <p14:creationId xmlns:p14="http://schemas.microsoft.com/office/powerpoint/2010/main" val="10458155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481920" y="1421266"/>
            <a:ext cx="4727575" cy="1330325"/>
          </a:xfrm>
        </p:spPr>
        <p:txBody>
          <a:bodyP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2663025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628650" y="274638"/>
            <a:ext cx="5520941" cy="993775"/>
          </a:xfrm>
          <a:prstGeom prst="rect">
            <a:avLst/>
          </a:prstGeom>
        </p:spPr>
        <p:txBody>
          <a:bodyPr/>
          <a:lstStyle>
            <a:lvl1pPr algn="l">
              <a:defRPr lang="en-US" sz="4400" kern="1200" dirty="0">
                <a:solidFill>
                  <a:schemeClr val="tx1"/>
                </a:solidFill>
                <a:latin typeface="Vitesse Bold"/>
                <a:ea typeface="+mj-ea"/>
                <a:cs typeface="Vitesse Bold"/>
              </a:defRPr>
            </a:lvl1pPr>
          </a:lstStyle>
          <a:p>
            <a:r>
              <a:rPr lang="en-US"/>
              <a:t>Click to edit Master title style</a:t>
            </a:r>
          </a:p>
        </p:txBody>
      </p:sp>
      <p:sp>
        <p:nvSpPr>
          <p:cNvPr id="6" name="Content Placeholder 5"/>
          <p:cNvSpPr>
            <a:spLocks noGrp="1"/>
          </p:cNvSpPr>
          <p:nvPr>
            <p:ph sz="quarter" idx="10"/>
          </p:nvPr>
        </p:nvSpPr>
        <p:spPr>
          <a:xfrm>
            <a:off x="628649" y="1436688"/>
            <a:ext cx="4375430" cy="2994025"/>
          </a:xfrm>
          <a:prstGeom prst="rect">
            <a:avLst/>
          </a:prstGeom>
        </p:spPr>
        <p:txBody>
          <a:bodyPr/>
          <a:lstStyle>
            <a:lvl1pPr>
              <a:defRPr>
                <a:latin typeface="Vitesse Book" charset="0"/>
                <a:ea typeface="Vitesse Book" charset="0"/>
                <a:cs typeface="Vitesse Book" charset="0"/>
              </a:defRPr>
            </a:lvl1pPr>
            <a:lvl2pPr>
              <a:defRPr>
                <a:latin typeface="Vitesse Book" charset="0"/>
                <a:ea typeface="Vitesse Book" charset="0"/>
                <a:cs typeface="Vitesse Book" charset="0"/>
              </a:defRPr>
            </a:lvl2pPr>
            <a:lvl3pPr>
              <a:defRPr>
                <a:latin typeface="Vitesse Book" charset="0"/>
                <a:ea typeface="Vitesse Book" charset="0"/>
                <a:cs typeface="Vitesse Book" charset="0"/>
              </a:defRPr>
            </a:lvl3pPr>
            <a:lvl4pPr>
              <a:defRPr>
                <a:latin typeface="Vitesse Book" charset="0"/>
                <a:ea typeface="Vitesse Book" charset="0"/>
                <a:cs typeface="Vitesse Book" charset="0"/>
              </a:defRPr>
            </a:lvl4pPr>
            <a:lvl5pPr>
              <a:defRPr>
                <a:latin typeface="Vitesse Book" charset="0"/>
                <a:ea typeface="Vitesse Book" charset="0"/>
                <a:cs typeface="Vitesse Book"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94431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628650" y="4767263"/>
            <a:ext cx="2057400" cy="273844"/>
          </a:xfrm>
          <a:prstGeom prst="rect">
            <a:avLst/>
          </a:prstGeom>
        </p:spPr>
        <p:txBody>
          <a:bodyPr/>
          <a:lstStyle>
            <a:lvl1pPr>
              <a:defRPr/>
            </a:lvl1pPr>
          </a:lstStyle>
          <a:p>
            <a:pPr>
              <a:defRPr/>
            </a:pPr>
            <a:endParaRPr lang="en-US"/>
          </a:p>
        </p:txBody>
      </p:sp>
      <p:sp>
        <p:nvSpPr>
          <p:cNvPr id="3" name="Footer Placeholder 4"/>
          <p:cNvSpPr>
            <a:spLocks noGrp="1"/>
          </p:cNvSpPr>
          <p:nvPr>
            <p:ph type="ftr" sz="quarter" idx="11"/>
          </p:nvPr>
        </p:nvSpPr>
        <p:spPr>
          <a:xfrm>
            <a:off x="3028950" y="4767263"/>
            <a:ext cx="3086100" cy="273844"/>
          </a:xfrm>
          <a:prstGeom prst="rect">
            <a:avLst/>
          </a:prstGeom>
        </p:spPr>
        <p:txBody>
          <a:bodyPr/>
          <a:lstStyle>
            <a:lvl1pPr>
              <a:defRPr/>
            </a:lvl1pPr>
          </a:lstStyle>
          <a:p>
            <a:pPr>
              <a:defRPr/>
            </a:pPr>
            <a:endParaRPr lang="en-US"/>
          </a:p>
        </p:txBody>
      </p:sp>
      <p:sp>
        <p:nvSpPr>
          <p:cNvPr id="4" name="Slide Number Placeholder 5"/>
          <p:cNvSpPr>
            <a:spLocks noGrp="1"/>
          </p:cNvSpPr>
          <p:nvPr>
            <p:ph type="sldNum" sz="quarter" idx="12"/>
          </p:nvPr>
        </p:nvSpPr>
        <p:spPr>
          <a:xfrm>
            <a:off x="6457950" y="4767263"/>
            <a:ext cx="2057400" cy="273844"/>
          </a:xfrm>
          <a:prstGeom prst="rect">
            <a:avLst/>
          </a:prstGeom>
        </p:spPr>
        <p:txBody>
          <a:bodyPr/>
          <a:lstStyle>
            <a:lvl1pPr>
              <a:defRPr/>
            </a:lvl1pPr>
          </a:lstStyle>
          <a:p>
            <a:pPr>
              <a:defRPr/>
            </a:pPr>
            <a:fld id="{A2002E78-3C88-9A40-B579-FA4DB2691E4F}" type="slidenum">
              <a:rPr lang="en-US" altLang="en-US"/>
              <a:pPr>
                <a:defRPr/>
              </a:pPr>
              <a:t>‹#›</a:t>
            </a:fld>
            <a:endParaRPr lang="en-US" altLang="en-US"/>
          </a:p>
        </p:txBody>
      </p:sp>
    </p:spTree>
    <p:extLst>
      <p:ext uri="{BB962C8B-B14F-4D97-AF65-F5344CB8AC3E}">
        <p14:creationId xmlns:p14="http://schemas.microsoft.com/office/powerpoint/2010/main" val="3360737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1805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28650" y="1369219"/>
            <a:ext cx="78867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4767263"/>
            <a:ext cx="2057400" cy="273844"/>
          </a:xfrm>
          <a:prstGeom prst="rect">
            <a:avLst/>
          </a:prstGeom>
        </p:spPr>
        <p:txBody>
          <a:bodyPr/>
          <a:lstStyle>
            <a:lvl1pPr>
              <a:defRPr/>
            </a:lvl1pPr>
          </a:lstStyle>
          <a:p>
            <a:pPr>
              <a:defRPr/>
            </a:pPr>
            <a:endParaRPr lang="en-US"/>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lvl1pPr>
              <a:defRPr/>
            </a:lvl1pPr>
          </a:lstStyle>
          <a:p>
            <a:pPr>
              <a:defRPr/>
            </a:pPr>
            <a:fld id="{134F0668-60AC-E24C-8E50-B74DE0FA4F02}" type="slidenum">
              <a:rPr lang="en-US" altLang="en-US"/>
              <a:pPr>
                <a:defRPr/>
              </a:pPr>
              <a:t>‹#›</a:t>
            </a:fld>
            <a:endParaRPr lang="en-US" altLang="en-US"/>
          </a:p>
        </p:txBody>
      </p:sp>
    </p:spTree>
    <p:extLst>
      <p:ext uri="{BB962C8B-B14F-4D97-AF65-F5344CB8AC3E}">
        <p14:creationId xmlns:p14="http://schemas.microsoft.com/office/powerpoint/2010/main" val="2651002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ull Page Blank">
    <p:spTree>
      <p:nvGrpSpPr>
        <p:cNvPr id="1" name=""/>
        <p:cNvGrpSpPr/>
        <p:nvPr/>
      </p:nvGrpSpPr>
      <p:grpSpPr>
        <a:xfrm>
          <a:off x="0" y="0"/>
          <a:ext cx="0" cy="0"/>
          <a:chOff x="0" y="0"/>
          <a:chExt cx="0" cy="0"/>
        </a:xfrm>
      </p:grpSpPr>
      <p:sp>
        <p:nvSpPr>
          <p:cNvPr id="4" name="Title 1"/>
          <p:cNvSpPr>
            <a:spLocks noGrp="1"/>
          </p:cNvSpPr>
          <p:nvPr>
            <p:ph type="title"/>
          </p:nvPr>
        </p:nvSpPr>
        <p:spPr>
          <a:xfrm>
            <a:off x="252349" y="274678"/>
            <a:ext cx="8562392"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2306265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ull Page w/ Bullets">
    <p:spTree>
      <p:nvGrpSpPr>
        <p:cNvPr id="1" name=""/>
        <p:cNvGrpSpPr/>
        <p:nvPr/>
      </p:nvGrpSpPr>
      <p:grpSpPr>
        <a:xfrm>
          <a:off x="0" y="0"/>
          <a:ext cx="0" cy="0"/>
          <a:chOff x="0" y="0"/>
          <a:chExt cx="0" cy="0"/>
        </a:xfrm>
      </p:grpSpPr>
      <p:sp>
        <p:nvSpPr>
          <p:cNvPr id="10" name="Content Placeholder 5"/>
          <p:cNvSpPr>
            <a:spLocks noGrp="1"/>
          </p:cNvSpPr>
          <p:nvPr>
            <p:ph sz="quarter" idx="10"/>
          </p:nvPr>
        </p:nvSpPr>
        <p:spPr>
          <a:xfrm>
            <a:off x="252349" y="1268453"/>
            <a:ext cx="8280166" cy="3519917"/>
          </a:xfrm>
          <a:prstGeom prst="rect">
            <a:avLst/>
          </a:prstGeom>
        </p:spPr>
        <p:txBody>
          <a:bodyPr/>
          <a:lstStyle>
            <a:lvl1pPr>
              <a:defRPr sz="2000">
                <a:latin typeface="Helvetica" charset="0"/>
                <a:ea typeface="Helvetica" charset="0"/>
                <a:cs typeface="Helvetica" charset="0"/>
              </a:defRPr>
            </a:lvl1pPr>
            <a:lvl2pPr>
              <a:defRPr sz="1800">
                <a:latin typeface="Helvetica" charset="0"/>
                <a:ea typeface="Helvetica" charset="0"/>
                <a:cs typeface="Helvetica" charset="0"/>
              </a:defRPr>
            </a:lvl2pPr>
            <a:lvl3pPr>
              <a:defRPr sz="1800">
                <a:latin typeface="Helvetica" charset="0"/>
                <a:ea typeface="Helvetica" charset="0"/>
                <a:cs typeface="Helvetica" charset="0"/>
              </a:defRPr>
            </a:lvl3pPr>
            <a:lvl4pPr>
              <a:defRPr sz="1800">
                <a:latin typeface="Helvetica" charset="0"/>
                <a:ea typeface="Helvetica" charset="0"/>
                <a:cs typeface="Helvetica" charset="0"/>
              </a:defRPr>
            </a:lvl4pPr>
            <a:lvl5pPr>
              <a:defRPr sz="1800">
                <a:latin typeface="Helvetica" charset="0"/>
                <a:ea typeface="Helvetica" charset="0"/>
                <a:cs typeface="Helvetica"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252349" y="274678"/>
            <a:ext cx="8280166"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4182518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ull Page w/ Text">
    <p:spTree>
      <p:nvGrpSpPr>
        <p:cNvPr id="1" name=""/>
        <p:cNvGrpSpPr/>
        <p:nvPr/>
      </p:nvGrpSpPr>
      <p:grpSpPr>
        <a:xfrm>
          <a:off x="0" y="0"/>
          <a:ext cx="0" cy="0"/>
          <a:chOff x="0" y="0"/>
          <a:chExt cx="0" cy="0"/>
        </a:xfrm>
      </p:grpSpPr>
      <p:sp>
        <p:nvSpPr>
          <p:cNvPr id="4" name="Content Placeholder 4"/>
          <p:cNvSpPr>
            <a:spLocks noGrp="1"/>
          </p:cNvSpPr>
          <p:nvPr>
            <p:ph sz="quarter" idx="10" hasCustomPrompt="1"/>
          </p:nvPr>
        </p:nvSpPr>
        <p:spPr>
          <a:xfrm>
            <a:off x="252347" y="1268453"/>
            <a:ext cx="8449503" cy="3286125"/>
          </a:xfrm>
          <a:prstGeom prst="rect">
            <a:avLst/>
          </a:prstGeom>
        </p:spPr>
        <p:txBody>
          <a:bodyPr/>
          <a:lstStyle>
            <a:lvl1pPr marL="0" indent="0">
              <a:buFont typeface="Arial"/>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 </a:t>
            </a:r>
          </a:p>
          <a:p>
            <a:r>
              <a:rPr lang="en-US" sz="1800" dirty="0"/>
              <a:t>of the printing and typesetting industry. </a:t>
            </a:r>
            <a:r>
              <a:rPr lang="en-US" sz="1800" dirty="0" err="1"/>
              <a:t>Lorem</a:t>
            </a:r>
            <a:r>
              <a:rPr lang="en-US" sz="1800" dirty="0"/>
              <a:t> </a:t>
            </a:r>
            <a:r>
              <a:rPr lang="en-US" sz="1800" dirty="0" err="1"/>
              <a:t>Ipsum</a:t>
            </a:r>
            <a:r>
              <a:rPr lang="en-US" sz="1800" dirty="0"/>
              <a:t> has been the industry's standard dummy text ever since the 1500s, when an unknown printer took a galley of type and scrambled it to make a type specimen book. </a:t>
            </a:r>
          </a:p>
          <a:p>
            <a:endParaRPr lang="en-US" sz="1800" dirty="0"/>
          </a:p>
          <a:p>
            <a:r>
              <a:rPr lang="en-US" b="1" dirty="0"/>
              <a:t>It has survived</a:t>
            </a:r>
          </a:p>
          <a:p>
            <a:pPr marL="285750" indent="-285750">
              <a:buFont typeface="Arial"/>
              <a:buChar char="•"/>
            </a:pPr>
            <a:r>
              <a:rPr lang="en-US" sz="1800" dirty="0"/>
              <a:t>not only five centuries</a:t>
            </a:r>
          </a:p>
          <a:p>
            <a:pPr marL="285750" indent="-285750">
              <a:buFont typeface="Arial"/>
              <a:buChar char="•"/>
            </a:pPr>
            <a:r>
              <a:rPr lang="en-US" sz="1800" dirty="0"/>
              <a:t>but also the leap into electronic typesetting, </a:t>
            </a:r>
          </a:p>
          <a:p>
            <a:pPr marL="285750" indent="-285750">
              <a:buFont typeface="Arial"/>
              <a:buChar char="•"/>
            </a:pPr>
            <a:r>
              <a:rPr lang="en-US" sz="1800" dirty="0"/>
              <a:t>remaining essentially unchanged. </a:t>
            </a:r>
          </a:p>
        </p:txBody>
      </p:sp>
      <p:sp>
        <p:nvSpPr>
          <p:cNvPr id="5" name="Title 1"/>
          <p:cNvSpPr>
            <a:spLocks noGrp="1"/>
          </p:cNvSpPr>
          <p:nvPr>
            <p:ph type="title"/>
          </p:nvPr>
        </p:nvSpPr>
        <p:spPr>
          <a:xfrm>
            <a:off x="252348" y="274678"/>
            <a:ext cx="8449503"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3092907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ull Page w/ Text + Graphic">
    <p:spTree>
      <p:nvGrpSpPr>
        <p:cNvPr id="1" name=""/>
        <p:cNvGrpSpPr/>
        <p:nvPr/>
      </p:nvGrpSpPr>
      <p:grpSpPr>
        <a:xfrm>
          <a:off x="0" y="0"/>
          <a:ext cx="0" cy="0"/>
          <a:chOff x="0" y="0"/>
          <a:chExt cx="0" cy="0"/>
        </a:xfrm>
      </p:grpSpPr>
      <p:sp>
        <p:nvSpPr>
          <p:cNvPr id="5" name="Content Placeholder 4"/>
          <p:cNvSpPr>
            <a:spLocks noGrp="1"/>
          </p:cNvSpPr>
          <p:nvPr>
            <p:ph sz="quarter" idx="10" hasCustomPrompt="1"/>
          </p:nvPr>
        </p:nvSpPr>
        <p:spPr>
          <a:xfrm>
            <a:off x="233538" y="1110075"/>
            <a:ext cx="3595277" cy="3612444"/>
          </a:xfrm>
          <a:prstGeom prst="rect">
            <a:avLst/>
          </a:prstGeom>
        </p:spPr>
        <p:txBody>
          <a:bodyPr/>
          <a:lstStyle>
            <a:lvl1pPr marL="0" indent="0">
              <a:buFont typeface="Arial"/>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a:t>
            </a:r>
          </a:p>
          <a:p>
            <a:endParaRPr lang="en-US" sz="1800" dirty="0"/>
          </a:p>
          <a:p>
            <a:r>
              <a:rPr lang="en-US" b="1" dirty="0"/>
              <a:t>It has survived</a:t>
            </a:r>
          </a:p>
          <a:p>
            <a:pPr marL="285750" indent="-285750">
              <a:buFont typeface="Arial"/>
              <a:buChar char="•"/>
            </a:pPr>
            <a:r>
              <a:rPr lang="en-US" sz="1800" dirty="0"/>
              <a:t>not only five centuries</a:t>
            </a:r>
          </a:p>
          <a:p>
            <a:pPr marL="285750" indent="-285750">
              <a:buFont typeface="Arial"/>
              <a:buChar char="•"/>
            </a:pPr>
            <a:r>
              <a:rPr lang="en-US" sz="1800" dirty="0"/>
              <a:t>but also the leap into electronic typesetting, </a:t>
            </a:r>
          </a:p>
          <a:p>
            <a:pPr marL="285750" indent="-285750">
              <a:buFont typeface="Arial"/>
              <a:buChar char="•"/>
            </a:pPr>
            <a:r>
              <a:rPr lang="en-US" sz="1800" dirty="0"/>
              <a:t>remaining essentially unchanged. </a:t>
            </a:r>
          </a:p>
        </p:txBody>
      </p:sp>
      <p:sp>
        <p:nvSpPr>
          <p:cNvPr id="6" name="Chart Placeholder 3"/>
          <p:cNvSpPr>
            <a:spLocks noGrp="1"/>
          </p:cNvSpPr>
          <p:nvPr>
            <p:ph type="chart" sz="quarter" idx="11"/>
          </p:nvPr>
        </p:nvSpPr>
        <p:spPr>
          <a:xfrm>
            <a:off x="3828815" y="1110075"/>
            <a:ext cx="4948296" cy="3612444"/>
          </a:xfrm>
          <a:prstGeom prst="rect">
            <a:avLst/>
          </a:prstGeom>
        </p:spPr>
        <p:txBody>
          <a:bodyPr/>
          <a:lstStyle>
            <a:lvl1pPr marL="0" indent="0">
              <a:buNone/>
              <a:defRPr/>
            </a:lvl1pPr>
          </a:lstStyle>
          <a:p>
            <a:endParaRPr lang="en-US" dirty="0"/>
          </a:p>
        </p:txBody>
      </p:sp>
      <p:sp>
        <p:nvSpPr>
          <p:cNvPr id="10" name="Title 1"/>
          <p:cNvSpPr>
            <a:spLocks noGrp="1"/>
          </p:cNvSpPr>
          <p:nvPr>
            <p:ph type="title"/>
          </p:nvPr>
        </p:nvSpPr>
        <p:spPr>
          <a:xfrm>
            <a:off x="252348" y="274678"/>
            <a:ext cx="8186095"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1671983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Page w/ Graphic">
    <p:spTree>
      <p:nvGrpSpPr>
        <p:cNvPr id="1" name=""/>
        <p:cNvGrpSpPr/>
        <p:nvPr/>
      </p:nvGrpSpPr>
      <p:grpSpPr>
        <a:xfrm>
          <a:off x="0" y="0"/>
          <a:ext cx="0" cy="0"/>
          <a:chOff x="0" y="0"/>
          <a:chExt cx="0" cy="0"/>
        </a:xfrm>
      </p:grpSpPr>
      <p:sp>
        <p:nvSpPr>
          <p:cNvPr id="4" name="Chart Placeholder 3"/>
          <p:cNvSpPr>
            <a:spLocks noGrp="1"/>
          </p:cNvSpPr>
          <p:nvPr>
            <p:ph type="chart" sz="quarter" idx="10"/>
          </p:nvPr>
        </p:nvSpPr>
        <p:spPr>
          <a:xfrm>
            <a:off x="252349" y="1268453"/>
            <a:ext cx="8110832" cy="3564316"/>
          </a:xfrm>
          <a:prstGeom prst="rect">
            <a:avLst/>
          </a:prstGeom>
        </p:spPr>
        <p:txBody>
          <a:bodyPr/>
          <a:lstStyle>
            <a:lvl1pPr marL="0" indent="0">
              <a:buNone/>
              <a:defRPr sz="2000">
                <a:latin typeface="Helvetica" charset="0"/>
                <a:ea typeface="Helvetica" charset="0"/>
                <a:cs typeface="Helvetica" charset="0"/>
              </a:defRPr>
            </a:lvl1pPr>
          </a:lstStyle>
          <a:p>
            <a:endParaRPr lang="en-US" dirty="0"/>
          </a:p>
        </p:txBody>
      </p:sp>
      <p:sp>
        <p:nvSpPr>
          <p:cNvPr id="5" name="Title 1"/>
          <p:cNvSpPr>
            <a:spLocks noGrp="1"/>
          </p:cNvSpPr>
          <p:nvPr>
            <p:ph type="title"/>
          </p:nvPr>
        </p:nvSpPr>
        <p:spPr>
          <a:xfrm>
            <a:off x="252348" y="274678"/>
            <a:ext cx="8186095"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extLst>
      <p:ext uri="{BB962C8B-B14F-4D97-AF65-F5344CB8AC3E}">
        <p14:creationId xmlns:p14="http://schemas.microsoft.com/office/powerpoint/2010/main" val="29975240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theme" Target="../theme/theme2.xml"/><Relationship Id="rId5" Type="http://schemas.openxmlformats.org/officeDocument/2006/relationships/image" Target="../media/image1.jpg"/><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8.xml"/><Relationship Id="rId7"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3.xml"/><Relationship Id="rId5" Type="http://schemas.openxmlformats.org/officeDocument/2006/relationships/slideLayout" Target="../slideLayouts/slideLayout10.xml"/><Relationship Id="rId4" Type="http://schemas.openxmlformats.org/officeDocument/2006/relationships/slideLayout" Target="../slideLayouts/slideLayout9.xml"/><Relationship Id="rId9"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3BCFA4D-1CC5-4243-98FC-591DF878C6E5}"/>
              </a:ext>
            </a:extLst>
          </p:cNvPr>
          <p:cNvPicPr>
            <a:picLocks noChangeAspect="1"/>
          </p:cNvPicPr>
          <p:nvPr userDrawn="1"/>
        </p:nvPicPr>
        <p:blipFill>
          <a:blip r:embed="rId7"/>
          <a:stretch>
            <a:fillRect/>
          </a:stretch>
        </p:blipFill>
        <p:spPr>
          <a:xfrm>
            <a:off x="0" y="0"/>
            <a:ext cx="9144000" cy="5143500"/>
          </a:xfrm>
          <a:prstGeom prst="rect">
            <a:avLst/>
          </a:prstGeom>
        </p:spPr>
      </p:pic>
    </p:spTree>
    <p:extLst>
      <p:ext uri="{BB962C8B-B14F-4D97-AF65-F5344CB8AC3E}">
        <p14:creationId xmlns:p14="http://schemas.microsoft.com/office/powerpoint/2010/main" val="2311246210"/>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Group 2"/>
          <p:cNvGrpSpPr/>
          <p:nvPr userDrawn="1"/>
        </p:nvGrpSpPr>
        <p:grpSpPr>
          <a:xfrm>
            <a:off x="0" y="0"/>
            <a:ext cx="9142647" cy="5144187"/>
            <a:chOff x="0" y="0"/>
            <a:chExt cx="9142647" cy="5144187"/>
          </a:xfrm>
        </p:grpSpPr>
        <p:pic>
          <p:nvPicPr>
            <p:cNvPr id="5" name="Picture 4"/>
            <p:cNvPicPr>
              <a:picLocks noChangeAspect="1"/>
            </p:cNvPicPr>
            <p:nvPr userDrawn="1"/>
          </p:nvPicPr>
          <p:blipFill>
            <a:blip r:embed="rId2"/>
            <a:stretch>
              <a:fillRect/>
            </a:stretch>
          </p:blipFill>
          <p:spPr>
            <a:xfrm flipH="1" flipV="1">
              <a:off x="5423765" y="2211757"/>
              <a:ext cx="3718882" cy="2932430"/>
            </a:xfrm>
            <a:prstGeom prst="rect">
              <a:avLst/>
            </a:prstGeom>
          </p:spPr>
        </p:pic>
        <p:pic>
          <p:nvPicPr>
            <p:cNvPr id="6" name="Picture 5">
              <a:extLst>
                <a:ext uri="{FF2B5EF4-FFF2-40B4-BE49-F238E27FC236}">
                  <a16:creationId xmlns:a16="http://schemas.microsoft.com/office/drawing/2014/main" id="{5BC3A035-B0EE-3A43-AADA-02BA46FB0931}"/>
                </a:ext>
              </a:extLst>
            </p:cNvPr>
            <p:cNvPicPr>
              <a:picLocks noChangeAspect="1"/>
            </p:cNvPicPr>
            <p:nvPr userDrawn="1"/>
          </p:nvPicPr>
          <p:blipFill>
            <a:blip r:embed="rId3"/>
            <a:stretch>
              <a:fillRect/>
            </a:stretch>
          </p:blipFill>
          <p:spPr>
            <a:xfrm>
              <a:off x="8111132" y="4644572"/>
              <a:ext cx="945783" cy="401634"/>
            </a:xfrm>
            <a:prstGeom prst="rect">
              <a:avLst/>
            </a:prstGeom>
          </p:spPr>
        </p:pic>
        <p:pic>
          <p:nvPicPr>
            <p:cNvPr id="7" name="Picture 6"/>
            <p:cNvPicPr>
              <a:picLocks noChangeAspect="1"/>
            </p:cNvPicPr>
            <p:nvPr userDrawn="1"/>
          </p:nvPicPr>
          <p:blipFill>
            <a:blip r:embed="rId4"/>
            <a:stretch>
              <a:fillRect/>
            </a:stretch>
          </p:blipFill>
          <p:spPr>
            <a:xfrm>
              <a:off x="0" y="0"/>
              <a:ext cx="3719590" cy="2933934"/>
            </a:xfrm>
            <a:prstGeom prst="rect">
              <a:avLst/>
            </a:prstGeom>
          </p:spPr>
        </p:pic>
      </p:grpSp>
      <p:pic>
        <p:nvPicPr>
          <p:cNvPr id="8" name="Picture 7">
            <a:extLst>
              <a:ext uri="{FF2B5EF4-FFF2-40B4-BE49-F238E27FC236}">
                <a16:creationId xmlns:a16="http://schemas.microsoft.com/office/drawing/2014/main" id="{13BCFA4D-1CC5-4243-98FC-591DF878C6E5}"/>
              </a:ext>
            </a:extLst>
          </p:cNvPr>
          <p:cNvPicPr>
            <a:picLocks noChangeAspect="1"/>
          </p:cNvPicPr>
          <p:nvPr userDrawn="1"/>
        </p:nvPicPr>
        <p:blipFill>
          <a:blip r:embed="rId5"/>
          <a:stretch>
            <a:fillRect/>
          </a:stretch>
        </p:blipFill>
        <p:spPr>
          <a:xfrm>
            <a:off x="0" y="0"/>
            <a:ext cx="9144000" cy="5143500"/>
          </a:xfrm>
          <a:prstGeom prst="rect">
            <a:avLst/>
          </a:prstGeom>
        </p:spPr>
      </p:pic>
    </p:spTree>
    <p:extLst>
      <p:ext uri="{BB962C8B-B14F-4D97-AF65-F5344CB8AC3E}">
        <p14:creationId xmlns:p14="http://schemas.microsoft.com/office/powerpoint/2010/main" val="1927365758"/>
      </p:ext>
    </p:extLst>
  </p:cSld>
  <p:clrMap bg1="lt1" tx1="dk1" bg2="lt2" tx2="dk2" accent1="accent1" accent2="accent2" accent3="accent3" accent4="accent4" accent5="accent5" accent6="accent6" hlink="hlink" folHlink="folHlink"/>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Group 2"/>
          <p:cNvGrpSpPr/>
          <p:nvPr userDrawn="1"/>
        </p:nvGrpSpPr>
        <p:grpSpPr>
          <a:xfrm>
            <a:off x="0" y="0"/>
            <a:ext cx="9142647" cy="5144187"/>
            <a:chOff x="0" y="0"/>
            <a:chExt cx="9142647" cy="5144187"/>
          </a:xfrm>
        </p:grpSpPr>
        <p:pic>
          <p:nvPicPr>
            <p:cNvPr id="4" name="Picture 3"/>
            <p:cNvPicPr>
              <a:picLocks noChangeAspect="1"/>
            </p:cNvPicPr>
            <p:nvPr userDrawn="1"/>
          </p:nvPicPr>
          <p:blipFill>
            <a:blip r:embed="rId7"/>
            <a:stretch>
              <a:fillRect/>
            </a:stretch>
          </p:blipFill>
          <p:spPr>
            <a:xfrm flipH="1" flipV="1">
              <a:off x="5423765" y="2211757"/>
              <a:ext cx="3718882" cy="2932430"/>
            </a:xfrm>
            <a:prstGeom prst="rect">
              <a:avLst/>
            </a:prstGeom>
          </p:spPr>
        </p:pic>
        <p:pic>
          <p:nvPicPr>
            <p:cNvPr id="6" name="Picture 5">
              <a:extLst>
                <a:ext uri="{FF2B5EF4-FFF2-40B4-BE49-F238E27FC236}">
                  <a16:creationId xmlns:a16="http://schemas.microsoft.com/office/drawing/2014/main" id="{5BC3A035-B0EE-3A43-AADA-02BA46FB0931}"/>
                </a:ext>
              </a:extLst>
            </p:cNvPr>
            <p:cNvPicPr>
              <a:picLocks noChangeAspect="1"/>
            </p:cNvPicPr>
            <p:nvPr userDrawn="1"/>
          </p:nvPicPr>
          <p:blipFill>
            <a:blip r:embed="rId8"/>
            <a:stretch>
              <a:fillRect/>
            </a:stretch>
          </p:blipFill>
          <p:spPr>
            <a:xfrm>
              <a:off x="8111132" y="4644572"/>
              <a:ext cx="945783" cy="401634"/>
            </a:xfrm>
            <a:prstGeom prst="rect">
              <a:avLst/>
            </a:prstGeom>
          </p:spPr>
        </p:pic>
        <p:pic>
          <p:nvPicPr>
            <p:cNvPr id="7" name="Picture 6"/>
            <p:cNvPicPr>
              <a:picLocks noChangeAspect="1"/>
            </p:cNvPicPr>
            <p:nvPr userDrawn="1"/>
          </p:nvPicPr>
          <p:blipFill>
            <a:blip r:embed="rId9"/>
            <a:stretch>
              <a:fillRect/>
            </a:stretch>
          </p:blipFill>
          <p:spPr>
            <a:xfrm>
              <a:off x="0" y="0"/>
              <a:ext cx="3719590" cy="2933934"/>
            </a:xfrm>
            <a:prstGeom prst="rect">
              <a:avLst/>
            </a:prstGeom>
          </p:spPr>
        </p:pic>
      </p:grpSp>
    </p:spTree>
    <p:extLst>
      <p:ext uri="{BB962C8B-B14F-4D97-AF65-F5344CB8AC3E}">
        <p14:creationId xmlns:p14="http://schemas.microsoft.com/office/powerpoint/2010/main" val="304365610"/>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nvSpPr>
        <p:spPr>
          <a:xfrm>
            <a:off x="117956" y="228858"/>
            <a:ext cx="5691763" cy="712848"/>
          </a:xfrm>
          <a:prstGeom prst="rect">
            <a:avLst/>
          </a:prstGeom>
        </p:spPr>
        <p:txBody>
          <a:bodyPr/>
          <a:lstStyle>
            <a:lvl1pPr algn="l" defTabSz="457200" rtl="0" eaLnBrk="1" latinLnBrk="0" hangingPunct="1">
              <a:spcBef>
                <a:spcPct val="0"/>
              </a:spcBef>
              <a:buNone/>
              <a:defRPr lang="en-US" sz="4000" b="0" i="0" kern="1200" dirty="0">
                <a:solidFill>
                  <a:schemeClr val="tx1"/>
                </a:solidFill>
                <a:latin typeface="Vitesse Bold"/>
                <a:ea typeface="Vitesse" charset="0"/>
                <a:cs typeface="Vitesse Bold"/>
              </a:defRPr>
            </a:lvl1pPr>
          </a:lstStyle>
          <a:p>
            <a:r>
              <a:rPr lang="en-US" sz="3600" dirty="0">
                <a:latin typeface="Vitesse" charset="0"/>
                <a:cs typeface="Vitesse" charset="0"/>
              </a:rPr>
              <a:t>Regression Analysis</a:t>
            </a:r>
          </a:p>
        </p:txBody>
      </p:sp>
      <p:sp>
        <p:nvSpPr>
          <p:cNvPr id="6" name="Text Placeholder 2"/>
          <p:cNvSpPr>
            <a:spLocks noGrp="1"/>
          </p:cNvSpPr>
          <p:nvPr/>
        </p:nvSpPr>
        <p:spPr>
          <a:xfrm>
            <a:off x="117956" y="740369"/>
            <a:ext cx="5511340" cy="542236"/>
          </a:xfrm>
          <a:prstGeom prst="rect">
            <a:avLst/>
          </a:prstGeom>
        </p:spPr>
        <p:txBody>
          <a:bodyPr/>
          <a:lstStyle>
            <a:lvl1pPr marL="0" indent="0" algn="l" defTabSz="457200" rtl="0" eaLnBrk="1" latinLnBrk="0" hangingPunct="1">
              <a:spcBef>
                <a:spcPct val="20000"/>
              </a:spcBef>
              <a:buFont typeface="Arial"/>
              <a:buNone/>
              <a:defRPr lang="en-US" sz="3000" b="0" i="0" kern="1200" dirty="0">
                <a:solidFill>
                  <a:schemeClr val="tx2"/>
                </a:solidFill>
                <a:latin typeface="Vitesse Medium" charset="0"/>
                <a:ea typeface="Vitesse Medium" charset="0"/>
                <a:cs typeface="Vitesse Medium"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Simple Linear Regression</a:t>
            </a:r>
          </a:p>
        </p:txBody>
      </p:sp>
      <p:sp>
        <p:nvSpPr>
          <p:cNvPr id="7" name="Text Placeholder 3"/>
          <p:cNvSpPr>
            <a:spLocks noGrp="1"/>
          </p:cNvSpPr>
          <p:nvPr/>
        </p:nvSpPr>
        <p:spPr>
          <a:xfrm>
            <a:off x="117957" y="2018346"/>
            <a:ext cx="4305091" cy="432669"/>
          </a:xfrm>
          <a:prstGeom prst="rect">
            <a:avLst/>
          </a:prstGeom>
        </p:spPr>
        <p:txBody>
          <a:bodyPr anchor="ctr"/>
          <a:lstStyle>
            <a:lvl1pPr marL="0" indent="0" algn="l" defTabSz="457200" rtl="0" eaLnBrk="1" latinLnBrk="0" hangingPunct="1">
              <a:lnSpc>
                <a:spcPts val="1400"/>
              </a:lnSpc>
              <a:spcBef>
                <a:spcPct val="20000"/>
              </a:spcBef>
              <a:buFont typeface="Arial"/>
              <a:buNone/>
              <a:defRPr lang="en-US" sz="2400" b="1" kern="1200" baseline="0" dirty="0">
                <a:solidFill>
                  <a:srgbClr val="EEB21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a:p>
            <a:r>
              <a:rPr lang="en-US" dirty="0" err="1"/>
              <a:t>Nicoleta</a:t>
            </a:r>
            <a:r>
              <a:rPr lang="en-US" dirty="0"/>
              <a:t> </a:t>
            </a:r>
            <a:r>
              <a:rPr lang="en-US" dirty="0" err="1"/>
              <a:t>Serban</a:t>
            </a:r>
            <a:r>
              <a:rPr lang="en-US" dirty="0"/>
              <a:t>, Ph.D. </a:t>
            </a:r>
          </a:p>
        </p:txBody>
      </p:sp>
      <p:sp>
        <p:nvSpPr>
          <p:cNvPr id="8" name="Text Placeholder 4"/>
          <p:cNvSpPr>
            <a:spLocks noGrp="1"/>
          </p:cNvSpPr>
          <p:nvPr/>
        </p:nvSpPr>
        <p:spPr>
          <a:xfrm>
            <a:off x="108550" y="2376336"/>
            <a:ext cx="4305091" cy="254281"/>
          </a:xfrm>
          <a:prstGeom prst="rect">
            <a:avLst/>
          </a:prstGeom>
        </p:spPr>
        <p:txBody>
          <a:bodyPr/>
          <a:lstStyle>
            <a:lvl1pPr marL="0" indent="0" algn="l" defTabSz="457200" rtl="0" eaLnBrk="1" latinLnBrk="0" hangingPunct="1">
              <a:spcBef>
                <a:spcPct val="20000"/>
              </a:spcBef>
              <a:buFont typeface="Arial"/>
              <a:buNone/>
              <a:defRPr sz="1600" b="0" i="1" kern="1200" baseline="0">
                <a:solidFill>
                  <a:schemeClr val="tx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Professor </a:t>
            </a:r>
          </a:p>
        </p:txBody>
      </p:sp>
      <p:sp>
        <p:nvSpPr>
          <p:cNvPr id="9" name="Text Placeholder 5"/>
          <p:cNvSpPr>
            <a:spLocks noGrp="1"/>
          </p:cNvSpPr>
          <p:nvPr/>
        </p:nvSpPr>
        <p:spPr>
          <a:xfrm>
            <a:off x="117956" y="4114503"/>
            <a:ext cx="4305091" cy="878110"/>
          </a:xfrm>
          <a:prstGeom prst="rect">
            <a:avLst/>
          </a:prstGeom>
        </p:spPr>
        <p:txBody>
          <a:bodyPr/>
          <a:lstStyle>
            <a:lvl1pPr marL="0" indent="0" algn="l" defTabSz="457200" rtl="0" eaLnBrk="1" latinLnBrk="0" hangingPunct="1">
              <a:spcBef>
                <a:spcPct val="20000"/>
              </a:spcBef>
              <a:buFont typeface="Arial"/>
              <a:buNone/>
              <a:defRPr sz="1400" b="0" i="0" kern="1200" baseline="0">
                <a:solidFill>
                  <a:schemeClr val="tx2"/>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dirty="0">
                <a:latin typeface="Vitesse" charset="0"/>
                <a:ea typeface="Vitesse" charset="0"/>
                <a:cs typeface="Vitesse" charset="0"/>
              </a:rPr>
              <a:t>Regression Concepts: Basics</a:t>
            </a:r>
          </a:p>
        </p:txBody>
      </p:sp>
      <p:sp>
        <p:nvSpPr>
          <p:cNvPr id="10" name="Text Placeholder 6"/>
          <p:cNvSpPr>
            <a:spLocks noGrp="1"/>
          </p:cNvSpPr>
          <p:nvPr/>
        </p:nvSpPr>
        <p:spPr>
          <a:xfrm>
            <a:off x="117956" y="2661666"/>
            <a:ext cx="4305091" cy="322253"/>
          </a:xfrm>
          <a:prstGeom prst="rect">
            <a:avLst/>
          </a:prstGeom>
        </p:spPr>
        <p:txBody>
          <a:bodyPr/>
          <a:lstStyle>
            <a:lvl1pPr marL="0" indent="0" algn="l" defTabSz="457200" rtl="0" eaLnBrk="1" latinLnBrk="0" hangingPunct="1">
              <a:spcBef>
                <a:spcPct val="20000"/>
              </a:spcBef>
              <a:buFont typeface="Arial"/>
              <a:buNone/>
              <a:defRPr sz="1200" b="0" i="0" kern="1200" baseline="0">
                <a:solidFill>
                  <a:schemeClr val="tx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School of Industrial and Systems Engineering</a:t>
            </a:r>
          </a:p>
        </p:txBody>
      </p:sp>
    </p:spTree>
    <p:extLst>
      <p:ext uri="{BB962C8B-B14F-4D97-AF65-F5344CB8AC3E}">
        <p14:creationId xmlns:p14="http://schemas.microsoft.com/office/powerpoint/2010/main" val="16933392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15820" t="7499" r="15454" b="5507"/>
          <a:stretch/>
        </p:blipFill>
        <p:spPr>
          <a:xfrm>
            <a:off x="1237534" y="1285661"/>
            <a:ext cx="2069432" cy="2619446"/>
          </a:xfrm>
          <a:prstGeom prst="rect">
            <a:avLst/>
          </a:prstGeom>
        </p:spPr>
      </p:pic>
      <p:sp>
        <p:nvSpPr>
          <p:cNvPr id="2" name="Text Placeholder 1"/>
          <p:cNvSpPr>
            <a:spLocks noGrp="1"/>
          </p:cNvSpPr>
          <p:nvPr>
            <p:ph type="body" sz="quarter" idx="10"/>
          </p:nvPr>
        </p:nvSpPr>
        <p:spPr>
          <a:xfrm>
            <a:off x="143478" y="-135358"/>
            <a:ext cx="4727575" cy="1330325"/>
          </a:xfrm>
        </p:spPr>
        <p:txBody>
          <a:bodyPr anchor="ctr">
            <a:normAutofit/>
          </a:bodyPr>
          <a:lstStyle/>
          <a:p>
            <a:pPr>
              <a:spcBef>
                <a:spcPct val="0"/>
              </a:spcBef>
            </a:pPr>
            <a:r>
              <a:rPr lang="en-US" sz="3600" dirty="0">
                <a:latin typeface="Vitesse" charset="0"/>
                <a:ea typeface="Vitesse" charset="0"/>
                <a:cs typeface="Vitesse" charset="0"/>
              </a:rPr>
              <a:t>About This Lesson</a:t>
            </a:r>
          </a:p>
        </p:txBody>
      </p:sp>
    </p:spTree>
    <p:extLst>
      <p:ext uri="{BB962C8B-B14F-4D97-AF65-F5344CB8AC3E}">
        <p14:creationId xmlns:p14="http://schemas.microsoft.com/office/powerpoint/2010/main" val="14999553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203" y="221670"/>
            <a:ext cx="8562392" cy="993775"/>
          </a:xfrm>
          <a:prstGeom prst="rect">
            <a:avLst/>
          </a:prstGeom>
        </p:spPr>
        <p:txBody>
          <a:bodyPr>
            <a:noAutofit/>
          </a:bodyPr>
          <a:lstStyle/>
          <a:p>
            <a:r>
              <a:rPr lang="en-US" altLang="en-US" sz="3600" dirty="0">
                <a:latin typeface="Vitesse" charset="0"/>
                <a:ea typeface="Vitesse" charset="0"/>
                <a:cs typeface="Vitesse" charset="0"/>
              </a:rPr>
              <a:t>Example 1</a:t>
            </a:r>
            <a:endParaRPr lang="en-US" sz="3600" dirty="0">
              <a:latin typeface="Vitesse" charset="0"/>
              <a:ea typeface="Vitesse" charset="0"/>
              <a:cs typeface="Vitesse" charset="0"/>
            </a:endParaRPr>
          </a:p>
        </p:txBody>
      </p:sp>
      <p:sp>
        <p:nvSpPr>
          <p:cNvPr id="3" name="Content Placeholder 2"/>
          <p:cNvSpPr>
            <a:spLocks noGrp="1"/>
          </p:cNvSpPr>
          <p:nvPr>
            <p:ph sz="quarter" idx="4294967295"/>
          </p:nvPr>
        </p:nvSpPr>
        <p:spPr>
          <a:xfrm>
            <a:off x="155714" y="1012618"/>
            <a:ext cx="8471451" cy="2994025"/>
          </a:xfrm>
          <a:prstGeom prst="rect">
            <a:avLst/>
          </a:prstGeom>
        </p:spPr>
        <p:txBody>
          <a:bodyPr>
            <a:normAutofit/>
          </a:bodyPr>
          <a:lstStyle/>
          <a:p>
            <a:pPr marL="0" indent="0">
              <a:buNone/>
              <a:defRPr/>
            </a:pPr>
            <a:r>
              <a:rPr lang="en-US" sz="1800" dirty="0">
                <a:latin typeface="Helvetica Neue" charset="0"/>
                <a:ea typeface="Helvetica Neue" charset="0"/>
                <a:cs typeface="Helvetica Neue" charset="0"/>
              </a:rPr>
              <a:t>A company, which sells medical supplies to hospitals, clinics, and doctor's offices, had considered the effectiveness of a new advertising program. </a:t>
            </a:r>
            <a:br>
              <a:rPr lang="en-US" sz="1800" dirty="0">
                <a:latin typeface="Helvetica Neue" charset="0"/>
                <a:ea typeface="Helvetica Neue" charset="0"/>
                <a:cs typeface="Helvetica Neue" charset="0"/>
              </a:rPr>
            </a:br>
            <a:endParaRPr lang="en-US" sz="1800" dirty="0">
              <a:latin typeface="Helvetica Neue" charset="0"/>
              <a:ea typeface="Helvetica Neue" charset="0"/>
              <a:cs typeface="Helvetica Neue" charset="0"/>
            </a:endParaRPr>
          </a:p>
          <a:p>
            <a:pPr marL="0" indent="0">
              <a:buNone/>
              <a:defRPr/>
            </a:pPr>
            <a:r>
              <a:rPr lang="en-US" sz="1800" dirty="0">
                <a:latin typeface="Helvetica Neue" charset="0"/>
                <a:ea typeface="Helvetica Neue" charset="0"/>
                <a:cs typeface="Helvetica Neue" charset="0"/>
              </a:rPr>
              <a:t>Management wants to know if the </a:t>
            </a:r>
            <a:r>
              <a:rPr lang="en-US" sz="1800" b="1" dirty="0">
                <a:solidFill>
                  <a:srgbClr val="DFA70B"/>
                </a:solidFill>
                <a:latin typeface="Helvetica Neue" charset="0"/>
                <a:ea typeface="Helvetica Neue" charset="0"/>
                <a:cs typeface="Helvetica Neue" charset="0"/>
              </a:rPr>
              <a:t>advertisement</a:t>
            </a:r>
            <a:r>
              <a:rPr lang="en-US" sz="1800" dirty="0">
                <a:latin typeface="Helvetica Neue" charset="0"/>
                <a:ea typeface="Helvetica Neue" charset="0"/>
                <a:cs typeface="Helvetica Neue" charset="0"/>
              </a:rPr>
              <a:t> is related to </a:t>
            </a:r>
            <a:r>
              <a:rPr lang="en-US" sz="1800" b="1" dirty="0">
                <a:solidFill>
                  <a:srgbClr val="DFA70B"/>
                </a:solidFill>
                <a:latin typeface="Helvetica Neue" charset="0"/>
                <a:ea typeface="Helvetica Neue" charset="0"/>
                <a:cs typeface="Helvetica Neue" charset="0"/>
              </a:rPr>
              <a:t>sales</a:t>
            </a:r>
            <a:r>
              <a:rPr lang="en-US" sz="1800" dirty="0">
                <a:latin typeface="Helvetica Neue" charset="0"/>
                <a:ea typeface="Helvetica Neue" charset="0"/>
                <a:cs typeface="Helvetica Neue" charset="0"/>
              </a:rPr>
              <a:t>. </a:t>
            </a:r>
          </a:p>
          <a:p>
            <a:pPr marL="0" indent="0">
              <a:buNone/>
              <a:defRPr/>
            </a:pPr>
            <a:endParaRPr lang="en-US" sz="1800" dirty="0">
              <a:latin typeface="Helvetica Neue" charset="0"/>
              <a:ea typeface="Helvetica Neue" charset="0"/>
              <a:cs typeface="Helvetica Neue" charset="0"/>
            </a:endParaRPr>
          </a:p>
          <a:p>
            <a:pPr marL="0" indent="0">
              <a:buNone/>
              <a:defRPr/>
            </a:pPr>
            <a:r>
              <a:rPr lang="en-US" sz="1800" dirty="0">
                <a:latin typeface="Helvetica Neue" charset="0"/>
                <a:ea typeface="Helvetica Neue" charset="0"/>
                <a:cs typeface="Helvetica Neue" charset="0"/>
              </a:rPr>
              <a:t>This company intends to increase the sales with an effective advertising </a:t>
            </a:r>
            <a:br>
              <a:rPr lang="en-US" sz="1800" dirty="0">
                <a:latin typeface="Helvetica Neue" charset="0"/>
                <a:ea typeface="Helvetica Neue" charset="0"/>
                <a:cs typeface="Helvetica Neue" charset="0"/>
              </a:rPr>
            </a:br>
            <a:r>
              <a:rPr lang="en-US" sz="1800" dirty="0">
                <a:latin typeface="Helvetica Neue" charset="0"/>
                <a:ea typeface="Helvetica Neue" charset="0"/>
                <a:cs typeface="Helvetica Neue" charset="0"/>
              </a:rPr>
              <a:t>program.</a:t>
            </a:r>
          </a:p>
          <a:p>
            <a:pPr>
              <a:defRPr/>
            </a:pPr>
            <a:endParaRPr lang="en-US" sz="1800" dirty="0">
              <a:latin typeface="Helvetica Neue" charset="0"/>
              <a:ea typeface="Helvetica Neue" charset="0"/>
              <a:cs typeface="Helvetica Neue" charset="0"/>
            </a:endParaRPr>
          </a:p>
          <a:p>
            <a:endParaRPr lang="en-US" sz="1800" dirty="0">
              <a:latin typeface="Helvetica Neue" charset="0"/>
              <a:ea typeface="Helvetica Neue" charset="0"/>
              <a:cs typeface="Helvetica Neue" charset="0"/>
            </a:endParaRPr>
          </a:p>
        </p:txBody>
      </p:sp>
    </p:spTree>
    <p:extLst>
      <p:ext uri="{BB962C8B-B14F-4D97-AF65-F5344CB8AC3E}">
        <p14:creationId xmlns:p14="http://schemas.microsoft.com/office/powerpoint/2010/main" val="43822858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151575" y="1007372"/>
            <a:ext cx="4420425" cy="1232176"/>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Bef>
                <a:spcPct val="50000"/>
              </a:spcBef>
              <a:defRPr/>
            </a:pPr>
            <a:r>
              <a:rPr lang="en-US" altLang="en-US" dirty="0">
                <a:latin typeface="Helvetica Neue" charset="0"/>
                <a:ea typeface="Helvetica Neue" charset="0"/>
                <a:cs typeface="Helvetica Neue" charset="0"/>
              </a:rPr>
              <a:t>The company observes for </a:t>
            </a:r>
            <a:r>
              <a:rPr lang="en-US" altLang="en-US" b="1" dirty="0">
                <a:solidFill>
                  <a:srgbClr val="DFA70B"/>
                </a:solidFill>
                <a:latin typeface="Helvetica Neue" charset="0"/>
                <a:ea typeface="Helvetica Neue" charset="0"/>
                <a:cs typeface="Helvetica Neue" charset="0"/>
              </a:rPr>
              <a:t>25 offices </a:t>
            </a:r>
            <a:r>
              <a:rPr lang="en-US" altLang="en-US" dirty="0">
                <a:latin typeface="Helvetica Neue" charset="0"/>
                <a:ea typeface="Helvetica Neue" charset="0"/>
                <a:cs typeface="Helvetica Neue" charset="0"/>
              </a:rPr>
              <a:t>the yearly sales </a:t>
            </a:r>
            <a:r>
              <a:rPr lang="en-US" altLang="en-US" b="1" dirty="0">
                <a:solidFill>
                  <a:srgbClr val="DFA70B"/>
                </a:solidFill>
                <a:latin typeface="Helvetica Neue" charset="0"/>
                <a:ea typeface="Helvetica Neue" charset="0"/>
                <a:cs typeface="Helvetica Neue" charset="0"/>
              </a:rPr>
              <a:t>(in thousands) </a:t>
            </a:r>
            <a:r>
              <a:rPr lang="en-US" altLang="en-US" dirty="0">
                <a:latin typeface="Helvetica Neue" charset="0"/>
                <a:ea typeface="Helvetica Neue" charset="0"/>
                <a:cs typeface="Helvetica Neue" charset="0"/>
              </a:rPr>
              <a:t>and the advertisement expenditure for the new program </a:t>
            </a:r>
            <a:r>
              <a:rPr lang="en-US" altLang="en-US" b="1" dirty="0">
                <a:solidFill>
                  <a:srgbClr val="DFA70B"/>
                </a:solidFill>
                <a:latin typeface="Helvetica Neue" charset="0"/>
                <a:ea typeface="Helvetica Neue" charset="0"/>
                <a:cs typeface="Helvetica Neue" charset="0"/>
              </a:rPr>
              <a:t>(in hundreds) </a:t>
            </a:r>
          </a:p>
          <a:p>
            <a:pPr>
              <a:spcBef>
                <a:spcPct val="50000"/>
              </a:spcBef>
              <a:defRPr/>
            </a:pPr>
            <a:r>
              <a:rPr lang="en-US" altLang="en-US" dirty="0">
                <a:latin typeface="Helvetica Neue" charset="0"/>
                <a:ea typeface="Helvetica Neue" charset="0"/>
                <a:cs typeface="Helvetica Neue" charset="0"/>
              </a:rPr>
              <a:t>        </a:t>
            </a:r>
            <a:endParaRPr lang="en-US" dirty="0">
              <a:latin typeface="Helvetica Neue" charset="0"/>
              <a:ea typeface="Helvetica Neue" charset="0"/>
              <a:cs typeface="Helvetica Neue" charset="0"/>
            </a:endParaRPr>
          </a:p>
          <a:p>
            <a:endParaRPr lang="en-US" dirty="0">
              <a:latin typeface="Helvetica Neue" charset="0"/>
              <a:ea typeface="Helvetica Neue" charset="0"/>
              <a:cs typeface="Helvetica Neue" charset="0"/>
            </a:endParaRPr>
          </a:p>
        </p:txBody>
      </p:sp>
      <p:graphicFrame>
        <p:nvGraphicFramePr>
          <p:cNvPr id="7" name="Table 6"/>
          <p:cNvGraphicFramePr>
            <a:graphicFrameLocks noGrp="1"/>
          </p:cNvGraphicFramePr>
          <p:nvPr>
            <p:extLst>
              <p:ext uri="{D42A27DB-BD31-4B8C-83A1-F6EECF244321}">
                <p14:modId xmlns:p14="http://schemas.microsoft.com/office/powerpoint/2010/main" val="4080651124"/>
              </p:ext>
            </p:extLst>
          </p:nvPr>
        </p:nvGraphicFramePr>
        <p:xfrm>
          <a:off x="5524500" y="1007372"/>
          <a:ext cx="1645285" cy="2380438"/>
        </p:xfrm>
        <a:graphic>
          <a:graphicData uri="http://schemas.openxmlformats.org/drawingml/2006/table">
            <a:tbl>
              <a:tblPr firstRow="1" bandRow="1">
                <a:tableStyleId>{912C8C85-51F0-491E-9774-3900AFEF0FD7}</a:tableStyleId>
              </a:tblPr>
              <a:tblGrid>
                <a:gridCol w="871855">
                  <a:extLst>
                    <a:ext uri="{9D8B030D-6E8A-4147-A177-3AD203B41FA5}">
                      <a16:colId xmlns:a16="http://schemas.microsoft.com/office/drawing/2014/main" val="20000"/>
                    </a:ext>
                  </a:extLst>
                </a:gridCol>
                <a:gridCol w="773430">
                  <a:extLst>
                    <a:ext uri="{9D8B030D-6E8A-4147-A177-3AD203B41FA5}">
                      <a16:colId xmlns:a16="http://schemas.microsoft.com/office/drawing/2014/main" val="20001"/>
                    </a:ext>
                  </a:extLst>
                </a:gridCol>
              </a:tblGrid>
              <a:tr h="361209">
                <a:tc>
                  <a:txBody>
                    <a:bodyPr/>
                    <a:lstStyle/>
                    <a:p>
                      <a:pPr algn="ctr"/>
                      <a:r>
                        <a:rPr lang="en-US" sz="1400" dirty="0">
                          <a:solidFill>
                            <a:schemeClr val="bg1"/>
                          </a:solidFill>
                          <a:latin typeface="Helvetica" charset="0"/>
                          <a:ea typeface="Helvetica" charset="0"/>
                          <a:cs typeface="Helvetica" charset="0"/>
                        </a:rPr>
                        <a:t>Sales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B211"/>
                    </a:solidFill>
                  </a:tcPr>
                </a:tc>
                <a:tc>
                  <a:txBody>
                    <a:bodyPr/>
                    <a:lstStyle/>
                    <a:p>
                      <a:pPr algn="ctr"/>
                      <a:r>
                        <a:rPr lang="en-US" sz="1400" dirty="0">
                          <a:solidFill>
                            <a:schemeClr val="bg1"/>
                          </a:solidFill>
                          <a:latin typeface="Helvetica" charset="0"/>
                          <a:ea typeface="Helvetica" charset="0"/>
                          <a:cs typeface="Helvetica" charset="0"/>
                        </a:rPr>
                        <a:t>ADV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B211"/>
                    </a:solidFill>
                  </a:tcPr>
                </a:tc>
                <a:extLst>
                  <a:ext uri="{0D108BD9-81ED-4DB2-BD59-A6C34878D82A}">
                    <a16:rowId xmlns:a16="http://schemas.microsoft.com/office/drawing/2014/main" val="10000"/>
                  </a:ext>
                </a:extLst>
              </a:tr>
              <a:tr h="331604">
                <a:tc>
                  <a:txBody>
                    <a:bodyPr/>
                    <a:lstStyle/>
                    <a:p>
                      <a:r>
                        <a:rPr lang="en-US" sz="1400" dirty="0">
                          <a:solidFill>
                            <a:schemeClr val="tx1"/>
                          </a:solidFill>
                          <a:latin typeface="Helvetica" charset="0"/>
                          <a:ea typeface="Helvetica" charset="0"/>
                          <a:cs typeface="Helvetica" charset="0"/>
                        </a:rPr>
                        <a:t>963.50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solidFill>
                            <a:schemeClr val="tx1"/>
                          </a:solidFill>
                          <a:latin typeface="Helvetica" charset="0"/>
                          <a:ea typeface="Helvetica" charset="0"/>
                          <a:cs typeface="Helvetica" charset="0"/>
                        </a:rPr>
                        <a:t>374.27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31604">
                <a:tc>
                  <a:txBody>
                    <a:bodyPr/>
                    <a:lstStyle/>
                    <a:p>
                      <a:r>
                        <a:rPr lang="en-US" sz="1400" dirty="0">
                          <a:solidFill>
                            <a:schemeClr val="tx1"/>
                          </a:solidFill>
                          <a:latin typeface="Helvetica" charset="0"/>
                          <a:ea typeface="Helvetica" charset="0"/>
                          <a:cs typeface="Helvetica" charset="0"/>
                        </a:rPr>
                        <a:t>893.00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solidFill>
                            <a:schemeClr val="tx1"/>
                          </a:solidFill>
                          <a:latin typeface="Helvetica" charset="0"/>
                          <a:ea typeface="Helvetica" charset="0"/>
                          <a:cs typeface="Helvetica" charset="0"/>
                        </a:rPr>
                        <a:t>408.50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31604">
                <a:tc>
                  <a:txBody>
                    <a:bodyPr/>
                    <a:lstStyle/>
                    <a:p>
                      <a:r>
                        <a:rPr lang="en-US" sz="1400" dirty="0">
                          <a:solidFill>
                            <a:schemeClr val="tx1"/>
                          </a:solidFill>
                          <a:latin typeface="Helvetica" charset="0"/>
                          <a:ea typeface="Helvetica" charset="0"/>
                          <a:cs typeface="Helvetica" charset="0"/>
                        </a:rPr>
                        <a:t>1057.25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solidFill>
                            <a:schemeClr val="tx1"/>
                          </a:solidFill>
                          <a:latin typeface="Helvetica" charset="0"/>
                          <a:ea typeface="Helvetica" charset="0"/>
                          <a:cs typeface="Helvetica" charset="0"/>
                        </a:rPr>
                        <a:t>414.31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31604">
                <a:tc>
                  <a:txBody>
                    <a:bodyPr/>
                    <a:lstStyle/>
                    <a:p>
                      <a:r>
                        <a:rPr lang="en-US" sz="1400" dirty="0">
                          <a:solidFill>
                            <a:schemeClr val="tx1"/>
                          </a:solidFill>
                          <a:latin typeface="Helvetica" charset="0"/>
                          <a:ea typeface="Helvetica" charset="0"/>
                          <a:cs typeface="Helvetica" charset="0"/>
                        </a:rPr>
                        <a:t>1183.25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solidFill>
                            <a:schemeClr val="tx1"/>
                          </a:solidFill>
                          <a:latin typeface="Helvetica" charset="0"/>
                          <a:ea typeface="Helvetica" charset="0"/>
                          <a:cs typeface="Helvetica" charset="0"/>
                        </a:rPr>
                        <a:t>448.42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31604">
                <a:tc>
                  <a:txBody>
                    <a:bodyPr/>
                    <a:lstStyle/>
                    <a:p>
                      <a:r>
                        <a:rPr lang="en-US" sz="1400" dirty="0">
                          <a:solidFill>
                            <a:schemeClr val="tx1"/>
                          </a:solidFill>
                          <a:latin typeface="Helvetica" charset="0"/>
                          <a:ea typeface="Helvetica" charset="0"/>
                          <a:cs typeface="Helvetica" charset="0"/>
                        </a:rPr>
                        <a:t>1419.50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solidFill>
                            <a:schemeClr val="tx1"/>
                          </a:solidFill>
                          <a:latin typeface="Helvetica" charset="0"/>
                          <a:ea typeface="Helvetica" charset="0"/>
                          <a:cs typeface="Helvetica" charset="0"/>
                        </a:rPr>
                        <a:t>517.88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61209">
                <a:tc>
                  <a:txBody>
                    <a:bodyPr/>
                    <a:lstStyle/>
                    <a:p>
                      <a:r>
                        <a:rPr lang="is-IS" sz="1400" dirty="0">
                          <a:solidFill>
                            <a:schemeClr val="tx1"/>
                          </a:solidFill>
                          <a:latin typeface="Helvetica" charset="0"/>
                          <a:ea typeface="Helvetica" charset="0"/>
                          <a:cs typeface="Helvetica" charset="0"/>
                        </a:rPr>
                        <a:t>…</a:t>
                      </a:r>
                      <a:endParaRPr lang="en-US" sz="1400" dirty="0">
                        <a:solidFill>
                          <a:schemeClr val="tx1"/>
                        </a:solidFill>
                        <a:latin typeface="Helvetica" charset="0"/>
                        <a:ea typeface="Helvetica" charset="0"/>
                        <a:cs typeface="Helvetica"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400" dirty="0">
                        <a:solidFill>
                          <a:schemeClr val="tx1"/>
                        </a:solidFill>
                        <a:latin typeface="Helvetica" charset="0"/>
                        <a:ea typeface="Helvetica" charset="0"/>
                        <a:cs typeface="Helvetica"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Title 1"/>
          <p:cNvSpPr>
            <a:spLocks noGrp="1"/>
          </p:cNvSpPr>
          <p:nvPr>
            <p:ph type="title"/>
          </p:nvPr>
        </p:nvSpPr>
        <p:spPr>
          <a:xfrm>
            <a:off x="119830" y="214588"/>
            <a:ext cx="8562392" cy="993775"/>
          </a:xfrm>
          <a:prstGeom prst="rect">
            <a:avLst/>
          </a:prstGeom>
        </p:spPr>
        <p:txBody>
          <a:bodyPr>
            <a:noAutofit/>
          </a:bodyPr>
          <a:lstStyle/>
          <a:p>
            <a:r>
              <a:rPr lang="en-US" altLang="en-US" sz="3600" dirty="0">
                <a:latin typeface="Vitesse" charset="0"/>
                <a:ea typeface="Vitesse" charset="0"/>
                <a:cs typeface="Vitesse" charset="0"/>
              </a:rPr>
              <a:t>Data Example 1</a:t>
            </a:r>
          </a:p>
        </p:txBody>
      </p:sp>
    </p:spTree>
    <p:extLst>
      <p:ext uri="{BB962C8B-B14F-4D97-AF65-F5344CB8AC3E}">
        <p14:creationId xmlns:p14="http://schemas.microsoft.com/office/powerpoint/2010/main" val="30403475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126345" y="1034589"/>
            <a:ext cx="8229151" cy="3245844"/>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457200" indent="-457200">
              <a:buFont typeface="Wingdings" panose="05000000000000000000" pitchFamily="2" charset="2"/>
              <a:buChar char="Ø"/>
            </a:pPr>
            <a:r>
              <a:rPr lang="en-US" altLang="en-US" dirty="0">
                <a:latin typeface="Helvetica Neue" charset="0"/>
                <a:ea typeface="Helvetica Neue" charset="0"/>
                <a:cs typeface="Helvetica Neue" charset="0"/>
              </a:rPr>
              <a:t>The principle of purchasing power parity </a:t>
            </a:r>
            <a:r>
              <a:rPr lang="en-US" altLang="en-US" b="1" dirty="0">
                <a:solidFill>
                  <a:srgbClr val="DFA70B"/>
                </a:solidFill>
                <a:latin typeface="Helvetica Neue" charset="0"/>
                <a:ea typeface="Helvetica Neue" charset="0"/>
                <a:cs typeface="Helvetica Neue" charset="0"/>
              </a:rPr>
              <a:t>(PPP) </a:t>
            </a:r>
            <a:r>
              <a:rPr lang="en-US" altLang="en-US" dirty="0">
                <a:latin typeface="Helvetica Neue" charset="0"/>
                <a:ea typeface="Helvetica Neue" charset="0"/>
                <a:cs typeface="Helvetica Neue" charset="0"/>
              </a:rPr>
              <a:t>states that over long periods of time </a:t>
            </a:r>
            <a:r>
              <a:rPr lang="en-US" altLang="en-US" b="1" dirty="0">
                <a:solidFill>
                  <a:srgbClr val="DFA70B"/>
                </a:solidFill>
                <a:latin typeface="Helvetica Neue" charset="0"/>
                <a:ea typeface="Helvetica Neue" charset="0"/>
                <a:cs typeface="Helvetica Neue" charset="0"/>
              </a:rPr>
              <a:t>exchange rate </a:t>
            </a:r>
            <a:r>
              <a:rPr lang="en-US" altLang="en-US" dirty="0">
                <a:latin typeface="Helvetica Neue" charset="0"/>
                <a:ea typeface="Helvetica Neue" charset="0"/>
                <a:cs typeface="Helvetica Neue" charset="0"/>
              </a:rPr>
              <a:t>changes will tend to offset the differences in </a:t>
            </a:r>
            <a:r>
              <a:rPr lang="en-US" altLang="en-US" b="1" dirty="0">
                <a:solidFill>
                  <a:srgbClr val="DFA70B"/>
                </a:solidFill>
                <a:latin typeface="Helvetica Neue" charset="0"/>
                <a:ea typeface="Helvetica Neue" charset="0"/>
                <a:cs typeface="Helvetica Neue" charset="0"/>
              </a:rPr>
              <a:t>inflation rate </a:t>
            </a:r>
            <a:r>
              <a:rPr lang="en-US" altLang="en-US" dirty="0">
                <a:latin typeface="Helvetica Neue" charset="0"/>
                <a:ea typeface="Helvetica Neue" charset="0"/>
                <a:cs typeface="Helvetica Neue" charset="0"/>
              </a:rPr>
              <a:t>between two countries. </a:t>
            </a:r>
          </a:p>
          <a:p>
            <a:pPr marL="457200" indent="-457200">
              <a:buFont typeface="Wingdings" panose="05000000000000000000" pitchFamily="2" charset="2"/>
              <a:buChar char="Ø"/>
            </a:pPr>
            <a:endParaRPr lang="en-US" altLang="en-US" dirty="0">
              <a:latin typeface="Helvetica Neue" charset="0"/>
              <a:ea typeface="Helvetica Neue" charset="0"/>
              <a:cs typeface="Helvetica Neue" charset="0"/>
            </a:endParaRPr>
          </a:p>
          <a:p>
            <a:pPr marL="457200" indent="-457200">
              <a:buFont typeface="Wingdings" panose="05000000000000000000" pitchFamily="2" charset="2"/>
              <a:buChar char="Ø"/>
            </a:pPr>
            <a:r>
              <a:rPr lang="en-US" altLang="en-US" dirty="0">
                <a:latin typeface="Helvetica Neue" charset="0"/>
                <a:ea typeface="Helvetica Neue" charset="0"/>
                <a:cs typeface="Helvetica Neue" charset="0"/>
              </a:rPr>
              <a:t>In an efficient international economy, exchange rates would give each currency the same purchasing power in its own economy. Even if it does not hold exactly, the </a:t>
            </a:r>
            <a:r>
              <a:rPr lang="en-US" altLang="en-US" b="1" dirty="0">
                <a:solidFill>
                  <a:srgbClr val="DFA70B"/>
                </a:solidFill>
                <a:latin typeface="Helvetica Neue" charset="0"/>
                <a:ea typeface="Helvetica Neue" charset="0"/>
                <a:cs typeface="Helvetica Neue" charset="0"/>
              </a:rPr>
              <a:t>PPP</a:t>
            </a:r>
            <a:r>
              <a:rPr lang="en-US" altLang="en-US" b="1" dirty="0">
                <a:solidFill>
                  <a:schemeClr val="accent6">
                    <a:lumMod val="50000"/>
                  </a:schemeClr>
                </a:solidFill>
                <a:latin typeface="Helvetica Neue" charset="0"/>
                <a:ea typeface="Helvetica Neue" charset="0"/>
                <a:cs typeface="Helvetica Neue" charset="0"/>
              </a:rPr>
              <a:t> </a:t>
            </a:r>
            <a:r>
              <a:rPr lang="en-US" altLang="en-US" dirty="0">
                <a:latin typeface="Helvetica Neue" charset="0"/>
                <a:ea typeface="Helvetica Neue" charset="0"/>
                <a:cs typeface="Helvetica Neue" charset="0"/>
              </a:rPr>
              <a:t>model provides a benchmark to suggest the levels that exchange rates should achieve. </a:t>
            </a:r>
          </a:p>
        </p:txBody>
      </p:sp>
      <p:sp>
        <p:nvSpPr>
          <p:cNvPr id="6" name="Title 1"/>
          <p:cNvSpPr>
            <a:spLocks noGrp="1"/>
          </p:cNvSpPr>
          <p:nvPr>
            <p:ph type="title"/>
          </p:nvPr>
        </p:nvSpPr>
        <p:spPr>
          <a:xfrm>
            <a:off x="113203" y="221670"/>
            <a:ext cx="8562392" cy="993775"/>
          </a:xfrm>
          <a:prstGeom prst="rect">
            <a:avLst/>
          </a:prstGeom>
        </p:spPr>
        <p:txBody>
          <a:bodyPr>
            <a:noAutofit/>
          </a:bodyPr>
          <a:lstStyle/>
          <a:p>
            <a:r>
              <a:rPr lang="en-US" altLang="en-US" sz="3600" dirty="0">
                <a:latin typeface="Vitesse" charset="0"/>
                <a:ea typeface="Vitesse" charset="0"/>
                <a:cs typeface="Vitesse" charset="0"/>
              </a:rPr>
              <a:t>Example 2</a:t>
            </a:r>
            <a:endParaRPr lang="en-US" sz="3600" dirty="0">
              <a:latin typeface="Vitesse" charset="0"/>
              <a:ea typeface="Vitesse" charset="0"/>
              <a:cs typeface="Vitesse" charset="0"/>
            </a:endParaRPr>
          </a:p>
        </p:txBody>
      </p:sp>
    </p:spTree>
    <p:extLst>
      <p:ext uri="{BB962C8B-B14F-4D97-AF65-F5344CB8AC3E}">
        <p14:creationId xmlns:p14="http://schemas.microsoft.com/office/powerpoint/2010/main" val="104856468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151574" y="1010600"/>
            <a:ext cx="8038269" cy="783998"/>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Bef>
                <a:spcPct val="50000"/>
              </a:spcBef>
              <a:defRPr/>
            </a:pPr>
            <a:r>
              <a:rPr lang="en-US" altLang="en-US" dirty="0">
                <a:latin typeface="Helvetica Neue" charset="0"/>
                <a:ea typeface="Helvetica Neue" charset="0"/>
                <a:cs typeface="Helvetica Neue" charset="0"/>
              </a:rPr>
              <a:t>The data are recorded for </a:t>
            </a:r>
            <a:r>
              <a:rPr lang="en-US" altLang="en-US" b="1" dirty="0">
                <a:solidFill>
                  <a:srgbClr val="DFA70B"/>
                </a:solidFill>
                <a:latin typeface="Helvetica Neue" charset="0"/>
                <a:ea typeface="Helvetica Neue" charset="0"/>
                <a:cs typeface="Helvetica Neue" charset="0"/>
              </a:rPr>
              <a:t>41</a:t>
            </a:r>
            <a:r>
              <a:rPr lang="en-US" altLang="en-US" b="1" dirty="0">
                <a:solidFill>
                  <a:srgbClr val="993200"/>
                </a:solidFill>
                <a:latin typeface="Helvetica Neue" charset="0"/>
                <a:ea typeface="Helvetica Neue" charset="0"/>
                <a:cs typeface="Helvetica Neue" charset="0"/>
              </a:rPr>
              <a:t> </a:t>
            </a:r>
            <a:r>
              <a:rPr lang="en-US" altLang="en-US" dirty="0">
                <a:latin typeface="Helvetica Neue" charset="0"/>
                <a:ea typeface="Helvetica Neue" charset="0"/>
                <a:cs typeface="Helvetica Neue" charset="0"/>
              </a:rPr>
              <a:t>countries, including both developed and developing countries. The data include the following columns. </a:t>
            </a:r>
          </a:p>
        </p:txBody>
      </p:sp>
      <p:graphicFrame>
        <p:nvGraphicFramePr>
          <p:cNvPr id="6" name="Table 5"/>
          <p:cNvGraphicFramePr>
            <a:graphicFrameLocks noGrp="1"/>
          </p:cNvGraphicFramePr>
          <p:nvPr>
            <p:extLst>
              <p:ext uri="{D42A27DB-BD31-4B8C-83A1-F6EECF244321}">
                <p14:modId xmlns:p14="http://schemas.microsoft.com/office/powerpoint/2010/main" val="3994273050"/>
              </p:ext>
            </p:extLst>
          </p:nvPr>
        </p:nvGraphicFramePr>
        <p:xfrm>
          <a:off x="702270" y="1909498"/>
          <a:ext cx="6860903" cy="2929454"/>
        </p:xfrm>
        <a:graphic>
          <a:graphicData uri="http://schemas.openxmlformats.org/drawingml/2006/table">
            <a:tbl>
              <a:tblPr firstRow="1" bandRow="1">
                <a:tableStyleId>{912C8C85-51F0-491E-9774-3900AFEF0FD7}</a:tableStyleId>
              </a:tblPr>
              <a:tblGrid>
                <a:gridCol w="1043680">
                  <a:extLst>
                    <a:ext uri="{9D8B030D-6E8A-4147-A177-3AD203B41FA5}">
                      <a16:colId xmlns:a16="http://schemas.microsoft.com/office/drawing/2014/main" val="20000"/>
                    </a:ext>
                  </a:extLst>
                </a:gridCol>
                <a:gridCol w="2004918">
                  <a:extLst>
                    <a:ext uri="{9D8B030D-6E8A-4147-A177-3AD203B41FA5}">
                      <a16:colId xmlns:a16="http://schemas.microsoft.com/office/drawing/2014/main" val="20001"/>
                    </a:ext>
                  </a:extLst>
                </a:gridCol>
                <a:gridCol w="2510447">
                  <a:extLst>
                    <a:ext uri="{9D8B030D-6E8A-4147-A177-3AD203B41FA5}">
                      <a16:colId xmlns:a16="http://schemas.microsoft.com/office/drawing/2014/main" val="20002"/>
                    </a:ext>
                  </a:extLst>
                </a:gridCol>
                <a:gridCol w="1301858">
                  <a:extLst>
                    <a:ext uri="{9D8B030D-6E8A-4147-A177-3AD203B41FA5}">
                      <a16:colId xmlns:a16="http://schemas.microsoft.com/office/drawing/2014/main" val="20003"/>
                    </a:ext>
                  </a:extLst>
                </a:gridCol>
              </a:tblGrid>
              <a:tr h="509439">
                <a:tc>
                  <a:txBody>
                    <a:bodyPr/>
                    <a:lstStyle/>
                    <a:p>
                      <a:r>
                        <a:rPr lang="en-US" sz="1600" dirty="0">
                          <a:latin typeface="Helvetica Neue" charset="0"/>
                          <a:ea typeface="Helvetica Neue" charset="0"/>
                          <a:cs typeface="Helvetica Neue" charset="0"/>
                        </a:rPr>
                        <a:t>Country</a:t>
                      </a:r>
                    </a:p>
                  </a:txBody>
                  <a:tcPr anchor="ctr">
                    <a:solidFill>
                      <a:srgbClr val="EEB211"/>
                    </a:solidFill>
                  </a:tcPr>
                </a:tc>
                <a:tc>
                  <a:txBody>
                    <a:bodyPr/>
                    <a:lstStyle/>
                    <a:p>
                      <a:r>
                        <a:rPr lang="en-US" altLang="en-US" sz="1600" dirty="0" err="1">
                          <a:latin typeface="Helvetica Neue" charset="0"/>
                          <a:ea typeface="Helvetica Neue" charset="0"/>
                          <a:cs typeface="Helvetica Neue" charset="0"/>
                        </a:rPr>
                        <a:t>Inflation.difference</a:t>
                      </a:r>
                      <a:r>
                        <a:rPr lang="en-US" altLang="en-US" sz="1600" dirty="0">
                          <a:latin typeface="Helvetica Neue" charset="0"/>
                          <a:ea typeface="Helvetica Neue" charset="0"/>
                          <a:cs typeface="Helvetica Neue" charset="0"/>
                        </a:rPr>
                        <a:t> </a:t>
                      </a:r>
                      <a:endParaRPr lang="en-US" sz="1600" dirty="0">
                        <a:latin typeface="Helvetica Neue" charset="0"/>
                        <a:ea typeface="Helvetica Neue" charset="0"/>
                        <a:cs typeface="Helvetica Neue" charset="0"/>
                      </a:endParaRPr>
                    </a:p>
                  </a:txBody>
                  <a:tcPr anchor="ctr">
                    <a:solidFill>
                      <a:srgbClr val="EEB211"/>
                    </a:solidFill>
                  </a:tcPr>
                </a:tc>
                <a:tc>
                  <a:txBody>
                    <a:bodyPr/>
                    <a:lstStyle/>
                    <a:p>
                      <a:r>
                        <a:rPr lang="en-US" altLang="en-US" sz="1600" dirty="0" err="1">
                          <a:latin typeface="Helvetica Neue" charset="0"/>
                          <a:ea typeface="Helvetica Neue" charset="0"/>
                          <a:cs typeface="Helvetica Neue" charset="0"/>
                        </a:rPr>
                        <a:t>Exchange.rate.change</a:t>
                      </a:r>
                      <a:r>
                        <a:rPr lang="en-US" altLang="en-US" sz="1600" dirty="0">
                          <a:latin typeface="Helvetica Neue" charset="0"/>
                          <a:ea typeface="Helvetica Neue" charset="0"/>
                          <a:cs typeface="Helvetica Neue" charset="0"/>
                        </a:rPr>
                        <a:t> </a:t>
                      </a:r>
                      <a:endParaRPr lang="en-US" sz="1600" dirty="0">
                        <a:latin typeface="Helvetica Neue" charset="0"/>
                        <a:ea typeface="Helvetica Neue" charset="0"/>
                        <a:cs typeface="Helvetica Neue" charset="0"/>
                      </a:endParaRPr>
                    </a:p>
                  </a:txBody>
                  <a:tcPr anchor="ctr">
                    <a:solidFill>
                      <a:srgbClr val="EEB211"/>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sz="1600" dirty="0">
                          <a:latin typeface="Helvetica Neue" charset="0"/>
                          <a:ea typeface="Helvetica Neue" charset="0"/>
                          <a:cs typeface="Helvetica Neue" charset="0"/>
                        </a:rPr>
                        <a:t>Developed</a:t>
                      </a:r>
                      <a:endParaRPr lang="en-US" sz="1600" dirty="0">
                        <a:latin typeface="Helvetica Neue" charset="0"/>
                        <a:ea typeface="Helvetica Neue" charset="0"/>
                        <a:cs typeface="Helvetica Neue" charset="0"/>
                      </a:endParaRPr>
                    </a:p>
                  </a:txBody>
                  <a:tcPr anchor="ctr">
                    <a:solidFill>
                      <a:srgbClr val="EEB211"/>
                    </a:solidFill>
                  </a:tcPr>
                </a:tc>
                <a:extLst>
                  <a:ext uri="{0D108BD9-81ED-4DB2-BD59-A6C34878D82A}">
                    <a16:rowId xmlns:a16="http://schemas.microsoft.com/office/drawing/2014/main" val="10000"/>
                  </a:ext>
                </a:extLst>
              </a:tr>
              <a:tr h="484003">
                <a:tc>
                  <a:txBody>
                    <a:bodyPr/>
                    <a:lstStyle/>
                    <a:p>
                      <a:pPr algn="just"/>
                      <a:r>
                        <a:rPr lang="en-US" altLang="en-US" sz="1600" dirty="0">
                          <a:latin typeface="Helvetica Neue" charset="0"/>
                          <a:ea typeface="Helvetica Neue" charset="0"/>
                          <a:cs typeface="Helvetica Neue" charset="0"/>
                        </a:rPr>
                        <a:t>Australia </a:t>
                      </a:r>
                      <a:endParaRPr lang="en-US" sz="1600" dirty="0">
                        <a:latin typeface="Helvetica Neue" charset="0"/>
                        <a:ea typeface="Helvetica Neue" charset="0"/>
                        <a:cs typeface="Helvetica Neue" charset="0"/>
                      </a:endParaRPr>
                    </a:p>
                  </a:txBody>
                  <a:tcPr/>
                </a:tc>
                <a:tc>
                  <a:txBody>
                    <a:bodyPr/>
                    <a:lstStyle/>
                    <a:p>
                      <a:pPr algn="just"/>
                      <a:r>
                        <a:rPr lang="en-US" altLang="en-US" sz="1600">
                          <a:latin typeface="Helvetica Neue" charset="0"/>
                          <a:ea typeface="Helvetica Neue" charset="0"/>
                          <a:cs typeface="Helvetica Neue" charset="0"/>
                        </a:rPr>
                        <a:t>-1.2351 </a:t>
                      </a:r>
                      <a:endParaRPr lang="en-US" sz="1600">
                        <a:latin typeface="Helvetica Neue" charset="0"/>
                        <a:ea typeface="Helvetica Neue" charset="0"/>
                        <a:cs typeface="Helvetica Neue" charset="0"/>
                      </a:endParaRPr>
                    </a:p>
                  </a:txBody>
                  <a:tcPr/>
                </a:tc>
                <a:tc>
                  <a:txBody>
                    <a:bodyPr/>
                    <a:lstStyle/>
                    <a:p>
                      <a:pPr algn="just"/>
                      <a:r>
                        <a:rPr lang="en-US" altLang="en-US" sz="1600">
                          <a:latin typeface="Helvetica Neue" charset="0"/>
                          <a:ea typeface="Helvetica Neue" charset="0"/>
                          <a:cs typeface="Helvetica Neue" charset="0"/>
                        </a:rPr>
                        <a:t>-3.1870 </a:t>
                      </a:r>
                      <a:endParaRPr lang="en-US" sz="1600">
                        <a:latin typeface="Helvetica Neue" charset="0"/>
                        <a:ea typeface="Helvetica Neue" charset="0"/>
                        <a:cs typeface="Helvetica Neue" charset="0"/>
                      </a:endParaRPr>
                    </a:p>
                  </a:txBody>
                  <a:tcPr/>
                </a:tc>
                <a:tc>
                  <a:txBody>
                    <a:bodyPr/>
                    <a:lstStyle/>
                    <a:p>
                      <a:pPr marL="0" marR="0" indent="0" algn="just" defTabSz="457200" rtl="0" eaLnBrk="1" fontAlgn="auto" latinLnBrk="0" hangingPunct="1">
                        <a:lnSpc>
                          <a:spcPct val="100000"/>
                        </a:lnSpc>
                        <a:spcBef>
                          <a:spcPts val="0"/>
                        </a:spcBef>
                        <a:spcAft>
                          <a:spcPts val="0"/>
                        </a:spcAft>
                        <a:buClrTx/>
                        <a:buSzTx/>
                        <a:buFontTx/>
                        <a:buNone/>
                        <a:tabLst/>
                        <a:defRPr/>
                      </a:pPr>
                      <a:r>
                        <a:rPr lang="en-US" altLang="en-US" sz="1600">
                          <a:latin typeface="Helvetica Neue" charset="0"/>
                          <a:ea typeface="Helvetica Neue" charset="0"/>
                          <a:cs typeface="Helvetica Neue" charset="0"/>
                        </a:rPr>
                        <a:t>1</a:t>
                      </a:r>
                    </a:p>
                  </a:txBody>
                  <a:tcPr/>
                </a:tc>
                <a:extLst>
                  <a:ext uri="{0D108BD9-81ED-4DB2-BD59-A6C34878D82A}">
                    <a16:rowId xmlns:a16="http://schemas.microsoft.com/office/drawing/2014/main" val="10001"/>
                  </a:ext>
                </a:extLst>
              </a:tr>
              <a:tr h="484003">
                <a:tc>
                  <a:txBody>
                    <a:bodyPr/>
                    <a:lstStyle/>
                    <a:p>
                      <a:pPr algn="just"/>
                      <a:r>
                        <a:rPr lang="en-US" altLang="en-US" sz="1600">
                          <a:latin typeface="Helvetica Neue" charset="0"/>
                          <a:ea typeface="Helvetica Neue" charset="0"/>
                          <a:cs typeface="Helvetica Neue" charset="0"/>
                        </a:rPr>
                        <a:t>Austria </a:t>
                      </a:r>
                      <a:endParaRPr lang="en-US" sz="1600">
                        <a:latin typeface="Helvetica Neue" charset="0"/>
                        <a:ea typeface="Helvetica Neue" charset="0"/>
                        <a:cs typeface="Helvetica Neue" charset="0"/>
                      </a:endParaRPr>
                    </a:p>
                  </a:txBody>
                  <a:tcPr/>
                </a:tc>
                <a:tc>
                  <a:txBody>
                    <a:bodyPr/>
                    <a:lstStyle/>
                    <a:p>
                      <a:pPr algn="just"/>
                      <a:r>
                        <a:rPr lang="en-US" altLang="en-US" sz="1600">
                          <a:latin typeface="Helvetica Neue" charset="0"/>
                          <a:ea typeface="Helvetica Neue" charset="0"/>
                          <a:cs typeface="Helvetica Neue" charset="0"/>
                        </a:rPr>
                        <a:t>1.5508</a:t>
                      </a:r>
                      <a:endParaRPr lang="en-US" sz="1600">
                        <a:latin typeface="Helvetica Neue" charset="0"/>
                        <a:ea typeface="Helvetica Neue" charset="0"/>
                        <a:cs typeface="Helvetica Neue" charset="0"/>
                      </a:endParaRPr>
                    </a:p>
                  </a:txBody>
                  <a:tcPr/>
                </a:tc>
                <a:tc>
                  <a:txBody>
                    <a:bodyPr/>
                    <a:lstStyle/>
                    <a:p>
                      <a:pPr algn="just"/>
                      <a:r>
                        <a:rPr lang="en-US" altLang="en-US" sz="1600">
                          <a:latin typeface="Helvetica Neue" charset="0"/>
                          <a:ea typeface="Helvetica Neue" charset="0"/>
                          <a:cs typeface="Helvetica Neue" charset="0"/>
                        </a:rPr>
                        <a:t>1.4781 </a:t>
                      </a:r>
                      <a:endParaRPr lang="en-US" sz="1600">
                        <a:latin typeface="Helvetica Neue" charset="0"/>
                        <a:ea typeface="Helvetica Neue" charset="0"/>
                        <a:cs typeface="Helvetica Neue" charset="0"/>
                      </a:endParaRPr>
                    </a:p>
                  </a:txBody>
                  <a:tcPr/>
                </a:tc>
                <a:tc>
                  <a:txBody>
                    <a:bodyPr/>
                    <a:lstStyle/>
                    <a:p>
                      <a:pPr marL="0" marR="0" indent="0" algn="just" defTabSz="457200" rtl="0" eaLnBrk="1" fontAlgn="auto" latinLnBrk="0" hangingPunct="1">
                        <a:lnSpc>
                          <a:spcPct val="100000"/>
                        </a:lnSpc>
                        <a:spcBef>
                          <a:spcPts val="0"/>
                        </a:spcBef>
                        <a:spcAft>
                          <a:spcPts val="0"/>
                        </a:spcAft>
                        <a:buClrTx/>
                        <a:buSzTx/>
                        <a:buFontTx/>
                        <a:buNone/>
                        <a:tabLst/>
                        <a:defRPr/>
                      </a:pPr>
                      <a:r>
                        <a:rPr lang="en-US" altLang="en-US" sz="1600">
                          <a:latin typeface="Helvetica Neue" charset="0"/>
                          <a:ea typeface="Helvetica Neue" charset="0"/>
                          <a:cs typeface="Helvetica Neue" charset="0"/>
                        </a:rPr>
                        <a:t>1</a:t>
                      </a:r>
                    </a:p>
                  </a:txBody>
                  <a:tcPr/>
                </a:tc>
                <a:extLst>
                  <a:ext uri="{0D108BD9-81ED-4DB2-BD59-A6C34878D82A}">
                    <a16:rowId xmlns:a16="http://schemas.microsoft.com/office/drawing/2014/main" val="10002"/>
                  </a:ext>
                </a:extLst>
              </a:tr>
              <a:tr h="484003">
                <a:tc>
                  <a:txBody>
                    <a:bodyPr/>
                    <a:lstStyle/>
                    <a:p>
                      <a:pPr algn="just"/>
                      <a:r>
                        <a:rPr lang="en-US" altLang="en-US" sz="1600">
                          <a:latin typeface="Helvetica Neue" charset="0"/>
                          <a:ea typeface="Helvetica Neue" charset="0"/>
                          <a:cs typeface="Helvetica Neue" charset="0"/>
                        </a:rPr>
                        <a:t>Belgium </a:t>
                      </a:r>
                      <a:endParaRPr lang="en-US" sz="1600">
                        <a:latin typeface="Helvetica Neue" charset="0"/>
                        <a:ea typeface="Helvetica Neue" charset="0"/>
                        <a:cs typeface="Helvetica Neue" charset="0"/>
                      </a:endParaRPr>
                    </a:p>
                  </a:txBody>
                  <a:tcPr/>
                </a:tc>
                <a:tc>
                  <a:txBody>
                    <a:bodyPr/>
                    <a:lstStyle/>
                    <a:p>
                      <a:pPr algn="just"/>
                      <a:r>
                        <a:rPr lang="en-US" altLang="en-US" sz="1600">
                          <a:latin typeface="Helvetica Neue" charset="0"/>
                          <a:ea typeface="Helvetica Neue" charset="0"/>
                          <a:cs typeface="Helvetica Neue" charset="0"/>
                        </a:rPr>
                        <a:t>1.0371</a:t>
                      </a:r>
                      <a:endParaRPr lang="en-US" sz="1600">
                        <a:latin typeface="Helvetica Neue" charset="0"/>
                        <a:ea typeface="Helvetica Neue" charset="0"/>
                        <a:cs typeface="Helvetica Neue" charset="0"/>
                      </a:endParaRPr>
                    </a:p>
                  </a:txBody>
                  <a:tcPr/>
                </a:tc>
                <a:tc>
                  <a:txBody>
                    <a:bodyPr/>
                    <a:lstStyle/>
                    <a:p>
                      <a:pPr algn="just"/>
                      <a:r>
                        <a:rPr lang="en-US" altLang="en-US" sz="1600">
                          <a:latin typeface="Helvetica Neue" charset="0"/>
                          <a:ea typeface="Helvetica Neue" charset="0"/>
                          <a:cs typeface="Helvetica Neue" charset="0"/>
                        </a:rPr>
                        <a:t>0.0395 </a:t>
                      </a:r>
                      <a:endParaRPr lang="en-US" sz="1600">
                        <a:latin typeface="Helvetica Neue" charset="0"/>
                        <a:ea typeface="Helvetica Neue" charset="0"/>
                        <a:cs typeface="Helvetica Neue" charset="0"/>
                      </a:endParaRPr>
                    </a:p>
                  </a:txBody>
                  <a:tcPr/>
                </a:tc>
                <a:tc>
                  <a:txBody>
                    <a:bodyPr/>
                    <a:lstStyle/>
                    <a:p>
                      <a:pPr marL="0" marR="0" indent="0" algn="just" defTabSz="457200" rtl="0" eaLnBrk="1" fontAlgn="auto" latinLnBrk="0" hangingPunct="1">
                        <a:lnSpc>
                          <a:spcPct val="100000"/>
                        </a:lnSpc>
                        <a:spcBef>
                          <a:spcPts val="0"/>
                        </a:spcBef>
                        <a:spcAft>
                          <a:spcPts val="0"/>
                        </a:spcAft>
                        <a:buClrTx/>
                        <a:buSzTx/>
                        <a:buFontTx/>
                        <a:buNone/>
                        <a:tabLst/>
                        <a:defRPr/>
                      </a:pPr>
                      <a:r>
                        <a:rPr lang="en-US" altLang="en-US" sz="1600">
                          <a:latin typeface="Helvetica Neue" charset="0"/>
                          <a:ea typeface="Helvetica Neue" charset="0"/>
                          <a:cs typeface="Helvetica Neue" charset="0"/>
                        </a:rPr>
                        <a:t>1</a:t>
                      </a:r>
                    </a:p>
                  </a:txBody>
                  <a:tcPr/>
                </a:tc>
                <a:extLst>
                  <a:ext uri="{0D108BD9-81ED-4DB2-BD59-A6C34878D82A}">
                    <a16:rowId xmlns:a16="http://schemas.microsoft.com/office/drawing/2014/main" val="10003"/>
                  </a:ext>
                </a:extLst>
              </a:tr>
              <a:tr h="484003">
                <a:tc>
                  <a:txBody>
                    <a:bodyPr/>
                    <a:lstStyle/>
                    <a:p>
                      <a:pPr algn="just"/>
                      <a:r>
                        <a:rPr lang="en-US" altLang="en-US" sz="1600">
                          <a:latin typeface="Helvetica Neue" charset="0"/>
                          <a:ea typeface="Helvetica Neue" charset="0"/>
                          <a:cs typeface="Helvetica Neue" charset="0"/>
                        </a:rPr>
                        <a:t>Canada </a:t>
                      </a:r>
                      <a:endParaRPr lang="en-US" sz="1600">
                        <a:latin typeface="Helvetica Neue" charset="0"/>
                        <a:ea typeface="Helvetica Neue" charset="0"/>
                        <a:cs typeface="Helvetica Neue" charset="0"/>
                      </a:endParaRPr>
                    </a:p>
                  </a:txBody>
                  <a:tcPr/>
                </a:tc>
                <a:tc>
                  <a:txBody>
                    <a:bodyPr/>
                    <a:lstStyle/>
                    <a:p>
                      <a:pPr algn="just"/>
                      <a:r>
                        <a:rPr lang="en-US" altLang="en-US" sz="1600">
                          <a:latin typeface="Helvetica Neue" charset="0"/>
                          <a:ea typeface="Helvetica Neue" charset="0"/>
                          <a:cs typeface="Helvetica Neue" charset="0"/>
                        </a:rPr>
                        <a:t>0.0461</a:t>
                      </a:r>
                      <a:endParaRPr lang="en-US" sz="1600">
                        <a:latin typeface="Helvetica Neue" charset="0"/>
                        <a:ea typeface="Helvetica Neue" charset="0"/>
                        <a:cs typeface="Helvetica Neue" charset="0"/>
                      </a:endParaRPr>
                    </a:p>
                  </a:txBody>
                  <a:tcPr/>
                </a:tc>
                <a:tc>
                  <a:txBody>
                    <a:bodyPr/>
                    <a:lstStyle/>
                    <a:p>
                      <a:pPr algn="just"/>
                      <a:r>
                        <a:rPr lang="en-US" altLang="en-US" sz="1600">
                          <a:latin typeface="Helvetica Neue" charset="0"/>
                          <a:ea typeface="Helvetica Neue" charset="0"/>
                          <a:cs typeface="Helvetica Neue" charset="0"/>
                        </a:rPr>
                        <a:t>-1.6416 </a:t>
                      </a:r>
                      <a:endParaRPr lang="en-US" sz="1600">
                        <a:latin typeface="Helvetica Neue" charset="0"/>
                        <a:ea typeface="Helvetica Neue" charset="0"/>
                        <a:cs typeface="Helvetica Neue" charset="0"/>
                      </a:endParaRPr>
                    </a:p>
                  </a:txBody>
                  <a:tcPr/>
                </a:tc>
                <a:tc>
                  <a:txBody>
                    <a:bodyPr/>
                    <a:lstStyle/>
                    <a:p>
                      <a:pPr marL="0" marR="0" indent="0" algn="just" defTabSz="457200" rtl="0" eaLnBrk="1" fontAlgn="auto" latinLnBrk="0" hangingPunct="1">
                        <a:lnSpc>
                          <a:spcPct val="100000"/>
                        </a:lnSpc>
                        <a:spcBef>
                          <a:spcPts val="0"/>
                        </a:spcBef>
                        <a:spcAft>
                          <a:spcPts val="0"/>
                        </a:spcAft>
                        <a:buClrTx/>
                        <a:buSzTx/>
                        <a:buFontTx/>
                        <a:buNone/>
                        <a:tabLst/>
                        <a:defRPr/>
                      </a:pPr>
                      <a:r>
                        <a:rPr lang="en-US" altLang="en-US" sz="1600">
                          <a:latin typeface="Helvetica Neue" charset="0"/>
                          <a:ea typeface="Helvetica Neue" charset="0"/>
                          <a:cs typeface="Helvetica Neue" charset="0"/>
                        </a:rPr>
                        <a:t>1</a:t>
                      </a:r>
                    </a:p>
                  </a:txBody>
                  <a:tcPr/>
                </a:tc>
                <a:extLst>
                  <a:ext uri="{0D108BD9-81ED-4DB2-BD59-A6C34878D82A}">
                    <a16:rowId xmlns:a16="http://schemas.microsoft.com/office/drawing/2014/main" val="10004"/>
                  </a:ext>
                </a:extLst>
              </a:tr>
              <a:tr h="484003">
                <a:tc>
                  <a:txBody>
                    <a:bodyPr/>
                    <a:lstStyle/>
                    <a:p>
                      <a:pPr algn="just"/>
                      <a:r>
                        <a:rPr lang="en-US" altLang="en-US" sz="1600">
                          <a:latin typeface="Helvetica Neue" charset="0"/>
                          <a:ea typeface="Helvetica Neue" charset="0"/>
                          <a:cs typeface="Helvetica Neue" charset="0"/>
                        </a:rPr>
                        <a:t>Chile </a:t>
                      </a:r>
                      <a:endParaRPr lang="en-US" sz="1600">
                        <a:latin typeface="Helvetica Neue" charset="0"/>
                        <a:ea typeface="Helvetica Neue" charset="0"/>
                        <a:cs typeface="Helvetica Neue" charset="0"/>
                      </a:endParaRPr>
                    </a:p>
                  </a:txBody>
                  <a:tcPr/>
                </a:tc>
                <a:tc>
                  <a:txBody>
                    <a:bodyPr/>
                    <a:lstStyle/>
                    <a:p>
                      <a:pPr algn="just"/>
                      <a:r>
                        <a:rPr lang="en-US" altLang="en-US" sz="1600">
                          <a:latin typeface="Helvetica Neue" charset="0"/>
                          <a:ea typeface="Helvetica Neue" charset="0"/>
                          <a:cs typeface="Helvetica Neue" charset="0"/>
                        </a:rPr>
                        <a:t>-18.4126 </a:t>
                      </a:r>
                      <a:endParaRPr lang="en-US" sz="1600">
                        <a:latin typeface="Helvetica Neue" charset="0"/>
                        <a:ea typeface="Helvetica Neue" charset="0"/>
                        <a:cs typeface="Helvetica Neue" charset="0"/>
                      </a:endParaRPr>
                    </a:p>
                  </a:txBody>
                  <a:tcPr/>
                </a:tc>
                <a:tc>
                  <a:txBody>
                    <a:bodyPr/>
                    <a:lstStyle/>
                    <a:p>
                      <a:pPr algn="just"/>
                      <a:r>
                        <a:rPr lang="en-US" altLang="en-US" sz="1600">
                          <a:latin typeface="Helvetica Neue" charset="0"/>
                          <a:ea typeface="Helvetica Neue" charset="0"/>
                          <a:cs typeface="Helvetica Neue" charset="0"/>
                        </a:rPr>
                        <a:t>-20.6329 </a:t>
                      </a:r>
                      <a:endParaRPr lang="en-US" sz="1600">
                        <a:latin typeface="Helvetica Neue" charset="0"/>
                        <a:ea typeface="Helvetica Neue" charset="0"/>
                        <a:cs typeface="Helvetica Neue" charset="0"/>
                      </a:endParaRPr>
                    </a:p>
                  </a:txBody>
                  <a:tcPr/>
                </a:tc>
                <a:tc>
                  <a:txBody>
                    <a:bodyPr/>
                    <a:lstStyle/>
                    <a:p>
                      <a:pPr marL="0" marR="0" indent="0" algn="just" defTabSz="457200" rtl="0" eaLnBrk="1" fontAlgn="auto" latinLnBrk="0" hangingPunct="1">
                        <a:lnSpc>
                          <a:spcPct val="100000"/>
                        </a:lnSpc>
                        <a:spcBef>
                          <a:spcPts val="0"/>
                        </a:spcBef>
                        <a:spcAft>
                          <a:spcPts val="0"/>
                        </a:spcAft>
                        <a:buClrTx/>
                        <a:buSzTx/>
                        <a:buFontTx/>
                        <a:buNone/>
                        <a:tabLst/>
                        <a:defRPr/>
                      </a:pPr>
                      <a:r>
                        <a:rPr lang="en-US" altLang="en-US" sz="1600" dirty="0">
                          <a:latin typeface="Helvetica Neue" charset="0"/>
                          <a:ea typeface="Helvetica Neue" charset="0"/>
                          <a:cs typeface="Helvetica Neue" charset="0"/>
                        </a:rPr>
                        <a:t>0</a:t>
                      </a:r>
                    </a:p>
                  </a:txBody>
                  <a:tcPr/>
                </a:tc>
                <a:extLst>
                  <a:ext uri="{0D108BD9-81ED-4DB2-BD59-A6C34878D82A}">
                    <a16:rowId xmlns:a16="http://schemas.microsoft.com/office/drawing/2014/main" val="10005"/>
                  </a:ext>
                </a:extLst>
              </a:tr>
            </a:tbl>
          </a:graphicData>
        </a:graphic>
      </p:graphicFrame>
      <p:sp>
        <p:nvSpPr>
          <p:cNvPr id="10" name="Title 1"/>
          <p:cNvSpPr>
            <a:spLocks noGrp="1"/>
          </p:cNvSpPr>
          <p:nvPr>
            <p:ph type="title"/>
          </p:nvPr>
        </p:nvSpPr>
        <p:spPr>
          <a:xfrm>
            <a:off x="113204" y="207962"/>
            <a:ext cx="8562392" cy="993775"/>
          </a:xfrm>
          <a:prstGeom prst="rect">
            <a:avLst/>
          </a:prstGeom>
        </p:spPr>
        <p:txBody>
          <a:bodyPr>
            <a:noAutofit/>
          </a:bodyPr>
          <a:lstStyle/>
          <a:p>
            <a:r>
              <a:rPr lang="en-US" altLang="en-US" sz="3600" dirty="0">
                <a:latin typeface="Vitesse" charset="0"/>
                <a:ea typeface="Vitesse" charset="0"/>
                <a:cs typeface="Vitesse" charset="0"/>
              </a:rPr>
              <a:t>Data Example 2</a:t>
            </a:r>
          </a:p>
        </p:txBody>
      </p:sp>
    </p:spTree>
    <p:extLst>
      <p:ext uri="{BB962C8B-B14F-4D97-AF65-F5344CB8AC3E}">
        <p14:creationId xmlns:p14="http://schemas.microsoft.com/office/powerpoint/2010/main" val="11198561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a:spLocks noChangeArrowheads="1"/>
          </p:cNvSpPr>
          <p:nvPr/>
        </p:nvSpPr>
        <p:spPr bwMode="auto">
          <a:xfrm>
            <a:off x="692147" y="4229188"/>
            <a:ext cx="7138360" cy="584775"/>
          </a:xfrm>
          <a:prstGeom prst="rect">
            <a:avLst/>
          </a:prstGeom>
          <a:solidFill>
            <a:schemeClr val="bg1"/>
          </a:solidFill>
          <a:ln w="38100">
            <a:solidFill>
              <a:srgbClr val="385D8A"/>
            </a:solidFill>
            <a:miter lim="800000"/>
            <a:headEnd/>
            <a:tailEnd/>
          </a:ln>
        </p:spPr>
        <p:txBody>
          <a:bodyPr wrap="squar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r>
              <a:rPr lang="en-US" altLang="en-US" sz="1600" b="1" i="1" dirty="0">
                <a:solidFill>
                  <a:schemeClr val="bg2">
                    <a:lumMod val="10000"/>
                  </a:schemeClr>
                </a:solidFill>
                <a:latin typeface="Helvetica Neue" charset="0"/>
                <a:ea typeface="Helvetica Neue" charset="0"/>
                <a:cs typeface="Helvetica Neue" charset="0"/>
              </a:rPr>
              <a:t>The data file includes many </a:t>
            </a:r>
            <a:r>
              <a:rPr lang="en-US" altLang="en-US" sz="1600" b="1" dirty="0">
                <a:solidFill>
                  <a:schemeClr val="bg2">
                    <a:lumMod val="10000"/>
                  </a:schemeClr>
                </a:solidFill>
                <a:latin typeface="Helvetica Neue" charset="0"/>
                <a:ea typeface="Helvetica Neue" charset="0"/>
                <a:cs typeface="Helvetica Neue" charset="0"/>
              </a:rPr>
              <a:t>other</a:t>
            </a:r>
            <a:r>
              <a:rPr lang="en-US" altLang="en-US" sz="1600" b="1" i="1" dirty="0">
                <a:solidFill>
                  <a:schemeClr val="bg2">
                    <a:lumMod val="10000"/>
                  </a:schemeClr>
                </a:solidFill>
                <a:latin typeface="Helvetica Neue" charset="0"/>
                <a:ea typeface="Helvetica Neue" charset="0"/>
                <a:cs typeface="Helvetica Neue" charset="0"/>
              </a:rPr>
              <a:t> variables characterizing the counties. We will focus only on the number of votes in this analysis.</a:t>
            </a:r>
            <a:endParaRPr lang="en-US" altLang="en-US" sz="1600" b="1" dirty="0">
              <a:solidFill>
                <a:schemeClr val="bg2">
                  <a:lumMod val="10000"/>
                </a:schemeClr>
              </a:solidFill>
              <a:latin typeface="Helvetica Neue" charset="0"/>
              <a:ea typeface="Helvetica Neue" charset="0"/>
              <a:cs typeface="Helvetica Neue" charset="0"/>
            </a:endParaRPr>
          </a:p>
        </p:txBody>
      </p:sp>
      <p:sp>
        <p:nvSpPr>
          <p:cNvPr id="7" name="Content Placeholder 2"/>
          <p:cNvSpPr txBox="1">
            <a:spLocks/>
          </p:cNvSpPr>
          <p:nvPr/>
        </p:nvSpPr>
        <p:spPr>
          <a:xfrm>
            <a:off x="131696" y="1007156"/>
            <a:ext cx="8031643" cy="29940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457200" indent="-457200">
              <a:buClr>
                <a:schemeClr val="tx1"/>
              </a:buClr>
              <a:buFont typeface="Wingdings" panose="05000000000000000000" pitchFamily="2" charset="2"/>
              <a:buChar char="Ø"/>
            </a:pPr>
            <a:r>
              <a:rPr lang="en-US" altLang="en-US" dirty="0">
                <a:latin typeface="Helvetica Neue" charset="0"/>
                <a:ea typeface="Helvetica Neue" charset="0"/>
                <a:cs typeface="Helvetica Neue" charset="0"/>
              </a:rPr>
              <a:t>In 2000 </a:t>
            </a:r>
            <a:r>
              <a:rPr lang="en-US" altLang="en-US" b="1" dirty="0">
                <a:solidFill>
                  <a:srgbClr val="DFA70B"/>
                </a:solidFill>
                <a:latin typeface="Helvetica Neue" charset="0"/>
                <a:ea typeface="Helvetica Neue" charset="0"/>
                <a:cs typeface="Helvetica Neue" charset="0"/>
              </a:rPr>
              <a:t>Bush</a:t>
            </a:r>
            <a:r>
              <a:rPr lang="en-US" altLang="en-US" dirty="0">
                <a:latin typeface="Helvetica Neue" charset="0"/>
                <a:ea typeface="Helvetica Neue" charset="0"/>
                <a:cs typeface="Helvetica Neue" charset="0"/>
              </a:rPr>
              <a:t> and </a:t>
            </a:r>
            <a:r>
              <a:rPr lang="en-US" altLang="en-US" b="1" dirty="0">
                <a:solidFill>
                  <a:srgbClr val="DFA70B"/>
                </a:solidFill>
                <a:latin typeface="Helvetica Neue" charset="0"/>
                <a:ea typeface="Helvetica Neue" charset="0"/>
                <a:cs typeface="Helvetica Neue" charset="0"/>
              </a:rPr>
              <a:t>Gore</a:t>
            </a:r>
            <a:r>
              <a:rPr lang="en-US" altLang="en-US" dirty="0">
                <a:latin typeface="Helvetica Neue" charset="0"/>
                <a:ea typeface="Helvetica Neue" charset="0"/>
                <a:cs typeface="Helvetica Neue" charset="0"/>
              </a:rPr>
              <a:t> were the main candidates for President in the U.S. Buchanan, a strongly conservative candidate, was also on the ballot. In the </a:t>
            </a:r>
            <a:r>
              <a:rPr lang="en-US" altLang="en-US" b="1" dirty="0">
                <a:solidFill>
                  <a:srgbClr val="DFA70B"/>
                </a:solidFill>
                <a:latin typeface="Helvetica Neue" charset="0"/>
                <a:ea typeface="Helvetica Neue" charset="0"/>
                <a:cs typeface="Helvetica Neue" charset="0"/>
              </a:rPr>
              <a:t>state of Florida</a:t>
            </a:r>
            <a:r>
              <a:rPr lang="en-US" altLang="en-US" dirty="0">
                <a:latin typeface="Helvetica Neue" charset="0"/>
                <a:ea typeface="Helvetica Neue" charset="0"/>
                <a:cs typeface="Helvetica Neue" charset="0"/>
              </a:rPr>
              <a:t>, </a:t>
            </a:r>
            <a:r>
              <a:rPr lang="en-US" altLang="en-US" b="1" dirty="0">
                <a:solidFill>
                  <a:srgbClr val="DFA70B"/>
                </a:solidFill>
                <a:latin typeface="Helvetica Neue" charset="0"/>
                <a:ea typeface="Helvetica Neue" charset="0"/>
                <a:cs typeface="Helvetica Neue" charset="0"/>
              </a:rPr>
              <a:t>Bush</a:t>
            </a:r>
            <a:r>
              <a:rPr lang="en-US" altLang="en-US" dirty="0">
                <a:latin typeface="Helvetica Neue" charset="0"/>
                <a:ea typeface="Helvetica Neue" charset="0"/>
                <a:cs typeface="Helvetica Neue" charset="0"/>
              </a:rPr>
              <a:t> and </a:t>
            </a:r>
            <a:r>
              <a:rPr lang="en-US" altLang="en-US" b="1" dirty="0">
                <a:solidFill>
                  <a:srgbClr val="DFA70B"/>
                </a:solidFill>
                <a:latin typeface="Helvetica Neue" charset="0"/>
                <a:ea typeface="Helvetica Neue" charset="0"/>
                <a:cs typeface="Helvetica Neue" charset="0"/>
              </a:rPr>
              <a:t>Gore</a:t>
            </a:r>
            <a:r>
              <a:rPr lang="en-US" altLang="en-US" dirty="0">
                <a:latin typeface="Helvetica Neue" charset="0"/>
                <a:ea typeface="Helvetica Neue" charset="0"/>
                <a:cs typeface="Helvetica Neue" charset="0"/>
              </a:rPr>
              <a:t> essentially tied, hence the counts were examined carefully county by county. </a:t>
            </a:r>
          </a:p>
          <a:p>
            <a:pPr marL="457200" indent="-457200">
              <a:buClr>
                <a:schemeClr val="tx1"/>
              </a:buClr>
              <a:buFont typeface="Wingdings" panose="05000000000000000000" pitchFamily="2" charset="2"/>
              <a:buChar char="Ø"/>
            </a:pPr>
            <a:endParaRPr lang="en-US" altLang="en-US" dirty="0">
              <a:latin typeface="Helvetica Neue" charset="0"/>
              <a:ea typeface="Helvetica Neue" charset="0"/>
              <a:cs typeface="Helvetica Neue" charset="0"/>
            </a:endParaRPr>
          </a:p>
          <a:p>
            <a:pPr marL="457200" indent="-457200">
              <a:buClr>
                <a:schemeClr val="tx1"/>
              </a:buClr>
              <a:buFont typeface="Wingdings" panose="05000000000000000000" pitchFamily="2" charset="2"/>
              <a:buChar char="Ø"/>
            </a:pPr>
            <a:r>
              <a:rPr lang="en-US" altLang="en-US" b="1" dirty="0">
                <a:solidFill>
                  <a:srgbClr val="DFA70B"/>
                </a:solidFill>
                <a:latin typeface="Helvetica Neue" charset="0"/>
                <a:ea typeface="Helvetica Neue" charset="0"/>
                <a:cs typeface="Helvetica Neue" charset="0"/>
              </a:rPr>
              <a:t>Palm Beach County </a:t>
            </a:r>
            <a:r>
              <a:rPr lang="en-US" altLang="en-US" dirty="0">
                <a:latin typeface="Helvetica Neue" charset="0"/>
                <a:ea typeface="Helvetica Neue" charset="0"/>
                <a:cs typeface="Helvetica Neue" charset="0"/>
              </a:rPr>
              <a:t>exhibited strange results. Even though the people in this county are not conservative, many votes were cast for </a:t>
            </a:r>
            <a:r>
              <a:rPr lang="en-US" altLang="en-US" b="1" dirty="0">
                <a:solidFill>
                  <a:srgbClr val="DFA70B"/>
                </a:solidFill>
                <a:latin typeface="Helvetica Neue" charset="0"/>
                <a:ea typeface="Helvetica Neue" charset="0"/>
                <a:cs typeface="Helvetica Neue" charset="0"/>
              </a:rPr>
              <a:t>Buchanan</a:t>
            </a:r>
            <a:r>
              <a:rPr lang="en-US" altLang="en-US" dirty="0">
                <a:latin typeface="Helvetica Neue" charset="0"/>
                <a:ea typeface="Helvetica Neue" charset="0"/>
                <a:cs typeface="Helvetica Neue" charset="0"/>
              </a:rPr>
              <a:t>. Examination of the voting ballot revealed that it was easy to mistakenly vote for </a:t>
            </a:r>
            <a:r>
              <a:rPr lang="en-US" altLang="en-US" b="1" dirty="0">
                <a:solidFill>
                  <a:srgbClr val="DFA70B"/>
                </a:solidFill>
                <a:latin typeface="Helvetica Neue" charset="0"/>
                <a:ea typeface="Helvetica Neue" charset="0"/>
                <a:cs typeface="Helvetica Neue" charset="0"/>
              </a:rPr>
              <a:t>Buchanan (a conservative candidate) </a:t>
            </a:r>
            <a:r>
              <a:rPr lang="en-US" altLang="en-US" dirty="0">
                <a:latin typeface="Helvetica Neue" charset="0"/>
                <a:ea typeface="Helvetica Neue" charset="0"/>
                <a:cs typeface="Helvetica Neue" charset="0"/>
              </a:rPr>
              <a:t>when intending to vote for </a:t>
            </a:r>
            <a:r>
              <a:rPr lang="en-US" altLang="en-US" b="1" dirty="0">
                <a:solidFill>
                  <a:srgbClr val="DFA70B"/>
                </a:solidFill>
                <a:latin typeface="Helvetica Neue" charset="0"/>
                <a:ea typeface="Helvetica Neue" charset="0"/>
                <a:cs typeface="Helvetica Neue" charset="0"/>
              </a:rPr>
              <a:t>Gore</a:t>
            </a:r>
            <a:r>
              <a:rPr lang="en-US" altLang="en-US" dirty="0">
                <a:latin typeface="Helvetica Neue" charset="0"/>
                <a:ea typeface="Helvetica Neue" charset="0"/>
                <a:cs typeface="Helvetica Neue" charset="0"/>
              </a:rPr>
              <a:t>. We will thus predict whether those who voted for </a:t>
            </a:r>
            <a:r>
              <a:rPr lang="en-US" altLang="en-US" b="1" dirty="0">
                <a:solidFill>
                  <a:srgbClr val="DFA70B"/>
                </a:solidFill>
                <a:latin typeface="Helvetica Neue" charset="0"/>
                <a:ea typeface="Helvetica Neue" charset="0"/>
                <a:cs typeface="Helvetica Neue" charset="0"/>
              </a:rPr>
              <a:t>Buchanan</a:t>
            </a:r>
            <a:r>
              <a:rPr lang="en-US" altLang="en-US" dirty="0">
                <a:solidFill>
                  <a:schemeClr val="accent6">
                    <a:lumMod val="50000"/>
                  </a:schemeClr>
                </a:solidFill>
                <a:latin typeface="Helvetica Neue" charset="0"/>
                <a:ea typeface="Helvetica Neue" charset="0"/>
                <a:cs typeface="Helvetica Neue" charset="0"/>
              </a:rPr>
              <a:t> </a:t>
            </a:r>
            <a:r>
              <a:rPr lang="en-US" altLang="en-US" dirty="0">
                <a:latin typeface="Helvetica Neue" charset="0"/>
                <a:ea typeface="Helvetica Neue" charset="0"/>
                <a:cs typeface="Helvetica Neue" charset="0"/>
              </a:rPr>
              <a:t>were indeed going for a conservative candidate.</a:t>
            </a:r>
          </a:p>
        </p:txBody>
      </p:sp>
      <p:sp>
        <p:nvSpPr>
          <p:cNvPr id="2" name="Title 1"/>
          <p:cNvSpPr>
            <a:spLocks noGrp="1"/>
          </p:cNvSpPr>
          <p:nvPr>
            <p:ph type="title"/>
          </p:nvPr>
        </p:nvSpPr>
        <p:spPr>
          <a:xfrm>
            <a:off x="113201" y="207962"/>
            <a:ext cx="8562392" cy="571187"/>
          </a:xfrm>
        </p:spPr>
        <p:txBody>
          <a:bodyPr/>
          <a:lstStyle/>
          <a:p>
            <a:r>
              <a:rPr lang="en-US" altLang="en-US" sz="3600" dirty="0">
                <a:latin typeface="Vitesse" charset="0"/>
                <a:ea typeface="Vitesse" charset="0"/>
                <a:cs typeface="Vitesse" charset="0"/>
              </a:rPr>
              <a:t>Example 3</a:t>
            </a:r>
            <a:endParaRPr lang="en-US" sz="3600" dirty="0"/>
          </a:p>
        </p:txBody>
      </p:sp>
    </p:spTree>
    <p:extLst>
      <p:ext uri="{BB962C8B-B14F-4D97-AF65-F5344CB8AC3E}">
        <p14:creationId xmlns:p14="http://schemas.microsoft.com/office/powerpoint/2010/main" val="12115462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30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Text Box 2"/>
          <p:cNvSpPr txBox="1">
            <a:spLocks noChangeArrowheads="1"/>
          </p:cNvSpPr>
          <p:nvPr/>
        </p:nvSpPr>
        <p:spPr bwMode="auto">
          <a:xfrm>
            <a:off x="152019" y="227775"/>
            <a:ext cx="734888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a:spcBef>
                <a:spcPct val="0"/>
              </a:spcBef>
            </a:pPr>
            <a:r>
              <a:rPr lang="en-US" altLang="en-US" sz="3600" dirty="0">
                <a:latin typeface="Vitesse" charset="0"/>
                <a:ea typeface="Vitesse" charset="0"/>
                <a:cs typeface="Vitesse" charset="0"/>
              </a:rPr>
              <a:t>Variables in Regression</a:t>
            </a:r>
          </a:p>
        </p:txBody>
      </p:sp>
      <p:sp>
        <p:nvSpPr>
          <p:cNvPr id="5" name="TextBox 4"/>
          <p:cNvSpPr txBox="1"/>
          <p:nvPr/>
        </p:nvSpPr>
        <p:spPr>
          <a:xfrm>
            <a:off x="152019" y="1008822"/>
            <a:ext cx="8335998" cy="3416320"/>
          </a:xfrm>
          <a:prstGeom prst="rect">
            <a:avLst/>
          </a:prstGeom>
          <a:noFill/>
        </p:spPr>
        <p:txBody>
          <a:bodyPr wrap="square">
            <a:spAutoFit/>
          </a:bodyPr>
          <a:lstStyle/>
          <a:p>
            <a:pPr>
              <a:defRPr/>
            </a:pPr>
            <a:r>
              <a:rPr lang="en-US" dirty="0">
                <a:latin typeface="Helvetica Neue" charset="0"/>
                <a:ea typeface="Helvetica Neue" charset="0"/>
                <a:cs typeface="Helvetica Neue" charset="0"/>
              </a:rPr>
              <a:t>The regression framework is characterized by the following:</a:t>
            </a:r>
          </a:p>
          <a:p>
            <a:pPr>
              <a:defRPr/>
            </a:pPr>
            <a:endParaRPr lang="en-US" dirty="0">
              <a:latin typeface="Helvetica Neue" charset="0"/>
              <a:ea typeface="Helvetica Neue" charset="0"/>
              <a:cs typeface="Helvetica Neue" charset="0"/>
            </a:endParaRPr>
          </a:p>
          <a:p>
            <a:pPr marL="457200" indent="-457200">
              <a:buFontTx/>
              <a:buAutoNum type="arabicPeriod"/>
              <a:defRPr/>
            </a:pPr>
            <a:r>
              <a:rPr lang="en-US" dirty="0">
                <a:latin typeface="Helvetica Neue" charset="0"/>
                <a:ea typeface="Helvetica Neue" charset="0"/>
                <a:cs typeface="Helvetica Neue" charset="0"/>
              </a:rPr>
              <a:t>We have one particular variable that we are interested in understanding or modelling, such as sales of a particular product, or the stock price of a publicly traded firm. This variable is called the </a:t>
            </a:r>
            <a:r>
              <a:rPr lang="en-US" b="1" u="sng" dirty="0">
                <a:solidFill>
                  <a:srgbClr val="DFA70B"/>
                </a:solidFill>
                <a:latin typeface="Helvetica Neue" charset="0"/>
                <a:ea typeface="Helvetica Neue" charset="0"/>
                <a:cs typeface="Helvetica Neue" charset="0"/>
              </a:rPr>
              <a:t>response (dependent) variable</a:t>
            </a:r>
            <a:r>
              <a:rPr lang="en-US" dirty="0">
                <a:latin typeface="Helvetica Neue" charset="0"/>
                <a:ea typeface="Helvetica Neue" charset="0"/>
                <a:cs typeface="Helvetica Neue" charset="0"/>
              </a:rPr>
              <a:t>, and is usually represented by Y.</a:t>
            </a:r>
          </a:p>
          <a:p>
            <a:pPr marL="457200" indent="-457200">
              <a:buFontTx/>
              <a:buAutoNum type="arabicPeriod"/>
              <a:defRPr/>
            </a:pPr>
            <a:endParaRPr lang="en-US" dirty="0">
              <a:latin typeface="Helvetica Neue" charset="0"/>
              <a:ea typeface="Helvetica Neue" charset="0"/>
              <a:cs typeface="Helvetica Neue" charset="0"/>
            </a:endParaRPr>
          </a:p>
          <a:p>
            <a:pPr marL="457200" indent="-457200">
              <a:buFontTx/>
              <a:buAutoNum type="arabicPeriod"/>
              <a:defRPr/>
            </a:pPr>
            <a:r>
              <a:rPr lang="en-US" dirty="0">
                <a:latin typeface="Helvetica Neue" charset="0"/>
                <a:ea typeface="Helvetica Neue" charset="0"/>
                <a:cs typeface="Helvetica Neue" charset="0"/>
              </a:rPr>
              <a:t>We have a set of other variables that we think might be useful in predicting or modelling the response variable (say the price of the product, the competitors’ price, and so on; or the profits, revenues, financial position of the firm, and so on). These are called the </a:t>
            </a:r>
            <a:r>
              <a:rPr lang="en-US" b="1" u="sng" dirty="0">
                <a:solidFill>
                  <a:srgbClr val="DFA70B"/>
                </a:solidFill>
                <a:latin typeface="Helvetica Neue" charset="0"/>
                <a:ea typeface="Helvetica Neue" charset="0"/>
                <a:cs typeface="Helvetica Neue" charset="0"/>
              </a:rPr>
              <a:t>predicting</a:t>
            </a:r>
            <a:r>
              <a:rPr lang="en-US" i="1" u="sng" dirty="0">
                <a:latin typeface="Helvetica Neue" charset="0"/>
                <a:ea typeface="Helvetica Neue" charset="0"/>
                <a:cs typeface="Helvetica Neue" charset="0"/>
              </a:rPr>
              <a:t> or </a:t>
            </a:r>
            <a:r>
              <a:rPr lang="en-US" b="1" u="sng" dirty="0">
                <a:solidFill>
                  <a:srgbClr val="DFA70B"/>
                </a:solidFill>
                <a:latin typeface="Helvetica Neue" charset="0"/>
                <a:ea typeface="Helvetica Neue" charset="0"/>
                <a:cs typeface="Helvetica Neue" charset="0"/>
              </a:rPr>
              <a:t>explanatory (independent) variables</a:t>
            </a:r>
            <a:r>
              <a:rPr lang="en-US" dirty="0">
                <a:latin typeface="Helvetica Neue" charset="0"/>
                <a:ea typeface="Helvetica Neue" charset="0"/>
                <a:cs typeface="Helvetica Neue" charset="0"/>
              </a:rPr>
              <a:t>, and are usually represented by x1, x2, etc.</a:t>
            </a:r>
          </a:p>
        </p:txBody>
      </p:sp>
    </p:spTree>
    <p:extLst>
      <p:ext uri="{BB962C8B-B14F-4D97-AF65-F5344CB8AC3E}">
        <p14:creationId xmlns:p14="http://schemas.microsoft.com/office/powerpoint/2010/main" val="5548028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Text Box 2"/>
          <p:cNvSpPr txBox="1">
            <a:spLocks noChangeArrowheads="1"/>
          </p:cNvSpPr>
          <p:nvPr/>
        </p:nvSpPr>
        <p:spPr bwMode="auto">
          <a:xfrm>
            <a:off x="152016" y="234401"/>
            <a:ext cx="734888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a:spcBef>
                <a:spcPct val="0"/>
              </a:spcBef>
            </a:pPr>
            <a:r>
              <a:rPr lang="en-US" altLang="en-US" sz="3600" dirty="0">
                <a:latin typeface="Vitesse" charset="0"/>
                <a:ea typeface="Vitesse" charset="0"/>
                <a:cs typeface="Vitesse" charset="0"/>
              </a:rPr>
              <a:t>Variables in Regression</a:t>
            </a:r>
          </a:p>
        </p:txBody>
      </p:sp>
      <p:sp>
        <p:nvSpPr>
          <p:cNvPr id="12291" name="TextBox 5"/>
          <p:cNvSpPr txBox="1">
            <a:spLocks noChangeArrowheads="1"/>
          </p:cNvSpPr>
          <p:nvPr/>
        </p:nvSpPr>
        <p:spPr bwMode="auto">
          <a:xfrm>
            <a:off x="2228850" y="1028700"/>
            <a:ext cx="148590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endParaRPr lang="en-US" altLang="en-US" sz="1350"/>
          </a:p>
        </p:txBody>
      </p:sp>
      <p:sp>
        <p:nvSpPr>
          <p:cNvPr id="7" name="TextBox 6"/>
          <p:cNvSpPr txBox="1"/>
          <p:nvPr/>
        </p:nvSpPr>
        <p:spPr>
          <a:xfrm>
            <a:off x="688725" y="1285199"/>
            <a:ext cx="7626699" cy="2262158"/>
          </a:xfrm>
          <a:prstGeom prst="rect">
            <a:avLst/>
          </a:prstGeom>
          <a:solidFill>
            <a:schemeClr val="bg1"/>
          </a:solidFill>
          <a:ln w="38100">
            <a:solidFill>
              <a:srgbClr val="385D8A"/>
            </a:solidFill>
          </a:ln>
        </p:spPr>
        <p:txBody>
          <a:bodyPr wrap="square">
            <a:spAutoFit/>
          </a:bodyPr>
          <a:lstStyle/>
          <a:p>
            <a:pPr algn="ctr">
              <a:defRPr/>
            </a:pPr>
            <a:r>
              <a:rPr lang="en-US" b="1" dirty="0">
                <a:solidFill>
                  <a:srgbClr val="DFA70B"/>
                </a:solidFill>
                <a:latin typeface="Helvetica" panose="020B0604020202020204" pitchFamily="34" charset="0"/>
                <a:cs typeface="Helvetica" panose="020B0604020202020204" pitchFamily="34" charset="0"/>
              </a:rPr>
              <a:t>RESPONSE VARIABLE </a:t>
            </a:r>
            <a:r>
              <a:rPr lang="en-US" b="1" dirty="0">
                <a:solidFill>
                  <a:schemeClr val="bg2">
                    <a:lumMod val="10000"/>
                  </a:schemeClr>
                </a:solidFill>
                <a:latin typeface="Helvetica" panose="020B0604020202020204" pitchFamily="34" charset="0"/>
                <a:cs typeface="Helvetica" panose="020B0604020202020204" pitchFamily="34" charset="0"/>
              </a:rPr>
              <a:t>versus </a:t>
            </a:r>
            <a:r>
              <a:rPr lang="en-US" b="1" dirty="0">
                <a:solidFill>
                  <a:srgbClr val="DFA70B"/>
                </a:solidFill>
                <a:latin typeface="Helvetica" panose="020B0604020202020204" pitchFamily="34" charset="0"/>
                <a:cs typeface="Helvetica" panose="020B0604020202020204" pitchFamily="34" charset="0"/>
              </a:rPr>
              <a:t>PREDICTING VARIABLE</a:t>
            </a:r>
            <a:r>
              <a:rPr lang="en-US" b="1" dirty="0">
                <a:solidFill>
                  <a:schemeClr val="bg2">
                    <a:lumMod val="10000"/>
                  </a:schemeClr>
                </a:solidFill>
                <a:latin typeface="Helvetica" panose="020B0604020202020204" pitchFamily="34" charset="0"/>
                <a:cs typeface="Helvetica" panose="020B0604020202020204" pitchFamily="34" charset="0"/>
              </a:rPr>
              <a:t>?</a:t>
            </a:r>
          </a:p>
          <a:p>
            <a:pPr algn="ctr">
              <a:defRPr/>
            </a:pPr>
            <a:endParaRPr lang="en-US" b="1" dirty="0">
              <a:solidFill>
                <a:schemeClr val="bg2">
                  <a:lumMod val="10000"/>
                </a:schemeClr>
              </a:solidFill>
              <a:latin typeface="Helvetica" panose="020B0604020202020204" pitchFamily="34" charset="0"/>
              <a:cs typeface="Helvetica" panose="020B0604020202020204" pitchFamily="34" charset="0"/>
            </a:endParaRPr>
          </a:p>
          <a:p>
            <a:pPr algn="just">
              <a:defRPr/>
            </a:pPr>
            <a:r>
              <a:rPr lang="en-US" b="1" dirty="0">
                <a:solidFill>
                  <a:schemeClr val="bg2">
                    <a:lumMod val="10000"/>
                  </a:schemeClr>
                </a:solidFill>
                <a:latin typeface="Helvetica" panose="020B0604020202020204" pitchFamily="34" charset="0"/>
                <a:cs typeface="Helvetica" panose="020B0604020202020204" pitchFamily="34" charset="0"/>
              </a:rPr>
              <a:t>Response Variable: It is a </a:t>
            </a:r>
            <a:r>
              <a:rPr lang="en-US" b="1" u="sng" dirty="0">
                <a:solidFill>
                  <a:srgbClr val="DFA70B"/>
                </a:solidFill>
                <a:latin typeface="Helvetica" panose="020B0604020202020204" pitchFamily="34" charset="0"/>
                <a:cs typeface="Helvetica" panose="020B0604020202020204" pitchFamily="34" charset="0"/>
              </a:rPr>
              <a:t>Random</a:t>
            </a:r>
            <a:r>
              <a:rPr lang="en-US" b="1" dirty="0">
                <a:solidFill>
                  <a:schemeClr val="bg2">
                    <a:lumMod val="10000"/>
                  </a:schemeClr>
                </a:solidFill>
                <a:latin typeface="Helvetica" panose="020B0604020202020204" pitchFamily="34" charset="0"/>
                <a:cs typeface="Helvetica" panose="020B0604020202020204" pitchFamily="34" charset="0"/>
              </a:rPr>
              <a:t> Variable. It varies with changes in the predictor/s along with other random changes.</a:t>
            </a:r>
          </a:p>
          <a:p>
            <a:pPr algn="just">
              <a:defRPr/>
            </a:pPr>
            <a:r>
              <a:rPr lang="en-US" b="1" dirty="0">
                <a:solidFill>
                  <a:schemeClr val="bg2">
                    <a:lumMod val="10000"/>
                  </a:schemeClr>
                </a:solidFill>
                <a:latin typeface="Helvetica" panose="020B0604020202020204" pitchFamily="34" charset="0"/>
                <a:cs typeface="Helvetica" panose="020B0604020202020204" pitchFamily="34" charset="0"/>
              </a:rPr>
              <a:t> </a:t>
            </a:r>
          </a:p>
          <a:p>
            <a:pPr algn="just">
              <a:defRPr/>
            </a:pPr>
            <a:r>
              <a:rPr lang="en-US" b="1" dirty="0">
                <a:solidFill>
                  <a:schemeClr val="bg2">
                    <a:lumMod val="10000"/>
                  </a:schemeClr>
                </a:solidFill>
                <a:latin typeface="Helvetica" panose="020B0604020202020204" pitchFamily="34" charset="0"/>
                <a:cs typeface="Helvetica" panose="020B0604020202020204" pitchFamily="34" charset="0"/>
              </a:rPr>
              <a:t>Predicting Variable: It is a </a:t>
            </a:r>
            <a:r>
              <a:rPr lang="en-US" b="1" u="sng" dirty="0">
                <a:solidFill>
                  <a:srgbClr val="DFA70B"/>
                </a:solidFill>
                <a:latin typeface="Helvetica" panose="020B0604020202020204" pitchFamily="34" charset="0"/>
                <a:cs typeface="Helvetica" panose="020B0604020202020204" pitchFamily="34" charset="0"/>
              </a:rPr>
              <a:t>Fixed</a:t>
            </a:r>
            <a:r>
              <a:rPr lang="en-US" b="1" dirty="0">
                <a:solidFill>
                  <a:schemeClr val="accent6">
                    <a:lumMod val="50000"/>
                  </a:schemeClr>
                </a:solidFill>
                <a:latin typeface="Helvetica" panose="020B0604020202020204" pitchFamily="34" charset="0"/>
                <a:cs typeface="Helvetica" panose="020B0604020202020204" pitchFamily="34" charset="0"/>
              </a:rPr>
              <a:t> </a:t>
            </a:r>
            <a:r>
              <a:rPr lang="en-US" b="1" dirty="0">
                <a:solidFill>
                  <a:schemeClr val="bg2">
                    <a:lumMod val="10000"/>
                  </a:schemeClr>
                </a:solidFill>
                <a:latin typeface="Helvetica" panose="020B0604020202020204" pitchFamily="34" charset="0"/>
                <a:cs typeface="Helvetica" panose="020B0604020202020204" pitchFamily="34" charset="0"/>
              </a:rPr>
              <a:t>Variable. It does not change with the response,  but it is set fixed before the response is measured.</a:t>
            </a:r>
          </a:p>
          <a:p>
            <a:pPr algn="ctr">
              <a:defRPr/>
            </a:pPr>
            <a:endParaRPr lang="en-US" sz="1500" b="1" dirty="0">
              <a:solidFill>
                <a:schemeClr val="bg2">
                  <a:lumMod val="10000"/>
                </a:schemeClr>
              </a:solidFill>
            </a:endParaRPr>
          </a:p>
        </p:txBody>
      </p:sp>
    </p:spTree>
    <p:extLst>
      <p:ext uri="{BB962C8B-B14F-4D97-AF65-F5344CB8AC3E}">
        <p14:creationId xmlns:p14="http://schemas.microsoft.com/office/powerpoint/2010/main" val="3443886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TextBox 1"/>
          <p:cNvSpPr txBox="1">
            <a:spLocks noChangeArrowheads="1"/>
          </p:cNvSpPr>
          <p:nvPr/>
        </p:nvSpPr>
        <p:spPr bwMode="auto">
          <a:xfrm>
            <a:off x="152012" y="1030291"/>
            <a:ext cx="8408892" cy="3493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Calibri" charset="0"/>
                <a:ea typeface="MS PGothic" charset="-128"/>
              </a:defRPr>
            </a:lvl1pPr>
            <a:lvl2pPr marL="1085850" indent="-34290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marL="0" indent="0" eaLnBrk="1" hangingPunct="1">
              <a:spcBef>
                <a:spcPct val="50000"/>
              </a:spcBef>
            </a:pPr>
            <a:r>
              <a:rPr lang="en-US" altLang="en-US" sz="1700" dirty="0">
                <a:latin typeface="Helvetica Neue" charset="0"/>
                <a:ea typeface="Helvetica Neue" charset="0"/>
                <a:cs typeface="Helvetica Neue" charset="0"/>
              </a:rPr>
              <a:t>The </a:t>
            </a:r>
            <a:r>
              <a:rPr lang="en-US" altLang="en-US" sz="1700" b="1" dirty="0">
                <a:latin typeface="Helvetica Neue" charset="0"/>
                <a:ea typeface="Helvetica Neue" charset="0"/>
                <a:cs typeface="Helvetica Neue" charset="0"/>
              </a:rPr>
              <a:t>effect </a:t>
            </a:r>
            <a:r>
              <a:rPr lang="en-US" altLang="en-US" sz="1700" dirty="0">
                <a:latin typeface="Helvetica Neue" charset="0"/>
                <a:ea typeface="Helvetica Neue" charset="0"/>
                <a:cs typeface="Helvetica Neue" charset="0"/>
              </a:rPr>
              <a:t>of several types of cholesterol medications on LDL levels in humans.</a:t>
            </a:r>
          </a:p>
          <a:p>
            <a:pPr marL="801688" lvl="1">
              <a:spcBef>
                <a:spcPct val="50000"/>
              </a:spcBef>
              <a:buClr>
                <a:schemeClr val="tx1"/>
              </a:buClr>
              <a:buFont typeface="Wingdings" charset="2"/>
              <a:buChar char="Ø"/>
            </a:pPr>
            <a:r>
              <a:rPr lang="en-US" altLang="en-US" sz="1700" b="1" dirty="0">
                <a:solidFill>
                  <a:srgbClr val="DFA70B"/>
                </a:solidFill>
                <a:latin typeface="Helvetica Neue" charset="0"/>
                <a:ea typeface="Helvetica Neue" charset="0"/>
                <a:cs typeface="Helvetica Neue" charset="0"/>
              </a:rPr>
              <a:t>Response Variable: </a:t>
            </a:r>
            <a:r>
              <a:rPr lang="en-US" altLang="en-US" sz="1700" dirty="0">
                <a:latin typeface="Helvetica Neue" charset="0"/>
                <a:ea typeface="Helvetica Neue" charset="0"/>
                <a:cs typeface="Helvetica Neue" charset="0"/>
              </a:rPr>
              <a:t>Change in LDL levels</a:t>
            </a:r>
          </a:p>
          <a:p>
            <a:pPr marL="801688" lvl="1">
              <a:spcBef>
                <a:spcPct val="50000"/>
              </a:spcBef>
              <a:buClr>
                <a:schemeClr val="tx1"/>
              </a:buClr>
              <a:buFont typeface="Wingdings" charset="2"/>
              <a:buChar char="Ø"/>
            </a:pPr>
            <a:r>
              <a:rPr lang="en-US" altLang="en-US" sz="1700" b="1" dirty="0">
                <a:solidFill>
                  <a:srgbClr val="DFA70B"/>
                </a:solidFill>
                <a:latin typeface="Helvetica Neue" charset="0"/>
                <a:ea typeface="Helvetica Neue" charset="0"/>
                <a:cs typeface="Helvetica Neue" charset="0"/>
              </a:rPr>
              <a:t>Predicting Variable: </a:t>
            </a:r>
            <a:r>
              <a:rPr lang="en-US" altLang="en-US" sz="1700" dirty="0">
                <a:latin typeface="Helvetica Neue" charset="0"/>
                <a:ea typeface="Helvetica Neue" charset="0"/>
                <a:cs typeface="Helvetica Neue" charset="0"/>
              </a:rPr>
              <a:t>Type of Medication</a:t>
            </a:r>
          </a:p>
          <a:p>
            <a:pPr marL="0" indent="0" eaLnBrk="1" hangingPunct="1">
              <a:spcBef>
                <a:spcPct val="50000"/>
              </a:spcBef>
              <a:buClr>
                <a:srgbClr val="EEB211"/>
              </a:buClr>
            </a:pPr>
            <a:r>
              <a:rPr lang="en-US" altLang="en-US" sz="1700" dirty="0">
                <a:latin typeface="Helvetica Neue" charset="0"/>
                <a:ea typeface="Helvetica Neue" charset="0"/>
                <a:cs typeface="Helvetica Neue" charset="0"/>
              </a:rPr>
              <a:t>The </a:t>
            </a:r>
            <a:r>
              <a:rPr lang="en-US" altLang="en-US" sz="1700" b="1" dirty="0">
                <a:latin typeface="Helvetica Neue" charset="0"/>
                <a:ea typeface="Helvetica Neue" charset="0"/>
                <a:cs typeface="Helvetica Neue" charset="0"/>
              </a:rPr>
              <a:t>relationship</a:t>
            </a:r>
            <a:r>
              <a:rPr lang="en-US" altLang="en-US" sz="1700" dirty="0">
                <a:latin typeface="Helvetica Neue" charset="0"/>
                <a:ea typeface="Helvetica Neue" charset="0"/>
                <a:cs typeface="Helvetica Neue" charset="0"/>
              </a:rPr>
              <a:t> between driving habits and fuel efficiency</a:t>
            </a:r>
          </a:p>
          <a:p>
            <a:pPr marL="801688" lvl="1">
              <a:spcBef>
                <a:spcPct val="50000"/>
              </a:spcBef>
              <a:buClr>
                <a:schemeClr val="tx1"/>
              </a:buClr>
              <a:buFont typeface="Wingdings" charset="2"/>
              <a:buChar char="Ø"/>
            </a:pPr>
            <a:r>
              <a:rPr lang="en-US" altLang="en-US" sz="1700" b="1" dirty="0">
                <a:solidFill>
                  <a:srgbClr val="DFA70B"/>
                </a:solidFill>
                <a:latin typeface="Helvetica Neue" charset="0"/>
                <a:ea typeface="Helvetica Neue" charset="0"/>
                <a:cs typeface="Helvetica Neue" charset="0"/>
              </a:rPr>
              <a:t>Response Variable: </a:t>
            </a:r>
            <a:r>
              <a:rPr lang="en-US" altLang="en-US" sz="1700" dirty="0">
                <a:latin typeface="Helvetica Neue" charset="0"/>
                <a:ea typeface="Helvetica Neue" charset="0"/>
                <a:cs typeface="Helvetica Neue" charset="0"/>
              </a:rPr>
              <a:t>Miles Per Gallon </a:t>
            </a:r>
            <a:r>
              <a:rPr lang="en-US" altLang="en-US" sz="1700" b="1" dirty="0">
                <a:solidFill>
                  <a:srgbClr val="DFA70B"/>
                </a:solidFill>
                <a:latin typeface="Helvetica Neue" charset="0"/>
                <a:ea typeface="Helvetica Neue" charset="0"/>
                <a:cs typeface="Helvetica Neue" charset="0"/>
              </a:rPr>
              <a:t>(MPG) </a:t>
            </a:r>
            <a:r>
              <a:rPr lang="en-US" altLang="en-US" sz="1700" dirty="0">
                <a:latin typeface="Helvetica Neue" charset="0"/>
                <a:ea typeface="Helvetica Neue" charset="0"/>
                <a:cs typeface="Helvetica Neue" charset="0"/>
              </a:rPr>
              <a:t>of Fuel</a:t>
            </a:r>
          </a:p>
          <a:p>
            <a:pPr marL="801688" lvl="1">
              <a:spcBef>
                <a:spcPct val="50000"/>
              </a:spcBef>
              <a:buClr>
                <a:schemeClr val="tx1"/>
              </a:buClr>
              <a:buFont typeface="Wingdings" charset="2"/>
              <a:buChar char="Ø"/>
            </a:pPr>
            <a:r>
              <a:rPr lang="en-US" altLang="en-US" sz="1700" b="1" dirty="0">
                <a:solidFill>
                  <a:srgbClr val="DFA70B"/>
                </a:solidFill>
                <a:latin typeface="Helvetica Neue" charset="0"/>
                <a:ea typeface="Helvetica Neue" charset="0"/>
                <a:cs typeface="Helvetica Neue" charset="0"/>
              </a:rPr>
              <a:t>Predicting Variable: </a:t>
            </a:r>
            <a:r>
              <a:rPr lang="en-US" altLang="en-US" sz="1700" dirty="0">
                <a:latin typeface="Helvetica Neue" charset="0"/>
                <a:ea typeface="Helvetica Neue" charset="0"/>
                <a:cs typeface="Helvetica Neue" charset="0"/>
              </a:rPr>
              <a:t>Average Driving Speed</a:t>
            </a:r>
          </a:p>
          <a:p>
            <a:pPr marL="0" indent="0" eaLnBrk="1" hangingPunct="1">
              <a:spcBef>
                <a:spcPct val="50000"/>
              </a:spcBef>
              <a:buClr>
                <a:srgbClr val="EEB211"/>
              </a:buClr>
            </a:pPr>
            <a:r>
              <a:rPr lang="en-US" altLang="en-US" sz="1700" dirty="0">
                <a:latin typeface="Helvetica Neue" charset="0"/>
                <a:ea typeface="Helvetica Neue" charset="0"/>
                <a:cs typeface="Helvetica Neue" charset="0"/>
              </a:rPr>
              <a:t>The </a:t>
            </a:r>
            <a:r>
              <a:rPr lang="en-US" altLang="en-US" sz="1700" b="1" dirty="0">
                <a:latin typeface="Helvetica Neue" charset="0"/>
                <a:ea typeface="Helvetica Neue" charset="0"/>
                <a:cs typeface="Helvetica Neue" charset="0"/>
              </a:rPr>
              <a:t>relationship</a:t>
            </a:r>
            <a:r>
              <a:rPr lang="en-US" altLang="en-US" sz="1700" dirty="0">
                <a:latin typeface="Helvetica Neue" charset="0"/>
                <a:ea typeface="Helvetica Neue" charset="0"/>
                <a:cs typeface="Helvetica Neue" charset="0"/>
              </a:rPr>
              <a:t> between college grade point average </a:t>
            </a:r>
            <a:r>
              <a:rPr lang="en-US" altLang="en-US" sz="1700" b="1" dirty="0">
                <a:solidFill>
                  <a:srgbClr val="DFA70B"/>
                </a:solidFill>
                <a:latin typeface="Helvetica Neue" charset="0"/>
                <a:ea typeface="Helvetica Neue" charset="0"/>
                <a:cs typeface="Helvetica Neue" charset="0"/>
              </a:rPr>
              <a:t>(GPA) </a:t>
            </a:r>
            <a:r>
              <a:rPr lang="en-US" altLang="en-US" sz="1700" dirty="0">
                <a:latin typeface="Helvetica Neue" charset="0"/>
                <a:ea typeface="Helvetica Neue" charset="0"/>
                <a:cs typeface="Helvetica Neue" charset="0"/>
              </a:rPr>
              <a:t>and scores on the SAT</a:t>
            </a:r>
          </a:p>
          <a:p>
            <a:pPr marL="801688" lvl="1">
              <a:spcBef>
                <a:spcPct val="50000"/>
              </a:spcBef>
              <a:buClr>
                <a:schemeClr val="tx1"/>
              </a:buClr>
              <a:buFont typeface="Wingdings" charset="2"/>
              <a:buChar char="Ø"/>
            </a:pPr>
            <a:r>
              <a:rPr lang="en-US" altLang="en-US" sz="1700" b="1" dirty="0">
                <a:solidFill>
                  <a:srgbClr val="DFA70B"/>
                </a:solidFill>
                <a:latin typeface="Helvetica Neue" charset="0"/>
                <a:ea typeface="Helvetica Neue" charset="0"/>
                <a:cs typeface="Helvetica Neue" charset="0"/>
              </a:rPr>
              <a:t>Response Variable: </a:t>
            </a:r>
            <a:r>
              <a:rPr lang="en-US" altLang="en-US" sz="1700" dirty="0">
                <a:latin typeface="Helvetica Neue" charset="0"/>
                <a:ea typeface="Helvetica Neue" charset="0"/>
                <a:cs typeface="Helvetica Neue" charset="0"/>
              </a:rPr>
              <a:t>GPA</a:t>
            </a:r>
            <a:endParaRPr lang="en-US" altLang="en-US" sz="1700" b="1" dirty="0">
              <a:solidFill>
                <a:schemeClr val="accent6">
                  <a:lumMod val="50000"/>
                </a:schemeClr>
              </a:solidFill>
              <a:latin typeface="Helvetica Neue" charset="0"/>
              <a:ea typeface="Helvetica Neue" charset="0"/>
              <a:cs typeface="Helvetica Neue" charset="0"/>
            </a:endParaRPr>
          </a:p>
          <a:p>
            <a:pPr marL="801688" lvl="1" eaLnBrk="1" hangingPunct="1">
              <a:spcBef>
                <a:spcPct val="50000"/>
              </a:spcBef>
              <a:buClr>
                <a:schemeClr val="tx1"/>
              </a:buClr>
              <a:buFont typeface="Wingdings" charset="2"/>
              <a:buChar char="Ø"/>
            </a:pPr>
            <a:r>
              <a:rPr lang="en-US" altLang="en-US" sz="1700" b="1" dirty="0">
                <a:solidFill>
                  <a:srgbClr val="DFA70B"/>
                </a:solidFill>
                <a:latin typeface="Helvetica Neue" charset="0"/>
                <a:ea typeface="Helvetica Neue" charset="0"/>
                <a:cs typeface="Helvetica Neue" charset="0"/>
              </a:rPr>
              <a:t>Predicting Variable: </a:t>
            </a:r>
            <a:r>
              <a:rPr lang="en-US" altLang="en-US" sz="1700" dirty="0">
                <a:latin typeface="Helvetica Neue" charset="0"/>
                <a:ea typeface="Helvetica Neue" charset="0"/>
                <a:cs typeface="Helvetica Neue" charset="0"/>
              </a:rPr>
              <a:t>SAT score</a:t>
            </a:r>
          </a:p>
        </p:txBody>
      </p:sp>
      <p:sp>
        <p:nvSpPr>
          <p:cNvPr id="6" name="Text Box 2"/>
          <p:cNvSpPr txBox="1">
            <a:spLocks noChangeArrowheads="1"/>
          </p:cNvSpPr>
          <p:nvPr/>
        </p:nvSpPr>
        <p:spPr bwMode="auto">
          <a:xfrm>
            <a:off x="112263" y="226604"/>
            <a:ext cx="794937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a:spcBef>
                <a:spcPct val="0"/>
              </a:spcBef>
            </a:pPr>
            <a:r>
              <a:rPr lang="en-US" altLang="en-US" sz="3600" dirty="0">
                <a:latin typeface="Vitesse" charset="0"/>
                <a:ea typeface="Vitesse" charset="0"/>
                <a:cs typeface="Vitesse" charset="0"/>
              </a:rPr>
              <a:t>Response vs Predicting Variable</a:t>
            </a:r>
          </a:p>
        </p:txBody>
      </p:sp>
    </p:spTree>
    <p:extLst>
      <p:ext uri="{BB962C8B-B14F-4D97-AF65-F5344CB8AC3E}">
        <p14:creationId xmlns:p14="http://schemas.microsoft.com/office/powerpoint/2010/main" val="1459231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48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48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48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48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48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48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48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ChangeArrowheads="1"/>
          </p:cNvSpPr>
          <p:nvPr/>
        </p:nvSpPr>
        <p:spPr bwMode="auto">
          <a:xfrm>
            <a:off x="114365" y="212795"/>
            <a:ext cx="72122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a:spcBef>
                <a:spcPct val="0"/>
              </a:spcBef>
            </a:pPr>
            <a:r>
              <a:rPr lang="en-US" altLang="en-US" sz="3600" dirty="0">
                <a:latin typeface="Vitesse" charset="0"/>
                <a:ea typeface="Vitesse" charset="0"/>
                <a:cs typeface="Vitesse" charset="0"/>
              </a:rPr>
              <a:t>Linear Regression: General Model</a:t>
            </a:r>
          </a:p>
        </p:txBody>
      </p:sp>
      <mc:AlternateContent xmlns:mc="http://schemas.openxmlformats.org/markup-compatibility/2006" xmlns:a14="http://schemas.microsoft.com/office/drawing/2010/main">
        <mc:Choice Requires="a14">
          <p:sp>
            <p:nvSpPr>
              <p:cNvPr id="16386" name="Text Box 3"/>
              <p:cNvSpPr txBox="1">
                <a:spLocks noChangeArrowheads="1"/>
              </p:cNvSpPr>
              <p:nvPr/>
            </p:nvSpPr>
            <p:spPr bwMode="auto">
              <a:xfrm>
                <a:off x="590358" y="1285832"/>
                <a:ext cx="4057650" cy="34163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dirty="0">
                    <a:latin typeface="Helvetica Neue" charset="0"/>
                    <a:ea typeface="Helvetica Neue" charset="0"/>
                    <a:cs typeface="Helvetica Neue" charset="0"/>
                  </a:rPr>
                  <a:t>Simple linear regression</a:t>
                </a:r>
                <a:r>
                  <a:rPr lang="en-US" altLang="en-US" dirty="0">
                    <a:latin typeface="Times New Roman" charset="0"/>
                  </a:rPr>
                  <a:t/>
                </a:r>
                <a:br>
                  <a:rPr lang="en-US" altLang="en-US" dirty="0">
                    <a:latin typeface="Times New Roman" charset="0"/>
                  </a:rPr>
                </a:br>
                <a:r>
                  <a:rPr lang="en-US" altLang="en-US" dirty="0">
                    <a:latin typeface="Times New Roman" charset="0"/>
                  </a:rPr>
                  <a:t>	</a:t>
                </a:r>
                <a:r>
                  <a:rPr lang="en-US" altLang="en-US" dirty="0">
                    <a:latin typeface="KishoreFont Medium" charset="0"/>
                    <a:ea typeface="KishoreFont Medium" charset="0"/>
                    <a:cs typeface="KishoreFont Medium" charset="0"/>
                  </a:rPr>
                  <a:t>Y = </a:t>
                </a:r>
                <a14:m>
                  <m:oMath xmlns:m="http://schemas.openxmlformats.org/officeDocument/2006/math">
                    <m:r>
                      <a:rPr lang="en-US" altLang="en-US" i="1" dirty="0" smtClean="0">
                        <a:latin typeface="Cambria Math" charset="0"/>
                        <a:ea typeface="Cambria Math" charset="0"/>
                        <a:cs typeface="Cambria Math" charset="0"/>
                      </a:rPr>
                      <m:t>𝛽</m:t>
                    </m:r>
                  </m:oMath>
                </a14:m>
                <a:r>
                  <a:rPr lang="en-US" altLang="en-US" baseline="-25000" dirty="0">
                    <a:latin typeface="KishoreFont Medium" charset="0"/>
                    <a:ea typeface="KishoreFont Medium" charset="0"/>
                    <a:cs typeface="KishoreFont Medium" charset="0"/>
                  </a:rPr>
                  <a:t>0</a:t>
                </a:r>
                <a:r>
                  <a:rPr lang="en-US" altLang="en-US" dirty="0">
                    <a:latin typeface="KishoreFont Medium" charset="0"/>
                    <a:ea typeface="KishoreFont Medium" charset="0"/>
                    <a:cs typeface="KishoreFont Medium" charset="0"/>
                  </a:rPr>
                  <a:t> + </a:t>
                </a:r>
                <a14:m>
                  <m:oMath xmlns:m="http://schemas.openxmlformats.org/officeDocument/2006/math">
                    <m:r>
                      <a:rPr lang="en-US" altLang="en-US" i="1" dirty="0" smtClean="0">
                        <a:latin typeface="Cambria Math" charset="0"/>
                        <a:ea typeface="Cambria Math" charset="0"/>
                        <a:cs typeface="Cambria Math" charset="0"/>
                      </a:rPr>
                      <m:t>𝛽</m:t>
                    </m:r>
                  </m:oMath>
                </a14:m>
                <a:r>
                  <a:rPr lang="en-US" altLang="en-US" baseline="-25000" dirty="0">
                    <a:latin typeface="KishoreFont Medium" charset="0"/>
                    <a:ea typeface="KishoreFont Medium" charset="0"/>
                    <a:cs typeface="KishoreFont Medium" charset="0"/>
                  </a:rPr>
                  <a:t>1</a:t>
                </a:r>
                <a:r>
                  <a:rPr lang="en-US" altLang="en-US" dirty="0">
                    <a:latin typeface="KishoreFont Medium" charset="0"/>
                    <a:ea typeface="KishoreFont Medium" charset="0"/>
                    <a:cs typeface="KishoreFont Medium" charset="0"/>
                  </a:rPr>
                  <a:t>X + </a:t>
                </a:r>
                <a14:m>
                  <m:oMath xmlns:m="http://schemas.openxmlformats.org/officeDocument/2006/math">
                    <m:r>
                      <m:rPr>
                        <m:nor/>
                      </m:rPr>
                      <a:rPr lang="en-US" altLang="en-US" i="0" dirty="0" smtClean="0">
                        <a:latin typeface="KishoreFont Medium" charset="0"/>
                        <a:ea typeface="KishoreFont Medium" charset="0"/>
                        <a:cs typeface="KishoreFont Medium" charset="0"/>
                      </a:rPr>
                      <m:t>ε</m:t>
                    </m:r>
                  </m:oMath>
                </a14:m>
                <a:r>
                  <a:rPr lang="en-US" altLang="en-US" dirty="0">
                    <a:latin typeface="KishoreFont Medium" charset="0"/>
                    <a:ea typeface="KishoreFont Medium" charset="0"/>
                    <a:cs typeface="KishoreFont Medium" charset="0"/>
                  </a:rPr>
                  <a:t/>
                </a:r>
                <a:br>
                  <a:rPr lang="en-US" altLang="en-US" dirty="0">
                    <a:latin typeface="KishoreFont Medium" charset="0"/>
                    <a:ea typeface="KishoreFont Medium" charset="0"/>
                    <a:cs typeface="KishoreFont Medium" charset="0"/>
                  </a:rPr>
                </a:br>
                <a:endParaRPr lang="en-US" altLang="en-US" dirty="0">
                  <a:latin typeface="KishoreFont Medium" charset="0"/>
                  <a:ea typeface="KishoreFont Medium" charset="0"/>
                  <a:cs typeface="KishoreFont Medium" charset="0"/>
                </a:endParaRPr>
              </a:p>
              <a:p>
                <a:pPr eaLnBrk="1" hangingPunct="1">
                  <a:spcBef>
                    <a:spcPct val="50000"/>
                  </a:spcBef>
                  <a:buFontTx/>
                  <a:buChar char="•"/>
                </a:pPr>
                <a:endParaRPr lang="en-US" altLang="en-US" dirty="0">
                  <a:latin typeface="Times New Roman" charset="0"/>
                </a:endParaRPr>
              </a:p>
              <a:p>
                <a:pPr>
                  <a:spcBef>
                    <a:spcPct val="50000"/>
                  </a:spcBef>
                </a:pPr>
                <a:r>
                  <a:rPr lang="en-US" altLang="en-US" dirty="0">
                    <a:latin typeface="Helvetica Neue" charset="0"/>
                    <a:ea typeface="Helvetica Neue" charset="0"/>
                    <a:cs typeface="Helvetica Neue" charset="0"/>
                  </a:rPr>
                  <a:t>Multiple linear regression</a:t>
                </a:r>
                <a:br>
                  <a:rPr lang="en-US" altLang="en-US" dirty="0">
                    <a:latin typeface="Helvetica Neue" charset="0"/>
                    <a:ea typeface="Helvetica Neue" charset="0"/>
                    <a:cs typeface="Helvetica Neue" charset="0"/>
                  </a:rPr>
                </a:br>
                <a:r>
                  <a:rPr lang="en-US" altLang="en-US" dirty="0">
                    <a:latin typeface="Times New Roman" charset="0"/>
                  </a:rPr>
                  <a:t>	</a:t>
                </a:r>
                <a:r>
                  <a:rPr lang="en-US" altLang="en-US" dirty="0">
                    <a:latin typeface="KishoreFont Medium" charset="0"/>
                    <a:ea typeface="KishoreFont Medium" charset="0"/>
                    <a:cs typeface="KishoreFont Medium" charset="0"/>
                  </a:rPr>
                  <a:t>Y = </a:t>
                </a:r>
                <a14:m>
                  <m:oMath xmlns:m="http://schemas.openxmlformats.org/officeDocument/2006/math">
                    <m:r>
                      <a:rPr lang="en-US" altLang="en-US" i="1" dirty="0">
                        <a:latin typeface="Cambria Math" charset="0"/>
                        <a:ea typeface="Cambria Math" charset="0"/>
                        <a:cs typeface="Cambria Math" charset="0"/>
                      </a:rPr>
                      <m:t>𝛽</m:t>
                    </m:r>
                  </m:oMath>
                </a14:m>
                <a:r>
                  <a:rPr lang="en-US" altLang="en-US" baseline="-25000" dirty="0">
                    <a:latin typeface="KishoreFont Medium" charset="0"/>
                    <a:ea typeface="KishoreFont Medium" charset="0"/>
                    <a:cs typeface="KishoreFont Medium" charset="0"/>
                  </a:rPr>
                  <a:t>0</a:t>
                </a:r>
                <a:r>
                  <a:rPr lang="en-US" altLang="en-US" dirty="0">
                    <a:latin typeface="KishoreFont Medium" charset="0"/>
                    <a:ea typeface="KishoreFont Medium" charset="0"/>
                    <a:cs typeface="KishoreFont Medium" charset="0"/>
                  </a:rPr>
                  <a:t> + </a:t>
                </a:r>
                <a14:m>
                  <m:oMath xmlns:m="http://schemas.openxmlformats.org/officeDocument/2006/math">
                    <m:r>
                      <a:rPr lang="en-US" altLang="en-US" i="1" dirty="0">
                        <a:latin typeface="Cambria Math" charset="0"/>
                        <a:ea typeface="Cambria Math" charset="0"/>
                        <a:cs typeface="Cambria Math" charset="0"/>
                      </a:rPr>
                      <m:t>𝛽</m:t>
                    </m:r>
                  </m:oMath>
                </a14:m>
                <a:r>
                  <a:rPr lang="en-US" altLang="en-US" baseline="-25000" dirty="0">
                    <a:latin typeface="KishoreFont Medium" charset="0"/>
                    <a:ea typeface="KishoreFont Medium" charset="0"/>
                    <a:cs typeface="KishoreFont Medium" charset="0"/>
                  </a:rPr>
                  <a:t>1</a:t>
                </a:r>
                <a:r>
                  <a:rPr lang="en-US" altLang="en-US" dirty="0">
                    <a:latin typeface="KishoreFont Medium" charset="0"/>
                    <a:ea typeface="KishoreFont Medium" charset="0"/>
                    <a:cs typeface="KishoreFont Medium" charset="0"/>
                  </a:rPr>
                  <a:t>X</a:t>
                </a:r>
                <a:r>
                  <a:rPr lang="en-US" altLang="en-US" baseline="-25000" dirty="0">
                    <a:latin typeface="KishoreFont Medium" charset="0"/>
                    <a:ea typeface="KishoreFont Medium" charset="0"/>
                    <a:cs typeface="KishoreFont Medium" charset="0"/>
                  </a:rPr>
                  <a:t>1</a:t>
                </a:r>
                <a:r>
                  <a:rPr lang="en-US" altLang="en-US" dirty="0">
                    <a:latin typeface="KishoreFont Medium" charset="0"/>
                    <a:ea typeface="KishoreFont Medium" charset="0"/>
                    <a:cs typeface="KishoreFont Medium" charset="0"/>
                  </a:rPr>
                  <a:t> +</a:t>
                </a:r>
                <a:r>
                  <a:rPr lang="en-US" altLang="en-US" dirty="0">
                    <a:ea typeface="Cambria Math" charset="0"/>
                    <a:cs typeface="Cambria Math" charset="0"/>
                  </a:rPr>
                  <a:t> </a:t>
                </a:r>
                <a14:m>
                  <m:oMath xmlns:m="http://schemas.openxmlformats.org/officeDocument/2006/math">
                    <m:r>
                      <a:rPr lang="en-US" altLang="en-US" i="1" dirty="0">
                        <a:latin typeface="Cambria Math" charset="0"/>
                        <a:ea typeface="Cambria Math" charset="0"/>
                        <a:cs typeface="Cambria Math" charset="0"/>
                      </a:rPr>
                      <m:t>𝛽</m:t>
                    </m:r>
                  </m:oMath>
                </a14:m>
                <a:r>
                  <a:rPr lang="en-US" altLang="en-US" baseline="-25000" dirty="0">
                    <a:latin typeface="KishoreFont Medium" charset="0"/>
                    <a:ea typeface="KishoreFont Medium" charset="0"/>
                    <a:cs typeface="KishoreFont Medium" charset="0"/>
                  </a:rPr>
                  <a:t>2</a:t>
                </a:r>
                <a:r>
                  <a:rPr lang="en-US" altLang="en-US" dirty="0">
                    <a:latin typeface="KishoreFont Medium" charset="0"/>
                    <a:ea typeface="KishoreFont Medium" charset="0"/>
                    <a:cs typeface="KishoreFont Medium" charset="0"/>
                  </a:rPr>
                  <a:t>X</a:t>
                </a:r>
                <a:r>
                  <a:rPr lang="en-US" altLang="en-US" baseline="-25000" dirty="0">
                    <a:latin typeface="KishoreFont Medium" charset="0"/>
                    <a:ea typeface="KishoreFont Medium" charset="0"/>
                    <a:cs typeface="KishoreFont Medium" charset="0"/>
                  </a:rPr>
                  <a:t>2</a:t>
                </a:r>
                <a:r>
                  <a:rPr lang="en-US" altLang="en-US" dirty="0">
                    <a:latin typeface="KishoreFont Medium" charset="0"/>
                    <a:ea typeface="KishoreFont Medium" charset="0"/>
                    <a:cs typeface="KishoreFont Medium" charset="0"/>
                  </a:rPr>
                  <a:t> + </a:t>
                </a:r>
                <a14:m>
                  <m:oMath xmlns:m="http://schemas.openxmlformats.org/officeDocument/2006/math">
                    <m:r>
                      <m:rPr>
                        <m:nor/>
                      </m:rPr>
                      <a:rPr lang="en-US" altLang="en-US" dirty="0">
                        <a:latin typeface="KishoreFont Medium" charset="0"/>
                        <a:ea typeface="KishoreFont Medium" charset="0"/>
                        <a:cs typeface="KishoreFont Medium" charset="0"/>
                      </a:rPr>
                      <m:t>ε</m:t>
                    </m:r>
                  </m:oMath>
                </a14:m>
                <a:r>
                  <a:rPr lang="en-US" altLang="en-US" dirty="0">
                    <a:latin typeface="Times New Roman" charset="0"/>
                  </a:rPr>
                  <a:t/>
                </a:r>
                <a:br>
                  <a:rPr lang="en-US" altLang="en-US" dirty="0">
                    <a:latin typeface="Times New Roman" charset="0"/>
                  </a:rPr>
                </a:br>
                <a:endParaRPr lang="en-US" altLang="en-US" dirty="0">
                  <a:latin typeface="Times New Roman" charset="0"/>
                </a:endParaRPr>
              </a:p>
              <a:p>
                <a:pPr>
                  <a:spcBef>
                    <a:spcPct val="50000"/>
                  </a:spcBef>
                </a:pPr>
                <a:endParaRPr lang="en-US" altLang="en-US" dirty="0">
                  <a:latin typeface="Times New Roman" charset="0"/>
                </a:endParaRPr>
              </a:p>
              <a:p>
                <a:pPr>
                  <a:spcBef>
                    <a:spcPct val="50000"/>
                  </a:spcBef>
                </a:pPr>
                <a:r>
                  <a:rPr lang="en-US" altLang="en-US" dirty="0">
                    <a:latin typeface="Helvetica Neue" charset="0"/>
                    <a:ea typeface="Helvetica Neue" charset="0"/>
                    <a:cs typeface="Helvetica Neue" charset="0"/>
                  </a:rPr>
                  <a:t>Polynomial Regression</a:t>
                </a:r>
                <a:r>
                  <a:rPr lang="en-US" altLang="en-US" dirty="0">
                    <a:latin typeface="Times New Roman" charset="0"/>
                  </a:rPr>
                  <a:t/>
                </a:r>
                <a:br>
                  <a:rPr lang="en-US" altLang="en-US" dirty="0">
                    <a:latin typeface="Times New Roman" charset="0"/>
                  </a:rPr>
                </a:br>
                <a:r>
                  <a:rPr lang="en-US" altLang="en-US" dirty="0">
                    <a:latin typeface="Times New Roman" charset="0"/>
                  </a:rPr>
                  <a:t>	</a:t>
                </a:r>
                <a:r>
                  <a:rPr lang="en-US" altLang="en-US" dirty="0">
                    <a:latin typeface="KishoreFont Medium" charset="0"/>
                    <a:ea typeface="KishoreFont Medium" charset="0"/>
                    <a:cs typeface="KishoreFont Medium" charset="0"/>
                  </a:rPr>
                  <a:t>Y = </a:t>
                </a:r>
                <a14:m>
                  <m:oMath xmlns:m="http://schemas.openxmlformats.org/officeDocument/2006/math">
                    <m:r>
                      <a:rPr lang="en-US" altLang="en-US" i="1" dirty="0">
                        <a:latin typeface="Cambria Math" charset="0"/>
                        <a:ea typeface="Cambria Math" charset="0"/>
                        <a:cs typeface="Cambria Math" charset="0"/>
                      </a:rPr>
                      <m:t>𝛽</m:t>
                    </m:r>
                  </m:oMath>
                </a14:m>
                <a:r>
                  <a:rPr lang="en-US" altLang="en-US" baseline="-25000" dirty="0">
                    <a:latin typeface="KishoreFont Medium" charset="0"/>
                    <a:ea typeface="KishoreFont Medium" charset="0"/>
                    <a:cs typeface="KishoreFont Medium" charset="0"/>
                  </a:rPr>
                  <a:t>0</a:t>
                </a:r>
                <a:r>
                  <a:rPr lang="en-US" altLang="en-US" dirty="0">
                    <a:latin typeface="KishoreFont Medium" charset="0"/>
                    <a:ea typeface="KishoreFont Medium" charset="0"/>
                    <a:cs typeface="KishoreFont Medium" charset="0"/>
                  </a:rPr>
                  <a:t> + </a:t>
                </a:r>
                <a14:m>
                  <m:oMath xmlns:m="http://schemas.openxmlformats.org/officeDocument/2006/math">
                    <m:r>
                      <a:rPr lang="en-US" altLang="en-US" i="1" dirty="0">
                        <a:latin typeface="Cambria Math" charset="0"/>
                        <a:ea typeface="Cambria Math" charset="0"/>
                        <a:cs typeface="Cambria Math" charset="0"/>
                      </a:rPr>
                      <m:t>𝛽</m:t>
                    </m:r>
                  </m:oMath>
                </a14:m>
                <a:r>
                  <a:rPr lang="en-US" altLang="en-US" baseline="-25000" dirty="0">
                    <a:latin typeface="KishoreFont Medium" charset="0"/>
                    <a:ea typeface="KishoreFont Medium" charset="0"/>
                    <a:cs typeface="KishoreFont Medium" charset="0"/>
                  </a:rPr>
                  <a:t>1</a:t>
                </a:r>
                <a:r>
                  <a:rPr lang="en-US" altLang="en-US" dirty="0">
                    <a:latin typeface="KishoreFont Medium" charset="0"/>
                    <a:ea typeface="KishoreFont Medium" charset="0"/>
                    <a:cs typeface="KishoreFont Medium" charset="0"/>
                  </a:rPr>
                  <a:t>X +</a:t>
                </a:r>
                <a14:m>
                  <m:oMath xmlns:m="http://schemas.openxmlformats.org/officeDocument/2006/math">
                    <m:r>
                      <a:rPr lang="en-US" altLang="en-US" i="1" dirty="0">
                        <a:latin typeface="Cambria Math" charset="0"/>
                        <a:ea typeface="Cambria Math" charset="0"/>
                        <a:cs typeface="Cambria Math" charset="0"/>
                      </a:rPr>
                      <m:t>𝛽</m:t>
                    </m:r>
                  </m:oMath>
                </a14:m>
                <a:r>
                  <a:rPr lang="en-US" altLang="en-US" baseline="-25000" dirty="0">
                    <a:latin typeface="KishoreFont Medium" charset="0"/>
                    <a:ea typeface="KishoreFont Medium" charset="0"/>
                    <a:cs typeface="KishoreFont Medium" charset="0"/>
                  </a:rPr>
                  <a:t>2</a:t>
                </a:r>
                <a:r>
                  <a:rPr lang="en-US" altLang="en-US" dirty="0">
                    <a:latin typeface="KishoreFont Medium" charset="0"/>
                    <a:ea typeface="KishoreFont Medium" charset="0"/>
                    <a:cs typeface="KishoreFont Medium" charset="0"/>
                  </a:rPr>
                  <a:t>X</a:t>
                </a:r>
                <a:r>
                  <a:rPr lang="en-US" altLang="en-US" baseline="30000" dirty="0">
                    <a:latin typeface="KishoreFont Medium" charset="0"/>
                    <a:ea typeface="KishoreFont Medium" charset="0"/>
                    <a:cs typeface="KishoreFont Medium" charset="0"/>
                  </a:rPr>
                  <a:t>2</a:t>
                </a:r>
                <a:r>
                  <a:rPr lang="en-US" altLang="en-US" baseline="-25000" dirty="0">
                    <a:latin typeface="KishoreFont Medium" charset="0"/>
                    <a:ea typeface="KishoreFont Medium" charset="0"/>
                    <a:cs typeface="KishoreFont Medium" charset="0"/>
                  </a:rPr>
                  <a:t> </a:t>
                </a:r>
                <a:r>
                  <a:rPr lang="en-US" altLang="en-US" dirty="0">
                    <a:latin typeface="KishoreFont Medium" charset="0"/>
                    <a:ea typeface="KishoreFont Medium" charset="0"/>
                    <a:cs typeface="KishoreFont Medium" charset="0"/>
                  </a:rPr>
                  <a:t>+ </a:t>
                </a:r>
                <a14:m>
                  <m:oMath xmlns:m="http://schemas.openxmlformats.org/officeDocument/2006/math">
                    <m:r>
                      <m:rPr>
                        <m:nor/>
                      </m:rPr>
                      <a:rPr lang="en-US" altLang="en-US" dirty="0">
                        <a:latin typeface="KishoreFont Medium" charset="0"/>
                        <a:ea typeface="KishoreFont Medium" charset="0"/>
                        <a:cs typeface="KishoreFont Medium" charset="0"/>
                      </a:rPr>
                      <m:t>ε</m:t>
                    </m:r>
                  </m:oMath>
                </a14:m>
                <a:endParaRPr lang="en-US" altLang="en-US" dirty="0">
                  <a:latin typeface="Times New Roman" charset="0"/>
                </a:endParaRPr>
              </a:p>
            </p:txBody>
          </p:sp>
        </mc:Choice>
        <mc:Fallback xmlns="">
          <p:sp>
            <p:nvSpPr>
              <p:cNvPr id="16386" name="Text Box 3"/>
              <p:cNvSpPr txBox="1">
                <a:spLocks noRot="1" noChangeAspect="1" noMove="1" noResize="1" noEditPoints="1" noAdjustHandles="1" noChangeArrowheads="1" noChangeShapeType="1" noTextEdit="1"/>
              </p:cNvSpPr>
              <p:nvPr/>
            </p:nvSpPr>
            <p:spPr bwMode="auto">
              <a:xfrm>
                <a:off x="590358" y="1285832"/>
                <a:ext cx="4057650" cy="3416320"/>
              </a:xfrm>
              <a:prstGeom prst="rect">
                <a:avLst/>
              </a:prstGeom>
              <a:blipFill>
                <a:blip r:embed="rId2"/>
                <a:stretch>
                  <a:fillRect l="-1353" t="-1071" b="-196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nvGrpSpPr>
          <p:cNvPr id="2" name="Group 11"/>
          <p:cNvGrpSpPr>
            <a:grpSpLocks/>
          </p:cNvGrpSpPr>
          <p:nvPr/>
        </p:nvGrpSpPr>
        <p:grpSpPr bwMode="auto">
          <a:xfrm>
            <a:off x="4095663" y="1121491"/>
            <a:ext cx="1371600" cy="758428"/>
            <a:chOff x="3456" y="1632"/>
            <a:chExt cx="1152" cy="637"/>
          </a:xfrm>
        </p:grpSpPr>
        <p:sp>
          <p:nvSpPr>
            <p:cNvPr id="16399" name="Line 4"/>
            <p:cNvSpPr>
              <a:spLocks noChangeShapeType="1"/>
            </p:cNvSpPr>
            <p:nvPr/>
          </p:nvSpPr>
          <p:spPr bwMode="auto">
            <a:xfrm flipV="1">
              <a:off x="3456" y="1776"/>
              <a:ext cx="1152" cy="384"/>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sz="1350"/>
            </a:p>
          </p:txBody>
        </p:sp>
        <p:sp>
          <p:nvSpPr>
            <p:cNvPr id="16400" name="Text Box 5"/>
            <p:cNvSpPr txBox="1">
              <a:spLocks noChangeArrowheads="1"/>
            </p:cNvSpPr>
            <p:nvPr/>
          </p:nvSpPr>
          <p:spPr bwMode="auto">
            <a:xfrm>
              <a:off x="3456" y="1776"/>
              <a:ext cx="144"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sz="2100">
                  <a:latin typeface="Times New Roman" charset="0"/>
                </a:rPr>
                <a:t>.</a:t>
              </a:r>
            </a:p>
          </p:txBody>
        </p:sp>
        <p:sp>
          <p:nvSpPr>
            <p:cNvPr id="16401" name="Text Box 6"/>
            <p:cNvSpPr txBox="1">
              <a:spLocks noChangeArrowheads="1"/>
            </p:cNvSpPr>
            <p:nvPr/>
          </p:nvSpPr>
          <p:spPr bwMode="auto">
            <a:xfrm>
              <a:off x="3552" y="1872"/>
              <a:ext cx="144"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sz="2100">
                  <a:latin typeface="Times New Roman" charset="0"/>
                </a:rPr>
                <a:t>.</a:t>
              </a:r>
            </a:p>
          </p:txBody>
        </p:sp>
        <p:sp>
          <p:nvSpPr>
            <p:cNvPr id="16402" name="Text Box 7"/>
            <p:cNvSpPr txBox="1">
              <a:spLocks noChangeArrowheads="1"/>
            </p:cNvSpPr>
            <p:nvPr/>
          </p:nvSpPr>
          <p:spPr bwMode="auto">
            <a:xfrm>
              <a:off x="3792" y="1920"/>
              <a:ext cx="144"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sz="2100">
                  <a:latin typeface="Times New Roman" charset="0"/>
                </a:rPr>
                <a:t>.</a:t>
              </a:r>
            </a:p>
          </p:txBody>
        </p:sp>
        <p:sp>
          <p:nvSpPr>
            <p:cNvPr id="16403" name="Text Box 8"/>
            <p:cNvSpPr txBox="1">
              <a:spLocks noChangeArrowheads="1"/>
            </p:cNvSpPr>
            <p:nvPr/>
          </p:nvSpPr>
          <p:spPr bwMode="auto">
            <a:xfrm>
              <a:off x="3744" y="1776"/>
              <a:ext cx="144"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sz="2100">
                  <a:latin typeface="Times New Roman" charset="0"/>
                </a:rPr>
                <a:t>.</a:t>
              </a:r>
            </a:p>
          </p:txBody>
        </p:sp>
        <p:sp>
          <p:nvSpPr>
            <p:cNvPr id="16404" name="Text Box 9"/>
            <p:cNvSpPr txBox="1">
              <a:spLocks noChangeArrowheads="1"/>
            </p:cNvSpPr>
            <p:nvPr/>
          </p:nvSpPr>
          <p:spPr bwMode="auto">
            <a:xfrm>
              <a:off x="4128" y="1632"/>
              <a:ext cx="144"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sz="2100">
                  <a:latin typeface="Times New Roman" charset="0"/>
                </a:rPr>
                <a:t>.</a:t>
              </a:r>
            </a:p>
          </p:txBody>
        </p:sp>
        <p:sp>
          <p:nvSpPr>
            <p:cNvPr id="16405" name="Text Box 10"/>
            <p:cNvSpPr txBox="1">
              <a:spLocks noChangeArrowheads="1"/>
            </p:cNvSpPr>
            <p:nvPr/>
          </p:nvSpPr>
          <p:spPr bwMode="auto">
            <a:xfrm>
              <a:off x="3984" y="1776"/>
              <a:ext cx="144"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sz="2100">
                  <a:latin typeface="Times New Roman" charset="0"/>
                </a:rPr>
                <a:t>.</a:t>
              </a:r>
            </a:p>
          </p:txBody>
        </p:sp>
      </p:grpSp>
      <p:grpSp>
        <p:nvGrpSpPr>
          <p:cNvPr id="3" name="Group 20"/>
          <p:cNvGrpSpPr>
            <a:grpSpLocks/>
          </p:cNvGrpSpPr>
          <p:nvPr/>
        </p:nvGrpSpPr>
        <p:grpSpPr bwMode="auto">
          <a:xfrm>
            <a:off x="4086213" y="3572353"/>
            <a:ext cx="1943100" cy="1090613"/>
            <a:chOff x="3936" y="3072"/>
            <a:chExt cx="1632" cy="916"/>
          </a:xfrm>
        </p:grpSpPr>
        <p:sp>
          <p:nvSpPr>
            <p:cNvPr id="16391" name="Text Box 15"/>
            <p:cNvSpPr txBox="1">
              <a:spLocks noChangeArrowheads="1"/>
            </p:cNvSpPr>
            <p:nvPr/>
          </p:nvSpPr>
          <p:spPr bwMode="auto">
            <a:xfrm>
              <a:off x="4992" y="3072"/>
              <a:ext cx="57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sz="2400">
                  <a:latin typeface="Times New Roman" charset="0"/>
                </a:rPr>
                <a:t>.</a:t>
              </a:r>
            </a:p>
          </p:txBody>
        </p:sp>
        <p:grpSp>
          <p:nvGrpSpPr>
            <p:cNvPr id="16392" name="Group 19"/>
            <p:cNvGrpSpPr>
              <a:grpSpLocks/>
            </p:cNvGrpSpPr>
            <p:nvPr/>
          </p:nvGrpSpPr>
          <p:grpSpPr bwMode="auto">
            <a:xfrm>
              <a:off x="3936" y="3072"/>
              <a:ext cx="1440" cy="916"/>
              <a:chOff x="3744" y="2304"/>
              <a:chExt cx="1440" cy="916"/>
            </a:xfrm>
          </p:grpSpPr>
          <p:sp>
            <p:nvSpPr>
              <p:cNvPr id="16393" name="Arc 12"/>
              <p:cNvSpPr>
                <a:spLocks/>
              </p:cNvSpPr>
              <p:nvPr/>
            </p:nvSpPr>
            <p:spPr bwMode="auto">
              <a:xfrm flipV="1">
                <a:off x="3744" y="2304"/>
                <a:ext cx="1152" cy="81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350"/>
              </a:p>
            </p:txBody>
          </p:sp>
          <p:sp>
            <p:nvSpPr>
              <p:cNvPr id="16394" name="Text Box 13"/>
              <p:cNvSpPr txBox="1">
                <a:spLocks noChangeArrowheads="1"/>
              </p:cNvSpPr>
              <p:nvPr/>
            </p:nvSpPr>
            <p:spPr bwMode="auto">
              <a:xfrm>
                <a:off x="3888" y="2736"/>
                <a:ext cx="57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sz="2400">
                    <a:latin typeface="Times New Roman" charset="0"/>
                  </a:rPr>
                  <a:t>.</a:t>
                </a:r>
              </a:p>
            </p:txBody>
          </p:sp>
          <p:sp>
            <p:nvSpPr>
              <p:cNvPr id="16395" name="Text Box 14"/>
              <p:cNvSpPr txBox="1">
                <a:spLocks noChangeArrowheads="1"/>
              </p:cNvSpPr>
              <p:nvPr/>
            </p:nvSpPr>
            <p:spPr bwMode="auto">
              <a:xfrm>
                <a:off x="4272" y="2832"/>
                <a:ext cx="57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sz="2400">
                    <a:latin typeface="Times New Roman" charset="0"/>
                  </a:rPr>
                  <a:t>.</a:t>
                </a:r>
              </a:p>
            </p:txBody>
          </p:sp>
          <p:sp>
            <p:nvSpPr>
              <p:cNvPr id="16396" name="Text Box 16"/>
              <p:cNvSpPr txBox="1">
                <a:spLocks noChangeArrowheads="1"/>
              </p:cNvSpPr>
              <p:nvPr/>
            </p:nvSpPr>
            <p:spPr bwMode="auto">
              <a:xfrm>
                <a:off x="4512" y="2640"/>
                <a:ext cx="57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sz="2400">
                    <a:latin typeface="Times New Roman" charset="0"/>
                  </a:rPr>
                  <a:t>.</a:t>
                </a:r>
              </a:p>
            </p:txBody>
          </p:sp>
          <p:sp>
            <p:nvSpPr>
              <p:cNvPr id="16397" name="Text Box 17"/>
              <p:cNvSpPr txBox="1">
                <a:spLocks noChangeArrowheads="1"/>
              </p:cNvSpPr>
              <p:nvPr/>
            </p:nvSpPr>
            <p:spPr bwMode="auto">
              <a:xfrm>
                <a:off x="3744" y="2784"/>
                <a:ext cx="57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sz="2400">
                    <a:latin typeface="Times New Roman" charset="0"/>
                  </a:rPr>
                  <a:t>.</a:t>
                </a:r>
              </a:p>
            </p:txBody>
          </p:sp>
          <p:sp>
            <p:nvSpPr>
              <p:cNvPr id="16398" name="Text Box 18"/>
              <p:cNvSpPr txBox="1">
                <a:spLocks noChangeArrowheads="1"/>
              </p:cNvSpPr>
              <p:nvPr/>
            </p:nvSpPr>
            <p:spPr bwMode="auto">
              <a:xfrm>
                <a:off x="4608" y="2400"/>
                <a:ext cx="57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sz="2400">
                    <a:latin typeface="Times New Roman" charset="0"/>
                  </a:rPr>
                  <a:t>.</a:t>
                </a:r>
              </a:p>
            </p:txBody>
          </p:sp>
        </p:grpSp>
      </p:grpSp>
      <p:pic>
        <p:nvPicPr>
          <p:cNvPr id="6166" name="Picture 22" descr="Regres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1363" y="2048411"/>
            <a:ext cx="17145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56809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16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3981363" y="1121491"/>
            <a:ext cx="2047950" cy="3541475"/>
            <a:chOff x="3981363" y="1121491"/>
            <a:chExt cx="2047950" cy="3541475"/>
          </a:xfrm>
        </p:grpSpPr>
        <p:grpSp>
          <p:nvGrpSpPr>
            <p:cNvPr id="26" name="Group 11"/>
            <p:cNvGrpSpPr>
              <a:grpSpLocks/>
            </p:cNvGrpSpPr>
            <p:nvPr/>
          </p:nvGrpSpPr>
          <p:grpSpPr bwMode="auto">
            <a:xfrm>
              <a:off x="4095663" y="1121491"/>
              <a:ext cx="1371600" cy="758428"/>
              <a:chOff x="3456" y="1632"/>
              <a:chExt cx="1152" cy="637"/>
            </a:xfrm>
          </p:grpSpPr>
          <p:sp>
            <p:nvSpPr>
              <p:cNvPr id="27" name="Line 4"/>
              <p:cNvSpPr>
                <a:spLocks noChangeShapeType="1"/>
              </p:cNvSpPr>
              <p:nvPr/>
            </p:nvSpPr>
            <p:spPr bwMode="auto">
              <a:xfrm flipV="1">
                <a:off x="3456" y="1776"/>
                <a:ext cx="1152" cy="384"/>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sz="1350"/>
              </a:p>
            </p:txBody>
          </p:sp>
          <p:sp>
            <p:nvSpPr>
              <p:cNvPr id="28" name="Text Box 5"/>
              <p:cNvSpPr txBox="1">
                <a:spLocks noChangeArrowheads="1"/>
              </p:cNvSpPr>
              <p:nvPr/>
            </p:nvSpPr>
            <p:spPr bwMode="auto">
              <a:xfrm>
                <a:off x="3456" y="1776"/>
                <a:ext cx="144"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sz="2100">
                    <a:latin typeface="Times New Roman" charset="0"/>
                  </a:rPr>
                  <a:t>.</a:t>
                </a:r>
              </a:p>
            </p:txBody>
          </p:sp>
          <p:sp>
            <p:nvSpPr>
              <p:cNvPr id="29" name="Text Box 6"/>
              <p:cNvSpPr txBox="1">
                <a:spLocks noChangeArrowheads="1"/>
              </p:cNvSpPr>
              <p:nvPr/>
            </p:nvSpPr>
            <p:spPr bwMode="auto">
              <a:xfrm>
                <a:off x="3552" y="1872"/>
                <a:ext cx="144"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sz="2100" dirty="0">
                    <a:latin typeface="Times New Roman" charset="0"/>
                  </a:rPr>
                  <a:t>.</a:t>
                </a:r>
              </a:p>
            </p:txBody>
          </p:sp>
          <p:sp>
            <p:nvSpPr>
              <p:cNvPr id="30" name="Text Box 7"/>
              <p:cNvSpPr txBox="1">
                <a:spLocks noChangeArrowheads="1"/>
              </p:cNvSpPr>
              <p:nvPr/>
            </p:nvSpPr>
            <p:spPr bwMode="auto">
              <a:xfrm>
                <a:off x="3792" y="1920"/>
                <a:ext cx="144"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sz="2100">
                    <a:latin typeface="Times New Roman" charset="0"/>
                  </a:rPr>
                  <a:t>.</a:t>
                </a:r>
              </a:p>
            </p:txBody>
          </p:sp>
          <p:sp>
            <p:nvSpPr>
              <p:cNvPr id="31" name="Text Box 8"/>
              <p:cNvSpPr txBox="1">
                <a:spLocks noChangeArrowheads="1"/>
              </p:cNvSpPr>
              <p:nvPr/>
            </p:nvSpPr>
            <p:spPr bwMode="auto">
              <a:xfrm>
                <a:off x="3744" y="1776"/>
                <a:ext cx="144"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sz="2100">
                    <a:latin typeface="Times New Roman" charset="0"/>
                  </a:rPr>
                  <a:t>.</a:t>
                </a:r>
              </a:p>
            </p:txBody>
          </p:sp>
          <p:sp>
            <p:nvSpPr>
              <p:cNvPr id="32" name="Text Box 9"/>
              <p:cNvSpPr txBox="1">
                <a:spLocks noChangeArrowheads="1"/>
              </p:cNvSpPr>
              <p:nvPr/>
            </p:nvSpPr>
            <p:spPr bwMode="auto">
              <a:xfrm>
                <a:off x="4128" y="1632"/>
                <a:ext cx="144"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sz="2100">
                    <a:latin typeface="Times New Roman" charset="0"/>
                  </a:rPr>
                  <a:t>.</a:t>
                </a:r>
              </a:p>
            </p:txBody>
          </p:sp>
          <p:sp>
            <p:nvSpPr>
              <p:cNvPr id="33" name="Text Box 10"/>
              <p:cNvSpPr txBox="1">
                <a:spLocks noChangeArrowheads="1"/>
              </p:cNvSpPr>
              <p:nvPr/>
            </p:nvSpPr>
            <p:spPr bwMode="auto">
              <a:xfrm>
                <a:off x="3984" y="1776"/>
                <a:ext cx="144"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sz="2100">
                    <a:latin typeface="Times New Roman" charset="0"/>
                  </a:rPr>
                  <a:t>.</a:t>
                </a:r>
              </a:p>
            </p:txBody>
          </p:sp>
        </p:grpSp>
        <p:grpSp>
          <p:nvGrpSpPr>
            <p:cNvPr id="34" name="Group 20"/>
            <p:cNvGrpSpPr>
              <a:grpSpLocks/>
            </p:cNvGrpSpPr>
            <p:nvPr/>
          </p:nvGrpSpPr>
          <p:grpSpPr bwMode="auto">
            <a:xfrm>
              <a:off x="4086213" y="3572353"/>
              <a:ext cx="1943100" cy="1090613"/>
              <a:chOff x="3936" y="3072"/>
              <a:chExt cx="1632" cy="916"/>
            </a:xfrm>
          </p:grpSpPr>
          <p:sp>
            <p:nvSpPr>
              <p:cNvPr id="35" name="Text Box 15"/>
              <p:cNvSpPr txBox="1">
                <a:spLocks noChangeArrowheads="1"/>
              </p:cNvSpPr>
              <p:nvPr/>
            </p:nvSpPr>
            <p:spPr bwMode="auto">
              <a:xfrm>
                <a:off x="4992" y="3072"/>
                <a:ext cx="57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sz="2400">
                    <a:latin typeface="Times New Roman" charset="0"/>
                  </a:rPr>
                  <a:t>.</a:t>
                </a:r>
              </a:p>
            </p:txBody>
          </p:sp>
          <p:grpSp>
            <p:nvGrpSpPr>
              <p:cNvPr id="36" name="Group 19"/>
              <p:cNvGrpSpPr>
                <a:grpSpLocks/>
              </p:cNvGrpSpPr>
              <p:nvPr/>
            </p:nvGrpSpPr>
            <p:grpSpPr bwMode="auto">
              <a:xfrm>
                <a:off x="3936" y="3072"/>
                <a:ext cx="1440" cy="916"/>
                <a:chOff x="3744" y="2304"/>
                <a:chExt cx="1440" cy="916"/>
              </a:xfrm>
            </p:grpSpPr>
            <p:sp>
              <p:nvSpPr>
                <p:cNvPr id="37" name="Arc 12"/>
                <p:cNvSpPr>
                  <a:spLocks/>
                </p:cNvSpPr>
                <p:nvPr/>
              </p:nvSpPr>
              <p:spPr bwMode="auto">
                <a:xfrm flipV="1">
                  <a:off x="3744" y="2304"/>
                  <a:ext cx="1152" cy="81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1350"/>
                </a:p>
              </p:txBody>
            </p:sp>
            <p:sp>
              <p:nvSpPr>
                <p:cNvPr id="38" name="Text Box 13"/>
                <p:cNvSpPr txBox="1">
                  <a:spLocks noChangeArrowheads="1"/>
                </p:cNvSpPr>
                <p:nvPr/>
              </p:nvSpPr>
              <p:spPr bwMode="auto">
                <a:xfrm>
                  <a:off x="3888" y="2736"/>
                  <a:ext cx="57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sz="2400">
                      <a:latin typeface="Times New Roman" charset="0"/>
                    </a:rPr>
                    <a:t>.</a:t>
                  </a:r>
                </a:p>
              </p:txBody>
            </p:sp>
            <p:sp>
              <p:nvSpPr>
                <p:cNvPr id="39" name="Text Box 14"/>
                <p:cNvSpPr txBox="1">
                  <a:spLocks noChangeArrowheads="1"/>
                </p:cNvSpPr>
                <p:nvPr/>
              </p:nvSpPr>
              <p:spPr bwMode="auto">
                <a:xfrm>
                  <a:off x="4272" y="2832"/>
                  <a:ext cx="57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sz="2400">
                      <a:latin typeface="Times New Roman" charset="0"/>
                    </a:rPr>
                    <a:t>.</a:t>
                  </a:r>
                </a:p>
              </p:txBody>
            </p:sp>
            <p:sp>
              <p:nvSpPr>
                <p:cNvPr id="40" name="Text Box 16"/>
                <p:cNvSpPr txBox="1">
                  <a:spLocks noChangeArrowheads="1"/>
                </p:cNvSpPr>
                <p:nvPr/>
              </p:nvSpPr>
              <p:spPr bwMode="auto">
                <a:xfrm>
                  <a:off x="4512" y="2640"/>
                  <a:ext cx="57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sz="2400">
                      <a:latin typeface="Times New Roman" charset="0"/>
                    </a:rPr>
                    <a:t>.</a:t>
                  </a:r>
                </a:p>
              </p:txBody>
            </p:sp>
            <p:sp>
              <p:nvSpPr>
                <p:cNvPr id="41" name="Text Box 17"/>
                <p:cNvSpPr txBox="1">
                  <a:spLocks noChangeArrowheads="1"/>
                </p:cNvSpPr>
                <p:nvPr/>
              </p:nvSpPr>
              <p:spPr bwMode="auto">
                <a:xfrm>
                  <a:off x="3744" y="2784"/>
                  <a:ext cx="57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sz="2400">
                      <a:latin typeface="Times New Roman" charset="0"/>
                    </a:rPr>
                    <a:t>.</a:t>
                  </a:r>
                </a:p>
              </p:txBody>
            </p:sp>
            <p:sp>
              <p:nvSpPr>
                <p:cNvPr id="42" name="Text Box 18"/>
                <p:cNvSpPr txBox="1">
                  <a:spLocks noChangeArrowheads="1"/>
                </p:cNvSpPr>
                <p:nvPr/>
              </p:nvSpPr>
              <p:spPr bwMode="auto">
                <a:xfrm>
                  <a:off x="4608" y="2400"/>
                  <a:ext cx="57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sz="2400">
                      <a:latin typeface="Times New Roman" charset="0"/>
                    </a:rPr>
                    <a:t>.</a:t>
                  </a:r>
                </a:p>
              </p:txBody>
            </p:sp>
          </p:grpSp>
        </p:grpSp>
        <p:pic>
          <p:nvPicPr>
            <p:cNvPr id="43" name="Picture 22" descr="Regres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1363" y="2048411"/>
              <a:ext cx="17145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2" name="TextBox 21">
            <a:extLst>
              <a:ext uri="{FF2B5EF4-FFF2-40B4-BE49-F238E27FC236}">
                <a16:creationId xmlns:a16="http://schemas.microsoft.com/office/drawing/2014/main" id="{EC3941BF-1EFF-4725-A5A9-6C16C53DB045}"/>
              </a:ext>
            </a:extLst>
          </p:cNvPr>
          <p:cNvSpPr txBox="1"/>
          <p:nvPr/>
        </p:nvSpPr>
        <p:spPr>
          <a:xfrm>
            <a:off x="5955937" y="1750141"/>
            <a:ext cx="2886087" cy="1477328"/>
          </a:xfrm>
          <a:prstGeom prst="rect">
            <a:avLst/>
          </a:prstGeom>
          <a:solidFill>
            <a:schemeClr val="bg1"/>
          </a:solidFill>
          <a:ln w="38100">
            <a:solidFill>
              <a:srgbClr val="385D8A"/>
            </a:solidFill>
          </a:ln>
        </p:spPr>
        <p:txBody>
          <a:bodyPr wrap="square">
            <a:spAutoFit/>
          </a:bodyPr>
          <a:lstStyle/>
          <a:p>
            <a:pPr>
              <a:defRPr/>
            </a:pPr>
            <a:r>
              <a:rPr lang="en-US" b="1" dirty="0">
                <a:solidFill>
                  <a:schemeClr val="bg2">
                    <a:lumMod val="10000"/>
                  </a:schemeClr>
                </a:solidFill>
                <a:latin typeface="Helvetica Neue" charset="0"/>
                <a:ea typeface="Helvetica Neue" charset="0"/>
                <a:cs typeface="Helvetica Neue" charset="0"/>
              </a:rPr>
              <a:t>Whether a linear or polynomial model in X, we can estimate the relationship using linear regression.</a:t>
            </a:r>
          </a:p>
        </p:txBody>
      </p:sp>
      <p:sp>
        <p:nvSpPr>
          <p:cNvPr id="24" name="Rectangle 2"/>
          <p:cNvSpPr>
            <a:spLocks noChangeArrowheads="1"/>
          </p:cNvSpPr>
          <p:nvPr/>
        </p:nvSpPr>
        <p:spPr bwMode="auto">
          <a:xfrm>
            <a:off x="114365" y="212795"/>
            <a:ext cx="72122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a:spcBef>
                <a:spcPct val="0"/>
              </a:spcBef>
            </a:pPr>
            <a:r>
              <a:rPr lang="en-US" altLang="en-US" sz="3600" dirty="0">
                <a:latin typeface="Vitesse" charset="0"/>
                <a:ea typeface="Vitesse" charset="0"/>
                <a:cs typeface="Vitesse" charset="0"/>
              </a:rPr>
              <a:t>Linear Regression: General Model</a:t>
            </a:r>
          </a:p>
        </p:txBody>
      </p:sp>
      <mc:AlternateContent xmlns:mc="http://schemas.openxmlformats.org/markup-compatibility/2006" xmlns:a14="http://schemas.microsoft.com/office/drawing/2010/main">
        <mc:Choice Requires="a14">
          <p:sp>
            <p:nvSpPr>
              <p:cNvPr id="25" name="Text Box 3"/>
              <p:cNvSpPr txBox="1">
                <a:spLocks noChangeArrowheads="1"/>
              </p:cNvSpPr>
              <p:nvPr/>
            </p:nvSpPr>
            <p:spPr bwMode="auto">
              <a:xfrm>
                <a:off x="590358" y="1285832"/>
                <a:ext cx="4057650" cy="34163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spcBef>
                    <a:spcPct val="50000"/>
                  </a:spcBef>
                </a:pPr>
                <a:r>
                  <a:rPr lang="en-US" altLang="en-US" dirty="0">
                    <a:latin typeface="Helvetica Neue" charset="0"/>
                    <a:ea typeface="Helvetica Neue" charset="0"/>
                    <a:cs typeface="Helvetica Neue" charset="0"/>
                  </a:rPr>
                  <a:t>Simple linear regression</a:t>
                </a:r>
                <a:r>
                  <a:rPr lang="en-US" altLang="en-US" dirty="0">
                    <a:latin typeface="Times New Roman" charset="0"/>
                  </a:rPr>
                  <a:t/>
                </a:r>
                <a:br>
                  <a:rPr lang="en-US" altLang="en-US" dirty="0">
                    <a:latin typeface="Times New Roman" charset="0"/>
                  </a:rPr>
                </a:br>
                <a:r>
                  <a:rPr lang="en-US" altLang="en-US" dirty="0">
                    <a:latin typeface="Times New Roman" charset="0"/>
                  </a:rPr>
                  <a:t>	</a:t>
                </a:r>
                <a:r>
                  <a:rPr lang="en-US" altLang="en-US" dirty="0">
                    <a:latin typeface="KishoreFont Medium" charset="0"/>
                    <a:ea typeface="KishoreFont Medium" charset="0"/>
                    <a:cs typeface="KishoreFont Medium" charset="0"/>
                  </a:rPr>
                  <a:t>Y = </a:t>
                </a:r>
                <a14:m>
                  <m:oMath xmlns:m="http://schemas.openxmlformats.org/officeDocument/2006/math">
                    <m:r>
                      <a:rPr lang="en-US" altLang="en-US" i="1" dirty="0" smtClean="0">
                        <a:latin typeface="Cambria Math" charset="0"/>
                        <a:ea typeface="Cambria Math" charset="0"/>
                        <a:cs typeface="Cambria Math" charset="0"/>
                      </a:rPr>
                      <m:t>𝛽</m:t>
                    </m:r>
                  </m:oMath>
                </a14:m>
                <a:r>
                  <a:rPr lang="en-US" altLang="en-US" baseline="-25000" dirty="0">
                    <a:latin typeface="KishoreFont Medium" charset="0"/>
                    <a:ea typeface="KishoreFont Medium" charset="0"/>
                    <a:cs typeface="KishoreFont Medium" charset="0"/>
                  </a:rPr>
                  <a:t>0</a:t>
                </a:r>
                <a:r>
                  <a:rPr lang="en-US" altLang="en-US" dirty="0">
                    <a:latin typeface="KishoreFont Medium" charset="0"/>
                    <a:ea typeface="KishoreFont Medium" charset="0"/>
                    <a:cs typeface="KishoreFont Medium" charset="0"/>
                  </a:rPr>
                  <a:t> + </a:t>
                </a:r>
                <a14:m>
                  <m:oMath xmlns:m="http://schemas.openxmlformats.org/officeDocument/2006/math">
                    <m:r>
                      <a:rPr lang="en-US" altLang="en-US" i="1" dirty="0" smtClean="0">
                        <a:latin typeface="Cambria Math" charset="0"/>
                        <a:ea typeface="Cambria Math" charset="0"/>
                        <a:cs typeface="Cambria Math" charset="0"/>
                      </a:rPr>
                      <m:t>𝛽</m:t>
                    </m:r>
                  </m:oMath>
                </a14:m>
                <a:r>
                  <a:rPr lang="en-US" altLang="en-US" baseline="-25000" dirty="0">
                    <a:latin typeface="KishoreFont Medium" charset="0"/>
                    <a:ea typeface="KishoreFont Medium" charset="0"/>
                    <a:cs typeface="KishoreFont Medium" charset="0"/>
                  </a:rPr>
                  <a:t>1</a:t>
                </a:r>
                <a:r>
                  <a:rPr lang="en-US" altLang="en-US" dirty="0">
                    <a:latin typeface="KishoreFont Medium" charset="0"/>
                    <a:ea typeface="KishoreFont Medium" charset="0"/>
                    <a:cs typeface="KishoreFont Medium" charset="0"/>
                  </a:rPr>
                  <a:t>X + </a:t>
                </a:r>
                <a14:m>
                  <m:oMath xmlns:m="http://schemas.openxmlformats.org/officeDocument/2006/math">
                    <m:r>
                      <m:rPr>
                        <m:nor/>
                      </m:rPr>
                      <a:rPr lang="en-US" altLang="en-US" i="0" dirty="0" smtClean="0">
                        <a:latin typeface="KishoreFont Medium" charset="0"/>
                        <a:ea typeface="KishoreFont Medium" charset="0"/>
                        <a:cs typeface="KishoreFont Medium" charset="0"/>
                      </a:rPr>
                      <m:t>ε</m:t>
                    </m:r>
                  </m:oMath>
                </a14:m>
                <a:r>
                  <a:rPr lang="en-US" altLang="en-US" dirty="0">
                    <a:latin typeface="KishoreFont Medium" charset="0"/>
                    <a:ea typeface="KishoreFont Medium" charset="0"/>
                    <a:cs typeface="KishoreFont Medium" charset="0"/>
                  </a:rPr>
                  <a:t/>
                </a:r>
                <a:br>
                  <a:rPr lang="en-US" altLang="en-US" dirty="0">
                    <a:latin typeface="KishoreFont Medium" charset="0"/>
                    <a:ea typeface="KishoreFont Medium" charset="0"/>
                    <a:cs typeface="KishoreFont Medium" charset="0"/>
                  </a:rPr>
                </a:br>
                <a:endParaRPr lang="en-US" altLang="en-US" dirty="0">
                  <a:latin typeface="KishoreFont Medium" charset="0"/>
                  <a:ea typeface="KishoreFont Medium" charset="0"/>
                  <a:cs typeface="KishoreFont Medium" charset="0"/>
                </a:endParaRPr>
              </a:p>
              <a:p>
                <a:pPr eaLnBrk="1" hangingPunct="1">
                  <a:spcBef>
                    <a:spcPct val="50000"/>
                  </a:spcBef>
                  <a:buFontTx/>
                  <a:buChar char="•"/>
                </a:pPr>
                <a:endParaRPr lang="en-US" altLang="en-US" dirty="0">
                  <a:latin typeface="Times New Roman" charset="0"/>
                </a:endParaRPr>
              </a:p>
              <a:p>
                <a:pPr>
                  <a:spcBef>
                    <a:spcPct val="50000"/>
                  </a:spcBef>
                </a:pPr>
                <a:r>
                  <a:rPr lang="en-US" altLang="en-US" dirty="0">
                    <a:latin typeface="Helvetica Neue" charset="0"/>
                    <a:ea typeface="Helvetica Neue" charset="0"/>
                    <a:cs typeface="Helvetica Neue" charset="0"/>
                  </a:rPr>
                  <a:t>Multiple linear regression</a:t>
                </a:r>
                <a:br>
                  <a:rPr lang="en-US" altLang="en-US" dirty="0">
                    <a:latin typeface="Helvetica Neue" charset="0"/>
                    <a:ea typeface="Helvetica Neue" charset="0"/>
                    <a:cs typeface="Helvetica Neue" charset="0"/>
                  </a:rPr>
                </a:br>
                <a:r>
                  <a:rPr lang="en-US" altLang="en-US" dirty="0">
                    <a:latin typeface="Times New Roman" charset="0"/>
                  </a:rPr>
                  <a:t>	</a:t>
                </a:r>
                <a:r>
                  <a:rPr lang="en-US" altLang="en-US" dirty="0">
                    <a:latin typeface="KishoreFont Medium" charset="0"/>
                    <a:ea typeface="KishoreFont Medium" charset="0"/>
                    <a:cs typeface="KishoreFont Medium" charset="0"/>
                  </a:rPr>
                  <a:t>Y = </a:t>
                </a:r>
                <a14:m>
                  <m:oMath xmlns:m="http://schemas.openxmlformats.org/officeDocument/2006/math">
                    <m:r>
                      <a:rPr lang="en-US" altLang="en-US" i="1" dirty="0">
                        <a:latin typeface="Cambria Math" charset="0"/>
                        <a:ea typeface="Cambria Math" charset="0"/>
                        <a:cs typeface="Cambria Math" charset="0"/>
                      </a:rPr>
                      <m:t>𝛽</m:t>
                    </m:r>
                  </m:oMath>
                </a14:m>
                <a:r>
                  <a:rPr lang="en-US" altLang="en-US" baseline="-25000" dirty="0">
                    <a:latin typeface="KishoreFont Medium" charset="0"/>
                    <a:ea typeface="KishoreFont Medium" charset="0"/>
                    <a:cs typeface="KishoreFont Medium" charset="0"/>
                  </a:rPr>
                  <a:t>0</a:t>
                </a:r>
                <a:r>
                  <a:rPr lang="en-US" altLang="en-US" dirty="0">
                    <a:latin typeface="KishoreFont Medium" charset="0"/>
                    <a:ea typeface="KishoreFont Medium" charset="0"/>
                    <a:cs typeface="KishoreFont Medium" charset="0"/>
                  </a:rPr>
                  <a:t> + </a:t>
                </a:r>
                <a14:m>
                  <m:oMath xmlns:m="http://schemas.openxmlformats.org/officeDocument/2006/math">
                    <m:r>
                      <a:rPr lang="en-US" altLang="en-US" i="1" dirty="0">
                        <a:latin typeface="Cambria Math" charset="0"/>
                        <a:ea typeface="Cambria Math" charset="0"/>
                        <a:cs typeface="Cambria Math" charset="0"/>
                      </a:rPr>
                      <m:t>𝛽</m:t>
                    </m:r>
                  </m:oMath>
                </a14:m>
                <a:r>
                  <a:rPr lang="en-US" altLang="en-US" baseline="-25000" dirty="0">
                    <a:latin typeface="KishoreFont Medium" charset="0"/>
                    <a:ea typeface="KishoreFont Medium" charset="0"/>
                    <a:cs typeface="KishoreFont Medium" charset="0"/>
                  </a:rPr>
                  <a:t>1</a:t>
                </a:r>
                <a:r>
                  <a:rPr lang="en-US" altLang="en-US" dirty="0">
                    <a:latin typeface="KishoreFont Medium" charset="0"/>
                    <a:ea typeface="KishoreFont Medium" charset="0"/>
                    <a:cs typeface="KishoreFont Medium" charset="0"/>
                  </a:rPr>
                  <a:t>X</a:t>
                </a:r>
                <a:r>
                  <a:rPr lang="en-US" altLang="en-US" baseline="-25000" dirty="0">
                    <a:latin typeface="KishoreFont Medium" charset="0"/>
                    <a:ea typeface="KishoreFont Medium" charset="0"/>
                    <a:cs typeface="KishoreFont Medium" charset="0"/>
                  </a:rPr>
                  <a:t>1</a:t>
                </a:r>
                <a:r>
                  <a:rPr lang="en-US" altLang="en-US" dirty="0">
                    <a:latin typeface="KishoreFont Medium" charset="0"/>
                    <a:ea typeface="KishoreFont Medium" charset="0"/>
                    <a:cs typeface="KishoreFont Medium" charset="0"/>
                  </a:rPr>
                  <a:t> +</a:t>
                </a:r>
                <a:r>
                  <a:rPr lang="en-US" altLang="en-US" dirty="0">
                    <a:ea typeface="Cambria Math" charset="0"/>
                    <a:cs typeface="Cambria Math" charset="0"/>
                  </a:rPr>
                  <a:t> </a:t>
                </a:r>
                <a14:m>
                  <m:oMath xmlns:m="http://schemas.openxmlformats.org/officeDocument/2006/math">
                    <m:r>
                      <a:rPr lang="en-US" altLang="en-US" i="1" dirty="0">
                        <a:latin typeface="Cambria Math" charset="0"/>
                        <a:ea typeface="Cambria Math" charset="0"/>
                        <a:cs typeface="Cambria Math" charset="0"/>
                      </a:rPr>
                      <m:t>𝛽</m:t>
                    </m:r>
                  </m:oMath>
                </a14:m>
                <a:r>
                  <a:rPr lang="en-US" altLang="en-US" baseline="-25000" dirty="0">
                    <a:latin typeface="KishoreFont Medium" charset="0"/>
                    <a:ea typeface="KishoreFont Medium" charset="0"/>
                    <a:cs typeface="KishoreFont Medium" charset="0"/>
                  </a:rPr>
                  <a:t>2</a:t>
                </a:r>
                <a:r>
                  <a:rPr lang="en-US" altLang="en-US" dirty="0">
                    <a:latin typeface="KishoreFont Medium" charset="0"/>
                    <a:ea typeface="KishoreFont Medium" charset="0"/>
                    <a:cs typeface="KishoreFont Medium" charset="0"/>
                  </a:rPr>
                  <a:t>X</a:t>
                </a:r>
                <a:r>
                  <a:rPr lang="en-US" altLang="en-US" baseline="-25000" dirty="0">
                    <a:latin typeface="KishoreFont Medium" charset="0"/>
                    <a:ea typeface="KishoreFont Medium" charset="0"/>
                    <a:cs typeface="KishoreFont Medium" charset="0"/>
                  </a:rPr>
                  <a:t>2</a:t>
                </a:r>
                <a:r>
                  <a:rPr lang="en-US" altLang="en-US" dirty="0">
                    <a:latin typeface="KishoreFont Medium" charset="0"/>
                    <a:ea typeface="KishoreFont Medium" charset="0"/>
                    <a:cs typeface="KishoreFont Medium" charset="0"/>
                  </a:rPr>
                  <a:t> + </a:t>
                </a:r>
                <a14:m>
                  <m:oMath xmlns:m="http://schemas.openxmlformats.org/officeDocument/2006/math">
                    <m:r>
                      <m:rPr>
                        <m:nor/>
                      </m:rPr>
                      <a:rPr lang="en-US" altLang="en-US" dirty="0">
                        <a:latin typeface="KishoreFont Medium" charset="0"/>
                        <a:ea typeface="KishoreFont Medium" charset="0"/>
                        <a:cs typeface="KishoreFont Medium" charset="0"/>
                      </a:rPr>
                      <m:t>ε</m:t>
                    </m:r>
                  </m:oMath>
                </a14:m>
                <a:r>
                  <a:rPr lang="en-US" altLang="en-US" dirty="0">
                    <a:latin typeface="Times New Roman" charset="0"/>
                  </a:rPr>
                  <a:t/>
                </a:r>
                <a:br>
                  <a:rPr lang="en-US" altLang="en-US" dirty="0">
                    <a:latin typeface="Times New Roman" charset="0"/>
                  </a:rPr>
                </a:br>
                <a:endParaRPr lang="en-US" altLang="en-US" dirty="0">
                  <a:latin typeface="Times New Roman" charset="0"/>
                </a:endParaRPr>
              </a:p>
              <a:p>
                <a:pPr>
                  <a:spcBef>
                    <a:spcPct val="50000"/>
                  </a:spcBef>
                </a:pPr>
                <a:endParaRPr lang="en-US" altLang="en-US" dirty="0">
                  <a:latin typeface="Times New Roman" charset="0"/>
                </a:endParaRPr>
              </a:p>
              <a:p>
                <a:pPr>
                  <a:spcBef>
                    <a:spcPct val="50000"/>
                  </a:spcBef>
                </a:pPr>
                <a:r>
                  <a:rPr lang="en-US" altLang="en-US" dirty="0">
                    <a:latin typeface="Helvetica Neue" charset="0"/>
                    <a:ea typeface="Helvetica Neue" charset="0"/>
                    <a:cs typeface="Helvetica Neue" charset="0"/>
                  </a:rPr>
                  <a:t>Polynomial Regression</a:t>
                </a:r>
                <a:r>
                  <a:rPr lang="en-US" altLang="en-US" dirty="0">
                    <a:latin typeface="Times New Roman" charset="0"/>
                  </a:rPr>
                  <a:t/>
                </a:r>
                <a:br>
                  <a:rPr lang="en-US" altLang="en-US" dirty="0">
                    <a:latin typeface="Times New Roman" charset="0"/>
                  </a:rPr>
                </a:br>
                <a:r>
                  <a:rPr lang="en-US" altLang="en-US" dirty="0">
                    <a:latin typeface="Times New Roman" charset="0"/>
                  </a:rPr>
                  <a:t>	</a:t>
                </a:r>
                <a:r>
                  <a:rPr lang="en-US" altLang="en-US" dirty="0">
                    <a:latin typeface="KishoreFont Medium" charset="0"/>
                    <a:ea typeface="KishoreFont Medium" charset="0"/>
                    <a:cs typeface="KishoreFont Medium" charset="0"/>
                  </a:rPr>
                  <a:t>Y = </a:t>
                </a:r>
                <a14:m>
                  <m:oMath xmlns:m="http://schemas.openxmlformats.org/officeDocument/2006/math">
                    <m:r>
                      <a:rPr lang="en-US" altLang="en-US" i="1" dirty="0">
                        <a:latin typeface="Cambria Math" charset="0"/>
                        <a:ea typeface="Cambria Math" charset="0"/>
                        <a:cs typeface="Cambria Math" charset="0"/>
                      </a:rPr>
                      <m:t>𝛽</m:t>
                    </m:r>
                  </m:oMath>
                </a14:m>
                <a:r>
                  <a:rPr lang="en-US" altLang="en-US" baseline="-25000" dirty="0">
                    <a:latin typeface="KishoreFont Medium" charset="0"/>
                    <a:ea typeface="KishoreFont Medium" charset="0"/>
                    <a:cs typeface="KishoreFont Medium" charset="0"/>
                  </a:rPr>
                  <a:t>0</a:t>
                </a:r>
                <a:r>
                  <a:rPr lang="en-US" altLang="en-US" dirty="0">
                    <a:latin typeface="KishoreFont Medium" charset="0"/>
                    <a:ea typeface="KishoreFont Medium" charset="0"/>
                    <a:cs typeface="KishoreFont Medium" charset="0"/>
                  </a:rPr>
                  <a:t> + </a:t>
                </a:r>
                <a14:m>
                  <m:oMath xmlns:m="http://schemas.openxmlformats.org/officeDocument/2006/math">
                    <m:r>
                      <a:rPr lang="en-US" altLang="en-US" i="1" dirty="0">
                        <a:latin typeface="Cambria Math" charset="0"/>
                        <a:ea typeface="Cambria Math" charset="0"/>
                        <a:cs typeface="Cambria Math" charset="0"/>
                      </a:rPr>
                      <m:t>𝛽</m:t>
                    </m:r>
                  </m:oMath>
                </a14:m>
                <a:r>
                  <a:rPr lang="en-US" altLang="en-US" baseline="-25000" dirty="0">
                    <a:latin typeface="KishoreFont Medium" charset="0"/>
                    <a:ea typeface="KishoreFont Medium" charset="0"/>
                    <a:cs typeface="KishoreFont Medium" charset="0"/>
                  </a:rPr>
                  <a:t>1</a:t>
                </a:r>
                <a:r>
                  <a:rPr lang="en-US" altLang="en-US" dirty="0">
                    <a:latin typeface="KishoreFont Medium" charset="0"/>
                    <a:ea typeface="KishoreFont Medium" charset="0"/>
                    <a:cs typeface="KishoreFont Medium" charset="0"/>
                  </a:rPr>
                  <a:t>X +</a:t>
                </a:r>
                <a14:m>
                  <m:oMath xmlns:m="http://schemas.openxmlformats.org/officeDocument/2006/math">
                    <m:r>
                      <a:rPr lang="en-US" altLang="en-US" i="1" dirty="0">
                        <a:latin typeface="Cambria Math" charset="0"/>
                        <a:ea typeface="Cambria Math" charset="0"/>
                        <a:cs typeface="Cambria Math" charset="0"/>
                      </a:rPr>
                      <m:t>𝛽</m:t>
                    </m:r>
                  </m:oMath>
                </a14:m>
                <a:r>
                  <a:rPr lang="en-US" altLang="en-US" baseline="-25000" dirty="0">
                    <a:latin typeface="KishoreFont Medium" charset="0"/>
                    <a:ea typeface="KishoreFont Medium" charset="0"/>
                    <a:cs typeface="KishoreFont Medium" charset="0"/>
                  </a:rPr>
                  <a:t>2</a:t>
                </a:r>
                <a:r>
                  <a:rPr lang="en-US" altLang="en-US" dirty="0">
                    <a:latin typeface="KishoreFont Medium" charset="0"/>
                    <a:ea typeface="KishoreFont Medium" charset="0"/>
                    <a:cs typeface="KishoreFont Medium" charset="0"/>
                  </a:rPr>
                  <a:t>X</a:t>
                </a:r>
                <a:r>
                  <a:rPr lang="en-US" altLang="en-US" baseline="30000" dirty="0">
                    <a:latin typeface="KishoreFont Medium" charset="0"/>
                    <a:ea typeface="KishoreFont Medium" charset="0"/>
                    <a:cs typeface="KishoreFont Medium" charset="0"/>
                  </a:rPr>
                  <a:t>2</a:t>
                </a:r>
                <a:r>
                  <a:rPr lang="en-US" altLang="en-US" baseline="-25000" dirty="0">
                    <a:latin typeface="KishoreFont Medium" charset="0"/>
                    <a:ea typeface="KishoreFont Medium" charset="0"/>
                    <a:cs typeface="KishoreFont Medium" charset="0"/>
                  </a:rPr>
                  <a:t> </a:t>
                </a:r>
                <a:r>
                  <a:rPr lang="en-US" altLang="en-US" dirty="0">
                    <a:latin typeface="KishoreFont Medium" charset="0"/>
                    <a:ea typeface="KishoreFont Medium" charset="0"/>
                    <a:cs typeface="KishoreFont Medium" charset="0"/>
                  </a:rPr>
                  <a:t>+ </a:t>
                </a:r>
                <a14:m>
                  <m:oMath xmlns:m="http://schemas.openxmlformats.org/officeDocument/2006/math">
                    <m:r>
                      <m:rPr>
                        <m:nor/>
                      </m:rPr>
                      <a:rPr lang="en-US" altLang="en-US" dirty="0">
                        <a:latin typeface="KishoreFont Medium" charset="0"/>
                        <a:ea typeface="KishoreFont Medium" charset="0"/>
                        <a:cs typeface="KishoreFont Medium" charset="0"/>
                      </a:rPr>
                      <m:t>ε</m:t>
                    </m:r>
                  </m:oMath>
                </a14:m>
                <a:endParaRPr lang="en-US" altLang="en-US" dirty="0">
                  <a:latin typeface="Times New Roman" charset="0"/>
                </a:endParaRPr>
              </a:p>
            </p:txBody>
          </p:sp>
        </mc:Choice>
        <mc:Fallback xmlns="">
          <p:sp>
            <p:nvSpPr>
              <p:cNvPr id="25" name="Text Box 3"/>
              <p:cNvSpPr txBox="1">
                <a:spLocks noRot="1" noChangeAspect="1" noMove="1" noResize="1" noEditPoints="1" noAdjustHandles="1" noChangeArrowheads="1" noChangeShapeType="1" noTextEdit="1"/>
              </p:cNvSpPr>
              <p:nvPr/>
            </p:nvSpPr>
            <p:spPr bwMode="auto">
              <a:xfrm>
                <a:off x="590358" y="1285832"/>
                <a:ext cx="4057650" cy="3416320"/>
              </a:xfrm>
              <a:prstGeom prst="rect">
                <a:avLst/>
              </a:prstGeom>
              <a:blipFill>
                <a:blip r:embed="rId3"/>
                <a:stretch>
                  <a:fillRect l="-1353" t="-1071" b="-196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250891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ext Box 2"/>
          <p:cNvSpPr txBox="1">
            <a:spLocks noChangeArrowheads="1"/>
          </p:cNvSpPr>
          <p:nvPr/>
        </p:nvSpPr>
        <p:spPr bwMode="auto">
          <a:xfrm>
            <a:off x="105482" y="227543"/>
            <a:ext cx="5543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a:spcBef>
                <a:spcPct val="0"/>
              </a:spcBef>
            </a:pPr>
            <a:r>
              <a:rPr lang="en-US" altLang="en-US" sz="3600" dirty="0">
                <a:latin typeface="Vitesse" charset="0"/>
                <a:ea typeface="Vitesse" charset="0"/>
                <a:cs typeface="Vitesse" charset="0"/>
              </a:rPr>
              <a:t>Regression: Basics</a:t>
            </a:r>
          </a:p>
        </p:txBody>
      </p:sp>
      <p:sp>
        <p:nvSpPr>
          <p:cNvPr id="21507" name="TextBox 4"/>
          <p:cNvSpPr txBox="1">
            <a:spLocks noChangeArrowheads="1"/>
          </p:cNvSpPr>
          <p:nvPr/>
        </p:nvSpPr>
        <p:spPr bwMode="auto">
          <a:xfrm>
            <a:off x="146733" y="1034004"/>
            <a:ext cx="8536629"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MS PGothic" charset="-128"/>
              </a:defRPr>
            </a:lvl1pPr>
            <a:lvl2pPr marL="742950" indent="-285750">
              <a:defRPr>
                <a:solidFill>
                  <a:schemeClr val="tx1"/>
                </a:solidFill>
                <a:latin typeface="Calibri" charset="0"/>
                <a:ea typeface="MS PGothic" charset="-128"/>
              </a:defRPr>
            </a:lvl2pPr>
            <a:lvl3pPr marL="1143000" indent="-228600">
              <a:defRPr>
                <a:solidFill>
                  <a:schemeClr val="tx1"/>
                </a:solidFill>
                <a:latin typeface="Calibri" charset="0"/>
                <a:ea typeface="MS PGothic" charset="-128"/>
              </a:defRPr>
            </a:lvl3pPr>
            <a:lvl4pPr marL="1600200" indent="-228600">
              <a:defRPr>
                <a:solidFill>
                  <a:schemeClr val="tx1"/>
                </a:solidFill>
                <a:latin typeface="Calibri" charset="0"/>
                <a:ea typeface="MS PGothic" charset="-128"/>
              </a:defRPr>
            </a:lvl4pPr>
            <a:lvl5pPr marL="2057400" indent="-228600">
              <a:defRPr>
                <a:solidFill>
                  <a:schemeClr val="tx1"/>
                </a:solidFill>
                <a:latin typeface="Calibri" charset="0"/>
                <a:ea typeface="MS PGothic" charset="-128"/>
              </a:defRPr>
            </a:lvl5pPr>
            <a:lvl6pPr marL="2514600" indent="-228600" defTabSz="457200" eaLnBrk="0" fontAlgn="base" hangingPunct="0">
              <a:spcBef>
                <a:spcPct val="0"/>
              </a:spcBef>
              <a:spcAft>
                <a:spcPct val="0"/>
              </a:spcAft>
              <a:defRPr>
                <a:solidFill>
                  <a:schemeClr val="tx1"/>
                </a:solidFill>
                <a:latin typeface="Calibri" charset="0"/>
                <a:ea typeface="MS PGothic" charset="-128"/>
              </a:defRPr>
            </a:lvl6pPr>
            <a:lvl7pPr marL="2971800" indent="-228600" defTabSz="457200" eaLnBrk="0" fontAlgn="base" hangingPunct="0">
              <a:spcBef>
                <a:spcPct val="0"/>
              </a:spcBef>
              <a:spcAft>
                <a:spcPct val="0"/>
              </a:spcAft>
              <a:defRPr>
                <a:solidFill>
                  <a:schemeClr val="tx1"/>
                </a:solidFill>
                <a:latin typeface="Calibri" charset="0"/>
                <a:ea typeface="MS PGothic" charset="-128"/>
              </a:defRPr>
            </a:lvl7pPr>
            <a:lvl8pPr marL="3429000" indent="-228600" defTabSz="457200" eaLnBrk="0" fontAlgn="base" hangingPunct="0">
              <a:spcBef>
                <a:spcPct val="0"/>
              </a:spcBef>
              <a:spcAft>
                <a:spcPct val="0"/>
              </a:spcAft>
              <a:defRPr>
                <a:solidFill>
                  <a:schemeClr val="tx1"/>
                </a:solidFill>
                <a:latin typeface="Calibri" charset="0"/>
                <a:ea typeface="MS PGothic" charset="-128"/>
              </a:defRPr>
            </a:lvl8pPr>
            <a:lvl9pPr marL="3886200" indent="-228600" defTabSz="457200" eaLnBrk="0" fontAlgn="base" hangingPunct="0">
              <a:spcBef>
                <a:spcPct val="0"/>
              </a:spcBef>
              <a:spcAft>
                <a:spcPct val="0"/>
              </a:spcAft>
              <a:defRPr>
                <a:solidFill>
                  <a:schemeClr val="tx1"/>
                </a:solidFill>
                <a:latin typeface="Calibri" charset="0"/>
                <a:ea typeface="MS PGothic" charset="-128"/>
              </a:defRPr>
            </a:lvl9pPr>
          </a:lstStyle>
          <a:p>
            <a:pPr eaLnBrk="1" hangingPunct="1"/>
            <a:r>
              <a:rPr lang="en-US" altLang="en-US" dirty="0">
                <a:latin typeface="Helvetica Neue" charset="0"/>
                <a:ea typeface="Helvetica Neue" charset="0"/>
                <a:cs typeface="Helvetica Neue" charset="0"/>
              </a:rPr>
              <a:t>A regression analysis is used for:</a:t>
            </a:r>
          </a:p>
          <a:p>
            <a:pPr marL="457200" indent="-457200" eaLnBrk="1" hangingPunct="1">
              <a:buFont typeface="+mj-lt"/>
              <a:buAutoNum type="arabicPeriod"/>
            </a:pPr>
            <a:r>
              <a:rPr lang="en-US" altLang="en-US" b="1" u="sng" dirty="0">
                <a:latin typeface="Helvetica Neue" charset="0"/>
                <a:ea typeface="Helvetica Neue" charset="0"/>
                <a:cs typeface="Helvetica Neue" charset="0"/>
              </a:rPr>
              <a:t>Prediction</a:t>
            </a:r>
            <a:r>
              <a:rPr lang="en-US" altLang="en-US" dirty="0">
                <a:latin typeface="Helvetica Neue" charset="0"/>
                <a:ea typeface="Helvetica Neue" charset="0"/>
                <a:cs typeface="Helvetica Neue" charset="0"/>
              </a:rPr>
              <a:t> of the response variable;</a:t>
            </a:r>
          </a:p>
          <a:p>
            <a:pPr marL="457200" indent="-457200" eaLnBrk="1" hangingPunct="1">
              <a:buFont typeface="+mj-lt"/>
              <a:buAutoNum type="arabicPeriod"/>
            </a:pPr>
            <a:r>
              <a:rPr lang="en-US" altLang="en-US" b="1" u="sng" dirty="0">
                <a:latin typeface="Helvetica Neue" charset="0"/>
                <a:ea typeface="Helvetica Neue" charset="0"/>
                <a:cs typeface="Helvetica Neue" charset="0"/>
              </a:rPr>
              <a:t>Modelling</a:t>
            </a:r>
            <a:r>
              <a:rPr lang="en-US" altLang="en-US" dirty="0">
                <a:latin typeface="Helvetica Neue" charset="0"/>
                <a:ea typeface="Helvetica Neue" charset="0"/>
                <a:cs typeface="Helvetica Neue" charset="0"/>
              </a:rPr>
              <a:t> the relationship between the response variable and the explanatory variables;</a:t>
            </a:r>
            <a:r>
              <a:rPr lang="en-US" altLang="en-US" dirty="0">
                <a:solidFill>
                  <a:schemeClr val="accent6">
                    <a:lumMod val="75000"/>
                  </a:schemeClr>
                </a:solidFill>
                <a:latin typeface="Helvetica Neue" charset="0"/>
                <a:ea typeface="Helvetica Neue" charset="0"/>
                <a:cs typeface="Helvetica Neue" charset="0"/>
              </a:rPr>
              <a:t> </a:t>
            </a:r>
            <a:r>
              <a:rPr lang="en-US" altLang="en-US" dirty="0">
                <a:latin typeface="Helvetica Neue" charset="0"/>
                <a:ea typeface="Helvetica Neue" charset="0"/>
                <a:cs typeface="Helvetica Neue" charset="0"/>
              </a:rPr>
              <a:t>or</a:t>
            </a:r>
          </a:p>
          <a:p>
            <a:pPr marL="457200" indent="-457200" eaLnBrk="1" hangingPunct="1">
              <a:buFont typeface="+mj-lt"/>
              <a:buAutoNum type="arabicPeriod"/>
            </a:pPr>
            <a:r>
              <a:rPr lang="en-US" altLang="en-US" b="1" u="sng" dirty="0">
                <a:latin typeface="Helvetica Neue" charset="0"/>
                <a:ea typeface="Helvetica Neue" charset="0"/>
                <a:cs typeface="Helvetica Neue" charset="0"/>
              </a:rPr>
              <a:t>Testing</a:t>
            </a:r>
            <a:r>
              <a:rPr lang="en-US" altLang="en-US" dirty="0">
                <a:latin typeface="Helvetica Neue" charset="0"/>
                <a:ea typeface="Helvetica Neue" charset="0"/>
                <a:cs typeface="Helvetica Neue" charset="0"/>
              </a:rPr>
              <a:t> hypotheses of association relationships.</a:t>
            </a:r>
          </a:p>
          <a:p>
            <a:pPr eaLnBrk="1" hangingPunct="1">
              <a:buFontTx/>
              <a:buAutoNum type="arabicPeriod"/>
            </a:pPr>
            <a:endParaRPr lang="en-US" altLang="en-US" dirty="0">
              <a:latin typeface="Helvetica Neue" charset="0"/>
              <a:ea typeface="Helvetica Neue" charset="0"/>
              <a:cs typeface="Helvetica Neue" charset="0"/>
            </a:endParaRPr>
          </a:p>
          <a:p>
            <a:pPr eaLnBrk="1" hangingPunct="1"/>
            <a:r>
              <a:rPr lang="en-US" altLang="en-US" b="1" dirty="0">
                <a:solidFill>
                  <a:srgbClr val="DFA70B"/>
                </a:solidFill>
                <a:latin typeface="Helvetica Neue" charset="0"/>
                <a:ea typeface="Helvetica Neue" charset="0"/>
                <a:cs typeface="Helvetica Neue" charset="0"/>
              </a:rPr>
              <a:t>Linear Regression: </a:t>
            </a:r>
            <a:r>
              <a:rPr lang="en-US" altLang="en-US" dirty="0">
                <a:latin typeface="Helvetica Neue" charset="0"/>
                <a:ea typeface="Helvetica Neue" charset="0"/>
                <a:cs typeface="Helvetica Neue" charset="0"/>
              </a:rPr>
              <a:t>The basis of what we will be talking about most of this course is the linear model. Virtually all other methods for studying dependence among variables are variations on the idea of linear regression.</a:t>
            </a:r>
          </a:p>
          <a:p>
            <a:pPr algn="ctr" eaLnBrk="1" hangingPunct="1"/>
            <a:endParaRPr lang="en-US" altLang="en-US" sz="1400" dirty="0">
              <a:latin typeface="Helvetica Neue" charset="0"/>
              <a:ea typeface="Helvetica Neue" charset="0"/>
              <a:cs typeface="Helvetica Neue" charset="0"/>
            </a:endParaRPr>
          </a:p>
          <a:p>
            <a:pPr algn="ctr" eaLnBrk="1" hangingPunct="1"/>
            <a:r>
              <a:rPr lang="en-US" altLang="ja-JP" sz="2000" i="1" dirty="0">
                <a:latin typeface="Helvetica Neue" charset="0"/>
                <a:ea typeface="Helvetica Neue" charset="0"/>
                <a:cs typeface="Helvetica Neue" charset="0"/>
              </a:rPr>
              <a:t>All models are wrong, but some are useful</a:t>
            </a:r>
            <a:r>
              <a:rPr lang="en-US" altLang="ja-JP" sz="2000" dirty="0">
                <a:latin typeface="Helvetica Neue" charset="0"/>
                <a:ea typeface="Helvetica Neue" charset="0"/>
                <a:cs typeface="Helvetica Neue" charset="0"/>
              </a:rPr>
              <a:t>.     George Box</a:t>
            </a:r>
          </a:p>
          <a:p>
            <a:pPr algn="ctr" eaLnBrk="1" hangingPunct="1"/>
            <a:endParaRPr lang="en-US" altLang="en-US" sz="2000" dirty="0">
              <a:latin typeface="Helvetica Neue" charset="0"/>
              <a:ea typeface="Helvetica Neue" charset="0"/>
              <a:cs typeface="Helvetica Neue" charset="0"/>
            </a:endParaRPr>
          </a:p>
          <a:p>
            <a:pPr algn="ctr" eaLnBrk="1" hangingPunct="1"/>
            <a:r>
              <a:rPr lang="en-US" altLang="ja-JP" sz="2000" i="1" dirty="0">
                <a:latin typeface="Helvetica Neue" charset="0"/>
                <a:ea typeface="Helvetica Neue" charset="0"/>
                <a:cs typeface="Helvetica Neue" charset="0"/>
              </a:rPr>
              <a:t>Embrace your data, not your models</a:t>
            </a:r>
            <a:r>
              <a:rPr lang="en-US" altLang="ja-JP" sz="2000" dirty="0">
                <a:latin typeface="Helvetica Neue" charset="0"/>
                <a:ea typeface="Helvetica Neue" charset="0"/>
                <a:cs typeface="Helvetica Neue" charset="0"/>
              </a:rPr>
              <a:t>.</a:t>
            </a:r>
            <a:r>
              <a:rPr lang="en-US" altLang="ja-JP" sz="2400" dirty="0">
                <a:solidFill>
                  <a:srgbClr val="7030A0"/>
                </a:solidFill>
                <a:latin typeface="Helvetica Neue" charset="0"/>
                <a:ea typeface="Helvetica Neue" charset="0"/>
                <a:cs typeface="Helvetica Neue" charset="0"/>
              </a:rPr>
              <a:t>  </a:t>
            </a:r>
            <a:r>
              <a:rPr lang="en-US" altLang="ja-JP" sz="2000" dirty="0">
                <a:latin typeface="Helvetica Neue" charset="0"/>
                <a:ea typeface="Helvetica Neue" charset="0"/>
                <a:cs typeface="Helvetica Neue" charset="0"/>
              </a:rPr>
              <a:t> John Tukey</a:t>
            </a:r>
            <a:endParaRPr lang="en-US" altLang="en-US" sz="2000" dirty="0">
              <a:latin typeface="Helvetica Neue" charset="0"/>
              <a:ea typeface="Helvetica Neue" charset="0"/>
              <a:cs typeface="Helvetica Neue" charset="0"/>
            </a:endParaRPr>
          </a:p>
        </p:txBody>
      </p:sp>
      <p:sp>
        <p:nvSpPr>
          <p:cNvPr id="2" name="TextBox 1"/>
          <p:cNvSpPr txBox="1"/>
          <p:nvPr/>
        </p:nvSpPr>
        <p:spPr>
          <a:xfrm>
            <a:off x="872214" y="3570901"/>
            <a:ext cx="503653" cy="646331"/>
          </a:xfrm>
          <a:prstGeom prst="rect">
            <a:avLst/>
          </a:prstGeom>
          <a:noFill/>
        </p:spPr>
        <p:txBody>
          <a:bodyPr wrap="square" rtlCol="0">
            <a:spAutoFit/>
          </a:bodyPr>
          <a:lstStyle/>
          <a:p>
            <a:r>
              <a:rPr lang="en-US" altLang="ja-JP" sz="3600" dirty="0">
                <a:solidFill>
                  <a:schemeClr val="bg1">
                    <a:lumMod val="65000"/>
                  </a:schemeClr>
                </a:solidFill>
                <a:latin typeface="Helvetica Neue" charset="0"/>
                <a:ea typeface="Helvetica Neue" charset="0"/>
                <a:cs typeface="Helvetica Neue" charset="0"/>
              </a:rPr>
              <a:t>“</a:t>
            </a:r>
            <a:endParaRPr lang="en-US" sz="3600" dirty="0"/>
          </a:p>
        </p:txBody>
      </p:sp>
      <p:sp>
        <p:nvSpPr>
          <p:cNvPr id="5" name="TextBox 4"/>
          <p:cNvSpPr txBox="1"/>
          <p:nvPr/>
        </p:nvSpPr>
        <p:spPr>
          <a:xfrm>
            <a:off x="5900519" y="3553927"/>
            <a:ext cx="487050" cy="646331"/>
          </a:xfrm>
          <a:prstGeom prst="rect">
            <a:avLst/>
          </a:prstGeom>
          <a:noFill/>
        </p:spPr>
        <p:txBody>
          <a:bodyPr wrap="square" rtlCol="0">
            <a:spAutoFit/>
          </a:bodyPr>
          <a:lstStyle/>
          <a:p>
            <a:r>
              <a:rPr lang="en-US" altLang="ja-JP" sz="3600" dirty="0">
                <a:solidFill>
                  <a:schemeClr val="bg1">
                    <a:lumMod val="65000"/>
                  </a:schemeClr>
                </a:solidFill>
                <a:latin typeface="Helvetica Neue" charset="0"/>
                <a:ea typeface="Helvetica Neue" charset="0"/>
                <a:cs typeface="Helvetica Neue" charset="0"/>
              </a:rPr>
              <a:t>”</a:t>
            </a:r>
            <a:endParaRPr lang="en-US" sz="3600" dirty="0"/>
          </a:p>
        </p:txBody>
      </p:sp>
      <p:sp>
        <p:nvSpPr>
          <p:cNvPr id="6" name="TextBox 5"/>
          <p:cNvSpPr txBox="1"/>
          <p:nvPr/>
        </p:nvSpPr>
        <p:spPr>
          <a:xfrm>
            <a:off x="1286009" y="4217232"/>
            <a:ext cx="503653" cy="646331"/>
          </a:xfrm>
          <a:prstGeom prst="rect">
            <a:avLst/>
          </a:prstGeom>
          <a:noFill/>
        </p:spPr>
        <p:txBody>
          <a:bodyPr wrap="square" rtlCol="0">
            <a:spAutoFit/>
          </a:bodyPr>
          <a:lstStyle/>
          <a:p>
            <a:r>
              <a:rPr lang="en-US" altLang="ja-JP" sz="3600" dirty="0">
                <a:solidFill>
                  <a:schemeClr val="bg1">
                    <a:lumMod val="65000"/>
                  </a:schemeClr>
                </a:solidFill>
                <a:latin typeface="Helvetica Neue" charset="0"/>
                <a:ea typeface="Helvetica Neue" charset="0"/>
                <a:cs typeface="Helvetica Neue" charset="0"/>
              </a:rPr>
              <a:t>“</a:t>
            </a:r>
            <a:endParaRPr lang="en-US" sz="3600" dirty="0"/>
          </a:p>
        </p:txBody>
      </p:sp>
      <p:sp>
        <p:nvSpPr>
          <p:cNvPr id="7" name="TextBox 6"/>
          <p:cNvSpPr txBox="1"/>
          <p:nvPr/>
        </p:nvSpPr>
        <p:spPr>
          <a:xfrm>
            <a:off x="5630014" y="4217232"/>
            <a:ext cx="487050" cy="646331"/>
          </a:xfrm>
          <a:prstGeom prst="rect">
            <a:avLst/>
          </a:prstGeom>
          <a:noFill/>
        </p:spPr>
        <p:txBody>
          <a:bodyPr wrap="square" rtlCol="0">
            <a:spAutoFit/>
          </a:bodyPr>
          <a:lstStyle/>
          <a:p>
            <a:r>
              <a:rPr lang="en-US" altLang="ja-JP" sz="3600" dirty="0">
                <a:solidFill>
                  <a:schemeClr val="bg1">
                    <a:lumMod val="65000"/>
                  </a:schemeClr>
                </a:solidFill>
                <a:latin typeface="Helvetica Neue" charset="0"/>
                <a:ea typeface="Helvetica Neue" charset="0"/>
                <a:cs typeface="Helvetica Neue" charset="0"/>
              </a:rPr>
              <a:t>”</a:t>
            </a:r>
            <a:endParaRPr lang="en-US" sz="3600" dirty="0"/>
          </a:p>
        </p:txBody>
      </p:sp>
    </p:spTree>
    <p:extLst>
      <p:ext uri="{BB962C8B-B14F-4D97-AF65-F5344CB8AC3E}">
        <p14:creationId xmlns:p14="http://schemas.microsoft.com/office/powerpoint/2010/main" val="9953632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507">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07">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507">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130156" y="238732"/>
            <a:ext cx="4727575" cy="1330325"/>
          </a:xfrm>
        </p:spPr>
        <p:txBody>
          <a:bodyPr>
            <a:normAutofit/>
          </a:bodyPr>
          <a:lstStyle/>
          <a:p>
            <a:pPr>
              <a:spcBef>
                <a:spcPct val="0"/>
              </a:spcBef>
            </a:pPr>
            <a:r>
              <a:rPr lang="en-US" sz="3600" dirty="0">
                <a:latin typeface="Vitesse" charset="0"/>
                <a:ea typeface="Vitesse" charset="0"/>
                <a:cs typeface="Vitesse" charset="0"/>
              </a:rPr>
              <a:t>Summary</a:t>
            </a: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7759" t="6607" r="13881" b="7744"/>
          <a:stretch/>
        </p:blipFill>
        <p:spPr>
          <a:xfrm>
            <a:off x="1161904" y="1285661"/>
            <a:ext cx="2201521" cy="2406315"/>
          </a:xfrm>
          <a:prstGeom prst="rect">
            <a:avLst/>
          </a:prstGeom>
        </p:spPr>
      </p:pic>
    </p:spTree>
    <p:extLst>
      <p:ext uri="{BB962C8B-B14F-4D97-AF65-F5344CB8AC3E}">
        <p14:creationId xmlns:p14="http://schemas.microsoft.com/office/powerpoint/2010/main" val="173288935"/>
      </p:ext>
    </p:extLst>
  </p:cSld>
  <p:clrMapOvr>
    <a:masterClrMapping/>
  </p:clrMapOvr>
  <p:timing>
    <p:tnLst>
      <p:par>
        <p:cTn id="1" dur="indefinite" restart="never" nodeType="tmRoot"/>
      </p:par>
    </p:tnLst>
  </p:timing>
</p:sld>
</file>

<file path=ppt/theme/theme1.xml><?xml version="1.0" encoding="utf-8"?>
<a:theme xmlns:a="http://schemas.openxmlformats.org/drawingml/2006/main" name="1_Half Page Slash">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lnSpc>
            <a:spcPts val="1200"/>
          </a:lnSpc>
          <a:defRPr sz="1200" dirty="0" smtClean="0">
            <a:solidFill>
              <a:srgbClr val="000000"/>
            </a:solidFill>
            <a:latin typeface="Helvetica"/>
            <a:cs typeface="Helvetica"/>
          </a:defRPr>
        </a:defPPr>
      </a:lstStyle>
    </a:txDef>
  </a:objectDefaults>
  <a:extraClrSchemeLst/>
</a:theme>
</file>

<file path=ppt/theme/theme2.xml><?xml version="1.0" encoding="utf-8"?>
<a:theme xmlns:a="http://schemas.openxmlformats.org/drawingml/2006/main" name="Half Page Slash">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lnSpc>
            <a:spcPts val="1200"/>
          </a:lnSpc>
          <a:defRPr sz="1200" dirty="0" smtClean="0">
            <a:solidFill>
              <a:srgbClr val="000000"/>
            </a:solidFill>
            <a:latin typeface="Helvetica"/>
            <a:cs typeface="Helvetica"/>
          </a:defRPr>
        </a:defPPr>
      </a:lstStyle>
    </a:txDef>
  </a:objectDefaults>
  <a:extraClrSchemeLst/>
</a:theme>
</file>

<file path=ppt/theme/theme3.xml><?xml version="1.0" encoding="utf-8"?>
<a:theme xmlns:a="http://schemas.openxmlformats.org/drawingml/2006/main" name="Full Page Layou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16D43FDACDF02458C96071D7628C880" ma:contentTypeVersion="4" ma:contentTypeDescription="Create a new document." ma:contentTypeScope="" ma:versionID="93db545676783a71a92c456b471b0a8b">
  <xsd:schema xmlns:xsd="http://www.w3.org/2001/XMLSchema" xmlns:xs="http://www.w3.org/2001/XMLSchema" xmlns:p="http://schemas.microsoft.com/office/2006/metadata/properties" xmlns:ns1="http://schemas.microsoft.com/sharepoint/v3" xmlns:ns2="b057fda7-913b-4ab6-8820-932873bcd66c" targetNamespace="http://schemas.microsoft.com/office/2006/metadata/properties" ma:root="true" ma:fieldsID="1e1586ca1b53aa448b4e9fddfe24baf2" ns1:_="" ns2:_="">
    <xsd:import namespace="http://schemas.microsoft.com/sharepoint/v3"/>
    <xsd:import namespace="b057fda7-913b-4ab6-8820-932873bcd66c"/>
    <xsd:element name="properties">
      <xsd:complexType>
        <xsd:sequence>
          <xsd:element name="documentManagement">
            <xsd:complexType>
              <xsd:all>
                <xsd:element ref="ns1:PublishingStartDate" minOccurs="0"/>
                <xsd:element ref="ns1:PublishingExpirationDate" minOccurs="0"/>
                <xsd:element ref="ns2:SharedWithUsers" minOccurs="0"/>
                <xsd:element ref="ns2:SharingHintHash"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057fda7-913b-4ab6-8820-932873bcd66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11" nillable="true" ma:displayName="Sharing Hint Hash" ma:internalName="SharingHintHash" ma:readOnly="true">
      <xsd:simpleType>
        <xsd:restriction base="dms:Text"/>
      </xsd:simple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8EF043-B0E6-49AE-B312-D395614284AA}">
  <ds:schemaRefs>
    <ds:schemaRef ds:uri="http://schemas.microsoft.com/sharepoint/v3/contenttype/forms"/>
  </ds:schemaRefs>
</ds:datastoreItem>
</file>

<file path=customXml/itemProps2.xml><?xml version="1.0" encoding="utf-8"?>
<ds:datastoreItem xmlns:ds="http://schemas.openxmlformats.org/officeDocument/2006/customXml" ds:itemID="{A0B8D62D-BE99-40AF-BF97-BFAE812B12CE}">
  <ds:schemaRefs>
    <ds:schemaRef ds:uri="http://schemas.microsoft.com/sharepoint/v3"/>
    <ds:schemaRef ds:uri="http://purl.org/dc/terms/"/>
    <ds:schemaRef ds:uri="http://schemas.openxmlformats.org/package/2006/metadata/core-properties"/>
    <ds:schemaRef ds:uri="http://purl.org/dc/dcmitype/"/>
    <ds:schemaRef ds:uri="http://schemas.microsoft.com/office/infopath/2007/PartnerControls"/>
    <ds:schemaRef ds:uri="http://purl.org/dc/elements/1.1/"/>
    <ds:schemaRef ds:uri="http://schemas.microsoft.com/office/2006/documentManagement/types"/>
    <ds:schemaRef ds:uri="http://schemas.microsoft.com/office/2006/metadata/properties"/>
    <ds:schemaRef ds:uri="b057fda7-913b-4ab6-8820-932873bcd66c"/>
    <ds:schemaRef ds:uri="http://www.w3.org/XML/1998/namespace"/>
  </ds:schemaRefs>
</ds:datastoreItem>
</file>

<file path=customXml/itemProps3.xml><?xml version="1.0" encoding="utf-8"?>
<ds:datastoreItem xmlns:ds="http://schemas.openxmlformats.org/officeDocument/2006/customXml" ds:itemID="{E066AAC9-B2D0-46BD-87E7-92BBFA7E10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b057fda7-913b-4ab6-8820-932873bcd66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1093</TotalTime>
  <Words>816</Words>
  <Application>Microsoft Office PowerPoint</Application>
  <PresentationFormat>On-screen Show (16:9)</PresentationFormat>
  <Paragraphs>145</Paragraphs>
  <Slides>14</Slides>
  <Notes>6</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14</vt:i4>
      </vt:variant>
    </vt:vector>
  </HeadingPairs>
  <TitlesOfParts>
    <vt:vector size="30" baseType="lpstr">
      <vt:lpstr>MS PGothic</vt:lpstr>
      <vt:lpstr>Arial</vt:lpstr>
      <vt:lpstr>Calibri</vt:lpstr>
      <vt:lpstr>Cambria Math</vt:lpstr>
      <vt:lpstr>Helvetica</vt:lpstr>
      <vt:lpstr>Helvetica Neue</vt:lpstr>
      <vt:lpstr>KishoreFont Medium</vt:lpstr>
      <vt:lpstr>Times New Roman</vt:lpstr>
      <vt:lpstr>Vitesse</vt:lpstr>
      <vt:lpstr>Vitesse Bold</vt:lpstr>
      <vt:lpstr>Vitesse Book</vt:lpstr>
      <vt:lpstr>Vitesse Medium</vt:lpstr>
      <vt:lpstr>Wingdings</vt:lpstr>
      <vt:lpstr>1_Half Page Slash</vt:lpstr>
      <vt:lpstr>Half Page Slash</vt:lpstr>
      <vt:lpstr>Full Page Layout</vt:lpstr>
      <vt:lpstr>PowerPoint Presentation</vt:lpstr>
      <vt:lpstr>PowerPoint Presentation</vt:lpstr>
      <vt:lpstr>Example 1</vt:lpstr>
      <vt:lpstr>Data Example 1</vt:lpstr>
      <vt:lpstr>Example 2</vt:lpstr>
      <vt:lpstr>Data Example 2</vt:lpstr>
      <vt:lpstr>Example 3</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Richard Levine</dc:creator>
  <cp:lastModifiedBy>Rodriguez, Ramon S</cp:lastModifiedBy>
  <cp:revision>187</cp:revision>
  <dcterms:modified xsi:type="dcterms:W3CDTF">2020-01-17T15:58:12Z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0x010100E16D43FDACDF02458C96071D7628C880</vt:lpwstr>
  </property>
</Properties>
</file>