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20"/>
  </p:notesMasterIdLst>
  <p:handoutMasterIdLst>
    <p:handoutMasterId r:id="rId21"/>
  </p:handoutMasterIdLst>
  <p:sldIdLst>
    <p:sldId id="428" r:id="rId7"/>
    <p:sldId id="429" r:id="rId8"/>
    <p:sldId id="272" r:id="rId9"/>
    <p:sldId id="273" r:id="rId10"/>
    <p:sldId id="274" r:id="rId11"/>
    <p:sldId id="295" r:id="rId12"/>
    <p:sldId id="447" r:id="rId13"/>
    <p:sldId id="302" r:id="rId14"/>
    <p:sldId id="299" r:id="rId15"/>
    <p:sldId id="448" r:id="rId16"/>
    <p:sldId id="298" r:id="rId17"/>
    <p:sldId id="446" r:id="rId18"/>
    <p:sldId id="439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272"/>
            <p14:sldId id="273"/>
            <p14:sldId id="274"/>
            <p14:sldId id="295"/>
            <p14:sldId id="447"/>
            <p14:sldId id="302"/>
            <p14:sldId id="299"/>
            <p14:sldId id="448"/>
            <p14:sldId id="298"/>
            <p14:sldId id="446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1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8" name="Gao, Shuyu" initials="GS" lastIdx="8" clrIdx="7">
    <p:extLst>
      <p:ext uri="{19B8F6BF-5375-455C-9EA6-DF929625EA0E}">
        <p15:presenceInfo xmlns:p15="http://schemas.microsoft.com/office/powerpoint/2012/main" userId="S::sgao303@gatech.edu::745fdf33-32d9-42c7-8a89-b5a22794559e" providerId="AD"/>
      </p:ext>
    </p:extLst>
  </p:cmAuthor>
  <p:cmAuthor id="2" name="Figueroa, Shabana" initials="FS [2]" lastIdx="1" clrIdx="1"/>
  <p:cmAuthor id="3" name="Serban, Nicoleta" initials="SN" lastIdx="12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70B"/>
    <a:srgbClr val="F8FFF1"/>
    <a:srgbClr val="000000"/>
    <a:srgbClr val="EEB211"/>
    <a:srgbClr val="9932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0" autoAdjust="0"/>
    <p:restoredTop sz="86009"/>
  </p:normalViewPr>
  <p:slideViewPr>
    <p:cSldViewPr snapToGrid="0">
      <p:cViewPr varScale="1">
        <p:scale>
          <a:sx n="97" d="100"/>
          <a:sy n="97" d="100"/>
        </p:scale>
        <p:origin x="811" y="62"/>
      </p:cViewPr>
      <p:guideLst>
        <p:guide orient="horz" pos="1620"/>
        <p:guide pos="2880"/>
        <p:guide pos="144"/>
        <p:guide orient="horz" pos="444"/>
        <p:guide orient="horz" pos="804"/>
        <p:guide pos="3480"/>
        <p:guide pos="432"/>
        <p:guide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8/30/2020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8/30/2020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587417-2402-4069-AB84-5667575A781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92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9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17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72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75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61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61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50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09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4243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00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B3BD-8A23-4AB9-BD09-A13D2223AA2D}" type="datetimeFigureOut">
              <a:rPr lang="en-US" smtClean="0"/>
              <a:t>8/30/2020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F860D-254C-4C52-B679-F7CDC44C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7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10" r:id="rId6"/>
    <p:sldLayoutId id="2147483711" r:id="rId7"/>
    <p:sldLayoutId id="2147483712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Simple Linear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26137" y="3885645"/>
            <a:ext cx="3746616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Example 2: 2000 Presidential Elections in Florida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-135358"/>
            <a:ext cx="4727575" cy="1330325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14244" y="205058"/>
            <a:ext cx="77135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Elections in 2000: Florida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49" y="1272644"/>
            <a:ext cx="4070101" cy="380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1672" y="2805058"/>
            <a:ext cx="6463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Bush </a:t>
            </a:r>
            <a:endParaRPr lang="en-US" sz="135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1671" y="3209594"/>
            <a:ext cx="631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Gore </a:t>
            </a: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1671" y="3620758"/>
            <a:ext cx="9941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Buchanan</a:t>
            </a: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029" y="3228611"/>
            <a:ext cx="355861" cy="3558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029" y="2785645"/>
            <a:ext cx="346786" cy="3467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674" y="3601252"/>
            <a:ext cx="346786" cy="3467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247" y="2789711"/>
            <a:ext cx="346786" cy="34678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466" y="2793777"/>
            <a:ext cx="346786" cy="34678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685" y="2797843"/>
            <a:ext cx="346786" cy="34678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904" y="2801909"/>
            <a:ext cx="346786" cy="34678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173" y="3225888"/>
            <a:ext cx="355861" cy="35586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317" y="3223165"/>
            <a:ext cx="355861" cy="35586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461" y="3220442"/>
            <a:ext cx="355861" cy="35586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606" y="3217719"/>
            <a:ext cx="355861" cy="35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37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24546" y="213964"/>
            <a:ext cx="55435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Data Example in R</a:t>
            </a:r>
          </a:p>
        </p:txBody>
      </p:sp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151440" y="1048256"/>
            <a:ext cx="8244468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Read data with </a:t>
            </a:r>
            <a:r>
              <a:rPr lang="en-US" altLang="en-US" sz="1600" b="1" dirty="0" err="1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read.table</a:t>
            </a:r>
            <a:r>
              <a:rPr lang="en-US" altLang="en-US" sz="16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R command which is used for reading ASCII files</a:t>
            </a:r>
          </a:p>
          <a:p>
            <a:pPr marL="457200"/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elections = 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read.table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("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elections.txt",header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=TRUE)</a:t>
            </a:r>
          </a:p>
          <a:p>
            <a:endParaRPr lang="en-US" altLang="en-US" sz="1600" i="1" dirty="0">
              <a:solidFill>
                <a:schemeClr val="tx2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sz="16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Check the data content elections[1:4,]</a:t>
            </a:r>
          </a:p>
          <a:p>
            <a:pPr>
              <a:defRPr/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co   </a:t>
            </a:r>
            <a:r>
              <a:rPr lang="en-US" alt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lat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  </a:t>
            </a:r>
            <a:r>
              <a:rPr lang="en-US" alt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lon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   </a:t>
            </a:r>
            <a:r>
              <a:rPr lang="en-US" alt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npop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 whit  </a:t>
            </a:r>
            <a:r>
              <a:rPr lang="en-US" alt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blac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US" alt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hisp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o65 </a:t>
            </a:r>
            <a:r>
              <a:rPr lang="en-US" alt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hsed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en-US" sz="1600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coll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   </a:t>
            </a:r>
            <a:r>
              <a:rPr lang="en-US" alt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inco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 bush      gore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brow</a:t>
            </a:r>
            <a:endParaRPr lang="en-US" alt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1  1  29.7  82.4  198326   74.4  21.8  4.7    9.4  82.7  34.6  19412  34124   47365 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658</a:t>
            </a:r>
          </a:p>
          <a:p>
            <a:pPr>
              <a:defRPr/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2  2  30.3  82.3    20761   82.4  16.8  1.5    7.7  64.1  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5.7  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14859    5610     2392  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 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17</a:t>
            </a:r>
          </a:p>
          <a:p>
            <a:pPr>
              <a:defRPr/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3  3  30.2  85.6  146223   84.2  12.4  2.4  11.9  74.7  15.7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17838  38637   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18850  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171</a:t>
            </a:r>
            <a:endParaRPr lang="en-US" alt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4  4  29.9  82.2    24646   76.1  22.9  2.6  11.8  65.0    8.1   13681    5414     3075   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28 </a:t>
            </a:r>
          </a:p>
          <a:p>
            <a:pPr>
              <a:defRPr/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 </a:t>
            </a:r>
            <a:r>
              <a:rPr lang="en-US" alt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nade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harr  </a:t>
            </a:r>
            <a:r>
              <a:rPr lang="en-US" alt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hage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US" alt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buch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US" altLang="en-U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mcre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en-US" sz="1600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phil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moor</a:t>
            </a:r>
          </a:p>
          <a:p>
            <a:pPr>
              <a:defRPr/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1 3226     6       42    263      4       20   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21</a:t>
            </a:r>
            <a:endParaRPr lang="en-US" alt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2   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53     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0         3      73      0         3    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3</a:t>
            </a:r>
          </a:p>
          <a:p>
            <a:pPr>
              <a:defRPr/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3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828     5    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18    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248      3       18      27</a:t>
            </a:r>
          </a:p>
          <a:p>
            <a:pPr>
              <a:defRPr/>
            </a:pP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4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  </a:t>
            </a:r>
            <a:r>
              <a:rPr lang="en-US" alt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84     0         2      65      0         2       </a:t>
            </a:r>
            <a:r>
              <a:rPr lang="en-US" altLang="en-US" sz="1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3</a:t>
            </a:r>
            <a:endParaRPr lang="en-US" alt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80626" y="3450786"/>
            <a:ext cx="3075854" cy="136191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data file includes many other variables characterizing the counties. We will focus only on the number of votes in this analysis.</a:t>
            </a:r>
            <a:endParaRPr lang="en-US" sz="16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82827" y="2104928"/>
            <a:ext cx="573530" cy="430887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sz="2200" dirty="0"/>
          </a:p>
        </p:txBody>
      </p:sp>
      <p:sp>
        <p:nvSpPr>
          <p:cNvPr id="6" name="TextBox 5"/>
          <p:cNvSpPr txBox="1"/>
          <p:nvPr/>
        </p:nvSpPr>
        <p:spPr>
          <a:xfrm>
            <a:off x="2021343" y="3329047"/>
            <a:ext cx="458709" cy="430887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9537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13015" y="211386"/>
            <a:ext cx="8501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Exploratory Data Analysis in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252" y="1064411"/>
            <a:ext cx="47741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### Extract number of votes for each candidates</a:t>
            </a:r>
          </a:p>
          <a:p>
            <a:pPr marL="457200"/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buch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elections$buch</a:t>
            </a:r>
            <a:endParaRPr lang="en-US" sz="14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457200"/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bush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elections$bush</a:t>
            </a:r>
            <a:endParaRPr lang="en-US" sz="14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endParaRPr lang="en-US" sz="1400" b="1" dirty="0">
              <a:solidFill>
                <a:srgbClr val="DFA70B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sz="14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### Visualize the relationship between number of votes between Buchanan and Bush</a:t>
            </a:r>
          </a:p>
          <a:p>
            <a:pPr marL="457200"/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bush,buch,xlab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="Number of votes for Bush",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="Number of votes for Buchanan",</a:t>
            </a:r>
          </a:p>
          <a:p>
            <a:pPr marL="457200"/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main="Number of votes by county in Florida")</a:t>
            </a:r>
          </a:p>
          <a:p>
            <a:pPr marL="457200"/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cor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buch,bush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417389" y="1077857"/>
            <a:ext cx="3625488" cy="3011063"/>
            <a:chOff x="4090452" y="2251071"/>
            <a:chExt cx="3876662" cy="289257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0452" y="2251071"/>
              <a:ext cx="3876662" cy="2892570"/>
            </a:xfrm>
            <a:prstGeom prst="rect">
              <a:avLst/>
            </a:prstGeom>
          </p:spPr>
        </p:pic>
        <p:sp>
          <p:nvSpPr>
            <p:cNvPr id="8" name="Oval 7"/>
            <p:cNvSpPr/>
            <p:nvPr/>
          </p:nvSpPr>
          <p:spPr>
            <a:xfrm>
              <a:off x="7609696" y="4149367"/>
              <a:ext cx="132556" cy="201080"/>
            </a:xfrm>
            <a:prstGeom prst="ellipse">
              <a:avLst/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10" name="Oval 9"/>
            <p:cNvSpPr/>
            <p:nvPr/>
          </p:nvSpPr>
          <p:spPr>
            <a:xfrm>
              <a:off x="6231879" y="2598025"/>
              <a:ext cx="213001" cy="145229"/>
            </a:xfrm>
            <a:prstGeom prst="ellipse">
              <a:avLst/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90618" y="3469332"/>
            <a:ext cx="4833881" cy="13849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Helvetica Neue" charset="0"/>
                <a:ea typeface="Helvetica Neue" charset="0"/>
                <a:cs typeface="Helvetica Neue" charset="0"/>
              </a:rPr>
              <a:t>Linearity Assumption: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Helvetica Neue" charset="0"/>
                <a:ea typeface="Helvetica Neue" charset="0"/>
                <a:cs typeface="Helvetica Neue" charset="0"/>
              </a:rPr>
              <a:t>The scatterplot shows a strong positive relationship between the number of votes for the two candidates except for two outliers, one corresponding to the Palm Beach county. The correlation is high also (0.625).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Helvetica Neue" charset="0"/>
                <a:ea typeface="Helvetica Neue" charset="0"/>
                <a:cs typeface="Helvetica Neue" charset="0"/>
              </a:rPr>
              <a:t>Curvature in the relationship – consider transformations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22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3305" y="1065178"/>
            <a:ext cx="53511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### Transform both variables using the log-transformation</a:t>
            </a:r>
          </a:p>
          <a:p>
            <a:pPr marL="457200"/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plot(log(bush),log(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buch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),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="Log of Number of votes for Bush",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="Log of Number of votes for Buchanan",</a:t>
            </a:r>
          </a:p>
          <a:p>
            <a:pPr marL="457200"/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main="Number of votes by county in Florida")</a:t>
            </a:r>
          </a:p>
          <a:p>
            <a:pPr marL="457200"/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cor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(log(bush),log(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buch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))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397" y="207190"/>
            <a:ext cx="86812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Linearity using Transformation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72351" y="2687012"/>
            <a:ext cx="5762955" cy="2350804"/>
            <a:chOff x="228600" y="2149722"/>
            <a:chExt cx="7273943" cy="2907407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0" y="2149722"/>
              <a:ext cx="3414550" cy="2801525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92420" y="2149723"/>
              <a:ext cx="3510123" cy="29074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725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72351" y="2687012"/>
            <a:ext cx="5762955" cy="2350804"/>
            <a:chOff x="228600" y="2149722"/>
            <a:chExt cx="7273943" cy="290740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0" y="2149722"/>
              <a:ext cx="3414550" cy="280152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92420" y="2149723"/>
              <a:ext cx="3510123" cy="2907406"/>
            </a:xfrm>
            <a:prstGeom prst="rect">
              <a:avLst/>
            </a:prstGeom>
          </p:spPr>
        </p:pic>
      </p:grpSp>
      <p:sp>
        <p:nvSpPr>
          <p:cNvPr id="8" name="Rectangle 7"/>
          <p:cNvSpPr/>
          <p:nvPr/>
        </p:nvSpPr>
        <p:spPr>
          <a:xfrm>
            <a:off x="125397" y="207190"/>
            <a:ext cx="86812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Linearity using Transformation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04EFC9B-8867-474B-8742-B797F76AE37B}"/>
              </a:ext>
            </a:extLst>
          </p:cNvPr>
          <p:cNvSpPr txBox="1"/>
          <p:nvPr/>
        </p:nvSpPr>
        <p:spPr>
          <a:xfrm>
            <a:off x="5524500" y="1077769"/>
            <a:ext cx="3093289" cy="138499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Linearity Assumption: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lang="en-U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linear relationship has improved with the transformations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lang="en-U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correlation has increased from 0.625 to 0.922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We </a:t>
            </a:r>
            <a:r>
              <a:rPr lang="en-U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will perform the regression analysis using the transformed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305" y="1065178"/>
            <a:ext cx="53511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### Transform both variables using the log-transformation</a:t>
            </a:r>
          </a:p>
          <a:p>
            <a:pPr marL="457200"/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plot(log(bush),log(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buch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),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="Log of Number of votes for Bush",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="Log of Number of votes for Buchanan",</a:t>
            </a:r>
          </a:p>
          <a:p>
            <a:pPr marL="457200"/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main="Number of votes by county in Florida")</a:t>
            </a:r>
          </a:p>
          <a:p>
            <a:pPr marL="457200"/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cor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(log(bush),log(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buch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56430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1024" y="1050591"/>
            <a:ext cx="501575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 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model = lm(log(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buch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)~log(bush))</a:t>
            </a:r>
          </a:p>
          <a:p>
            <a:endParaRPr lang="en-US" sz="1600" i="1" dirty="0">
              <a:latin typeface="Helvetica Neue"/>
            </a:endParaRPr>
          </a:p>
          <a:p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Coefficients:</a:t>
            </a:r>
          </a:p>
          <a:p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                 </a:t>
            </a:r>
            <a:r>
              <a:rPr lang="en-US" sz="16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Estimate  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Std. Error  t value  </a:t>
            </a:r>
            <a:r>
              <a:rPr lang="en-US" sz="16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600" i="1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Pr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(&gt;|t|)    </a:t>
            </a:r>
          </a:p>
          <a:p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(Intercept) </a:t>
            </a:r>
            <a:r>
              <a:rPr lang="en-US" sz="16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-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2.55079    0.38903  </a:t>
            </a:r>
            <a:r>
              <a:rPr lang="en-US" sz="16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-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6.557   1.04e-08 ***</a:t>
            </a:r>
          </a:p>
          <a:p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log(bush)   </a:t>
            </a:r>
            <a:r>
              <a:rPr lang="en-US" sz="16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0.75620     0.03934  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19.222  </a:t>
            </a:r>
            <a:r>
              <a:rPr lang="en-US" sz="16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&lt; 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2e-16 ***</a:t>
            </a:r>
          </a:p>
          <a:p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---</a:t>
            </a:r>
          </a:p>
          <a:p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. codes:  0 ‘***’ 0.001 ‘**’ 0.01 ‘*’ 0.05 ‘.’ 0.1 ‘ ’ 1</a:t>
            </a:r>
          </a:p>
          <a:p>
            <a:endParaRPr lang="en-US" sz="16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Residual standard error: 0.4672 on 65 degrees of freedom</a:t>
            </a:r>
          </a:p>
          <a:p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Multiple R-squared:  0.8504,    Adjusted R-squared:  0.8481 </a:t>
            </a:r>
          </a:p>
          <a:p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F-statistic: 369.5 on 1 and 65 DF,  p-value: &lt; 2.2e-16</a:t>
            </a:r>
          </a:p>
        </p:txBody>
      </p:sp>
      <p:sp>
        <p:nvSpPr>
          <p:cNvPr id="2" name="Rectangle 1"/>
          <p:cNvSpPr/>
          <p:nvPr/>
        </p:nvSpPr>
        <p:spPr>
          <a:xfrm>
            <a:off x="147918" y="1569849"/>
            <a:ext cx="4954835" cy="117544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" name="Oval 3"/>
          <p:cNvSpPr/>
          <p:nvPr/>
        </p:nvSpPr>
        <p:spPr>
          <a:xfrm>
            <a:off x="2405806" y="3240238"/>
            <a:ext cx="726344" cy="371179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" name="Oval 5"/>
          <p:cNvSpPr/>
          <p:nvPr/>
        </p:nvSpPr>
        <p:spPr>
          <a:xfrm>
            <a:off x="2014826" y="3758218"/>
            <a:ext cx="812216" cy="356582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7" name="Oval 6"/>
          <p:cNvSpPr/>
          <p:nvPr/>
        </p:nvSpPr>
        <p:spPr>
          <a:xfrm>
            <a:off x="3381119" y="3269568"/>
            <a:ext cx="314072" cy="302878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9" name="Right Arrow 8"/>
          <p:cNvSpPr/>
          <p:nvPr/>
        </p:nvSpPr>
        <p:spPr>
          <a:xfrm>
            <a:off x="5231572" y="2017370"/>
            <a:ext cx="417386" cy="278612"/>
          </a:xfrm>
          <a:prstGeom prst="rightArrow">
            <a:avLst/>
          </a:prstGeom>
          <a:solidFill>
            <a:schemeClr val="tx2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1" name="Right Arrow 10"/>
          <p:cNvSpPr/>
          <p:nvPr/>
        </p:nvSpPr>
        <p:spPr>
          <a:xfrm>
            <a:off x="5238698" y="3342124"/>
            <a:ext cx="410260" cy="278612"/>
          </a:xfrm>
          <a:prstGeom prst="rightArrow">
            <a:avLst/>
          </a:prstGeom>
          <a:solidFill>
            <a:schemeClr val="tx2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777777" y="1552990"/>
                <a:ext cx="3059240" cy="1376531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=−2.55</m:t>
                    </m:r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, se(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) = 0.389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=  0.756</m:t>
                    </m:r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, se(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) = 0.039</a:t>
                </a:r>
              </a:p>
              <a:p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Test for statistical significance: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: t-value= -6.557, p-value ≈ 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: t-value= 19.22, p-value ≈ 0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777" y="1552990"/>
                <a:ext cx="3059240" cy="1376531"/>
              </a:xfrm>
              <a:prstGeom prst="rect">
                <a:avLst/>
              </a:prstGeom>
              <a:blipFill>
                <a:blip r:embed="rId3"/>
                <a:stretch>
                  <a:fillRect l="-990" b="-3930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777777" y="3192175"/>
                <a:ext cx="3059240" cy="566043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sz="1600" i="1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= 0.4672, n-2 = 65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𝑅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 ~ 85%</m:t>
                    </m:r>
                  </m:oMath>
                </a14:m>
                <a:r>
                  <a:rPr lang="en-US" sz="1600" i="1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variability explained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777" y="3192175"/>
                <a:ext cx="3059240" cy="566043"/>
              </a:xfrm>
              <a:prstGeom prst="rect">
                <a:avLst/>
              </a:prstGeom>
              <a:blipFill>
                <a:blip r:embed="rId4"/>
                <a:stretch>
                  <a:fillRect t="-3125" b="-12500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128870" y="203925"/>
            <a:ext cx="86812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Linear Regression Analysis </a:t>
            </a:r>
          </a:p>
        </p:txBody>
      </p:sp>
    </p:spTree>
    <p:extLst>
      <p:ext uri="{BB962C8B-B14F-4D97-AF65-F5344CB8AC3E}">
        <p14:creationId xmlns:p14="http://schemas.microsoft.com/office/powerpoint/2010/main" val="130784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6688" y="1087927"/>
            <a:ext cx="502775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Perform Residual Analysis</a:t>
            </a:r>
          </a:p>
          <a:p>
            <a:pPr marL="396875"/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par(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mfrow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=c(2,2))</a:t>
            </a:r>
          </a:p>
          <a:p>
            <a:pPr marL="396875"/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plot(log(bush),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resid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(model), main="Predictor vs Residuals”) </a:t>
            </a:r>
          </a:p>
          <a:p>
            <a:pPr marL="396875"/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abline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(0,0)</a:t>
            </a:r>
          </a:p>
          <a:p>
            <a:pPr marL="396875"/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plot(fitted(model),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resid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(model),main="Fitted vs Residuals",</a:t>
            </a:r>
          </a:p>
          <a:p>
            <a:pPr marL="396875"/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    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="Fitted Values")</a:t>
            </a:r>
          </a:p>
          <a:p>
            <a:pPr marL="396875"/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abline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(0,0)</a:t>
            </a:r>
          </a:p>
          <a:p>
            <a:pPr marL="396875"/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qqnorm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resid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(model),main="QQ-Plot of Residuals")</a:t>
            </a:r>
          </a:p>
          <a:p>
            <a:pPr marL="396875"/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qqline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resid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(model))</a:t>
            </a:r>
          </a:p>
          <a:p>
            <a:pPr marL="396875"/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hist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resid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(model),main="Histogram of Residuals")</a:t>
            </a:r>
          </a:p>
          <a:p>
            <a:endParaRPr lang="en-US" sz="1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446" y="1116594"/>
            <a:ext cx="3678047" cy="27529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870" y="203925"/>
            <a:ext cx="86812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Residual Analysis </a:t>
            </a:r>
          </a:p>
        </p:txBody>
      </p:sp>
    </p:spTree>
    <p:extLst>
      <p:ext uri="{BB962C8B-B14F-4D97-AF65-F5344CB8AC3E}">
        <p14:creationId xmlns:p14="http://schemas.microsoft.com/office/powerpoint/2010/main" val="216282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6689" y="1087927"/>
            <a:ext cx="44018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Estimated Regression Coefficients</a:t>
            </a:r>
          </a:p>
          <a:p>
            <a:pPr marL="457200"/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betas = 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coef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(model)</a:t>
            </a:r>
          </a:p>
          <a:p>
            <a:pPr marL="457200"/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Betas</a:t>
            </a:r>
          </a:p>
          <a:p>
            <a:pPr marL="457200"/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   (Intercept)   log(bush) </a:t>
            </a:r>
          </a:p>
          <a:p>
            <a:pPr marL="457200"/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 -2.5507857   0.7561963 </a:t>
            </a:r>
          </a:p>
          <a:p>
            <a:r>
              <a:rPr lang="en-US" sz="1400" b="1" i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Confidence intervals for the coefficients</a:t>
            </a:r>
          </a:p>
          <a:p>
            <a:pPr marL="457200"/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confint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(model)</a:t>
            </a:r>
          </a:p>
          <a:p>
            <a:pPr marL="457200"/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     2.5 %            97.5 %</a:t>
            </a:r>
          </a:p>
          <a:p>
            <a:pPr marL="457200"/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(Intercept) -3.3277351   -1.7738363</a:t>
            </a:r>
          </a:p>
          <a:p>
            <a:pPr marL="457200"/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log(bush)    0.6776289    0.8347638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19135" y="1065913"/>
            <a:ext cx="2995137" cy="181588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Interpretation:</a:t>
            </a:r>
          </a:p>
          <a:p>
            <a:pPr marL="152877" indent="-152877"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As number of log-votes for Bush increase by 1%  the expected % increase of log-votes for Buchanan is 0.756.</a:t>
            </a:r>
          </a:p>
          <a:p>
            <a:pPr marL="152877" indent="-152877"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lang="en-US" sz="1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minimum 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% increase is 0.677 and </a:t>
            </a:r>
            <a:r>
              <a:rPr lang="en-US" sz="1400"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lang="en-US" sz="1400" smtClean="0">
                <a:latin typeface="Helvetica" panose="020B0604020202020204" pitchFamily="34" charset="0"/>
                <a:cs typeface="Helvetica" panose="020B0604020202020204" pitchFamily="34" charset="0"/>
              </a:rPr>
              <a:t>maximum 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% increase is 0.834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870" y="203925"/>
            <a:ext cx="86812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Model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37444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3337" y="1082678"/>
            <a:ext cx="81443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Omit Palm Beach</a:t>
            </a:r>
          </a:p>
          <a:p>
            <a:pPr marL="457200"/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model.red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lm(log(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buch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[-50])~log(bush[-50]))</a:t>
            </a:r>
          </a:p>
          <a:p>
            <a:pPr marL="457200"/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summary(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model.red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lang="fr-FR" sz="12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Coefficients:</a:t>
            </a:r>
          </a:p>
          <a:p>
            <a:pPr marL="457200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Estimate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Std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Error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t value  Pr(&gt;|t|)    </a:t>
            </a:r>
          </a:p>
          <a:p>
            <a:pPr marL="457200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Intercept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)       -2.31657    0.35470    -6.531   1.23e-08 ***</a:t>
            </a:r>
          </a:p>
          <a:p>
            <a:pPr marL="457200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log(bush[-50])  0.72960    0.03599   20.271  &lt; 2e-16 ***</a:t>
            </a:r>
            <a:endParaRPr lang="en-US" sz="12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Obtain the predicted vote count for Palm Beach given the fitted model without</a:t>
            </a:r>
          </a:p>
          <a:p>
            <a:pPr marL="457200"/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new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data.frame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(bush = bush[50])</a:t>
            </a:r>
          </a:p>
          <a:p>
            <a:pPr marL="457200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## The difference between predicted on the original scale and the observed vote count </a:t>
            </a:r>
          </a:p>
          <a:p>
            <a:pPr marL="457200"/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buch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[50 ]-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exp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(predict(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model.red,new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))</a:t>
            </a:r>
          </a:p>
          <a:p>
            <a:pPr marL="457200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[1] 2809</a:t>
            </a:r>
          </a:p>
          <a:p>
            <a:r>
              <a:rPr lang="en-US" sz="12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Prediction Confidence Interval for log(vote count) </a:t>
            </a:r>
          </a:p>
          <a:p>
            <a:pPr marL="457200"/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predict(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model.red,new,interval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='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prediction',level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=.95)</a:t>
            </a:r>
          </a:p>
          <a:p>
            <a:r>
              <a:rPr lang="en-US" sz="12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Prediction Confidence Interval on the original scale </a:t>
            </a:r>
          </a:p>
          <a:p>
            <a:pPr marL="457200"/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exp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(predict(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model.red,new,interval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='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prediction',level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=.95))</a:t>
            </a:r>
          </a:p>
          <a:p>
            <a:pPr marL="457200"/>
            <a:r>
              <a:rPr lang="fr-FR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fit  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lwr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upr</a:t>
            </a:r>
            <a:endParaRPr lang="fr-FR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597.5019 252.738 1412.564</a:t>
            </a:r>
          </a:p>
          <a:p>
            <a:r>
              <a:rPr lang="en-US" sz="12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Is the observed vote count in the prediction interval?</a:t>
            </a:r>
          </a:p>
          <a:p>
            <a:pPr marL="457200"/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buch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[50]</a:t>
            </a:r>
          </a:p>
          <a:p>
            <a:pPr marL="457200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[1] 3407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996" y="207647"/>
            <a:ext cx="86812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Is Palm Beach an Outlier?</a:t>
            </a:r>
          </a:p>
        </p:txBody>
      </p:sp>
    </p:spTree>
    <p:extLst>
      <p:ext uri="{BB962C8B-B14F-4D97-AF65-F5344CB8AC3E}">
        <p14:creationId xmlns:p14="http://schemas.microsoft.com/office/powerpoint/2010/main" val="237413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26D105B-ACC0-0F4E-9805-4B82CB30A3EB}"/>
              </a:ext>
            </a:extLst>
          </p:cNvPr>
          <p:cNvSpPr txBox="1"/>
          <p:nvPr/>
        </p:nvSpPr>
        <p:spPr>
          <a:xfrm>
            <a:off x="6589059" y="1071060"/>
            <a:ext cx="2420470" cy="3416320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Interpretation:</a:t>
            </a:r>
          </a:p>
          <a:p>
            <a:pPr marL="257172" indent="-257172">
              <a:buFont typeface="Arial" panose="020B0604020202020204" pitchFamily="34" charset="0"/>
              <a:buChar char="•"/>
            </a:pPr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difference between predicted and observed vote count for Bush in the Palm Beach county is 2809.</a:t>
            </a:r>
          </a:p>
          <a:p>
            <a:pPr marL="257172" indent="-257172">
              <a:buFont typeface="Arial" panose="020B0604020202020204" pitchFamily="34" charset="0"/>
              <a:buChar char="•"/>
            </a:pPr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upper bound of the prediction confidence interval for the vote count is 1412 which is much lower than the observed vote count, 3407.</a:t>
            </a:r>
          </a:p>
          <a:p>
            <a:pPr marL="257172" indent="-257172">
              <a:buFont typeface="Arial" panose="020B0604020202020204" pitchFamily="34" charset="0"/>
              <a:buChar char="•"/>
            </a:pPr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While a difference of 2809 votes is not large given the total U.S. votes, this was particularly decisive for the 2000 elections. </a:t>
            </a:r>
          </a:p>
          <a:p>
            <a:pPr marL="257172" indent="-257172">
              <a:buFont typeface="Arial" panose="020B0604020202020204" pitchFamily="34" charset="0"/>
              <a:buChar char="•"/>
            </a:pPr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Recall that George W. Bush won Florida by a margin of 537 votes</a:t>
            </a:r>
            <a:r>
              <a:rPr lang="en-US" sz="12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996" y="207647"/>
            <a:ext cx="86812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Is Palm Beach an Outlier?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337" y="1082678"/>
            <a:ext cx="65062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Omit Palm Beach</a:t>
            </a:r>
          </a:p>
          <a:p>
            <a:pPr marL="457200"/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model.red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lm(log(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buch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[-50])~log(bush[-50]))</a:t>
            </a:r>
          </a:p>
          <a:p>
            <a:pPr marL="457200"/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summary(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model.red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lang="fr-FR" sz="12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Coefficients:</a:t>
            </a:r>
          </a:p>
          <a:p>
            <a:pPr marL="457200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Estimate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Std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Error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t value  Pr(&gt;|t|)    </a:t>
            </a:r>
          </a:p>
          <a:p>
            <a:pPr marL="457200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Intercept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)       -2.31657    0.35470    -6.531   1.23e-08 ***</a:t>
            </a:r>
          </a:p>
          <a:p>
            <a:pPr marL="457200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log(bush[-50])  0.72960    0.03599   20.271  &lt; 2e-16 ***</a:t>
            </a:r>
            <a:endParaRPr lang="en-US" sz="12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Obtain the predicted vote count for Palm Beach given the fitted model without</a:t>
            </a:r>
          </a:p>
          <a:p>
            <a:pPr marL="457200"/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new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data.frame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(bush = bush[50])</a:t>
            </a:r>
          </a:p>
          <a:p>
            <a:pPr marL="457200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## The difference between predicted on the original scale and the observed vote count </a:t>
            </a:r>
          </a:p>
          <a:p>
            <a:pPr marL="457200"/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buch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[50 ]-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exp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(predict(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model.red,new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))</a:t>
            </a:r>
          </a:p>
          <a:p>
            <a:pPr marL="457200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[1] 2809</a:t>
            </a:r>
          </a:p>
          <a:p>
            <a:r>
              <a:rPr lang="en-US" sz="12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Prediction Confidence Interval for log(vote count) </a:t>
            </a:r>
          </a:p>
          <a:p>
            <a:pPr marL="457200"/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predict(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model.red,new,interval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='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prediction',level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=.95)</a:t>
            </a:r>
          </a:p>
          <a:p>
            <a:r>
              <a:rPr lang="en-US" sz="12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Prediction Confidence Interval on the original scale </a:t>
            </a:r>
          </a:p>
          <a:p>
            <a:pPr marL="457200"/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exp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(predict(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model.red,new,interval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='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prediction',level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=.95))</a:t>
            </a:r>
          </a:p>
          <a:p>
            <a:pPr marL="457200"/>
            <a:r>
              <a:rPr lang="fr-FR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fit  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lwr</a:t>
            </a:r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           </a:t>
            </a:r>
            <a:r>
              <a:rPr lang="fr-FR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upr</a:t>
            </a:r>
            <a:endParaRPr lang="fr-FR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597.5019 252.738 1412.564</a:t>
            </a:r>
          </a:p>
          <a:p>
            <a:r>
              <a:rPr lang="en-US" sz="1200" b="1" dirty="0">
                <a:solidFill>
                  <a:srgbClr val="DFA70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Is the observed vote count in the prediction interval?</a:t>
            </a:r>
          </a:p>
          <a:p>
            <a:pPr marL="457200"/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buch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[50]</a:t>
            </a:r>
          </a:p>
          <a:p>
            <a:pPr marL="457200"/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[1] 3407</a:t>
            </a:r>
          </a:p>
        </p:txBody>
      </p:sp>
    </p:spTree>
    <p:extLst>
      <p:ext uri="{BB962C8B-B14F-4D97-AF65-F5344CB8AC3E}">
        <p14:creationId xmlns:p14="http://schemas.microsoft.com/office/powerpoint/2010/main" val="388697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38732"/>
            <a:ext cx="4727575" cy="133032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B8D62D-BE99-40AF-BF97-BFAE812B12CE}">
  <ds:schemaRefs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b057fda7-913b-4ab6-8820-932873bcd66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1068</Words>
  <Application>Microsoft Office PowerPoint</Application>
  <PresentationFormat>On-screen Show (16:9)</PresentationFormat>
  <Paragraphs>158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Book</vt:lpstr>
      <vt:lpstr>Vitesse Medium</vt:lpstr>
      <vt:lpstr>1_Half Page Slash</vt:lpstr>
      <vt:lpstr>Half Page Slash</vt:lpstr>
      <vt:lpstr>Full Page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Aymee Garcia</cp:lastModifiedBy>
  <cp:revision>212</cp:revision>
  <dcterms:modified xsi:type="dcterms:W3CDTF">2020-08-31T02:20:46Z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