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  <p:sldMasterId id="2147483720" r:id="rId7"/>
  </p:sldMasterIdLst>
  <p:notesMasterIdLst>
    <p:notesMasterId r:id="rId18"/>
  </p:notesMasterIdLst>
  <p:handoutMasterIdLst>
    <p:handoutMasterId r:id="rId19"/>
  </p:handoutMasterIdLst>
  <p:sldIdLst>
    <p:sldId id="434" r:id="rId8"/>
    <p:sldId id="537" r:id="rId9"/>
    <p:sldId id="510" r:id="rId10"/>
    <p:sldId id="457" r:id="rId11"/>
    <p:sldId id="535" r:id="rId12"/>
    <p:sldId id="458" r:id="rId13"/>
    <p:sldId id="539" r:id="rId14"/>
    <p:sldId id="516" r:id="rId15"/>
    <p:sldId id="517" r:id="rId16"/>
    <p:sldId id="538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7"/>
            <p14:sldId id="510"/>
            <p14:sldId id="457"/>
            <p14:sldId id="535"/>
            <p14:sldId id="458"/>
            <p14:sldId id="539"/>
            <p14:sldId id="516"/>
            <p14:sldId id="517"/>
            <p14:sldId id="5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  <p15:guide id="10" orient="horz" pos="20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9" autoAdjust="0"/>
    <p:restoredTop sz="89880" autoAdjust="0"/>
  </p:normalViewPr>
  <p:slideViewPr>
    <p:cSldViewPr snapToGrid="0">
      <p:cViewPr varScale="1">
        <p:scale>
          <a:sx n="65" d="100"/>
          <a:sy n="65" d="100"/>
        </p:scale>
        <p:origin x="1401" y="33"/>
      </p:cViewPr>
      <p:guideLst>
        <p:guide orient="horz" pos="1620"/>
        <p:guide pos="2880"/>
        <p:guide pos="144"/>
        <p:guide pos="336"/>
        <p:guide pos="3456"/>
        <p:guide pos="5664"/>
        <p:guide orient="horz" pos="372"/>
        <p:guide orient="horz" pos="708"/>
        <p:guide orient="horz" pos="3108"/>
        <p:guide orient="horz" pos="20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55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71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97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46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44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160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4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113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10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417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05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38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6417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3165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4116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75312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8456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99816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5008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92398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324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6429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62670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85600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2789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367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4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2323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06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145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+mn-ea"/>
                <a:cs typeface="+mn-cs"/>
              </a:rPr>
              <a:t>Poisson Regression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612302-DDB6-4B2A-BDEB-935B267AC843}"/>
              </a:ext>
            </a:extLst>
          </p:cNvPr>
          <p:cNvSpPr>
            <a:spLocks noGrp="1"/>
          </p:cNvSpPr>
          <p:nvPr/>
        </p:nvSpPr>
        <p:spPr>
          <a:xfrm>
            <a:off x="124868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Model Estimation: Data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44459" y="863462"/>
            <a:ext cx="798799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model and predict the number of awards earned by students at one high school for multiple high schools.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awards earned by students at a high school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year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type of program in which the student was enrolled, with three levels: 1 = "General", 2 = "Academic" and 3 ="Vocational";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score on the final exam in math.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238782" y="4473230"/>
            <a:ext cx="714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data example was acquired from the Institute for Digital Research and Education at University of California, Los Angeles.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31333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 1: High School Awards</a:t>
            </a:r>
          </a:p>
        </p:txBody>
      </p:sp>
    </p:spTree>
    <p:extLst>
      <p:ext uri="{BB962C8B-B14F-4D97-AF65-F5344CB8AC3E}">
        <p14:creationId xmlns:p14="http://schemas.microsoft.com/office/powerpoint/2010/main" val="3784485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9371" y="900762"/>
            <a:ext cx="7908856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standard regression model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m0 = lm(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num_awards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+ math, data=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Residual Analysis for Goodness of Fit</a:t>
            </a:r>
            <a:endParaRPr lang="en-US" sz="1400" b="1" i="1" dirty="0">
              <a:solidFill>
                <a:srgbClr val="EEB21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mfrow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c(2,2))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awardsdata$math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res,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"Math Exam Score",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"Residuals",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19)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(h = 0)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plot(fitted(m0), res,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"Fitted Values",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"Residuals",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19)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(h = 0)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hist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="Residuals", main= "Histogram of Residuals")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qqnorm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qqline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(res)</a:t>
            </a: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622944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GOF: Standard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99108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36" y="1040060"/>
            <a:ext cx="6509506" cy="3542319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6D7397B-5C56-4165-AA4A-6398C0617551}"/>
              </a:ext>
            </a:extLst>
          </p:cNvPr>
          <p:cNvSpPr txBox="1">
            <a:spLocks/>
          </p:cNvSpPr>
          <p:nvPr/>
        </p:nvSpPr>
        <p:spPr>
          <a:xfrm>
            <a:off x="126514" y="115288"/>
            <a:ext cx="8562392" cy="62294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GOF: Standard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73849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657AFF-4B7D-4D13-8206-79E4D440F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09470"/>
              </p:ext>
            </p:extLst>
          </p:nvPr>
        </p:nvGraphicFramePr>
        <p:xfrm>
          <a:off x="161488" y="1637999"/>
          <a:ext cx="5115886" cy="10585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1532">
                  <a:extLst>
                    <a:ext uri="{9D8B030D-6E8A-4147-A177-3AD203B41FA5}">
                      <a16:colId xmlns:a16="http://schemas.microsoft.com/office/drawing/2014/main" val="774211033"/>
                    </a:ext>
                  </a:extLst>
                </a:gridCol>
                <a:gridCol w="890436">
                  <a:extLst>
                    <a:ext uri="{9D8B030D-6E8A-4147-A177-3AD203B41FA5}">
                      <a16:colId xmlns:a16="http://schemas.microsoft.com/office/drawing/2014/main" val="465298779"/>
                    </a:ext>
                  </a:extLst>
                </a:gridCol>
                <a:gridCol w="964639">
                  <a:extLst>
                    <a:ext uri="{9D8B030D-6E8A-4147-A177-3AD203B41FA5}">
                      <a16:colId xmlns:a16="http://schemas.microsoft.com/office/drawing/2014/main" val="2615596350"/>
                    </a:ext>
                  </a:extLst>
                </a:gridCol>
                <a:gridCol w="742030">
                  <a:extLst>
                    <a:ext uri="{9D8B030D-6E8A-4147-A177-3AD203B41FA5}">
                      <a16:colId xmlns:a16="http://schemas.microsoft.com/office/drawing/2014/main" val="367308248"/>
                    </a:ext>
                  </a:extLst>
                </a:gridCol>
                <a:gridCol w="1187249">
                  <a:extLst>
                    <a:ext uri="{9D8B030D-6E8A-4147-A177-3AD203B41FA5}">
                      <a16:colId xmlns:a16="http://schemas.microsoft.com/office/drawing/2014/main" val="1817295106"/>
                    </a:ext>
                  </a:extLst>
                </a:gridCol>
              </a:tblGrid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070888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-5.24712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0.65845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-7.969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1.60e-15 ***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05137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progAcademic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1.08386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0.35825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3.025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0.00248 **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06938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progVocational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0.36981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0.44107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0.838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0.40179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175876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math   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0.07015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0.01060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6.619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3.63e-11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392420"/>
                  </a:ext>
                </a:extLst>
              </a:tr>
            </a:tbl>
          </a:graphicData>
        </a:graphic>
      </p:graphicFrame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6031" y="890946"/>
            <a:ext cx="625315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m1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num_awards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+ math, family="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 data=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summary(m1)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3526" y="3232953"/>
                <a:ext cx="6225997" cy="1336713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𝒎𝒂𝒕𝒉</m:t>
                        </m:r>
                      </m:sub>
                    </m:sSub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600" b="0" i="0" smtClean="0">
                        <a:latin typeface="Cambria Math" panose="02040503050406030204" pitchFamily="18" charset="0"/>
                      </a:rPr>
                      <m:t>0.07</m:t>
                    </m:r>
                    <m:r>
                      <a:rPr lang="en-US" altLang="en-US" sz="160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one unit increase in the math exam score,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log expected award count would be expected to increase by 0.07, holding  the program fixed.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rate ratio for awards would be expected to increase by a factor of 1.07, holding the program fixed.</a:t>
                </a: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26" y="3232953"/>
                <a:ext cx="6225997" cy="1336713"/>
              </a:xfrm>
              <a:prstGeom prst="rect">
                <a:avLst/>
              </a:prstGeom>
              <a:blipFill>
                <a:blip r:embed="rId3"/>
                <a:stretch>
                  <a:fillRect l="-293" r="-780" b="-4036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97777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Poisson Regression Estimation</a:t>
            </a:r>
            <a:endParaRPr lang="en-US" sz="3600" dirty="0">
              <a:latin typeface="Vitesse"/>
            </a:endParaRPr>
          </a:p>
        </p:txBody>
      </p:sp>
      <p:sp>
        <p:nvSpPr>
          <p:cNvPr id="7" name="Oval 6"/>
          <p:cNvSpPr/>
          <p:nvPr/>
        </p:nvSpPr>
        <p:spPr>
          <a:xfrm>
            <a:off x="218229" y="3221371"/>
            <a:ext cx="1358902" cy="394283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75064" y="2453134"/>
            <a:ext cx="815130" cy="290066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A2F615-D9A9-41DB-AB9E-433E5B05EBA4}"/>
                  </a:ext>
                </a:extLst>
              </p:cNvPr>
              <p:cNvSpPr txBox="1"/>
              <p:nvPr/>
            </p:nvSpPr>
            <p:spPr>
              <a:xfrm>
                <a:off x="238162" y="3226897"/>
                <a:ext cx="6221362" cy="109049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𝒂𝒄𝒂𝒅𝒆𝒎𝒊𝒄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600" b="0" i="0" smtClean="0">
                        <a:latin typeface="Cambria Math" panose="02040503050406030204" pitchFamily="18" charset="0"/>
                      </a:rPr>
                      <m:t>1.084</m:t>
                    </m:r>
                    <m:r>
                      <a:rPr lang="en-US" altLang="en-US" sz="160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While holding math score fixed, academic programs compared to general programs are expected to have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log of expected award counts 1.084 higher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rate for awards exp(1.084) = 2.956 times higher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A2F615-D9A9-41DB-AB9E-433E5B05E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62" y="3226897"/>
                <a:ext cx="6221362" cy="1090491"/>
              </a:xfrm>
              <a:prstGeom prst="rect">
                <a:avLst/>
              </a:prstGeom>
              <a:blipFill>
                <a:blip r:embed="rId3"/>
                <a:stretch>
                  <a:fillRect l="-391" b="-549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657AFF-4B7D-4D13-8206-79E4D440FD6C}"/>
              </a:ext>
            </a:extLst>
          </p:cNvPr>
          <p:cNvGraphicFramePr>
            <a:graphicFrameLocks noGrp="1"/>
          </p:cNvGraphicFramePr>
          <p:nvPr/>
        </p:nvGraphicFramePr>
        <p:xfrm>
          <a:off x="161488" y="1637999"/>
          <a:ext cx="5115886" cy="10585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1532">
                  <a:extLst>
                    <a:ext uri="{9D8B030D-6E8A-4147-A177-3AD203B41FA5}">
                      <a16:colId xmlns:a16="http://schemas.microsoft.com/office/drawing/2014/main" val="774211033"/>
                    </a:ext>
                  </a:extLst>
                </a:gridCol>
                <a:gridCol w="890436">
                  <a:extLst>
                    <a:ext uri="{9D8B030D-6E8A-4147-A177-3AD203B41FA5}">
                      <a16:colId xmlns:a16="http://schemas.microsoft.com/office/drawing/2014/main" val="465298779"/>
                    </a:ext>
                  </a:extLst>
                </a:gridCol>
                <a:gridCol w="964639">
                  <a:extLst>
                    <a:ext uri="{9D8B030D-6E8A-4147-A177-3AD203B41FA5}">
                      <a16:colId xmlns:a16="http://schemas.microsoft.com/office/drawing/2014/main" val="2615596350"/>
                    </a:ext>
                  </a:extLst>
                </a:gridCol>
                <a:gridCol w="742030">
                  <a:extLst>
                    <a:ext uri="{9D8B030D-6E8A-4147-A177-3AD203B41FA5}">
                      <a16:colId xmlns:a16="http://schemas.microsoft.com/office/drawing/2014/main" val="367308248"/>
                    </a:ext>
                  </a:extLst>
                </a:gridCol>
                <a:gridCol w="1187249">
                  <a:extLst>
                    <a:ext uri="{9D8B030D-6E8A-4147-A177-3AD203B41FA5}">
                      <a16:colId xmlns:a16="http://schemas.microsoft.com/office/drawing/2014/main" val="1817295106"/>
                    </a:ext>
                  </a:extLst>
                </a:gridCol>
              </a:tblGrid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070888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-5.24712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0.65845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-7.969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1.60e-15 ***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05137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progAcademic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1.08386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0.35825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3.025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0.00248 **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06938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progVocational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0.36981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0.44107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0.838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0.40179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175876"/>
                  </a:ext>
                </a:extLst>
              </a:tr>
              <a:tr h="207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math    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0.07015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0.01060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6.619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3.63e-11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392420"/>
                  </a:ext>
                </a:extLst>
              </a:tr>
            </a:tbl>
          </a:graphicData>
        </a:graphic>
      </p:graphicFrame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6031" y="890946"/>
            <a:ext cx="625315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m1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num_awards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+ math, family="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 data=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summary(m1)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97777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Poisson Regression Estimation</a:t>
            </a:r>
            <a:endParaRPr lang="en-US" sz="3600" dirty="0">
              <a:latin typeface="Vitesse"/>
            </a:endParaRPr>
          </a:p>
        </p:txBody>
      </p:sp>
      <p:sp>
        <p:nvSpPr>
          <p:cNvPr id="7" name="Oval 6"/>
          <p:cNvSpPr/>
          <p:nvPr/>
        </p:nvSpPr>
        <p:spPr>
          <a:xfrm>
            <a:off x="193061" y="3212982"/>
            <a:ext cx="1828685" cy="402673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75064" y="2033684"/>
            <a:ext cx="815130" cy="290066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41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39239" y="849687"/>
            <a:ext cx="7987996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explain factors that are associated to car insurance claims due to accidents or other events leading to car damage.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car insurance claims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policyholder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Holders: numbers of policyholders;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Claims: numbers of claims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District of residence of policyholder (1 to 4): 4 is major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Classification of cars with levels &lt;1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1–1.5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1.5–2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&gt;2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 group of the policyholder: &lt;25, 25–29, 30–35, &gt;35.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22944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2: Insurance Claims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868262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8283" y="891024"/>
            <a:ext cx="85746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m.ins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(Claims ~ District + Group + Age + offset(log(Holders)), data = Insurance, family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poisson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28600" y="1775535"/>
                <a:ext cx="7771492" cy="232730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Important to note!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Event rates can be calculated as events per units of varying size; the unit size is called 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exposure</a:t>
                </a:r>
                <a:r>
                  <a:rPr lang="en-US" altLang="en-US" sz="16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 Poisson regression, exposure is accounted for using an 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offset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-- the exposure variable enters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in the linear combination of the predicting variables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but with the coefficient (for 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log(exposure)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constrained to 1:</a:t>
                </a:r>
              </a:p>
              <a:p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1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6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6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6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6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6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1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6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p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+log</a:t>
                </a:r>
                <a:r>
                  <a:rPr 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(exposure)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 this example, the number of policyholders is the exposure since the rate of claims is per policyholder (hence the unit).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75535"/>
                <a:ext cx="7771492" cy="2327304"/>
              </a:xfrm>
              <a:prstGeom prst="rect">
                <a:avLst/>
              </a:prstGeom>
              <a:blipFill>
                <a:blip r:embed="rId3"/>
                <a:stretch>
                  <a:fillRect l="-392" t="-519" r="-392" b="-207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850546" y="891430"/>
            <a:ext cx="1627465" cy="345027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87027" y="2939187"/>
            <a:ext cx="1388613" cy="364210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536046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Poisson Regression Estimation</a:t>
            </a:r>
          </a:p>
        </p:txBody>
      </p:sp>
    </p:spTree>
    <p:extLst>
      <p:ext uri="{BB962C8B-B14F-4D97-AF65-F5344CB8AC3E}">
        <p14:creationId xmlns:p14="http://schemas.microsoft.com/office/powerpoint/2010/main" val="180105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11332</TotalTime>
  <Words>740</Words>
  <Application>Microsoft Office PowerPoint</Application>
  <PresentationFormat>On-screen Show (16:9)</PresentationFormat>
  <Paragraphs>121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Cambria Math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Full Page Layout</vt:lpstr>
      <vt:lpstr>PowerPoint Presentation</vt:lpstr>
      <vt:lpstr>PowerPoint Presentation</vt:lpstr>
      <vt:lpstr>Data Example 1: High School Awards</vt:lpstr>
      <vt:lpstr>GOF: Standard Linear Regression</vt:lpstr>
      <vt:lpstr>PowerPoint Presentation</vt:lpstr>
      <vt:lpstr>Poisson Regression Estimation</vt:lpstr>
      <vt:lpstr>Poisson Regression Estimation</vt:lpstr>
      <vt:lpstr>Data Example 2: Insurance Claims</vt:lpstr>
      <vt:lpstr>Poisson Regression Estimation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Serban, Nicoleta</cp:lastModifiedBy>
  <cp:revision>539</cp:revision>
  <dcterms:modified xsi:type="dcterms:W3CDTF">2020-04-29T20:52:21Z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