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4"/>
    <p:sldMasterId id="2147483712" r:id="rId5"/>
    <p:sldMasterId id="2147483713" r:id="rId6"/>
    <p:sldMasterId id="2147483720" r:id="rId7"/>
  </p:sldMasterIdLst>
  <p:notesMasterIdLst>
    <p:notesMasterId r:id="rId17"/>
  </p:notesMasterIdLst>
  <p:handoutMasterIdLst>
    <p:handoutMasterId r:id="rId18"/>
  </p:handoutMasterIdLst>
  <p:sldIdLst>
    <p:sldId id="434" r:id="rId8"/>
    <p:sldId id="535" r:id="rId9"/>
    <p:sldId id="330" r:id="rId10"/>
    <p:sldId id="529" r:id="rId11"/>
    <p:sldId id="446" r:id="rId12"/>
    <p:sldId id="508" r:id="rId13"/>
    <p:sldId id="509" r:id="rId14"/>
    <p:sldId id="538" r:id="rId15"/>
    <p:sldId id="537" r:id="rId16"/>
  </p:sldIdLst>
  <p:sldSz cx="9144000" cy="5143500" type="screen16x9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5"/>
            <p14:sldId id="330"/>
            <p14:sldId id="529"/>
            <p14:sldId id="446"/>
            <p14:sldId id="508"/>
            <p14:sldId id="509"/>
            <p14:sldId id="538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684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993200"/>
    <a:srgbClr val="1F497D"/>
    <a:srgbClr val="FFFFF0"/>
    <a:srgbClr val="FFFFC8"/>
    <a:srgbClr val="FFFF82"/>
    <a:srgbClr val="8E4221"/>
    <a:srgbClr val="F8FFF1"/>
    <a:srgbClr val="000000"/>
    <a:srgbClr val="F7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00" autoAdjust="0"/>
    <p:restoredTop sz="89880" autoAdjust="0"/>
  </p:normalViewPr>
  <p:slideViewPr>
    <p:cSldViewPr snapToGrid="0">
      <p:cViewPr varScale="1">
        <p:scale>
          <a:sx n="76" d="100"/>
          <a:sy n="76" d="100"/>
        </p:scale>
        <p:origin x="1224" y="44"/>
      </p:cViewPr>
      <p:guideLst>
        <p:guide orient="horz" pos="1620"/>
        <p:guide pos="2880"/>
        <p:guide pos="144"/>
        <p:guide pos="360"/>
        <p:guide pos="3456"/>
        <p:guide pos="5664"/>
        <p:guide orient="horz" pos="372"/>
        <p:guide orient="horz" pos="684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9160" y="36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FC1340CC-78E1-404E-942C-7AB62C289CB5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9210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37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15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FC1340CC-78E1-404E-942C-7AB62C289CB5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762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42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7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8260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670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49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25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7163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72166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93618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70709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835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891180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51890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67512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279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12483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60605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17659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144516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86922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18753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77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45212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894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058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Regression Analysis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EB211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Serban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91368E2-32F9-4F21-B92C-45C4370EC66A}"/>
              </a:ext>
            </a:extLst>
          </p:cNvPr>
          <p:cNvSpPr txBox="1">
            <a:spLocks/>
          </p:cNvSpPr>
          <p:nvPr/>
        </p:nvSpPr>
        <p:spPr>
          <a:xfrm>
            <a:off x="123850" y="653721"/>
            <a:ext cx="5672951" cy="54223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1F497D"/>
                </a:solidFill>
                <a:latin typeface="Vitesse Medium"/>
              </a:rPr>
              <a:t>Poisson Regression</a:t>
            </a:r>
            <a:endParaRPr lang="en-US" sz="2400" dirty="0">
              <a:solidFill>
                <a:srgbClr val="1F497D"/>
              </a:solidFill>
              <a:latin typeface="Vitesse Medium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71B4DF9-069F-4AC6-A196-A89A5DAB6122}"/>
              </a:ext>
            </a:extLst>
          </p:cNvPr>
          <p:cNvSpPr>
            <a:spLocks noGrp="1"/>
          </p:cNvSpPr>
          <p:nvPr/>
        </p:nvSpPr>
        <p:spPr>
          <a:xfrm>
            <a:off x="124868" y="4102100"/>
            <a:ext cx="380145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Data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34903" y="821807"/>
            <a:ext cx="798799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Objective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To model and predict the number of awards earned by students for multiple high schools. 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The number of awards earned by students at a high school </a:t>
            </a:r>
            <a:r>
              <a:rPr lang="en-US" altLang="en-US" u="sng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per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year.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Predicting Variables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 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type of program in which the student was enrolled, with three levels: 1 = "General", 2 = "Academic" and 3 ="Vocational"; and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score on the final exam in math.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34903" y="4475020"/>
            <a:ext cx="714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: This data example was acquired from the Institute for Digital Research and Education at University of California, Los Angeles.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584776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Data Example 1: High School Awards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916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1681" y="859053"/>
            <a:ext cx="8228033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Read data in R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read.csv("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students_awards.csv",header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=T)</a:t>
            </a: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Convert qualitative variable in the data into factor in R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within(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{</a:t>
            </a:r>
          </a:p>
          <a:p>
            <a:pPr marL="344488"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prog = factor(prog, levels=1:3, labels=c("General", "Academic", "Vocational"))</a:t>
            </a:r>
          </a:p>
          <a:p>
            <a:pPr marL="344488"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id = factor(id)})</a:t>
            </a:r>
          </a:p>
          <a:p>
            <a:pPr>
              <a:defRPr/>
            </a:pPr>
            <a:endParaRPr lang="en-US" sz="1400" i="1" dirty="0">
              <a:solidFill>
                <a:schemeClr val="tx2">
                  <a:lumMod val="75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b="1" i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</a:t>
            </a: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Conditional histograms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library(ggplot2)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ggplot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awardsdata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aes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num_awards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fill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prog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)) +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geom_histogram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binwidth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=.5, position="dodge")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580999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Exploratory Data Analysis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837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3" y="1058939"/>
            <a:ext cx="5762557" cy="3977108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47B10E1C-9B26-422D-9E1E-7BA7AE194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580999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Exploratory Data Analysis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702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39161" y="819015"/>
            <a:ext cx="7987996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Objective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To explain factors that are associated to car insurance claims due to accidents or other events leading to car damage. </a:t>
            </a: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The number of car insurance claims </a:t>
            </a:r>
            <a:r>
              <a:rPr lang="en-US" altLang="en-US" u="sng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policyholder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Holders: numbers of policyholders; and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Claims: numbers of claims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Predicting Variables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 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District of residence of policyholder (1 to 4): 4 is major cities.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Classification of cars with levels &lt;1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1–1.5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1.5–2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&gt;2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litre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 group of the policyholder: &lt;25, 25–29, 30–35, &gt;35.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664889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Data Example 2: Insurance Claims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680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7077" y="856201"/>
            <a:ext cx="7535132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Data in the R library MASS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library(MASS)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summary(Insurance)</a:t>
            </a:r>
          </a:p>
          <a:p>
            <a:pPr>
              <a:defRPr/>
            </a:pPr>
            <a:endParaRPr lang="en-US" sz="14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Relationship between rate of claims and predictors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boxplot(Claims/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Holders~District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"District",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"Rate of claims per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policyholder",data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=Insurance)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boxplot(Claims/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Holders~Group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"Group",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"Rate of claims per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policyholder",data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=Insurance)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boxplot(Claims/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Holders~Age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"Age",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"Rate of claims per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policyholder",data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=Insurance)</a:t>
            </a:r>
          </a:p>
        </p:txBody>
      </p:sp>
      <p:sp>
        <p:nvSpPr>
          <p:cNvPr id="10" name="Title 4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614555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Exploratory Data Analysis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084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05" y="997868"/>
            <a:ext cx="3829247" cy="20403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6285" y="997868"/>
            <a:ext cx="3829247" cy="20403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33" y="3155711"/>
            <a:ext cx="3822896" cy="1773723"/>
          </a:xfrm>
          <a:prstGeom prst="rect">
            <a:avLst/>
          </a:prstGeom>
        </p:spPr>
      </p:pic>
      <p:sp>
        <p:nvSpPr>
          <p:cNvPr id="10" name="Title 4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614555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Exploratory Data Analysis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3613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b057fda7-913b-4ab6-8820-932873bcd66c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9876</TotalTime>
  <Words>460</Words>
  <Application>Microsoft Office PowerPoint</Application>
  <PresentationFormat>On-screen Show (16:9)</PresentationFormat>
  <Paragraphs>58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Full Page Layout</vt:lpstr>
      <vt:lpstr>PowerPoint Presentation</vt:lpstr>
      <vt:lpstr>PowerPoint Presentation</vt:lpstr>
      <vt:lpstr>Data Example 1: High School Awards</vt:lpstr>
      <vt:lpstr>Exploratory Data Analysis</vt:lpstr>
      <vt:lpstr>Exploratory Data Analysis</vt:lpstr>
      <vt:lpstr>Data Example 2: Insurance Claims</vt:lpstr>
      <vt:lpstr>Exploratory Data Analysis</vt:lpstr>
      <vt:lpstr>Exploratory Data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529</cp:revision>
  <dcterms:modified xsi:type="dcterms:W3CDTF">2020-06-04T19:44:53Z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D6FEBA98-AA23-4158-BC69-789CB3D2CC3B</vt:lpwstr>
  </property>
  <property fmtid="{D5CDD505-2E9C-101B-9397-08002B2CF9AE}" pid="4" name="ArticulatePath">
    <vt:lpwstr>PoiRegConcept-L2 v042220</vt:lpwstr>
  </property>
</Properties>
</file>