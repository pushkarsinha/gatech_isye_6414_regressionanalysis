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6" r:id="rId2"/>
  </p:sldMasterIdLst>
  <p:notesMasterIdLst>
    <p:notesMasterId r:id="rId18"/>
  </p:notesMasterIdLst>
  <p:handoutMasterIdLst>
    <p:handoutMasterId r:id="rId19"/>
  </p:handoutMasterIdLst>
  <p:sldIdLst>
    <p:sldId id="434" r:id="rId3"/>
    <p:sldId id="522" r:id="rId4"/>
    <p:sldId id="330" r:id="rId5"/>
    <p:sldId id="490" r:id="rId6"/>
    <p:sldId id="491" r:id="rId7"/>
    <p:sldId id="492" r:id="rId8"/>
    <p:sldId id="493" r:id="rId9"/>
    <p:sldId id="531" r:id="rId10"/>
    <p:sldId id="495" r:id="rId11"/>
    <p:sldId id="533" r:id="rId12"/>
    <p:sldId id="496" r:id="rId13"/>
    <p:sldId id="534" r:id="rId14"/>
    <p:sldId id="499" r:id="rId15"/>
    <p:sldId id="538" r:id="rId16"/>
    <p:sldId id="537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34"/>
            <p14:sldId id="522"/>
            <p14:sldId id="330"/>
            <p14:sldId id="490"/>
            <p14:sldId id="491"/>
            <p14:sldId id="492"/>
            <p14:sldId id="493"/>
            <p14:sldId id="531"/>
            <p14:sldId id="495"/>
            <p14:sldId id="533"/>
            <p14:sldId id="496"/>
            <p14:sldId id="534"/>
            <p14:sldId id="499"/>
            <p14:sldId id="538"/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56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72" userDrawn="1">
          <p15:clr>
            <a:srgbClr val="A4A3A4"/>
          </p15:clr>
        </p15:guide>
        <p15:guide id="8" orient="horz" pos="708" userDrawn="1">
          <p15:clr>
            <a:srgbClr val="A4A3A4"/>
          </p15:clr>
        </p15:guide>
        <p15:guide id="9" orient="horz" pos="31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zwen42@gatech.com" initials="z" lastIdx="1" clrIdx="1"/>
  <p:cmAuthor id="3" name="Serban, Nicoleta" initials="SN" lastIdx="11" clrIdx="2"/>
  <p:cmAuthor id="4" name="Hu, Rui" initials="HR" lastIdx="1" clrIdx="3"/>
  <p:cmAuthor id="6" name="Richard Levine" initials="RL" lastIdx="6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8E4221"/>
    <a:srgbClr val="1F497D"/>
    <a:srgbClr val="984807"/>
    <a:srgbClr val="993200"/>
    <a:srgbClr val="F8FFF1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5014C6-C03C-47E0-8D1B-E933DA636203}" v="1" dt="2021-06-04T19:25:25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9" autoAdjust="0"/>
    <p:restoredTop sz="89969" autoAdjust="0"/>
  </p:normalViewPr>
  <p:slideViewPr>
    <p:cSldViewPr snapToGrid="0">
      <p:cViewPr varScale="1">
        <p:scale>
          <a:sx n="131" d="100"/>
          <a:sy n="131" d="100"/>
        </p:scale>
        <p:origin x="1254" y="108"/>
      </p:cViewPr>
      <p:guideLst>
        <p:guide orient="horz" pos="1620"/>
        <p:guide pos="2856"/>
        <p:guide pos="144"/>
        <p:guide pos="360"/>
        <p:guide pos="3456"/>
        <p:guide pos="5664"/>
        <p:guide orient="horz" pos="372"/>
        <p:guide orient="horz" pos="708"/>
        <p:guide orient="horz" pos="31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, Ramon S" userId="2fd46b25-7eaa-49e2-87fd-bd0e69daa70a" providerId="ADAL" clId="{D15014C6-C03C-47E0-8D1B-E933DA636203}"/>
    <pc:docChg chg="addSld delSld modSld modSection">
      <pc:chgData name="Rodriguez, Ramon S" userId="2fd46b25-7eaa-49e2-87fd-bd0e69daa70a" providerId="ADAL" clId="{D15014C6-C03C-47E0-8D1B-E933DA636203}" dt="2021-06-04T19:25:31.011" v="1" actId="2696"/>
      <pc:docMkLst>
        <pc:docMk/>
      </pc:docMkLst>
      <pc:sldChg chg="del">
        <pc:chgData name="Rodriguez, Ramon S" userId="2fd46b25-7eaa-49e2-87fd-bd0e69daa70a" providerId="ADAL" clId="{D15014C6-C03C-47E0-8D1B-E933DA636203}" dt="2021-06-04T19:25:31.011" v="1" actId="2696"/>
        <pc:sldMkLst>
          <pc:docMk/>
          <pc:sldMk cId="0" sldId="497"/>
        </pc:sldMkLst>
      </pc:sldChg>
      <pc:sldChg chg="add">
        <pc:chgData name="Rodriguez, Ramon S" userId="2fd46b25-7eaa-49e2-87fd-bd0e69daa70a" providerId="ADAL" clId="{D15014C6-C03C-47E0-8D1B-E933DA636203}" dt="2021-06-04T19:25:25.486" v="0"/>
        <pc:sldMkLst>
          <pc:docMk/>
          <pc:sldMk cId="0" sldId="5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7610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88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57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US" altLang="en-US" dirty="0">
              <a:ea typeface="MS PGothic" panose="020B0600070205080204" charset="-128"/>
            </a:endParaRPr>
          </a:p>
        </p:txBody>
      </p:sp>
      <p:sp>
        <p:nvSpPr>
          <p:cNvPr id="880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fld id="{FC1340CC-78E1-404E-942C-7AB62C289CB5}" type="slidenum">
              <a:rPr lang="en-US" altLang="en-US"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002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693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26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993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6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13F7A93-C87A-E149-BF89-5D793380F19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333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9726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520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06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220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5813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F7A93-C87A-E149-BF89-5D793380F19A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266461" y="780732"/>
            <a:ext cx="5672951" cy="5422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</a:lstStyle>
          <a:p>
            <a:pPr lvl="0"/>
            <a:r>
              <a:rPr lang="en-US" dirty="0"/>
              <a:t>Module Name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247647" y="4379683"/>
            <a:ext cx="4305091" cy="6810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pPr lvl="0"/>
            <a:r>
              <a:rPr lang="en-US" dirty="0"/>
              <a:t>Lesson name: e.g. R Examples</a:t>
            </a:r>
          </a:p>
          <a:p>
            <a:pPr lvl="0"/>
            <a:r>
              <a:rPr lang="en-US" dirty="0" err="1"/>
              <a:t>Subname</a:t>
            </a:r>
            <a:r>
              <a:rPr lang="en-US" dirty="0"/>
              <a:t> if applicable (e.g. Part II)</a:t>
            </a:r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093392"/>
            <a:ext cx="8110832" cy="37393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DE934FF-F4E1-47C5-9CA5-30A81DDE2BE4}" type="datetimeFigureOut">
              <a:rPr lang="en-US" smtClean="0"/>
              <a:t>6/4/2021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 panose="020B0604020202020204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 panose="020B0604020202020204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 panose="020B0604020202020204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0461" y="108666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673536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2"/>
                </a:solidFill>
              </a:rPr>
              <a:t>Logistic Regression</a:t>
            </a:r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2482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 panose="020B0604020202020204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41340" y="240631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4033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Stewart School of Industrial and Systems Engineering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A8CFC429-F2B4-4B60-8353-9FFD6077ED1D}"/>
              </a:ext>
            </a:extLst>
          </p:cNvPr>
          <p:cNvSpPr>
            <a:spLocks noGrp="1"/>
          </p:cNvSpPr>
          <p:nvPr/>
        </p:nvSpPr>
        <p:spPr>
          <a:xfrm>
            <a:off x="117956" y="4102100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Goodness of Fit Assessment:</a:t>
            </a:r>
            <a:br>
              <a:rPr lang="en-US" sz="2000" dirty="0"/>
            </a:br>
            <a:r>
              <a:rPr lang="en-US" sz="2000" dirty="0"/>
              <a:t>Data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>
            <a:fillRect/>
          </a:stretch>
        </p:blipFill>
        <p:spPr>
          <a:xfrm>
            <a:off x="3441090" y="1085849"/>
            <a:ext cx="2440322" cy="3088911"/>
          </a:xfrm>
          <a:prstGeom prst="rect">
            <a:avLst/>
          </a:prstGeom>
        </p:spPr>
      </p:pic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5FE4467-4468-4543-828C-04337E75C594}"/>
              </a:ext>
            </a:extLst>
          </p:cNvPr>
          <p:cNvSpPr txBox="1">
            <a:spLocks/>
          </p:cNvSpPr>
          <p:nvPr/>
        </p:nvSpPr>
        <p:spPr>
          <a:xfrm>
            <a:off x="147119" y="120499"/>
            <a:ext cx="4727575" cy="731706"/>
          </a:xfrm>
        </p:spPr>
        <p:txBody>
          <a:bodyPr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614555"/>
          </a:xfrm>
        </p:spPr>
        <p:txBody>
          <a:bodyPr/>
          <a:lstStyle/>
          <a:p>
            <a:r>
              <a:rPr lang="en-US" sz="3600" dirty="0">
                <a:latin typeface="Vitesse"/>
              </a:rPr>
              <a:t>Data Example: Smoking</a:t>
            </a:r>
          </a:p>
        </p:txBody>
      </p:sp>
      <p:sp>
        <p:nvSpPr>
          <p:cNvPr id="90115" name="TextBox 2"/>
          <p:cNvSpPr txBox="1">
            <a:spLocks noChangeArrowheads="1"/>
          </p:cNvSpPr>
          <p:nvPr/>
        </p:nvSpPr>
        <p:spPr bwMode="auto">
          <a:xfrm>
            <a:off x="133193" y="860080"/>
            <a:ext cx="8033411" cy="233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344488" indent="-344488"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Between 1972 and 1974, a survey was taken in Whickham, a mixed urban and rural district near Newcastle upon Tyne, United Kingdom. </a:t>
            </a:r>
          </a:p>
          <a:p>
            <a:pPr marL="687388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Among the information obtained originally was whether a person was a smoker or not.</a:t>
            </a:r>
          </a:p>
          <a:p>
            <a:pPr marL="344488" indent="-344488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Twenty years later a follow-up study was conducted.</a:t>
            </a:r>
          </a:p>
          <a:p>
            <a:pPr marL="687388" lvl="1" indent="-344488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76.12% of the 582 smokers were still alive, while only 68.58% of 732 nonsmokers were still alive.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8190" y="3418409"/>
            <a:ext cx="6301921" cy="646331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Smokers had a higher survival rate than nonsmokers! </a:t>
            </a:r>
          </a:p>
          <a:p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Call Philip Morris, smoking leads to a longer life span! </a:t>
            </a:r>
          </a:p>
        </p:txBody>
      </p:sp>
      <p:sp>
        <p:nvSpPr>
          <p:cNvPr id="3" name="TextBox 2"/>
          <p:cNvSpPr txBox="1"/>
          <p:nvPr/>
        </p:nvSpPr>
        <p:spPr>
          <a:xfrm flipH="1">
            <a:off x="158359" y="4473870"/>
            <a:ext cx="8033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u="sng" dirty="0">
                <a:latin typeface="Helvetica" panose="020B0604020202020204" pitchFamily="34" charset="0"/>
                <a:cs typeface="Helvetica" panose="020B0604020202020204" pitchFamily="34" charset="0"/>
              </a:rPr>
              <a:t>Acknowledgement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: This example was provided by Dr. Jeffrey </a:t>
            </a:r>
            <a:r>
              <a:rPr lang="en-US" sz="12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Simonoff</a:t>
            </a:r>
            <a:r>
              <a:rPr lang="en-US" sz="1200" i="1" dirty="0">
                <a:latin typeface="Helvetica" panose="020B0604020202020204" pitchFamily="34" charset="0"/>
                <a:cs typeface="Helvetica" panose="020B0604020202020204" pitchFamily="34" charset="0"/>
              </a:rPr>
              <a:t> from New York University.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7888" y="900690"/>
            <a:ext cx="7908856" cy="30149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Deviance Test for GOF using deviance residuals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c(deviance(smoke2), 1-pchisq(deviance(smoke2),11))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4.345918e+01 9.033325e-06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8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GOF test using Pearson residuals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pearres2 = residuals(smoke2,type="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pearson.tvalue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sum(pearres2^2)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pearson.tvalue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1-pchisq(pearson.tvalue,11))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36.751889370  0.000126796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34758" y="3979800"/>
                <a:ext cx="6056985" cy="95410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91440" rIns="182880" bIns="91440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 for goodness-of-fit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Using Pearson residual: P-value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0.0001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the null hypothesis of good fit (thus NOT a good fit)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58" y="3979800"/>
                <a:ext cx="6056985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4903" y="115288"/>
            <a:ext cx="8562392" cy="659568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GOF Hypothesis Test</a:t>
            </a:r>
            <a:endParaRPr lang="en-US" sz="3600" dirty="0">
              <a:latin typeface="Vitess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4758" y="1713019"/>
                <a:ext cx="6056985" cy="95410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91440" rIns="182880" bIns="91440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Test for goodness-of-fit</a:t>
                </a: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Using deviance residuals: P-value</a:t>
                </a:r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Reject the null hypothesis of good fit (thus NOT a good fit)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58" y="1713019"/>
                <a:ext cx="6056985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1681" y="904993"/>
            <a:ext cx="8770881" cy="73723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Is it a linear fit?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plot(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Age,log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)/(1-Survived/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="Logit of survival",  main="Scatterplot of logit survival rate vs age", col=c("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red","blue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"),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4789" y="2573104"/>
            <a:ext cx="3496811" cy="92333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The relationship between the logit of survival and age is more quadratic than linear.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29" y="1747515"/>
            <a:ext cx="3498209" cy="322835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1347" y="115287"/>
            <a:ext cx="8562392" cy="593477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Linearity Assumption 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3099" y="898648"/>
            <a:ext cx="8451704" cy="310854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Age.squared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Age*Age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smoke3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 + Age +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Age.squared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weights=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summary(smoke3)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Null deviance: 641.496  on 13 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 19.808  on 10  degrees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8601" y="4229753"/>
                <a:ext cx="7299664" cy="607987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1600" b="0" i="0" smtClean="0">
                            <a:latin typeface="Cambria Math" panose="02040503050406030204" pitchFamily="18" charset="0"/>
                          </a:rPr>
                          <m:t>smoker</m:t>
                        </m:r>
                      </m:sub>
                    </m:sSub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0.015, statistically significant at 0.05 </a:t>
                </a:r>
              </a:p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Age</m:t>
                        </m:r>
                        <m:r>
                          <a:rPr lang="en-US" alt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squared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</a:t>
                </a:r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0, statistically significant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4229753"/>
                <a:ext cx="7299664" cy="607987"/>
              </a:xfrm>
              <a:prstGeom prst="rect">
                <a:avLst/>
              </a:prstGeom>
              <a:blipFill>
                <a:blip r:embed="rId3"/>
                <a:stretch>
                  <a:fillRect l="-417" t="-1942" b="-5825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347" y="115288"/>
            <a:ext cx="8562392" cy="622944"/>
          </a:xfrm>
        </p:spPr>
        <p:txBody>
          <a:bodyPr/>
          <a:lstStyle/>
          <a:p>
            <a:pPr>
              <a:defRPr/>
            </a:pP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Improve the Fit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2C4866D-78F4-4679-B7DF-641148097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165559"/>
              </p:ext>
            </p:extLst>
          </p:nvPr>
        </p:nvGraphicFramePr>
        <p:xfrm>
          <a:off x="153099" y="2090122"/>
          <a:ext cx="5542371" cy="1141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8681">
                  <a:extLst>
                    <a:ext uri="{9D8B030D-6E8A-4147-A177-3AD203B41FA5}">
                      <a16:colId xmlns:a16="http://schemas.microsoft.com/office/drawing/2014/main" val="3963845185"/>
                    </a:ext>
                  </a:extLst>
                </a:gridCol>
                <a:gridCol w="1177369">
                  <a:extLst>
                    <a:ext uri="{9D8B030D-6E8A-4147-A177-3AD203B41FA5}">
                      <a16:colId xmlns:a16="http://schemas.microsoft.com/office/drawing/2014/main" val="1305830924"/>
                    </a:ext>
                  </a:extLst>
                </a:gridCol>
                <a:gridCol w="1177369">
                  <a:extLst>
                    <a:ext uri="{9D8B030D-6E8A-4147-A177-3AD203B41FA5}">
                      <a16:colId xmlns:a16="http://schemas.microsoft.com/office/drawing/2014/main" val="3898577665"/>
                    </a:ext>
                  </a:extLst>
                </a:gridCol>
                <a:gridCol w="837301">
                  <a:extLst>
                    <a:ext uri="{9D8B030D-6E8A-4147-A177-3AD203B41FA5}">
                      <a16:colId xmlns:a16="http://schemas.microsoft.com/office/drawing/2014/main" val="2574701131"/>
                    </a:ext>
                  </a:extLst>
                </a:gridCol>
                <a:gridCol w="1151651">
                  <a:extLst>
                    <a:ext uri="{9D8B030D-6E8A-4147-A177-3AD203B41FA5}">
                      <a16:colId xmlns:a16="http://schemas.microsoft.com/office/drawing/2014/main" val="2592753596"/>
                    </a:ext>
                  </a:extLst>
                </a:gridCol>
              </a:tblGrid>
              <a:tr h="2247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(&gt;|z|)  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449378"/>
                  </a:ext>
                </a:extLst>
              </a:tr>
              <a:tr h="2247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2.5190783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1.0248206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2.458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0.0140 *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534824"/>
                  </a:ext>
                </a:extLst>
              </a:tr>
              <a:tr h="2247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Smoker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-0.4284561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0.1770581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-2.420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0.0155 *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0290708"/>
                  </a:ext>
                </a:extLst>
              </a:tr>
              <a:tr h="2247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0.0951102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0.0430095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2.211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0.0270 *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902928"/>
                  </a:ext>
                </a:extLst>
              </a:tr>
              <a:tr h="22471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Age.squared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-0.0021673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0.0004309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-5.030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4.91e-07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42596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291B249B-32B8-4636-B949-0C24785A4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9111" y="190793"/>
            <a:ext cx="10399709" cy="834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1731" y="901642"/>
            <a:ext cx="5334669" cy="181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Test for goodness of fit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round(c(deviance(smoke3), 1-pchisq(deviance(smoke3),10)),2)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19.81  0.03</a:t>
            </a: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pearres3 = residuals(smoke3,type="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sum(pearres3^2)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round(c(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1-pchisq(pearson,10)),2)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14.79  0.14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2970246"/>
            <a:ext cx="8099171" cy="141577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Does the goodness of fit improve?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deviance residuals: P-value = 0.03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Pearson residual: P-value = </a:t>
            </a: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0.14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not reject the null hypothesis of good fit using Pearson residuals, but do reject using Deviance residuals at the significance level 0.03 or higher.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903" y="115287"/>
            <a:ext cx="8562392" cy="648111"/>
          </a:xfrm>
        </p:spPr>
        <p:txBody>
          <a:bodyPr/>
          <a:lstStyle/>
          <a:p>
            <a:r>
              <a:rPr lang="en-US" altLang="en-US" sz="3600" dirty="0">
                <a:latin typeface="Vitesse"/>
              </a:rPr>
              <a:t>GOF Test for Improved Model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61488" y="902324"/>
            <a:ext cx="4372412" cy="1168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u="none" strike="noStrike" kern="1200" cap="none" spc="0" normalizeH="0" baseline="0" noProof="0" dirty="0">
                <a:ln>
                  <a:noFill/>
                </a:ln>
                <a:solidFill>
                  <a:srgbClr val="EEB211"/>
                </a:solidFill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Residual Plots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 =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(smoke3,type="deviance")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qqnorm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(res, 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ylab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="Std residuals")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qqline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res,col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="blue",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lwd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=2)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hist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(res,10,xlab="</a:t>
            </a:r>
            <a:r>
              <a:rPr kumimoji="0" lang="en-US" sz="14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Std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residuals", main="")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12539" y="116398"/>
            <a:ext cx="594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600" dirty="0">
                <a:solidFill>
                  <a:srgbClr val="EEECE1">
                    <a:lumMod val="10000"/>
                  </a:srgbClr>
                </a:solidFill>
                <a:latin typeface="Vitesse"/>
                <a:ea typeface="Vitesse" charset="0"/>
                <a:cs typeface="Vitesse" charset="0"/>
              </a:rPr>
              <a:t>Residual Analysis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Vitesse"/>
              <a:ea typeface="Vitesse" charset="0"/>
              <a:cs typeface="Vitesse" charset="0"/>
            </a:endParaRPr>
          </a:p>
        </p:txBody>
      </p:sp>
      <p:pic>
        <p:nvPicPr>
          <p:cNvPr id="3" name="Picture 2" descr="A close up of a map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01" y="2070246"/>
            <a:ext cx="7821717" cy="22500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3">
            <a:extLst>
              <a:ext uri="{FF2B5EF4-FFF2-40B4-BE49-F238E27FC236}">
                <a16:creationId xmlns:a16="http://schemas.microsoft.com/office/drawing/2014/main" id="{6AE4FFCF-1812-4AE7-A59E-6D9D0E793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30" y="928957"/>
            <a:ext cx="6349737" cy="32316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 with Age as a factor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smoke4 =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 + factor(Age), weights=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summary(smoke4) </a:t>
            </a:r>
          </a:p>
          <a:p>
            <a:pPr>
              <a:defRPr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Null deviance: 641.4963 on 13 degrees of freedom</a:t>
            </a:r>
          </a:p>
          <a:p>
            <a:pPr>
              <a:defRPr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2.3809 on 6 degrees of freedom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86203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Vitesse"/>
              </a:rPr>
              <a:t>Higher Order Nonlinearity</a:t>
            </a:r>
            <a:endParaRPr lang="en-US" sz="3600" dirty="0">
              <a:latin typeface="Vitesse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B25BD26-BB8F-46FF-A9F0-5C4928DEC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9038" y="178117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EE68B1-4E0C-4B39-B073-8754F6567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107199"/>
              </p:ext>
            </p:extLst>
          </p:nvPr>
        </p:nvGraphicFramePr>
        <p:xfrm>
          <a:off x="168837" y="1726603"/>
          <a:ext cx="4789057" cy="18751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0037">
                  <a:extLst>
                    <a:ext uri="{9D8B030D-6E8A-4147-A177-3AD203B41FA5}">
                      <a16:colId xmlns:a16="http://schemas.microsoft.com/office/drawing/2014/main" val="1845358207"/>
                    </a:ext>
                  </a:extLst>
                </a:gridCol>
                <a:gridCol w="835558">
                  <a:extLst>
                    <a:ext uri="{9D8B030D-6E8A-4147-A177-3AD203B41FA5}">
                      <a16:colId xmlns:a16="http://schemas.microsoft.com/office/drawing/2014/main" val="1845815806"/>
                    </a:ext>
                  </a:extLst>
                </a:gridCol>
                <a:gridCol w="984657">
                  <a:extLst>
                    <a:ext uri="{9D8B030D-6E8A-4147-A177-3AD203B41FA5}">
                      <a16:colId xmlns:a16="http://schemas.microsoft.com/office/drawing/2014/main" val="1026632286"/>
                    </a:ext>
                  </a:extLst>
                </a:gridCol>
                <a:gridCol w="690198">
                  <a:extLst>
                    <a:ext uri="{9D8B030D-6E8A-4147-A177-3AD203B41FA5}">
                      <a16:colId xmlns:a16="http://schemas.microsoft.com/office/drawing/2014/main" val="2964263377"/>
                    </a:ext>
                  </a:extLst>
                </a:gridCol>
                <a:gridCol w="1058607">
                  <a:extLst>
                    <a:ext uri="{9D8B030D-6E8A-4147-A177-3AD203B41FA5}">
                      <a16:colId xmlns:a16="http://schemas.microsoft.com/office/drawing/2014/main" val="814334197"/>
                    </a:ext>
                  </a:extLst>
                </a:gridCol>
              </a:tblGrid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57514"/>
                  </a:ext>
                </a:extLst>
              </a:tr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3.8601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0.5939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6.500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8.05e-11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859861"/>
                  </a:ext>
                </a:extLst>
              </a:tr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Smoker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-0.4274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0.1770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-2.414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0.015762 *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748034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factor(Age)29.5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-0.1201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0.6865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-0.175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0.861178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966490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factor(Age)39.5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-1.3411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0.6286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-2.134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0.032874 *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272129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factor(Age)49.5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-2.1134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0.6121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-3.453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0.000555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7562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factor(Age)59.5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-3.1808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0.6006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-5.296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1.18e-07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013528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factor(Age)69.5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-5.0880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0.6195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-8.213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863470"/>
                  </a:ext>
                </a:extLst>
              </a:tr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factor(Age)75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-27.8073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11293.1437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-0.002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0.998035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6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86400" y="1785986"/>
                <a:ext cx="3505869" cy="1815882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1600" b="0" i="0" smtClean="0">
                            <a:latin typeface="Cambria Math" panose="02040503050406030204" pitchFamily="18" charset="0"/>
                          </a:rPr>
                          <m:t>smoker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P-value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0.015, statistically significant at 0.05 </a:t>
                </a:r>
              </a:p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 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Not all regression coefficients for the dummy variables for age are statistically significant.</a:t>
                </a:r>
                <a:endParaRPr lang="en-US" altLang="en-US" sz="16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1785986"/>
                <a:ext cx="3505869" cy="1815882"/>
              </a:xfrm>
              <a:prstGeom prst="rect">
                <a:avLst/>
              </a:prstGeom>
              <a:blipFill>
                <a:blip r:embed="rId3"/>
                <a:stretch>
                  <a:fillRect l="-692" t="-664" r="-1384" b="-2658"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B1A7DFE-1A26-48BC-B581-3E718978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6" y="115287"/>
            <a:ext cx="8562392" cy="586203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Vitesse"/>
              </a:rPr>
              <a:t>Higher Order Nonlinearity</a:t>
            </a:r>
            <a:endParaRPr lang="en-US" sz="3600" dirty="0">
              <a:latin typeface="Vitesse"/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185DB7C5-591C-44DE-B7F7-517695A0E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30" y="928957"/>
            <a:ext cx="6349737" cy="32316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Fit a logistic regression model with Age as a factor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smoke4 = 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 + factor(Age), weights=</a:t>
            </a:r>
            <a:r>
              <a:rPr lang="en-US" sz="12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family=binomial)</a:t>
            </a:r>
          </a:p>
          <a:p>
            <a:pPr>
              <a:defRPr/>
            </a:pPr>
            <a:r>
              <a:rPr lang="en-US" sz="12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summary(smoke4) </a:t>
            </a:r>
          </a:p>
          <a:p>
            <a:pPr>
              <a:defRPr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2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Null deviance: 641.4963 on 13 degrees of freedom</a:t>
            </a:r>
          </a:p>
          <a:p>
            <a:pPr>
              <a:defRPr/>
            </a:pPr>
            <a:r>
              <a:rPr lang="en-US" sz="12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2.3809 on 6 degrees of freedom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BEED54-BE5B-441B-B555-4B04E6927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85721"/>
              </p:ext>
            </p:extLst>
          </p:nvPr>
        </p:nvGraphicFramePr>
        <p:xfrm>
          <a:off x="168837" y="1726603"/>
          <a:ext cx="4789057" cy="18751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0037">
                  <a:extLst>
                    <a:ext uri="{9D8B030D-6E8A-4147-A177-3AD203B41FA5}">
                      <a16:colId xmlns:a16="http://schemas.microsoft.com/office/drawing/2014/main" val="1845358207"/>
                    </a:ext>
                  </a:extLst>
                </a:gridCol>
                <a:gridCol w="835558">
                  <a:extLst>
                    <a:ext uri="{9D8B030D-6E8A-4147-A177-3AD203B41FA5}">
                      <a16:colId xmlns:a16="http://schemas.microsoft.com/office/drawing/2014/main" val="1845815806"/>
                    </a:ext>
                  </a:extLst>
                </a:gridCol>
                <a:gridCol w="984657">
                  <a:extLst>
                    <a:ext uri="{9D8B030D-6E8A-4147-A177-3AD203B41FA5}">
                      <a16:colId xmlns:a16="http://schemas.microsoft.com/office/drawing/2014/main" val="1026632286"/>
                    </a:ext>
                  </a:extLst>
                </a:gridCol>
                <a:gridCol w="690198">
                  <a:extLst>
                    <a:ext uri="{9D8B030D-6E8A-4147-A177-3AD203B41FA5}">
                      <a16:colId xmlns:a16="http://schemas.microsoft.com/office/drawing/2014/main" val="2964263377"/>
                    </a:ext>
                  </a:extLst>
                </a:gridCol>
                <a:gridCol w="1058607">
                  <a:extLst>
                    <a:ext uri="{9D8B030D-6E8A-4147-A177-3AD203B41FA5}">
                      <a16:colId xmlns:a16="http://schemas.microsoft.com/office/drawing/2014/main" val="814334197"/>
                    </a:ext>
                  </a:extLst>
                </a:gridCol>
              </a:tblGrid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957514"/>
                  </a:ext>
                </a:extLst>
              </a:tr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3.8601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0.5939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6.500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8.05e-11 ***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859861"/>
                  </a:ext>
                </a:extLst>
              </a:tr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Smoker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-0.4274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0.1770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-2.414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0.015762 *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748034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factor(Age)29.5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-0.1201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0.6865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-0.175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0.861178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966490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factor(Age)39.5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-1.3411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0.6286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-2.134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0.032874 *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272129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factor(Age)49.5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-2.1134   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0.6121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-3.453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0.000555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7562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factor(Age)59.5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-3.1808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0.6006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-5.296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1.18e-07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013528"/>
                  </a:ext>
                </a:extLst>
              </a:tr>
              <a:tr h="21845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factor(Age)69.5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-5.0880   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0.6195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-8.213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&lt; 2e-16 ***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863470"/>
                  </a:ext>
                </a:extLst>
              </a:tr>
              <a:tr h="16353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factor(Age)75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-27.8073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11293.1437 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-0.002 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0.998035  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36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2950" y="900671"/>
            <a:ext cx="5410562" cy="181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Test for goodness of fit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round(c(deviance(smoke4), 1-pchisq(deviance(smoke4),6)),2)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2.38 0.88</a:t>
            </a: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pearres4 = residuals(smoke4,type="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sum(pearres4^2)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round(c(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1-pchisq(pearson,6)),2)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2.37 0.88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2716" y="2967131"/>
            <a:ext cx="6512033" cy="141577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Does the goodness of fit improve?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deviance residuals: P-value = 0.88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Pearson residual: P-value = </a:t>
            </a: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0.88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not reject the null hypothesis of good fit using either Pearson residuals or Deviance residuals.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572610"/>
          </a:xfrm>
        </p:spPr>
        <p:txBody>
          <a:bodyPr/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Vitesse"/>
              </a:rPr>
              <a:t>Higher Order Nonlinearity: </a:t>
            </a:r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GOF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51681" y="901376"/>
            <a:ext cx="8574656" cy="28931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Use </a:t>
            </a:r>
            <a:r>
              <a:rPr lang="en-US" sz="1400" b="1" dirty="0" err="1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probit</a:t>
            </a: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link function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smoke5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glm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(Survived/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~ Smoker + Age +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Age.squared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weights=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At.risk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family=binomial(link = 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probit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))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summary(smoke5)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Coefficients:</a:t>
            </a: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endParaRPr lang="en-US" sz="1400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   Null deviance: 641.496  on 13  degrees of freedom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Residual deviance:  18.233  on 10  degrees of freedom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36989" y="3915676"/>
                <a:ext cx="7363437" cy="700320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91440" rIns="182880" bIns="91440" rtlCol="0">
                <a:spAutoFit/>
              </a:bodyPr>
              <a:lstStyle/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1600" b="0" i="0" smtClean="0">
                            <a:latin typeface="Cambria Math" panose="02040503050406030204" pitchFamily="18" charset="0"/>
                          </a:rPr>
                          <m:t>smoker</m:t>
                        </m:r>
                      </m:sub>
                    </m:sSub>
                    <m:r>
                      <a:rPr lang="en-US" altLang="en-US" sz="16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0.018, statistically significant at 0.05 </a:t>
                </a:r>
              </a:p>
              <a:p>
                <a:r>
                  <a:rPr lang="en-US" altLang="en-US" sz="16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Test for significance:</a:t>
                </a:r>
                <a:r>
                  <a:rPr lang="en-US" alt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Age</m:t>
                        </m:r>
                        <m:r>
                          <a:rPr lang="en-US" alt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m:rPr>
                            <m:sty m:val="p"/>
                          </m:rPr>
                          <a:rPr lang="en-US" altLang="en-US" sz="1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squared</m:t>
                        </m:r>
                      </m:sub>
                    </m:sSub>
                    <m:r>
                      <a:rPr lang="en-US" altLang="en-US" sz="16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P-value</a:t>
                </a:r>
                <a:r>
                  <a:rPr lang="en-US" sz="1600" b="1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en-US" sz="16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 0, statistically significant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89" y="3915676"/>
                <a:ext cx="7363437" cy="700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23676"/>
            <a:ext cx="8562392" cy="597777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Different Link Function</a:t>
            </a:r>
            <a:endParaRPr lang="en-US" sz="3600" dirty="0">
              <a:latin typeface="Vitesse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5D8702-CED0-4F3D-AB53-5A56867F5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238449"/>
              </p:ext>
            </p:extLst>
          </p:nvPr>
        </p:nvGraphicFramePr>
        <p:xfrm>
          <a:off x="159387" y="2022682"/>
          <a:ext cx="5654181" cy="1141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3671">
                  <a:extLst>
                    <a:ext uri="{9D8B030D-6E8A-4147-A177-3AD203B41FA5}">
                      <a16:colId xmlns:a16="http://schemas.microsoft.com/office/drawing/2014/main" val="2745655743"/>
                    </a:ext>
                  </a:extLst>
                </a:gridCol>
                <a:gridCol w="1046502">
                  <a:extLst>
                    <a:ext uri="{9D8B030D-6E8A-4147-A177-3AD203B41FA5}">
                      <a16:colId xmlns:a16="http://schemas.microsoft.com/office/drawing/2014/main" val="3195453716"/>
                    </a:ext>
                  </a:extLst>
                </a:gridCol>
                <a:gridCol w="1104003">
                  <a:extLst>
                    <a:ext uri="{9D8B030D-6E8A-4147-A177-3AD203B41FA5}">
                      <a16:colId xmlns:a16="http://schemas.microsoft.com/office/drawing/2014/main" val="2902775419"/>
                    </a:ext>
                  </a:extLst>
                </a:gridCol>
                <a:gridCol w="828002">
                  <a:extLst>
                    <a:ext uri="{9D8B030D-6E8A-4147-A177-3AD203B41FA5}">
                      <a16:colId xmlns:a16="http://schemas.microsoft.com/office/drawing/2014/main" val="3371778251"/>
                    </a:ext>
                  </a:extLst>
                </a:gridCol>
                <a:gridCol w="1242003">
                  <a:extLst>
                    <a:ext uri="{9D8B030D-6E8A-4147-A177-3AD203B41FA5}">
                      <a16:colId xmlns:a16="http://schemas.microsoft.com/office/drawing/2014/main" val="736272318"/>
                    </a:ext>
                  </a:extLst>
                </a:gridCol>
              </a:tblGrid>
              <a:tr h="213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   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Estimate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Std. Error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z value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Pr(&gt;|z|)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648766"/>
                  </a:ext>
                </a:extLst>
              </a:tr>
              <a:tr h="213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(Intercept)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1.1033963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0.4904877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2.250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0.02447 *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71184"/>
                  </a:ext>
                </a:extLst>
              </a:tr>
              <a:tr h="213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Smoker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-0.2277451 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0.0970191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-2.347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0.01890 *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546637"/>
                  </a:ext>
                </a:extLst>
              </a:tr>
              <a:tr h="213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        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0.0681279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0.0213095 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3.197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0.00139 ** 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8461218"/>
                  </a:ext>
                </a:extLst>
              </a:tr>
              <a:tr h="213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Age.squared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-0.0013767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0.0002173 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-6.335 </a:t>
                      </a:r>
                      <a:endParaRPr lang="en-US" sz="1400" b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2.37e-10 ***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Helvetica" panose="020B0604020202020204" pitchFamily="34" charset="0"/>
                        <a:ea typeface="Calibri" panose="020F0502020204030204" pitchFamily="34" charset="0"/>
                        <a:cs typeface="Helvetica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5659961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3E26023F-23FF-4254-B33E-BEC3082DE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141" y="1578071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40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43292" y="899208"/>
            <a:ext cx="5343108" cy="18148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400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## Test for goodness of fit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round(c(deviance(smoke5), 1-pchisq(deviance(smoke5),10)),2)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18.23  0.05</a:t>
            </a:r>
          </a:p>
          <a:p>
            <a:pPr>
              <a:defRPr/>
            </a:pP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pearres5 = residuals(smoke5,type="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")</a:t>
            </a:r>
          </a:p>
          <a:p>
            <a:pPr>
              <a:defRPr/>
            </a:pP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 = sum(pearres5^2)</a:t>
            </a:r>
          </a:p>
          <a:p>
            <a:pPr>
              <a:defRPr/>
            </a:pP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round(c(</a:t>
            </a:r>
            <a:r>
              <a:rPr lang="en-US" sz="1400" i="1" dirty="0" err="1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pearson</a:t>
            </a:r>
            <a:r>
              <a:rPr lang="en-US" sz="1400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, 1-pchisq(pearson,10)),2)</a:t>
            </a:r>
          </a:p>
          <a:p>
            <a:pPr>
              <a:defRPr/>
            </a:pPr>
            <a:r>
              <a:rPr lang="en-US" sz="14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[1] 14.00  0.17</a:t>
            </a:r>
            <a:endParaRPr lang="en-US" sz="1400" dirty="0">
              <a:solidFill>
                <a:schemeClr val="accent1"/>
              </a:solidFill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1" y="2977982"/>
            <a:ext cx="6969154" cy="1415772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lIns="182880" tIns="91440" rIns="182880" bIns="91440" rtlCol="0">
            <a:spAutoFit/>
          </a:bodyPr>
          <a:lstStyle/>
          <a:p>
            <a:r>
              <a:rPr lang="en-US" alt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Does the goodness of fit improve?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deviance residuals: P-value = 0.05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Using Pearson residual: P-value = </a:t>
            </a:r>
            <a:r>
              <a:rPr 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0.17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Do not reject the null hypothesis of good fit using Pearson residuals or using deviance residuals at the significance level 0.01.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36" y="115288"/>
            <a:ext cx="8562392" cy="606166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Different Link Function: GOF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Text Box 3"/>
          <p:cNvSpPr txBox="1">
            <a:spLocks noChangeArrowheads="1"/>
          </p:cNvSpPr>
          <p:nvPr/>
        </p:nvSpPr>
        <p:spPr bwMode="auto">
          <a:xfrm>
            <a:off x="136405" y="863706"/>
            <a:ext cx="8574656" cy="37240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altLang="en-US" b="1" dirty="0">
                <a:solidFill>
                  <a:srgbClr val="EEB211"/>
                </a:solidFill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Simpson’s paradox: 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Reversal of an association when looking at a marginal relationship versus a conditional relationship.</a:t>
            </a:r>
          </a:p>
          <a:p>
            <a:pPr marL="687388" lvl="1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Smoking is statistically significant with a positive estimated coefficient under the marginal model.</a:t>
            </a:r>
          </a:p>
          <a:p>
            <a:pPr marL="687388" lvl="1" indent="-342900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Smoking has a negative estimated coefficient under the conditional model.</a:t>
            </a:r>
          </a:p>
          <a:p>
            <a:pPr>
              <a:defRPr/>
            </a:pPr>
            <a:endParaRPr lang="en-US" altLang="en-US" u="sng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>
              <a:defRPr/>
            </a:pPr>
            <a:r>
              <a:rPr lang="en-US" altLang="en-US" b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Marginal versus Conditional Relationship</a:t>
            </a: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  <a:p>
            <a:pPr marL="687388" lvl="1" indent="-3429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Marginal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Capturing the association of a predicting variable to the response variable without consideration of other factors</a:t>
            </a:r>
          </a:p>
          <a:p>
            <a:pPr marL="687388" lvl="1" indent="-342900"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en-US" altLang="en-US" b="1" i="1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Conditional</a:t>
            </a:r>
            <a:r>
              <a:rPr lang="en-US" altLang="en-US" dirty="0">
                <a:latin typeface="Helvetica" panose="020B0604020202020204" pitchFamily="34" charset="0"/>
                <a:ea typeface="Helvetica Neue" charset="0"/>
                <a:cs typeface="Helvetica" panose="020B0604020202020204" pitchFamily="34" charset="0"/>
              </a:rPr>
              <a:t>: Capturing the association of a predicting variable to the response variable conditional on other predicting variables in the model</a:t>
            </a:r>
          </a:p>
          <a:p>
            <a:pPr>
              <a:defRPr/>
            </a:pPr>
            <a:endParaRPr lang="en-US" altLang="en-US" dirty="0">
              <a:latin typeface="Helvetica" panose="020B0604020202020204" pitchFamily="34" charset="0"/>
              <a:ea typeface="Helvetica Neue" charset="0"/>
              <a:cs typeface="Helvetica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6514" y="115288"/>
            <a:ext cx="8562392" cy="606166"/>
          </a:xfrm>
        </p:spPr>
        <p:txBody>
          <a:bodyPr/>
          <a:lstStyle/>
          <a:p>
            <a:r>
              <a:rPr lang="en-US" altLang="en-US" sz="3600" dirty="0">
                <a:solidFill>
                  <a:schemeClr val="bg2">
                    <a:lumMod val="10000"/>
                  </a:schemeClr>
                </a:solidFill>
                <a:latin typeface="Vitesse"/>
                <a:ea typeface="Vitesse" charset="0"/>
                <a:cs typeface="Vitesse" charset="0"/>
              </a:rPr>
              <a:t>Simpson’s Paradox</a:t>
            </a:r>
            <a:endParaRPr lang="en-US" sz="3600" dirty="0">
              <a:latin typeface="Vitess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42405" y="111125"/>
            <a:ext cx="4727575" cy="6985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>
            <a:fillRect/>
          </a:stretch>
        </p:blipFill>
        <p:spPr>
          <a:xfrm>
            <a:off x="3103133" y="1085850"/>
            <a:ext cx="2728044" cy="29818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1449</Words>
  <Application>Microsoft Office PowerPoint</Application>
  <PresentationFormat>On-screen Show (16:9)</PresentationFormat>
  <Paragraphs>318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 Math</vt:lpstr>
      <vt:lpstr>Helvetica</vt:lpstr>
      <vt:lpstr>Vitesse</vt:lpstr>
      <vt:lpstr>Vitesse Bold</vt:lpstr>
      <vt:lpstr>Vitesse Medium</vt:lpstr>
      <vt:lpstr>2_Half Page Slash</vt:lpstr>
      <vt:lpstr>Full Page Layout</vt:lpstr>
      <vt:lpstr>PowerPoint Presentation</vt:lpstr>
      <vt:lpstr>PowerPoint Presentation</vt:lpstr>
      <vt:lpstr>Data Example: Smoking</vt:lpstr>
      <vt:lpstr>GOF Hypothesis Test</vt:lpstr>
      <vt:lpstr>Linearity Assumption </vt:lpstr>
      <vt:lpstr>Improve the Fit</vt:lpstr>
      <vt:lpstr>GOF Test for Improved Model</vt:lpstr>
      <vt:lpstr>PowerPoint Presentation</vt:lpstr>
      <vt:lpstr>Higher Order Nonlinearity</vt:lpstr>
      <vt:lpstr>Higher Order Nonlinearity</vt:lpstr>
      <vt:lpstr>Higher Order Nonlinearity: GOF</vt:lpstr>
      <vt:lpstr>Different Link Function</vt:lpstr>
      <vt:lpstr>Different Link Function: GOF</vt:lpstr>
      <vt:lpstr>Simpson’s Paradox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Rodriguez, Ramon S</cp:lastModifiedBy>
  <cp:revision>481</cp:revision>
  <dcterms:created xsi:type="dcterms:W3CDTF">2020-03-30T17:56:55Z</dcterms:created>
  <dcterms:modified xsi:type="dcterms:W3CDTF">2021-06-04T19:25:34Z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KSOProductBuildVer">
    <vt:lpwstr>1033-11.2.0.8970</vt:lpwstr>
  </property>
</Properties>
</file>