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12"/>
  </p:notesMasterIdLst>
  <p:handoutMasterIdLst>
    <p:handoutMasterId r:id="rId13"/>
  </p:handoutMasterIdLst>
  <p:sldIdLst>
    <p:sldId id="434" r:id="rId3"/>
    <p:sldId id="522" r:id="rId4"/>
    <p:sldId id="535" r:id="rId5"/>
    <p:sldId id="542" r:id="rId6"/>
    <p:sldId id="501" r:id="rId7"/>
    <p:sldId id="538" r:id="rId8"/>
    <p:sldId id="503" r:id="rId9"/>
    <p:sldId id="541" r:id="rId10"/>
    <p:sldId id="537" r:id="rId11"/>
  </p:sldIdLst>
  <p:sldSz cx="9144000" cy="5143500" type="screen16x9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22"/>
            <p14:sldId id="535"/>
            <p14:sldId id="542"/>
            <p14:sldId id="501"/>
            <p14:sldId id="538"/>
            <p14:sldId id="503"/>
            <p14:sldId id="541"/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684" userDrawn="1">
          <p15:clr>
            <a:srgbClr val="A4A3A4"/>
          </p15:clr>
        </p15:guide>
        <p15:guide id="9" orient="horz" pos="3084" userDrawn="1">
          <p15:clr>
            <a:srgbClr val="A4A3A4"/>
          </p15:clr>
        </p15:guide>
        <p15:guide id="10" pos="6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zwen42@gatech.com" initials="z" lastIdx="1" clrIdx="1"/>
  <p:cmAuthor id="3" name="Serban, Nicoleta" initials="SN" lastIdx="11" clrIdx="2"/>
  <p:cmAuthor id="4" name="Hu, Rui" initials="HR" lastIdx="1" clrIdx="3"/>
  <p:cmAuthor id="6" name="Richard Levine" initials="RL" lastIdx="3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1F497D"/>
    <a:srgbClr val="8E4221"/>
    <a:srgbClr val="984807"/>
    <a:srgbClr val="993200"/>
    <a:srgbClr val="F8FFF1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 autoAdjust="0"/>
    <p:restoredTop sz="93817" autoAdjust="0"/>
  </p:normalViewPr>
  <p:slideViewPr>
    <p:cSldViewPr snapToGrid="0">
      <p:cViewPr varScale="1">
        <p:scale>
          <a:sx n="81" d="100"/>
          <a:sy n="81" d="100"/>
        </p:scale>
        <p:origin x="1044" y="60"/>
      </p:cViewPr>
      <p:guideLst>
        <p:guide orient="horz" pos="1620"/>
        <p:guide pos="2880"/>
        <p:guide pos="144"/>
        <p:guide pos="360"/>
        <p:guide pos="3456"/>
        <p:guide pos="5664"/>
        <p:guide orient="horz" pos="372"/>
        <p:guide orient="horz" pos="684"/>
        <p:guide orient="horz" pos="3084"/>
        <p:guide pos="60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9DFD447-ACB1-BC49-B8EF-23729E0A333F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E1738FA-185A-CF4F-BD02-7990310E47F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80732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4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67353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/>
                </a:solidFill>
              </a:rPr>
              <a:t>Logistic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9F70E1D-8F15-43CD-9459-268C65BD7047}"/>
              </a:ext>
            </a:extLst>
          </p:cNvPr>
          <p:cNvSpPr>
            <a:spLocks noGrp="1"/>
          </p:cNvSpPr>
          <p:nvPr/>
        </p:nvSpPr>
        <p:spPr>
          <a:xfrm>
            <a:off x="117956" y="4211955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3"/>
              <p:cNvSpPr txBox="1">
                <a:spLocks noChangeArrowheads="1"/>
              </p:cNvSpPr>
              <p:nvPr/>
            </p:nvSpPr>
            <p:spPr bwMode="auto">
              <a:xfrm>
                <a:off x="130146" y="800882"/>
                <a:ext cx="8562391" cy="687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Data:</a:t>
                </a:r>
                <a14:m>
                  <m:oMath xmlns:m="http://schemas.openxmlformats.org/officeDocument/2006/math">
                    <m:r>
                      <a:rPr lang="en-US" altLang="en-US" b="1" i="0" smtClean="0">
                        <a:solidFill>
                          <a:srgbClr val="EEB21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 </m:t>
                    </m:r>
                  </m:oMath>
                </a14:m>
                <a:endParaRPr lang="en-US" altLang="en-US" b="0" i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r>
                  <a:rPr lang="en-US" altLang="en-US" b="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dirty="0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here</m:t>
                    </m:r>
                    <m:r>
                      <a:rPr lang="en-US" altLang="en-US" b="0" i="0" dirty="0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 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en-US" b="0" i="1" smtClean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b="0" smtClean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are</m:t>
                    </m:r>
                    <m:r>
                      <m:rPr>
                        <m:nor/>
                      </m:rPr>
                      <a:rPr lang="en-US" altLang="en-US" b="0" i="1" smtClean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i="1" dirty="0">
                        <a:latin typeface="Helvetica" panose="020B0604020202020204" pitchFamily="34" charset="0"/>
                        <a:ea typeface="Helvetica Neue" charset="0"/>
                        <a:cs typeface="Helvetica" panose="020B0604020202020204" pitchFamily="34" charset="0"/>
                      </a:rPr>
                      <m:t>binary</m:t>
                    </m:r>
                    <m:r>
                      <m:rPr>
                        <m:nor/>
                      </m:rPr>
                      <a:rPr lang="en-US" altLang="en-US" dirty="0">
                        <a:latin typeface="Helvetica" panose="020B0604020202020204" pitchFamily="34" charset="0"/>
                        <a:ea typeface="Helvetica Neue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dirty="0">
                        <a:latin typeface="Helvetica" panose="020B0604020202020204" pitchFamily="34" charset="0"/>
                        <a:ea typeface="Helvetica Neue" charset="0"/>
                        <a:cs typeface="Helvetica" panose="020B0604020202020204" pitchFamily="34" charset="0"/>
                      </a:rPr>
                      <m:t>responses</m:t>
                    </m:r>
                  </m:oMath>
                </a14:m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146" y="800882"/>
                <a:ext cx="8562391" cy="687496"/>
              </a:xfrm>
              <a:prstGeom prst="rect">
                <a:avLst/>
              </a:prstGeom>
              <a:blipFill>
                <a:blip r:embed="rId3"/>
                <a:stretch>
                  <a:fillRect l="-569" t="-1770" b="-132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0969" y="96655"/>
            <a:ext cx="8562392" cy="671860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Classification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3">
                <a:extLst>
                  <a:ext uri="{FF2B5EF4-FFF2-40B4-BE49-F238E27FC236}">
                    <a16:creationId xmlns:a16="http://schemas.microsoft.com/office/drawing/2014/main" id="{1B2A3623-745C-4ED0-AE6C-4D7342A0C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240" y="1553114"/>
                <a:ext cx="5229920" cy="34208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Model</a:t>
                </a:r>
                <a:r>
                  <a:rPr lang="en-US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Probability of success given predictor(s)</a:t>
                </a:r>
              </a:p>
              <a:p>
                <a:pPr marL="339725" indent="-3397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Pr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𝑌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=1 |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Objective</a:t>
                </a:r>
                <a:r>
                  <a:rPr lang="en-US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Classify (predict) a new binary response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lim>
                        <m:r>
                          <m:rPr>
                            <m:nor/>
                          </m:rPr>
                          <a:rPr lang="en-US" i="1" baseline="-30000"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m:t>∗</m:t>
                        </m:r>
                      </m:lim>
                    </m:limUpp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based on observed predicting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en-US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en-US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r>
                          <a:rPr lang="en-US" altLang="en-US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solidFill>
                          <a:prstClr val="black"/>
                        </a:solidFill>
                        <a:latin typeface="Helvetica" panose="020B0604020202020204" pitchFamily="34" charset="0"/>
                        <a:ea typeface="Helvetica Neue" charset="0"/>
                        <a:cs typeface="Helvetica" panose="020B0604020202020204" pitchFamily="34" charset="0"/>
                      </a:rPr>
                      <m:t>,..,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charset="0"/>
                        <a:ea typeface="Helvetica Neue" charset="0"/>
                        <a:cs typeface="Helvetica Neue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>
                  <a:solidFill>
                    <a:prstClr val="black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744538" lvl="1" indent="-40163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Predicted probability:</a:t>
                </a:r>
              </a:p>
              <a:p>
                <a:pPr marL="744538" lvl="0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p</m:t>
                        </m:r>
                      </m:e>
                    </m:acc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altLang="en-US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en-US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b>
                            <m:r>
                              <a:rPr lang="en-US" altLang="en-US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altLang="en-US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en-US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b>
                            <m:r>
                              <a:rPr lang="en-US" altLang="en-US" b="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=</m:t>
                    </m:r>
                  </m:oMath>
                </a14:m>
                <a:r>
                  <a:rPr lang="en-US" alt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1+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endParaRPr lang="en-US" altLang="en-US" sz="2400" dirty="0">
                  <a:solidFill>
                    <a:prstClr val="black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744538" lvl="1" indent="-404813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the predicted probability is large, then classify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lim>
                        <m:r>
                          <m:rPr>
                            <m:nor/>
                          </m:rPr>
                          <a:rPr lang="en-US" i="1" baseline="-30000"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m:t>∗</m:t>
                        </m:r>
                      </m:lim>
                    </m:limUpp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as a success</a:t>
                </a:r>
                <a:endParaRPr lang="en-US" dirty="0">
                  <a:solidFill>
                    <a:prstClr val="black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 Box 3">
                <a:extLst>
                  <a:ext uri="{FF2B5EF4-FFF2-40B4-BE49-F238E27FC236}">
                    <a16:creationId xmlns:a16="http://schemas.microsoft.com/office/drawing/2014/main" id="{1B2A3623-745C-4ED0-AE6C-4D7342A0C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240" y="1553114"/>
                <a:ext cx="5229920" cy="3420808"/>
              </a:xfrm>
              <a:prstGeom prst="rect">
                <a:avLst/>
              </a:prstGeom>
              <a:blipFill>
                <a:blip r:embed="rId4"/>
                <a:stretch>
                  <a:fillRect l="-1049" t="-1070" b="-19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3">
                <a:extLst>
                  <a:ext uri="{FF2B5EF4-FFF2-40B4-BE49-F238E27FC236}">
                    <a16:creationId xmlns:a16="http://schemas.microsoft.com/office/drawing/2014/main" id="{1B2A3623-745C-4ED0-AE6C-4D7342A0C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240" y="1553114"/>
                <a:ext cx="5229920" cy="34208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Model</a:t>
                </a:r>
                <a:r>
                  <a:rPr lang="en-US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Probability of success given predictor(s)</a:t>
                </a:r>
              </a:p>
              <a:p>
                <a:pPr marL="339725" indent="-3397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Pr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𝑌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=1 |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Objective</a:t>
                </a:r>
                <a:r>
                  <a:rPr lang="en-US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Classify (predict) a new binary response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lim>
                        <m:r>
                          <m:rPr>
                            <m:nor/>
                          </m:rPr>
                          <a:rPr lang="en-US" i="1" baseline="-30000"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m:t>∗</m:t>
                        </m:r>
                      </m:lim>
                    </m:limUpp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based on observed predicting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en-US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en-US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r>
                          <a:rPr lang="en-US" altLang="en-US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solidFill>
                          <a:prstClr val="black"/>
                        </a:solidFill>
                        <a:latin typeface="Helvetica" panose="020B0604020202020204" pitchFamily="34" charset="0"/>
                        <a:ea typeface="Helvetica Neue" charset="0"/>
                        <a:cs typeface="Helvetica" panose="020B0604020202020204" pitchFamily="34" charset="0"/>
                      </a:rPr>
                      <m:t>,..,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charset="0"/>
                        <a:ea typeface="Helvetica Neue" charset="0"/>
                        <a:cs typeface="Helvetica Neue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>
                  <a:solidFill>
                    <a:prstClr val="black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744538" lvl="1" indent="-40163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Predicted probability:</a:t>
                </a:r>
              </a:p>
              <a:p>
                <a:pPr marL="744538" lvl="0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p</m:t>
                        </m:r>
                      </m:e>
                    </m:acc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altLang="en-US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en-US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b>
                            <m:r>
                              <a:rPr lang="en-US" altLang="en-US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altLang="en-US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en-US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b>
                            <m:r>
                              <a:rPr lang="en-US" altLang="en-US" b="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=</m:t>
                    </m:r>
                  </m:oMath>
                </a14:m>
                <a:r>
                  <a:rPr lang="en-US" alt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1+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en-US" sz="2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endParaRPr lang="en-US" altLang="en-US" sz="2400" dirty="0">
                  <a:solidFill>
                    <a:prstClr val="black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744538" lvl="1" indent="-404813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the predicted probability is large, then classify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lim>
                        <m:r>
                          <m:rPr>
                            <m:nor/>
                          </m:rPr>
                          <a:rPr lang="en-US" i="1" baseline="-30000"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m:t>∗</m:t>
                        </m:r>
                      </m:lim>
                    </m:limUpp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as a success</a:t>
                </a:r>
                <a:endParaRPr lang="en-US" dirty="0">
                  <a:solidFill>
                    <a:prstClr val="black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 Box 3">
                <a:extLst>
                  <a:ext uri="{FF2B5EF4-FFF2-40B4-BE49-F238E27FC236}">
                    <a16:creationId xmlns:a16="http://schemas.microsoft.com/office/drawing/2014/main" id="{1B2A3623-745C-4ED0-AE6C-4D7342A0C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240" y="1553114"/>
                <a:ext cx="5229920" cy="3420808"/>
              </a:xfrm>
              <a:prstGeom prst="rect">
                <a:avLst/>
              </a:prstGeom>
              <a:blipFill>
                <a:blip r:embed="rId3"/>
                <a:stretch>
                  <a:fillRect l="-1049" t="-1070" b="-19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2">
            <a:extLst>
              <a:ext uri="{FF2B5EF4-FFF2-40B4-BE49-F238E27FC236}">
                <a16:creationId xmlns:a16="http://schemas.microsoft.com/office/drawing/2014/main" id="{C85C7546-D92B-429C-8C48-7F320E75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69" y="96655"/>
            <a:ext cx="8562392" cy="671860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Classification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3">
                <a:extLst>
                  <a:ext uri="{FF2B5EF4-FFF2-40B4-BE49-F238E27FC236}">
                    <a16:creationId xmlns:a16="http://schemas.microsoft.com/office/drawing/2014/main" id="{E618C2AF-9045-415A-8F28-E94E19B57B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146" y="800882"/>
                <a:ext cx="8562391" cy="687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Data:</a:t>
                </a:r>
                <a14:m>
                  <m:oMath xmlns:m="http://schemas.openxmlformats.org/officeDocument/2006/math">
                    <m:r>
                      <a:rPr lang="en-US" altLang="en-US" b="1" i="0" smtClean="0">
                        <a:solidFill>
                          <a:srgbClr val="EEB21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 </m:t>
                    </m:r>
                  </m:oMath>
                </a14:m>
                <a:endParaRPr lang="en-US" altLang="en-US" b="0" i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r>
                  <a:rPr lang="en-US" altLang="en-US" b="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dirty="0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here</m:t>
                    </m:r>
                    <m:r>
                      <a:rPr lang="en-US" altLang="en-US" b="0" i="0" dirty="0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 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en-US" b="0" i="1" smtClean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b="0" smtClean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are</m:t>
                    </m:r>
                    <m:r>
                      <m:rPr>
                        <m:nor/>
                      </m:rPr>
                      <a:rPr lang="en-US" altLang="en-US" b="0" i="1" smtClean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i="1" dirty="0">
                        <a:latin typeface="Helvetica" panose="020B0604020202020204" pitchFamily="34" charset="0"/>
                        <a:ea typeface="Helvetica Neue" charset="0"/>
                        <a:cs typeface="Helvetica" panose="020B0604020202020204" pitchFamily="34" charset="0"/>
                      </a:rPr>
                      <m:t>binary</m:t>
                    </m:r>
                    <m:r>
                      <m:rPr>
                        <m:nor/>
                      </m:rPr>
                      <a:rPr lang="en-US" altLang="en-US" dirty="0">
                        <a:latin typeface="Helvetica" panose="020B0604020202020204" pitchFamily="34" charset="0"/>
                        <a:ea typeface="Helvetica Neue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dirty="0">
                        <a:latin typeface="Helvetica" panose="020B0604020202020204" pitchFamily="34" charset="0"/>
                        <a:ea typeface="Helvetica Neue" charset="0"/>
                        <a:cs typeface="Helvetica" panose="020B0604020202020204" pitchFamily="34" charset="0"/>
                      </a:rPr>
                      <m:t>responses</m:t>
                    </m:r>
                  </m:oMath>
                </a14:m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 Box 3">
                <a:extLst>
                  <a:ext uri="{FF2B5EF4-FFF2-40B4-BE49-F238E27FC236}">
                    <a16:creationId xmlns:a16="http://schemas.microsoft.com/office/drawing/2014/main" id="{E618C2AF-9045-415A-8F28-E94E19B57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146" y="800882"/>
                <a:ext cx="8562391" cy="687496"/>
              </a:xfrm>
              <a:prstGeom prst="rect">
                <a:avLst/>
              </a:prstGeom>
              <a:blipFill>
                <a:blip r:embed="rId4"/>
                <a:stretch>
                  <a:fillRect l="-569" t="-1770" b="-132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6AE55D-1858-4770-BC45-C503D848CAB0}"/>
              </a:ext>
            </a:extLst>
          </p:cNvPr>
          <p:cNvSpPr txBox="1">
            <a:spLocks/>
          </p:cNvSpPr>
          <p:nvPr/>
        </p:nvSpPr>
        <p:spPr>
          <a:xfrm>
            <a:off x="5486400" y="1646959"/>
            <a:ext cx="3505199" cy="2267287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txBody>
          <a:bodyPr vert="horz" wrap="square" lIns="182880" tIns="91440" rIns="182880" bIns="91440" rtlCol="0" anchor="ctr" anchorCtr="0"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How good is the classification or prediction?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Goodness of fit doesn’t guarantee good prediction; 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If we have many models for classification, how do we choose among them? </a:t>
            </a:r>
          </a:p>
        </p:txBody>
      </p:sp>
    </p:spTree>
    <p:extLst>
      <p:ext uri="{BB962C8B-B14F-4D97-AF65-F5344CB8AC3E}">
        <p14:creationId xmlns:p14="http://schemas.microsoft.com/office/powerpoint/2010/main" val="390404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69" y="104746"/>
            <a:ext cx="8562392" cy="653493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Classification Error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"/>
              <p:cNvSpPr txBox="1">
                <a:spLocks noChangeArrowheads="1"/>
              </p:cNvSpPr>
              <p:nvPr/>
            </p:nvSpPr>
            <p:spPr bwMode="auto">
              <a:xfrm>
                <a:off x="134380" y="829185"/>
                <a:ext cx="8928699" cy="369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342900" lvl="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b="1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Predicted probability</a:t>
                </a:r>
                <a:r>
                  <a:rPr lang="en-US" alt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</a:p>
              <a:p>
                <a:pPr marL="342900" lvl="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endParaRPr lang="en-US" altLang="en-US" sz="800" dirty="0">
                  <a:solidFill>
                    <a:prstClr val="black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744538" lvl="0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en-US" dirty="0">
                          <a:solidFill>
                            <a:prstClr val="black"/>
                          </a:solidFill>
                          <a:latin typeface="Helvetica" panose="020B0604020202020204" pitchFamily="34" charset="0"/>
                          <a:ea typeface="Helvetica Neue" charset="0"/>
                          <a:cs typeface="Helvetica" panose="020B0604020202020204" pitchFamily="34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Helvetica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Helvetica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Helvetica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Helvetica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prstClr val="black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b="1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Classifier:</a:t>
                </a:r>
                <a:r>
                  <a:rPr lang="en-US" alt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b="0" i="0" smtClean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en-US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en-US" b="0" i="0" smtClean="0">
                                  <a:latin typeface="Helvetica" panose="020B0604020202020204" pitchFamily="34" charset="0"/>
                                  <a:cs typeface="Helvetica" panose="020B0604020202020204" pitchFamily="34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en-US" b="0" i="0" smtClean="0">
                                  <a:latin typeface="Helvetica" panose="020B0604020202020204" pitchFamily="34" charset="0"/>
                                  <a:cs typeface="Helvetica" panose="020B0604020202020204" pitchFamily="34" charset="0"/>
                                </a:rPr>
                                <m:t>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Helvetica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Helvetica"/>
                                    </a:rPr>
                                    <m:t>p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Helvetica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⋯,</m:t>
                                  </m:r>
                                  <m:sSub>
                                    <m:sSubPr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,</a:t>
                </a:r>
              </a:p>
              <a:p>
                <a:pPr marL="339725" lvl="0"/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a classification threshold between 0 and 1 (e.g.,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alt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</a:t>
                </a:r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Classification error rate: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L</m:t>
                    </m:r>
                    <m:d>
                      <m:dPr>
                        <m:ctrlP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=1−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Pr</m:t>
                    </m:r>
                    <m:d>
                      <m:dPr>
                        <m:ctrlP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h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Helvetica Neue" charset="0"/>
                                <a:cs typeface="Helvetica Neue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739775" lvl="1" indent="-40005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Training error</a:t>
                </a:r>
              </a:p>
              <a:p>
                <a:pPr marL="1146175" lvl="2" indent="-401638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Use data to fit model, take proportion of responses misclassified</a:t>
                </a:r>
              </a:p>
              <a:p>
                <a:pPr marL="1146175" lvl="2" indent="-401638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Biased downward as estimate of true classification error rate</a:t>
                </a:r>
              </a:p>
            </p:txBody>
          </p:sp>
        </mc:Choice>
        <mc:Fallback xmlns="">
          <p:sp>
            <p:nvSpPr>
              <p:cNvPr id="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380" y="829185"/>
                <a:ext cx="8928699" cy="3694666"/>
              </a:xfrm>
              <a:prstGeom prst="rect">
                <a:avLst/>
              </a:prstGeom>
              <a:blipFill>
                <a:blip r:embed="rId3"/>
                <a:stretch>
                  <a:fillRect l="-410" t="-8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69" y="104746"/>
            <a:ext cx="8562392" cy="648585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Cross-Validation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"/>
              <p:cNvSpPr txBox="1">
                <a:spLocks noChangeArrowheads="1"/>
              </p:cNvSpPr>
              <p:nvPr/>
            </p:nvSpPr>
            <p:spPr bwMode="auto">
              <a:xfrm>
                <a:off x="138240" y="801883"/>
                <a:ext cx="8433741" cy="2108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lvl="0">
                  <a:spcBef>
                    <a:spcPct val="50000"/>
                  </a:spcBef>
                </a:pP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Split the data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 </m:t>
                    </m:r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into:</a:t>
                </a:r>
              </a:p>
              <a:p>
                <a:pPr marL="339725" lvl="0" indent="-339725">
                  <a:spcBef>
                    <a:spcPct val="50000"/>
                  </a:spcBef>
                  <a:buFont typeface="Arial" panose="020B0604020202020204" pitchFamily="34" charset="0"/>
                  <a:buChar char="•"/>
                  <a:tabLst>
                    <a:tab pos="339725" algn="l"/>
                  </a:tabLst>
                </a:pPr>
                <a:r>
                  <a:rPr lang="en-US" b="1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Training Set</a:t>
                </a: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Used to fit the model, i.e.,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>
                        <a:solidFill>
                          <a:prstClr val="black"/>
                        </a:solidFill>
                        <a:latin typeface="Helvetica" panose="020B0604020202020204" pitchFamily="34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>
                  <a:solidFill>
                    <a:prstClr val="black"/>
                  </a:solidFill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39725" lvl="0" indent="-339725">
                  <a:spcBef>
                    <a:spcPct val="50000"/>
                  </a:spcBef>
                  <a:buFont typeface="Arial" panose="020B0604020202020204" pitchFamily="34" charset="0"/>
                  <a:buChar char="•"/>
                  <a:tabLst>
                    <a:tab pos="339725" algn="l"/>
                  </a:tabLst>
                </a:pPr>
                <a:r>
                  <a:rPr lang="en-US" b="1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Testing/Validation Set</a:t>
                </a: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Used to estimate the classification error rate</a:t>
                </a:r>
              </a:p>
              <a:p>
                <a:pPr marL="744538" indent="-744538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L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h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 =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charset="0"/>
                        </a:rPr>
                        <m:t>count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,2</m:t>
                                      </m:r>
                                    </m:sub>
                                  </m:sSub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, </m:t>
                      </m:r>
                      <m:r>
                        <m:rPr>
                          <m:brk m:alnAt="1"/>
                        </m:rP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charset="0"/>
                        </a:rPr>
                        <m:t>𝑖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charset="0"/>
                        </a:rPr>
                        <m:t>Validation</m:t>
                      </m:r>
                      <m:r>
                        <a:rPr 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charset="0"/>
                        </a:rPr>
                        <m:t>Set</m:t>
                      </m:r>
                      <m:r>
                        <a:rPr lang="en-US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charset="0"/>
                        </a:rPr>
                        <m:t>,</m:t>
                      </m:r>
                    </m:oMath>
                  </m:oMathPara>
                </a14:m>
                <a:endParaRPr lang="en-US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39725" indent="-339725">
                  <a:tabLst>
                    <a:tab pos="339725" algn="l"/>
                  </a:tabLst>
                </a:pP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	where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>
                        <a:solidFill>
                          <a:prstClr val="black"/>
                        </a:solidFill>
                        <a:latin typeface="Helvetica" panose="020B0604020202020204" pitchFamily="34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m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the size of the validation set</a:t>
                </a:r>
              </a:p>
            </p:txBody>
          </p:sp>
        </mc:Choice>
        <mc:Fallback xmlns="">
          <p:sp>
            <p:nvSpPr>
              <p:cNvPr id="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240" y="801883"/>
                <a:ext cx="8433741" cy="2108975"/>
              </a:xfrm>
              <a:prstGeom prst="rect">
                <a:avLst/>
              </a:prstGeom>
              <a:blipFill>
                <a:blip r:embed="rId3"/>
                <a:stretch>
                  <a:fillRect l="-651" t="-867" b="-375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28600" y="3154608"/>
            <a:ext cx="5001883" cy="1200329"/>
          </a:xfrm>
          <a:prstGeom prst="rect">
            <a:avLst/>
          </a:prstGeom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How to split the data?</a:t>
            </a:r>
          </a:p>
          <a:p>
            <a:pPr marL="284480" lvl="1" indent="-282575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Random subsampling</a:t>
            </a:r>
          </a:p>
          <a:p>
            <a:pPr marL="284480" lvl="1" indent="-282575">
              <a:buFont typeface="Arial" panose="020B0604020202020204" pitchFamily="34" charset="0"/>
              <a:buChar char="•"/>
            </a:pPr>
            <a:r>
              <a:rPr 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k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-fold cross-validation (KCV)</a:t>
            </a:r>
          </a:p>
          <a:p>
            <a:pPr marL="630238" lvl="2" indent="-347663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Leave-one-out cross-validation (LOOCV)</a:t>
            </a:r>
            <a:endParaRPr lang="en-US" dirty="0">
              <a:solidFill>
                <a:prstClr val="black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77" y="112838"/>
            <a:ext cx="8562392" cy="656677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Cross-Validation: How to Split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"/>
              <p:cNvSpPr txBox="1">
                <a:spLocks noChangeArrowheads="1"/>
              </p:cNvSpPr>
              <p:nvPr/>
            </p:nvSpPr>
            <p:spPr bwMode="auto">
              <a:xfrm>
                <a:off x="130148" y="842343"/>
                <a:ext cx="5356251" cy="41891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lvl="0"/>
                <a:r>
                  <a:rPr lang="en-US" sz="1600" b="1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Random Subsampling</a:t>
                </a:r>
              </a:p>
              <a:p>
                <a:pPr marL="339725" lvl="0" indent="-33972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Randomly split the data into two portions (training and validation sets)</a:t>
                </a:r>
              </a:p>
              <a:p>
                <a:pPr marL="339725" lvl="0" indent="-33972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Train on training set and test on validation set</a:t>
                </a:r>
              </a:p>
              <a:p>
                <a:pPr marL="339725" lvl="0" indent="-33972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Randomly split multiple times</a:t>
                </a:r>
              </a:p>
              <a:p>
                <a:pPr marL="339725" lvl="0" indent="-33972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Average the classification error rate across all random splits</a:t>
                </a:r>
              </a:p>
              <a:p>
                <a:pPr lvl="0"/>
                <a:r>
                  <a:rPr lang="en-US" sz="1600" b="1" i="1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k</a:t>
                </a:r>
                <a:r>
                  <a:rPr lang="en-US" sz="1600" b="1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-fold cross-validation (KCV) </a:t>
                </a:r>
              </a:p>
              <a:p>
                <a:pPr marL="339725" lvl="0" indent="-33972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Randomly divide the data into </a:t>
                </a:r>
                <a:r>
                  <a:rPr lang="en-US" sz="1600" i="1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k</a:t>
                </a: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 chunks (folds) of approximately equal size</a:t>
                </a:r>
              </a:p>
              <a:p>
                <a:pPr marL="339725" lvl="0" indent="-33972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For </a:t>
                </a:r>
                <a:r>
                  <a:rPr lang="en-US" sz="1600" i="1" dirty="0" err="1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i</a:t>
                </a: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 = 1 to </a:t>
                </a:r>
                <a:r>
                  <a:rPr lang="en-US" sz="1600" i="1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k</a:t>
                </a: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:</a:t>
                </a:r>
              </a:p>
              <a:p>
                <a:pPr marL="744538" lvl="1" indent="-4000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The training data consist of data without the </a:t>
                </a:r>
                <a:r>
                  <a:rPr lang="en-US" sz="1400" i="1" dirty="0" err="1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i</a:t>
                </a:r>
                <a:r>
                  <a:rPr lang="en-US" sz="1400" i="1" baseline="30000" dirty="0" err="1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th</a:t>
                </a: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 fold of data</a:t>
                </a:r>
              </a:p>
              <a:p>
                <a:pPr marL="744538" lvl="1" indent="-4000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The testing data consist of </a:t>
                </a: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the </a:t>
                </a:r>
                <a:r>
                  <a:rPr lang="en-US" sz="1400" i="1" dirty="0" err="1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i</a:t>
                </a:r>
                <a:r>
                  <a:rPr lang="en-US" sz="1400" i="1" baseline="30000" dirty="0" err="1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th</a:t>
                </a: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fold</a:t>
                </a:r>
              </a:p>
              <a:p>
                <a:pPr marL="744538" lvl="1" indent="-4000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Compute classification error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</m:acc>
                      </m:e>
                      <m:sub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for the </a:t>
                </a:r>
                <a:r>
                  <a:rPr lang="en-US" sz="1400" i="1" dirty="0" err="1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i</a:t>
                </a:r>
                <a:r>
                  <a:rPr lang="en-US" sz="1400" i="1" baseline="30000" dirty="0" err="1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th</a:t>
                </a: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fold testing data</a:t>
                </a:r>
              </a:p>
              <a:p>
                <a:pPr marL="744538" lvl="1" indent="-4000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Compute overall classification error: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</m:acc>
                    <m:d>
                      <m:dPr>
                        <m:ctrlP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14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148" y="842343"/>
                <a:ext cx="5356251" cy="4189160"/>
              </a:xfrm>
              <a:prstGeom prst="rect">
                <a:avLst/>
              </a:prstGeom>
              <a:blipFill>
                <a:blip r:embed="rId3"/>
                <a:stretch>
                  <a:fillRect l="-569" t="-437" r="-683" b="-989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399" y="1086396"/>
            <a:ext cx="3491063" cy="307776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vert="horz" wrap="square" lIns="182880" tIns="182880" rIns="182880" bIns="182880" rtlCol="0">
            <a:spAutoFit/>
          </a:bodyPr>
          <a:lstStyle/>
          <a:p>
            <a:r>
              <a:rPr lang="en-US" alt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Random CV or </a:t>
            </a:r>
            <a:r>
              <a:rPr lang="en-US" altLang="en-US" sz="16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k</a:t>
            </a:r>
            <a:r>
              <a:rPr lang="en-US" alt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-fold CV? </a:t>
            </a:r>
          </a:p>
          <a:p>
            <a:pPr marL="339725" indent="-339725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Random subsampling is computationally more expensive than 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k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-fold CV</a:t>
            </a:r>
          </a:p>
          <a:p>
            <a:r>
              <a:rPr lang="en-US" alt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How to choose </a:t>
            </a:r>
            <a:r>
              <a:rPr lang="en-US" altLang="en-US" sz="16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k</a:t>
            </a:r>
            <a:r>
              <a:rPr lang="en-US" alt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  <a:p>
            <a:pPr marL="339725" indent="-339725"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Leave-one-out CV is KCV with 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k 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= 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endParaRPr lang="en-US" alt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87388" lvl="1" indent="-341313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Less computationally efficient than KCV</a:t>
            </a:r>
          </a:p>
          <a:p>
            <a:pPr marL="339725" indent="-339725"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The larger the 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k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, the less bias but the more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3">
                <a:extLst>
                  <a:ext uri="{FF2B5EF4-FFF2-40B4-BE49-F238E27FC236}">
                    <a16:creationId xmlns:a16="http://schemas.microsoft.com/office/drawing/2014/main" id="{8CB3830E-3E08-4BF2-A781-13233C2039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148" y="842343"/>
                <a:ext cx="5356251" cy="41891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lvl="0"/>
                <a:r>
                  <a:rPr lang="en-US" sz="1600" b="1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Random Subsampling</a:t>
                </a:r>
              </a:p>
              <a:p>
                <a:pPr marL="339725" lvl="0" indent="-33972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Randomly split the data into two portions (training and validation sets)</a:t>
                </a:r>
              </a:p>
              <a:p>
                <a:pPr marL="339725" lvl="0" indent="-33972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Train on training set and test on validation set</a:t>
                </a:r>
              </a:p>
              <a:p>
                <a:pPr marL="339725" lvl="0" indent="-33972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Randomly split multiple times</a:t>
                </a:r>
              </a:p>
              <a:p>
                <a:pPr marL="339725" lvl="0" indent="-33972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Average the classification error rate across all random splits</a:t>
                </a:r>
              </a:p>
              <a:p>
                <a:pPr lvl="0"/>
                <a:r>
                  <a:rPr lang="en-US" sz="1600" b="1" i="1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k</a:t>
                </a:r>
                <a:r>
                  <a:rPr lang="en-US" sz="1600" b="1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-fold cross-validation (KCV) </a:t>
                </a:r>
              </a:p>
              <a:p>
                <a:pPr marL="339725" lvl="0" indent="-33972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Randomly divide the data into </a:t>
                </a:r>
                <a:r>
                  <a:rPr lang="en-US" sz="1600" i="1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k</a:t>
                </a: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 chunks (folds) of approximately equal size</a:t>
                </a:r>
              </a:p>
              <a:p>
                <a:pPr marL="339725" lvl="0" indent="-33972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For </a:t>
                </a:r>
                <a:r>
                  <a:rPr lang="en-US" sz="1600" i="1" dirty="0" err="1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i</a:t>
                </a: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 = 1 to </a:t>
                </a:r>
                <a:r>
                  <a:rPr lang="en-US" sz="1600" i="1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k</a:t>
                </a: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:</a:t>
                </a:r>
              </a:p>
              <a:p>
                <a:pPr marL="744538" lvl="1" indent="-4000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The training data consist of data without the </a:t>
                </a:r>
                <a:r>
                  <a:rPr lang="en-US" sz="1400" i="1" dirty="0" err="1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i</a:t>
                </a:r>
                <a:r>
                  <a:rPr lang="en-US" sz="1400" i="1" baseline="30000" dirty="0" err="1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th</a:t>
                </a: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 fold of data</a:t>
                </a:r>
              </a:p>
              <a:p>
                <a:pPr marL="744538" lvl="1" indent="-4000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The testing data consist of </a:t>
                </a: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the </a:t>
                </a:r>
                <a:r>
                  <a:rPr lang="en-US" sz="1400" i="1" dirty="0" err="1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i</a:t>
                </a:r>
                <a:r>
                  <a:rPr lang="en-US" sz="1400" i="1" baseline="30000" dirty="0" err="1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th</a:t>
                </a: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fold</a:t>
                </a:r>
              </a:p>
              <a:p>
                <a:pPr marL="744538" lvl="1" indent="-4000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Compute classification error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</m:acc>
                      </m:e>
                      <m:sub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for the </a:t>
                </a:r>
                <a:r>
                  <a:rPr lang="en-US" sz="1400" i="1" dirty="0" err="1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i</a:t>
                </a:r>
                <a:r>
                  <a:rPr lang="en-US" sz="1400" i="1" baseline="30000" dirty="0" err="1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th</a:t>
                </a: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fold testing data</a:t>
                </a:r>
              </a:p>
              <a:p>
                <a:pPr marL="744538" lvl="1" indent="-4000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Compute overall classification error: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</m:acc>
                    <m:d>
                      <m:dPr>
                        <m:ctrlP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14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 Box 3">
                <a:extLst>
                  <a:ext uri="{FF2B5EF4-FFF2-40B4-BE49-F238E27FC236}">
                    <a16:creationId xmlns:a16="http://schemas.microsoft.com/office/drawing/2014/main" id="{8CB3830E-3E08-4BF2-A781-13233C203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148" y="842343"/>
                <a:ext cx="5356251" cy="4189160"/>
              </a:xfrm>
              <a:prstGeom prst="rect">
                <a:avLst/>
              </a:prstGeom>
              <a:blipFill>
                <a:blip r:embed="rId3"/>
                <a:stretch>
                  <a:fillRect l="-569" t="-437" r="-683" b="-989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2B893569-5FF5-43B3-A946-9494F951C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77" y="112838"/>
            <a:ext cx="8562392" cy="656677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Cross-Validation: How to Split Data?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351</Words>
  <Application>Microsoft Office PowerPoint</Application>
  <PresentationFormat>On-screen Show (16:9)</PresentationFormat>
  <Paragraphs>89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MS PGothic</vt:lpstr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Medium</vt:lpstr>
      <vt:lpstr>Wingdings</vt:lpstr>
      <vt:lpstr>2_Half Page Slash</vt:lpstr>
      <vt:lpstr>Full Page Layout</vt:lpstr>
      <vt:lpstr>PowerPoint Presentation</vt:lpstr>
      <vt:lpstr>PowerPoint Presentation</vt:lpstr>
      <vt:lpstr>Classification Objective</vt:lpstr>
      <vt:lpstr>Classification Objective</vt:lpstr>
      <vt:lpstr>Classification Error Rate</vt:lpstr>
      <vt:lpstr>Cross-Validation</vt:lpstr>
      <vt:lpstr>Cross-Validation: How to Split Data?</vt:lpstr>
      <vt:lpstr>Cross-Validation: How to Split Data?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484</cp:revision>
  <cp:lastPrinted>2020-01-12T08:43:00Z</cp:lastPrinted>
  <dcterms:created xsi:type="dcterms:W3CDTF">2020-03-30T18:07:13Z</dcterms:created>
  <dcterms:modified xsi:type="dcterms:W3CDTF">2020-05-18T17:36:30Z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KSOProductBuildVer">
    <vt:lpwstr>1033-11.2.0.8970</vt:lpwstr>
  </property>
</Properties>
</file>