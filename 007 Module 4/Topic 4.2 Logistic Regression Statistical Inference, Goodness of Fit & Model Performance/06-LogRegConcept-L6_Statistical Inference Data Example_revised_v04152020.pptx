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6" r:id="rId2"/>
  </p:sldMasterIdLst>
  <p:notesMasterIdLst>
    <p:notesMasterId r:id="rId9"/>
  </p:notesMasterIdLst>
  <p:handoutMasterIdLst>
    <p:handoutMasterId r:id="rId10"/>
  </p:handoutMasterIdLst>
  <p:sldIdLst>
    <p:sldId id="434" r:id="rId3"/>
    <p:sldId id="522" r:id="rId4"/>
    <p:sldId id="330" r:id="rId5"/>
    <p:sldId id="521" r:id="rId6"/>
    <p:sldId id="475" r:id="rId7"/>
    <p:sldId id="448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522"/>
            <p14:sldId id="330"/>
            <p14:sldId id="521"/>
            <p14:sldId id="475"/>
            <p14:sldId id="4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72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36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40" userDrawn="1">
          <p15:clr>
            <a:srgbClr val="A4A3A4"/>
          </p15:clr>
        </p15:guide>
        <p15:guide id="7" orient="horz" pos="1620" userDrawn="1">
          <p15:clr>
            <a:srgbClr val="A4A3A4"/>
          </p15:clr>
        </p15:guide>
        <p15:guide id="8" orient="horz" pos="660" userDrawn="1">
          <p15:clr>
            <a:srgbClr val="A4A3A4"/>
          </p15:clr>
        </p15:guide>
        <p15:guide id="9" orient="horz" pos="31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zwen42@gatech.com" initials="z" lastIdx="1" clrIdx="1"/>
  <p:cmAuthor id="3" name="Serban, Nicoleta" initials="SN" lastIdx="11" clrIdx="2"/>
  <p:cmAuthor id="4" name="Hu, Rui" initials="HR" lastIdx="1" clrIdx="3"/>
  <p:cmAuthor id="6" name="Richard Levine" initials="R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1F497D"/>
    <a:srgbClr val="8E4221"/>
    <a:srgbClr val="984807"/>
    <a:srgbClr val="993200"/>
    <a:srgbClr val="F8FFF1"/>
    <a:srgbClr val="0000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53" autoAdjust="0"/>
    <p:restoredTop sz="89904" autoAdjust="0"/>
  </p:normalViewPr>
  <p:slideViewPr>
    <p:cSldViewPr snapToGrid="0">
      <p:cViewPr varScale="1">
        <p:scale>
          <a:sx n="65" d="100"/>
          <a:sy n="65" d="100"/>
        </p:scale>
        <p:origin x="816" y="33"/>
      </p:cViewPr>
      <p:guideLst>
        <p:guide orient="horz" pos="372"/>
        <p:guide pos="2880"/>
        <p:guide pos="144"/>
        <p:guide pos="336"/>
        <p:guide pos="3456"/>
        <p:guide pos="5640"/>
        <p:guide orient="horz" pos="1620"/>
        <p:guide orient="horz" pos="660"/>
        <p:guide orient="horz" pos="31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en-US" dirty="0">
              <a:ea typeface="MS PGothic" panose="020B0600070205080204" charset="-128"/>
            </a:endParaRPr>
          </a:p>
        </p:txBody>
      </p:sp>
      <p:sp>
        <p:nvSpPr>
          <p:cNvPr id="880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FC1340CC-78E1-404E-942C-7AB62C289CB5}" type="slidenum">
              <a:rPr lang="en-US" altLang="en-US"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80732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4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/>
              <a:t>Module Name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Lesson name: e.g. R Examples</a:t>
            </a:r>
          </a:p>
          <a:p>
            <a:pPr lvl="0"/>
            <a:r>
              <a:rPr lang="en-US" dirty="0" err="1"/>
              <a:t>Subname</a:t>
            </a:r>
            <a:r>
              <a:rPr lang="en-US" dirty="0"/>
              <a:t> if applicable (e.g. Part II)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0461" y="108666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673536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2"/>
                </a:solidFill>
              </a:rPr>
              <a:t>Logistic Regression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2482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41340" y="240631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4033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Stewart School of Industrial and Systems Engineering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6E190C2-0E36-4D4C-A5A3-F625A3B1E106}"/>
              </a:ext>
            </a:extLst>
          </p:cNvPr>
          <p:cNvSpPr>
            <a:spLocks noGrp="1"/>
          </p:cNvSpPr>
          <p:nvPr/>
        </p:nvSpPr>
        <p:spPr>
          <a:xfrm>
            <a:off x="117957" y="4102100"/>
            <a:ext cx="3027916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Statistical Inference: Data 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>
            <a:fillRect/>
          </a:stretch>
        </p:blipFill>
        <p:spPr>
          <a:xfrm>
            <a:off x="3441090" y="1085849"/>
            <a:ext cx="2440322" cy="3088911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5FE4467-4468-4543-828C-04337E75C594}"/>
              </a:ext>
            </a:extLst>
          </p:cNvPr>
          <p:cNvSpPr txBox="1">
            <a:spLocks/>
          </p:cNvSpPr>
          <p:nvPr/>
        </p:nvSpPr>
        <p:spPr>
          <a:xfrm>
            <a:off x="147119" y="120499"/>
            <a:ext cx="4727575" cy="731706"/>
          </a:xfr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580999"/>
          </a:xfrm>
        </p:spPr>
        <p:txBody>
          <a:bodyPr/>
          <a:lstStyle/>
          <a:p>
            <a:pPr algn="l"/>
            <a:r>
              <a:rPr lang="en-US" altLang="en-US" sz="3600" dirty="0">
                <a:latin typeface="Vitesse"/>
                <a:sym typeface="+mn-ea"/>
              </a:rPr>
              <a:t>Data Example: Smoking</a:t>
            </a:r>
            <a:br>
              <a:rPr lang="en-US" sz="3600" dirty="0">
                <a:latin typeface="Vitesse"/>
              </a:rPr>
            </a:br>
            <a:endParaRPr lang="en-US" sz="3600" dirty="0">
              <a:latin typeface="Vitesse"/>
            </a:endParaRPr>
          </a:p>
        </p:txBody>
      </p:sp>
      <p:sp>
        <p:nvSpPr>
          <p:cNvPr id="90115" name="TextBox 2"/>
          <p:cNvSpPr txBox="1">
            <a:spLocks noChangeArrowheads="1"/>
          </p:cNvSpPr>
          <p:nvPr/>
        </p:nvSpPr>
        <p:spPr bwMode="auto">
          <a:xfrm>
            <a:off x="119917" y="784579"/>
            <a:ext cx="8033411" cy="2338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Between 1972 and 1974, a survey was taken in Whickham, a mixed urban and rural district near Newcastle upon Tyne, United Kingdom. </a:t>
            </a:r>
          </a:p>
          <a:p>
            <a:pPr marL="687388" lvl="1" indent="-344488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Among the information obtained originally was whether a person was a smoker or not.</a:t>
            </a:r>
          </a:p>
          <a:p>
            <a:pPr marL="344488" indent="-344488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Twenty years later a follow-up study was conducted.</a:t>
            </a:r>
          </a:p>
          <a:p>
            <a:pPr marL="687388" lvl="1" indent="-344488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76.12% of the 582 smokers were still alive, while only 68.58% of 732 nonsmokers were still alive.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34891" y="3384521"/>
            <a:ext cx="5759750" cy="646331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Smokers had a higher survival rate than nonsmokers! </a:t>
            </a:r>
          </a:p>
          <a:p>
            <a:pPr algn="ctr"/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Call Philip Morris, smoking leads to a longer life span! </a:t>
            </a:r>
          </a:p>
        </p:txBody>
      </p:sp>
      <p:sp>
        <p:nvSpPr>
          <p:cNvPr id="3" name="TextBox 2"/>
          <p:cNvSpPr txBox="1"/>
          <p:nvPr/>
        </p:nvSpPr>
        <p:spPr>
          <a:xfrm flipH="1">
            <a:off x="238434" y="4655521"/>
            <a:ext cx="8033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u="sng" dirty="0">
                <a:latin typeface="Helvetica" panose="020B0604020202020204" pitchFamily="34" charset="0"/>
                <a:cs typeface="Helvetica" panose="020B0604020202020204" pitchFamily="34" charset="0"/>
              </a:rPr>
              <a:t>Acknowledgement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: This example was provided by Dr. Jeffrey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Simonoff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from New York University.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3">
            <a:extLst>
              <a:ext uri="{FF2B5EF4-FFF2-40B4-BE49-F238E27FC236}">
                <a16:creationId xmlns:a16="http://schemas.microsoft.com/office/drawing/2014/main" id="{8CDFF250-FBBA-46EE-9ABF-FBB5A1967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534" y="838458"/>
            <a:ext cx="8122394" cy="31085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Fit a logistic regression model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smoke1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glm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(Survived/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~ Smoker, weights=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family=binomial)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summary(smoke1)</a:t>
            </a: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Coefficients: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            		Estimate 	Std. Error 	z value 	</a:t>
            </a:r>
            <a:r>
              <a:rPr lang="en-US" sz="1400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</a:t>
            </a: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(&gt;|z|)    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(Intercept)   	0.78052    	0.07962   	9.803  	&lt; 2e-16 ***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Smoker       	0.37858    	0.12566   	3.013  	0.00259 ** </a:t>
            </a: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     Null deviance: 641.5  on 13  degrees of freedom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Residual deviance: 632.3  on 12  degrees of freedom</a:t>
            </a: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1 -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pchisq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(smoke1$null.deviance-smoke1$deviance, 1)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[1] 0.002419817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2425" y="4007745"/>
                <a:ext cx="7200222" cy="957313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lIns="91440" tIns="91440" rIns="91440" bIns="91440" rtlCol="0">
                <a:spAutoFit/>
              </a:bodyPr>
              <a:lstStyle/>
              <a:p>
                <a:r>
                  <a:rPr lang="en-US" alt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Test for significance:</a:t>
                </a:r>
                <a:r>
                  <a:rPr lang="en-US" alt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𝑠𝑚𝑜𝑘𝑒𝑟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P-value = </a:t>
                </a:r>
                <a:r>
                  <a:rPr lang="en-US" alt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0.0025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, thus statistically significant</a:t>
                </a:r>
              </a:p>
              <a:p>
                <a:r>
                  <a:rPr lang="en-US" alt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Test for overall regression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Null deviance - Residual Deviance =  9.2</a:t>
                </a:r>
              </a:p>
              <a:p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P-value = </a:t>
                </a:r>
                <a:r>
                  <a:rPr lang="en-US" altLang="en-US" sz="1600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Pr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&gt;9.2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) = </a:t>
                </a:r>
                <a:r>
                  <a:rPr lang="en-US" alt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0.0024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25" y="4007745"/>
                <a:ext cx="7200222" cy="957313"/>
              </a:xfrm>
              <a:prstGeom prst="rect">
                <a:avLst/>
              </a:prstGeom>
              <a:blipFill>
                <a:blip r:embed="rId3"/>
                <a:stretch>
                  <a:fillRect l="-338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/>
          <p:cNvSpPr/>
          <p:nvPr/>
        </p:nvSpPr>
        <p:spPr>
          <a:xfrm>
            <a:off x="4341382" y="2347531"/>
            <a:ext cx="903284" cy="280657"/>
          </a:xfrm>
          <a:prstGeom prst="ellipse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203782" y="3614989"/>
            <a:ext cx="1441450" cy="298456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993160" y="4034237"/>
            <a:ext cx="788634" cy="338874"/>
          </a:xfrm>
          <a:prstGeom prst="ellipse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524977" y="4550019"/>
            <a:ext cx="755118" cy="291659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6B499479-473F-4494-B266-6C6F2F71A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36" y="106899"/>
            <a:ext cx="8562392" cy="630892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Data Example in R</a:t>
            </a:r>
            <a:endParaRPr lang="en-US" sz="3600" dirty="0">
              <a:latin typeface="Vitess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13" grpId="0" animBg="1"/>
      <p:bldP spid="14" grpId="0" animBg="1"/>
      <p:bldP spid="14" grpId="1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43291" y="829841"/>
            <a:ext cx="8792063" cy="26765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Fit a logistic regression model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smoke2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glm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(Survived/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~ Smoker + Age, weights=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family=binomial)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summary(smoke2)</a:t>
            </a:r>
          </a:p>
          <a:p>
            <a:pPr>
              <a:defRPr/>
            </a:pPr>
            <a:endParaRPr lang="en-US" sz="1400" dirty="0">
              <a:solidFill>
                <a:schemeClr val="accent1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Coefficients: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             		Estimate 	Std. Error 	z value 	</a:t>
            </a:r>
            <a:r>
              <a:rPr lang="en-US" sz="1400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</a:t>
            </a: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(&gt;|z|)    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(Intercept)   	7.785001   	0.454999  	17.110   	&lt;2e-16 ***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Smoker       	-0.240831  	0.167885  	-1.435    	0.151    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Age          		-0.127419  	0.007397 	-17.227   	&lt;2e-16 ***</a:t>
            </a: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     Null deviance: 641.496  on 13  degrees of freedom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Residual deviance:  43.459  on 11  degrees of freedom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37947" y="3648755"/>
                <a:ext cx="6993363" cy="604781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Test for significance:</a:t>
                </a:r>
                <a:r>
                  <a:rPr lang="en-US" alt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𝑠𝑚𝑜𝑘𝑒𝑟</m:t>
                        </m:r>
                      </m:sub>
                    </m:sSub>
                    <m:r>
                      <a:rPr lang="en-US" altLang="en-US" sz="16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P-value = </a:t>
                </a:r>
                <a:r>
                  <a:rPr lang="en-US" alt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0.151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, </a:t>
                </a:r>
                <a:r>
                  <a:rPr lang="en-US" altLang="en-US" sz="1600" u="sng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not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statistically significant</a:t>
                </a:r>
              </a:p>
              <a:p>
                <a:r>
                  <a:rPr lang="en-US" alt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Test for significance:</a:t>
                </a:r>
                <a:r>
                  <a:rPr lang="en-US" alt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𝑎𝑔𝑒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P-value</a:t>
                </a:r>
                <a:r>
                  <a:rPr lang="en-US" sz="1600" b="1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0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, statistically significant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47" y="3648755"/>
                <a:ext cx="6993363" cy="604781"/>
              </a:xfrm>
              <a:prstGeom prst="rect">
                <a:avLst/>
              </a:prstGeom>
              <a:blipFill>
                <a:blip r:embed="rId3"/>
                <a:stretch>
                  <a:fillRect l="-348" t="-1961" b="-6863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06899"/>
            <a:ext cx="8562392" cy="670076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Data Example in R (cont’d)</a:t>
            </a:r>
            <a:endParaRPr lang="en-US" sz="3600" dirty="0">
              <a:latin typeface="Vitesse"/>
            </a:endParaRPr>
          </a:p>
        </p:txBody>
      </p:sp>
      <p:sp>
        <p:nvSpPr>
          <p:cNvPr id="3" name="Oval 2"/>
          <p:cNvSpPr/>
          <p:nvPr/>
        </p:nvSpPr>
        <p:spPr>
          <a:xfrm>
            <a:off x="3984443" y="3695634"/>
            <a:ext cx="666749" cy="256530"/>
          </a:xfrm>
          <a:prstGeom prst="ellipse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270826" y="2329080"/>
            <a:ext cx="619125" cy="259448"/>
          </a:xfrm>
          <a:prstGeom prst="ellipse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560659" y="3933595"/>
            <a:ext cx="436563" cy="256530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270826" y="2586302"/>
            <a:ext cx="962069" cy="245283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0" grpId="0" animBg="1"/>
      <p:bldP spid="10" grpId="1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42405" y="111125"/>
            <a:ext cx="4727575" cy="6985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>
            <a:fillRect/>
          </a:stretch>
        </p:blipFill>
        <p:spPr>
          <a:xfrm>
            <a:off x="3103133" y="1085850"/>
            <a:ext cx="2728044" cy="29818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432</Words>
  <Application>Microsoft Office PowerPoint</Application>
  <PresentationFormat>On-screen Show (16:9)</PresentationFormat>
  <Paragraphs>54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Calibri</vt:lpstr>
      <vt:lpstr>Cambria Math</vt:lpstr>
      <vt:lpstr>Helvetica</vt:lpstr>
      <vt:lpstr>Helvetica Neue</vt:lpstr>
      <vt:lpstr>Vitesse</vt:lpstr>
      <vt:lpstr>Vitesse Bold</vt:lpstr>
      <vt:lpstr>Vitesse Medium</vt:lpstr>
      <vt:lpstr>2_Half Page Slash</vt:lpstr>
      <vt:lpstr>Full Page Layout</vt:lpstr>
      <vt:lpstr>PowerPoint Presentation</vt:lpstr>
      <vt:lpstr>PowerPoint Presentation</vt:lpstr>
      <vt:lpstr>Data Example: Smoking </vt:lpstr>
      <vt:lpstr>Data Example in R</vt:lpstr>
      <vt:lpstr>Data Example in R (cont’d)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Nicoleta Serban</cp:lastModifiedBy>
  <cp:revision>457</cp:revision>
  <dcterms:created xsi:type="dcterms:W3CDTF">2020-03-30T17:38:00Z</dcterms:created>
  <dcterms:modified xsi:type="dcterms:W3CDTF">2020-05-12T01:54:35Z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KSOProductBuildVer">
    <vt:lpwstr>1033-11.2.0.8970</vt:lpwstr>
  </property>
</Properties>
</file>