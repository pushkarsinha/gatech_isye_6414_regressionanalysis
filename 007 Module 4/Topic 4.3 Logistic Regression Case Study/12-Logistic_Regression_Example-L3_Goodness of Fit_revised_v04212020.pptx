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7" r:id="rId2"/>
    <p:sldMasterId id="2147483662" r:id="rId3"/>
  </p:sldMasterIdLst>
  <p:notesMasterIdLst>
    <p:notesMasterId r:id="rId14"/>
  </p:notesMasterIdLst>
  <p:handoutMasterIdLst>
    <p:handoutMasterId r:id="rId15"/>
  </p:handoutMasterIdLst>
  <p:sldIdLst>
    <p:sldId id="434" r:id="rId4"/>
    <p:sldId id="535" r:id="rId5"/>
    <p:sldId id="474" r:id="rId6"/>
    <p:sldId id="529" r:id="rId7"/>
    <p:sldId id="510" r:id="rId8"/>
    <p:sldId id="494" r:id="rId9"/>
    <p:sldId id="525" r:id="rId10"/>
    <p:sldId id="512" r:id="rId11"/>
    <p:sldId id="528" r:id="rId12"/>
    <p:sldId id="537" r:id="rId1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C567BE6-4E2E-2A45-BD72-59F9659A3211}">
          <p14:sldIdLst>
            <p14:sldId id="434"/>
            <p14:sldId id="535"/>
            <p14:sldId id="474"/>
            <p14:sldId id="529"/>
            <p14:sldId id="510"/>
            <p14:sldId id="494"/>
            <p14:sldId id="525"/>
            <p14:sldId id="512"/>
            <p14:sldId id="528"/>
            <p14:sldId id="537"/>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guide id="3" pos="144" userDrawn="1">
          <p15:clr>
            <a:srgbClr val="A4A3A4"/>
          </p15:clr>
        </p15:guide>
        <p15:guide id="4" pos="336" userDrawn="1">
          <p15:clr>
            <a:srgbClr val="A4A3A4"/>
          </p15:clr>
        </p15:guide>
        <p15:guide id="5" pos="3456" userDrawn="1">
          <p15:clr>
            <a:srgbClr val="A4A3A4"/>
          </p15:clr>
        </p15:guide>
        <p15:guide id="6" pos="5664" userDrawn="1">
          <p15:clr>
            <a:srgbClr val="A4A3A4"/>
          </p15:clr>
        </p15:guide>
        <p15:guide id="7" orient="horz" pos="372" userDrawn="1">
          <p15:clr>
            <a:srgbClr val="A4A3A4"/>
          </p15:clr>
        </p15:guide>
        <p15:guide id="8" orient="horz" pos="684" userDrawn="1">
          <p15:clr>
            <a:srgbClr val="A4A3A4"/>
          </p15:clr>
        </p15:guide>
        <p15:guide id="9" orient="horz" pos="3084"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igueroa, Shabana" initials="FS" lastIdx="16" clrIdx="0"/>
  <p:cmAuthor id="2" name="zwen42@gatech.com" initials="z" lastIdx="1" clrIdx="1"/>
  <p:cmAuthor id="3" name="Serban, Nicoleta" initials="SN" lastIdx="11" clrIdx="2"/>
  <p:cmAuthor id="4" name="Hu, Rui" initials="HR" lastIdx="1"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EB211"/>
    <a:srgbClr val="993200"/>
    <a:srgbClr val="FFFFFF"/>
    <a:srgbClr val="1F497D"/>
    <a:srgbClr val="8E4221"/>
    <a:srgbClr val="F8FFF1"/>
    <a:srgbClr val="000000"/>
    <a:srgbClr val="F7FFEE"/>
    <a:srgbClr val="F5FCEA"/>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566" autoAdjust="0"/>
    <p:restoredTop sz="94240" autoAdjust="0"/>
  </p:normalViewPr>
  <p:slideViewPr>
    <p:cSldViewPr snapToGrid="0">
      <p:cViewPr varScale="1">
        <p:scale>
          <a:sx n="85" d="100"/>
          <a:sy n="85" d="100"/>
        </p:scale>
        <p:origin x="324" y="40"/>
      </p:cViewPr>
      <p:guideLst>
        <p:guide orient="horz" pos="1620"/>
        <p:guide pos="2880"/>
        <p:guide pos="144"/>
        <p:guide pos="336"/>
        <p:guide pos="3456"/>
        <p:guide pos="5664"/>
        <p:guide orient="horz" pos="372"/>
        <p:guide orient="horz" pos="684"/>
        <p:guide orient="horz" pos="308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handoutMaster" Target="handoutMasters/handoutMaster1.xml"/><Relationship Id="rId10" Type="http://schemas.openxmlformats.org/officeDocument/2006/relationships/slide" Target="slides/slide7.xml"/><Relationship Id="rId1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9DFD447-ACB1-BC49-B8EF-23729E0A333F}" type="datetimeFigureOut">
              <a:rPr lang="en-US" smtClean="0"/>
              <a:t>4/21/2020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9EF598F-7A46-204A-ADDD-A1229C86B248}"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738FA-185A-CF4F-BD02-7990310E47F3}" type="datetimeFigureOut">
              <a:rPr lang="en-US" smtClean="0"/>
              <a:t>4/21/2020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3F7A93-C87A-E149-BF89-5D793380F19A}"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13F7A93-C87A-E149-BF89-5D793380F19A}"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 do note that the model still only fits moderately well, even after including the quadratic term in age. One possible reason for this is that the relationship with age, while being nonlinear (in terms of the logit), is not quadratic. We can investigate that possibility by entering age into</a:t>
            </a:r>
          </a:p>
          <a:p>
            <a:r>
              <a:rPr lang="en-US" sz="1200" b="0" i="0" u="none" strike="noStrike" kern="1200" baseline="0" dirty="0">
                <a:solidFill>
                  <a:schemeClr val="tx1"/>
                </a:solidFill>
                <a:latin typeface="+mn-lt"/>
                <a:ea typeface="+mn-ea"/>
                <a:cs typeface="+mn-cs"/>
              </a:rPr>
              <a:t>the model as a categorical (factor) variable, rather than as a numerical one; this allows for any relationship with age.</a:t>
            </a:r>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mn-lt"/>
                <a:ea typeface="+mn-ea"/>
                <a:cs typeface="+mn-cs"/>
              </a:rPr>
              <a:t>We do note that the model still only fits moderately well, even after including the quadratic term in age. One possible reason for this is that the relationship with age, while being nonlinear (in terms of the logit), is not quadratic. We can investigate that possibility by entering age into</a:t>
            </a:r>
          </a:p>
          <a:p>
            <a:r>
              <a:rPr lang="en-US" sz="1200" b="0" i="0" u="none" strike="noStrike" kern="1200" baseline="0" dirty="0">
                <a:solidFill>
                  <a:schemeClr val="tx1"/>
                </a:solidFill>
                <a:latin typeface="+mn-lt"/>
                <a:ea typeface="+mn-ea"/>
                <a:cs typeface="+mn-cs"/>
              </a:rPr>
              <a:t>the model as a categorical (factor) variable, rather than as a numerical one; this allows for any relationship with age.</a:t>
            </a:r>
            <a:endParaRPr lang="en-US" dirty="0"/>
          </a:p>
        </p:txBody>
      </p:sp>
      <p:sp>
        <p:nvSpPr>
          <p:cNvPr id="4" name="Slide Number Placeholder 3"/>
          <p:cNvSpPr>
            <a:spLocks noGrp="1"/>
          </p:cNvSpPr>
          <p:nvPr>
            <p:ph type="sldNum" sz="quarter" idx="10"/>
          </p:nvPr>
        </p:nvSpPr>
        <p:spPr/>
        <p:txBody>
          <a:bodyPr/>
          <a:lstStyle/>
          <a:p>
            <a:fld id="{B13F7A93-C87A-E149-BF89-5D793380F19A}" type="slidenum">
              <a:rPr lang="en-US" smtClean="0"/>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4630" indent="-214630">
              <a:buFont typeface="Arial" panose="020B0604020202020204"/>
              <a:buChar char="•"/>
            </a:pPr>
            <a:r>
              <a:rPr lang="en-US" sz="900" dirty="0">
                <a:latin typeface="Helvetica" charset="0"/>
                <a:ea typeface="Helvetica" charset="0"/>
                <a:cs typeface="Helvetica" charset="0"/>
              </a:rPr>
              <a:t>Given all other predictors in the model, the duration of the movie and the total budget for production of the movie are not statistically significantly associated to the IMDb rating;</a:t>
            </a:r>
          </a:p>
          <a:p>
            <a:pPr marL="214630" indent="-214630">
              <a:buFont typeface="Arial" panose="020B0604020202020204"/>
              <a:buChar char="•"/>
            </a:pPr>
            <a:r>
              <a:rPr lang="en-US" sz="900" dirty="0">
                <a:latin typeface="Helvetica" charset="0"/>
                <a:ea typeface="Helvetica" charset="0"/>
                <a:cs typeface="Helvetica" charset="0"/>
              </a:rPr>
              <a:t>Given all other predictors in the model, each additional 10,000 votes results in an increase of 2.67 in IMDb score. That is, popular movies tend to be voted on more often;</a:t>
            </a:r>
          </a:p>
          <a:p>
            <a:pPr marL="214630" indent="-214630">
              <a:buFont typeface="Arial" panose="020B0604020202020204"/>
              <a:buChar char="•"/>
            </a:pPr>
            <a:r>
              <a:rPr lang="en-US" sz="900" dirty="0">
                <a:latin typeface="Helvetica" charset="0"/>
                <a:ea typeface="Helvetica" charset="0"/>
                <a:cs typeface="Helvetica" charset="0"/>
              </a:rPr>
              <a:t>Given all other predictors in the model, movies released in 2013 are rated 4.696 points higher than movies produced in 2010. Similarly, movies released in 2014 are rated 7.212 points higher than those released in 2010. Other years show no statistically significant difference from 2010.  This seems to indicate a </a:t>
            </a:r>
            <a:r>
              <a:rPr lang="en-US" sz="900" dirty="0" err="1">
                <a:latin typeface="Helvetica" charset="0"/>
                <a:ea typeface="Helvetica" charset="0"/>
                <a:cs typeface="Helvetica" charset="0"/>
              </a:rPr>
              <a:t>recency</a:t>
            </a:r>
            <a:r>
              <a:rPr lang="en-US" sz="900" dirty="0">
                <a:latin typeface="Helvetica" charset="0"/>
                <a:ea typeface="Helvetica" charset="0"/>
                <a:cs typeface="Helvetica" charset="0"/>
              </a:rPr>
              <a:t> bias in how movies are rated on IMDb;</a:t>
            </a:r>
          </a:p>
          <a:p>
            <a:pPr marL="214630" indent="-214630">
              <a:buFont typeface="Arial" panose="020B0604020202020204"/>
              <a:buChar char="•"/>
            </a:pPr>
            <a:r>
              <a:rPr lang="en-US" sz="900">
                <a:latin typeface="Helvetica" charset="0"/>
                <a:ea typeface="Helvetica" charset="0"/>
                <a:cs typeface="Helvetica" charset="0"/>
              </a:rPr>
              <a:t>The predictors in the model explain close to 76% of the variability in IMDb scores.</a:t>
            </a:r>
          </a:p>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8</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14630" indent="-214630">
              <a:buFont typeface="Arial" panose="020B0604020202020204"/>
              <a:buChar char="•"/>
            </a:pPr>
            <a:r>
              <a:rPr lang="en-US" sz="900" dirty="0">
                <a:latin typeface="Helvetica" charset="0"/>
                <a:ea typeface="Helvetica" charset="0"/>
                <a:cs typeface="Helvetica" charset="0"/>
              </a:rPr>
              <a:t>Given all other predictors in the model, the duration of the movie and the total budget for production of the movie are not statistically significantly associated to the IMDb rating;</a:t>
            </a:r>
          </a:p>
          <a:p>
            <a:pPr marL="214630" indent="-214630">
              <a:buFont typeface="Arial" panose="020B0604020202020204"/>
              <a:buChar char="•"/>
            </a:pPr>
            <a:r>
              <a:rPr lang="en-US" sz="900" dirty="0">
                <a:latin typeface="Helvetica" charset="0"/>
                <a:ea typeface="Helvetica" charset="0"/>
                <a:cs typeface="Helvetica" charset="0"/>
              </a:rPr>
              <a:t>Given all other predictors in the model, each additional 10,000 votes results in an increase of 2.67 in IMDb score. That is, popular movies tend to be voted on more often;</a:t>
            </a:r>
          </a:p>
          <a:p>
            <a:pPr marL="214630" indent="-214630">
              <a:buFont typeface="Arial" panose="020B0604020202020204"/>
              <a:buChar char="•"/>
            </a:pPr>
            <a:r>
              <a:rPr lang="en-US" sz="900" dirty="0">
                <a:latin typeface="Helvetica" charset="0"/>
                <a:ea typeface="Helvetica" charset="0"/>
                <a:cs typeface="Helvetica" charset="0"/>
              </a:rPr>
              <a:t>Given all other predictors in the model, movies released in 2013 are rated 4.696 points higher than movies produced in 2010. Similarly, movies released in 2014 are rated 7.212 points higher than those released in 2010. Other years show no statistically significant difference from 2010.  This seems to indicate a </a:t>
            </a:r>
            <a:r>
              <a:rPr lang="en-US" sz="900" dirty="0" err="1">
                <a:latin typeface="Helvetica" charset="0"/>
                <a:ea typeface="Helvetica" charset="0"/>
                <a:cs typeface="Helvetica" charset="0"/>
              </a:rPr>
              <a:t>recency</a:t>
            </a:r>
            <a:r>
              <a:rPr lang="en-US" sz="900" dirty="0">
                <a:latin typeface="Helvetica" charset="0"/>
                <a:ea typeface="Helvetica" charset="0"/>
                <a:cs typeface="Helvetica" charset="0"/>
              </a:rPr>
              <a:t> bias in how movies are rated on IMDb;</a:t>
            </a:r>
          </a:p>
          <a:p>
            <a:pPr marL="214630" indent="-214630">
              <a:buFont typeface="Arial" panose="020B0604020202020204"/>
              <a:buChar char="•"/>
            </a:pPr>
            <a:r>
              <a:rPr lang="en-US" sz="900">
                <a:latin typeface="Helvetica" charset="0"/>
                <a:ea typeface="Helvetica" charset="0"/>
                <a:cs typeface="Helvetica" charset="0"/>
              </a:rPr>
              <a:t>The predictors in the model explain close to 76% of the variability in IMDb scores.</a:t>
            </a:r>
          </a:p>
          <a:p>
            <a:endParaRPr lang="en-US" dirty="0"/>
          </a:p>
        </p:txBody>
      </p:sp>
      <p:sp>
        <p:nvSpPr>
          <p:cNvPr id="4" name="Slide Number Placeholder 3"/>
          <p:cNvSpPr>
            <a:spLocks noGrp="1"/>
          </p:cNvSpPr>
          <p:nvPr>
            <p:ph type="sldNum" sz="quarter" idx="10"/>
          </p:nvPr>
        </p:nvSpPr>
        <p:spPr/>
        <p:txBody>
          <a:bodyPr/>
          <a:lstStyle/>
          <a:p>
            <a:fld id="{99BE3481-38DB-434B-B170-CFE83842A57C}" type="slidenum">
              <a:rPr lang="en-US" smtClean="0"/>
              <a:t>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Full Page Title">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47650" y="274639"/>
            <a:ext cx="8595313" cy="712848"/>
          </a:xfrm>
          <a:prstGeom prst="rect">
            <a:avLst/>
          </a:prstGeom>
        </p:spPr>
        <p:txBody>
          <a:bodyPr/>
          <a:lstStyle>
            <a:lvl1pPr algn="l">
              <a:defRPr lang="en-US" sz="4000" b="0" i="0" kern="1200" dirty="0">
                <a:solidFill>
                  <a:schemeClr val="tx1"/>
                </a:solidFill>
                <a:latin typeface="Vitesse Bold"/>
                <a:ea typeface="Vitesse" charset="0"/>
                <a:cs typeface="Vitesse Bold"/>
              </a:defRPr>
            </a:lvl1pPr>
          </a:lstStyle>
          <a:p>
            <a:r>
              <a:rPr lang="en-US" dirty="0"/>
              <a:t>Course title</a:t>
            </a:r>
          </a:p>
        </p:txBody>
      </p:sp>
      <p:sp>
        <p:nvSpPr>
          <p:cNvPr id="10" name="Text Placeholder 5"/>
          <p:cNvSpPr>
            <a:spLocks noGrp="1"/>
          </p:cNvSpPr>
          <p:nvPr>
            <p:ph type="body" sz="quarter" idx="10" hasCustomPrompt="1"/>
          </p:nvPr>
        </p:nvSpPr>
        <p:spPr>
          <a:xfrm>
            <a:off x="266461" y="796333"/>
            <a:ext cx="8576502" cy="542236"/>
          </a:xfrm>
          <a:prstGeom prst="rect">
            <a:avLst/>
          </a:prstGeom>
        </p:spPr>
        <p:txBody>
          <a:bodyPr/>
          <a:lstStyle>
            <a:lvl1pPr marL="0" indent="0">
              <a:buNone/>
              <a:defRPr lang="en-US" sz="3000" b="0" i="0" kern="1200" dirty="0">
                <a:solidFill>
                  <a:schemeClr val="tx2"/>
                </a:solidFill>
                <a:latin typeface="Vitesse Medium" charset="0"/>
                <a:ea typeface="Vitesse Medium" charset="0"/>
                <a:cs typeface="Vitesse Medium" charset="0"/>
              </a:defRPr>
            </a:lvl1pPr>
          </a:lstStyle>
          <a:p>
            <a:pPr lvl="0"/>
            <a:r>
              <a:rPr lang="en-US" dirty="0"/>
              <a:t>Module Name</a:t>
            </a:r>
          </a:p>
        </p:txBody>
      </p:sp>
      <p:sp>
        <p:nvSpPr>
          <p:cNvPr id="11" name="Text Placeholder 5"/>
          <p:cNvSpPr>
            <a:spLocks noGrp="1"/>
          </p:cNvSpPr>
          <p:nvPr>
            <p:ph type="body" sz="quarter" idx="11"/>
          </p:nvPr>
        </p:nvSpPr>
        <p:spPr>
          <a:xfrm>
            <a:off x="247648" y="2292985"/>
            <a:ext cx="8595315" cy="432669"/>
          </a:xfrm>
          <a:prstGeom prst="rect">
            <a:avLst/>
          </a:prstGeom>
        </p:spPr>
        <p:txBody>
          <a:bodyPr anchor="ctr"/>
          <a:lstStyle>
            <a:lvl1pPr marL="0" indent="0" algn="l" defTabSz="457200" rtl="0" eaLnBrk="1" latinLnBrk="0" hangingPunct="1">
              <a:lnSpc>
                <a:spcPts val="1400"/>
              </a:lnSpc>
              <a:spcBef>
                <a:spcPct val="20000"/>
              </a:spcBef>
              <a:buFont typeface="Arial" panose="020B0604020202020204"/>
              <a:buNone/>
              <a:defRPr lang="en-US" sz="2400" b="1" kern="1200" baseline="0" dirty="0">
                <a:solidFill>
                  <a:srgbClr val="EEB211"/>
                </a:solidFill>
                <a:latin typeface="Helvetica" charset="0"/>
                <a:ea typeface="Helvetica" charset="0"/>
                <a:cs typeface="Helvetica" charset="0"/>
              </a:defRPr>
            </a:lvl1pPr>
          </a:lstStyle>
          <a:p>
            <a:pPr lvl="0"/>
            <a:r>
              <a:rPr lang="en-US"/>
              <a:t>Click to edit Master text styles</a:t>
            </a:r>
          </a:p>
          <a:p>
            <a:pPr lvl="1"/>
            <a:r>
              <a:rPr lang="en-US"/>
              <a:t>Second level</a:t>
            </a:r>
          </a:p>
        </p:txBody>
      </p:sp>
      <p:sp>
        <p:nvSpPr>
          <p:cNvPr id="12" name="Text Placeholder 5"/>
          <p:cNvSpPr>
            <a:spLocks noGrp="1"/>
          </p:cNvSpPr>
          <p:nvPr>
            <p:ph type="body" sz="quarter" idx="12" hasCustomPrompt="1"/>
          </p:nvPr>
        </p:nvSpPr>
        <p:spPr>
          <a:xfrm>
            <a:off x="238241" y="2650975"/>
            <a:ext cx="8604722" cy="254281"/>
          </a:xfrm>
          <a:prstGeom prst="rect">
            <a:avLst/>
          </a:prstGeom>
        </p:spPr>
        <p:txBody>
          <a:bodyPr/>
          <a:lstStyle>
            <a:lvl1pPr marL="0" indent="0">
              <a:buNone/>
              <a:defRPr sz="1600" b="0" i="1" baseline="0">
                <a:latin typeface="Helvetica" charset="0"/>
                <a:ea typeface="Helvetica" charset="0"/>
                <a:cs typeface="Helvetica" charset="0"/>
              </a:defRPr>
            </a:lvl1pPr>
          </a:lstStyle>
          <a:p>
            <a:pPr lvl="0"/>
            <a:r>
              <a:rPr lang="en-US" dirty="0"/>
              <a:t>Title</a:t>
            </a:r>
          </a:p>
          <a:p>
            <a:pPr lvl="0"/>
            <a:endParaRPr lang="en-US" dirty="0"/>
          </a:p>
        </p:txBody>
      </p:sp>
      <p:sp>
        <p:nvSpPr>
          <p:cNvPr id="13" name="Text Placeholder 5"/>
          <p:cNvSpPr>
            <a:spLocks noGrp="1"/>
          </p:cNvSpPr>
          <p:nvPr>
            <p:ph type="body" sz="quarter" idx="13" hasCustomPrompt="1"/>
          </p:nvPr>
        </p:nvSpPr>
        <p:spPr>
          <a:xfrm>
            <a:off x="247647" y="4379683"/>
            <a:ext cx="8143760" cy="681037"/>
          </a:xfrm>
          <a:prstGeom prst="rect">
            <a:avLst/>
          </a:prstGeom>
        </p:spPr>
        <p:txBody>
          <a:bodyPr/>
          <a:lstStyle>
            <a:lvl1pPr marL="0" indent="0">
              <a:buNone/>
              <a:defRPr sz="1800" b="0" i="0" baseline="0">
                <a:solidFill>
                  <a:schemeClr val="tx2"/>
                </a:solidFill>
                <a:latin typeface="Helvetica" charset="0"/>
                <a:ea typeface="Helvetica" charset="0"/>
                <a:cs typeface="Helvetica" charset="0"/>
              </a:defRPr>
            </a:lvl1pPr>
          </a:lstStyle>
          <a:p>
            <a:pPr lvl="0"/>
            <a:r>
              <a:rPr lang="en-US" dirty="0"/>
              <a:t>Lesson name: e.g. R Examples</a:t>
            </a:r>
          </a:p>
          <a:p>
            <a:pPr lvl="0"/>
            <a:r>
              <a:rPr lang="en-US" dirty="0" err="1"/>
              <a:t>Subname</a:t>
            </a:r>
            <a:r>
              <a:rPr lang="en-US" dirty="0"/>
              <a:t> if applicable (e.g. Part II)</a:t>
            </a:r>
          </a:p>
          <a:p>
            <a:pPr lvl="0"/>
            <a:endParaRPr lang="en-US" dirty="0"/>
          </a:p>
        </p:txBody>
      </p:sp>
      <p:sp>
        <p:nvSpPr>
          <p:cNvPr id="14" name="Text Placeholder 5"/>
          <p:cNvSpPr>
            <a:spLocks noGrp="1"/>
          </p:cNvSpPr>
          <p:nvPr>
            <p:ph type="body" sz="quarter" idx="14" hasCustomPrompt="1"/>
          </p:nvPr>
        </p:nvSpPr>
        <p:spPr>
          <a:xfrm>
            <a:off x="247647" y="2896113"/>
            <a:ext cx="8595316" cy="322253"/>
          </a:xfrm>
          <a:prstGeom prst="rect">
            <a:avLst/>
          </a:prstGeom>
        </p:spPr>
        <p:txBody>
          <a:bodyPr/>
          <a:lstStyle>
            <a:lvl1pPr marL="0" indent="0">
              <a:buNone/>
              <a:defRPr sz="1200" b="0" i="0" baseline="0">
                <a:latin typeface="Helvetica" charset="0"/>
                <a:ea typeface="Helvetica" charset="0"/>
                <a:cs typeface="Helvetica" charset="0"/>
              </a:defRPr>
            </a:lvl1pPr>
          </a:lstStyle>
          <a:p>
            <a:pPr lvl="0"/>
            <a:r>
              <a:rPr lang="en-US" dirty="0"/>
              <a:t>School Name</a:t>
            </a:r>
          </a:p>
          <a:p>
            <a:pPr lvl="0"/>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ull Page Blank">
    <p:spTree>
      <p:nvGrpSpPr>
        <p:cNvPr id="1" name=""/>
        <p:cNvGrpSpPr/>
        <p:nvPr/>
      </p:nvGrpSpPr>
      <p:grpSpPr>
        <a:xfrm>
          <a:off x="0" y="0"/>
          <a:ext cx="0" cy="0"/>
          <a:chOff x="0" y="0"/>
          <a:chExt cx="0" cy="0"/>
        </a:xfrm>
      </p:grpSpPr>
      <p:sp>
        <p:nvSpPr>
          <p:cNvPr id="4" name="Title 1"/>
          <p:cNvSpPr>
            <a:spLocks noGrp="1"/>
          </p:cNvSpPr>
          <p:nvPr>
            <p:ph type="title"/>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600">
                <a:latin typeface="Helvetica" charset="0"/>
                <a:ea typeface="Helvetica" charset="0"/>
                <a:cs typeface="Helvetica" charset="0"/>
              </a:defRPr>
            </a:lvl3pPr>
            <a:lvl4pPr>
              <a:defRPr sz="1400">
                <a:latin typeface="Helvetica" charset="0"/>
                <a:ea typeface="Helvetica" charset="0"/>
                <a:cs typeface="Helvetica" charset="0"/>
              </a:defRPr>
            </a:lvl4pPr>
            <a:lvl5pPr>
              <a:defRPr sz="1200">
                <a:latin typeface="Helvetica" charset="0"/>
                <a:ea typeface="Helvetica" charset="0"/>
                <a:cs typeface="Helvetica"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itle 1"/>
          <p:cNvSpPr>
            <a:spLocks noGrp="1"/>
          </p:cNvSpPr>
          <p:nvPr>
            <p:ph type="title"/>
          </p:nvPr>
        </p:nvSpPr>
        <p:spPr>
          <a:xfrm>
            <a:off x="252349" y="274678"/>
            <a:ext cx="8280166"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panose="020B0604020202020204"/>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panose="020B0604020202020204"/>
              <a:buChar char="•"/>
            </a:pPr>
            <a:r>
              <a:rPr lang="en-US" sz="1800" dirty="0"/>
              <a:t>not only five centuries</a:t>
            </a:r>
          </a:p>
          <a:p>
            <a:pPr marL="285750" indent="-285750">
              <a:buFont typeface="Arial" panose="020B0604020202020204"/>
              <a:buChar char="•"/>
            </a:pPr>
            <a:r>
              <a:rPr lang="en-US" sz="1800" dirty="0"/>
              <a:t>but also the leap into electronic typesetting, </a:t>
            </a:r>
          </a:p>
          <a:p>
            <a:pPr marL="285750" indent="-285750">
              <a:buFont typeface="Arial" panose="020B0604020202020204"/>
              <a:buChar char="•"/>
            </a:pPr>
            <a:r>
              <a:rPr lang="en-US" sz="1800" dirty="0"/>
              <a:t>remaining essentially unchanged. </a:t>
            </a:r>
          </a:p>
        </p:txBody>
      </p:sp>
      <p:sp>
        <p:nvSpPr>
          <p:cNvPr id="5" name="Title 1"/>
          <p:cNvSpPr>
            <a:spLocks noGrp="1"/>
          </p:cNvSpPr>
          <p:nvPr>
            <p:ph type="title"/>
          </p:nvPr>
        </p:nvSpPr>
        <p:spPr>
          <a:xfrm>
            <a:off x="252348" y="274678"/>
            <a:ext cx="8449503"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panose="020B0604020202020204"/>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panose="020B0604020202020204"/>
              <a:buChar char="•"/>
            </a:pPr>
            <a:r>
              <a:rPr lang="en-US" sz="1800" dirty="0"/>
              <a:t>not only five centuries</a:t>
            </a:r>
          </a:p>
          <a:p>
            <a:pPr marL="285750" indent="-285750">
              <a:buFont typeface="Arial" panose="020B0604020202020204"/>
              <a:buChar char="•"/>
            </a:pPr>
            <a:r>
              <a:rPr lang="en-US" sz="1800" dirty="0"/>
              <a:t>but also the leap into electronic typesetting, </a:t>
            </a:r>
          </a:p>
          <a:p>
            <a:pPr marL="285750" indent="-285750">
              <a:buFont typeface="Arial" panose="020B0604020202020204"/>
              <a:buChar char="•"/>
            </a:pPr>
            <a:r>
              <a:rPr lang="en-US" sz="1800" dirty="0"/>
              <a:t>remaining essentially unchanged. </a:t>
            </a:r>
          </a:p>
        </p:txBody>
      </p:sp>
      <p:sp>
        <p:nvSpPr>
          <p:cNvPr id="6" name="Chart Placeholder 3"/>
          <p:cNvSpPr>
            <a:spLocks noGrp="1"/>
          </p:cNvSpPr>
          <p:nvPr>
            <p:ph type="chart" sz="quarter" idx="11" hasCustomPrompt="1"/>
          </p:nvPr>
        </p:nvSpPr>
        <p:spPr>
          <a:xfrm>
            <a:off x="3828815" y="1110075"/>
            <a:ext cx="4948296" cy="3612444"/>
          </a:xfrm>
          <a:prstGeom prst="rect">
            <a:avLst/>
          </a:prstGeom>
        </p:spPr>
        <p:txBody>
          <a:bodyPr/>
          <a:lstStyle>
            <a:lvl1pPr marL="0" indent="0">
              <a:buNone/>
              <a:defRPr/>
            </a:lvl1pPr>
          </a:lstStyle>
          <a:p>
            <a:r>
              <a:rPr lang="en-US"/>
              <a:t>Click icon to add chart</a:t>
            </a:r>
            <a:endParaRPr lang="en-US" dirty="0"/>
          </a:p>
        </p:txBody>
      </p:sp>
      <p:sp>
        <p:nvSpPr>
          <p:cNvPr id="10" name="Title 1"/>
          <p:cNvSpPr>
            <a:spLocks noGrp="1"/>
          </p:cNvSpPr>
          <p:nvPr>
            <p:ph type="title"/>
          </p:nvPr>
        </p:nvSpPr>
        <p:spPr>
          <a:xfrm>
            <a:off x="252348" y="274678"/>
            <a:ext cx="8186095"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hasCustomPrompt="1"/>
          </p:nvPr>
        </p:nvSpPr>
        <p:spPr>
          <a:xfrm>
            <a:off x="252349" y="1093392"/>
            <a:ext cx="8110832" cy="3739377"/>
          </a:xfrm>
          <a:prstGeom prst="rect">
            <a:avLst/>
          </a:prstGeom>
        </p:spPr>
        <p:txBody>
          <a:bodyPr/>
          <a:lstStyle>
            <a:lvl1pPr marL="0" indent="0">
              <a:buNone/>
              <a:defRPr/>
            </a:lvl1pPr>
          </a:lstStyle>
          <a:p>
            <a:r>
              <a:rPr lang="en-US"/>
              <a:t>Click icon to add chart</a:t>
            </a:r>
            <a:endParaRPr lang="en-US" dirty="0"/>
          </a:p>
        </p:txBody>
      </p:sp>
      <p:sp>
        <p:nvSpPr>
          <p:cNvPr id="5" name="Title 1"/>
          <p:cNvSpPr>
            <a:spLocks noGrp="1"/>
          </p:cNvSpPr>
          <p:nvPr>
            <p:ph type="title"/>
          </p:nvPr>
        </p:nvSpPr>
        <p:spPr>
          <a:xfrm>
            <a:off x="252348" y="274678"/>
            <a:ext cx="8186095"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a:t>Click to edit Master title style</a:t>
            </a:r>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a:prstGeom prst="rect">
            <a:avLst/>
          </a:prstGeom>
        </p:spPr>
        <p:txBody>
          <a:bodyPr/>
          <a:lstStyle>
            <a:lvl1pPr marL="0" indent="0">
              <a:buNone/>
              <a:defRPr/>
            </a:lvl1pPr>
          </a:lstStyle>
          <a:p>
            <a:pPr lvl="0"/>
            <a:r>
              <a:rPr lang="en-US"/>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p:cNvSpPr>
            <a:spLocks noGrp="1"/>
          </p:cNvSpPr>
          <p:nvPr>
            <p:ph type="title"/>
          </p:nvPr>
        </p:nvSpPr>
        <p:spPr>
          <a:xfrm>
            <a:off x="628651" y="274639"/>
            <a:ext cx="5520941" cy="993775"/>
          </a:xfrm>
          <a:prstGeom prst="rect">
            <a:avLst/>
          </a:prstGeom>
        </p:spPr>
        <p:txBody>
          <a:bodyPr/>
          <a:lstStyle>
            <a:lvl1pPr algn="l">
              <a:defRPr lang="en-US" sz="4400" kern="1200" dirty="0">
                <a:solidFill>
                  <a:schemeClr val="tx1"/>
                </a:solidFill>
                <a:latin typeface="Vitesse Bold"/>
                <a:ea typeface="+mj-ea"/>
                <a:cs typeface="Vitesse Bold"/>
              </a:defRPr>
            </a:lvl1pPr>
          </a:lstStyle>
          <a:p>
            <a:r>
              <a:rPr lang="en-US"/>
              <a:t>Click to edit Master title style</a:t>
            </a:r>
          </a:p>
        </p:txBody>
      </p:sp>
      <p:sp>
        <p:nvSpPr>
          <p:cNvPr id="6" name="Content Placeholder 5"/>
          <p:cNvSpPr>
            <a:spLocks noGrp="1"/>
          </p:cNvSpPr>
          <p:nvPr>
            <p:ph sz="quarter" idx="10"/>
          </p:nvPr>
        </p:nvSpPr>
        <p:spPr>
          <a:xfrm>
            <a:off x="628650" y="1436689"/>
            <a:ext cx="4375430" cy="2994025"/>
          </a:xfrm>
          <a:prstGeom prst="rect">
            <a:avLst/>
          </a:prstGeom>
        </p:spPr>
        <p:txBody>
          <a:bodyPr/>
          <a:lstStyle>
            <a:lvl1pPr>
              <a:defRPr>
                <a:latin typeface="Vitesse Book" charset="0"/>
                <a:ea typeface="Vitesse Book" charset="0"/>
                <a:cs typeface="Vitesse Book" charset="0"/>
              </a:defRPr>
            </a:lvl1pPr>
            <a:lvl2pPr>
              <a:defRPr>
                <a:latin typeface="Vitesse Book" charset="0"/>
                <a:ea typeface="Vitesse Book" charset="0"/>
                <a:cs typeface="Vitesse Book" charset="0"/>
              </a:defRPr>
            </a:lvl2pPr>
            <a:lvl3pPr>
              <a:defRPr>
                <a:latin typeface="Vitesse Book" charset="0"/>
                <a:ea typeface="Vitesse Book" charset="0"/>
                <a:cs typeface="Vitesse Book" charset="0"/>
              </a:defRPr>
            </a:lvl3pPr>
            <a:lvl4pPr>
              <a:defRPr>
                <a:latin typeface="Vitesse Book" charset="0"/>
                <a:ea typeface="Vitesse Book" charset="0"/>
                <a:cs typeface="Vitesse Book" charset="0"/>
              </a:defRPr>
            </a:lvl4pPr>
            <a:lvl5pPr>
              <a:defRPr>
                <a:latin typeface="Vitesse Book" charset="0"/>
                <a:ea typeface="Vitesse Book" charset="0"/>
                <a:cs typeface="Vitesse Book"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a:xfrm>
            <a:off x="266461" y="780732"/>
            <a:ext cx="5672951" cy="542236"/>
          </a:xfrm>
          <a:prstGeom prst="rect">
            <a:avLst/>
          </a:prstGeom>
        </p:spPr>
        <p:txBody>
          <a:bodyPr/>
          <a:lstStyle>
            <a:lvl1pPr marL="0" indent="0">
              <a:buNone/>
              <a:defRPr lang="en-US" sz="2400" b="0" i="0" kern="1200" dirty="0">
                <a:solidFill>
                  <a:schemeClr val="tx2"/>
                </a:solidFill>
                <a:latin typeface="Vitesse Medium" charset="0"/>
                <a:ea typeface="Vitesse Medium" charset="0"/>
                <a:cs typeface="Vitesse Medium" charset="0"/>
              </a:defRPr>
            </a:lvl1pPr>
          </a:lstStyle>
          <a:p>
            <a:pPr lvl="0"/>
            <a:r>
              <a:rPr lang="en-US" dirty="0"/>
              <a:t>Module Name</a:t>
            </a:r>
          </a:p>
        </p:txBody>
      </p:sp>
      <p:sp>
        <p:nvSpPr>
          <p:cNvPr id="9" name="Text Placeholder 5"/>
          <p:cNvSpPr>
            <a:spLocks noGrp="1"/>
          </p:cNvSpPr>
          <p:nvPr>
            <p:ph type="body" sz="quarter" idx="13" hasCustomPrompt="1"/>
          </p:nvPr>
        </p:nvSpPr>
        <p:spPr>
          <a:xfrm>
            <a:off x="247647" y="4379683"/>
            <a:ext cx="4305091" cy="681037"/>
          </a:xfrm>
          <a:prstGeom prst="rect">
            <a:avLst/>
          </a:prstGeom>
        </p:spPr>
        <p:txBody>
          <a:bodyPr/>
          <a:lstStyle>
            <a:lvl1pPr marL="0" indent="0">
              <a:buNone/>
              <a:defRPr sz="1800" b="0" i="0" baseline="0">
                <a:solidFill>
                  <a:schemeClr val="tx2"/>
                </a:solidFill>
                <a:latin typeface="Helvetica" charset="0"/>
                <a:ea typeface="Helvetica" charset="0"/>
                <a:cs typeface="Helvetica" charset="0"/>
              </a:defRPr>
            </a:lvl1pPr>
          </a:lstStyle>
          <a:p>
            <a:pPr lvl="0"/>
            <a:r>
              <a:rPr lang="en-US" dirty="0"/>
              <a:t>Lesson name: e.g. R Examples</a:t>
            </a:r>
          </a:p>
          <a:p>
            <a:pPr lvl="0"/>
            <a:r>
              <a:rPr lang="en-US" dirty="0" err="1"/>
              <a:t>Subname</a:t>
            </a:r>
            <a:r>
              <a:rPr lang="en-US" dirty="0"/>
              <a:t> if applicable (e.g. Part II)</a:t>
            </a:r>
          </a:p>
          <a:p>
            <a:pPr lvl="0"/>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481920" y="1421266"/>
            <a:ext cx="4727575" cy="1330325"/>
          </a:xfrm>
        </p:spPr>
        <p:txBody>
          <a:bodyPr/>
          <a:lstStyle>
            <a:lvl1pPr marL="0" indent="0">
              <a:buNone/>
              <a:defRPr/>
            </a:lvl1pPr>
          </a:lstStyle>
          <a:p>
            <a:pPr lvl="0"/>
            <a:r>
              <a:rPr lang="en-US"/>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093392"/>
            <a:ext cx="8110832" cy="3739377"/>
          </a:xfrm>
          <a:prstGeom prst="rect">
            <a:avLst/>
          </a:prstGeom>
        </p:spPr>
        <p:txBody>
          <a:bodyPr/>
          <a:lstStyle>
            <a:lvl1pPr marL="0" indent="0">
              <a:buNone/>
              <a:defRPr/>
            </a:lvl1pPr>
          </a:lstStyle>
          <a:p>
            <a:endParaRPr lang="en-US" dirty="0"/>
          </a:p>
        </p:txBody>
      </p:sp>
      <p:sp>
        <p:nvSpPr>
          <p:cNvPr id="5" name="Title 1"/>
          <p:cNvSpPr>
            <a:spLocks noGrp="1"/>
          </p:cNvSpPr>
          <p:nvPr>
            <p:ph type="title" hasCustomPrompt="1"/>
          </p:nvPr>
        </p:nvSpPr>
        <p:spPr>
          <a:xfrm>
            <a:off x="252348" y="274678"/>
            <a:ext cx="8186095"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Full Page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52349" y="274678"/>
            <a:ext cx="8562392" cy="993775"/>
          </a:xfrm>
          <a:prstGeom prst="rect">
            <a:avLst/>
          </a:prstGeom>
        </p:spPr>
        <p:txBody>
          <a:bodyPr/>
          <a:lstStyle>
            <a:lvl1pPr algn="l">
              <a:defRPr lang="en-US" sz="40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Page Blank">
    <p:spTree>
      <p:nvGrpSpPr>
        <p:cNvPr id="1" name=""/>
        <p:cNvGrpSpPr/>
        <p:nvPr/>
      </p:nvGrpSpPr>
      <p:grpSpPr>
        <a:xfrm>
          <a:off x="0" y="0"/>
          <a:ext cx="0" cy="0"/>
          <a:chOff x="0" y="0"/>
          <a:chExt cx="0" cy="0"/>
        </a:xfrm>
      </p:grpSpPr>
      <p:sp>
        <p:nvSpPr>
          <p:cNvPr id="4" name="Title 1"/>
          <p:cNvSpPr>
            <a:spLocks noGrp="1"/>
          </p:cNvSpPr>
          <p:nvPr>
            <p:ph type="title" hasCustomPrompt="1"/>
          </p:nvPr>
        </p:nvSpPr>
        <p:spPr>
          <a:xfrm>
            <a:off x="252349" y="274678"/>
            <a:ext cx="8562392"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ull Page w/ Bullets">
    <p:spTree>
      <p:nvGrpSpPr>
        <p:cNvPr id="1" name=""/>
        <p:cNvGrpSpPr/>
        <p:nvPr/>
      </p:nvGrpSpPr>
      <p:grpSpPr>
        <a:xfrm>
          <a:off x="0" y="0"/>
          <a:ext cx="0" cy="0"/>
          <a:chOff x="0" y="0"/>
          <a:chExt cx="0" cy="0"/>
        </a:xfrm>
      </p:grpSpPr>
      <p:sp>
        <p:nvSpPr>
          <p:cNvPr id="10" name="Content Placeholder 5"/>
          <p:cNvSpPr>
            <a:spLocks noGrp="1"/>
          </p:cNvSpPr>
          <p:nvPr>
            <p:ph sz="quarter" idx="10"/>
          </p:nvPr>
        </p:nvSpPr>
        <p:spPr>
          <a:xfrm>
            <a:off x="252349" y="1268453"/>
            <a:ext cx="8280166" cy="3519917"/>
          </a:xfrm>
          <a:prstGeom prst="rect">
            <a:avLst/>
          </a:prstGeom>
        </p:spPr>
        <p:txBody>
          <a:bodyPr/>
          <a:lstStyle>
            <a:lvl1pPr>
              <a:defRPr sz="2000">
                <a:latin typeface="Helvetica" charset="0"/>
                <a:ea typeface="Helvetica" charset="0"/>
                <a:cs typeface="Helvetica" charset="0"/>
              </a:defRPr>
            </a:lvl1pPr>
            <a:lvl2pPr>
              <a:defRPr sz="1800">
                <a:latin typeface="Helvetica" charset="0"/>
                <a:ea typeface="Helvetica" charset="0"/>
                <a:cs typeface="Helvetica" charset="0"/>
              </a:defRPr>
            </a:lvl2pPr>
            <a:lvl3pPr>
              <a:defRPr sz="1800">
                <a:latin typeface="Helvetica" charset="0"/>
                <a:ea typeface="Helvetica" charset="0"/>
                <a:cs typeface="Helvetica" charset="0"/>
              </a:defRPr>
            </a:lvl3pPr>
            <a:lvl4pPr>
              <a:defRPr sz="1800">
                <a:latin typeface="Helvetica" charset="0"/>
                <a:ea typeface="Helvetica" charset="0"/>
                <a:cs typeface="Helvetica" charset="0"/>
              </a:defRPr>
            </a:lvl4pPr>
            <a:lvl5pPr>
              <a:defRPr sz="1800">
                <a:latin typeface="Helvetica" charset="0"/>
                <a:ea typeface="Helvetica" charset="0"/>
                <a:cs typeface="Helvetica"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1"/>
          <p:cNvSpPr>
            <a:spLocks noGrp="1"/>
          </p:cNvSpPr>
          <p:nvPr>
            <p:ph type="title" hasCustomPrompt="1"/>
          </p:nvPr>
        </p:nvSpPr>
        <p:spPr>
          <a:xfrm>
            <a:off x="252349" y="274678"/>
            <a:ext cx="8280166"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ull Page w/ Text">
    <p:spTree>
      <p:nvGrpSpPr>
        <p:cNvPr id="1" name=""/>
        <p:cNvGrpSpPr/>
        <p:nvPr/>
      </p:nvGrpSpPr>
      <p:grpSpPr>
        <a:xfrm>
          <a:off x="0" y="0"/>
          <a:ext cx="0" cy="0"/>
          <a:chOff x="0" y="0"/>
          <a:chExt cx="0" cy="0"/>
        </a:xfrm>
      </p:grpSpPr>
      <p:sp>
        <p:nvSpPr>
          <p:cNvPr id="4" name="Content Placeholder 4"/>
          <p:cNvSpPr>
            <a:spLocks noGrp="1"/>
          </p:cNvSpPr>
          <p:nvPr>
            <p:ph sz="quarter" idx="10" hasCustomPrompt="1"/>
          </p:nvPr>
        </p:nvSpPr>
        <p:spPr>
          <a:xfrm>
            <a:off x="252347" y="1268453"/>
            <a:ext cx="8449503" cy="3286125"/>
          </a:xfrm>
          <a:prstGeom prst="rect">
            <a:avLst/>
          </a:prstGeom>
        </p:spPr>
        <p:txBody>
          <a:bodyPr/>
          <a:lstStyle>
            <a:lvl1pPr marL="0" indent="0">
              <a:buFont typeface="Arial" panose="020B0604020202020204"/>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 </a:t>
            </a:r>
          </a:p>
          <a:p>
            <a:r>
              <a:rPr lang="en-US" sz="1800" dirty="0"/>
              <a:t>of the printing and typesetting industry. </a:t>
            </a:r>
            <a:r>
              <a:rPr lang="en-US" sz="1800" dirty="0" err="1"/>
              <a:t>Lorem</a:t>
            </a:r>
            <a:r>
              <a:rPr lang="en-US" sz="1800" dirty="0"/>
              <a:t> </a:t>
            </a:r>
            <a:r>
              <a:rPr lang="en-US" sz="1800" dirty="0" err="1"/>
              <a:t>Ipsum</a:t>
            </a:r>
            <a:r>
              <a:rPr lang="en-US" sz="1800" dirty="0"/>
              <a:t> has been the industry's standard dummy text ever since the 1500s, when an unknown printer took a galley of type and scrambled it to make a type specimen book. </a:t>
            </a:r>
          </a:p>
          <a:p>
            <a:endParaRPr lang="en-US" sz="1800" dirty="0"/>
          </a:p>
          <a:p>
            <a:r>
              <a:rPr lang="en-US" b="1" dirty="0"/>
              <a:t>It has survived</a:t>
            </a:r>
          </a:p>
          <a:p>
            <a:pPr marL="285750" indent="-285750">
              <a:buFont typeface="Arial" panose="020B0604020202020204"/>
              <a:buChar char="•"/>
            </a:pPr>
            <a:r>
              <a:rPr lang="en-US" sz="1800" dirty="0"/>
              <a:t>not only five centuries</a:t>
            </a:r>
          </a:p>
          <a:p>
            <a:pPr marL="285750" indent="-285750">
              <a:buFont typeface="Arial" panose="020B0604020202020204"/>
              <a:buChar char="•"/>
            </a:pPr>
            <a:r>
              <a:rPr lang="en-US" sz="1800" dirty="0"/>
              <a:t>but also the leap into electronic typesetting, </a:t>
            </a:r>
          </a:p>
          <a:p>
            <a:pPr marL="285750" indent="-285750">
              <a:buFont typeface="Arial" panose="020B0604020202020204"/>
              <a:buChar char="•"/>
            </a:pPr>
            <a:r>
              <a:rPr lang="en-US" sz="1800" dirty="0"/>
              <a:t>remaining essentially unchanged. </a:t>
            </a:r>
          </a:p>
        </p:txBody>
      </p:sp>
      <p:sp>
        <p:nvSpPr>
          <p:cNvPr id="5" name="Title 1"/>
          <p:cNvSpPr>
            <a:spLocks noGrp="1"/>
          </p:cNvSpPr>
          <p:nvPr>
            <p:ph type="title" hasCustomPrompt="1"/>
          </p:nvPr>
        </p:nvSpPr>
        <p:spPr>
          <a:xfrm>
            <a:off x="252348" y="274678"/>
            <a:ext cx="8449503"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ull Page w/ Text + Graphic">
    <p:spTree>
      <p:nvGrpSpPr>
        <p:cNvPr id="1" name=""/>
        <p:cNvGrpSpPr/>
        <p:nvPr/>
      </p:nvGrpSpPr>
      <p:grpSpPr>
        <a:xfrm>
          <a:off x="0" y="0"/>
          <a:ext cx="0" cy="0"/>
          <a:chOff x="0" y="0"/>
          <a:chExt cx="0" cy="0"/>
        </a:xfrm>
      </p:grpSpPr>
      <p:sp>
        <p:nvSpPr>
          <p:cNvPr id="5" name="Content Placeholder 4"/>
          <p:cNvSpPr>
            <a:spLocks noGrp="1"/>
          </p:cNvSpPr>
          <p:nvPr>
            <p:ph sz="quarter" idx="10" hasCustomPrompt="1"/>
          </p:nvPr>
        </p:nvSpPr>
        <p:spPr>
          <a:xfrm>
            <a:off x="233538" y="1110075"/>
            <a:ext cx="3595277" cy="3612444"/>
          </a:xfrm>
          <a:prstGeom prst="rect">
            <a:avLst/>
          </a:prstGeom>
        </p:spPr>
        <p:txBody>
          <a:bodyPr/>
          <a:lstStyle>
            <a:lvl1pPr marL="0" indent="0">
              <a:buFont typeface="Arial" panose="020B0604020202020204"/>
              <a:buNone/>
              <a:defRPr sz="2000">
                <a:latin typeface="Helvetica" charset="0"/>
                <a:ea typeface="Helvetica" charset="0"/>
                <a:cs typeface="Helvetica" charset="0"/>
              </a:defRPr>
            </a:lvl1pPr>
          </a:lstStyle>
          <a:p>
            <a:r>
              <a:rPr lang="en-US" b="1" dirty="0" err="1">
                <a:latin typeface="Helvetica"/>
                <a:cs typeface="Helvetica"/>
              </a:rPr>
              <a:t>Lorem</a:t>
            </a:r>
            <a:r>
              <a:rPr lang="en-US" b="1" dirty="0">
                <a:latin typeface="Helvetica"/>
                <a:cs typeface="Helvetica"/>
              </a:rPr>
              <a:t> </a:t>
            </a:r>
            <a:r>
              <a:rPr lang="en-US" b="1" dirty="0" err="1">
                <a:latin typeface="Helvetica"/>
                <a:cs typeface="Helvetica"/>
              </a:rPr>
              <a:t>Ipsum</a:t>
            </a:r>
            <a:r>
              <a:rPr lang="en-US" b="1" dirty="0">
                <a:latin typeface="Helvetica"/>
                <a:cs typeface="Helvetica"/>
              </a:rPr>
              <a:t> is simply dummy text.</a:t>
            </a:r>
          </a:p>
          <a:p>
            <a:endParaRPr lang="en-US" sz="1800" dirty="0"/>
          </a:p>
          <a:p>
            <a:r>
              <a:rPr lang="en-US" b="1" dirty="0"/>
              <a:t>It has survived</a:t>
            </a:r>
          </a:p>
          <a:p>
            <a:pPr marL="285750" indent="-285750">
              <a:buFont typeface="Arial" panose="020B0604020202020204"/>
              <a:buChar char="•"/>
            </a:pPr>
            <a:r>
              <a:rPr lang="en-US" sz="1800" dirty="0"/>
              <a:t>not only five centuries</a:t>
            </a:r>
          </a:p>
          <a:p>
            <a:pPr marL="285750" indent="-285750">
              <a:buFont typeface="Arial" panose="020B0604020202020204"/>
              <a:buChar char="•"/>
            </a:pPr>
            <a:r>
              <a:rPr lang="en-US" sz="1800" dirty="0"/>
              <a:t>but also the leap into electronic typesetting, </a:t>
            </a:r>
          </a:p>
          <a:p>
            <a:pPr marL="285750" indent="-285750">
              <a:buFont typeface="Arial" panose="020B0604020202020204"/>
              <a:buChar char="•"/>
            </a:pPr>
            <a:r>
              <a:rPr lang="en-US" sz="1800" dirty="0"/>
              <a:t>remaining essentially unchanged. </a:t>
            </a:r>
          </a:p>
        </p:txBody>
      </p:sp>
      <p:sp>
        <p:nvSpPr>
          <p:cNvPr id="6" name="Chart Placeholder 3"/>
          <p:cNvSpPr>
            <a:spLocks noGrp="1"/>
          </p:cNvSpPr>
          <p:nvPr>
            <p:ph type="chart" sz="quarter" idx="11"/>
          </p:nvPr>
        </p:nvSpPr>
        <p:spPr>
          <a:xfrm>
            <a:off x="3828815" y="1110075"/>
            <a:ext cx="4948296" cy="3612444"/>
          </a:xfrm>
          <a:prstGeom prst="rect">
            <a:avLst/>
          </a:prstGeom>
        </p:spPr>
        <p:txBody>
          <a:bodyPr/>
          <a:lstStyle>
            <a:lvl1pPr marL="0" indent="0">
              <a:buNone/>
              <a:defRPr/>
            </a:lvl1pPr>
          </a:lstStyle>
          <a:p>
            <a:endParaRPr lang="en-US" dirty="0"/>
          </a:p>
        </p:txBody>
      </p:sp>
      <p:sp>
        <p:nvSpPr>
          <p:cNvPr id="10" name="Title 1"/>
          <p:cNvSpPr>
            <a:spLocks noGrp="1"/>
          </p:cNvSpPr>
          <p:nvPr>
            <p:ph type="title" hasCustomPrompt="1"/>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ull Page w/ Graphic">
    <p:spTree>
      <p:nvGrpSpPr>
        <p:cNvPr id="1" name=""/>
        <p:cNvGrpSpPr/>
        <p:nvPr/>
      </p:nvGrpSpPr>
      <p:grpSpPr>
        <a:xfrm>
          <a:off x="0" y="0"/>
          <a:ext cx="0" cy="0"/>
          <a:chOff x="0" y="0"/>
          <a:chExt cx="0" cy="0"/>
        </a:xfrm>
      </p:grpSpPr>
      <p:sp>
        <p:nvSpPr>
          <p:cNvPr id="4" name="Chart Placeholder 3"/>
          <p:cNvSpPr>
            <a:spLocks noGrp="1"/>
          </p:cNvSpPr>
          <p:nvPr>
            <p:ph type="chart" sz="quarter" idx="10"/>
          </p:nvPr>
        </p:nvSpPr>
        <p:spPr>
          <a:xfrm>
            <a:off x="252349" y="1268453"/>
            <a:ext cx="8110832" cy="3564316"/>
          </a:xfrm>
          <a:prstGeom prst="rect">
            <a:avLst/>
          </a:prstGeom>
        </p:spPr>
        <p:txBody>
          <a:bodyPr/>
          <a:lstStyle>
            <a:lvl1pPr marL="0" indent="0">
              <a:buNone/>
              <a:defRPr sz="2000">
                <a:latin typeface="Helvetica" charset="0"/>
                <a:ea typeface="Helvetica" charset="0"/>
                <a:cs typeface="Helvetica" charset="0"/>
              </a:defRPr>
            </a:lvl1pPr>
          </a:lstStyle>
          <a:p>
            <a:endParaRPr lang="en-US" dirty="0"/>
          </a:p>
        </p:txBody>
      </p:sp>
      <p:sp>
        <p:nvSpPr>
          <p:cNvPr id="5" name="Title 1"/>
          <p:cNvSpPr>
            <a:spLocks noGrp="1"/>
          </p:cNvSpPr>
          <p:nvPr>
            <p:ph type="title" hasCustomPrompt="1"/>
          </p:nvPr>
        </p:nvSpPr>
        <p:spPr>
          <a:xfrm>
            <a:off x="252348" y="274678"/>
            <a:ext cx="8186095" cy="993775"/>
          </a:xfrm>
          <a:prstGeom prst="rect">
            <a:avLst/>
          </a:prstGeom>
        </p:spPr>
        <p:txBody>
          <a:bodyPr/>
          <a:lstStyle>
            <a:lvl1pPr algn="l">
              <a:defRPr lang="en-US" sz="3200" kern="1200" dirty="0">
                <a:solidFill>
                  <a:schemeClr val="tx1"/>
                </a:solidFill>
                <a:latin typeface="Vitesse Bold"/>
                <a:ea typeface="+mj-ea"/>
                <a:cs typeface="Vitesse Bold"/>
              </a:defRPr>
            </a:lvl1pPr>
          </a:lstStyle>
          <a:p>
            <a:r>
              <a:rPr lang="en-US" dirty="0"/>
              <a:t>Click to edit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image" Target="../media/image3.jpeg"/><Relationship Id="rId5" Type="http://schemas.openxmlformats.org/officeDocument/2006/relationships/theme" Target="../theme/theme2.xml"/><Relationship Id="rId4"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5.xml"/><Relationship Id="rId7" Type="http://schemas.openxmlformats.org/officeDocument/2006/relationships/image" Target="../media/image4.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3.xml"/><Relationship Id="rId5" Type="http://schemas.openxmlformats.org/officeDocument/2006/relationships/slideLayout" Target="../slideLayouts/slideLayout17.xml"/><Relationship Id="rId4" Type="http://schemas.openxmlformats.org/officeDocument/2006/relationships/slideLayout" Target="../slideLayouts/slideLayout16.xml"/><Relationship Id="rId9"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5" name="Picture 4" descr="honeycomb_gradient.png"/>
          <p:cNvPicPr>
            <a:picLocks noChangeAspect="1"/>
          </p:cNvPicPr>
          <p:nvPr/>
        </p:nvPicPr>
        <p:blipFill>
          <a:blip r:embed="rId10" cstate="print">
            <a:alphaModFix amt="25000"/>
            <a:extLst>
              <a:ext uri="{28A0092B-C50C-407E-A947-70E740481C1C}">
                <a14:useLocalDpi xmlns:a14="http://schemas.microsoft.com/office/drawing/2010/main" val="0"/>
              </a:ext>
            </a:extLst>
          </a:blip>
          <a:stretch>
            <a:fillRect/>
          </a:stretch>
        </p:blipFill>
        <p:spPr>
          <a:xfrm>
            <a:off x="0" y="0"/>
            <a:ext cx="7715250" cy="5143500"/>
          </a:xfrm>
          <a:prstGeom prst="rect">
            <a:avLst/>
          </a:prstGeom>
        </p:spPr>
      </p:pic>
      <p:pic>
        <p:nvPicPr>
          <p:cNvPr id="6" name="Picture 5" descr="corner_logo_white.png"/>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177081" y="3470730"/>
            <a:ext cx="966919" cy="167277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panose="020B0604020202020204"/>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6"/>
          <a:stretch>
            <a:fillRect/>
          </a:stretch>
        </p:blipFill>
        <p:spPr>
          <a:xfrm>
            <a:off x="0" y="0"/>
            <a:ext cx="9144000" cy="5143500"/>
          </a:xfrm>
          <a:prstGeom prst="rect">
            <a:avLst/>
          </a:prstGeom>
        </p:spPr>
      </p:pic>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0" y="0"/>
            <a:ext cx="9142647" cy="5144187"/>
            <a:chOff x="0" y="0"/>
            <a:chExt cx="9142647" cy="5144187"/>
          </a:xfrm>
        </p:grpSpPr>
        <p:pic>
          <p:nvPicPr>
            <p:cNvPr id="4" name="Picture 3"/>
            <p:cNvPicPr>
              <a:picLocks noChangeAspect="1"/>
            </p:cNvPicPr>
            <p:nvPr userDrawn="1"/>
          </p:nvPicPr>
          <p:blipFill>
            <a:blip r:embed="rId7"/>
            <a:stretch>
              <a:fillRect/>
            </a:stretch>
          </p:blipFill>
          <p:spPr>
            <a:xfrm flipH="1" flipV="1">
              <a:off x="5423765" y="2211757"/>
              <a:ext cx="3718882" cy="2932430"/>
            </a:xfrm>
            <a:prstGeom prst="rect">
              <a:avLst/>
            </a:prstGeom>
          </p:spPr>
        </p:pic>
        <p:pic>
          <p:nvPicPr>
            <p:cNvPr id="6" name="Picture 5"/>
            <p:cNvPicPr>
              <a:picLocks noChangeAspect="1"/>
            </p:cNvPicPr>
            <p:nvPr userDrawn="1"/>
          </p:nvPicPr>
          <p:blipFill>
            <a:blip r:embed="rId8"/>
            <a:stretch>
              <a:fillRect/>
            </a:stretch>
          </p:blipFill>
          <p:spPr>
            <a:xfrm>
              <a:off x="8111132" y="4644572"/>
              <a:ext cx="945783" cy="401634"/>
            </a:xfrm>
            <a:prstGeom prst="rect">
              <a:avLst/>
            </a:prstGeom>
          </p:spPr>
        </p:pic>
        <p:pic>
          <p:nvPicPr>
            <p:cNvPr id="7" name="Picture 6"/>
            <p:cNvPicPr>
              <a:picLocks noChangeAspect="1"/>
            </p:cNvPicPr>
            <p:nvPr userDrawn="1"/>
          </p:nvPicPr>
          <p:blipFill>
            <a:blip r:embed="rId9"/>
            <a:stretch>
              <a:fillRect/>
            </a:stretch>
          </p:blipFill>
          <p:spPr>
            <a:xfrm>
              <a:off x="0" y="0"/>
              <a:ext cx="3719590" cy="2933934"/>
            </a:xfrm>
            <a:prstGeom prst="rect">
              <a:avLst/>
            </a:prstGeom>
          </p:spPr>
        </p:pic>
      </p:gr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Lst>
  <p:txStyles>
    <p:titleStyle>
      <a:lvl1pPr algn="l" defTabSz="457200" rtl="0" eaLnBrk="1" latinLnBrk="0" hangingPunct="1">
        <a:spcBef>
          <a:spcPct val="0"/>
        </a:spcBef>
        <a:buNone/>
        <a:defRPr sz="4400" kern="1200">
          <a:solidFill>
            <a:schemeClr val="tx1"/>
          </a:solidFill>
          <a:latin typeface="+mj-lt"/>
          <a:ea typeface="+mj-ea"/>
          <a:cs typeface="+mj-cs"/>
        </a:defRPr>
      </a:lvl1pPr>
    </p:titleStyle>
    <p:bodyStyle>
      <a:lvl1pPr marL="0" indent="0" algn="l" defTabSz="457200" rtl="0" eaLnBrk="1" latinLnBrk="0" hangingPunct="1">
        <a:spcBef>
          <a:spcPct val="20000"/>
        </a:spcBef>
        <a:buFont typeface="Arial" panose="020B0604020202020204"/>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nvSpPr>
        <p:spPr>
          <a:xfrm>
            <a:off x="110461" y="108666"/>
            <a:ext cx="5691763" cy="712848"/>
          </a:xfrm>
          <a:prstGeom prst="rect">
            <a:avLst/>
          </a:prstGeom>
        </p:spPr>
        <p:txBody>
          <a:bodyPr/>
          <a:lstStyle>
            <a:lvl1pPr algn="l" defTabSz="457200" rtl="0" eaLnBrk="1" latinLnBrk="0" hangingPunct="1">
              <a:spcBef>
                <a:spcPct val="0"/>
              </a:spcBef>
              <a:buNone/>
              <a:defRPr lang="en-US" sz="4000" b="0" i="0" kern="1200" dirty="0">
                <a:solidFill>
                  <a:schemeClr val="tx1"/>
                </a:solidFill>
                <a:latin typeface="Vitesse Bold"/>
                <a:ea typeface="Vitesse" charset="0"/>
                <a:cs typeface="Vitesse Bold"/>
              </a:defRPr>
            </a:lvl1p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600" b="0" i="0" u="none" strike="noStrike" kern="1200" cap="none" spc="0" normalizeH="0" baseline="0" noProof="0" dirty="0">
                <a:ln>
                  <a:noFill/>
                </a:ln>
                <a:solidFill>
                  <a:prstClr val="black"/>
                </a:solidFill>
                <a:effectLst/>
                <a:uLnTx/>
                <a:uFillTx/>
                <a:latin typeface="Vitesse"/>
              </a:rPr>
              <a:t>Regression Analysis</a:t>
            </a:r>
          </a:p>
        </p:txBody>
      </p:sp>
      <p:sp>
        <p:nvSpPr>
          <p:cNvPr id="6" name="Text Placeholder 2"/>
          <p:cNvSpPr>
            <a:spLocks noGrp="1"/>
          </p:cNvSpPr>
          <p:nvPr/>
        </p:nvSpPr>
        <p:spPr>
          <a:xfrm>
            <a:off x="117956" y="673536"/>
            <a:ext cx="5511340" cy="542236"/>
          </a:xfrm>
          <a:prstGeom prst="rect">
            <a:avLst/>
          </a:prstGeom>
        </p:spPr>
        <p:txBody>
          <a:bodyPr/>
          <a:lstStyle>
            <a:lvl1pPr marL="0" indent="0" algn="l" defTabSz="457200" rtl="0" eaLnBrk="1" latinLnBrk="0" hangingPunct="1">
              <a:spcBef>
                <a:spcPct val="20000"/>
              </a:spcBef>
              <a:buFont typeface="Arial" panose="020B0604020202020204"/>
              <a:buNone/>
              <a:defRPr lang="en-US" sz="3000" b="0" i="0" kern="1200" dirty="0">
                <a:solidFill>
                  <a:schemeClr val="tx2"/>
                </a:solidFill>
                <a:latin typeface="Vitesse Medium" charset="0"/>
                <a:ea typeface="Vitesse Medium" charset="0"/>
                <a:cs typeface="Vitesse Medium"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a:buNone/>
              <a:tabLst/>
              <a:defRPr/>
            </a:pPr>
            <a:r>
              <a:rPr kumimoji="0" lang="en-US" sz="2400" b="0" i="0" u="none" strike="noStrike" kern="1200" cap="none" spc="0" normalizeH="0" baseline="0" noProof="0" dirty="0">
                <a:ln>
                  <a:noFill/>
                </a:ln>
                <a:solidFill>
                  <a:srgbClr val="1F497D"/>
                </a:solidFill>
                <a:effectLst/>
                <a:uLnTx/>
                <a:uFillTx/>
                <a:latin typeface="Vitesse Medium" charset="0"/>
              </a:rPr>
              <a:t>Logistic Regression</a:t>
            </a:r>
          </a:p>
        </p:txBody>
      </p:sp>
      <p:sp>
        <p:nvSpPr>
          <p:cNvPr id="7" name="Text Placeholder 3"/>
          <p:cNvSpPr>
            <a:spLocks noGrp="1"/>
          </p:cNvSpPr>
          <p:nvPr/>
        </p:nvSpPr>
        <p:spPr>
          <a:xfrm>
            <a:off x="124827" y="2018346"/>
            <a:ext cx="4305091" cy="432669"/>
          </a:xfrm>
          <a:prstGeom prst="rect">
            <a:avLst/>
          </a:prstGeom>
        </p:spPr>
        <p:txBody>
          <a:bodyPr anchor="ctr"/>
          <a:lstStyle>
            <a:lvl1pPr marL="0" indent="0" algn="l" defTabSz="457200" rtl="0" eaLnBrk="1" latinLnBrk="0" hangingPunct="1">
              <a:lnSpc>
                <a:spcPts val="1400"/>
              </a:lnSpc>
              <a:spcBef>
                <a:spcPct val="20000"/>
              </a:spcBef>
              <a:buFont typeface="Arial" panose="020B0604020202020204"/>
              <a:buNone/>
              <a:defRPr lang="en-US" sz="2400" b="1" kern="1200" baseline="0" dirty="0">
                <a:solidFill>
                  <a:srgbClr val="EEB211"/>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marR="0" lvl="0" indent="0" algn="l" defTabSz="457200" rtl="0" eaLnBrk="1" fontAlgn="auto" latinLnBrk="0" hangingPunct="1">
              <a:lnSpc>
                <a:spcPts val="1400"/>
              </a:lnSpc>
              <a:spcBef>
                <a:spcPct val="20000"/>
              </a:spcBef>
              <a:spcAft>
                <a:spcPts val="0"/>
              </a:spcAft>
              <a:buClrTx/>
              <a:buSzTx/>
              <a:buFont typeface="Arial" panose="020B0604020202020204"/>
              <a:buNone/>
              <a:tabLst/>
              <a:defRPr/>
            </a:pPr>
            <a:endParaRPr kumimoji="0" lang="en-US" sz="2400" b="1" i="0" u="none" strike="noStrike" kern="1200" cap="none" spc="0" normalizeH="0" baseline="0" noProof="0" dirty="0">
              <a:ln>
                <a:noFill/>
              </a:ln>
              <a:solidFill>
                <a:srgbClr val="EEB211"/>
              </a:solidFill>
              <a:effectLst/>
              <a:uLnTx/>
              <a:uFillTx/>
              <a:latin typeface="Helvetica" charset="0"/>
              <a:cs typeface="Helvetica" charset="0"/>
            </a:endParaRPr>
          </a:p>
          <a:p>
            <a:pPr marL="0" marR="0" lvl="0" indent="0" algn="l" defTabSz="457200" rtl="0" eaLnBrk="1" fontAlgn="auto" latinLnBrk="0" hangingPunct="1">
              <a:lnSpc>
                <a:spcPts val="1400"/>
              </a:lnSpc>
              <a:spcBef>
                <a:spcPct val="20000"/>
              </a:spcBef>
              <a:spcAft>
                <a:spcPts val="0"/>
              </a:spcAft>
              <a:buClrTx/>
              <a:buSzTx/>
              <a:buFont typeface="Arial" panose="020B0604020202020204"/>
              <a:buNone/>
              <a:tabLst/>
              <a:defRPr/>
            </a:pPr>
            <a:r>
              <a:rPr kumimoji="0" lang="en-US" sz="2400" b="1" i="0" u="none" strike="noStrike" kern="1200" cap="none" spc="0" normalizeH="0" baseline="0" noProof="0" dirty="0" err="1">
                <a:ln>
                  <a:noFill/>
                </a:ln>
                <a:solidFill>
                  <a:srgbClr val="EEB211"/>
                </a:solidFill>
                <a:effectLst/>
                <a:uLnTx/>
                <a:uFillTx/>
                <a:latin typeface="Helvetica" charset="0"/>
                <a:cs typeface="Helvetica" charset="0"/>
              </a:rPr>
              <a:t>Nicoleta</a:t>
            </a:r>
            <a:r>
              <a:rPr kumimoji="0" lang="en-US" sz="2400" b="1" i="0" u="none" strike="noStrike" kern="1200" cap="none" spc="0" normalizeH="0" baseline="0" noProof="0" dirty="0">
                <a:ln>
                  <a:noFill/>
                </a:ln>
                <a:solidFill>
                  <a:srgbClr val="EEB211"/>
                </a:solidFill>
                <a:effectLst/>
                <a:uLnTx/>
                <a:uFillTx/>
                <a:latin typeface="Helvetica" charset="0"/>
                <a:cs typeface="Helvetica" charset="0"/>
              </a:rPr>
              <a:t> </a:t>
            </a:r>
            <a:r>
              <a:rPr kumimoji="0" lang="en-US" sz="2400" b="1" i="0" u="none" strike="noStrike" kern="1200" cap="none" spc="0" normalizeH="0" baseline="0" noProof="0" dirty="0" err="1">
                <a:ln>
                  <a:noFill/>
                </a:ln>
                <a:solidFill>
                  <a:srgbClr val="EEB211"/>
                </a:solidFill>
                <a:effectLst/>
                <a:uLnTx/>
                <a:uFillTx/>
                <a:latin typeface="Helvetica" charset="0"/>
                <a:cs typeface="Helvetica" charset="0"/>
              </a:rPr>
              <a:t>Serban</a:t>
            </a:r>
            <a:r>
              <a:rPr kumimoji="0" lang="en-US" sz="2400" b="1" i="0" u="none" strike="noStrike" kern="1200" cap="none" spc="0" normalizeH="0" baseline="0" noProof="0" dirty="0">
                <a:ln>
                  <a:noFill/>
                </a:ln>
                <a:solidFill>
                  <a:srgbClr val="EEB211"/>
                </a:solidFill>
                <a:effectLst/>
                <a:uLnTx/>
                <a:uFillTx/>
                <a:latin typeface="Helvetica" charset="0"/>
                <a:cs typeface="Helvetica" charset="0"/>
              </a:rPr>
              <a:t>, Ph.D. </a:t>
            </a:r>
          </a:p>
        </p:txBody>
      </p:sp>
      <p:sp>
        <p:nvSpPr>
          <p:cNvPr id="8" name="Text Placeholder 4"/>
          <p:cNvSpPr>
            <a:spLocks noGrp="1"/>
          </p:cNvSpPr>
          <p:nvPr/>
        </p:nvSpPr>
        <p:spPr>
          <a:xfrm>
            <a:off x="141340" y="2406316"/>
            <a:ext cx="4305091" cy="254281"/>
          </a:xfrm>
          <a:prstGeom prst="rect">
            <a:avLst/>
          </a:prstGeom>
        </p:spPr>
        <p:txBody>
          <a:bodyPr/>
          <a:lstStyle>
            <a:lvl1pPr marL="0" indent="0" algn="l" defTabSz="457200" rtl="0" eaLnBrk="1" latinLnBrk="0" hangingPunct="1">
              <a:spcBef>
                <a:spcPct val="20000"/>
              </a:spcBef>
              <a:buFont typeface="Arial" panose="020B0604020202020204"/>
              <a:buNone/>
              <a:defRPr sz="1600" b="0" i="1"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a:buNone/>
              <a:tabLst/>
              <a:defRPr/>
            </a:pPr>
            <a:r>
              <a:rPr kumimoji="0" lang="en-US" sz="1600" b="0" i="1" u="none" strike="noStrike" kern="1200" cap="none" spc="0" normalizeH="0" baseline="0" noProof="0" dirty="0">
                <a:ln>
                  <a:noFill/>
                </a:ln>
                <a:solidFill>
                  <a:prstClr val="black"/>
                </a:solidFill>
                <a:effectLst/>
                <a:uLnTx/>
                <a:uFillTx/>
                <a:latin typeface="Helvetica" charset="0"/>
                <a:cs typeface="Helvetica" charset="0"/>
              </a:rPr>
              <a:t>Professor </a:t>
            </a:r>
          </a:p>
        </p:txBody>
      </p:sp>
      <p:sp>
        <p:nvSpPr>
          <p:cNvPr id="10" name="Text Placeholder 6"/>
          <p:cNvSpPr>
            <a:spLocks noGrp="1"/>
          </p:cNvSpPr>
          <p:nvPr/>
        </p:nvSpPr>
        <p:spPr>
          <a:xfrm>
            <a:off x="140336" y="2661666"/>
            <a:ext cx="4305091" cy="322253"/>
          </a:xfrm>
          <a:prstGeom prst="rect">
            <a:avLst/>
          </a:prstGeom>
        </p:spPr>
        <p:txBody>
          <a:bodyPr/>
          <a:lstStyle>
            <a:lvl1pPr marL="0" indent="0" algn="l" defTabSz="457200" rtl="0" eaLnBrk="1" latinLnBrk="0" hangingPunct="1">
              <a:spcBef>
                <a:spcPct val="20000"/>
              </a:spcBef>
              <a:buFont typeface="Arial" panose="020B0604020202020204"/>
              <a:buNone/>
              <a:defRPr sz="1200" b="0" i="0" kern="1200" baseline="0">
                <a:solidFill>
                  <a:schemeClr val="tx1"/>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20000"/>
              </a:spcBef>
              <a:spcAft>
                <a:spcPts val="0"/>
              </a:spcAft>
              <a:buClrTx/>
              <a:buSzTx/>
              <a:buFont typeface="Arial" panose="020B0604020202020204"/>
              <a:buNone/>
              <a:tabLst/>
              <a:defRPr/>
            </a:pPr>
            <a:r>
              <a:rPr kumimoji="0" lang="en-US" sz="1200" b="0" i="0" u="none" strike="noStrike" kern="1200" cap="none" spc="0" normalizeH="0" baseline="0" noProof="0" dirty="0">
                <a:ln>
                  <a:noFill/>
                </a:ln>
                <a:solidFill>
                  <a:prstClr val="black"/>
                </a:solidFill>
                <a:effectLst/>
                <a:uLnTx/>
                <a:uFillTx/>
                <a:latin typeface="Helvetica" charset="0"/>
                <a:cs typeface="Helvetica" charset="0"/>
              </a:rPr>
              <a:t>Stewart School of Industrial and Systems Engineering</a:t>
            </a:r>
          </a:p>
        </p:txBody>
      </p:sp>
      <p:sp>
        <p:nvSpPr>
          <p:cNvPr id="11" name="Text Placeholder 5">
            <a:extLst>
              <a:ext uri="{FF2B5EF4-FFF2-40B4-BE49-F238E27FC236}">
                <a16:creationId xmlns:a16="http://schemas.microsoft.com/office/drawing/2014/main" id="{EEC0A6A0-466E-4F5A-BE95-7E314BADCA2A}"/>
              </a:ext>
            </a:extLst>
          </p:cNvPr>
          <p:cNvSpPr>
            <a:spLocks noGrp="1"/>
          </p:cNvSpPr>
          <p:nvPr/>
        </p:nvSpPr>
        <p:spPr>
          <a:xfrm>
            <a:off x="140960" y="4102100"/>
            <a:ext cx="3801456" cy="878110"/>
          </a:xfrm>
          <a:prstGeom prst="rect">
            <a:avLst/>
          </a:prstGeom>
        </p:spPr>
        <p:txBody>
          <a:bodyPr/>
          <a:lstStyle>
            <a:lvl1pPr marL="0" indent="0" algn="l" defTabSz="457200" rtl="0" eaLnBrk="1" latinLnBrk="0" hangingPunct="1">
              <a:spcBef>
                <a:spcPct val="20000"/>
              </a:spcBef>
              <a:buFont typeface="Arial" panose="020B0604020202020204"/>
              <a:buNone/>
              <a:defRPr sz="1400" b="0" i="0" kern="1200" baseline="0">
                <a:solidFill>
                  <a:schemeClr val="tx2"/>
                </a:solidFill>
                <a:latin typeface="Helvetica" charset="0"/>
                <a:ea typeface="Helvetica" charset="0"/>
                <a:cs typeface="Helvetica" charset="0"/>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r>
              <a:rPr lang="en-US" sz="2000" dirty="0"/>
              <a:t>The Demographics of Obesity: Goodness of Fit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15820" t="7499" r="15454" b="5507"/>
          <a:stretch>
            <a:fillRect/>
          </a:stretch>
        </p:blipFill>
        <p:spPr>
          <a:xfrm>
            <a:off x="3441090" y="1085849"/>
            <a:ext cx="2440322" cy="3088911"/>
          </a:xfrm>
          <a:prstGeom prst="rect">
            <a:avLst/>
          </a:prstGeom>
        </p:spPr>
      </p:pic>
      <p:sp>
        <p:nvSpPr>
          <p:cNvPr id="6" name="Text Placeholder 1">
            <a:extLst>
              <a:ext uri="{FF2B5EF4-FFF2-40B4-BE49-F238E27FC236}">
                <a16:creationId xmlns:a16="http://schemas.microsoft.com/office/drawing/2014/main" id="{A5FE4467-4468-4543-828C-04337E75C594}"/>
              </a:ext>
            </a:extLst>
          </p:cNvPr>
          <p:cNvSpPr txBox="1">
            <a:spLocks/>
          </p:cNvSpPr>
          <p:nvPr/>
        </p:nvSpPr>
        <p:spPr>
          <a:xfrm>
            <a:off x="147119" y="120499"/>
            <a:ext cx="4727575" cy="731706"/>
          </a:xfrm>
        </p:spPr>
        <p:txBody>
          <a:bodyPr anchor="t">
            <a:normAutofit/>
          </a:bodyPr>
          <a:lstStyle>
            <a:lvl1pPr marL="0" indent="0" algn="l" defTabSz="457200" rtl="0" eaLnBrk="1" latinLnBrk="0" hangingPunct="1">
              <a:spcBef>
                <a:spcPct val="20000"/>
              </a:spcBef>
              <a:buFont typeface="Arial" panose="020B0604020202020204"/>
              <a:buNone/>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marL="0" marR="0" lvl="0" indent="0" algn="l" defTabSz="457200" rtl="0" eaLnBrk="1" fontAlgn="auto" latinLnBrk="0" hangingPunct="1">
              <a:lnSpc>
                <a:spcPct val="100000"/>
              </a:lnSpc>
              <a:spcBef>
                <a:spcPct val="0"/>
              </a:spcBef>
              <a:spcAft>
                <a:spcPts val="0"/>
              </a:spcAft>
              <a:buClrTx/>
              <a:buSzTx/>
              <a:buFont typeface="Arial" panose="020B0604020202020204"/>
              <a:buNone/>
              <a:tabLst/>
              <a:defRPr/>
            </a:pPr>
            <a:r>
              <a:rPr kumimoji="0" lang="en-US" sz="3600" b="0" i="0" u="none" strike="noStrike" kern="1200" cap="none" spc="0" normalizeH="0" baseline="0" noProof="0" dirty="0">
                <a:ln>
                  <a:noFill/>
                </a:ln>
                <a:solidFill>
                  <a:prstClr val="black"/>
                </a:solidFill>
                <a:effectLst/>
                <a:uLnTx/>
                <a:uFillTx/>
                <a:latin typeface="Vitesse" charset="0"/>
                <a:ea typeface="Vitesse" charset="0"/>
                <a:cs typeface="Vitesse" charset="0"/>
              </a:rPr>
              <a:t>About This Lesson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p:cNvSpPr txBox="1">
            <a:spLocks noChangeArrowheads="1"/>
          </p:cNvSpPr>
          <p:nvPr/>
        </p:nvSpPr>
        <p:spPr bwMode="auto">
          <a:xfrm>
            <a:off x="155715" y="871432"/>
            <a:ext cx="5915301" cy="3108543"/>
          </a:xfrm>
          <a:prstGeom prst="rect">
            <a:avLst/>
          </a:prstGeom>
          <a:noFill/>
          <a:ln>
            <a:noFill/>
          </a:ln>
        </p:spPr>
        <p:txBody>
          <a:bodyPr wrap="square">
            <a:sp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defRPr/>
            </a:pPr>
            <a:r>
              <a:rPr lang="en-US" sz="1400" b="1" dirty="0">
                <a:solidFill>
                  <a:srgbClr val="EEB211"/>
                </a:solidFill>
                <a:latin typeface="Helvetica" panose="020B0604020202020204" pitchFamily="34" charset="0"/>
                <a:ea typeface="Helvetica Neue" charset="0"/>
                <a:cs typeface="Helvetica" panose="020B0604020202020204" pitchFamily="34" charset="0"/>
              </a:rPr>
              <a:t>### Aggregate data for Logistic Regression with repetitions</a:t>
            </a:r>
          </a:p>
          <a:p>
            <a:pPr>
              <a:defRPr/>
            </a:pPr>
            <a:r>
              <a:rPr lang="en-US" sz="1400" i="1" dirty="0" err="1">
                <a:latin typeface="Helvetica" panose="020B0604020202020204" pitchFamily="34" charset="0"/>
                <a:ea typeface="Helvetica Neue" charset="0"/>
                <a:cs typeface="Helvetica" panose="020B0604020202020204" pitchFamily="34" charset="0"/>
              </a:rPr>
              <a:t>obdata.agg.n</a:t>
            </a:r>
            <a:r>
              <a:rPr lang="en-US" sz="1400" i="1" dirty="0">
                <a:latin typeface="Helvetica" panose="020B0604020202020204" pitchFamily="34" charset="0"/>
                <a:ea typeface="Helvetica Neue" charset="0"/>
                <a:cs typeface="Helvetica" panose="020B0604020202020204" pitchFamily="34" charset="0"/>
              </a:rPr>
              <a:t> = aggregate(</a:t>
            </a:r>
            <a:r>
              <a:rPr lang="en-US" sz="1400" i="1" dirty="0" err="1">
                <a:latin typeface="Helvetica" panose="020B0604020202020204" pitchFamily="34" charset="0"/>
                <a:ea typeface="Helvetica Neue" charset="0"/>
                <a:cs typeface="Helvetica" panose="020B0604020202020204" pitchFamily="34" charset="0"/>
              </a:rPr>
              <a:t>Obesity~agegr+gender+edu</a:t>
            </a:r>
            <a:r>
              <a:rPr lang="en-US" sz="1400" i="1" dirty="0">
                <a:latin typeface="Helvetica" panose="020B0604020202020204" pitchFamily="34" charset="0"/>
                <a:ea typeface="Helvetica Neue" charset="0"/>
                <a:cs typeface="Helvetica" panose="020B0604020202020204" pitchFamily="34" charset="0"/>
              </a:rPr>
              <a:t>, FUN=length)</a:t>
            </a:r>
          </a:p>
          <a:p>
            <a:pPr>
              <a:defRPr/>
            </a:pPr>
            <a:r>
              <a:rPr lang="en-US" sz="1400" i="1" dirty="0" err="1">
                <a:latin typeface="Helvetica" panose="020B0604020202020204" pitchFamily="34" charset="0"/>
                <a:ea typeface="Helvetica Neue" charset="0"/>
                <a:cs typeface="Helvetica" panose="020B0604020202020204" pitchFamily="34" charset="0"/>
              </a:rPr>
              <a:t>obdata.agg.y</a:t>
            </a:r>
            <a:r>
              <a:rPr lang="en-US" sz="1400" i="1" dirty="0">
                <a:latin typeface="Helvetica" panose="020B0604020202020204" pitchFamily="34" charset="0"/>
                <a:ea typeface="Helvetica Neue" charset="0"/>
                <a:cs typeface="Helvetica" panose="020B0604020202020204" pitchFamily="34" charset="0"/>
              </a:rPr>
              <a:t> = aggregate(</a:t>
            </a:r>
            <a:r>
              <a:rPr lang="en-US" sz="1400" i="1" dirty="0" err="1">
                <a:latin typeface="Helvetica" panose="020B0604020202020204" pitchFamily="34" charset="0"/>
                <a:ea typeface="Helvetica Neue" charset="0"/>
                <a:cs typeface="Helvetica" panose="020B0604020202020204" pitchFamily="34" charset="0"/>
              </a:rPr>
              <a:t>Obesity~agegr+gender+edu</a:t>
            </a:r>
            <a:r>
              <a:rPr lang="en-US" sz="1400" i="1" dirty="0">
                <a:latin typeface="Helvetica" panose="020B0604020202020204" pitchFamily="34" charset="0"/>
                <a:ea typeface="Helvetica Neue" charset="0"/>
                <a:cs typeface="Helvetica" panose="020B0604020202020204" pitchFamily="34" charset="0"/>
              </a:rPr>
              <a:t>, FUN=sum)</a:t>
            </a:r>
          </a:p>
          <a:p>
            <a:pPr>
              <a:defRPr/>
            </a:pPr>
            <a:r>
              <a:rPr lang="en-US" sz="1400" i="1" dirty="0" err="1">
                <a:latin typeface="Helvetica" panose="020B0604020202020204" pitchFamily="34" charset="0"/>
                <a:ea typeface="Helvetica Neue" charset="0"/>
                <a:cs typeface="Helvetica" panose="020B0604020202020204" pitchFamily="34" charset="0"/>
              </a:rPr>
              <a:t>obdata.agg</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data.frame</a:t>
            </a:r>
            <a:r>
              <a:rPr lang="en-US" sz="1400" i="1" dirty="0">
                <a:latin typeface="Helvetica" panose="020B0604020202020204" pitchFamily="34" charset="0"/>
                <a:ea typeface="Helvetica Neue" charset="0"/>
                <a:cs typeface="Helvetica" panose="020B0604020202020204" pitchFamily="34" charset="0"/>
              </a:rPr>
              <a:t>(Obesity = </a:t>
            </a:r>
            <a:r>
              <a:rPr lang="en-US" sz="1400" i="1" dirty="0" err="1">
                <a:latin typeface="Helvetica" panose="020B0604020202020204" pitchFamily="34" charset="0"/>
                <a:ea typeface="Helvetica Neue" charset="0"/>
                <a:cs typeface="Helvetica" panose="020B0604020202020204" pitchFamily="34" charset="0"/>
              </a:rPr>
              <a:t>obdata.agg.y$Obesity</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Total = </a:t>
            </a:r>
            <a:r>
              <a:rPr lang="en-US" sz="1400" i="1" dirty="0" err="1">
                <a:latin typeface="Helvetica" panose="020B0604020202020204" pitchFamily="34" charset="0"/>
                <a:ea typeface="Helvetica Neue" charset="0"/>
                <a:cs typeface="Helvetica" panose="020B0604020202020204" pitchFamily="34" charset="0"/>
              </a:rPr>
              <a:t>obdata.agg.n$Obesity</a:t>
            </a:r>
            <a:r>
              <a:rPr lang="en-US" sz="1400" i="1" dirty="0">
                <a:latin typeface="Helvetica" panose="020B0604020202020204" pitchFamily="34" charset="0"/>
                <a:ea typeface="Helvetica Neue" charset="0"/>
                <a:cs typeface="Helvetica" panose="020B0604020202020204" pitchFamily="34" charset="0"/>
              </a:rPr>
              <a:t>, </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agegr</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obdata.agg.n$agegr</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gender = </a:t>
            </a:r>
            <a:r>
              <a:rPr lang="en-US" sz="1400" i="1" dirty="0" err="1">
                <a:latin typeface="Helvetica" panose="020B0604020202020204" pitchFamily="34" charset="0"/>
                <a:ea typeface="Helvetica Neue" charset="0"/>
                <a:cs typeface="Helvetica" panose="020B0604020202020204" pitchFamily="34" charset="0"/>
              </a:rPr>
              <a:t>obdata.agg.n$gender</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edu</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obdata.agg.n$edu</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b="1" dirty="0">
                <a:solidFill>
                  <a:srgbClr val="EEB211"/>
                </a:solidFill>
                <a:latin typeface="Helvetica" panose="020B0604020202020204" pitchFamily="34" charset="0"/>
                <a:ea typeface="Helvetica Neue" charset="0"/>
                <a:cs typeface="Helvetica" panose="020B0604020202020204" pitchFamily="34" charset="0"/>
              </a:rPr>
              <a:t>## Fit a logistic regression model</a:t>
            </a:r>
          </a:p>
          <a:p>
            <a:pPr>
              <a:defRPr/>
            </a:pP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glm</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cbind</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Obesity,Total</a:t>
            </a:r>
            <a:r>
              <a:rPr lang="en-US" sz="1400" i="1" dirty="0">
                <a:latin typeface="Helvetica" panose="020B0604020202020204" pitchFamily="34" charset="0"/>
                <a:ea typeface="Helvetica Neue" charset="0"/>
                <a:cs typeface="Helvetica" panose="020B0604020202020204" pitchFamily="34" charset="0"/>
              </a:rPr>
              <a:t>-Obesity)~</a:t>
            </a:r>
            <a:r>
              <a:rPr lang="en-US" sz="1400" i="1" dirty="0" err="1">
                <a:latin typeface="Helvetica" panose="020B0604020202020204" pitchFamily="34" charset="0"/>
                <a:ea typeface="Helvetica Neue" charset="0"/>
                <a:cs typeface="Helvetica" panose="020B0604020202020204" pitchFamily="34" charset="0"/>
              </a:rPr>
              <a:t>agegr+gender+edu</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data=</a:t>
            </a:r>
            <a:r>
              <a:rPr lang="en-US" sz="1400" i="1" dirty="0" err="1">
                <a:latin typeface="Helvetica" panose="020B0604020202020204" pitchFamily="34" charset="0"/>
                <a:ea typeface="Helvetica Neue" charset="0"/>
                <a:cs typeface="Helvetica" panose="020B0604020202020204" pitchFamily="34" charset="0"/>
              </a:rPr>
              <a:t>obdata.agg</a:t>
            </a:r>
            <a:r>
              <a:rPr lang="en-US" sz="1400" i="1" dirty="0">
                <a:latin typeface="Helvetica" panose="020B0604020202020204" pitchFamily="34" charset="0"/>
                <a:ea typeface="Helvetica Neue" charset="0"/>
                <a:cs typeface="Helvetica" panose="020B0604020202020204" pitchFamily="34" charset="0"/>
              </a:rPr>
              <a:t>, family=binomial)</a:t>
            </a:r>
          </a:p>
          <a:p>
            <a:pPr>
              <a:defRPr/>
            </a:pPr>
            <a:r>
              <a:rPr lang="en-US" sz="1400" b="1" dirty="0">
                <a:solidFill>
                  <a:srgbClr val="EEB211"/>
                </a:solidFill>
                <a:latin typeface="Helvetica" panose="020B0604020202020204" pitchFamily="34" charset="0"/>
                <a:ea typeface="Helvetica Neue" charset="0"/>
                <a:cs typeface="Helvetica" panose="020B0604020202020204" pitchFamily="34" charset="0"/>
              </a:rPr>
              <a:t>## Test for GOF: Using deviance residuals</a:t>
            </a:r>
          </a:p>
          <a:p>
            <a:pPr>
              <a:defRPr/>
            </a:pPr>
            <a:r>
              <a:rPr lang="en-US" sz="1400" i="1" dirty="0">
                <a:latin typeface="Helvetica" panose="020B0604020202020204" pitchFamily="34" charset="0"/>
                <a:ea typeface="Helvetica Neue" charset="0"/>
                <a:cs typeface="Helvetica" panose="020B0604020202020204" pitchFamily="34" charset="0"/>
              </a:rPr>
              <a:t>c(deviance(</a:t>
            </a: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 1-pchisq(deviance(</a:t>
            </a: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),40))</a:t>
            </a:r>
          </a:p>
          <a:p>
            <a:pPr>
              <a:defRPr/>
            </a:pPr>
            <a:r>
              <a:rPr lang="en-US" sz="1400" dirty="0">
                <a:latin typeface="Helvetica" panose="020B0604020202020204" pitchFamily="34" charset="0"/>
                <a:ea typeface="Helvetica Neue" charset="0"/>
                <a:cs typeface="Helvetica" panose="020B0604020202020204" pitchFamily="34" charset="0"/>
              </a:rPr>
              <a:t>[1] 29.0640209  0.8996714</a:t>
            </a:r>
          </a:p>
        </p:txBody>
      </p:sp>
      <p:sp>
        <p:nvSpPr>
          <p:cNvPr id="7" name="Text Box 2"/>
          <p:cNvSpPr txBox="1">
            <a:spLocks noChangeArrowheads="1"/>
          </p:cNvSpPr>
          <p:nvPr/>
        </p:nvSpPr>
        <p:spPr bwMode="auto">
          <a:xfrm>
            <a:off x="110743" y="110557"/>
            <a:ext cx="8336217" cy="67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spcBef>
                <a:spcPct val="0"/>
              </a:spcBef>
              <a:defRPr/>
            </a:pPr>
            <a:r>
              <a:rPr lang="en-US" altLang="en-US" sz="3600" dirty="0">
                <a:solidFill>
                  <a:schemeClr val="bg2">
                    <a:lumMod val="10000"/>
                  </a:schemeClr>
                </a:solidFill>
                <a:latin typeface="Vitesse"/>
                <a:ea typeface="Vitesse" charset="0"/>
                <a:cs typeface="Vitesse" charset="0"/>
              </a:rPr>
              <a:t>Logistic Regression With Replications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5235">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5235">
                                            <p:txEl>
                                              <p:pRg st="9" end="9"/>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5235">
                                            <p:txEl>
                                              <p:pRg st="10" end="1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5235">
                                            <p:txEl>
                                              <p:pRg st="11" end="1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5235">
                                            <p:txEl>
                                              <p:pRg st="12" end="1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523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242749" y="4219818"/>
            <a:ext cx="5243651" cy="661720"/>
          </a:xfrm>
          <a:prstGeom prst="rect">
            <a:avLst/>
          </a:prstGeom>
          <a:solidFill>
            <a:schemeClr val="bg1"/>
          </a:solidFill>
          <a:ln w="19050">
            <a:solidFill>
              <a:schemeClr val="tx2"/>
            </a:solidFill>
          </a:ln>
        </p:spPr>
        <p:txBody>
          <a:bodyPr wrap="square" rtlCol="0">
            <a:spAutoFit/>
          </a:bodyPr>
          <a:lstStyle/>
          <a:p>
            <a:r>
              <a:rPr lang="en-US" altLang="en-US" sz="1600" dirty="0">
                <a:latin typeface="Helvetica" panose="020B0604020202020204" pitchFamily="34" charset="0"/>
                <a:ea typeface="Helvetica Neue" charset="0"/>
                <a:cs typeface="Helvetica" panose="020B0604020202020204" pitchFamily="34" charset="0"/>
              </a:rPr>
              <a:t>With replications, we can perform a goodness of fit test.</a:t>
            </a:r>
          </a:p>
          <a:p>
            <a:pPr>
              <a:spcBef>
                <a:spcPts val="600"/>
              </a:spcBef>
            </a:pPr>
            <a:r>
              <a:rPr lang="en-US" altLang="en-US" sz="1600" b="1" i="1" dirty="0">
                <a:latin typeface="Helvetica" panose="020B0604020202020204" pitchFamily="34" charset="0"/>
                <a:ea typeface="Helvetica Neue" charset="0"/>
                <a:cs typeface="Helvetica" panose="020B0604020202020204" pitchFamily="34" charset="0"/>
              </a:rPr>
              <a:t>p-value </a:t>
            </a:r>
            <a:r>
              <a:rPr lang="en-US" altLang="en-US" sz="1600" b="1" dirty="0">
                <a:latin typeface="Helvetica" panose="020B0604020202020204" pitchFamily="34" charset="0"/>
                <a:ea typeface="Helvetica Neue" charset="0"/>
                <a:cs typeface="Helvetica" panose="020B0604020202020204" pitchFamily="34" charset="0"/>
              </a:rPr>
              <a:t>= 0.899</a:t>
            </a:r>
            <a:r>
              <a:rPr lang="en-US" altLang="en-US" sz="1600" dirty="0">
                <a:latin typeface="Helvetica" panose="020B0604020202020204" pitchFamily="34" charset="0"/>
                <a:ea typeface="Helvetica Neue" charset="0"/>
                <a:cs typeface="Helvetica" panose="020B0604020202020204" pitchFamily="34" charset="0"/>
              </a:rPr>
              <a:t> indicates a good fit.</a:t>
            </a:r>
            <a:endParaRPr lang="en-US" altLang="en-US" sz="1600" i="1" dirty="0">
              <a:latin typeface="Helvetica" panose="020B0604020202020204" pitchFamily="34" charset="0"/>
              <a:ea typeface="Helvetica Neue" charset="0"/>
              <a:cs typeface="Helvetica" panose="020B0604020202020204" pitchFamily="34" charset="0"/>
            </a:endParaRPr>
          </a:p>
        </p:txBody>
      </p:sp>
      <p:sp>
        <p:nvSpPr>
          <p:cNvPr id="5" name="Text Box 3">
            <a:extLst>
              <a:ext uri="{FF2B5EF4-FFF2-40B4-BE49-F238E27FC236}">
                <a16:creationId xmlns:a16="http://schemas.microsoft.com/office/drawing/2014/main" id="{E41D74C1-FDD0-4C74-BF74-00B700A35279}"/>
              </a:ext>
            </a:extLst>
          </p:cNvPr>
          <p:cNvSpPr txBox="1">
            <a:spLocks noChangeArrowheads="1"/>
          </p:cNvSpPr>
          <p:nvPr/>
        </p:nvSpPr>
        <p:spPr bwMode="auto">
          <a:xfrm>
            <a:off x="155715" y="871432"/>
            <a:ext cx="5915301" cy="3108543"/>
          </a:xfrm>
          <a:prstGeom prst="rect">
            <a:avLst/>
          </a:prstGeom>
          <a:noFill/>
          <a:ln>
            <a:noFill/>
          </a:ln>
        </p:spPr>
        <p:txBody>
          <a:bodyPr wrap="square">
            <a:sp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defRPr/>
            </a:pPr>
            <a:r>
              <a:rPr lang="en-US" sz="1400" b="1" dirty="0">
                <a:solidFill>
                  <a:srgbClr val="EEB211"/>
                </a:solidFill>
                <a:latin typeface="Helvetica" panose="020B0604020202020204" pitchFamily="34" charset="0"/>
                <a:ea typeface="Helvetica Neue" charset="0"/>
                <a:cs typeface="Helvetica" panose="020B0604020202020204" pitchFamily="34" charset="0"/>
              </a:rPr>
              <a:t>### Aggregate data for Logistic Regression with repetitions</a:t>
            </a:r>
          </a:p>
          <a:p>
            <a:pPr>
              <a:defRPr/>
            </a:pPr>
            <a:r>
              <a:rPr lang="en-US" sz="1400" i="1" dirty="0" err="1">
                <a:latin typeface="Helvetica" panose="020B0604020202020204" pitchFamily="34" charset="0"/>
                <a:ea typeface="Helvetica Neue" charset="0"/>
                <a:cs typeface="Helvetica" panose="020B0604020202020204" pitchFamily="34" charset="0"/>
              </a:rPr>
              <a:t>obdata.agg.n</a:t>
            </a:r>
            <a:r>
              <a:rPr lang="en-US" sz="1400" i="1" dirty="0">
                <a:latin typeface="Helvetica" panose="020B0604020202020204" pitchFamily="34" charset="0"/>
                <a:ea typeface="Helvetica Neue" charset="0"/>
                <a:cs typeface="Helvetica" panose="020B0604020202020204" pitchFamily="34" charset="0"/>
              </a:rPr>
              <a:t> = aggregate(</a:t>
            </a:r>
            <a:r>
              <a:rPr lang="en-US" sz="1400" i="1" dirty="0" err="1">
                <a:latin typeface="Helvetica" panose="020B0604020202020204" pitchFamily="34" charset="0"/>
                <a:ea typeface="Helvetica Neue" charset="0"/>
                <a:cs typeface="Helvetica" panose="020B0604020202020204" pitchFamily="34" charset="0"/>
              </a:rPr>
              <a:t>Obesity~agegr+gender+edu</a:t>
            </a:r>
            <a:r>
              <a:rPr lang="en-US" sz="1400" i="1" dirty="0">
                <a:latin typeface="Helvetica" panose="020B0604020202020204" pitchFamily="34" charset="0"/>
                <a:ea typeface="Helvetica Neue" charset="0"/>
                <a:cs typeface="Helvetica" panose="020B0604020202020204" pitchFamily="34" charset="0"/>
              </a:rPr>
              <a:t>, FUN=length)</a:t>
            </a:r>
          </a:p>
          <a:p>
            <a:pPr>
              <a:defRPr/>
            </a:pPr>
            <a:r>
              <a:rPr lang="en-US" sz="1400" i="1" dirty="0" err="1">
                <a:latin typeface="Helvetica" panose="020B0604020202020204" pitchFamily="34" charset="0"/>
                <a:ea typeface="Helvetica Neue" charset="0"/>
                <a:cs typeface="Helvetica" panose="020B0604020202020204" pitchFamily="34" charset="0"/>
              </a:rPr>
              <a:t>obdata.agg.y</a:t>
            </a:r>
            <a:r>
              <a:rPr lang="en-US" sz="1400" i="1" dirty="0">
                <a:latin typeface="Helvetica" panose="020B0604020202020204" pitchFamily="34" charset="0"/>
                <a:ea typeface="Helvetica Neue" charset="0"/>
                <a:cs typeface="Helvetica" panose="020B0604020202020204" pitchFamily="34" charset="0"/>
              </a:rPr>
              <a:t> = aggregate(</a:t>
            </a:r>
            <a:r>
              <a:rPr lang="en-US" sz="1400" i="1" dirty="0" err="1">
                <a:latin typeface="Helvetica" panose="020B0604020202020204" pitchFamily="34" charset="0"/>
                <a:ea typeface="Helvetica Neue" charset="0"/>
                <a:cs typeface="Helvetica" panose="020B0604020202020204" pitchFamily="34" charset="0"/>
              </a:rPr>
              <a:t>Obesity~agegr+gender+edu</a:t>
            </a:r>
            <a:r>
              <a:rPr lang="en-US" sz="1400" i="1" dirty="0">
                <a:latin typeface="Helvetica" panose="020B0604020202020204" pitchFamily="34" charset="0"/>
                <a:ea typeface="Helvetica Neue" charset="0"/>
                <a:cs typeface="Helvetica" panose="020B0604020202020204" pitchFamily="34" charset="0"/>
              </a:rPr>
              <a:t>, FUN=sum)</a:t>
            </a:r>
          </a:p>
          <a:p>
            <a:pPr>
              <a:defRPr/>
            </a:pPr>
            <a:r>
              <a:rPr lang="en-US" sz="1400" i="1" dirty="0" err="1">
                <a:latin typeface="Helvetica" panose="020B0604020202020204" pitchFamily="34" charset="0"/>
                <a:ea typeface="Helvetica Neue" charset="0"/>
                <a:cs typeface="Helvetica" panose="020B0604020202020204" pitchFamily="34" charset="0"/>
              </a:rPr>
              <a:t>obdata.agg</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data.frame</a:t>
            </a:r>
            <a:r>
              <a:rPr lang="en-US" sz="1400" i="1" dirty="0">
                <a:latin typeface="Helvetica" panose="020B0604020202020204" pitchFamily="34" charset="0"/>
                <a:ea typeface="Helvetica Neue" charset="0"/>
                <a:cs typeface="Helvetica" panose="020B0604020202020204" pitchFamily="34" charset="0"/>
              </a:rPr>
              <a:t>(Obesity = </a:t>
            </a:r>
            <a:r>
              <a:rPr lang="en-US" sz="1400" i="1" dirty="0" err="1">
                <a:latin typeface="Helvetica" panose="020B0604020202020204" pitchFamily="34" charset="0"/>
                <a:ea typeface="Helvetica Neue" charset="0"/>
                <a:cs typeface="Helvetica" panose="020B0604020202020204" pitchFamily="34" charset="0"/>
              </a:rPr>
              <a:t>obdata.agg.y$Obesity</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Total = </a:t>
            </a:r>
            <a:r>
              <a:rPr lang="en-US" sz="1400" i="1" dirty="0" err="1">
                <a:latin typeface="Helvetica" panose="020B0604020202020204" pitchFamily="34" charset="0"/>
                <a:ea typeface="Helvetica Neue" charset="0"/>
                <a:cs typeface="Helvetica" panose="020B0604020202020204" pitchFamily="34" charset="0"/>
              </a:rPr>
              <a:t>obdata.agg.n$Obesity</a:t>
            </a:r>
            <a:r>
              <a:rPr lang="en-US" sz="1400" i="1" dirty="0">
                <a:latin typeface="Helvetica" panose="020B0604020202020204" pitchFamily="34" charset="0"/>
                <a:ea typeface="Helvetica Neue" charset="0"/>
                <a:cs typeface="Helvetica" panose="020B0604020202020204" pitchFamily="34" charset="0"/>
              </a:rPr>
              <a:t>, </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agegr</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obdata.agg.n$agegr</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gender = </a:t>
            </a:r>
            <a:r>
              <a:rPr lang="en-US" sz="1400" i="1" dirty="0" err="1">
                <a:latin typeface="Helvetica" panose="020B0604020202020204" pitchFamily="34" charset="0"/>
                <a:ea typeface="Helvetica Neue" charset="0"/>
                <a:cs typeface="Helvetica" panose="020B0604020202020204" pitchFamily="34" charset="0"/>
              </a:rPr>
              <a:t>obdata.agg.n$gender</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edu</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obdata.agg.n$edu</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b="1" dirty="0">
                <a:solidFill>
                  <a:srgbClr val="EEB211"/>
                </a:solidFill>
                <a:latin typeface="Helvetica" panose="020B0604020202020204" pitchFamily="34" charset="0"/>
                <a:ea typeface="Helvetica Neue" charset="0"/>
                <a:cs typeface="Helvetica" panose="020B0604020202020204" pitchFamily="34" charset="0"/>
              </a:rPr>
              <a:t>## Fit a logistic regression model</a:t>
            </a:r>
          </a:p>
          <a:p>
            <a:pPr>
              <a:defRPr/>
            </a:pP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 = </a:t>
            </a:r>
            <a:r>
              <a:rPr lang="en-US" sz="1400" i="1" dirty="0" err="1">
                <a:latin typeface="Helvetica" panose="020B0604020202020204" pitchFamily="34" charset="0"/>
                <a:ea typeface="Helvetica Neue" charset="0"/>
                <a:cs typeface="Helvetica" panose="020B0604020202020204" pitchFamily="34" charset="0"/>
              </a:rPr>
              <a:t>glm</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cbind</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Obesity,Total</a:t>
            </a:r>
            <a:r>
              <a:rPr lang="en-US" sz="1400" i="1" dirty="0">
                <a:latin typeface="Helvetica" panose="020B0604020202020204" pitchFamily="34" charset="0"/>
                <a:ea typeface="Helvetica Neue" charset="0"/>
                <a:cs typeface="Helvetica" panose="020B0604020202020204" pitchFamily="34" charset="0"/>
              </a:rPr>
              <a:t>-Obesity)~</a:t>
            </a:r>
            <a:r>
              <a:rPr lang="en-US" sz="1400" i="1" dirty="0" err="1">
                <a:latin typeface="Helvetica" panose="020B0604020202020204" pitchFamily="34" charset="0"/>
                <a:ea typeface="Helvetica Neue" charset="0"/>
                <a:cs typeface="Helvetica" panose="020B0604020202020204" pitchFamily="34" charset="0"/>
              </a:rPr>
              <a:t>agegr+gender+edu</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data=</a:t>
            </a:r>
            <a:r>
              <a:rPr lang="en-US" sz="1400" i="1" dirty="0" err="1">
                <a:latin typeface="Helvetica" panose="020B0604020202020204" pitchFamily="34" charset="0"/>
                <a:ea typeface="Helvetica Neue" charset="0"/>
                <a:cs typeface="Helvetica" panose="020B0604020202020204" pitchFamily="34" charset="0"/>
              </a:rPr>
              <a:t>obdata.agg</a:t>
            </a:r>
            <a:r>
              <a:rPr lang="en-US" sz="1400" i="1" dirty="0">
                <a:latin typeface="Helvetica" panose="020B0604020202020204" pitchFamily="34" charset="0"/>
                <a:ea typeface="Helvetica Neue" charset="0"/>
                <a:cs typeface="Helvetica" panose="020B0604020202020204" pitchFamily="34" charset="0"/>
              </a:rPr>
              <a:t>, family=binomial)</a:t>
            </a:r>
          </a:p>
          <a:p>
            <a:pPr>
              <a:defRPr/>
            </a:pPr>
            <a:r>
              <a:rPr lang="en-US" sz="1400" b="1" dirty="0">
                <a:solidFill>
                  <a:srgbClr val="EEB211"/>
                </a:solidFill>
                <a:latin typeface="Helvetica" panose="020B0604020202020204" pitchFamily="34" charset="0"/>
                <a:ea typeface="Helvetica Neue" charset="0"/>
                <a:cs typeface="Helvetica" panose="020B0604020202020204" pitchFamily="34" charset="0"/>
              </a:rPr>
              <a:t>## Test for GOF: Using deviance residuals</a:t>
            </a:r>
          </a:p>
          <a:p>
            <a:pPr>
              <a:defRPr/>
            </a:pPr>
            <a:r>
              <a:rPr lang="en-US" sz="1400" i="1" dirty="0">
                <a:latin typeface="Helvetica" panose="020B0604020202020204" pitchFamily="34" charset="0"/>
                <a:ea typeface="Helvetica Neue" charset="0"/>
                <a:cs typeface="Helvetica" panose="020B0604020202020204" pitchFamily="34" charset="0"/>
              </a:rPr>
              <a:t>c(deviance(</a:t>
            </a: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 1-pchisq(deviance(</a:t>
            </a: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),40))</a:t>
            </a:r>
          </a:p>
          <a:p>
            <a:pPr>
              <a:defRPr/>
            </a:pPr>
            <a:r>
              <a:rPr lang="en-US" sz="1400" dirty="0">
                <a:latin typeface="Helvetica" panose="020B0604020202020204" pitchFamily="34" charset="0"/>
                <a:ea typeface="Helvetica Neue" charset="0"/>
                <a:cs typeface="Helvetica" panose="020B0604020202020204" pitchFamily="34" charset="0"/>
              </a:rPr>
              <a:t>[1] 29.0640209  0.8996714</a:t>
            </a:r>
          </a:p>
        </p:txBody>
      </p:sp>
      <p:sp>
        <p:nvSpPr>
          <p:cNvPr id="6" name="Text Box 2">
            <a:extLst>
              <a:ext uri="{FF2B5EF4-FFF2-40B4-BE49-F238E27FC236}">
                <a16:creationId xmlns:a16="http://schemas.microsoft.com/office/drawing/2014/main" id="{DA1B8A40-4A68-4601-894D-85F962DF0357}"/>
              </a:ext>
            </a:extLst>
          </p:cNvPr>
          <p:cNvSpPr txBox="1">
            <a:spLocks noChangeArrowheads="1"/>
          </p:cNvSpPr>
          <p:nvPr/>
        </p:nvSpPr>
        <p:spPr bwMode="auto">
          <a:xfrm>
            <a:off x="110743" y="110557"/>
            <a:ext cx="8336217" cy="67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spcBef>
                <a:spcPct val="0"/>
              </a:spcBef>
              <a:defRPr/>
            </a:pPr>
            <a:r>
              <a:rPr lang="en-US" altLang="en-US" sz="3600" dirty="0">
                <a:solidFill>
                  <a:schemeClr val="bg2">
                    <a:lumMod val="10000"/>
                  </a:schemeClr>
                </a:solidFill>
                <a:latin typeface="Vitesse"/>
                <a:ea typeface="Vitesse" charset="0"/>
                <a:cs typeface="Vitesse" charset="0"/>
              </a:rPr>
              <a:t>Logistic Regression With Replications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a:spLocks noChangeArrowheads="1"/>
          </p:cNvSpPr>
          <p:nvPr/>
        </p:nvSpPr>
        <p:spPr bwMode="auto">
          <a:xfrm>
            <a:off x="145773" y="869319"/>
            <a:ext cx="5354280" cy="3754874"/>
          </a:xfrm>
          <a:prstGeom prst="rect">
            <a:avLst/>
          </a:prstGeom>
          <a:noFill/>
          <a:ln>
            <a:noFill/>
          </a:ln>
        </p:spPr>
        <p:txBody>
          <a:bodyPr wrap="square">
            <a:sp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defRPr/>
            </a:pPr>
            <a:r>
              <a:rPr lang="en-US" sz="1400" dirty="0">
                <a:latin typeface="Helvetica" panose="020B0604020202020204" pitchFamily="34" charset="0"/>
                <a:ea typeface="Helvetica Neue" charset="0"/>
                <a:cs typeface="Helvetica" panose="020B0604020202020204" pitchFamily="34" charset="0"/>
              </a:rPr>
              <a:t>summary(</a:t>
            </a:r>
            <a:r>
              <a:rPr lang="en-US" sz="1400" dirty="0" err="1">
                <a:latin typeface="Helvetica" panose="020B0604020202020204" pitchFamily="34" charset="0"/>
                <a:ea typeface="Helvetica Neue" charset="0"/>
                <a:cs typeface="Helvetica" panose="020B0604020202020204" pitchFamily="34" charset="0"/>
              </a:rPr>
              <a:t>model.agg</a:t>
            </a:r>
            <a:r>
              <a:rPr lang="en-US" sz="1400" dirty="0">
                <a:latin typeface="Helvetica" panose="020B0604020202020204" pitchFamily="34" charset="0"/>
                <a:ea typeface="Helvetica Neue" charset="0"/>
                <a:cs typeface="Helvetica" panose="020B0604020202020204" pitchFamily="34" charset="0"/>
              </a:rPr>
              <a:t>)</a:t>
            </a: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r>
              <a:rPr lang="en-US" sz="1400" dirty="0">
                <a:latin typeface="Helvetica" panose="020B0604020202020204" pitchFamily="34" charset="0"/>
                <a:ea typeface="Helvetica Neue" charset="0"/>
                <a:cs typeface="Helvetica" panose="020B0604020202020204" pitchFamily="34" charset="0"/>
              </a:rPr>
              <a:t>Coefficients:</a:t>
            </a: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endParaRPr lang="en-US" sz="1400" dirty="0">
              <a:latin typeface="Helvetica" panose="020B0604020202020204" pitchFamily="34" charset="0"/>
              <a:ea typeface="Helvetica Neue" charset="0"/>
              <a:cs typeface="Helvetica" panose="020B0604020202020204" pitchFamily="34" charset="0"/>
            </a:endParaRPr>
          </a:p>
          <a:p>
            <a:pPr>
              <a:defRPr/>
            </a:pPr>
            <a:r>
              <a:rPr lang="en-US" sz="1400" dirty="0">
                <a:latin typeface="Helvetica" panose="020B0604020202020204" pitchFamily="34" charset="0"/>
                <a:ea typeface="Helvetica Neue" charset="0"/>
                <a:cs typeface="Helvetica" panose="020B0604020202020204" pitchFamily="34" charset="0"/>
              </a:rPr>
              <a:t>      Null deviance: 127.701  on 49  degrees of freedom</a:t>
            </a:r>
          </a:p>
          <a:p>
            <a:pPr marL="112713">
              <a:defRPr/>
            </a:pPr>
            <a:r>
              <a:rPr lang="en-US" sz="1400" dirty="0">
                <a:latin typeface="Helvetica" panose="020B0604020202020204" pitchFamily="34" charset="0"/>
                <a:ea typeface="Helvetica Neue" charset="0"/>
                <a:cs typeface="Helvetica" panose="020B0604020202020204" pitchFamily="34" charset="0"/>
              </a:rPr>
              <a:t>Residual deviance:  29.064  on 40  degrees of freedom</a:t>
            </a:r>
          </a:p>
        </p:txBody>
      </p:sp>
      <p:sp>
        <p:nvSpPr>
          <p:cNvPr id="5" name="TextBox 4"/>
          <p:cNvSpPr txBox="1"/>
          <p:nvPr/>
        </p:nvSpPr>
        <p:spPr>
          <a:xfrm>
            <a:off x="5515043" y="1758159"/>
            <a:ext cx="3470934" cy="1985159"/>
          </a:xfrm>
          <a:prstGeom prst="rect">
            <a:avLst/>
          </a:prstGeom>
          <a:solidFill>
            <a:schemeClr val="bg1"/>
          </a:solidFill>
          <a:ln w="19050">
            <a:solidFill>
              <a:schemeClr val="tx2"/>
            </a:solidFill>
          </a:ln>
        </p:spPr>
        <p:txBody>
          <a:bodyPr wrap="square" lIns="182880" tIns="91440" rIns="182880" bIns="91440" rtlCol="0">
            <a:spAutoFit/>
          </a:bodyPr>
          <a:lstStyle/>
          <a:p>
            <a:pPr marL="285750" indent="-285750">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Regression coefficient output for estimation and statistical inference is the same with or without replications. </a:t>
            </a:r>
          </a:p>
          <a:p>
            <a:pPr marL="285750" indent="-285750">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Null and residual deviance output is different with replications. </a:t>
            </a:r>
            <a:r>
              <a:rPr lang="en-US" altLang="en-US" sz="1600" b="1" i="1" dirty="0">
                <a:solidFill>
                  <a:srgbClr val="EEB211"/>
                </a:solidFill>
                <a:latin typeface="Helvetica" panose="020B0604020202020204" pitchFamily="34" charset="0"/>
                <a:ea typeface="Helvetica Neue" charset="0"/>
                <a:cs typeface="Helvetica" panose="020B0604020202020204" pitchFamily="34" charset="0"/>
              </a:rPr>
              <a:t>Why?</a:t>
            </a:r>
          </a:p>
        </p:txBody>
      </p:sp>
      <p:sp>
        <p:nvSpPr>
          <p:cNvPr id="8" name="Rectangle 7"/>
          <p:cNvSpPr/>
          <p:nvPr/>
        </p:nvSpPr>
        <p:spPr>
          <a:xfrm>
            <a:off x="235714" y="4083394"/>
            <a:ext cx="4636090" cy="504754"/>
          </a:xfrm>
          <a:prstGeom prst="rect">
            <a:avLst/>
          </a:prstGeom>
          <a:noFill/>
          <a:ln w="19050">
            <a:solidFill>
              <a:srgbClr val="EEB2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Text Box 2">
            <a:extLst>
              <a:ext uri="{FF2B5EF4-FFF2-40B4-BE49-F238E27FC236}">
                <a16:creationId xmlns:a16="http://schemas.microsoft.com/office/drawing/2014/main" id="{55D28D43-BC65-4C90-BC7C-87CAAA6B05C4}"/>
              </a:ext>
            </a:extLst>
          </p:cNvPr>
          <p:cNvSpPr txBox="1">
            <a:spLocks noChangeArrowheads="1"/>
          </p:cNvSpPr>
          <p:nvPr/>
        </p:nvSpPr>
        <p:spPr bwMode="auto">
          <a:xfrm>
            <a:off x="110743" y="110557"/>
            <a:ext cx="8336217" cy="6716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spcBef>
                <a:spcPct val="0"/>
              </a:spcBef>
              <a:defRPr/>
            </a:pPr>
            <a:r>
              <a:rPr lang="en-US" altLang="en-US" sz="3600" dirty="0">
                <a:solidFill>
                  <a:schemeClr val="bg2">
                    <a:lumMod val="10000"/>
                  </a:schemeClr>
                </a:solidFill>
                <a:latin typeface="Vitesse"/>
                <a:ea typeface="Vitesse" charset="0"/>
                <a:cs typeface="Vitesse" charset="0"/>
              </a:rPr>
              <a:t>Logistic Regression With Replications</a:t>
            </a:r>
          </a:p>
        </p:txBody>
      </p:sp>
      <p:graphicFrame>
        <p:nvGraphicFramePr>
          <p:cNvPr id="2" name="Table 1">
            <a:extLst>
              <a:ext uri="{FF2B5EF4-FFF2-40B4-BE49-F238E27FC236}">
                <a16:creationId xmlns:a16="http://schemas.microsoft.com/office/drawing/2014/main" id="{0BA71990-1229-41F1-8338-D751F8307F44}"/>
              </a:ext>
            </a:extLst>
          </p:cNvPr>
          <p:cNvGraphicFramePr>
            <a:graphicFrameLocks noGrp="1"/>
          </p:cNvGraphicFramePr>
          <p:nvPr>
            <p:extLst>
              <p:ext uri="{D42A27DB-BD31-4B8C-83A1-F6EECF244321}">
                <p14:modId xmlns:p14="http://schemas.microsoft.com/office/powerpoint/2010/main" val="3813301149"/>
              </p:ext>
            </p:extLst>
          </p:nvPr>
        </p:nvGraphicFramePr>
        <p:xfrm>
          <a:off x="173013" y="1548407"/>
          <a:ext cx="5254625" cy="2328799"/>
        </p:xfrm>
        <a:graphic>
          <a:graphicData uri="http://schemas.openxmlformats.org/drawingml/2006/table">
            <a:tbl>
              <a:tblPr firstRow="1" firstCol="1" bandRow="1">
                <a:tableStyleId>{5C22544A-7EE6-4342-B048-85BDC9FD1C3A}</a:tableStyleId>
              </a:tblPr>
              <a:tblGrid>
                <a:gridCol w="1502410">
                  <a:extLst>
                    <a:ext uri="{9D8B030D-6E8A-4147-A177-3AD203B41FA5}">
                      <a16:colId xmlns:a16="http://schemas.microsoft.com/office/drawing/2014/main" val="749165859"/>
                    </a:ext>
                  </a:extLst>
                </a:gridCol>
                <a:gridCol w="894715">
                  <a:extLst>
                    <a:ext uri="{9D8B030D-6E8A-4147-A177-3AD203B41FA5}">
                      <a16:colId xmlns:a16="http://schemas.microsoft.com/office/drawing/2014/main" val="2058776769"/>
                    </a:ext>
                  </a:extLst>
                </a:gridCol>
                <a:gridCol w="914400">
                  <a:extLst>
                    <a:ext uri="{9D8B030D-6E8A-4147-A177-3AD203B41FA5}">
                      <a16:colId xmlns:a16="http://schemas.microsoft.com/office/drawing/2014/main" val="859019766"/>
                    </a:ext>
                  </a:extLst>
                </a:gridCol>
                <a:gridCol w="742950">
                  <a:extLst>
                    <a:ext uri="{9D8B030D-6E8A-4147-A177-3AD203B41FA5}">
                      <a16:colId xmlns:a16="http://schemas.microsoft.com/office/drawing/2014/main" val="342288581"/>
                    </a:ext>
                  </a:extLst>
                </a:gridCol>
                <a:gridCol w="1200150">
                  <a:extLst>
                    <a:ext uri="{9D8B030D-6E8A-4147-A177-3AD203B41FA5}">
                      <a16:colId xmlns:a16="http://schemas.microsoft.com/office/drawing/2014/main" val="3380185735"/>
                    </a:ext>
                  </a:extLst>
                </a:gridCol>
              </a:tblGrid>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Estimate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Std. Error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z value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Pr(&gt;|z|)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997602338"/>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(Intercept)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-1.20581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0.15730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-7.666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1.78e-14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964031899"/>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agegr25to34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0.47271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0.14428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3.276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0.001052 **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970967844"/>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agegr35to44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0.76486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0.14196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5.388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7.13e-08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096000884"/>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agegr45to64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0.84815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0.13240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6.406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1.49e-10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264257295"/>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agegr65+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0.60086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0.13751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4.370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1.24e-05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4233532731"/>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genderFemale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0.23041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0.06363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3.621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0.000293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3290386467"/>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edu9to11Grade</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dirty="0">
                          <a:solidFill>
                            <a:schemeClr val="tx1"/>
                          </a:solidFill>
                          <a:effectLst/>
                          <a:latin typeface="Helvetica" panose="020B0604020202020204" pitchFamily="34" charset="0"/>
                          <a:cs typeface="Helvetica" panose="020B0604020202020204" pitchFamily="34" charset="0"/>
                        </a:rPr>
                        <a:t>0.05632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0.12229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0.461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0.645110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004915461"/>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eduHighSchool</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-0.03440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0.11436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-0.301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0.763579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757356481"/>
                  </a:ext>
                </a:extLst>
              </a:tr>
              <a:tr h="0">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eduSomeCollege</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0.13947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0.11036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1.264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0.206301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2908324151"/>
                  </a:ext>
                </a:extLst>
              </a:tr>
              <a:tr h="0">
                <a:tc>
                  <a:txBody>
                    <a:bodyPr/>
                    <a:lstStyle/>
                    <a:p>
                      <a:pPr marL="0" marR="0">
                        <a:lnSpc>
                          <a:spcPct val="107000"/>
                        </a:lnSpc>
                        <a:spcBef>
                          <a:spcPts val="0"/>
                        </a:spcBef>
                        <a:spcAft>
                          <a:spcPts val="0"/>
                        </a:spcAft>
                      </a:pPr>
                      <a:r>
                        <a:rPr lang="en-US" sz="1400" b="0" dirty="0" err="1">
                          <a:solidFill>
                            <a:schemeClr val="tx1"/>
                          </a:solidFill>
                          <a:effectLst/>
                          <a:latin typeface="Helvetica" panose="020B0604020202020204" pitchFamily="34" charset="0"/>
                          <a:cs typeface="Helvetica" panose="020B0604020202020204" pitchFamily="34" charset="0"/>
                        </a:rPr>
                        <a:t>eduCollege</a:t>
                      </a:r>
                      <a:r>
                        <a:rPr lang="en-US" sz="1400" b="0" dirty="0">
                          <a:solidFill>
                            <a:schemeClr val="tx1"/>
                          </a:solidFill>
                          <a:effectLst/>
                          <a:latin typeface="Helvetica" panose="020B0604020202020204" pitchFamily="34" charset="0"/>
                          <a:cs typeface="Helvetica" panose="020B0604020202020204" pitchFamily="34" charset="0"/>
                        </a:rPr>
                        <a:t>+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-0.40077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0.11757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a:solidFill>
                            <a:schemeClr val="tx1"/>
                          </a:solidFill>
                          <a:effectLst/>
                          <a:latin typeface="Helvetica" panose="020B0604020202020204" pitchFamily="34" charset="0"/>
                          <a:cs typeface="Helvetica" panose="020B0604020202020204" pitchFamily="34" charset="0"/>
                        </a:rPr>
                        <a:t>-3.409 </a:t>
                      </a:r>
                      <a:endParaRPr lang="en-US" sz="1100" b="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tc>
                  <a:txBody>
                    <a:bodyPr/>
                    <a:lstStyle/>
                    <a:p>
                      <a:pPr marL="0" marR="0">
                        <a:lnSpc>
                          <a:spcPct val="107000"/>
                        </a:lnSpc>
                        <a:spcBef>
                          <a:spcPts val="0"/>
                        </a:spcBef>
                        <a:spcAft>
                          <a:spcPts val="0"/>
                        </a:spcAft>
                      </a:pPr>
                      <a:r>
                        <a:rPr lang="en-US" sz="1400" b="0" dirty="0">
                          <a:solidFill>
                            <a:schemeClr val="tx1"/>
                          </a:solidFill>
                          <a:effectLst/>
                          <a:latin typeface="Helvetica" panose="020B0604020202020204" pitchFamily="34" charset="0"/>
                          <a:cs typeface="Helvetica" panose="020B0604020202020204" pitchFamily="34" charset="0"/>
                        </a:rPr>
                        <a:t>0.000653 ***</a:t>
                      </a:r>
                      <a:endParaRPr lang="en-US" sz="1100" b="0" dirty="0">
                        <a:solidFill>
                          <a:schemeClr val="tx1"/>
                        </a:solidFill>
                        <a:effectLst/>
                        <a:latin typeface="Helvetica" panose="020B0604020202020204" pitchFamily="34" charset="0"/>
                        <a:ea typeface="Calibri" panose="020F0502020204030204" pitchFamily="34" charset="0"/>
                        <a:cs typeface="Helvetica" panose="020B0604020202020204" pitchFamily="34" charset="0"/>
                      </a:endParaRPr>
                    </a:p>
                  </a:txBody>
                  <a:tcPr marL="68580" marR="68580" marT="0" marB="0">
                    <a:noFill/>
                  </a:tcPr>
                </a:tc>
                <a:extLst>
                  <a:ext uri="{0D108BD9-81ED-4DB2-BD59-A6C34878D82A}">
                    <a16:rowId xmlns:a16="http://schemas.microsoft.com/office/drawing/2014/main" val="1438177299"/>
                  </a:ext>
                </a:extLst>
              </a:tr>
            </a:tbl>
          </a:graphicData>
        </a:graphic>
      </p:graphicFrame>
      <p:sp>
        <p:nvSpPr>
          <p:cNvPr id="3" name="Rectangle 1">
            <a:extLst>
              <a:ext uri="{FF2B5EF4-FFF2-40B4-BE49-F238E27FC236}">
                <a16:creationId xmlns:a16="http://schemas.microsoft.com/office/drawing/2014/main" id="{4A14E79C-CC61-41C3-8676-68BFCD86FCF9}"/>
              </a:ext>
            </a:extLst>
          </p:cNvPr>
          <p:cNvSpPr>
            <a:spLocks noChangeArrowheads="1"/>
          </p:cNvSpPr>
          <p:nvPr/>
        </p:nvSpPr>
        <p:spPr bwMode="auto">
          <a:xfrm>
            <a:off x="3410881" y="407461"/>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5" name="Text Box 3"/>
          <p:cNvSpPr txBox="1">
            <a:spLocks noChangeArrowheads="1"/>
          </p:cNvSpPr>
          <p:nvPr/>
        </p:nvSpPr>
        <p:spPr bwMode="auto">
          <a:xfrm>
            <a:off x="144461" y="861817"/>
            <a:ext cx="4337598" cy="3753485"/>
          </a:xfrm>
          <a:prstGeom prst="rect">
            <a:avLst/>
          </a:prstGeom>
          <a:noFill/>
          <a:ln>
            <a:noFill/>
          </a:ln>
        </p:spPr>
        <p:txBody>
          <a:bodyPr wrap="square">
            <a:sp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defRPr/>
            </a:pPr>
            <a:r>
              <a:rPr lang="en-US" sz="1400" i="1" dirty="0">
                <a:latin typeface="Helvetica" panose="020B0604020202020204" pitchFamily="34" charset="0"/>
                <a:ea typeface="Helvetica Neue" charset="0"/>
                <a:cs typeface="Helvetica" panose="020B0604020202020204" pitchFamily="34" charset="0"/>
              </a:rPr>
              <a:t>res = </a:t>
            </a:r>
            <a:r>
              <a:rPr lang="en-US" sz="1400" i="1" dirty="0" err="1">
                <a:latin typeface="Helvetica" panose="020B0604020202020204" pitchFamily="34" charset="0"/>
                <a:ea typeface="Helvetica Neue" charset="0"/>
                <a:cs typeface="Helvetica" panose="020B0604020202020204" pitchFamily="34" charset="0"/>
              </a:rPr>
              <a:t>resid</a:t>
            </a:r>
            <a:r>
              <a:rPr lang="en-US" sz="1400" i="1" dirty="0">
                <a:latin typeface="Helvetica" panose="020B0604020202020204" pitchFamily="34" charset="0"/>
                <a:ea typeface="Helvetica Neue" charset="0"/>
                <a:cs typeface="Helvetica" panose="020B0604020202020204" pitchFamily="34" charset="0"/>
              </a:rPr>
              <a:t>(</a:t>
            </a:r>
            <a:r>
              <a:rPr lang="en-US" sz="1400" i="1" dirty="0" err="1">
                <a:latin typeface="Helvetica" panose="020B0604020202020204" pitchFamily="34" charset="0"/>
                <a:ea typeface="Helvetica Neue" charset="0"/>
                <a:cs typeface="Helvetica" panose="020B0604020202020204" pitchFamily="34" charset="0"/>
              </a:rPr>
              <a:t>model.agg</a:t>
            </a:r>
            <a:r>
              <a:rPr lang="en-US" sz="1400" i="1" dirty="0">
                <a:latin typeface="Helvetica" panose="020B0604020202020204" pitchFamily="34" charset="0"/>
                <a:ea typeface="Helvetica Neue" charset="0"/>
                <a:cs typeface="Helvetica" panose="020B0604020202020204" pitchFamily="34" charset="0"/>
              </a:rPr>
              <a:t>, type="deviance")</a:t>
            </a:r>
          </a:p>
          <a:p>
            <a:pPr>
              <a:defRPr/>
            </a:pPr>
            <a:r>
              <a:rPr lang="en-US" sz="1400" i="1" dirty="0">
                <a:latin typeface="Helvetica" panose="020B0604020202020204" pitchFamily="34" charset="0"/>
                <a:ea typeface="Helvetica Neue" charset="0"/>
                <a:cs typeface="Helvetica" panose="020B0604020202020204" pitchFamily="34" charset="0"/>
              </a:rPr>
              <a:t>par(</a:t>
            </a:r>
            <a:r>
              <a:rPr lang="en-US" sz="1400" i="1" dirty="0" err="1">
                <a:latin typeface="Helvetica" panose="020B0604020202020204" pitchFamily="34" charset="0"/>
                <a:ea typeface="Helvetica Neue" charset="0"/>
                <a:cs typeface="Helvetica" panose="020B0604020202020204" pitchFamily="34" charset="0"/>
              </a:rPr>
              <a:t>mfrow</a:t>
            </a:r>
            <a:r>
              <a:rPr lang="en-US" sz="1400" i="1" dirty="0">
                <a:latin typeface="Helvetica" panose="020B0604020202020204" pitchFamily="34" charset="0"/>
                <a:ea typeface="Helvetica Neue" charset="0"/>
                <a:cs typeface="Helvetica" panose="020B0604020202020204" pitchFamily="34" charset="0"/>
              </a:rPr>
              <a:t>=c(2,2))</a:t>
            </a:r>
          </a:p>
          <a:p>
            <a:pPr>
              <a:defRPr/>
            </a:pPr>
            <a:endParaRPr lang="en-US" sz="1400" i="1" dirty="0">
              <a:latin typeface="Helvetica" panose="020B0604020202020204" pitchFamily="34" charset="0"/>
              <a:ea typeface="Helvetica Neue" charset="0"/>
              <a:cs typeface="Helvetica" panose="020B0604020202020204" pitchFamily="34" charset="0"/>
            </a:endParaRPr>
          </a:p>
          <a:p>
            <a:pPr>
              <a:defRPr/>
            </a:pPr>
            <a:r>
              <a:rPr lang="en-US" sz="1400" i="1" dirty="0">
                <a:latin typeface="Helvetica" panose="020B0604020202020204" pitchFamily="34" charset="0"/>
                <a:ea typeface="Helvetica Neue" charset="0"/>
                <a:cs typeface="Helvetica" panose="020B0604020202020204" pitchFamily="34" charset="0"/>
              </a:rPr>
              <a:t>boxplot(</a:t>
            </a:r>
            <a:r>
              <a:rPr lang="en-US" sz="1400" i="1" dirty="0" err="1">
                <a:latin typeface="Helvetica" panose="020B0604020202020204" pitchFamily="34" charset="0"/>
                <a:ea typeface="Helvetica Neue" charset="0"/>
                <a:cs typeface="Helvetica" panose="020B0604020202020204" pitchFamily="34" charset="0"/>
              </a:rPr>
              <a:t>res~agegr</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xlab</a:t>
            </a:r>
            <a:r>
              <a:rPr lang="en-US" sz="1400" i="1" dirty="0">
                <a:latin typeface="Helvetica" panose="020B0604020202020204" pitchFamily="34" charset="0"/>
                <a:ea typeface="Helvetica Neue" charset="0"/>
                <a:cs typeface="Helvetica" panose="020B0604020202020204" pitchFamily="34" charset="0"/>
              </a:rPr>
              <a:t>="Age Group", </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ylab</a:t>
            </a:r>
            <a:r>
              <a:rPr lang="en-US" sz="1400" i="1" dirty="0">
                <a:latin typeface="Helvetica" panose="020B0604020202020204" pitchFamily="34" charset="0"/>
                <a:ea typeface="Helvetica Neue" charset="0"/>
                <a:cs typeface="Helvetica" panose="020B0604020202020204" pitchFamily="34" charset="0"/>
              </a:rPr>
              <a:t>="Std residuals",</a:t>
            </a:r>
          </a:p>
          <a:p>
            <a:pPr>
              <a:defRPr/>
            </a:pPr>
            <a:r>
              <a:rPr lang="en-US" sz="1400" i="1" dirty="0">
                <a:latin typeface="Helvetica" panose="020B0604020202020204" pitchFamily="34" charset="0"/>
                <a:ea typeface="Helvetica Neue" charset="0"/>
                <a:cs typeface="Helvetica" panose="020B0604020202020204" pitchFamily="34" charset="0"/>
              </a:rPr>
              <a:t>	data=</a:t>
            </a:r>
            <a:r>
              <a:rPr lang="en-US" sz="1400" i="1" dirty="0" err="1">
                <a:latin typeface="Helvetica" panose="020B0604020202020204" pitchFamily="34" charset="0"/>
                <a:ea typeface="Helvetica Neue" charset="0"/>
                <a:cs typeface="Helvetica" panose="020B0604020202020204" pitchFamily="34" charset="0"/>
              </a:rPr>
              <a:t>obdata.agg</a:t>
            </a:r>
            <a:r>
              <a:rPr lang="en-US" sz="1400" i="1" dirty="0">
                <a:latin typeface="Helvetica" panose="020B0604020202020204" pitchFamily="34" charset="0"/>
                <a:ea typeface="Helvetica Neue" charset="0"/>
                <a:cs typeface="Helvetica" panose="020B0604020202020204" pitchFamily="34" charset="0"/>
              </a:rPr>
              <a:t>)</a:t>
            </a:r>
          </a:p>
          <a:p>
            <a:pPr>
              <a:defRPr/>
            </a:pPr>
            <a:endParaRPr lang="en-US" sz="1400" i="1" dirty="0">
              <a:latin typeface="Helvetica" panose="020B0604020202020204" pitchFamily="34" charset="0"/>
              <a:ea typeface="Helvetica Neue" charset="0"/>
              <a:cs typeface="Helvetica" panose="020B0604020202020204" pitchFamily="34" charset="0"/>
            </a:endParaRPr>
          </a:p>
          <a:p>
            <a:pPr>
              <a:defRPr/>
            </a:pPr>
            <a:r>
              <a:rPr lang="en-US" sz="1400" i="1" dirty="0">
                <a:latin typeface="Helvetica" panose="020B0604020202020204" pitchFamily="34" charset="0"/>
                <a:ea typeface="Helvetica Neue" charset="0"/>
                <a:cs typeface="Helvetica" panose="020B0604020202020204" pitchFamily="34" charset="0"/>
              </a:rPr>
              <a:t>boxplot(</a:t>
            </a:r>
            <a:r>
              <a:rPr lang="en-US" sz="1400" i="1" dirty="0" err="1">
                <a:latin typeface="Helvetica" panose="020B0604020202020204" pitchFamily="34" charset="0"/>
                <a:ea typeface="Helvetica Neue" charset="0"/>
                <a:cs typeface="Helvetica" panose="020B0604020202020204" pitchFamily="34" charset="0"/>
              </a:rPr>
              <a:t>res~gender</a:t>
            </a:r>
            <a:r>
              <a:rPr lang="en-US" sz="1400" i="1" dirty="0">
                <a:latin typeface="Helvetica" panose="020B0604020202020204" pitchFamily="34" charset="0"/>
                <a:ea typeface="Helvetica Neue" charset="0"/>
                <a:cs typeface="Helvetica" panose="020B0604020202020204" pitchFamily="34" charset="0"/>
              </a:rPr>
              <a:t>,</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xlab</a:t>
            </a:r>
            <a:r>
              <a:rPr lang="en-US" sz="1400" i="1" dirty="0">
                <a:latin typeface="Helvetica" panose="020B0604020202020204" pitchFamily="34" charset="0"/>
                <a:ea typeface="Helvetica Neue" charset="0"/>
                <a:cs typeface="Helvetica" panose="020B0604020202020204" pitchFamily="34" charset="0"/>
              </a:rPr>
              <a:t>="Gender",</a:t>
            </a:r>
          </a:p>
          <a:p>
            <a:pPr>
              <a:defRPr/>
            </a:pPr>
            <a:r>
              <a:rPr lang="en-US" sz="1400" i="1" dirty="0">
                <a:latin typeface="Helvetica" panose="020B0604020202020204" pitchFamily="34" charset="0"/>
                <a:ea typeface="Helvetica Neue" charset="0"/>
                <a:cs typeface="Helvetica" panose="020B0604020202020204" pitchFamily="34" charset="0"/>
              </a:rPr>
              <a:t>	</a:t>
            </a:r>
            <a:r>
              <a:rPr lang="en-US" sz="1400" i="1" dirty="0" err="1">
                <a:latin typeface="Helvetica" panose="020B0604020202020204" pitchFamily="34" charset="0"/>
                <a:ea typeface="Helvetica Neue" charset="0"/>
                <a:cs typeface="Helvetica" panose="020B0604020202020204" pitchFamily="34" charset="0"/>
              </a:rPr>
              <a:t>ylab</a:t>
            </a:r>
            <a:r>
              <a:rPr lang="en-US" sz="1400" i="1" dirty="0">
                <a:latin typeface="Helvetica" panose="020B0604020202020204" pitchFamily="34" charset="0"/>
                <a:ea typeface="Helvetica Neue" charset="0"/>
                <a:cs typeface="Helvetica" panose="020B0604020202020204" pitchFamily="34" charset="0"/>
              </a:rPr>
              <a:t>="Std residuals",</a:t>
            </a:r>
          </a:p>
          <a:p>
            <a:pPr>
              <a:defRPr/>
            </a:pPr>
            <a:r>
              <a:rPr lang="en-US" sz="1400" i="1" dirty="0">
                <a:latin typeface="Helvetica" panose="020B0604020202020204" pitchFamily="34" charset="0"/>
                <a:ea typeface="Helvetica Neue" charset="0"/>
                <a:cs typeface="Helvetica" panose="020B0604020202020204" pitchFamily="34" charset="0"/>
              </a:rPr>
              <a:t>	data = </a:t>
            </a:r>
            <a:r>
              <a:rPr lang="en-US" sz="1400" i="1" dirty="0" err="1">
                <a:latin typeface="Helvetica" panose="020B0604020202020204" pitchFamily="34" charset="0"/>
                <a:ea typeface="Helvetica Neue" charset="0"/>
                <a:cs typeface="Helvetica" panose="020B0604020202020204" pitchFamily="34" charset="0"/>
              </a:rPr>
              <a:t>obdata.agg</a:t>
            </a:r>
            <a:r>
              <a:rPr lang="en-US" sz="1400" i="1" dirty="0">
                <a:latin typeface="Helvetica" panose="020B0604020202020204" pitchFamily="34" charset="0"/>
                <a:ea typeface="Helvetica Neue" charset="0"/>
                <a:cs typeface="Helvetica" panose="020B0604020202020204" pitchFamily="34" charset="0"/>
              </a:rPr>
              <a:t>)</a:t>
            </a:r>
          </a:p>
          <a:p>
            <a:pPr>
              <a:defRPr/>
            </a:pPr>
            <a:endParaRPr lang="en-US" sz="1400" i="1" dirty="0">
              <a:latin typeface="Helvetica" panose="020B0604020202020204" pitchFamily="34" charset="0"/>
              <a:ea typeface="Helvetica Neue" charset="0"/>
              <a:cs typeface="Helvetica" panose="020B0604020202020204" pitchFamily="34" charset="0"/>
            </a:endParaRPr>
          </a:p>
          <a:p>
            <a:pPr>
              <a:defRPr/>
            </a:pPr>
            <a:r>
              <a:rPr lang="en-US" sz="1400" i="1" dirty="0" err="1">
                <a:latin typeface="Helvetica" panose="020B0604020202020204" pitchFamily="34" charset="0"/>
                <a:ea typeface="Helvetica Neue" charset="0"/>
                <a:cs typeface="Helvetica" panose="020B0604020202020204" pitchFamily="34" charset="0"/>
              </a:rPr>
              <a:t>qqnorm</a:t>
            </a:r>
            <a:r>
              <a:rPr lang="en-US" sz="1400" i="1" dirty="0">
                <a:latin typeface="Helvetica" panose="020B0604020202020204" pitchFamily="34" charset="0"/>
                <a:ea typeface="Helvetica Neue" charset="0"/>
                <a:cs typeface="Helvetica" panose="020B0604020202020204" pitchFamily="34" charset="0"/>
              </a:rPr>
              <a:t>(res, </a:t>
            </a:r>
            <a:r>
              <a:rPr lang="en-US" sz="1400" i="1" dirty="0" err="1">
                <a:latin typeface="Helvetica" panose="020B0604020202020204" pitchFamily="34" charset="0"/>
                <a:ea typeface="Helvetica Neue" charset="0"/>
                <a:cs typeface="Helvetica" panose="020B0604020202020204" pitchFamily="34" charset="0"/>
              </a:rPr>
              <a:t>ylab</a:t>
            </a:r>
            <a:r>
              <a:rPr lang="en-US" sz="1400" i="1" dirty="0">
                <a:latin typeface="Helvetica" panose="020B0604020202020204" pitchFamily="34" charset="0"/>
                <a:ea typeface="Helvetica Neue" charset="0"/>
                <a:cs typeface="Helvetica" panose="020B0604020202020204" pitchFamily="34" charset="0"/>
              </a:rPr>
              <a:t>="Std residuals")</a:t>
            </a:r>
          </a:p>
          <a:p>
            <a:pPr>
              <a:defRPr/>
            </a:pPr>
            <a:r>
              <a:rPr lang="en-US" sz="1400" i="1" dirty="0" err="1">
                <a:latin typeface="Helvetica" panose="020B0604020202020204" pitchFamily="34" charset="0"/>
                <a:ea typeface="Helvetica Neue" charset="0"/>
                <a:cs typeface="Helvetica" panose="020B0604020202020204" pitchFamily="34" charset="0"/>
              </a:rPr>
              <a:t>qqline</a:t>
            </a:r>
            <a:r>
              <a:rPr lang="en-US" sz="1400" i="1" dirty="0">
                <a:latin typeface="Helvetica" panose="020B0604020202020204" pitchFamily="34" charset="0"/>
                <a:ea typeface="Helvetica Neue" charset="0"/>
                <a:cs typeface="Helvetica" panose="020B0604020202020204" pitchFamily="34" charset="0"/>
              </a:rPr>
              <a:t>(res, col="blue", </a:t>
            </a:r>
            <a:r>
              <a:rPr lang="en-US" sz="1400" i="1" dirty="0" err="1">
                <a:latin typeface="Helvetica" panose="020B0604020202020204" pitchFamily="34" charset="0"/>
                <a:ea typeface="Helvetica Neue" charset="0"/>
                <a:cs typeface="Helvetica" panose="020B0604020202020204" pitchFamily="34" charset="0"/>
              </a:rPr>
              <a:t>lwd</a:t>
            </a:r>
            <a:r>
              <a:rPr lang="en-US" sz="1400" i="1" dirty="0">
                <a:latin typeface="Helvetica" panose="020B0604020202020204" pitchFamily="34" charset="0"/>
                <a:ea typeface="Helvetica Neue" charset="0"/>
                <a:cs typeface="Helvetica" panose="020B0604020202020204" pitchFamily="34" charset="0"/>
              </a:rPr>
              <a:t>=2)</a:t>
            </a:r>
          </a:p>
          <a:p>
            <a:pPr>
              <a:defRPr/>
            </a:pPr>
            <a:endParaRPr lang="en-US" sz="1400" i="1" dirty="0">
              <a:latin typeface="Helvetica" panose="020B0604020202020204" pitchFamily="34" charset="0"/>
              <a:ea typeface="Helvetica Neue" charset="0"/>
              <a:cs typeface="Helvetica" panose="020B0604020202020204" pitchFamily="34" charset="0"/>
            </a:endParaRPr>
          </a:p>
          <a:p>
            <a:pPr>
              <a:defRPr/>
            </a:pPr>
            <a:r>
              <a:rPr lang="en-US" sz="1400" i="1" dirty="0">
                <a:latin typeface="Helvetica" panose="020B0604020202020204" pitchFamily="34" charset="0"/>
                <a:ea typeface="Helvetica Neue" charset="0"/>
                <a:cs typeface="Helvetica" panose="020B0604020202020204" pitchFamily="34" charset="0"/>
              </a:rPr>
              <a:t>hist(res, 10, </a:t>
            </a:r>
            <a:r>
              <a:rPr lang="en-US" sz="1400" i="1" dirty="0" err="1">
                <a:latin typeface="Helvetica" panose="020B0604020202020204" pitchFamily="34" charset="0"/>
                <a:ea typeface="Helvetica Neue" charset="0"/>
                <a:cs typeface="Helvetica" panose="020B0604020202020204" pitchFamily="34" charset="0"/>
              </a:rPr>
              <a:t>xlab</a:t>
            </a:r>
            <a:r>
              <a:rPr lang="en-US" sz="1400" i="1" dirty="0">
                <a:latin typeface="Helvetica" panose="020B0604020202020204" pitchFamily="34" charset="0"/>
                <a:ea typeface="Helvetica Neue" charset="0"/>
                <a:cs typeface="Helvetica" panose="020B0604020202020204" pitchFamily="34" charset="0"/>
              </a:rPr>
              <a:t>="Std residuals", main="")</a:t>
            </a:r>
          </a:p>
        </p:txBody>
      </p:sp>
      <p:sp>
        <p:nvSpPr>
          <p:cNvPr id="7" name="Text Box 2"/>
          <p:cNvSpPr txBox="1">
            <a:spLocks noChangeArrowheads="1"/>
          </p:cNvSpPr>
          <p:nvPr/>
        </p:nvSpPr>
        <p:spPr bwMode="auto">
          <a:xfrm>
            <a:off x="116531" y="110556"/>
            <a:ext cx="5943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spcBef>
                <a:spcPct val="0"/>
              </a:spcBef>
              <a:defRPr/>
            </a:pPr>
            <a:r>
              <a:rPr lang="en-US" altLang="en-US" sz="3600" dirty="0">
                <a:solidFill>
                  <a:schemeClr val="bg2">
                    <a:lumMod val="10000"/>
                  </a:schemeClr>
                </a:solidFill>
                <a:latin typeface="Vitesse"/>
                <a:ea typeface="Vitesse" charset="0"/>
                <a:cs typeface="Vitesse" charset="0"/>
              </a:rPr>
              <a:t>Residual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a:srcRect t="2477"/>
          <a:stretch/>
        </p:blipFill>
        <p:spPr>
          <a:xfrm>
            <a:off x="542240" y="1048375"/>
            <a:ext cx="7320102" cy="3727457"/>
          </a:xfrm>
          <a:prstGeom prst="rect">
            <a:avLst/>
          </a:prstGeom>
        </p:spPr>
      </p:pic>
      <p:sp>
        <p:nvSpPr>
          <p:cNvPr id="4" name="Text Box 2">
            <a:extLst>
              <a:ext uri="{FF2B5EF4-FFF2-40B4-BE49-F238E27FC236}">
                <a16:creationId xmlns:a16="http://schemas.microsoft.com/office/drawing/2014/main" id="{5C9C00E2-4F35-4DF2-AD74-5D0A2212E114}"/>
              </a:ext>
            </a:extLst>
          </p:cNvPr>
          <p:cNvSpPr txBox="1">
            <a:spLocks noChangeArrowheads="1"/>
          </p:cNvSpPr>
          <p:nvPr/>
        </p:nvSpPr>
        <p:spPr bwMode="auto">
          <a:xfrm>
            <a:off x="116531" y="110556"/>
            <a:ext cx="59436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charset="0"/>
                <a:ea typeface="MS PGothic" panose="020B0600070205080204" charset="-128"/>
              </a:defRPr>
            </a:lvl1pPr>
            <a:lvl2pPr marL="742950" indent="-285750">
              <a:defRPr>
                <a:solidFill>
                  <a:schemeClr val="tx1"/>
                </a:solidFill>
                <a:latin typeface="Calibri" panose="020F0502020204030204" charset="0"/>
                <a:ea typeface="MS PGothic" panose="020B0600070205080204" charset="-128"/>
              </a:defRPr>
            </a:lvl2pPr>
            <a:lvl3pPr marL="1143000" indent="-228600">
              <a:defRPr>
                <a:solidFill>
                  <a:schemeClr val="tx1"/>
                </a:solidFill>
                <a:latin typeface="Calibri" panose="020F0502020204030204" charset="0"/>
                <a:ea typeface="MS PGothic" panose="020B0600070205080204" charset="-128"/>
              </a:defRPr>
            </a:lvl3pPr>
            <a:lvl4pPr marL="1600200" indent="-228600">
              <a:defRPr>
                <a:solidFill>
                  <a:schemeClr val="tx1"/>
                </a:solidFill>
                <a:latin typeface="Calibri" panose="020F0502020204030204" charset="0"/>
                <a:ea typeface="MS PGothic" panose="020B0600070205080204" charset="-128"/>
              </a:defRPr>
            </a:lvl4pPr>
            <a:lvl5pPr marL="2057400" indent="-228600">
              <a:defRPr>
                <a:solidFill>
                  <a:schemeClr val="tx1"/>
                </a:solidFill>
                <a:latin typeface="Calibri" panose="020F0502020204030204" charset="0"/>
                <a:ea typeface="MS PGothic" panose="020B0600070205080204" charset="-128"/>
              </a:defRPr>
            </a:lvl5pPr>
            <a:lvl6pPr marL="25146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6pPr>
            <a:lvl7pPr marL="29718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7pPr>
            <a:lvl8pPr marL="34290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8pPr>
            <a:lvl9pPr marL="3886200" indent="-228600" defTabSz="457200" eaLnBrk="0" fontAlgn="base" hangingPunct="0">
              <a:spcBef>
                <a:spcPct val="0"/>
              </a:spcBef>
              <a:spcAft>
                <a:spcPct val="0"/>
              </a:spcAft>
              <a:defRPr>
                <a:solidFill>
                  <a:schemeClr val="tx1"/>
                </a:solidFill>
                <a:latin typeface="Calibri" panose="020F0502020204030204" charset="0"/>
                <a:ea typeface="MS PGothic" panose="020B0600070205080204" charset="-128"/>
              </a:defRPr>
            </a:lvl9pPr>
          </a:lstStyle>
          <a:p>
            <a:pPr>
              <a:spcBef>
                <a:spcPct val="0"/>
              </a:spcBef>
              <a:defRPr/>
            </a:pPr>
            <a:r>
              <a:rPr lang="en-US" altLang="en-US" sz="3600" dirty="0">
                <a:solidFill>
                  <a:schemeClr val="bg2">
                    <a:lumMod val="10000"/>
                  </a:schemeClr>
                </a:solidFill>
                <a:latin typeface="Vitesse"/>
                <a:ea typeface="Vitesse" charset="0"/>
                <a:cs typeface="Vitesse" charset="0"/>
              </a:rPr>
              <a:t>Residual Analysis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112666" y="119450"/>
            <a:ext cx="8961320" cy="637553"/>
          </a:xfrm>
          <a:prstGeom prst="rect">
            <a:avLst/>
          </a:prstGeom>
        </p:spPr>
        <p:txBody>
          <a:bodyPr/>
          <a:lstStyle>
            <a:lvl1pPr algn="l" defTabSz="342900" rtl="0" eaLnBrk="1" latinLnBrk="0" hangingPunct="1">
              <a:spcBef>
                <a:spcPct val="0"/>
              </a:spcBef>
              <a:buNone/>
              <a:defRPr lang="en-US" sz="4000" kern="1200" dirty="0">
                <a:solidFill>
                  <a:schemeClr val="tx1"/>
                </a:solidFill>
                <a:latin typeface="Vitesse Bold"/>
                <a:ea typeface="+mj-ea"/>
                <a:cs typeface="Vitesse Bold"/>
              </a:defRPr>
            </a:lvl1pPr>
          </a:lstStyle>
          <a:p>
            <a:r>
              <a:rPr kumimoji="1" lang="en-US" altLang="zh-CN" sz="3600" dirty="0">
                <a:latin typeface="Vitesse"/>
                <a:ea typeface="Vitesse" charset="0"/>
                <a:cs typeface="Vitesse" charset="0"/>
              </a:rPr>
              <a:t>Prediction of Adult Obesity: Results</a:t>
            </a:r>
            <a:endParaRPr kumimoji="1" lang="en-US" altLang="zh-CN" sz="3600" b="1" dirty="0">
              <a:latin typeface="Vitesse"/>
              <a:ea typeface="Vitesse" charset="0"/>
              <a:cs typeface="Vitesse" charset="0"/>
            </a:endParaRPr>
          </a:p>
        </p:txBody>
      </p:sp>
      <p:sp>
        <p:nvSpPr>
          <p:cNvPr id="2" name="Rectangle 1">
            <a:extLst>
              <a:ext uri="{FF2B5EF4-FFF2-40B4-BE49-F238E27FC236}">
                <a16:creationId xmlns:a16="http://schemas.microsoft.com/office/drawing/2014/main" id="{25BF3286-D30B-4DCA-A5C7-D340CFD70B42}"/>
              </a:ext>
            </a:extLst>
          </p:cNvPr>
          <p:cNvSpPr/>
          <p:nvPr/>
        </p:nvSpPr>
        <p:spPr>
          <a:xfrm>
            <a:off x="138661" y="816963"/>
            <a:ext cx="5347740" cy="4370427"/>
          </a:xfrm>
          <a:prstGeom prst="rect">
            <a:avLst/>
          </a:prstGeom>
        </p:spPr>
        <p:txBody>
          <a:bodyPr wrap="square">
            <a:spAutoFit/>
          </a:bodyPr>
          <a:lstStyle/>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Both gender and age group factors are statistically significant factors in explaining the variability in the classification of adults by obesity.</a:t>
            </a:r>
          </a:p>
          <a:p>
            <a:pPr marL="630238" indent="-346075">
              <a:buFont typeface="Arial" panose="020B0604020202020204"/>
              <a:buChar char="•"/>
            </a:pPr>
            <a:r>
              <a:rPr lang="en-US" sz="1400" b="1" dirty="0">
                <a:solidFill>
                  <a:srgbClr val="EEB211"/>
                </a:solidFill>
                <a:latin typeface="Helvetica" panose="020B0604020202020204" pitchFamily="34" charset="0"/>
                <a:ea typeface="Helvetica Neue" charset="0"/>
                <a:cs typeface="Helvetica" panose="020B0604020202020204" pitchFamily="34" charset="0"/>
              </a:rPr>
              <a:t>But the fitted model with education, gender, and age group factors does not improve prediction.  </a:t>
            </a:r>
          </a:p>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After factor aggregation, goodness of fit can be performed. </a:t>
            </a:r>
          </a:p>
          <a:p>
            <a:pPr marL="284163" indent="-284163">
              <a:spcBef>
                <a:spcPts val="1200"/>
              </a:spcBef>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The </a:t>
            </a:r>
            <a:r>
              <a:rPr lang="en-US" sz="1600" i="1" dirty="0">
                <a:latin typeface="Helvetica" panose="020B0604020202020204" pitchFamily="34" charset="0"/>
                <a:ea typeface="Helvetica Neue" charset="0"/>
                <a:cs typeface="Helvetica" panose="020B0604020202020204" pitchFamily="34" charset="0"/>
              </a:rPr>
              <a:t>p-value</a:t>
            </a:r>
            <a:r>
              <a:rPr lang="en-US" sz="1600" dirty="0">
                <a:latin typeface="Helvetica" panose="020B0604020202020204" pitchFamily="34" charset="0"/>
                <a:ea typeface="Helvetica Neue" charset="0"/>
                <a:cs typeface="Helvetica" panose="020B0604020202020204" pitchFamily="34" charset="0"/>
              </a:rPr>
              <a:t> of the deviance test for goodness of fit is high, indicating good fit.</a:t>
            </a:r>
          </a:p>
          <a:p>
            <a:pPr marL="671513" lvl="1" indent="-387350">
              <a:buFont typeface="Arial" panose="020B0604020202020204"/>
              <a:buChar char="•"/>
            </a:pPr>
            <a:r>
              <a:rPr lang="en-US" sz="1400" b="1" dirty="0">
                <a:solidFill>
                  <a:srgbClr val="EEB211"/>
                </a:solidFill>
                <a:latin typeface="Helvetica" panose="020B0604020202020204" pitchFamily="34" charset="0"/>
                <a:ea typeface="Helvetica Neue" charset="0"/>
                <a:cs typeface="Helvetica" panose="020B0604020202020204" pitchFamily="34" charset="0"/>
              </a:rPr>
              <a:t>But residual analysis suggests that there may be some departures from normality and thus from goodness of fit. </a:t>
            </a:r>
          </a:p>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Models with different link functions or including interaction terms have not shown improvement. </a:t>
            </a:r>
            <a:r>
              <a:rPr lang="en-US" sz="1600" i="1" dirty="0">
                <a:latin typeface="Helvetica" panose="020B0604020202020204" pitchFamily="34" charset="0"/>
                <a:ea typeface="Helvetica Neue" charset="0"/>
                <a:cs typeface="Helvetica" panose="020B0604020202020204" pitchFamily="34" charset="0"/>
              </a:rPr>
              <a:t>(Results not shown in this lecture.)</a:t>
            </a:r>
            <a:endParaRPr lang="en-US" sz="1600" dirty="0">
              <a:latin typeface="Helvetica" panose="020B0604020202020204" pitchFamily="34" charset="0"/>
              <a:ea typeface="Helvetica Neue" charset="0"/>
              <a:cs typeface="Helvetica" panose="020B0604020202020204" pitchFamily="34" charset="0"/>
            </a:endParaRPr>
          </a:p>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The sample size is large enough for reliable statistical inference.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486400" y="894367"/>
            <a:ext cx="3518939" cy="3231654"/>
          </a:xfrm>
          <a:prstGeom prst="rect">
            <a:avLst/>
          </a:prstGeom>
          <a:noFill/>
          <a:ln w="19050">
            <a:solidFill>
              <a:schemeClr val="tx2"/>
            </a:solidFill>
          </a:ln>
        </p:spPr>
        <p:txBody>
          <a:bodyPr wrap="square" lIns="182880" tIns="182880" rIns="182880" bIns="182880" rtlCol="0">
            <a:spAutoFit/>
          </a:bodyPr>
          <a:lstStyle/>
          <a:p>
            <a:r>
              <a:rPr lang="en-US" altLang="en-US" sz="1600" b="1" i="1" dirty="0">
                <a:latin typeface="Helvetica" panose="020B0604020202020204" pitchFamily="34" charset="0"/>
                <a:ea typeface="Helvetica Neue" charset="0"/>
                <a:cs typeface="Helvetica" panose="020B0604020202020204" pitchFamily="34" charset="0"/>
              </a:rPr>
              <a:t>What can be done to improve the model fit and the predictive power?</a:t>
            </a:r>
            <a:r>
              <a:rPr lang="en-US" altLang="en-US" sz="1600" dirty="0">
                <a:latin typeface="Helvetica" panose="020B0604020202020204" pitchFamily="34" charset="0"/>
                <a:ea typeface="Helvetica Neue" charset="0"/>
                <a:cs typeface="Helvetica" panose="020B0604020202020204" pitchFamily="34" charset="0"/>
              </a:rPr>
              <a:t> </a:t>
            </a:r>
          </a:p>
          <a:p>
            <a:pPr marL="285750" indent="-285750">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Include other factors in the model, such as income level, unemployment, race, and ethnicity, among others.</a:t>
            </a:r>
          </a:p>
          <a:p>
            <a:pPr marL="285750" indent="-285750">
              <a:spcBef>
                <a:spcPts val="600"/>
              </a:spcBef>
              <a:buFont typeface="Arial" panose="020B0604020202020204" pitchFamily="34" charset="0"/>
              <a:buChar char="•"/>
            </a:pPr>
            <a:r>
              <a:rPr lang="en-US" altLang="en-US" sz="1600" dirty="0">
                <a:latin typeface="Helvetica" panose="020B0604020202020204" pitchFamily="34" charset="0"/>
                <a:ea typeface="Helvetica Neue" charset="0"/>
                <a:cs typeface="Helvetica" panose="020B0604020202020204" pitchFamily="34" charset="0"/>
              </a:rPr>
              <a:t>Consider interaction terms between age, education, and gender groups and other factors.</a:t>
            </a:r>
          </a:p>
        </p:txBody>
      </p:sp>
      <p:sp>
        <p:nvSpPr>
          <p:cNvPr id="6" name="标题 1">
            <a:extLst>
              <a:ext uri="{FF2B5EF4-FFF2-40B4-BE49-F238E27FC236}">
                <a16:creationId xmlns:a16="http://schemas.microsoft.com/office/drawing/2014/main" id="{CFBD2F38-2005-4FC2-B04C-C89EA564118B}"/>
              </a:ext>
            </a:extLst>
          </p:cNvPr>
          <p:cNvSpPr txBox="1"/>
          <p:nvPr/>
        </p:nvSpPr>
        <p:spPr>
          <a:xfrm>
            <a:off x="112666" y="119450"/>
            <a:ext cx="8961320" cy="637553"/>
          </a:xfrm>
          <a:prstGeom prst="rect">
            <a:avLst/>
          </a:prstGeom>
        </p:spPr>
        <p:txBody>
          <a:bodyPr/>
          <a:lstStyle>
            <a:lvl1pPr algn="l" defTabSz="342900" rtl="0" eaLnBrk="1" latinLnBrk="0" hangingPunct="1">
              <a:spcBef>
                <a:spcPct val="0"/>
              </a:spcBef>
              <a:buNone/>
              <a:defRPr lang="en-US" sz="4000" kern="1200" dirty="0">
                <a:solidFill>
                  <a:schemeClr val="tx1"/>
                </a:solidFill>
                <a:latin typeface="Vitesse Bold"/>
                <a:ea typeface="+mj-ea"/>
                <a:cs typeface="Vitesse Bold"/>
              </a:defRPr>
            </a:lvl1pPr>
          </a:lstStyle>
          <a:p>
            <a:r>
              <a:rPr kumimoji="1" lang="en-US" altLang="zh-CN" sz="3600" dirty="0">
                <a:latin typeface="Vitesse"/>
                <a:ea typeface="Vitesse" charset="0"/>
                <a:cs typeface="Vitesse" charset="0"/>
              </a:rPr>
              <a:t>Prediction of Adult Obesity: Results</a:t>
            </a:r>
            <a:endParaRPr kumimoji="1" lang="en-US" altLang="zh-CN" sz="3600" b="1" dirty="0">
              <a:latin typeface="Vitesse"/>
              <a:ea typeface="Vitesse" charset="0"/>
              <a:cs typeface="Vitesse" charset="0"/>
            </a:endParaRPr>
          </a:p>
        </p:txBody>
      </p:sp>
      <p:sp>
        <p:nvSpPr>
          <p:cNvPr id="7" name="Rectangle 6">
            <a:extLst>
              <a:ext uri="{FF2B5EF4-FFF2-40B4-BE49-F238E27FC236}">
                <a16:creationId xmlns:a16="http://schemas.microsoft.com/office/drawing/2014/main" id="{11B9AC2C-AD84-47D5-9E20-A0CC924F9D14}"/>
              </a:ext>
            </a:extLst>
          </p:cNvPr>
          <p:cNvSpPr/>
          <p:nvPr/>
        </p:nvSpPr>
        <p:spPr>
          <a:xfrm>
            <a:off x="138661" y="816963"/>
            <a:ext cx="5347740" cy="4370427"/>
          </a:xfrm>
          <a:prstGeom prst="rect">
            <a:avLst/>
          </a:prstGeom>
        </p:spPr>
        <p:txBody>
          <a:bodyPr wrap="square">
            <a:spAutoFit/>
          </a:bodyPr>
          <a:lstStyle/>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Both gender and age group factors are statistically significant factors in explaining the variability in the classification of adults by obesity.</a:t>
            </a:r>
          </a:p>
          <a:p>
            <a:pPr marL="630238" indent="-346075">
              <a:buFont typeface="Arial" panose="020B0604020202020204"/>
              <a:buChar char="•"/>
            </a:pPr>
            <a:r>
              <a:rPr lang="en-US" sz="1400" b="1" dirty="0">
                <a:solidFill>
                  <a:srgbClr val="EEB211"/>
                </a:solidFill>
                <a:latin typeface="Helvetica" panose="020B0604020202020204" pitchFamily="34" charset="0"/>
                <a:ea typeface="Helvetica Neue" charset="0"/>
                <a:cs typeface="Helvetica" panose="020B0604020202020204" pitchFamily="34" charset="0"/>
              </a:rPr>
              <a:t>But the fitted model with education, gender, and age group factors does not improve prediction.  </a:t>
            </a:r>
          </a:p>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After factor aggregation, goodness of fit can be performed. </a:t>
            </a:r>
          </a:p>
          <a:p>
            <a:pPr marL="284163" indent="-284163">
              <a:spcBef>
                <a:spcPts val="1200"/>
              </a:spcBef>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The </a:t>
            </a:r>
            <a:r>
              <a:rPr lang="en-US" sz="1600" i="1" dirty="0">
                <a:latin typeface="Helvetica" panose="020B0604020202020204" pitchFamily="34" charset="0"/>
                <a:ea typeface="Helvetica Neue" charset="0"/>
                <a:cs typeface="Helvetica" panose="020B0604020202020204" pitchFamily="34" charset="0"/>
              </a:rPr>
              <a:t>p-value</a:t>
            </a:r>
            <a:r>
              <a:rPr lang="en-US" sz="1600" dirty="0">
                <a:latin typeface="Helvetica" panose="020B0604020202020204" pitchFamily="34" charset="0"/>
                <a:ea typeface="Helvetica Neue" charset="0"/>
                <a:cs typeface="Helvetica" panose="020B0604020202020204" pitchFamily="34" charset="0"/>
              </a:rPr>
              <a:t> of the deviance test for goodness of fit is high, indicating good fit.</a:t>
            </a:r>
          </a:p>
          <a:p>
            <a:pPr marL="671513" lvl="1" indent="-387350">
              <a:buFont typeface="Arial" panose="020B0604020202020204"/>
              <a:buChar char="•"/>
            </a:pPr>
            <a:r>
              <a:rPr lang="en-US" sz="1400" b="1" dirty="0">
                <a:solidFill>
                  <a:srgbClr val="EEB211"/>
                </a:solidFill>
                <a:latin typeface="Helvetica" panose="020B0604020202020204" pitchFamily="34" charset="0"/>
                <a:ea typeface="Helvetica Neue" charset="0"/>
                <a:cs typeface="Helvetica" panose="020B0604020202020204" pitchFamily="34" charset="0"/>
              </a:rPr>
              <a:t>But residual analysis suggests that there may be some departures from normality and thus from goodness of fit. </a:t>
            </a:r>
          </a:p>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Models with different link functions or including interaction terms have not shown improvement. </a:t>
            </a:r>
            <a:r>
              <a:rPr lang="en-US" sz="1600" i="1" dirty="0">
                <a:latin typeface="Helvetica" panose="020B0604020202020204" pitchFamily="34" charset="0"/>
                <a:ea typeface="Helvetica Neue" charset="0"/>
                <a:cs typeface="Helvetica" panose="020B0604020202020204" pitchFamily="34" charset="0"/>
              </a:rPr>
              <a:t>(Results not shown in this lecture.)</a:t>
            </a:r>
            <a:endParaRPr lang="en-US" sz="1600" dirty="0">
              <a:latin typeface="Helvetica" panose="020B0604020202020204" pitchFamily="34" charset="0"/>
              <a:ea typeface="Helvetica Neue" charset="0"/>
              <a:cs typeface="Helvetica" panose="020B0604020202020204" pitchFamily="34" charset="0"/>
            </a:endParaRPr>
          </a:p>
          <a:p>
            <a:pPr marL="284163" indent="-284163">
              <a:buFont typeface="Arial" panose="020B0604020202020204"/>
              <a:buChar char="•"/>
            </a:pPr>
            <a:r>
              <a:rPr lang="en-US" sz="1600" dirty="0">
                <a:latin typeface="Helvetica" panose="020B0604020202020204" pitchFamily="34" charset="0"/>
                <a:ea typeface="Helvetica Neue" charset="0"/>
                <a:cs typeface="Helvetica" panose="020B0604020202020204" pitchFamily="34" charset="0"/>
              </a:rPr>
              <a:t>The sample size is large enough for reliable statistical inference.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4294967295"/>
          </p:nvPr>
        </p:nvSpPr>
        <p:spPr>
          <a:xfrm>
            <a:off x="142405" y="111125"/>
            <a:ext cx="4727575" cy="698500"/>
          </a:xfrm>
        </p:spPr>
        <p:txBody>
          <a:bodyPr>
            <a:normAutofit/>
          </a:bodyPr>
          <a:lstStyle/>
          <a:p>
            <a:pPr>
              <a:spcBef>
                <a:spcPct val="0"/>
              </a:spcBef>
            </a:pPr>
            <a:r>
              <a:rPr lang="en-US" sz="3600" dirty="0">
                <a:latin typeface="Vitesse" charset="0"/>
                <a:ea typeface="Vitesse" charset="0"/>
                <a:cs typeface="Vitesse" charset="0"/>
              </a:rPr>
              <a:t>Summary</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7759" t="6607" r="13881" b="7744"/>
          <a:stretch>
            <a:fillRect/>
          </a:stretch>
        </p:blipFill>
        <p:spPr>
          <a:xfrm>
            <a:off x="3103133" y="1085850"/>
            <a:ext cx="2728044" cy="2981817"/>
          </a:xfrm>
          <a:prstGeom prst="rect">
            <a:avLst/>
          </a:prstGeom>
        </p:spPr>
      </p:pic>
    </p:spTree>
  </p:cSld>
  <p:clrMapOvr>
    <a:masterClrMapping/>
  </p:clrMapOvr>
</p:sld>
</file>

<file path=ppt/theme/theme1.xml><?xml version="1.0" encoding="utf-8"?>
<a:theme xmlns:a="http://schemas.openxmlformats.org/drawingml/2006/main" name="6_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Half Page Slash">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vert="horz" lIns="91440" tIns="45720" rIns="91440" bIns="45720" rtlCol="0">
        <a:normAutofit/>
      </a:bodyPr>
      <a:lstStyle>
        <a:defPPr algn="l">
          <a:lnSpc>
            <a:spcPts val="1200"/>
          </a:lnSpc>
          <a:defRPr sz="1200" dirty="0" smtClean="0">
            <a:solidFill>
              <a:srgbClr val="000000"/>
            </a:solidFill>
            <a:latin typeface="Helvetica"/>
            <a:cs typeface="Helvetica"/>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Full Page Layou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1129</Words>
  <Application>Microsoft Office PowerPoint</Application>
  <PresentationFormat>On-screen Show (16:9)</PresentationFormat>
  <Paragraphs>174</Paragraphs>
  <Slides>10</Slides>
  <Notes>8</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10</vt:i4>
      </vt:variant>
    </vt:vector>
  </HeadingPairs>
  <TitlesOfParts>
    <vt:vector size="20" baseType="lpstr">
      <vt:lpstr>Arial</vt:lpstr>
      <vt:lpstr>Calibri</vt:lpstr>
      <vt:lpstr>Helvetica</vt:lpstr>
      <vt:lpstr>Vitesse</vt:lpstr>
      <vt:lpstr>Vitesse Bold</vt:lpstr>
      <vt:lpstr>Vitesse Book</vt:lpstr>
      <vt:lpstr>Vitesse Medium</vt:lpstr>
      <vt:lpstr>6_Full Page Layout</vt:lpstr>
      <vt:lpstr>2_Half Page Slash</vt:lpstr>
      <vt:lpstr>Full Page Layout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Serban, Nicoleta</dc:creator>
  <cp:lastModifiedBy>Rodriguez, Ramon S</cp:lastModifiedBy>
  <cp:revision>447</cp:revision>
  <dcterms:created xsi:type="dcterms:W3CDTF">2020-03-30T18:21:45Z</dcterms:created>
  <dcterms:modified xsi:type="dcterms:W3CDTF">2020-04-21T21:35:25Z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0x010100E16D43FDACDF02458C96071D7628C880</vt:lpwstr>
  </property>
  <property fmtid="{D5CDD505-2E9C-101B-9397-08002B2CF9AE}" pid="3" name="KSOProductBuildVer">
    <vt:lpwstr>1033-11.2.0.8970</vt:lpwstr>
  </property>
</Properties>
</file>