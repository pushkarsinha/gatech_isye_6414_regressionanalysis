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  <p:sldMasterId id="2147483662" r:id="rId3"/>
  </p:sldMasterIdLst>
  <p:notesMasterIdLst>
    <p:notesMasterId r:id="rId14"/>
  </p:notesMasterIdLst>
  <p:handoutMasterIdLst>
    <p:handoutMasterId r:id="rId15"/>
  </p:handoutMasterIdLst>
  <p:sldIdLst>
    <p:sldId id="434" r:id="rId4"/>
    <p:sldId id="535" r:id="rId5"/>
    <p:sldId id="519" r:id="rId6"/>
    <p:sldId id="523" r:id="rId7"/>
    <p:sldId id="507" r:id="rId8"/>
    <p:sldId id="508" r:id="rId9"/>
    <p:sldId id="521" r:id="rId10"/>
    <p:sldId id="509" r:id="rId11"/>
    <p:sldId id="522" r:id="rId12"/>
    <p:sldId id="53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519"/>
            <p14:sldId id="523"/>
            <p14:sldId id="507"/>
            <p14:sldId id="508"/>
            <p14:sldId id="521"/>
            <p14:sldId id="509"/>
            <p14:sldId id="522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pos="528" userDrawn="1">
          <p15:clr>
            <a:srgbClr val="A4A3A4"/>
          </p15:clr>
        </p15:guide>
        <p15:guide id="8" orient="horz" pos="372" userDrawn="1">
          <p15:clr>
            <a:srgbClr val="A4A3A4"/>
          </p15:clr>
        </p15:guide>
        <p15:guide id="9" orient="horz" pos="684" userDrawn="1">
          <p15:clr>
            <a:srgbClr val="A4A3A4"/>
          </p15:clr>
        </p15:guide>
        <p15:guide id="10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  <p:cmAuthor id="6" name="Richard Levine" initials="R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FFFFFF"/>
    <a:srgbClr val="1F497D"/>
    <a:srgbClr val="8E4221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49" autoAdjust="0"/>
    <p:restoredTop sz="94240" autoAdjust="0"/>
  </p:normalViewPr>
  <p:slideViewPr>
    <p:cSldViewPr snapToGrid="0">
      <p:cViewPr varScale="1">
        <p:scale>
          <a:sx n="85" d="100"/>
          <a:sy n="85" d="100"/>
        </p:scale>
        <p:origin x="864" y="48"/>
      </p:cViewPr>
      <p:guideLst>
        <p:guide orient="horz" pos="1620"/>
        <p:guide pos="2880"/>
        <p:guide pos="144"/>
        <p:guide pos="336"/>
        <p:guide pos="3456"/>
        <p:guide pos="5664"/>
        <p:guide pos="528"/>
        <p:guide orient="horz" pos="372"/>
        <p:guide orient="horz" pos="684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School Name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 hasCustomPrompt="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 hasCustomPrompt="1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neycomb_gradient.png"/>
          <p:cNvPicPr>
            <a:picLocks noChangeAspect="1"/>
          </p:cNvPicPr>
          <p:nvPr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6" name="Picture 5" descr="corner_logo_white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1" y="3470730"/>
            <a:ext cx="966919" cy="16727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 charset="0"/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031AE35-6B43-4F81-86EF-44910DDA6C36}"/>
              </a:ext>
            </a:extLst>
          </p:cNvPr>
          <p:cNvSpPr>
            <a:spLocks noGrp="1"/>
          </p:cNvSpPr>
          <p:nvPr/>
        </p:nvSpPr>
        <p:spPr>
          <a:xfrm>
            <a:off x="140960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Demographics of Obesity: Modeling and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39" y="117284"/>
            <a:ext cx="8562392" cy="60974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Model Estimation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3416F0-EF3F-4087-92A3-122AB0F4C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868" y="10461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C849C62-202D-48B8-BC9D-CB630B36F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21" y="870468"/>
            <a:ext cx="5240743" cy="37548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=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Obesity~agegr+gender+edu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…</a:t>
            </a: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Null deviance: 5739.9 on 4313 degrees of freedom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5641.3 on 4304 degrees of freedom</a:t>
            </a: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…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EE73C9-A813-43FC-9482-69A554758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825080"/>
              </p:ext>
            </p:extLst>
          </p:nvPr>
        </p:nvGraphicFramePr>
        <p:xfrm>
          <a:off x="176136" y="1723998"/>
          <a:ext cx="4590735" cy="1997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2885">
                  <a:extLst>
                    <a:ext uri="{9D8B030D-6E8A-4147-A177-3AD203B41FA5}">
                      <a16:colId xmlns:a16="http://schemas.microsoft.com/office/drawing/2014/main" val="2597082176"/>
                    </a:ext>
                  </a:extLst>
                </a:gridCol>
                <a:gridCol w="770233">
                  <a:extLst>
                    <a:ext uri="{9D8B030D-6E8A-4147-A177-3AD203B41FA5}">
                      <a16:colId xmlns:a16="http://schemas.microsoft.com/office/drawing/2014/main" val="2603385030"/>
                    </a:ext>
                  </a:extLst>
                </a:gridCol>
                <a:gridCol w="802576">
                  <a:extLst>
                    <a:ext uri="{9D8B030D-6E8A-4147-A177-3AD203B41FA5}">
                      <a16:colId xmlns:a16="http://schemas.microsoft.com/office/drawing/2014/main" val="1298451353"/>
                    </a:ext>
                  </a:extLst>
                </a:gridCol>
                <a:gridCol w="674164">
                  <a:extLst>
                    <a:ext uri="{9D8B030D-6E8A-4147-A177-3AD203B41FA5}">
                      <a16:colId xmlns:a16="http://schemas.microsoft.com/office/drawing/2014/main" val="2510791013"/>
                    </a:ext>
                  </a:extLst>
                </a:gridCol>
                <a:gridCol w="1020877">
                  <a:extLst>
                    <a:ext uri="{9D8B030D-6E8A-4147-A177-3AD203B41FA5}">
                      <a16:colId xmlns:a16="http://schemas.microsoft.com/office/drawing/2014/main" val="2972254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8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-1.20581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0.15730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-7.666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1.78e-14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7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agegr25to34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0.47271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0.14428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3.276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0.001052 **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6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agegr35to44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0.76486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0.14196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5.388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7.13e-08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08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agegr45to64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0.84815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0.13240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6.406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1.49e-10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3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agegr65+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0.60086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0.13751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4.370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1.24e-05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62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genderFemale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0.23041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0.06363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3.621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0.000293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1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edu9to11Grade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0.05632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0.12229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0.461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0.645110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03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eduHighSchool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-0.03440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0.11436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-0.301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0.763579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677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eduSomeCollege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0.13947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0.11036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1.264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0.206301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43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eduCollege+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-0.40077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0.11757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-3.409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0.000653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169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86400" y="931364"/>
                <a:ext cx="3505200" cy="349018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37160" tIns="91440" rIns="137160" bIns="9144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en-US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kumimoji="0" lang="en-US" alt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𝒂𝒈𝒆𝒈𝒓</m:t>
                        </m:r>
                        <m:r>
                          <a:rPr kumimoji="0" lang="en-US" alt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kumimoji="0" lang="en-US" alt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𝒕𝒐</m:t>
                        </m:r>
                        <m:r>
                          <a:rPr kumimoji="0" lang="en-US" alt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𝟑𝟒</m:t>
                        </m:r>
                      </m:sub>
                    </m:sSub>
                    <m:r>
                      <a:rPr kumimoji="0" lang="en-US" alt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en-US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0" lang="en-US" altLang="en-US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.</m:t>
                    </m:r>
                    <m:r>
                      <a:rPr kumimoji="0" lang="en-US" altLang="en-US" sz="14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𝟒𝟕𝟐𝟕</m:t>
                    </m:r>
                  </m:oMath>
                </a14:m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</a:p>
              <a:p>
                <a:pPr lvl="0">
                  <a:defRPr/>
                </a:pPr>
                <a:r>
                  <a:rPr lang="en-US" altLang="en-US" sz="1400" dirty="0">
                    <a:solidFill>
                      <a:prstClr val="black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The ratio of the odds of obesity for age group 25-34 versus the age group 18-24 is 1.604 (or, equivalently the log odds ratio is 0.4727), holding all other predicting variables fixed. Odds of obesity for age group 25-34 are 60.4% higher than for age group 18-24 (baseline group).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en-US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altLang="en-US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en-US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kumimoji="0" lang="en-US" altLang="en-US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𝒈𝒆𝒏𝒅𝒆𝒓𝒇𝒆𝒎𝒂𝒍𝒆</m:t>
                          </m:r>
                        </m:sub>
                      </m:sSub>
                      <m:r>
                        <a:rPr kumimoji="0" lang="en-US" altLang="en-US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0" lang="en-US" altLang="en-US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US" altLang="en-US" sz="14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𝟐𝟑𝟎𝟒</m:t>
                      </m:r>
                    </m:oMath>
                  </m:oMathPara>
                </a14:m>
                <a:endPara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lvl="0">
                  <a:defRPr/>
                </a:pPr>
                <a:r>
                  <a:rPr lang="en-US" altLang="en-US" sz="1400" dirty="0">
                    <a:solidFill>
                      <a:prstClr val="black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The ratio of the odds of obesity for females versus males is 1.259, holding all other predicting variables fixed. Odds of obesity for females is 26% higher than for males.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931364"/>
                <a:ext cx="3505200" cy="3490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B8AA3D46-4D81-467B-BAE9-8C5DBE573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39" y="117284"/>
            <a:ext cx="8562392" cy="60974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Model Estimation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7C64FE1-C8F9-4821-8086-4264D0C54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21" y="870468"/>
            <a:ext cx="5240743" cy="37548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=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Obesity~agegr+gender+edu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…</a:t>
            </a: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prstClr val="black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Null deviance: 5739.9 on 4313 degrees of freedom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5641.3 on 4304 degrees of freedom</a:t>
            </a:r>
          </a:p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…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C77680-5CAA-40C2-9886-DFE9D7369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73049"/>
              </p:ext>
            </p:extLst>
          </p:nvPr>
        </p:nvGraphicFramePr>
        <p:xfrm>
          <a:off x="176136" y="1723998"/>
          <a:ext cx="4590735" cy="1997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2885">
                  <a:extLst>
                    <a:ext uri="{9D8B030D-6E8A-4147-A177-3AD203B41FA5}">
                      <a16:colId xmlns:a16="http://schemas.microsoft.com/office/drawing/2014/main" val="2597082176"/>
                    </a:ext>
                  </a:extLst>
                </a:gridCol>
                <a:gridCol w="770233">
                  <a:extLst>
                    <a:ext uri="{9D8B030D-6E8A-4147-A177-3AD203B41FA5}">
                      <a16:colId xmlns:a16="http://schemas.microsoft.com/office/drawing/2014/main" val="2603385030"/>
                    </a:ext>
                  </a:extLst>
                </a:gridCol>
                <a:gridCol w="802576">
                  <a:extLst>
                    <a:ext uri="{9D8B030D-6E8A-4147-A177-3AD203B41FA5}">
                      <a16:colId xmlns:a16="http://schemas.microsoft.com/office/drawing/2014/main" val="1298451353"/>
                    </a:ext>
                  </a:extLst>
                </a:gridCol>
                <a:gridCol w="674164">
                  <a:extLst>
                    <a:ext uri="{9D8B030D-6E8A-4147-A177-3AD203B41FA5}">
                      <a16:colId xmlns:a16="http://schemas.microsoft.com/office/drawing/2014/main" val="2510791013"/>
                    </a:ext>
                  </a:extLst>
                </a:gridCol>
                <a:gridCol w="1020877">
                  <a:extLst>
                    <a:ext uri="{9D8B030D-6E8A-4147-A177-3AD203B41FA5}">
                      <a16:colId xmlns:a16="http://schemas.microsoft.com/office/drawing/2014/main" val="2972254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8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-1.20581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0.15730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-7.666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1.78e-14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7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agegr25to34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0.47271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0.14428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3.276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0.001052 **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6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agegr35to44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0.76486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0.14196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5.388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7.13e-08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08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agegr45to64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0.84815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0.13240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6.406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1.49e-10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3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agegr65+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0.60086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0.13751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4.370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1.24e-05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62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genderFemale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0.23041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0.06363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3.621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0.000293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1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edu9to11Grade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0.05632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0.12229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0.461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0.645110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03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eduHighSchool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-0.03440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0.11436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-0.301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0.763579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677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eduSomeCollege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0.13947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0.11036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1.264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0.206301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43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eduCollege+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-0.40077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0.11757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-3.409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0.000653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169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9347" y="867606"/>
            <a:ext cx="8153400" cy="33239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## Test for overall regression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gstat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model$null.deviance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- deviance(model)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cbind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gstat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, 1-pchisq(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gstat,length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coef</a:t>
            </a: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(model))-1))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   </a:t>
            </a:r>
            <a:r>
              <a:rPr 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gstat</a:t>
            </a: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[1,] 98.63672 0</a:t>
            </a: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i="1" dirty="0"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round(coefficients(summary(model))[,4],4)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   (Intercept)   agegr25to34   agegr35to44   agegr45to64   agegr65+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   0.0000        0.0011         	   0.0000            0.0000            0.0000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   </a:t>
            </a:r>
            <a:r>
              <a:rPr 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genderFemale</a:t>
            </a: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edu9to11Grade  </a:t>
            </a:r>
            <a:r>
              <a:rPr 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eduHighSchool</a:t>
            </a: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</a:t>
            </a:r>
            <a:r>
              <a:rPr 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eduSomeCollege</a:t>
            </a: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</a:t>
            </a:r>
            <a:r>
              <a:rPr 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eduCollege</a:t>
            </a: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+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     0.0003         	   0.6451          	  0.7636         	  0.2063         	     0.0007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208789"/>
            <a:ext cx="6471745" cy="6155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Except for one, education regression coefficients are not statistically significant given that we account for age and gender.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429" y="109789"/>
            <a:ext cx="8562392" cy="57976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Statistical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100548"/>
            <a:ext cx="6471745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 for overall regression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</a:t>
            </a:r>
            <a:r>
              <a:rPr lang="en-US" altLang="en-US" sz="14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p-value</a:t>
            </a:r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sz="1400" b="1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≈ 0</a:t>
            </a:r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(&lt; 0.01). 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Reject the null hypothesis that all regression coefficients are zero. Conclude there are predicting variables that explain the variability in obesity.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9408" y="872131"/>
            <a:ext cx="8153400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Prediction Accuracy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library(boot)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cost0.5 = function(y, pi){</a:t>
            </a:r>
          </a:p>
          <a:p>
            <a:pPr marL="574675" lvl="1"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ypred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=rep(0,length(y))</a:t>
            </a:r>
          </a:p>
          <a:p>
            <a:pPr marL="574675" lvl="1"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ypred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[pi&gt;0.5] = 1</a:t>
            </a:r>
          </a:p>
          <a:p>
            <a:pPr marL="574675" lvl="1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err = mean(abs(y-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ypred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</a:t>
            </a:r>
          </a:p>
          <a:p>
            <a:pPr marL="574675" lvl="1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return(err)}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obdata.fr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data.frame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cbind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(Obesity,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agegr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gender,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edu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</a:t>
            </a:r>
          </a:p>
          <a:p>
            <a:pPr>
              <a:defRPr/>
            </a:pPr>
            <a:endParaRPr lang="en-US" sz="1400" b="1" dirty="0">
              <a:solidFill>
                <a:srgbClr val="EEB21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classification error for 10-fold cross-validation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cv.err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cv.glm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(obdata.fr, model, cost=cost0.5, K=10)$delta[1]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⋮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cv.err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c(cv.err0.3, cv.err0.35, cv.err0.4, cv.err0.45, cv.err0.5,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cv.err0.55, cv.err0.6, cv.err0.65)</a:t>
            </a:r>
          </a:p>
          <a:p>
            <a:pPr>
              <a:defRPr/>
            </a:pPr>
            <a:endParaRPr lang="en-US" sz="1400" dirty="0">
              <a:solidFill>
                <a:srgbClr val="9932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Smallest prediction error is 0.3824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plot(c(0.3, 0.35, 0.4, 0.45, 0.5, 0.55, 0.6, 0.65),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cv.err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type="l",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="Threshold",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="CV Classification Error")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9775" y="112926"/>
            <a:ext cx="8562392" cy="628053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Predictive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3304997"/>
            <a:ext cx="6929203" cy="163121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Prediction accuracy is highest and equal for thresholds above 0.5. </a:t>
            </a:r>
            <a:r>
              <a:rPr lang="en-US" altLang="en-US" sz="1600" b="1" i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Why?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It is the same prediction accuracy as if we were to replace all predictions with 0 (that is, predict everyone is not obese).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model has no predictive power since it performs worse than prediction without modeling.</a:t>
            </a:r>
          </a:p>
        </p:txBody>
      </p:sp>
      <p:pic>
        <p:nvPicPr>
          <p:cNvPr id="9" name="Picture 8" descr="A screenshot of a cell phone&#10;&#10;Description generated with very high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76" y="994152"/>
            <a:ext cx="6548396" cy="2189925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A0132081-93C0-4580-BC71-FB630C3E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5" y="112926"/>
            <a:ext cx="8562392" cy="628053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Predictive Power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6405" y="871648"/>
            <a:ext cx="6717362" cy="4061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Prediction given a set of new observations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Prepare the test data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testobdata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("testobesitydata.txt", h=T)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agegr.t = factor(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testobdata$AgeGroup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labels=c("18to24", "25to34", "35to44", 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"45to64", "65+"))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gender.t = factor(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testobdata$Gender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labels=c("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Male","Female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edu.t = factor(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testobdata$Education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labels=c("&lt;9thGrade","9to11Grade",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HighSchool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 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SomeCollege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 "College+"))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pred.data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data.frame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agegr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=agegr.t, gender=gender.t,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edu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=edu.t)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### Predict</a:t>
            </a:r>
            <a:endParaRPr lang="en-US" sz="1400" b="1" i="1" dirty="0">
              <a:solidFill>
                <a:srgbClr val="EEB21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pred.test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predict.glm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model,pred.data,type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="response")</a:t>
            </a: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### Prediction Accuracy for multiple thresholds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err0.3 = cost0.3(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testobdata$Obesity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pred.test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⋮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err0.65 = cost0.65(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testobdata$Obesity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pred.test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err = c(err0.3, err0.35, err0.4, err0.45, err0.5, err0.55, err0.6, err0.65)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plot(c(0.3, 0.35, 0.4, 0.45, 0.5, 0.55, 0.6, 0.65), err,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type="l",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="Threshold",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="Classification Error")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7757" y="-1514007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8338" y="109137"/>
            <a:ext cx="8562392" cy="59243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Prediction for Test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8600" y="3687455"/>
            <a:ext cx="7102822" cy="1246495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Prediction accuracy is highest at 0.5; it is similar as the prediction accuracy if we were to predict everyone is not obese.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prediction accuracy using the fitted model did not improve for the test data.</a:t>
            </a:r>
          </a:p>
        </p:txBody>
      </p:sp>
      <p:sp>
        <p:nvSpPr>
          <p:cNvPr id="2" name="Rectangle 1"/>
          <p:cNvSpPr/>
          <p:nvPr/>
        </p:nvSpPr>
        <p:spPr>
          <a:xfrm>
            <a:off x="7592372" y="2180676"/>
            <a:ext cx="517285" cy="7270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17757" y="-1514007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A screenshot of a cell phone&#10;&#10;Description generated with very high confidence"/>
          <p:cNvPicPr>
            <a:picLocks noChangeAspect="1"/>
          </p:cNvPicPr>
          <p:nvPr/>
        </p:nvPicPr>
        <p:blipFill rotWithShape="1">
          <a:blip r:embed="rId3"/>
          <a:srcRect t="5714"/>
          <a:stretch/>
        </p:blipFill>
        <p:spPr>
          <a:xfrm>
            <a:off x="510826" y="1055254"/>
            <a:ext cx="6879325" cy="2375200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9D1C7261-3030-40FF-AFB2-678AAC5D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38" y="109137"/>
            <a:ext cx="8562392" cy="59243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Prediction for Test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1039</Words>
  <Application>Microsoft Office PowerPoint</Application>
  <PresentationFormat>On-screen Show (16:9)</PresentationFormat>
  <Paragraphs>230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4_Full Page Layout</vt:lpstr>
      <vt:lpstr>2_Half Page Slash</vt:lpstr>
      <vt:lpstr>Full Page Layout</vt:lpstr>
      <vt:lpstr>PowerPoint Presentation</vt:lpstr>
      <vt:lpstr>PowerPoint Presentation</vt:lpstr>
      <vt:lpstr>Model Estimation</vt:lpstr>
      <vt:lpstr>Model Estimation</vt:lpstr>
      <vt:lpstr>Statistical Inference</vt:lpstr>
      <vt:lpstr>Predictive Power</vt:lpstr>
      <vt:lpstr>Predictive Power</vt:lpstr>
      <vt:lpstr>Prediction for Test Data</vt:lpstr>
      <vt:lpstr>Prediction for Test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470</cp:revision>
  <dcterms:created xsi:type="dcterms:W3CDTF">2020-03-30T18:15:39Z</dcterms:created>
  <dcterms:modified xsi:type="dcterms:W3CDTF">2020-06-04T17:19:22Z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