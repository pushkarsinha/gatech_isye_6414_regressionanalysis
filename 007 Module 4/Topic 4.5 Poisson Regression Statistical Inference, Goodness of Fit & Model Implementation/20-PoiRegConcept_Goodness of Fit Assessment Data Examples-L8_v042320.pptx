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  <p:sldMasterId id="2147483712" r:id="rId5"/>
    <p:sldMasterId id="2147483713" r:id="rId6"/>
  </p:sldMasterIdLst>
  <p:notesMasterIdLst>
    <p:notesMasterId r:id="rId15"/>
  </p:notesMasterIdLst>
  <p:handoutMasterIdLst>
    <p:handoutMasterId r:id="rId16"/>
  </p:handoutMasterIdLst>
  <p:sldIdLst>
    <p:sldId id="434" r:id="rId7"/>
    <p:sldId id="535" r:id="rId8"/>
    <p:sldId id="519" r:id="rId9"/>
    <p:sldId id="490" r:id="rId10"/>
    <p:sldId id="547" r:id="rId11"/>
    <p:sldId id="494" r:id="rId12"/>
    <p:sldId id="495" r:id="rId13"/>
    <p:sldId id="537" r:id="rId14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5"/>
            <p14:sldId id="519"/>
            <p14:sldId id="490"/>
            <p14:sldId id="547"/>
            <p14:sldId id="494"/>
            <p14:sldId id="495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708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1F497D"/>
    <a:srgbClr val="FFFFF0"/>
    <a:srgbClr val="FFFFC8"/>
    <a:srgbClr val="FFFF82"/>
    <a:srgbClr val="8E4221"/>
    <a:srgbClr val="F8FFF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0" autoAdjust="0"/>
    <p:restoredTop sz="89880" autoAdjust="0"/>
  </p:normalViewPr>
  <p:slideViewPr>
    <p:cSldViewPr snapToGrid="0">
      <p:cViewPr varScale="1">
        <p:scale>
          <a:sx n="76" d="100"/>
          <a:sy n="76" d="100"/>
        </p:scale>
        <p:origin x="1224" y="44"/>
      </p:cViewPr>
      <p:guideLst>
        <p:guide orient="horz" pos="1620"/>
        <p:guide pos="2880"/>
        <p:guide pos="144"/>
        <p:guide pos="336"/>
        <p:guide pos="3456"/>
        <p:guide pos="5664"/>
        <p:guide orient="horz" pos="372"/>
        <p:guide orient="horz" pos="708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9160" y="36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FC1340CC-78E1-404E-942C-7AB62C289CB5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5928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79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65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02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23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6438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421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67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69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754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76806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077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2797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6415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86684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964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52706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0126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6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7939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740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91368E2-32F9-4F21-B92C-45C4370EC66A}"/>
              </a:ext>
            </a:extLst>
          </p:cNvPr>
          <p:cNvSpPr txBox="1">
            <a:spLocks/>
          </p:cNvSpPr>
          <p:nvPr/>
        </p:nvSpPr>
        <p:spPr>
          <a:xfrm>
            <a:off x="123850" y="653721"/>
            <a:ext cx="5672951" cy="54223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+mn-ea"/>
                <a:cs typeface="+mn-cs"/>
              </a:rPr>
              <a:t>Poisson Regression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+mn-ea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7B06B07-D309-4E15-BAAE-050C38958E76}"/>
              </a:ext>
            </a:extLst>
          </p:cNvPr>
          <p:cNvSpPr>
            <a:spLocks noGrp="1"/>
          </p:cNvSpPr>
          <p:nvPr/>
        </p:nvSpPr>
        <p:spPr>
          <a:xfrm>
            <a:off x="133257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Goodness of Fit Assessment: Data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43292" y="858437"/>
            <a:ext cx="785980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Objective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To model and predict the number of awards earned by students at one high school for multiple high schools. 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The number of awards earned by students at a high school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per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year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Predicting Variables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type of program in which the student was enrolled, with three levels: 1 = "General", 2 = "Academic" and 3 ="Vocational";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score on the final exam in math.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34903" y="4469621"/>
            <a:ext cx="714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data example was acquired from the Institute for Digital Research and Education at University of California, Los Angeles.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598296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1: High School Awards</a:t>
            </a:r>
            <a:endParaRPr 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661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2384" y="871630"/>
            <a:ext cx="790885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Deviance Test for GOF  </a:t>
            </a:r>
          </a:p>
          <a:p>
            <a:pPr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with(m1,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cbind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res.deviance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deviance,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df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df.residual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</a:t>
            </a:r>
          </a:p>
          <a:p>
            <a:pPr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         p = 1-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pchisq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(deviance,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df.residual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)))</a:t>
            </a:r>
          </a:p>
          <a:p>
            <a:pPr>
              <a:defRPr/>
            </a:pPr>
            <a:r>
              <a:rPr lang="fr-FR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	</a:t>
            </a:r>
            <a:r>
              <a:rPr lang="fr-FR" sz="16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res.deviance</a:t>
            </a:r>
            <a:r>
              <a:rPr lang="fr-FR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	</a:t>
            </a:r>
            <a:r>
              <a:rPr lang="fr-FR" sz="16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df</a:t>
            </a:r>
            <a:r>
              <a:rPr lang="fr-FR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	p</a:t>
            </a:r>
          </a:p>
          <a:p>
            <a:pPr>
              <a:defRPr/>
            </a:pPr>
            <a:r>
              <a:rPr lang="fr-FR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[1,]  	189.4496     	196	0.6182274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663" y="2584913"/>
            <a:ext cx="4488339" cy="86177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 for goodness-of-fit: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deviance residuals: p-value = 0.61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not reject the null hypothesis of good fit.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14" y="115288"/>
            <a:ext cx="8562392" cy="69762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Goodness-Of-Fit</a:t>
            </a:r>
            <a:endParaRPr 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869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3474" y="880175"/>
            <a:ext cx="8075598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Residual Plots</a:t>
            </a:r>
          </a:p>
          <a:p>
            <a:pPr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 =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(m1,type="deviance")</a:t>
            </a:r>
          </a:p>
          <a:p>
            <a:pPr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par(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mfrow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=c(2,2))</a:t>
            </a:r>
          </a:p>
          <a:p>
            <a:pPr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awardsdata$math,res,ylab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Std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residuals",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="Math Exam")</a:t>
            </a:r>
          </a:p>
          <a:p>
            <a:pPr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(0,0,col="blue",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=2)</a:t>
            </a:r>
          </a:p>
          <a:p>
            <a:pPr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boxplot(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res~prog,ylab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Std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residuals")</a:t>
            </a:r>
          </a:p>
          <a:p>
            <a:pPr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qqnorm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(res,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Std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residuals")</a:t>
            </a:r>
          </a:p>
          <a:p>
            <a:pPr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qqline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res,col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="blue",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=2)</a:t>
            </a:r>
          </a:p>
          <a:p>
            <a:pPr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hist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(res,10,xlab="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Std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residuals", main="")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22944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Residual Analysis</a:t>
            </a:r>
            <a:endParaRPr 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569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89" y="1077675"/>
            <a:ext cx="7152418" cy="352788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EDEEA-D634-4875-B2D8-8C669299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22944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Residual Analysis</a:t>
            </a:r>
            <a:endParaRPr 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203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7806" y="876803"/>
            <a:ext cx="857465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 with math nonlinearly associated to awards count</a:t>
            </a:r>
          </a:p>
          <a:p>
            <a:pPr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mgcv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m2 = gam(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num_awards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prog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+ s(math), family="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poisson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 data=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endParaRPr lang="en-US" sz="1600" i="1" dirty="0">
              <a:solidFill>
                <a:schemeClr val="tx2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4716" y="2099785"/>
            <a:ext cx="7841411" cy="153631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0" tIns="34290" rIns="0" bIns="34290" rtlCol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indent="-227013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The residuals vs math: downward trend: Consider a 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non-parametric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transformation of ‘math’ predicting variable</a:t>
            </a:r>
          </a:p>
          <a:p>
            <a:pPr marL="344488" indent="-227013">
              <a:buClrTx/>
              <a:buFont typeface="Arial" panose="020B0604020202020204" pitchFamily="34" charset="0"/>
              <a:buChar char="•"/>
            </a:pP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Nonparametric association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 not specifying the transformation but allowing the data to best identify/fit the transformation</a:t>
            </a:r>
          </a:p>
          <a:p>
            <a:pPr marL="344488" indent="-227013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For this example, we do not see an improvement in the fit.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06898"/>
            <a:ext cx="8562392" cy="597777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Modeling Nonlinear Relationships</a:t>
            </a:r>
            <a:endParaRPr 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225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b057fda7-913b-4ab6-8820-932873bcd66c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9885</TotalTime>
  <Words>397</Words>
  <Application>Microsoft Office PowerPoint</Application>
  <PresentationFormat>On-screen Show (16:9)</PresentationFormat>
  <Paragraphs>51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Full Page Layout</vt:lpstr>
      <vt:lpstr>PowerPoint Presentation</vt:lpstr>
      <vt:lpstr>PowerPoint Presentation</vt:lpstr>
      <vt:lpstr>Data Example 1: High School Awards</vt:lpstr>
      <vt:lpstr>Goodness-Of-Fit</vt:lpstr>
      <vt:lpstr>Residual Analysis</vt:lpstr>
      <vt:lpstr>Residual Analysis</vt:lpstr>
      <vt:lpstr>Modeling Nonlinear Relationships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527</cp:revision>
  <dcterms:modified xsi:type="dcterms:W3CDTF">2020-06-05T18:52:16Z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F0F94D87-1A28-4F52-965D-85143A463550</vt:lpwstr>
  </property>
  <property fmtid="{D5CDD505-2E9C-101B-9397-08002B2CF9AE}" pid="4" name="ArticulatePath">
    <vt:lpwstr>PoiRegConcept-L8 v042320</vt:lpwstr>
  </property>
</Properties>
</file>