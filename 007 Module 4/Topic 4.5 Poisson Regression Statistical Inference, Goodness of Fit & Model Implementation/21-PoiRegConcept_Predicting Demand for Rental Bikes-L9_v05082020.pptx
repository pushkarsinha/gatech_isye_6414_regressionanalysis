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1.xml" ContentType="application/vnd.openxmlformats-officedocument.presentationml.notesSlide+xml"/>
  <Override PartName="/ppt/tags/tag11.xml" ContentType="application/vnd.openxmlformats-officedocument.presentationml.tags+xml"/>
  <Override PartName="/ppt/notesSlides/notesSlide2.xml" ContentType="application/vnd.openxmlformats-officedocument.presentationml.notesSlide+xml"/>
  <Override PartName="/ppt/tags/tag12.xml" ContentType="application/vnd.openxmlformats-officedocument.presentationml.tags+xml"/>
  <Override PartName="/ppt/notesSlides/notesSlide3.xml" ContentType="application/vnd.openxmlformats-officedocument.presentationml.notesSlide+xml"/>
  <Override PartName="/ppt/tags/tag13.xml" ContentType="application/vnd.openxmlformats-officedocument.presentationml.tags+xml"/>
  <Override PartName="/ppt/notesSlides/notesSlide4.xml" ContentType="application/vnd.openxmlformats-officedocument.presentationml.notesSlide+xml"/>
  <Override PartName="/ppt/tags/tag14.xml" ContentType="application/vnd.openxmlformats-officedocument.presentationml.tags+xml"/>
  <Override PartName="/ppt/notesSlides/notesSlide5.xml" ContentType="application/vnd.openxmlformats-officedocument.presentationml.notesSlide+xml"/>
  <Override PartName="/ppt/tags/tag15.xml" ContentType="application/vnd.openxmlformats-officedocument.presentationml.tags+xml"/>
  <Override PartName="/ppt/notesSlides/notesSlide6.xml" ContentType="application/vnd.openxmlformats-officedocument.presentationml.notesSlide+xml"/>
  <Override PartName="/ppt/tags/tag16.xml" ContentType="application/vnd.openxmlformats-officedocument.presentationml.tags+xml"/>
  <Override PartName="/ppt/notesSlides/notesSlide7.xml" ContentType="application/vnd.openxmlformats-officedocument.presentationml.notesSlide+xml"/>
  <Override PartName="/ppt/tags/tag1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  <p:sldMasterId id="2147483717" r:id="rId2"/>
    <p:sldMasterId id="2147483718" r:id="rId3"/>
  </p:sldMasterIdLst>
  <p:notesMasterIdLst>
    <p:notesMasterId r:id="rId14"/>
  </p:notesMasterIdLst>
  <p:sldIdLst>
    <p:sldId id="489" r:id="rId4"/>
    <p:sldId id="343" r:id="rId5"/>
    <p:sldId id="401" r:id="rId6"/>
    <p:sldId id="292" r:id="rId7"/>
    <p:sldId id="338" r:id="rId8"/>
    <p:sldId id="349" r:id="rId9"/>
    <p:sldId id="337" r:id="rId10"/>
    <p:sldId id="339" r:id="rId11"/>
    <p:sldId id="500" r:id="rId12"/>
    <p:sldId id="344" r:id="rId13"/>
  </p:sldIdLst>
  <p:sldSz cx="9144000" cy="5143500" type="screen16x9"/>
  <p:notesSz cx="6858000" cy="9144000"/>
  <p:custDataLst>
    <p:tags r:id="rId15"/>
  </p:custDataLst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pos="120" userDrawn="1">
          <p15:clr>
            <a:srgbClr val="A4A3A4"/>
          </p15:clr>
        </p15:guide>
        <p15:guide id="4" pos="336" userDrawn="1">
          <p15:clr>
            <a:srgbClr val="A4A3A4"/>
          </p15:clr>
        </p15:guide>
        <p15:guide id="5" pos="552" userDrawn="1">
          <p15:clr>
            <a:srgbClr val="A4A3A4"/>
          </p15:clr>
        </p15:guide>
        <p15:guide id="6" pos="3456" userDrawn="1">
          <p15:clr>
            <a:srgbClr val="A4A3A4"/>
          </p15:clr>
        </p15:guide>
        <p15:guide id="7" pos="5616" userDrawn="1">
          <p15:clr>
            <a:srgbClr val="A4A3A4"/>
          </p15:clr>
        </p15:guide>
        <p15:guide id="8" orient="horz" pos="396" userDrawn="1">
          <p15:clr>
            <a:srgbClr val="A4A3A4"/>
          </p15:clr>
        </p15:guide>
        <p15:guide id="9" orient="horz" pos="660" userDrawn="1">
          <p15:clr>
            <a:srgbClr val="A4A3A4"/>
          </p15:clr>
        </p15:guide>
        <p15:guide id="10" orient="horz" pos="310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ichard Levine" initials="RL" lastIdx="1" clrIdx="0">
    <p:extLst>
      <p:ext uri="{19B8F6BF-5375-455C-9EA6-DF929625EA0E}">
        <p15:presenceInfo xmlns:p15="http://schemas.microsoft.com/office/powerpoint/2012/main" userId="Richard Levine" providerId="None"/>
      </p:ext>
    </p:extLst>
  </p:cmAuthor>
  <p:cmAuthor id="2" name="J. Michael Tritchler" initials="JMT" lastIdx="7" clrIdx="1">
    <p:extLst>
      <p:ext uri="{19B8F6BF-5375-455C-9EA6-DF929625EA0E}">
        <p15:presenceInfo xmlns:p15="http://schemas.microsoft.com/office/powerpoint/2012/main" userId="7428f1cfebb934b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66"/>
    <a:srgbClr val="0000CF"/>
    <a:srgbClr val="EAAA00"/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855" autoAdjust="0"/>
    <p:restoredTop sz="93329" autoAdjust="0"/>
  </p:normalViewPr>
  <p:slideViewPr>
    <p:cSldViewPr snapToGrid="0">
      <p:cViewPr varScale="1">
        <p:scale>
          <a:sx n="66" d="100"/>
          <a:sy n="66" d="100"/>
        </p:scale>
        <p:origin x="864" y="45"/>
      </p:cViewPr>
      <p:guideLst>
        <p:guide orient="horz" pos="1620"/>
        <p:guide pos="2880"/>
        <p:guide pos="120"/>
        <p:guide pos="336"/>
        <p:guide pos="552"/>
        <p:guide pos="3456"/>
        <p:guide pos="5616"/>
        <p:guide orient="horz" pos="396"/>
        <p:guide orient="horz" pos="660"/>
        <p:guide orient="horz" pos="31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ags" Target="tags/tag1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C358C8-D37B-4DB3-A032-059E1BD5A650}" type="datetimeFigureOut">
              <a:rPr lang="en-US" smtClean="0"/>
              <a:t>5/10/2020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BE3481-38DB-434B-B170-CFE83842A5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398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77875" y="1200150"/>
            <a:ext cx="5759450" cy="32400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dirty="0"/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73F899DE-00F9-44EC-A3AD-B3E74958BD84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85600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5473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16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8606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7689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0599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8567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7505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49" y="1436688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67783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002E78-3C88-9A40-B579-FA4DB2691E4F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66069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3838344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34F0668-60AC-E24C-8E50-B74DE0FA4F02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30886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3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257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703478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261753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8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8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8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901605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894599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7172649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268453"/>
            <a:ext cx="8110832" cy="35643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41839250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498960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heme" Target="../theme/theme2.xml"/><Relationship Id="rId5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0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539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612155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8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79756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0.xml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5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/>
        </p:nvSpPr>
        <p:spPr>
          <a:xfrm>
            <a:off x="72284" y="155460"/>
            <a:ext cx="6173436" cy="534636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r>
              <a:rPr lang="en-US" sz="3600" dirty="0">
                <a:latin typeface="Vitesse" charset="0"/>
                <a:cs typeface="Vitesse" charset="0"/>
              </a:rPr>
              <a:t>Regression Analysis</a:t>
            </a:r>
          </a:p>
        </p:txBody>
      </p:sp>
      <p:sp>
        <p:nvSpPr>
          <p:cNvPr id="4" name="Text Placeholder 2"/>
          <p:cNvSpPr>
            <a:spLocks noGrp="1"/>
          </p:cNvSpPr>
          <p:nvPr/>
        </p:nvSpPr>
        <p:spPr>
          <a:xfrm>
            <a:off x="85588" y="641448"/>
            <a:ext cx="6368450" cy="61983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lang="en-US" sz="30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/>
              <a:t>Poisson Regression</a:t>
            </a:r>
            <a:endParaRPr lang="en-US" sz="2400" dirty="0"/>
          </a:p>
        </p:txBody>
      </p:sp>
      <p:sp>
        <p:nvSpPr>
          <p:cNvPr id="17" name="Text Placeholder 3"/>
          <p:cNvSpPr>
            <a:spLocks noGrp="1"/>
          </p:cNvSpPr>
          <p:nvPr/>
        </p:nvSpPr>
        <p:spPr>
          <a:xfrm>
            <a:off x="85589" y="2018346"/>
            <a:ext cx="4305091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rgbClr val="EAAA00"/>
              </a:solidFill>
            </a:endParaRPr>
          </a:p>
          <a:p>
            <a:r>
              <a:rPr lang="en-US" dirty="0">
                <a:solidFill>
                  <a:srgbClr val="EAAA00"/>
                </a:solidFill>
              </a:rPr>
              <a:t>Nicoleta Serban, Ph.D. </a:t>
            </a:r>
          </a:p>
        </p:txBody>
      </p:sp>
      <p:sp>
        <p:nvSpPr>
          <p:cNvPr id="18" name="Text Placeholder 4"/>
          <p:cNvSpPr>
            <a:spLocks noGrp="1"/>
          </p:cNvSpPr>
          <p:nvPr/>
        </p:nvSpPr>
        <p:spPr>
          <a:xfrm>
            <a:off x="92366" y="2376336"/>
            <a:ext cx="4305091" cy="25428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0" i="1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Professor </a:t>
            </a:r>
          </a:p>
        </p:txBody>
      </p:sp>
      <p:sp>
        <p:nvSpPr>
          <p:cNvPr id="20" name="Text Placeholder 6"/>
          <p:cNvSpPr>
            <a:spLocks noGrp="1"/>
          </p:cNvSpPr>
          <p:nvPr/>
        </p:nvSpPr>
        <p:spPr>
          <a:xfrm>
            <a:off x="101772" y="2661666"/>
            <a:ext cx="4305091" cy="32225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200" b="0" i="0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School of Industrial and Systems Engineering</a:t>
            </a:r>
          </a:p>
        </p:txBody>
      </p:sp>
      <p:sp>
        <p:nvSpPr>
          <p:cNvPr id="9" name="文本占位符 5">
            <a:extLst>
              <a:ext uri="{FF2B5EF4-FFF2-40B4-BE49-F238E27FC236}">
                <a16:creationId xmlns:a16="http://schemas.microsoft.com/office/drawing/2014/main" id="{EC833EAC-D3F3-44C9-8C85-056CF49EE89A}"/>
              </a:ext>
            </a:extLst>
          </p:cNvPr>
          <p:cNvSpPr txBox="1">
            <a:spLocks/>
          </p:cNvSpPr>
          <p:nvPr/>
        </p:nvSpPr>
        <p:spPr>
          <a:xfrm>
            <a:off x="88439" y="4131342"/>
            <a:ext cx="3998040" cy="681037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000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Predicting Demand for Rental Bikes: Poisson Regression </a:t>
            </a:r>
            <a:endParaRPr kumimoji="1" lang="zh-CN" altLang="en-US" sz="2000" dirty="0">
              <a:solidFill>
                <a:schemeClr val="tx2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32141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0" t="7499" r="15454" b="5507"/>
          <a:stretch/>
        </p:blipFill>
        <p:spPr>
          <a:xfrm>
            <a:off x="3422383" y="1074049"/>
            <a:ext cx="2392685" cy="3028613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121380" y="154185"/>
            <a:ext cx="4727575" cy="731837"/>
          </a:xfrm>
        </p:spPr>
        <p:txBody>
          <a:bodyPr anchor="t"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About This Lesson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65241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74325" y="145207"/>
            <a:ext cx="8562392" cy="620672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pPr fontAlgn="auto">
              <a:spcAft>
                <a:spcPts val="0"/>
              </a:spcAft>
            </a:pPr>
            <a:r>
              <a:rPr kumimoji="1" lang="en-US" altLang="zh-CN" sz="3600" dirty="0">
                <a:latin typeface="Vitesse"/>
              </a:rPr>
              <a:t>Predicting Demand for Rental Bikes</a:t>
            </a:r>
            <a:endParaRPr lang="en-US" sz="3600" dirty="0">
              <a:latin typeface="Vitesse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92315F-BECE-4D34-86FD-7B1A1B08B0CE}"/>
              </a:ext>
            </a:extLst>
          </p:cNvPr>
          <p:cNvSpPr/>
          <p:nvPr/>
        </p:nvSpPr>
        <p:spPr>
          <a:xfrm>
            <a:off x="5388298" y="954410"/>
            <a:ext cx="3527101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Helvetica" panose="020B0604020202020204" pitchFamily="34" charset="0"/>
                <a:cs typeface="Helvetica" panose="020B0604020202020204" pitchFamily="34" charset="0"/>
              </a:rPr>
              <a:t>Bike sharing systems are of great interest due to their important role in traffic management.</a:t>
            </a:r>
          </a:p>
          <a:p>
            <a:r>
              <a:rPr lang="en-US" sz="1800" b="1" dirty="0">
                <a:latin typeface="Helvetica" panose="020B0604020202020204" pitchFamily="34" charset="0"/>
                <a:cs typeface="Helvetica" panose="020B0604020202020204" pitchFamily="34" charset="0"/>
              </a:rPr>
              <a:t>Dataset: </a:t>
            </a: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Historical data for years 2011-2012 for the bike sharing system in Washington D.C.</a:t>
            </a:r>
          </a:p>
          <a:p>
            <a:r>
              <a:rPr lang="en-US" sz="1800" b="1" dirty="0">
                <a:latin typeface="Helvetica" panose="020B0604020202020204" pitchFamily="34" charset="0"/>
                <a:cs typeface="Helvetica" panose="020B0604020202020204" pitchFamily="34" charset="0"/>
              </a:rPr>
              <a:t>Data Source: </a:t>
            </a: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UCI Machine Learning Repository</a:t>
            </a:r>
            <a:endParaRPr lang="en-US" sz="1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0CEBEA-6F01-41BC-94CC-890CBB705AA1}"/>
              </a:ext>
            </a:extLst>
          </p:cNvPr>
          <p:cNvSpPr txBox="1"/>
          <p:nvPr/>
        </p:nvSpPr>
        <p:spPr>
          <a:xfrm>
            <a:off x="116661" y="4621946"/>
            <a:ext cx="7302759" cy="47079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/>
          <a:p>
            <a:pPr algn="l">
              <a:lnSpc>
                <a:spcPts val="1200"/>
              </a:lnSpc>
              <a:spcAft>
                <a:spcPts val="600"/>
              </a:spcAft>
            </a:pPr>
            <a:r>
              <a:rPr lang="en-US" sz="1100" b="1" i="1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Acknowledgement</a:t>
            </a:r>
            <a:r>
              <a:rPr lang="en-US" sz="1100" i="1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: This example was prepared with support from students in the Masters of Analytics program, including </a:t>
            </a:r>
            <a:r>
              <a:rPr lang="it-IT" sz="1100" i="1" dirty="0">
                <a:latin typeface="Helvetica" panose="020B0604020202020204" pitchFamily="34" charset="0"/>
                <a:cs typeface="Helvetica" panose="020B0604020202020204" pitchFamily="34" charset="0"/>
              </a:rPr>
              <a:t>Naman Arora, Puneeth Banisetti, Mani Chandana Chalasani</a:t>
            </a:r>
            <a:r>
              <a:rPr lang="en-US" sz="1100" i="1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, Joseph (Mike) Tritchler and Kevin West </a:t>
            </a:r>
          </a:p>
        </p:txBody>
      </p:sp>
      <p:pic>
        <p:nvPicPr>
          <p:cNvPr id="7" name="Picture 6" descr="A bicycle parked on the side of a building&#10;&#10;Description automatically generated">
            <a:extLst>
              <a:ext uri="{FF2B5EF4-FFF2-40B4-BE49-F238E27FC236}">
                <a16:creationId xmlns:a16="http://schemas.microsoft.com/office/drawing/2014/main" id="{CB23F6E2-63A0-4BF8-8305-43DB049BB4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515" y="1051514"/>
            <a:ext cx="4701334" cy="2648419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325" y="153298"/>
            <a:ext cx="8562392" cy="588997"/>
          </a:xfrm>
        </p:spPr>
        <p:txBody>
          <a:bodyPr/>
          <a:lstStyle/>
          <a:p>
            <a:r>
              <a:rPr kumimoji="1" lang="en-US" altLang="zh-CN" sz="3600" dirty="0">
                <a:latin typeface="Vitesse"/>
              </a:rPr>
              <a:t>Response</a:t>
            </a:r>
            <a:r>
              <a:rPr kumimoji="1" lang="zh-CN" altLang="en-US" sz="3600" dirty="0">
                <a:latin typeface="Vitesse"/>
              </a:rPr>
              <a:t> </a:t>
            </a:r>
            <a:r>
              <a:rPr kumimoji="1" lang="en-US" altLang="zh-CN" sz="3600" dirty="0">
                <a:latin typeface="Vitesse"/>
              </a:rPr>
              <a:t>&amp;</a:t>
            </a:r>
            <a:r>
              <a:rPr kumimoji="1" lang="zh-CN" altLang="en-US" sz="3600" dirty="0">
                <a:latin typeface="Vitesse"/>
              </a:rPr>
              <a:t> </a:t>
            </a:r>
            <a:r>
              <a:rPr kumimoji="1" lang="en-US" altLang="zh-CN" sz="3600" dirty="0">
                <a:latin typeface="Vitesse"/>
              </a:rPr>
              <a:t>Predicting</a:t>
            </a:r>
            <a:r>
              <a:rPr kumimoji="1" lang="zh-CN" altLang="en-US" sz="3600" dirty="0">
                <a:latin typeface="Vitesse"/>
              </a:rPr>
              <a:t> </a:t>
            </a:r>
            <a:r>
              <a:rPr kumimoji="1" lang="en-US" altLang="zh-CN" sz="3600" dirty="0">
                <a:latin typeface="Vitesse"/>
              </a:rPr>
              <a:t>Variables</a:t>
            </a:r>
            <a:endParaRPr kumimoji="1" lang="zh-CN" altLang="en-US" sz="3600" dirty="0">
              <a:latin typeface="Vitesse"/>
            </a:endParaRP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5A80DA0C-458D-4026-9C19-F689E413CB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846" y="831307"/>
            <a:ext cx="8333509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The response variable is:</a:t>
            </a:r>
          </a:p>
          <a:p>
            <a:pPr marL="832104" indent="-493776"/>
            <a:r>
              <a:rPr lang="en-US" altLang="en-US" sz="1400" b="1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Y</a:t>
            </a:r>
            <a:r>
              <a:rPr lang="en-US" alt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(</a:t>
            </a:r>
            <a:r>
              <a:rPr lang="en-US" alt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Cnt</a:t>
            </a:r>
            <a:r>
              <a:rPr lang="en-US" alt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): Total bikes rented by both casual &amp; registered users together</a:t>
            </a:r>
          </a:p>
          <a:p>
            <a:pPr eaLnBrk="1" hangingPunct="1">
              <a:spcBef>
                <a:spcPts val="0"/>
              </a:spcBef>
            </a:pPr>
            <a:endParaRPr lang="en-US" altLang="en-US" sz="1400" b="1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eaLnBrk="1" hangingPunct="1">
              <a:spcBef>
                <a:spcPts val="0"/>
              </a:spcBef>
            </a:pPr>
            <a:r>
              <a:rPr lang="en-US" altLang="en-US" sz="1400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The qualitative predicting variables are:</a:t>
            </a:r>
            <a:endParaRPr lang="en-US" altLang="en-US" sz="1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32104" indent="-493776"/>
            <a:r>
              <a:rPr lang="en-US" alt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Season</a:t>
            </a:r>
            <a:r>
              <a:rPr lang="en-US" alt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: Season which the observation is made (1 = Winter, 2 = Spring, 3 = Summer, 4 = Fall)</a:t>
            </a:r>
          </a:p>
          <a:p>
            <a:pPr marL="832104" indent="-493776"/>
            <a:r>
              <a:rPr lang="en-US" alt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Yr</a:t>
            </a:r>
            <a:r>
              <a:rPr lang="en-US" alt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: Year on which the observation is made</a:t>
            </a:r>
          </a:p>
          <a:p>
            <a:pPr marL="832104" indent="-493776"/>
            <a:r>
              <a:rPr lang="en-US" alt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Mnth</a:t>
            </a:r>
            <a:r>
              <a:rPr lang="en-US" alt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: Month on which the observation is made</a:t>
            </a:r>
          </a:p>
          <a:p>
            <a:pPr marL="832104" indent="-493776"/>
            <a:r>
              <a:rPr lang="en-US" alt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Hr</a:t>
            </a:r>
            <a:r>
              <a:rPr lang="en-US" alt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: Day on which the observation is made (0 through 23)</a:t>
            </a:r>
          </a:p>
          <a:p>
            <a:pPr marL="832104" indent="-493776"/>
            <a:r>
              <a:rPr lang="en-US" alt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Holiday</a:t>
            </a:r>
            <a:r>
              <a:rPr lang="en-US" alt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: Indictor of a public holiday or not (1 = public holiday, 0 = not a public holiday)</a:t>
            </a:r>
          </a:p>
          <a:p>
            <a:pPr marL="832104" indent="-493776"/>
            <a:r>
              <a:rPr lang="en-US" alt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Weekday</a:t>
            </a:r>
            <a:r>
              <a:rPr lang="en-US" alt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: Day of week (0 through 6)</a:t>
            </a:r>
          </a:p>
          <a:p>
            <a:pPr marL="687388" indent="-349250"/>
            <a:r>
              <a:rPr lang="en-US" alt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Weathersit</a:t>
            </a:r>
            <a:r>
              <a:rPr lang="en-US" alt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: Weather condition (1 = Clear, Few clouds, Partly cloudy, Partly cloudy, 2 = Mist &amp; Cloudy, Mist &amp; Broken clouds, Mist &amp; Few clouds, Mist, 3 = Snow,  Rain, Thunderstorm &amp; Scattered clouds, Ice Pallets &amp; Fog)</a:t>
            </a:r>
          </a:p>
          <a:p>
            <a:r>
              <a:rPr lang="en-US" altLang="en-US" sz="1400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The quantitative predicting variables are:</a:t>
            </a:r>
            <a:endParaRPr lang="en-US" altLang="en-US" sz="1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32104" indent="-493776"/>
            <a:r>
              <a:rPr lang="en-US" alt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Temp</a:t>
            </a:r>
            <a:r>
              <a:rPr lang="en-US" alt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: Normalized temperature in Celsius</a:t>
            </a:r>
          </a:p>
          <a:p>
            <a:pPr marL="832104" indent="-493776"/>
            <a:r>
              <a:rPr lang="en-US" alt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Atemp</a:t>
            </a:r>
            <a:r>
              <a:rPr lang="en-US" alt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: Normalized feeling temperature in Celsius</a:t>
            </a:r>
          </a:p>
          <a:p>
            <a:pPr marL="832104" indent="-493776"/>
            <a:r>
              <a:rPr lang="en-US" alt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Hum</a:t>
            </a:r>
            <a:r>
              <a:rPr lang="en-US" alt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: Normalized humidity</a:t>
            </a:r>
          </a:p>
          <a:p>
            <a:pPr marL="832104" indent="-493776"/>
            <a:r>
              <a:rPr lang="en-US" alt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Windspeed</a:t>
            </a:r>
            <a:r>
              <a:rPr lang="en-US" alt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: Normalized wind speed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96972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07881" y="853610"/>
            <a:ext cx="494119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# Applying multiple linear regression model</a:t>
            </a:r>
          </a:p>
          <a:p>
            <a:pPr lvl="0"/>
            <a:r>
              <a:rPr lang="en-US" sz="1200" i="1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model1 = </a:t>
            </a:r>
            <a:r>
              <a:rPr lang="en-US" sz="1200" b="1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glm</a:t>
            </a:r>
            <a:r>
              <a:rPr lang="en-US" sz="1200" i="1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</a:t>
            </a:r>
            <a:r>
              <a:rPr lang="en-US" sz="1200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cnt</a:t>
            </a:r>
            <a:r>
              <a:rPr lang="en-US" sz="1200" i="1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~ ., data=train, family='poisson’)</a:t>
            </a:r>
          </a:p>
          <a:p>
            <a:pPr lvl="0"/>
            <a:r>
              <a:rPr lang="en-US" sz="12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summary</a:t>
            </a:r>
            <a:r>
              <a:rPr lang="en-US" sz="1200" i="1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(model1)</a:t>
            </a:r>
          </a:p>
          <a:p>
            <a:pPr lvl="0"/>
            <a:endParaRPr lang="en-US" sz="1200" dirty="0">
              <a:solidFill>
                <a:srgbClr val="000000"/>
              </a:solidFill>
              <a:latin typeface="Helvetica" panose="020B0604020202020204" pitchFamily="34" charset="0"/>
              <a:ea typeface="Cambria" panose="02040503050406030204" pitchFamily="18" charset="0"/>
              <a:cs typeface="Helvetica" panose="020B0604020202020204" pitchFamily="34" charset="0"/>
            </a:endParaRPr>
          </a:p>
          <a:p>
            <a:endParaRPr lang="en-US" sz="1200" dirty="0">
              <a:latin typeface="Helvetica" panose="020B0604020202020204" pitchFamily="34" charset="0"/>
              <a:ea typeface="Cambria Math" panose="02040503050406030204" pitchFamily="18" charset="0"/>
              <a:cs typeface="Helvetica" panose="020B0604020202020204" pitchFamily="34" charset="0"/>
            </a:endParaRPr>
          </a:p>
          <a:p>
            <a:endParaRPr lang="en-US" sz="1200" dirty="0">
              <a:latin typeface="Helvetica" panose="020B0604020202020204" pitchFamily="34" charset="0"/>
              <a:ea typeface="Cambria Math" panose="02040503050406030204" pitchFamily="18" charset="0"/>
              <a:cs typeface="Helvetica" panose="020B0604020202020204" pitchFamily="34" charset="0"/>
            </a:endParaRPr>
          </a:p>
          <a:p>
            <a:endParaRPr lang="en-US" sz="1200" dirty="0">
              <a:latin typeface="Helvetica" panose="020B0604020202020204" pitchFamily="34" charset="0"/>
              <a:ea typeface="Cambria Math" panose="02040503050406030204" pitchFamily="18" charset="0"/>
              <a:cs typeface="Helvetica" panose="020B0604020202020204" pitchFamily="34" charset="0"/>
            </a:endParaRPr>
          </a:p>
          <a:p>
            <a:endParaRPr lang="en-US" sz="1200" dirty="0">
              <a:latin typeface="Helvetica" panose="020B0604020202020204" pitchFamily="34" charset="0"/>
              <a:ea typeface="Cambria Math" panose="02040503050406030204" pitchFamily="18" charset="0"/>
              <a:cs typeface="Helvetica" panose="020B0604020202020204" pitchFamily="34" charset="0"/>
            </a:endParaRPr>
          </a:p>
          <a:p>
            <a:endParaRPr lang="en-US" sz="1200" dirty="0">
              <a:latin typeface="Helvetica" panose="020B0604020202020204" pitchFamily="34" charset="0"/>
              <a:ea typeface="Cambria Math" panose="02040503050406030204" pitchFamily="18" charset="0"/>
              <a:cs typeface="Helvetica" panose="020B0604020202020204" pitchFamily="34" charset="0"/>
            </a:endParaRPr>
          </a:p>
          <a:p>
            <a:endParaRPr lang="en-US" sz="1200" dirty="0">
              <a:latin typeface="Helvetica" panose="020B0604020202020204" pitchFamily="34" charset="0"/>
              <a:ea typeface="Cambria Math" panose="02040503050406030204" pitchFamily="18" charset="0"/>
              <a:cs typeface="Helvetica" panose="020B0604020202020204" pitchFamily="34" charset="0"/>
            </a:endParaRPr>
          </a:p>
          <a:p>
            <a:endParaRPr lang="en-US" sz="1200" dirty="0">
              <a:latin typeface="Helvetica" panose="020B0604020202020204" pitchFamily="34" charset="0"/>
              <a:ea typeface="Cambria Math" panose="02040503050406030204" pitchFamily="18" charset="0"/>
              <a:cs typeface="Helvetica" panose="020B0604020202020204" pitchFamily="34" charset="0"/>
            </a:endParaRPr>
          </a:p>
          <a:p>
            <a:endParaRPr lang="en-US" sz="1200" dirty="0">
              <a:latin typeface="Helvetica" panose="020B0604020202020204" pitchFamily="34" charset="0"/>
              <a:ea typeface="Cambria Math" panose="02040503050406030204" pitchFamily="18" charset="0"/>
              <a:cs typeface="Helvetica" panose="020B0604020202020204" pitchFamily="34" charset="0"/>
            </a:endParaRPr>
          </a:p>
          <a:p>
            <a:endParaRPr lang="en-US" sz="1200" dirty="0">
              <a:latin typeface="Helvetica" panose="020B0604020202020204" pitchFamily="34" charset="0"/>
              <a:ea typeface="Cambria Math" panose="02040503050406030204" pitchFamily="18" charset="0"/>
              <a:cs typeface="Helvetica" panose="020B0604020202020204" pitchFamily="34" charset="0"/>
            </a:endParaRPr>
          </a:p>
          <a:p>
            <a:endParaRPr lang="en-US" sz="1200" dirty="0">
              <a:latin typeface="Helvetica" panose="020B0604020202020204" pitchFamily="34" charset="0"/>
              <a:ea typeface="Cambria Math" panose="02040503050406030204" pitchFamily="18" charset="0"/>
              <a:cs typeface="Helvetica" panose="020B0604020202020204" pitchFamily="34" charset="0"/>
            </a:endParaRPr>
          </a:p>
          <a:p>
            <a:endParaRPr lang="en-US" sz="1200" dirty="0">
              <a:latin typeface="Helvetica" panose="020B0604020202020204" pitchFamily="34" charset="0"/>
              <a:ea typeface="Cambria Math" panose="02040503050406030204" pitchFamily="18" charset="0"/>
              <a:cs typeface="Helvetica" panose="020B0604020202020204" pitchFamily="34" charset="0"/>
            </a:endParaRPr>
          </a:p>
          <a:p>
            <a:r>
              <a:rPr lang="en-US" sz="1200" dirty="0">
                <a:latin typeface="Helvetica" panose="020B0604020202020204" pitchFamily="34" charset="0"/>
                <a:ea typeface="Cambria Math" panose="02040503050406030204" pitchFamily="18" charset="0"/>
                <a:cs typeface="Helvetica" panose="020B0604020202020204" pitchFamily="34" charset="0"/>
              </a:rPr>
              <a:t>⋮</a:t>
            </a:r>
            <a:endParaRPr lang="en-US" sz="1200" dirty="0"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  <a:p>
            <a:r>
              <a:rPr lang="en-US" sz="12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---</a:t>
            </a:r>
          </a:p>
          <a:p>
            <a:r>
              <a:rPr lang="en-US" sz="12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Deviance Residuals: </a:t>
            </a:r>
          </a:p>
          <a:p>
            <a:pPr marL="339725"/>
            <a:r>
              <a:rPr lang="en-US" sz="12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Min           1Q          Median     3Q         Max  </a:t>
            </a:r>
          </a:p>
          <a:p>
            <a:pPr marL="339725"/>
            <a:r>
              <a:rPr lang="en-US" sz="12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-24.6089   -3.7805   -0.8685    3.0436   22.6553 </a:t>
            </a:r>
          </a:p>
        </p:txBody>
      </p:sp>
      <p:sp>
        <p:nvSpPr>
          <p:cNvPr id="15" name="标题 14"/>
          <p:cNvSpPr>
            <a:spLocks noGrp="1"/>
          </p:cNvSpPr>
          <p:nvPr>
            <p:ph type="title"/>
          </p:nvPr>
        </p:nvSpPr>
        <p:spPr>
          <a:xfrm>
            <a:off x="74325" y="153298"/>
            <a:ext cx="8562392" cy="630943"/>
          </a:xfrm>
        </p:spPr>
        <p:txBody>
          <a:bodyPr/>
          <a:lstStyle/>
          <a:p>
            <a:r>
              <a:rPr kumimoji="1" lang="en-US" altLang="zh-CN" sz="3600" dirty="0">
                <a:latin typeface="Vitesse"/>
                <a:ea typeface="Vitesse" charset="0"/>
                <a:cs typeface="Vitesse" charset="0"/>
              </a:rPr>
              <a:t>Poisson</a:t>
            </a:r>
            <a:r>
              <a:rPr kumimoji="1" lang="zh-CN" altLang="en-US" sz="3600" dirty="0">
                <a:latin typeface="Vitesse"/>
                <a:ea typeface="Vitesse" charset="0"/>
                <a:cs typeface="Vitesse" charset="0"/>
              </a:rPr>
              <a:t> </a:t>
            </a:r>
            <a:r>
              <a:rPr kumimoji="1" lang="en-US" altLang="zh-CN" sz="3600" dirty="0">
                <a:latin typeface="Vitesse"/>
                <a:ea typeface="Vitesse" charset="0"/>
                <a:cs typeface="Vitesse" charset="0"/>
              </a:rPr>
              <a:t>Regression</a:t>
            </a:r>
            <a:r>
              <a:rPr kumimoji="1" lang="zh-CN" altLang="en-US" sz="3600" dirty="0">
                <a:latin typeface="Vitesse"/>
                <a:ea typeface="Vitesse" charset="0"/>
                <a:cs typeface="Vitesse" charset="0"/>
              </a:rPr>
              <a:t> </a:t>
            </a:r>
            <a:r>
              <a:rPr kumimoji="1" lang="en-US" altLang="zh-CN" sz="3600" dirty="0">
                <a:latin typeface="Vitesse"/>
                <a:ea typeface="Vitesse" charset="0"/>
                <a:cs typeface="Vitesse" charset="0"/>
              </a:rPr>
              <a:t>Analysis</a:t>
            </a:r>
            <a:r>
              <a:rPr kumimoji="1" lang="zh-CN" altLang="en-US" sz="3600" dirty="0">
                <a:latin typeface="Vitesse"/>
                <a:ea typeface="Vitesse" charset="0"/>
                <a:cs typeface="Vitesse" charset="0"/>
              </a:rPr>
              <a:t> </a:t>
            </a:r>
            <a:r>
              <a:rPr kumimoji="1" lang="en-US" altLang="zh-CN" sz="3600" dirty="0">
                <a:latin typeface="Vitesse"/>
                <a:ea typeface="Vitesse" charset="0"/>
                <a:cs typeface="Vitesse" charset="0"/>
              </a:rPr>
              <a:t>in</a:t>
            </a:r>
            <a:r>
              <a:rPr kumimoji="1" lang="zh-CN" altLang="en-US" sz="3600" dirty="0">
                <a:latin typeface="Vitesse"/>
                <a:ea typeface="Vitesse" charset="0"/>
                <a:cs typeface="Vitesse" charset="0"/>
              </a:rPr>
              <a:t> </a:t>
            </a:r>
            <a:r>
              <a:rPr kumimoji="1" lang="en-US" altLang="zh-CN" sz="3600" dirty="0">
                <a:latin typeface="Vitesse"/>
                <a:ea typeface="Vitesse" charset="0"/>
                <a:cs typeface="Vitesse" charset="0"/>
              </a:rPr>
              <a:t>R</a:t>
            </a:r>
            <a:endParaRPr kumimoji="1" lang="zh-CN" altLang="en-US" sz="3600" dirty="0">
              <a:latin typeface="Vitesse"/>
              <a:ea typeface="Vitesse" charset="0"/>
              <a:cs typeface="Vitesse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501BF7-927A-4DB1-A71D-61725BBE13AD}"/>
              </a:ext>
            </a:extLst>
          </p:cNvPr>
          <p:cNvSpPr txBox="1"/>
          <p:nvPr/>
        </p:nvSpPr>
        <p:spPr>
          <a:xfrm>
            <a:off x="5486399" y="1478140"/>
            <a:ext cx="3429001" cy="1994392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tIns="27432" bIns="27432" rtlCol="0">
            <a:spAutoFit/>
          </a:bodyPr>
          <a:lstStyle/>
          <a:p>
            <a:r>
              <a:rPr lang="en-US" sz="1400" dirty="0">
                <a:latin typeface="Helvetica" panose="020B0604020202020204" pitchFamily="34" charset="0"/>
                <a:cs typeface="Helvetica" panose="020B0604020202020204" pitchFamily="34" charset="0"/>
              </a:rPr>
              <a:t>In the full output there are 51 predictor rows in addition to the intercept.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Helvetica" panose="020B0604020202020204" pitchFamily="34" charset="0"/>
                <a:cs typeface="Helvetica" panose="020B0604020202020204" pitchFamily="34" charset="0"/>
              </a:rPr>
              <a:t>All predicting variables are statistically significantly explaining the variability in the response (all p-values are small)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Helvetica" panose="020B0604020202020204" pitchFamily="34" charset="0"/>
                <a:cs typeface="Helvetica" panose="020B0604020202020204" pitchFamily="34" charset="0"/>
              </a:rPr>
              <a:t>Inflated statistical significance is also an issue in Poisson regression when the sample size is large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7038048-8AED-4934-AE1C-89BF0480AA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1988935"/>
              </p:ext>
            </p:extLst>
          </p:nvPr>
        </p:nvGraphicFramePr>
        <p:xfrm>
          <a:off x="196764" y="1496301"/>
          <a:ext cx="4384171" cy="211645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89851">
                  <a:extLst>
                    <a:ext uri="{9D8B030D-6E8A-4147-A177-3AD203B41FA5}">
                      <a16:colId xmlns:a16="http://schemas.microsoft.com/office/drawing/2014/main" val="3441720901"/>
                    </a:ext>
                  </a:extLst>
                </a:gridCol>
                <a:gridCol w="819318">
                  <a:extLst>
                    <a:ext uri="{9D8B030D-6E8A-4147-A177-3AD203B41FA5}">
                      <a16:colId xmlns:a16="http://schemas.microsoft.com/office/drawing/2014/main" val="4168521588"/>
                    </a:ext>
                  </a:extLst>
                </a:gridCol>
                <a:gridCol w="819318">
                  <a:extLst>
                    <a:ext uri="{9D8B030D-6E8A-4147-A177-3AD203B41FA5}">
                      <a16:colId xmlns:a16="http://schemas.microsoft.com/office/drawing/2014/main" val="431165766"/>
                    </a:ext>
                  </a:extLst>
                </a:gridCol>
                <a:gridCol w="760796">
                  <a:extLst>
                    <a:ext uri="{9D8B030D-6E8A-4147-A177-3AD203B41FA5}">
                      <a16:colId xmlns:a16="http://schemas.microsoft.com/office/drawing/2014/main" val="1295312483"/>
                    </a:ext>
                  </a:extLst>
                </a:gridCol>
                <a:gridCol w="994888">
                  <a:extLst>
                    <a:ext uri="{9D8B030D-6E8A-4147-A177-3AD203B41FA5}">
                      <a16:colId xmlns:a16="http://schemas.microsoft.com/office/drawing/2014/main" val="285096359"/>
                    </a:ext>
                  </a:extLst>
                </a:gridCol>
              </a:tblGrid>
              <a:tr h="180767">
                <a:tc>
                  <a:txBody>
                    <a:bodyPr/>
                    <a:lstStyle/>
                    <a:p>
                      <a:pPr algn="l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  <a:ea typeface="思源黑体 CN Normal" panose="020B0500000000000000" pitchFamily="34" charset="-128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思源黑体 CN Normal" panose="020B0500000000000000" pitchFamily="34" charset="-128"/>
                        </a:rPr>
                        <a:t>Estimate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思源黑体 CN Normal" panose="020B0500000000000000" pitchFamily="34" charset="-128"/>
                        </a:rPr>
                        <a:t>Std. Error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思源黑体 CN Normal" panose="020B0500000000000000" pitchFamily="34" charset="-128"/>
                        </a:rPr>
                        <a:t>z-value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思源黑体 CN Normal" panose="020B0500000000000000" pitchFamily="34" charset="-128"/>
                        </a:rPr>
                        <a:t>Pr(&gt;|z|)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8073783"/>
                  </a:ext>
                </a:extLst>
              </a:tr>
              <a:tr h="18076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思源黑体 CN Normal" panose="020B0500000000000000" pitchFamily="34" charset="-128"/>
                        </a:rPr>
                        <a:t>(Intercept)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思源黑体 CN Normal" panose="020B0500000000000000" pitchFamily="34" charset="-128"/>
                        </a:rPr>
                        <a:t>2.93659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思源黑体 CN Normal" panose="020B0500000000000000" pitchFamily="34" charset="-128"/>
                        </a:rPr>
                        <a:t>0.007629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思源黑体 CN Normal" panose="020B0500000000000000" pitchFamily="34" charset="-128"/>
                        </a:rPr>
                        <a:t>384.941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思源黑体 CN Normal" panose="020B0500000000000000" pitchFamily="34" charset="-128"/>
                        </a:rPr>
                        <a:t>&lt;2e-16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9258749"/>
                  </a:ext>
                </a:extLst>
              </a:tr>
              <a:tr h="18076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思源黑体 CN Normal" panose="020B0500000000000000" pitchFamily="34" charset="-128"/>
                        </a:rPr>
                        <a:t>season2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思源黑体 CN Normal" panose="020B0500000000000000" pitchFamily="34" charset="-128"/>
                        </a:rPr>
                        <a:t>0.265486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思源黑体 CN Normal" panose="020B0500000000000000" pitchFamily="34" charset="-128"/>
                        </a:rPr>
                        <a:t>0.004129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思源黑体 CN Normal" panose="020B0500000000000000" pitchFamily="34" charset="-128"/>
                        </a:rPr>
                        <a:t>64.298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思源黑体 CN Normal" panose="020B0500000000000000" pitchFamily="34" charset="-128"/>
                        </a:rPr>
                        <a:t>&lt;2e-16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6960750"/>
                  </a:ext>
                </a:extLst>
              </a:tr>
              <a:tr h="18076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思源黑体 CN Normal" panose="020B0500000000000000" pitchFamily="34" charset="-128"/>
                        </a:rPr>
                        <a:t>season3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思源黑体 CN Normal" panose="020B0500000000000000" pitchFamily="34" charset="-128"/>
                        </a:rPr>
                        <a:t>0.255689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思源黑体 CN Normal" panose="020B0500000000000000" pitchFamily="34" charset="-128"/>
                        </a:rPr>
                        <a:t>0.00473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思源黑体 CN Normal" panose="020B0500000000000000" pitchFamily="34" charset="-128"/>
                        </a:rPr>
                        <a:t>54.059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思源黑体 CN Normal" panose="020B0500000000000000" pitchFamily="34" charset="-128"/>
                        </a:rPr>
                        <a:t>&lt;2e-16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3491951"/>
                  </a:ext>
                </a:extLst>
              </a:tr>
              <a:tr h="18076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思源黑体 CN Normal" panose="020B0500000000000000" pitchFamily="34" charset="-128"/>
                        </a:rPr>
                        <a:t>season4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思源黑体 CN Normal" panose="020B0500000000000000" pitchFamily="34" charset="-128"/>
                        </a:rPr>
                        <a:t>0.448706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思源黑体 CN Normal" panose="020B0500000000000000" pitchFamily="34" charset="-128"/>
                        </a:rPr>
                        <a:t>0.004582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思源黑体 CN Normal" panose="020B0500000000000000" pitchFamily="34" charset="-128"/>
                        </a:rPr>
                        <a:t>97.918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思源黑体 CN Normal" panose="020B0500000000000000" pitchFamily="34" charset="-128"/>
                        </a:rPr>
                        <a:t>&lt;2e-16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7204359"/>
                  </a:ext>
                </a:extLst>
              </a:tr>
              <a:tr h="18076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思源黑体 CN Normal" panose="020B0500000000000000" pitchFamily="34" charset="-128"/>
                        </a:rPr>
                        <a:t>yr1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思源黑体 CN Normal" panose="020B0500000000000000" pitchFamily="34" charset="-128"/>
                        </a:rPr>
                        <a:t>0.4684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思源黑体 CN Normal" panose="020B0500000000000000" pitchFamily="34" charset="-128"/>
                        </a:rPr>
                        <a:t>0.001289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思源黑体 CN Normal" panose="020B0500000000000000" pitchFamily="34" charset="-128"/>
                        </a:rPr>
                        <a:t>363.518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思源黑体 CN Normal" panose="020B0500000000000000" pitchFamily="34" charset="-128"/>
                        </a:rPr>
                        <a:t>&lt;2e-16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0958188"/>
                  </a:ext>
                </a:extLst>
              </a:tr>
              <a:tr h="18076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思源黑体 CN Normal" panose="020B0500000000000000" pitchFamily="34" charset="-128"/>
                        </a:rPr>
                        <a:t>mnth2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思源黑体 CN Normal" panose="020B0500000000000000" pitchFamily="34" charset="-128"/>
                        </a:rPr>
                        <a:t>0.115282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思源黑体 CN Normal" panose="020B0500000000000000" pitchFamily="34" charset="-128"/>
                        </a:rPr>
                        <a:t>0.004247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思源黑体 CN Normal" panose="020B0500000000000000" pitchFamily="34" charset="-128"/>
                        </a:rPr>
                        <a:t>27.143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思源黑体 CN Normal" panose="020B0500000000000000" pitchFamily="34" charset="-128"/>
                        </a:rPr>
                        <a:t>&lt;2e-16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7696551"/>
                  </a:ext>
                </a:extLst>
              </a:tr>
              <a:tr h="18076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思源黑体 CN Normal" panose="020B0500000000000000" pitchFamily="34" charset="-128"/>
                        </a:rPr>
                        <a:t>mnth3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思源黑体 CN Normal" panose="020B0500000000000000" pitchFamily="34" charset="-128"/>
                        </a:rPr>
                        <a:t>0.235149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思源黑体 CN Normal" panose="020B0500000000000000" pitchFamily="34" charset="-128"/>
                        </a:rPr>
                        <a:t>0.004422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思源黑体 CN Normal" panose="020B0500000000000000" pitchFamily="34" charset="-128"/>
                        </a:rPr>
                        <a:t>53.179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思源黑体 CN Normal" panose="020B0500000000000000" pitchFamily="34" charset="-128"/>
                        </a:rPr>
                        <a:t>&lt;2e-16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9621856"/>
                  </a:ext>
                </a:extLst>
              </a:tr>
              <a:tr h="18076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思源黑体 CN Normal" panose="020B0500000000000000" pitchFamily="34" charset="-128"/>
                        </a:rPr>
                        <a:t>mnth4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思源黑体 CN Normal" panose="020B0500000000000000" pitchFamily="34" charset="-128"/>
                        </a:rPr>
                        <a:t>0.210302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思源黑体 CN Normal" panose="020B0500000000000000" pitchFamily="34" charset="-128"/>
                        </a:rPr>
                        <a:t>0.005857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思源黑体 CN Normal" panose="020B0500000000000000" pitchFamily="34" charset="-128"/>
                        </a:rPr>
                        <a:t>35.909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思源黑体 CN Normal" panose="020B0500000000000000" pitchFamily="34" charset="-128"/>
                        </a:rPr>
                        <a:t>&lt;2e-16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8948270"/>
                  </a:ext>
                </a:extLst>
              </a:tr>
              <a:tr h="18076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思源黑体 CN Normal" panose="020B0500000000000000" pitchFamily="34" charset="-128"/>
                        </a:rPr>
                        <a:t>mnth5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思源黑体 CN Normal" panose="020B0500000000000000" pitchFamily="34" charset="-128"/>
                        </a:rPr>
                        <a:t>0.271895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思源黑体 CN Normal" panose="020B0500000000000000" pitchFamily="34" charset="-128"/>
                        </a:rPr>
                        <a:t>0.006138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思源黑体 CN Normal" panose="020B0500000000000000" pitchFamily="34" charset="-128"/>
                        </a:rPr>
                        <a:t>44.295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思源黑体 CN Normal" panose="020B0500000000000000" pitchFamily="34" charset="-128"/>
                        </a:rPr>
                        <a:t>&lt;2e-16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2733644"/>
                  </a:ext>
                </a:extLst>
              </a:tr>
              <a:tr h="18076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思源黑体 CN Normal" panose="020B0500000000000000" pitchFamily="34" charset="-128"/>
                        </a:rPr>
                        <a:t>mnth6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思源黑体 CN Normal" panose="020B0500000000000000" pitchFamily="34" charset="-128"/>
                        </a:rPr>
                        <a:t>0.2239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思源黑体 CN Normal" panose="020B0500000000000000" pitchFamily="34" charset="-128"/>
                        </a:rPr>
                        <a:t>0.006247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思源黑体 CN Normal" panose="020B0500000000000000" pitchFamily="34" charset="-128"/>
                        </a:rPr>
                        <a:t>35.84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ea typeface="思源黑体 CN Normal" panose="020B0500000000000000" pitchFamily="34" charset="-128"/>
                        </a:rPr>
                        <a:t>&lt;2e-16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0801961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33457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22871" y="839663"/>
            <a:ext cx="349988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4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## Checking normality</a:t>
            </a:r>
          </a:p>
          <a:p>
            <a:pPr lvl="0"/>
            <a:r>
              <a:rPr lang="en-US" sz="1400" b="1" dirty="0">
                <a:solidFill>
                  <a:srgbClr val="EAAA00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# histogram</a:t>
            </a:r>
          </a:p>
          <a:p>
            <a:pPr lvl="0"/>
            <a:r>
              <a:rPr lang="en-US" sz="1400" b="1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hist</a:t>
            </a:r>
            <a:r>
              <a:rPr lang="en-US" sz="1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(resids1,</a:t>
            </a:r>
          </a:p>
          <a:p>
            <a:pPr lvl="0"/>
            <a:r>
              <a:rPr lang="en-US" sz="1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    </a:t>
            </a:r>
            <a:r>
              <a:rPr lang="en-US" sz="1400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nclass</a:t>
            </a:r>
            <a:r>
              <a:rPr lang="en-US" sz="1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=20,</a:t>
            </a:r>
          </a:p>
          <a:p>
            <a:pPr lvl="0"/>
            <a:r>
              <a:rPr lang="en-US" sz="1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    col=</a:t>
            </a:r>
            <a:r>
              <a:rPr lang="en-US" sz="1400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gtblue</a:t>
            </a:r>
            <a:r>
              <a:rPr lang="en-US" sz="1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,</a:t>
            </a:r>
          </a:p>
          <a:p>
            <a:pPr lvl="0"/>
            <a:r>
              <a:rPr lang="en-US" sz="1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    border=</a:t>
            </a:r>
            <a:r>
              <a:rPr lang="en-US" sz="1400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techgold</a:t>
            </a:r>
            <a:r>
              <a:rPr lang="en-US" sz="1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,</a:t>
            </a:r>
          </a:p>
          <a:p>
            <a:pPr lvl="0"/>
            <a:r>
              <a:rPr lang="en-US" sz="1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    main="Histogram of residuals")</a:t>
            </a:r>
          </a:p>
        </p:txBody>
      </p:sp>
      <p:sp>
        <p:nvSpPr>
          <p:cNvPr id="15" name="标题 14"/>
          <p:cNvSpPr>
            <a:spLocks noGrp="1"/>
          </p:cNvSpPr>
          <p:nvPr>
            <p:ph type="title"/>
          </p:nvPr>
        </p:nvSpPr>
        <p:spPr>
          <a:xfrm>
            <a:off x="98601" y="145347"/>
            <a:ext cx="8562392" cy="611099"/>
          </a:xfrm>
        </p:spPr>
        <p:txBody>
          <a:bodyPr/>
          <a:lstStyle/>
          <a:p>
            <a:r>
              <a:rPr kumimoji="1" lang="en-US" altLang="zh-CN" sz="3600" dirty="0">
                <a:latin typeface="Vitesse"/>
                <a:ea typeface="Vitesse" charset="0"/>
                <a:cs typeface="Vitesse" charset="0"/>
              </a:rPr>
              <a:t>Goodness of Fit</a:t>
            </a:r>
            <a:endParaRPr kumimoji="1" lang="zh-CN" altLang="en-US" sz="3600" dirty="0">
              <a:latin typeface="Vitesse"/>
              <a:ea typeface="Vitesse" charset="0"/>
              <a:cs typeface="Vitesse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876A7A-A22B-40E0-8489-BC8EE3FADDEA}"/>
              </a:ext>
            </a:extLst>
          </p:cNvPr>
          <p:cNvSpPr/>
          <p:nvPr/>
        </p:nvSpPr>
        <p:spPr>
          <a:xfrm>
            <a:off x="3315595" y="831571"/>
            <a:ext cx="2037015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latinLnBrk="1"/>
            <a:r>
              <a:rPr lang="en-US" sz="1400" b="1" dirty="0">
                <a:solidFill>
                  <a:srgbClr val="EAAA00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# q-q plot</a:t>
            </a:r>
          </a:p>
          <a:p>
            <a:pPr lvl="0" latinLnBrk="1"/>
            <a:r>
              <a:rPr lang="en-US" sz="14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qqnorm</a:t>
            </a:r>
            <a:r>
              <a:rPr lang="en-US" sz="1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(resids1,</a:t>
            </a:r>
            <a:br>
              <a:rPr lang="en-US" sz="1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</a:br>
            <a:r>
              <a:rPr lang="en-US" sz="1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      col="</a:t>
            </a:r>
            <a:r>
              <a:rPr lang="en-US" sz="1400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gtblue</a:t>
            </a:r>
            <a:r>
              <a:rPr lang="en-US" sz="1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")</a:t>
            </a:r>
            <a:br>
              <a:rPr lang="en-US" sz="1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</a:br>
            <a:r>
              <a:rPr lang="en-US" sz="1400" b="1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qqline</a:t>
            </a:r>
            <a:r>
              <a:rPr lang="en-US" sz="1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(resids1,</a:t>
            </a:r>
            <a:br>
              <a:rPr lang="en-US" sz="1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</a:br>
            <a:r>
              <a:rPr lang="en-US" sz="1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      col="red")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04DAE8-369E-0B4E-B222-A9241C9906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6978" y="2391547"/>
            <a:ext cx="2523815" cy="24328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53F694-3AEE-0949-ACE7-59505E5BE4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179" y="2391548"/>
            <a:ext cx="2587353" cy="238128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1F82262-23E6-43C0-9F77-E20472C093D7}"/>
              </a:ext>
            </a:extLst>
          </p:cNvPr>
          <p:cNvSpPr/>
          <p:nvPr/>
        </p:nvSpPr>
        <p:spPr>
          <a:xfrm>
            <a:off x="6235390" y="839960"/>
            <a:ext cx="2681038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latinLnBrk="1"/>
            <a:r>
              <a:rPr lang="en-US" sz="1400" b="1" dirty="0">
                <a:solidFill>
                  <a:srgbClr val="EAAA00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# GOF Test</a:t>
            </a:r>
          </a:p>
          <a:p>
            <a:pPr lvl="0" latinLnBrk="1"/>
            <a:r>
              <a:rPr lang="en-US" sz="1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with(model1, </a:t>
            </a:r>
            <a:r>
              <a:rPr lang="en-US" sz="1400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cbind</a:t>
            </a:r>
            <a:r>
              <a:rPr lang="en-US" sz="1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</a:t>
            </a:r>
            <a:r>
              <a:rPr lang="en-US" sz="1400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res.deviance</a:t>
            </a:r>
            <a:r>
              <a:rPr lang="en-US" sz="1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= deviance, df = </a:t>
            </a:r>
            <a:r>
              <a:rPr lang="en-US" sz="1400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df.residual</a:t>
            </a:r>
            <a:r>
              <a:rPr lang="en-US" sz="1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,</a:t>
            </a:r>
          </a:p>
          <a:p>
            <a:pPr lvl="0" latinLnBrk="1"/>
            <a:r>
              <a:rPr lang="en-US" sz="1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              p = </a:t>
            </a:r>
            <a:r>
              <a:rPr lang="en-US" sz="1400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pchisq</a:t>
            </a:r>
            <a:r>
              <a:rPr lang="en-US" sz="1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(deviance, </a:t>
            </a:r>
            <a:r>
              <a:rPr lang="en-US" sz="1400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df.residual</a:t>
            </a:r>
            <a:r>
              <a:rPr lang="en-US" sz="1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, </a:t>
            </a:r>
            <a:r>
              <a:rPr lang="en-US" sz="1400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lower.tail</a:t>
            </a:r>
            <a:r>
              <a:rPr lang="en-US" sz="1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=FALSE)))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0321E4-F200-4120-AD2F-ED7330600400}"/>
              </a:ext>
            </a:extLst>
          </p:cNvPr>
          <p:cNvSpPr/>
          <p:nvPr/>
        </p:nvSpPr>
        <p:spPr>
          <a:xfrm>
            <a:off x="6222914" y="2462522"/>
            <a:ext cx="215485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fr-FR" sz="1400" dirty="0" err="1">
                <a:latin typeface="Helvetica" panose="020B0604020202020204" pitchFamily="34" charset="0"/>
                <a:cs typeface="Helvetica" panose="020B0604020202020204" pitchFamily="34" charset="0"/>
              </a:rPr>
              <a:t>res.deviance</a:t>
            </a:r>
            <a:r>
              <a:rPr lang="fr-FR" sz="1400" dirty="0">
                <a:latin typeface="Helvetica" panose="020B0604020202020204" pitchFamily="34" charset="0"/>
                <a:cs typeface="Helvetica" panose="020B0604020202020204" pitchFamily="34" charset="0"/>
              </a:rPr>
              <a:t>    </a:t>
            </a:r>
            <a:r>
              <a:rPr lang="fr-FR" sz="1400" dirty="0" err="1">
                <a:latin typeface="Helvetica" panose="020B0604020202020204" pitchFamily="34" charset="0"/>
                <a:cs typeface="Helvetica" panose="020B0604020202020204" pitchFamily="34" charset="0"/>
              </a:rPr>
              <a:t>df</a:t>
            </a:r>
            <a:r>
              <a:rPr lang="fr-FR" sz="1400" dirty="0">
                <a:latin typeface="Helvetica" panose="020B0604020202020204" pitchFamily="34" charset="0"/>
                <a:cs typeface="Helvetica" panose="020B0604020202020204" pitchFamily="34" charset="0"/>
              </a:rPr>
              <a:t>        p</a:t>
            </a:r>
          </a:p>
          <a:p>
            <a:r>
              <a:rPr lang="fr-FR" sz="1400" dirty="0">
                <a:latin typeface="Helvetica" panose="020B0604020202020204" pitchFamily="34" charset="0"/>
                <a:cs typeface="Helvetica" panose="020B0604020202020204" pitchFamily="34" charset="0"/>
              </a:rPr>
              <a:t> 1458653.4       13851 0</a:t>
            </a:r>
            <a:endParaRPr lang="en-U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27293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13039" y="848811"/>
            <a:ext cx="4458961" cy="33598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## Read New Data (Test Data)</a:t>
            </a:r>
          </a:p>
          <a:p>
            <a:pPr latinLnBrk="1">
              <a:spcAft>
                <a:spcPts val="1000"/>
              </a:spcAft>
            </a:pP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test=data[</a:t>
            </a:r>
            <a:r>
              <a:rPr lang="en-US" sz="1200" b="1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-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picked,]</a:t>
            </a:r>
            <a:b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</a:b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 &lt;- test[</a:t>
            </a:r>
            <a:r>
              <a:rPr lang="en-US" sz="1200" b="1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-c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(1,2,9,15,16)]</a:t>
            </a:r>
            <a:endParaRPr lang="en-US" sz="1200" dirty="0">
              <a:latin typeface="Helvetica" panose="020B0604020202020204" pitchFamily="34" charset="0"/>
              <a:ea typeface="Cambria" panose="02040503050406030204" pitchFamily="18" charset="0"/>
              <a:cs typeface="Helvetica" panose="020B0604020202020204" pitchFamily="34" charset="0"/>
            </a:endParaRPr>
          </a:p>
          <a:p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## Prepare the test data the same as the training data</a:t>
            </a:r>
          </a:p>
          <a:p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## Convert the numerical categorical variables to predictors in the test data</a:t>
            </a:r>
          </a:p>
          <a:p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test$season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= 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as.factor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test$season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)</a:t>
            </a:r>
            <a:b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</a:b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test$yr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= 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as.factor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test$yr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)</a:t>
            </a:r>
            <a:b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</a:b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test$mnth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= 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as.factor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test$mnth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)</a:t>
            </a:r>
            <a:b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</a:b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test$hr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= 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as.factor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test$hr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)</a:t>
            </a:r>
            <a:b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</a:b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test$holiday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= 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as.factor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test$holiday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)</a:t>
            </a:r>
            <a:b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</a:b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test$weekday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= 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as.factor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test$weekday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)</a:t>
            </a:r>
            <a:b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</a:b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test$weathersit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= 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as.factor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test$weathersit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)</a:t>
            </a:r>
          </a:p>
          <a:p>
            <a:endParaRPr lang="en-US" sz="1200" dirty="0">
              <a:solidFill>
                <a:schemeClr val="accent6">
                  <a:lumMod val="50000"/>
                </a:schemeClr>
              </a:solidFill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  <a:p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## Build a prediction for model1 with the test data</a:t>
            </a:r>
          </a:p>
          <a:p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 Specify whether a confidence or prediction interval</a:t>
            </a:r>
          </a:p>
          <a:p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pred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 = predict(model1, test, interval = 'prediction')</a:t>
            </a:r>
            <a:endParaRPr lang="en-US" sz="1200" i="1" dirty="0"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325" y="153298"/>
            <a:ext cx="8562392" cy="599261"/>
          </a:xfrm>
        </p:spPr>
        <p:txBody>
          <a:bodyPr/>
          <a:lstStyle/>
          <a:p>
            <a:r>
              <a:rPr kumimoji="1" lang="en-US" altLang="zh-CN" sz="3600" dirty="0">
                <a:latin typeface="Vitesse"/>
              </a:rPr>
              <a:t>Prediction</a:t>
            </a:r>
            <a:endParaRPr kumimoji="1" lang="zh-CN" altLang="en-US" sz="3600" dirty="0">
              <a:latin typeface="Vitesse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85515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14785" y="850945"/>
            <a:ext cx="445721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## Save Predictions to compare with observed data</a:t>
            </a:r>
          </a:p>
          <a:p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test.pred1 &lt;- predict(model1, test, type='response’)</a:t>
            </a:r>
          </a:p>
          <a:p>
            <a:endParaRPr lang="en-US" sz="1200" dirty="0">
              <a:solidFill>
                <a:srgbClr val="000000"/>
              </a:solidFill>
              <a:latin typeface="Helvetica" panose="020B0604020202020204" pitchFamily="34" charset="0"/>
              <a:ea typeface="Cambria" panose="02040503050406030204" pitchFamily="18" charset="0"/>
              <a:cs typeface="Helvetica" panose="020B0604020202020204" pitchFamily="34" charset="0"/>
            </a:endParaRPr>
          </a:p>
          <a:p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 Mean Squared Prediction Error (MSPE)</a:t>
            </a:r>
            <a:endParaRPr lang="en-US" sz="1200" b="1" i="1" dirty="0">
              <a:latin typeface="Helvetica" panose="020B0604020202020204" pitchFamily="34" charset="0"/>
              <a:ea typeface="Cambria" panose="02040503050406030204" pitchFamily="18" charset="0"/>
              <a:cs typeface="Helvetica" panose="020B0604020202020204" pitchFamily="34" charset="0"/>
            </a:endParaRPr>
          </a:p>
          <a:p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mean((test.pred1</a:t>
            </a:r>
            <a:r>
              <a:rPr lang="en-US" sz="1200" b="1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-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</a:t>
            </a:r>
            <a:r>
              <a:rPr lang="en-US" sz="1200" b="1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$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cnt)</a:t>
            </a:r>
            <a:r>
              <a:rPr lang="en-US" sz="1200" b="1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^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2)</a:t>
            </a:r>
            <a:endParaRPr lang="en-US" sz="1200" b="1" dirty="0">
              <a:solidFill>
                <a:srgbClr val="EAAA00"/>
              </a:solidFill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  <a:p>
            <a:pPr latinLnBrk="1"/>
            <a:r>
              <a:rPr lang="en-US" sz="1200" dirty="0">
                <a:solidFill>
                  <a:srgbClr val="000000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[1] 8060.083</a:t>
            </a:r>
          </a:p>
          <a:p>
            <a:pPr latinLnBrk="1"/>
            <a:endParaRPr lang="en-US" sz="1200" dirty="0">
              <a:solidFill>
                <a:srgbClr val="000000"/>
              </a:solidFill>
              <a:latin typeface="Helvetica" panose="020B0604020202020204" pitchFamily="34" charset="0"/>
              <a:ea typeface="Cambria" panose="02040503050406030204" pitchFamily="18" charset="0"/>
              <a:cs typeface="Helvetica" panose="020B0604020202020204" pitchFamily="34" charset="0"/>
            </a:endParaRPr>
          </a:p>
          <a:p>
            <a:pPr latinLnBrk="1"/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 Mean Absolute Prediction Error (MAE)</a:t>
            </a:r>
            <a:endParaRPr lang="en-US" sz="1200" dirty="0">
              <a:latin typeface="Helvetica" panose="020B0604020202020204" pitchFamily="34" charset="0"/>
              <a:ea typeface="Cambria" panose="02040503050406030204" pitchFamily="18" charset="0"/>
              <a:cs typeface="Helvetica" panose="020B0604020202020204" pitchFamily="34" charset="0"/>
            </a:endParaRPr>
          </a:p>
          <a:p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mean(abs(test.pred1</a:t>
            </a:r>
            <a:r>
              <a:rPr lang="en-US" sz="1200" b="1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-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</a:t>
            </a:r>
            <a:r>
              <a:rPr lang="en-US" sz="1200" b="1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$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cnt)) </a:t>
            </a:r>
          </a:p>
          <a:p>
            <a:r>
              <a:rPr lang="en-US" sz="1200" dirty="0">
                <a:solidFill>
                  <a:srgbClr val="000000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[1] 59.96461</a:t>
            </a:r>
          </a:p>
          <a:p>
            <a:endParaRPr lang="en-US" sz="1200" dirty="0">
              <a:solidFill>
                <a:srgbClr val="000000"/>
              </a:solidFill>
              <a:latin typeface="Helvetica" panose="020B0604020202020204" pitchFamily="34" charset="0"/>
              <a:ea typeface="Cambria" panose="02040503050406030204" pitchFamily="18" charset="0"/>
              <a:cs typeface="Helvetica" panose="020B0604020202020204" pitchFamily="34" charset="0"/>
            </a:endParaRPr>
          </a:p>
          <a:p>
            <a:pPr latinLnBrk="1"/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 Mean Absolute Percentage Error (MAPE)</a:t>
            </a:r>
            <a:endParaRPr lang="en-US" sz="1200" dirty="0">
              <a:latin typeface="Helvetica" panose="020B0604020202020204" pitchFamily="34" charset="0"/>
              <a:ea typeface="Cambria" panose="02040503050406030204" pitchFamily="18" charset="0"/>
              <a:cs typeface="Helvetica" panose="020B0604020202020204" pitchFamily="34" charset="0"/>
            </a:endParaRPr>
          </a:p>
          <a:p>
            <a:pPr latinLnBrk="1"/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mean(abs(test.pred1</a:t>
            </a:r>
            <a:r>
              <a:rPr lang="en-US" sz="1200" b="1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-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</a:t>
            </a:r>
            <a:r>
              <a:rPr lang="en-US" sz="1200" b="1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$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cnt)</a:t>
            </a:r>
            <a:r>
              <a:rPr lang="en-US" sz="1200" b="1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/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</a:t>
            </a:r>
            <a:r>
              <a:rPr lang="en-US" sz="1200" b="1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$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cnt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)</a:t>
            </a:r>
            <a:endParaRPr lang="en-US" sz="1200" b="1" dirty="0">
              <a:solidFill>
                <a:srgbClr val="EAAA00"/>
              </a:solidFill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  <a:p>
            <a:pPr latinLnBrk="1"/>
            <a:r>
              <a:rPr lang="en-US" sz="1200" dirty="0">
                <a:solidFill>
                  <a:srgbClr val="000000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[1] 0.8214892</a:t>
            </a:r>
          </a:p>
          <a:p>
            <a:pPr latinLnBrk="1"/>
            <a:endParaRPr lang="en-US" sz="1200" dirty="0">
              <a:solidFill>
                <a:srgbClr val="000000"/>
              </a:solidFill>
              <a:latin typeface="Helvetica" panose="020B0604020202020204" pitchFamily="34" charset="0"/>
              <a:ea typeface="Cambria" panose="02040503050406030204" pitchFamily="18" charset="0"/>
              <a:cs typeface="Helvetica" panose="020B0604020202020204" pitchFamily="34" charset="0"/>
            </a:endParaRPr>
          </a:p>
          <a:p>
            <a:pPr latinLnBrk="1"/>
            <a:r>
              <a:rPr lang="en-US" sz="1200" b="1" dirty="0">
                <a:solidFill>
                  <a:srgbClr val="EAAA00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 Precision Measure (PM)</a:t>
            </a:r>
            <a:endParaRPr lang="en-US" sz="1200" dirty="0">
              <a:latin typeface="Helvetica" panose="020B0604020202020204" pitchFamily="34" charset="0"/>
              <a:ea typeface="Cambria" panose="02040503050406030204" pitchFamily="18" charset="0"/>
              <a:cs typeface="Helvetica" panose="020B0604020202020204" pitchFamily="34" charset="0"/>
            </a:endParaRPr>
          </a:p>
          <a:p>
            <a:pPr latinLnBrk="1"/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sum((test.pred1-test$cnt)^2)/sum((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test$cnt-mean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(</a:t>
            </a:r>
            <a:r>
              <a:rPr lang="en-US" sz="1200" i="1" dirty="0" err="1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test$cnt</a:t>
            </a:r>
            <a:r>
              <a:rPr lang="en-US" sz="1200" i="1" dirty="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))^2) </a:t>
            </a:r>
          </a:p>
          <a:p>
            <a:pPr latinLnBrk="1"/>
            <a:r>
              <a:rPr lang="en-US" sz="1200" dirty="0">
                <a:solidFill>
                  <a:srgbClr val="000000"/>
                </a:solidFill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rPr>
              <a:t>[1] 0.2425596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325" y="153298"/>
            <a:ext cx="8562392" cy="631629"/>
          </a:xfrm>
        </p:spPr>
        <p:txBody>
          <a:bodyPr/>
          <a:lstStyle/>
          <a:p>
            <a:r>
              <a:rPr kumimoji="1" lang="en-US" altLang="zh-CN" sz="3600" dirty="0">
                <a:latin typeface="Vitesse"/>
              </a:rPr>
              <a:t>Prediction</a:t>
            </a:r>
            <a:r>
              <a:rPr kumimoji="1" lang="zh-CN" altLang="en-US" sz="3600" dirty="0">
                <a:latin typeface="Vitesse"/>
              </a:rPr>
              <a:t> </a:t>
            </a:r>
            <a:r>
              <a:rPr kumimoji="1" lang="en-US" altLang="zh-CN" sz="3600" dirty="0">
                <a:latin typeface="Vitesse"/>
              </a:rPr>
              <a:t>Accuracy: Model 1</a:t>
            </a:r>
            <a:endParaRPr kumimoji="1" lang="zh-CN" altLang="en-US" sz="3600" dirty="0">
              <a:latin typeface="Vitess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49A48D-9B35-4870-985A-2A0A1D5AACC8}"/>
              </a:ext>
            </a:extLst>
          </p:cNvPr>
          <p:cNvSpPr txBox="1"/>
          <p:nvPr/>
        </p:nvSpPr>
        <p:spPr>
          <a:xfrm>
            <a:off x="5494492" y="3765989"/>
            <a:ext cx="2239787" cy="1015663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marL="57150"/>
            <a:r>
              <a:rPr lang="en-US" sz="1200" b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Prediction Accuracy</a:t>
            </a:r>
            <a:endParaRPr lang="en-US" sz="1200" dirty="0"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  <a:p>
            <a:pPr marL="57150"/>
            <a:r>
              <a:rPr lang="en-US" sz="12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MSPE = 8060.08</a:t>
            </a:r>
          </a:p>
          <a:p>
            <a:pPr marL="57150"/>
            <a:r>
              <a:rPr lang="en-US" sz="12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MAE = 59.96</a:t>
            </a:r>
          </a:p>
          <a:p>
            <a:pPr marL="57150"/>
            <a:r>
              <a:rPr lang="en-US" sz="12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MAPE = 0.82</a:t>
            </a:r>
          </a:p>
          <a:p>
            <a:pPr marL="57150"/>
            <a:r>
              <a:rPr lang="en-US" sz="12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PM = 0.243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DF77EB1-FB9E-4427-9888-A25EBC57D4F1}"/>
                  </a:ext>
                </a:extLst>
              </p:cNvPr>
              <p:cNvSpPr txBox="1"/>
              <p:nvPr/>
            </p:nvSpPr>
            <p:spPr>
              <a:xfrm>
                <a:off x="5494492" y="1042018"/>
                <a:ext cx="2239787" cy="26024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</a:ln>
            </p:spPr>
            <p:txBody>
              <a:bodyPr wrap="square" lIns="182880" tIns="182880" rIns="182880" bIns="182880" rtlCol="0">
                <a:spAutoFit/>
              </a:bodyPr>
              <a:lstStyle/>
              <a:p>
                <a:r>
                  <a:rPr lang="en-US" sz="1200" b="1" dirty="0">
                    <a:latin typeface="Helvetica" charset="0"/>
                    <a:ea typeface="Helvetica" charset="0"/>
                    <a:cs typeface="Helvetica" charset="0"/>
                  </a:rPr>
                  <a:t>Accuracy Measures</a:t>
                </a:r>
                <a:endParaRPr lang="en-US" sz="1200" dirty="0">
                  <a:latin typeface="Helvetica" charset="0"/>
                  <a:ea typeface="Helvetica" charset="0"/>
                  <a:cs typeface="Helvetica" charset="0"/>
                </a:endParaRPr>
              </a:p>
              <a:p>
                <a:pPr>
                  <a:lnSpc>
                    <a:spcPct val="114000"/>
                  </a:lnSpc>
                </a:pPr>
                <a:r>
                  <a:rPr lang="en-US" sz="1200" dirty="0">
                    <a:latin typeface="Helvetica" charset="0"/>
                    <a:ea typeface="Helvetica" charset="0"/>
                    <a:cs typeface="Helvetica" charset="0"/>
                  </a:rPr>
                  <a:t>MSPE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 smtClean="0">
                            <a:latin typeface="Cambria Math" panose="02040503050406030204" pitchFamily="18" charset="0"/>
                            <a:cs typeface="Helvetica" charset="0"/>
                          </a:rPr>
                        </m:ctrlPr>
                      </m:fPr>
                      <m:num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Helvetica" charset="0"/>
                          </a:rPr>
                          <m:t>1</m:t>
                        </m:r>
                      </m:num>
                      <m:den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Helvetica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en-US" sz="1400" i="1" smtClean="0">
                            <a:latin typeface="Cambria Math" panose="02040503050406030204" pitchFamily="18" charset="0"/>
                            <a:cs typeface="Helvetica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1400" b="0" i="1" smtClean="0">
                            <a:latin typeface="Cambria Math" panose="02040503050406030204" pitchFamily="18" charset="0"/>
                            <a:cs typeface="Helvetica" charset="0"/>
                          </a:rPr>
                          <m:t>𝑖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Helvetica" charset="0"/>
                          </a:rPr>
                          <m:t>=</m:t>
                        </m:r>
                        <m:r>
                          <m:rPr>
                            <m:brk m:alnAt="25"/>
                          </m:rPr>
                          <a:rPr lang="en-US" sz="1400" b="0" i="1" smtClean="0">
                            <a:latin typeface="Cambria Math" panose="02040503050406030204" pitchFamily="18" charset="0"/>
                            <a:cs typeface="Helvetica" charset="0"/>
                          </a:rPr>
                          <m:t>1</m:t>
                        </m:r>
                      </m:sub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Helvetica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sz="1400" i="1" smtClean="0">
                                <a:latin typeface="Cambria Math" panose="02040503050406030204" pitchFamily="18" charset="0"/>
                                <a:cs typeface="Helvetica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400" i="1" smtClean="0">
                                    <a:latin typeface="Cambria Math" panose="02040503050406030204" pitchFamily="18" charset="0"/>
                                    <a:cs typeface="Helvetica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  <a:cs typeface="Helvetica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  <a:cs typeface="Helvetica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  <a:cs typeface="Helvetica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400" i="1">
                                    <a:latin typeface="Cambria Math" panose="02040503050406030204" pitchFamily="18" charset="0"/>
                                    <a:cs typeface="Helvetica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  <a:cs typeface="Helvetica" charset="0"/>
                                      </a:rPr>
                                    </m:ctrlPr>
                                  </m:sSubPr>
                                  <m:e>
                                    <m:limUpp>
                                      <m:limUppPr>
                                        <m:ctrlP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UppPr>
                                      <m:e>
                                        <m: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  <m:lim>
                                        <m:r>
                                          <a:rPr lang="en-US" sz="1400" i="1" baseline="-10000"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lim>
                                    </m:limUpp>
                                  </m:e>
                                  <m:sub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  <a:cs typeface="Helvetica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cs typeface="Helvetica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sz="1400" dirty="0">
                  <a:latin typeface="Helvetica" charset="0"/>
                  <a:ea typeface="Helvetica" charset="0"/>
                  <a:cs typeface="Helvetica" charset="0"/>
                </a:endParaRPr>
              </a:p>
              <a:p>
                <a:pPr>
                  <a:lnSpc>
                    <a:spcPct val="114000"/>
                  </a:lnSpc>
                </a:pPr>
                <a:r>
                  <a:rPr lang="en-US" sz="1200" dirty="0">
                    <a:latin typeface="Helvetica" charset="0"/>
                    <a:ea typeface="Helvetica" charset="0"/>
                    <a:cs typeface="Helvetica" charset="0"/>
                  </a:rPr>
                  <a:t>MAE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  <a:cs typeface="Helvetica" charset="0"/>
                          </a:rPr>
                        </m:ctrlPr>
                      </m:fPr>
                      <m:num>
                        <m:r>
                          <a:rPr lang="en-US" sz="1400" i="1">
                            <a:latin typeface="Cambria Math" panose="02040503050406030204" pitchFamily="18" charset="0"/>
                            <a:cs typeface="Helvetica" charset="0"/>
                          </a:rPr>
                          <m:t>1</m:t>
                        </m:r>
                      </m:num>
                      <m:den>
                        <m:r>
                          <a:rPr lang="en-US" sz="1400" i="1">
                            <a:latin typeface="Cambria Math" panose="02040503050406030204" pitchFamily="18" charset="0"/>
                            <a:cs typeface="Helvetica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en-US" sz="1400" i="1">
                            <a:latin typeface="Cambria Math" panose="02040503050406030204" pitchFamily="18" charset="0"/>
                            <a:cs typeface="Helvetica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1400" i="1">
                            <a:latin typeface="Cambria Math" panose="02040503050406030204" pitchFamily="18" charset="0"/>
                            <a:cs typeface="Helvetica" charset="0"/>
                          </a:rPr>
                          <m:t>𝑖</m:t>
                        </m:r>
                        <m:r>
                          <a:rPr lang="en-US" sz="1400" i="1">
                            <a:latin typeface="Cambria Math" panose="02040503050406030204" pitchFamily="18" charset="0"/>
                            <a:cs typeface="Helvetica" charset="0"/>
                          </a:rPr>
                          <m:t>=1</m:t>
                        </m:r>
                      </m:sub>
                      <m:sup>
                        <m:r>
                          <a:rPr lang="en-US" sz="1400" i="1">
                            <a:latin typeface="Cambria Math" panose="02040503050406030204" pitchFamily="18" charset="0"/>
                            <a:cs typeface="Helvetica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1400" i="1" smtClean="0">
                                <a:latin typeface="Cambria Math" panose="02040503050406030204" pitchFamily="18" charset="0"/>
                                <a:cs typeface="Helvetica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  <a:cs typeface="Helvetica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  <a:cs typeface="Helvetica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sz="1400" i="1">
                                    <a:latin typeface="Cambria Math" panose="02040503050406030204" pitchFamily="18" charset="0"/>
                                    <a:cs typeface="Helvetica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400" i="1">
                                <a:latin typeface="Cambria Math" panose="02040503050406030204" pitchFamily="18" charset="0"/>
                                <a:cs typeface="Helvetica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  <a:cs typeface="Helvetica" charset="0"/>
                                  </a:rPr>
                                </m:ctrlPr>
                              </m:sSubPr>
                              <m:e>
                                <m:limUpp>
                                  <m:limUpp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limUpp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lim>
                                    <m:r>
                                      <a:rPr lang="en-US" sz="1400" i="1" baseline="-1000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lim>
                                </m:limUpp>
                              </m:e>
                              <m:sub>
                                <m:r>
                                  <a:rPr lang="en-US" sz="1400" i="1">
                                    <a:latin typeface="Cambria Math" panose="02040503050406030204" pitchFamily="18" charset="0"/>
                                    <a:cs typeface="Helvetica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 sz="1400" dirty="0">
                  <a:latin typeface="Helvetica" charset="0"/>
                  <a:ea typeface="Helvetica" charset="0"/>
                  <a:cs typeface="Helvetica" charset="0"/>
                </a:endParaRPr>
              </a:p>
              <a:p>
                <a:pPr>
                  <a:lnSpc>
                    <a:spcPct val="114000"/>
                  </a:lnSpc>
                </a:pPr>
                <a:r>
                  <a:rPr lang="en-US" sz="1200" dirty="0">
                    <a:latin typeface="Helvetica" charset="0"/>
                    <a:ea typeface="Helvetica" charset="0"/>
                    <a:cs typeface="Helvetica" charset="0"/>
                  </a:rPr>
                  <a:t>MAPE =</a:t>
                </a:r>
                <a:r>
                  <a:rPr lang="en-US" sz="1600" dirty="0">
                    <a:latin typeface="Helvetica" charset="0"/>
                    <a:ea typeface="Helvetica" charset="0"/>
                    <a:cs typeface="Helvetica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  <a:cs typeface="Helvetica" charset="0"/>
                          </a:rPr>
                        </m:ctrlPr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  <a:cs typeface="Helvetica" charset="0"/>
                          </a:rPr>
                          <m:t>1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  <a:cs typeface="Helvetica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sz="1600" dirty="0">
                    <a:latin typeface="Helvetica" charset="0"/>
                    <a:ea typeface="Helvetica" charset="0"/>
                    <a:cs typeface="Helvetica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sz="1600" i="1">
                            <a:latin typeface="Cambria Math" panose="02040503050406030204" pitchFamily="18" charset="0"/>
                            <a:cs typeface="Helvetica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1600" i="1">
                            <a:latin typeface="Cambria Math" panose="02040503050406030204" pitchFamily="18" charset="0"/>
                            <a:cs typeface="Helvetica" charset="0"/>
                          </a:rPr>
                          <m:t>𝑖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Helvetica" charset="0"/>
                          </a:rPr>
                          <m:t>=1</m:t>
                        </m:r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Helvetica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en-US" sz="1600" i="1" smtClean="0">
                                <a:latin typeface="Cambria Math" panose="02040503050406030204" pitchFamily="18" charset="0"/>
                                <a:cs typeface="Helvetica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cs typeface="Helvetica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  <a:cs typeface="Helvetica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  <a:cs typeface="Helvetica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  <a:cs typeface="Helvetica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cs typeface="Helvetica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  <a:cs typeface="Helvetica" charset="0"/>
                                      </a:rPr>
                                    </m:ctrlPr>
                                  </m:sSubPr>
                                  <m:e>
                                    <m:limUpp>
                                      <m:limUpp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Upp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  <m:lim>
                                        <m:r>
                                          <a:rPr lang="en-US" sz="1600" i="1" baseline="-10000"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lim>
                                    </m:limUpp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  <a:cs typeface="Helvetica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cs typeface="Helvetica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cs typeface="Helvetica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cs typeface="Helvetica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</m:e>
                    </m:nary>
                  </m:oMath>
                </a14:m>
                <a:endParaRPr lang="en-US" sz="1600" dirty="0">
                  <a:latin typeface="Helvetica" charset="0"/>
                  <a:ea typeface="Helvetica" charset="0"/>
                  <a:cs typeface="Helvetica" charset="0"/>
                </a:endParaRPr>
              </a:p>
              <a:p>
                <a:pPr>
                  <a:lnSpc>
                    <a:spcPct val="114000"/>
                  </a:lnSpc>
                </a:pPr>
                <a:r>
                  <a:rPr lang="en-US" sz="12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PM</a:t>
                </a:r>
                <a:r>
                  <a:rPr lang="en-US" sz="1200" dirty="0"/>
                  <a:t> </a:t>
                </a:r>
                <a:r>
                  <a:rPr lang="en-US" sz="12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=</a:t>
                </a: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subSup"/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  <a:cs typeface="Helvetica" charset="0"/>
                                          </a:rPr>
                                        </m:ctrlPr>
                                      </m:sSubPr>
                                      <m:e>
                                        <m:limUpp>
                                          <m:limUppPr>
                                            <m:ctrlPr>
                                              <a:rPr lang="en-US" sz="1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limUppPr>
                                          <m:e>
                                            <m:r>
                                              <a:rPr lang="en-US" sz="1800" i="1">
                                                <a:latin typeface="Cambria Math" panose="02040503050406030204" pitchFamily="18" charset="0"/>
                                              </a:rPr>
                                              <m:t>𝑌</m:t>
                                            </m:r>
                                          </m:e>
                                          <m:lim>
                                            <m:r>
                                              <a:rPr lang="en-US" sz="1800" i="1" baseline="-10000">
                                                <a:latin typeface="Cambria Math" panose="02040503050406030204" pitchFamily="18" charset="0"/>
                                              </a:rPr>
                                              <m:t>∗</m:t>
                                            </m:r>
                                          </m:lim>
                                        </m:limUpp>
                                      </m:e>
                                      <m:sub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  <a:cs typeface="Helvetica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limLoc m:val="subSup"/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sz="18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18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𝑌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den>
                    </m:f>
                  </m:oMath>
                </a14:m>
                <a:endParaRPr lang="en-US" sz="18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DF77EB1-FB9E-4427-9888-A25EBC57D4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4492" y="1042018"/>
                <a:ext cx="2239787" cy="26024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500365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325" y="153298"/>
            <a:ext cx="8562392" cy="679953"/>
          </a:xfrm>
        </p:spPr>
        <p:txBody>
          <a:bodyPr/>
          <a:lstStyle/>
          <a:p>
            <a:r>
              <a:rPr kumimoji="1" lang="en-US" altLang="zh-CN" sz="3600" dirty="0">
                <a:latin typeface="Vitesse" charset="0"/>
                <a:ea typeface="Vitesse" charset="0"/>
                <a:cs typeface="Vitesse" charset="0"/>
              </a:rPr>
              <a:t>Model Comparison</a:t>
            </a:r>
            <a:endParaRPr kumimoji="1" lang="zh-CN" altLang="en-US" sz="3600" b="1" dirty="0">
              <a:latin typeface="Vitesse" charset="0"/>
              <a:ea typeface="Vitesse" charset="0"/>
              <a:cs typeface="Vitesse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EB74DCC-29E3-4C44-89FD-D0A48F7108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2653622"/>
              </p:ext>
            </p:extLst>
          </p:nvPr>
        </p:nvGraphicFramePr>
        <p:xfrm>
          <a:off x="195705" y="861569"/>
          <a:ext cx="7749236" cy="1421490"/>
        </p:xfrm>
        <a:graphic>
          <a:graphicData uri="http://schemas.openxmlformats.org/drawingml/2006/table">
            <a:tbl>
              <a:tblPr firstRow="1" firstCol="1" lastRow="1" lastCol="1"/>
              <a:tblGrid>
                <a:gridCol w="1502228">
                  <a:extLst>
                    <a:ext uri="{9D8B030D-6E8A-4147-A177-3AD203B41FA5}">
                      <a16:colId xmlns:a16="http://schemas.microsoft.com/office/drawing/2014/main" val="514447751"/>
                    </a:ext>
                  </a:extLst>
                </a:gridCol>
                <a:gridCol w="1485448">
                  <a:extLst>
                    <a:ext uri="{9D8B030D-6E8A-4147-A177-3AD203B41FA5}">
                      <a16:colId xmlns:a16="http://schemas.microsoft.com/office/drawing/2014/main" val="4280516498"/>
                    </a:ext>
                  </a:extLst>
                </a:gridCol>
                <a:gridCol w="1652600">
                  <a:extLst>
                    <a:ext uri="{9D8B030D-6E8A-4147-A177-3AD203B41FA5}">
                      <a16:colId xmlns:a16="http://schemas.microsoft.com/office/drawing/2014/main" val="1618221854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1995139908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4289329663"/>
                    </a:ext>
                  </a:extLst>
                </a:gridCol>
              </a:tblGrid>
              <a:tr h="225703"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 dirty="0">
                          <a:effectLst/>
                          <a:latin typeface="Helvetica" panose="020B0604020202020204" pitchFamily="34" charset="0"/>
                          <a:ea typeface="Cambria" panose="02040503050406030204" pitchFamily="18" charset="0"/>
                          <a:cs typeface="Helvetica" panose="020B0604020202020204" pitchFamily="34" charset="0"/>
                        </a:rPr>
                        <a:t>Model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 dirty="0">
                          <a:effectLst/>
                          <a:latin typeface="Helvetica" panose="020B0604020202020204" pitchFamily="34" charset="0"/>
                          <a:ea typeface="Cambria" panose="02040503050406030204" pitchFamily="18" charset="0"/>
                          <a:cs typeface="Helvetica" panose="020B0604020202020204" pitchFamily="34" charset="0"/>
                        </a:rPr>
                        <a:t>MSPE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 dirty="0">
                          <a:effectLst/>
                          <a:latin typeface="Helvetica" panose="020B0604020202020204" pitchFamily="34" charset="0"/>
                          <a:ea typeface="Cambria" panose="02040503050406030204" pitchFamily="18" charset="0"/>
                          <a:cs typeface="Helvetica" panose="020B0604020202020204" pitchFamily="34" charset="0"/>
                        </a:rPr>
                        <a:t>MAE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 dirty="0">
                          <a:effectLst/>
                          <a:latin typeface="Helvetica" panose="020B0604020202020204" pitchFamily="34" charset="0"/>
                          <a:ea typeface="Cambria" panose="02040503050406030204" pitchFamily="18" charset="0"/>
                          <a:cs typeface="Helvetica" panose="020B0604020202020204" pitchFamily="34" charset="0"/>
                        </a:rPr>
                        <a:t>MAPE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 dirty="0">
                          <a:effectLst/>
                          <a:latin typeface="Helvetica" panose="020B0604020202020204" pitchFamily="34" charset="0"/>
                          <a:ea typeface="Cambria" panose="02040503050406030204" pitchFamily="18" charset="0"/>
                          <a:cs typeface="Helvetica" panose="020B0604020202020204" pitchFamily="34" charset="0"/>
                        </a:rPr>
                        <a:t>PM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7665364"/>
                  </a:ext>
                </a:extLst>
              </a:tr>
              <a:tr h="225703"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 dirty="0">
                          <a:effectLst/>
                          <a:latin typeface="Helvetica" panose="020B0604020202020204" pitchFamily="34" charset="0"/>
                          <a:ea typeface="Cambria" panose="02040503050406030204" pitchFamily="18" charset="0"/>
                          <a:cs typeface="Helvetica" panose="020B0604020202020204" pitchFamily="34" charset="0"/>
                        </a:rPr>
                        <a:t>Full MLR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 dirty="0">
                          <a:effectLst/>
                          <a:latin typeface="Helvetica" panose="020B0604020202020204" pitchFamily="34" charset="0"/>
                          <a:ea typeface="Cambria" panose="02040503050406030204" pitchFamily="18" charset="0"/>
                          <a:cs typeface="Helvetica" panose="020B0604020202020204" pitchFamily="34" charset="0"/>
                        </a:rPr>
                        <a:t>10304.95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 dirty="0">
                          <a:effectLst/>
                          <a:latin typeface="Helvetica" panose="020B0604020202020204" pitchFamily="34" charset="0"/>
                          <a:ea typeface="Cambria" panose="02040503050406030204" pitchFamily="18" charset="0"/>
                          <a:cs typeface="Helvetica" panose="020B0604020202020204" pitchFamily="34" charset="0"/>
                        </a:rPr>
                        <a:t>74.52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 dirty="0">
                          <a:effectLst/>
                          <a:latin typeface="Helvetica" panose="020B0604020202020204" pitchFamily="34" charset="0"/>
                          <a:ea typeface="Cambria" panose="02040503050406030204" pitchFamily="18" charset="0"/>
                          <a:cs typeface="Helvetica" panose="020B0604020202020204" pitchFamily="34" charset="0"/>
                        </a:rPr>
                        <a:t>2.72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 dirty="0">
                          <a:effectLst/>
                          <a:latin typeface="Helvetica" panose="020B0604020202020204" pitchFamily="34" charset="0"/>
                          <a:ea typeface="Cambria" panose="02040503050406030204" pitchFamily="18" charset="0"/>
                          <a:cs typeface="Helvetica" panose="020B0604020202020204" pitchFamily="34" charset="0"/>
                        </a:rPr>
                        <a:t>0.310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6047322"/>
                  </a:ext>
                </a:extLst>
              </a:tr>
              <a:tr h="225703"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endParaRPr lang="en-US" sz="1400" dirty="0">
                        <a:effectLst/>
                        <a:latin typeface="Helvetica" panose="020B0604020202020204" pitchFamily="34" charset="0"/>
                        <a:ea typeface="Cambria" panose="02040503050406030204" pitchFamily="18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endParaRPr lang="en-US" sz="1400" dirty="0">
                        <a:effectLst/>
                        <a:latin typeface="Helvetica" panose="020B0604020202020204" pitchFamily="34" charset="0"/>
                        <a:ea typeface="Cambria" panose="02040503050406030204" pitchFamily="18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endParaRPr lang="en-US" sz="1400" dirty="0">
                        <a:effectLst/>
                        <a:latin typeface="Helvetica" panose="020B0604020202020204" pitchFamily="34" charset="0"/>
                        <a:ea typeface="Cambria" panose="02040503050406030204" pitchFamily="18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endParaRPr lang="en-US" sz="1400" dirty="0">
                        <a:effectLst/>
                        <a:latin typeface="Helvetica" panose="020B0604020202020204" pitchFamily="34" charset="0"/>
                        <a:ea typeface="Cambria" panose="02040503050406030204" pitchFamily="18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endParaRPr lang="en-US" sz="1400" b="1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Helvetica" panose="020B0604020202020204" pitchFamily="34" charset="0"/>
                        <a:ea typeface="Cambria" panose="02040503050406030204" pitchFamily="18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9307039"/>
                  </a:ext>
                </a:extLst>
              </a:tr>
              <a:tr h="531021"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 dirty="0">
                          <a:effectLst/>
                          <a:latin typeface="Helvetica" panose="020B0604020202020204" pitchFamily="34" charset="0"/>
                          <a:ea typeface="Cambria" panose="02040503050406030204" pitchFamily="18" charset="0"/>
                          <a:cs typeface="Helvetica" panose="020B0604020202020204" pitchFamily="34" charset="0"/>
                        </a:rPr>
                        <a:t>MLR Transformed 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 dirty="0">
                          <a:effectLst/>
                          <a:latin typeface="Helvetica" panose="020B0604020202020204" pitchFamily="34" charset="0"/>
                          <a:ea typeface="Cambria" panose="02040503050406030204" pitchFamily="18" charset="0"/>
                          <a:cs typeface="Helvetica" panose="020B0604020202020204" pitchFamily="34" charset="0"/>
                        </a:rPr>
                        <a:t>8955.41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 dirty="0">
                          <a:effectLst/>
                          <a:latin typeface="Helvetica" panose="020B0604020202020204" pitchFamily="34" charset="0"/>
                          <a:ea typeface="Cambria" panose="02040503050406030204" pitchFamily="18" charset="0"/>
                          <a:cs typeface="Helvetica" panose="020B0604020202020204" pitchFamily="34" charset="0"/>
                        </a:rPr>
                        <a:t>62.69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 dirty="0">
                          <a:effectLst/>
                          <a:latin typeface="Helvetica" panose="020B0604020202020204" pitchFamily="34" charset="0"/>
                          <a:ea typeface="Cambria" panose="02040503050406030204" pitchFamily="18" charset="0"/>
                          <a:cs typeface="Helvetica" panose="020B0604020202020204" pitchFamily="34" charset="0"/>
                        </a:rPr>
                        <a:t>0.80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 dirty="0">
                          <a:effectLst/>
                          <a:latin typeface="Helvetica" panose="020B0604020202020204" pitchFamily="34" charset="0"/>
                          <a:ea typeface="Cambria" panose="02040503050406030204" pitchFamily="18" charset="0"/>
                          <a:cs typeface="Helvetica" panose="020B0604020202020204" pitchFamily="34" charset="0"/>
                        </a:rPr>
                        <a:t>0.271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0839321"/>
                  </a:ext>
                </a:extLst>
              </a:tr>
              <a:tr h="123371"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 dirty="0">
                          <a:effectLst/>
                          <a:latin typeface="Helvetica" panose="020B0604020202020204" pitchFamily="34" charset="0"/>
                          <a:ea typeface="Cambria" panose="02040503050406030204" pitchFamily="18" charset="0"/>
                          <a:cs typeface="Helvetica" panose="020B0604020202020204" pitchFamily="34" charset="0"/>
                        </a:rPr>
                        <a:t>Poisson</a:t>
                      </a:r>
                      <a:r>
                        <a:rPr lang="en-US" sz="1400" baseline="0" dirty="0">
                          <a:effectLst/>
                          <a:latin typeface="Helvetica" panose="020B0604020202020204" pitchFamily="34" charset="0"/>
                          <a:ea typeface="Cambria" panose="02040503050406030204" pitchFamily="18" charset="0"/>
                          <a:cs typeface="Helvetica" panose="020B0604020202020204" pitchFamily="34" charset="0"/>
                        </a:rPr>
                        <a:t> Reg</a:t>
                      </a:r>
                      <a:endParaRPr lang="en-US" sz="1400" dirty="0">
                        <a:effectLst/>
                        <a:latin typeface="Helvetica" panose="020B0604020202020204" pitchFamily="34" charset="0"/>
                        <a:ea typeface="Cambria" panose="02040503050406030204" pitchFamily="18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 dirty="0">
                          <a:effectLst/>
                          <a:latin typeface="Helvetica" panose="020B0604020202020204" pitchFamily="34" charset="0"/>
                          <a:ea typeface="Cambria" panose="02040503050406030204" pitchFamily="18" charset="0"/>
                          <a:cs typeface="Helvetica" panose="020B0604020202020204" pitchFamily="34" charset="0"/>
                        </a:rPr>
                        <a:t>8060.08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 dirty="0">
                          <a:effectLst/>
                          <a:latin typeface="Helvetica" panose="020B0604020202020204" pitchFamily="34" charset="0"/>
                          <a:ea typeface="Cambria" panose="02040503050406030204" pitchFamily="18" charset="0"/>
                          <a:cs typeface="Helvetica" panose="020B0604020202020204" pitchFamily="34" charset="0"/>
                        </a:rPr>
                        <a:t>59.96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18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effectLst/>
                          <a:latin typeface="Helvetica" panose="020B0604020202020204" pitchFamily="34" charset="0"/>
                          <a:ea typeface="Cambria" panose="02040503050406030204" pitchFamily="18" charset="0"/>
                          <a:cs typeface="Helvetica" panose="020B0604020202020204" pitchFamily="34" charset="0"/>
                        </a:rPr>
                        <a:t>0.82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400" dirty="0">
                          <a:latin typeface="Helvetica" panose="020B0604020202020204" pitchFamily="34" charset="0"/>
                          <a:ea typeface="Helvetica" charset="0"/>
                          <a:cs typeface="Helvetica" panose="020B0604020202020204" pitchFamily="34" charset="0"/>
                        </a:rPr>
                        <a:t>0.243</a:t>
                      </a:r>
                      <a:endParaRPr lang="en-US" sz="1400" dirty="0">
                        <a:effectLst/>
                        <a:latin typeface="Helvetica" panose="020B0604020202020204" pitchFamily="34" charset="0"/>
                        <a:ea typeface="Cambria" panose="02040503050406030204" pitchFamily="18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210009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54273F5-7CED-491D-8D05-58331BA23503}"/>
              </a:ext>
            </a:extLst>
          </p:cNvPr>
          <p:cNvSpPr txBox="1"/>
          <p:nvPr/>
        </p:nvSpPr>
        <p:spPr>
          <a:xfrm>
            <a:off x="195705" y="2913417"/>
            <a:ext cx="7776427" cy="1200329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lIns="91440" tIns="91440" rIns="91440" bIns="91440" rtlCol="0">
            <a:spAutoFit/>
          </a:bodyPr>
          <a:lstStyle>
            <a:defPPr>
              <a:defRPr lang="en-US"/>
            </a:defPPr>
            <a:lvl1pPr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latin typeface="Helvetica" panose="020B0604020202020204" pitchFamily="34" charset="0"/>
                <a:ea typeface="Cambria" panose="02040503050406030204" pitchFamily="18" charset="0"/>
                <a:cs typeface="Helvetica" panose="020B0604020202020204" pitchFamily="34" charset="0"/>
              </a:defRPr>
            </a:lvl1pPr>
          </a:lstStyle>
          <a:p>
            <a:pPr marL="227013" indent="-227013">
              <a:buFont typeface="Arial" panose="020B0604020202020204" pitchFamily="34" charset="0"/>
              <a:buChar char="•"/>
            </a:pPr>
            <a:r>
              <a:rPr lang="en-US" b="1" dirty="0"/>
              <a:t>The Poisson regression models outperform the multi-variable linear regression models in terms of predictive power across most prediction measures except MAPE.</a:t>
            </a:r>
          </a:p>
          <a:p>
            <a:pPr marL="227013" indent="-227013">
              <a:buFont typeface="Arial" panose="020B0604020202020204" pitchFamily="34" charset="0"/>
              <a:buChar char="•"/>
            </a:pPr>
            <a:r>
              <a:rPr lang="en-US" b="1" dirty="0"/>
              <a:t>While the GOF test rejects the null of good fit, the deviance residuals seem approximately normally distributed.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01602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105196" y="147217"/>
            <a:ext cx="4727575" cy="795337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Summary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9" t="6607" r="13881" b="7744"/>
          <a:stretch/>
        </p:blipFill>
        <p:spPr>
          <a:xfrm>
            <a:off x="3236327" y="1171154"/>
            <a:ext cx="2573755" cy="281317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01965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1"/>
  <p:tag name="ARTICULATE_DESIGN_ID_1_HALF PAGE SLASH" val="S3G0Q9A5"/>
  <p:tag name="ARTICULATE_DESIGN_ID_1_FULL PAGE LAYOUT" val="7HMo5NQu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2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1_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14819</TotalTime>
  <Words>984</Words>
  <Application>Microsoft Office PowerPoint</Application>
  <PresentationFormat>On-screen Show (16:9)</PresentationFormat>
  <Paragraphs>193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Arial</vt:lpstr>
      <vt:lpstr>Calibri</vt:lpstr>
      <vt:lpstr>Cambria Math</vt:lpstr>
      <vt:lpstr>Helvetica</vt:lpstr>
      <vt:lpstr>Vitesse</vt:lpstr>
      <vt:lpstr>Vitesse Bold</vt:lpstr>
      <vt:lpstr>Vitesse Book</vt:lpstr>
      <vt:lpstr>Vitesse Medium</vt:lpstr>
      <vt:lpstr>1_Half Page Slash</vt:lpstr>
      <vt:lpstr>2_Half Page Slash</vt:lpstr>
      <vt:lpstr>1_Full Page Layout</vt:lpstr>
      <vt:lpstr>PowerPoint Presentation</vt:lpstr>
      <vt:lpstr>PowerPoint Presentation</vt:lpstr>
      <vt:lpstr>PowerPoint Presentation</vt:lpstr>
      <vt:lpstr>Response &amp; Predicting Variables</vt:lpstr>
      <vt:lpstr>Poisson Regression Analysis in R</vt:lpstr>
      <vt:lpstr>Goodness of Fit</vt:lpstr>
      <vt:lpstr>Prediction</vt:lpstr>
      <vt:lpstr>Prediction Accuracy: Model 1</vt:lpstr>
      <vt:lpstr>Model Comparison</vt:lpstr>
      <vt:lpstr>PowerPoint Presentation</vt:lpstr>
    </vt:vector>
  </TitlesOfParts>
  <Company>gt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Linear Regression R Examples</dc:title>
  <dc:creator>Serban, Nicoleta</dc:creator>
  <cp:lastModifiedBy>Nicoleta Serban</cp:lastModifiedBy>
  <cp:revision>650</cp:revision>
  <dcterms:created xsi:type="dcterms:W3CDTF">2017-01-02T15:06:50Z</dcterms:created>
  <dcterms:modified xsi:type="dcterms:W3CDTF">2020-05-11T03:57:18Z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AA5DD42F-AF78-4BF7-BE3D-69CE2FA18321</vt:lpwstr>
  </property>
  <property fmtid="{D5CDD505-2E9C-101B-9397-08002B2CF9AE}" pid="3" name="ArticulatePath">
    <vt:lpwstr>PoiRegConcept-L9 v05082020</vt:lpwstr>
  </property>
</Properties>
</file>