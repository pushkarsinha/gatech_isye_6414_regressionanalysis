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4"/>
    <p:sldMasterId id="2147483712" r:id="rId5"/>
    <p:sldMasterId id="2147483713" r:id="rId6"/>
  </p:sldMasterIdLst>
  <p:notesMasterIdLst>
    <p:notesMasterId r:id="rId15"/>
  </p:notesMasterIdLst>
  <p:handoutMasterIdLst>
    <p:handoutMasterId r:id="rId16"/>
  </p:handoutMasterIdLst>
  <p:sldIdLst>
    <p:sldId id="434" r:id="rId7"/>
    <p:sldId id="535" r:id="rId8"/>
    <p:sldId id="477" r:id="rId9"/>
    <p:sldId id="546" r:id="rId10"/>
    <p:sldId id="480" r:id="rId11"/>
    <p:sldId id="482" r:id="rId12"/>
    <p:sldId id="507" r:id="rId13"/>
    <p:sldId id="537" r:id="rId14"/>
  </p:sldIdLst>
  <p:sldSz cx="9144000" cy="5143500" type="screen16x9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535"/>
            <p14:sldId id="477"/>
            <p14:sldId id="546"/>
            <p14:sldId id="480"/>
            <p14:sldId id="482"/>
            <p14:sldId id="507"/>
            <p14:sldId id="5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60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72" userDrawn="1">
          <p15:clr>
            <a:srgbClr val="A4A3A4"/>
          </p15:clr>
        </p15:guide>
        <p15:guide id="8" orient="horz" pos="708" userDrawn="1">
          <p15:clr>
            <a:srgbClr val="A4A3A4"/>
          </p15:clr>
        </p15:guide>
        <p15:guide id="9" orient="horz" pos="31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993200"/>
    <a:srgbClr val="1F497D"/>
    <a:srgbClr val="FFFFF0"/>
    <a:srgbClr val="FFFFC8"/>
    <a:srgbClr val="FFFF82"/>
    <a:srgbClr val="8E4221"/>
    <a:srgbClr val="F8FFF1"/>
    <a:srgbClr val="000000"/>
    <a:srgbClr val="F7F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0" autoAdjust="0"/>
    <p:restoredTop sz="82667" autoAdjust="0"/>
  </p:normalViewPr>
  <p:slideViewPr>
    <p:cSldViewPr snapToGrid="0">
      <p:cViewPr varScale="1">
        <p:scale>
          <a:sx n="97" d="100"/>
          <a:sy n="97" d="100"/>
        </p:scale>
        <p:origin x="1397" y="72"/>
      </p:cViewPr>
      <p:guideLst>
        <p:guide orient="horz" pos="1620"/>
        <p:guide pos="2880"/>
        <p:guide pos="144"/>
        <p:guide pos="360"/>
        <p:guide pos="3456"/>
        <p:guide pos="5664"/>
        <p:guide orient="horz" pos="372"/>
        <p:guide orient="horz" pos="708"/>
        <p:guide orient="horz" pos="31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9160" y="36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6/17/2021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3F7A93-C87A-E149-BF89-5D793380F1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7542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026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810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08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861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74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2150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8795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7656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193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5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8977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69390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205397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5123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11231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206653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665081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05780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62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660753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954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/>
              </a:rPr>
              <a:t>Regression Analysis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EB211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Serban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="" xmlns:a16="http://schemas.microsoft.com/office/drawing/2014/main" id="{591368E2-32F9-4F21-B92C-45C4370EC66A}"/>
              </a:ext>
            </a:extLst>
          </p:cNvPr>
          <p:cNvSpPr txBox="1">
            <a:spLocks/>
          </p:cNvSpPr>
          <p:nvPr/>
        </p:nvSpPr>
        <p:spPr>
          <a:xfrm>
            <a:off x="123850" y="653721"/>
            <a:ext cx="5672951" cy="54223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/>
                <a:ea typeface="+mn-ea"/>
                <a:cs typeface="+mn-cs"/>
              </a:rPr>
              <a:t>Poisson Regression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Vitesse Medium"/>
              <a:ea typeface="+mn-ea"/>
              <a:cs typeface="+mn-cs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="" xmlns:a16="http://schemas.microsoft.com/office/drawing/2014/main" id="{D61004F9-1723-4D49-8930-FFE454AB7A15}"/>
              </a:ext>
            </a:extLst>
          </p:cNvPr>
          <p:cNvSpPr>
            <a:spLocks noGrp="1"/>
          </p:cNvSpPr>
          <p:nvPr/>
        </p:nvSpPr>
        <p:spPr>
          <a:xfrm>
            <a:off x="133257" y="4102100"/>
            <a:ext cx="3801456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Goodness of Fit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="" xmlns:a16="http://schemas.microsoft.com/office/drawing/2014/main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639722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Poisson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151681" y="1717477"/>
                <a:ext cx="7910139" cy="16479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Assumptions:  </a:t>
                </a:r>
              </a:p>
              <a:p>
                <a:pPr marL="344488" indent="-344488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Linearity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log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E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Y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p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1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p</m:t>
                    </m:r>
                  </m:oMath>
                </a14:m>
                <a:endParaRPr lang="en-US" altLang="en-US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344488" indent="-344488" eaLnBrk="1" hangingPunct="1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Independence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Y</a:t>
                </a:r>
                <a:r>
                  <a:rPr lang="en-US" alt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.., </a:t>
                </a:r>
                <a:r>
                  <a:rPr lang="en-US" altLang="en-US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Y</a:t>
                </a:r>
                <a:r>
                  <a:rPr lang="en-US" altLang="en-US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n</a:t>
                </a:r>
                <a:r>
                  <a:rPr lang="en-US" alt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independent random variables</a:t>
                </a:r>
              </a:p>
              <a:p>
                <a:pPr marL="344488" indent="-344488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Variance Assumption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Y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p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Y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p</m:t>
                        </m:r>
                      </m:e>
                    </m:d>
                  </m:oMath>
                </a14:m>
                <a:endParaRPr lang="en-US" altLang="en-US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1681" y="1717477"/>
                <a:ext cx="7910139" cy="1647952"/>
              </a:xfrm>
              <a:prstGeom prst="rect">
                <a:avLst/>
              </a:prstGeom>
              <a:blipFill>
                <a:blip r:embed="rId4"/>
                <a:stretch>
                  <a:fillRect l="-694" t="-2222" b="-51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>
          <a:xfrm>
            <a:off x="228600" y="3661984"/>
            <a:ext cx="5803083" cy="3185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34290" rIns="0" bIns="34290" rtlCol="0">
            <a:sp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8368" indent="-4572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−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6948" indent="-3429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7475" indent="0">
              <a:buNone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There is no error term! How to check the assumptions?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34903" y="863699"/>
            <a:ext cx="736451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Data: 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{(x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11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,.., x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1p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),Y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1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},….,{(x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n1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,.., </a:t>
            </a:r>
            <a:r>
              <a:rPr lang="en-US" altLang="en-US" dirty="0" err="1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np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 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),</a:t>
            </a:r>
            <a:r>
              <a:rPr lang="en-US" altLang="en-US" dirty="0" err="1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Y</a:t>
            </a:r>
            <a:r>
              <a:rPr lang="en-US" altLang="en-US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n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}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where 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Y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1</a:t>
            </a: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, .., </a:t>
            </a:r>
            <a:r>
              <a:rPr lang="en-US" altLang="en-US" dirty="0" err="1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Y</a:t>
            </a:r>
            <a:r>
              <a:rPr lang="en-US" altLang="en-US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n</a:t>
            </a:r>
            <a:r>
              <a:rPr lang="en-US" altLang="en-US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are event count data per observation unit with a Poisson distribution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568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694329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Residuals in Poisson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126514" y="859950"/>
                <a:ext cx="4964469" cy="37643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b="1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Poisson Regression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</a:p>
              <a:p>
                <a:pPr marL="344488">
                  <a:spcBef>
                    <a:spcPct val="50000"/>
                  </a:spcBef>
                </a:pP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Y</a:t>
                </a:r>
                <a:r>
                  <a:rPr lang="en-US" alt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|(x</a:t>
                </a:r>
                <a:r>
                  <a:rPr lang="en-US" alt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i1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,.., </a:t>
                </a:r>
                <a:r>
                  <a:rPr lang="en-US" altLang="en-US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x</a:t>
                </a:r>
                <a:r>
                  <a:rPr lang="en-US" altLang="en-US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ip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 ~ </a:t>
                </a:r>
                <a:r>
                  <a:rPr lang="en-US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Poisson(</a:t>
                </a:r>
                <a:r>
                  <a:rPr lang="el-GR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λ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,…,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a:rPr lang="en-US" altLang="en-US" i="1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𝑖𝑝</m:t>
                        </m:r>
                      </m:e>
                    </m:d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</a:t>
                </a: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Estimated rates are:</a:t>
                </a:r>
              </a:p>
              <a:p>
                <a:pPr marL="344488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en-US" baseline="-25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en-US" baseline="-25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1,..,</m:t>
                          </m:r>
                          <m:r>
                            <m:rPr>
                              <m:nor/>
                            </m:rPr>
                            <a:rPr lang="en-US" alt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x</m:t>
                          </m:r>
                          <m:r>
                            <a:rPr lang="en-US" altLang="en-US" b="0" i="1" baseline="-250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𝑖𝑝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en-US" b="0" i="0" baseline="-25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𝑖𝑝</m:t>
                                  </m:r>
                                </m:sub>
                              </m:sSub>
                            </m:sup>
                          </m:sSup>
                        </m:e>
                        <m:sup>
                          <m:r>
                            <m:rPr>
                              <m:nor/>
                            </m:rP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altLang="en-US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Pearson Residuals: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en-US" altLang="en-US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Deviance Residuals: </a:t>
                </a:r>
                <a:b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𝑠𝑔𝑛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𝜆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</m:func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−(</m:t>
                            </m:r>
                            <m:sSub>
                              <m:sSub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rad>
                  </m:oMath>
                </a14:m>
                <a:endParaRPr lang="en-US" altLang="en-US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514" y="859950"/>
                <a:ext cx="4964469" cy="3764364"/>
              </a:xfrm>
              <a:prstGeom prst="rect">
                <a:avLst/>
              </a:prstGeom>
              <a:blipFill rotWithShape="0">
                <a:blip r:embed="rId4"/>
                <a:stretch>
                  <a:fillRect l="-1106" t="-80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B6183B2-03D2-4BED-8BE0-FF1EEA38E986}"/>
              </a:ext>
            </a:extLst>
          </p:cNvPr>
          <p:cNvSpPr/>
          <p:nvPr/>
        </p:nvSpPr>
        <p:spPr>
          <a:xfrm>
            <a:off x="5486400" y="868339"/>
            <a:ext cx="3505918" cy="3046988"/>
          </a:xfrm>
          <a:prstGeom prst="rect">
            <a:avLst/>
          </a:prstGeom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marL="344488" indent="-344488"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Pearson’s residuals follow directly a normal approximation to a binomial. Hence approximately N(0,1)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The deviance residuals are the signed square root of the log-likelihood evaluated at the saturated model vs. the fitted model. Thus approximately N(0,1) if the model is a good fit.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Deviances play the role of sum of squares in a linear model.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396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903" y="106898"/>
            <a:ext cx="8562392" cy="580999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Goodness of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137550" y="859112"/>
                <a:ext cx="7521599" cy="35219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GOF Visual Analytics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Normal Probability plot &amp; Histogram of the Residuals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Log of the event rate vs predictors</a:t>
                </a:r>
              </a:p>
              <a:p>
                <a:pPr>
                  <a:spcBef>
                    <a:spcPct val="50000"/>
                  </a:spcBef>
                </a:pPr>
                <a:endParaRPr lang="en-US" altLang="en-US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en-US" altLang="en-US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Hypothesis Testing Procedure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H</m:t>
                        </m:r>
                      </m:e>
                      <m:sub>
                        <m:r>
                          <a:rPr lang="en-US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 </a:t>
                </a:r>
                <a:r>
                  <a:rPr lang="en-US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Poisson model fits the 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data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 </a:t>
                </a:r>
                <a:r>
                  <a:rPr lang="en-US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Poisson model does not fit the data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 </a:t>
                </a:r>
              </a:p>
              <a:p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Deviance test statistic: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D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altLang="en-US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Under null hypothesis,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D~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𝑑𝑓</m:t>
                        </m:r>
                      </m:sub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with </a:t>
                </a:r>
                <a:r>
                  <a:rPr lang="en-US" alt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df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n-p-1</a:t>
                </a:r>
              </a:p>
              <a:p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Reject the </a:t>
                </a:r>
                <a:r>
                  <a:rPr lang="en-US" altLang="en-US" u="sng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null that the model is correct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if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p-value = P(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b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𝜒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𝑑𝑓</m:t>
                        </m:r>
                      </m:sub>
                      <m:sup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&gt;D)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small. Note that for this test, we want large p-values!!!!</a:t>
                </a:r>
              </a:p>
            </p:txBody>
          </p:sp>
        </mc:Choice>
        <mc:Fallback xmlns="">
          <p:sp>
            <p:nvSpPr>
              <p:cNvPr id="9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550" y="859112"/>
                <a:ext cx="7521599" cy="3521990"/>
              </a:xfrm>
              <a:prstGeom prst="rect">
                <a:avLst/>
              </a:prstGeom>
              <a:blipFill>
                <a:blip r:embed="rId4"/>
                <a:stretch>
                  <a:fillRect l="-730" t="-1038" b="-190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423063" y="3994432"/>
            <a:ext cx="2703316" cy="289956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678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14" y="106898"/>
            <a:ext cx="8562392" cy="648111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What if No Goodness of Fit?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29329" y="862248"/>
            <a:ext cx="8019142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Add predicting variables, consider interaction terms, or/and transform predicting variables to improve linearity;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Identify unusual observations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(outliers, leverage points);</a:t>
            </a:r>
          </a:p>
          <a:p>
            <a:pPr marL="344488" indent="-344488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Poisson distribution isn’t appropriate:</a:t>
            </a:r>
          </a:p>
          <a:p>
            <a:pPr marL="687388" lvl="1" indent="-342900"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Overdispersion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the variability of the estimated rates is larger than would be implied by a Poisson model</a:t>
            </a:r>
          </a:p>
          <a:p>
            <a:pPr marL="1031875" lvl="2" indent="-344488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Correlation in the observed responses</a:t>
            </a:r>
          </a:p>
          <a:p>
            <a:pPr marL="1031875" lvl="2" indent="-344488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cs typeface="Helvetica" panose="020B0604020202020204" pitchFamily="34" charset="0"/>
              </a:rPr>
              <a:t>H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eterogeneity in the rates that hasn’t been modeled</a:t>
            </a: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631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14" y="115287"/>
            <a:ext cx="8562392" cy="643413"/>
          </a:xfrm>
        </p:spPr>
        <p:txBody>
          <a:bodyPr/>
          <a:lstStyle/>
          <a:p>
            <a:pPr algn="l"/>
            <a:r>
              <a:rPr lang="en-US" sz="3600" dirty="0" err="1">
                <a:latin typeface="Vitesse"/>
              </a:rPr>
              <a:t>Overdispersion</a:t>
            </a:r>
            <a:r>
              <a:rPr lang="en-US" sz="3600" dirty="0">
                <a:latin typeface="Vitesse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30045" y="850979"/>
                <a:ext cx="8167723" cy="4117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Overdispersion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 the variability of the response variable is larger than would be implied by the model</a:t>
                </a:r>
              </a:p>
              <a:p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Binomial regression model:</a:t>
                </a:r>
              </a:p>
              <a:p>
                <a:pPr marL="344488" indent="-344488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p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,…,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a:rPr lang="en-US" altLang="en-US" i="1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𝑖𝑝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(1-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,…,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a:rPr lang="en-US" altLang="en-US" i="1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𝑖𝑝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</a:t>
                </a:r>
              </a:p>
              <a:p>
                <a:pPr marL="344488" indent="-344488"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Overdispersed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Binomial: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p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,…,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a:rPr lang="en-US" altLang="en-US" i="1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𝑖𝑝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(1-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,…,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a:rPr lang="en-US" altLang="en-US" i="1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𝑖𝑝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</a:t>
                </a:r>
              </a:p>
              <a:p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Poisson regression model:</a:t>
                </a:r>
              </a:p>
              <a:p>
                <a:pPr marL="344488" indent="-344488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p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,…,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a:rPr lang="en-US" altLang="en-US" i="1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𝑖𝑝</m:t>
                        </m:r>
                      </m:e>
                    </m:d>
                  </m:oMath>
                </a14:m>
                <a:endParaRPr lang="en-US" altLang="en-US" baseline="-250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344488" indent="-344488"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Overdispersed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Poisson: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p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en-US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,…,</m:t>
                        </m:r>
                        <m:r>
                          <m:rPr>
                            <m:nor/>
                          </m:rPr>
                          <a:rPr lang="en-US" alt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x</m:t>
                        </m:r>
                        <m:r>
                          <a:rPr lang="en-US" altLang="en-US" i="1" baseline="-25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𝑖𝑝</m:t>
                        </m:r>
                      </m:e>
                    </m:d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r>
                  <a:rPr lang="en-US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Overdispertion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Parameter: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ϕ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344488" indent="-344488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Estimate: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where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D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is the sum of the squared deviances</a:t>
                </a:r>
              </a:p>
              <a:p>
                <a:pPr marL="344488" indent="-344488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then </a:t>
                </a:r>
                <a:r>
                  <a:rPr lang="en-US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overdispersed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model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45" y="850979"/>
                <a:ext cx="8167723" cy="4117089"/>
              </a:xfrm>
              <a:prstGeom prst="rect">
                <a:avLst/>
              </a:prstGeom>
              <a:blipFill>
                <a:blip r:embed="rId4"/>
                <a:stretch>
                  <a:fillRect l="-597" t="-889" b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098908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B8D62D-BE99-40AF-BF97-BFAE812B12CE}">
  <ds:schemaRefs>
    <ds:schemaRef ds:uri="b057fda7-913b-4ab6-8820-932873bcd66c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purl.org/dc/dcmitype/"/>
    <ds:schemaRef ds:uri="http://schemas.microsoft.com/sharepoint/v3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9915</TotalTime>
  <Words>279</Words>
  <Application>Microsoft Office PowerPoint</Application>
  <PresentationFormat>On-screen Show (16:9)</PresentationFormat>
  <Paragraphs>66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23" baseType="lpstr">
      <vt:lpstr>MS PGothic</vt:lpstr>
      <vt:lpstr>Arial</vt:lpstr>
      <vt:lpstr>Calibri</vt:lpstr>
      <vt:lpstr>Cambria Math</vt:lpstr>
      <vt:lpstr>Helvetica</vt:lpstr>
      <vt:lpstr>Helvetica Neue</vt:lpstr>
      <vt:lpstr>KishoreFont Medium</vt:lpstr>
      <vt:lpstr>Vitesse</vt:lpstr>
      <vt:lpstr>Vitesse Bold</vt:lpstr>
      <vt:lpstr>Vitesse Book</vt:lpstr>
      <vt:lpstr>Vitesse Medium</vt:lpstr>
      <vt:lpstr>Wingdings</vt:lpstr>
      <vt:lpstr>1_Half Page Slash</vt:lpstr>
      <vt:lpstr>2_Half Page Slash</vt:lpstr>
      <vt:lpstr>Full Page Layout</vt:lpstr>
      <vt:lpstr>PowerPoint Presentation</vt:lpstr>
      <vt:lpstr>PowerPoint Presentation</vt:lpstr>
      <vt:lpstr>Poisson Regression Model</vt:lpstr>
      <vt:lpstr>Residuals in Poisson Regression</vt:lpstr>
      <vt:lpstr>Goodness of Fit</vt:lpstr>
      <vt:lpstr>What if No Goodness of Fit?</vt:lpstr>
      <vt:lpstr>Overdispersion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Aymee Garcia</cp:lastModifiedBy>
  <cp:revision>534</cp:revision>
  <dcterms:modified xsi:type="dcterms:W3CDTF">2021-06-17T10:19:22Z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ArticulateGUID">
    <vt:lpwstr>28A55F6B-303D-4125-BD33-E3D5D535D7B1</vt:lpwstr>
  </property>
  <property fmtid="{D5CDD505-2E9C-101B-9397-08002B2CF9AE}" pid="4" name="ArticulatePath">
    <vt:lpwstr>PoiRegConcept-L7 v042320</vt:lpwstr>
  </property>
</Properties>
</file>