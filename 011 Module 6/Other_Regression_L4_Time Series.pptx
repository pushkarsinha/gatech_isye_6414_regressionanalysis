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20"/>
  </p:notesMasterIdLst>
  <p:handoutMasterIdLst>
    <p:handoutMasterId r:id="rId21"/>
  </p:handoutMasterIdLst>
  <p:sldIdLst>
    <p:sldId id="434" r:id="rId9"/>
    <p:sldId id="408" r:id="rId10"/>
    <p:sldId id="498" r:id="rId11"/>
    <p:sldId id="446" r:id="rId12"/>
    <p:sldId id="502" r:id="rId13"/>
    <p:sldId id="503" r:id="rId14"/>
    <p:sldId id="504" r:id="rId15"/>
    <p:sldId id="505" r:id="rId16"/>
    <p:sldId id="506" r:id="rId17"/>
    <p:sldId id="507" r:id="rId18"/>
    <p:sldId id="425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498"/>
            <p14:sldId id="446"/>
            <p14:sldId id="502"/>
            <p14:sldId id="503"/>
            <p14:sldId id="504"/>
            <p14:sldId id="505"/>
            <p14:sldId id="506"/>
            <p14:sldId id="507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3F6CAF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9216" autoAdjust="0"/>
    <p:restoredTop sz="89904" autoAdjust="0"/>
  </p:normalViewPr>
  <p:slideViewPr>
    <p:cSldViewPr snapToGrid="0">
      <p:cViewPr varScale="1">
        <p:scale>
          <a:sx n="128" d="100"/>
          <a:sy n="128" d="100"/>
        </p:scale>
        <p:origin x="22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3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2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47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7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3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09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2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3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Regression Methods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Time Series Regression</a:t>
            </a:r>
            <a:endParaRPr lang="en-US" sz="20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85479" y="1059070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 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pPr eaLnBrk="1" hangingPunct="1"/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+…+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81000" y="2419350"/>
            <a:ext cx="773304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  <a:endParaRPr lang="en-US" altLang="en-US" dirty="0" smtClean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endParaRPr lang="en-US" altLang="en-US" baseline="30000" dirty="0" smtClean="0">
              <a:latin typeface="Times New Roman" panose="02020603050405020304" pitchFamily="18" charset="0"/>
              <a:ea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81000" y="1558775"/>
            <a:ext cx="745671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What if uncorrelated errors assumption does not hold?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Degrees of freedom are not equal to the sample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H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igher variability or uncertainty than estimated thus less reliable statistical inference</a:t>
            </a:r>
            <a:endParaRPr lang="en-US" altLang="en-US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993775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818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Time Series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344539" y="970929"/>
            <a:ext cx="8265119" cy="41110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b="1" dirty="0" smtClean="0">
                <a:latin typeface="Helvetica Neue"/>
              </a:rPr>
              <a:t>Correlation in time</a:t>
            </a:r>
            <a:r>
              <a:rPr lang="en-US" sz="2200" dirty="0" smtClean="0">
                <a:latin typeface="Helvetica Neue"/>
              </a:rPr>
              <a:t>: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US yearly GDP </a:t>
            </a:r>
            <a:endParaRPr lang="en-US" sz="2200" dirty="0" smtClean="0">
              <a:latin typeface="Helvetica Neue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Monthly sales of Australian red wine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Monthly </a:t>
            </a:r>
            <a:r>
              <a:rPr lang="en-US" sz="2200" dirty="0">
                <a:latin typeface="Helvetica Neue"/>
              </a:rPr>
              <a:t>accidental deaths in the U.S</a:t>
            </a:r>
            <a:r>
              <a:rPr lang="en-US" sz="2200" dirty="0" smtClean="0">
                <a:latin typeface="Helvetica Neue"/>
              </a:rPr>
              <a:t>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Helvetica Neue"/>
              </a:rPr>
              <a:t>M</a:t>
            </a:r>
            <a:r>
              <a:rPr lang="en-US" sz="2200" dirty="0" smtClean="0">
                <a:latin typeface="Helvetica Neue"/>
              </a:rPr>
              <a:t>onthly </a:t>
            </a:r>
            <a:r>
              <a:rPr lang="en-US" sz="2200" dirty="0">
                <a:latin typeface="Helvetica Neue"/>
              </a:rPr>
              <a:t>interest </a:t>
            </a:r>
            <a:r>
              <a:rPr lang="en-US" sz="2200" dirty="0" smtClean="0">
                <a:latin typeface="Helvetica Neue"/>
              </a:rPr>
              <a:t>rates in the U.S.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Daily </a:t>
            </a:r>
            <a:r>
              <a:rPr lang="en-US" sz="2200" dirty="0">
                <a:latin typeface="Helvetica Neue"/>
              </a:rPr>
              <a:t>Average Temperature from La </a:t>
            </a:r>
            <a:r>
              <a:rPr lang="en-US" sz="2200" dirty="0" err="1">
                <a:latin typeface="Helvetica Neue"/>
              </a:rPr>
              <a:t>Harpe</a:t>
            </a:r>
            <a:r>
              <a:rPr lang="en-US" sz="2200" dirty="0">
                <a:latin typeface="Helvetica Neue"/>
              </a:rPr>
              <a:t> station in </a:t>
            </a:r>
            <a:r>
              <a:rPr lang="en-US" sz="2200" dirty="0" smtClean="0">
                <a:latin typeface="Helvetica Neue"/>
              </a:rPr>
              <a:t>Hancock County</a:t>
            </a:r>
            <a:r>
              <a:rPr lang="en-US" sz="2200" dirty="0">
                <a:latin typeface="Helvetica Neue"/>
              </a:rPr>
              <a:t>, </a:t>
            </a:r>
            <a:r>
              <a:rPr lang="en-US" sz="2200" dirty="0" smtClean="0">
                <a:latin typeface="Helvetica Neue"/>
              </a:rPr>
              <a:t>Illinois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Daily stock price </a:t>
            </a:r>
            <a:r>
              <a:rPr lang="en-US" sz="2200" dirty="0">
                <a:latin typeface="Helvetica Neue"/>
              </a:rPr>
              <a:t>of </a:t>
            </a:r>
            <a:r>
              <a:rPr lang="en-US" sz="2200" dirty="0" smtClean="0">
                <a:latin typeface="Helvetica Neue"/>
              </a:rPr>
              <a:t>IBM stock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Helvetica Neue"/>
              </a:rPr>
              <a:t>1-minute </a:t>
            </a:r>
            <a:r>
              <a:rPr lang="en-US" sz="2200" dirty="0">
                <a:latin typeface="Helvetica Neue"/>
              </a:rPr>
              <a:t>intraday </a:t>
            </a:r>
            <a:r>
              <a:rPr lang="en-US" sz="2200" dirty="0" smtClean="0">
                <a:latin typeface="Helvetica Neue"/>
              </a:rPr>
              <a:t>S&amp;P500 return   </a:t>
            </a:r>
            <a:endParaRPr lang="en-US" sz="2200" dirty="0">
              <a:latin typeface="Helvetica Neue"/>
            </a:endParaRPr>
          </a:p>
          <a:p>
            <a:pPr lvl="1" indent="0">
              <a:lnSpc>
                <a:spcPct val="110000"/>
              </a:lnSpc>
              <a:buNone/>
            </a:pPr>
            <a:endParaRPr lang="en-US" sz="2200" dirty="0">
              <a:solidFill>
                <a:prstClr val="black"/>
              </a:solidFill>
              <a:latin typeface="Helvetica Neue"/>
            </a:endParaRPr>
          </a:p>
          <a:p>
            <a:pPr>
              <a:lnSpc>
                <a:spcPct val="110000"/>
              </a:lnSpc>
            </a:pPr>
            <a:endParaRPr lang="en-US" sz="2200" dirty="0" smtClean="0">
              <a:latin typeface="Helvetica Neue"/>
            </a:endParaRPr>
          </a:p>
          <a:p>
            <a:pPr lvl="1" indent="0">
              <a:lnSpc>
                <a:spcPct val="110000"/>
              </a:lnSpc>
              <a:buNone/>
            </a:pPr>
            <a:endParaRPr lang="en-US" sz="2200" dirty="0" smtClean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Time Series: Characteristics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368393" y="947075"/>
            <a:ext cx="8265119" cy="4111025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 Neue"/>
              </a:rPr>
              <a:t>T</a:t>
            </a:r>
            <a:r>
              <a:rPr lang="en-US" sz="2200" b="1" dirty="0" smtClean="0">
                <a:latin typeface="Helvetica Neue"/>
              </a:rPr>
              <a:t>rend</a:t>
            </a:r>
            <a:r>
              <a:rPr lang="en-US" sz="2200" dirty="0" smtClean="0">
                <a:latin typeface="Helvetica Neue"/>
              </a:rPr>
              <a:t>: </a:t>
            </a:r>
            <a:r>
              <a:rPr lang="en-US" sz="2200" dirty="0">
                <a:latin typeface="Helvetica Neue"/>
              </a:rPr>
              <a:t>long-term increase or decrease in the </a:t>
            </a:r>
            <a:r>
              <a:rPr lang="en-US" sz="2200" dirty="0" smtClean="0">
                <a:latin typeface="Helvetica Neue"/>
              </a:rPr>
              <a:t>data over time</a:t>
            </a:r>
            <a:endParaRPr lang="en-US" sz="2200" dirty="0">
              <a:latin typeface="Helvetica Neue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Seasonality</a:t>
            </a:r>
            <a:r>
              <a:rPr lang="en-US" sz="2200" dirty="0" smtClean="0">
                <a:latin typeface="Helvetica Neue"/>
              </a:rPr>
              <a:t>: </a:t>
            </a:r>
            <a:r>
              <a:rPr lang="en-US" sz="2200" dirty="0">
                <a:latin typeface="Helvetica Neue"/>
              </a:rPr>
              <a:t>influenced by seasonal factors (e.g. quarter of the </a:t>
            </a:r>
            <a:r>
              <a:rPr lang="en-US" sz="2200" dirty="0" smtClean="0">
                <a:latin typeface="Helvetica Neue"/>
              </a:rPr>
              <a:t>year, month</a:t>
            </a:r>
            <a:r>
              <a:rPr lang="en-US" sz="2200" dirty="0">
                <a:latin typeface="Helvetica Neue"/>
              </a:rPr>
              <a:t>, or day of the </a:t>
            </a:r>
            <a:r>
              <a:rPr lang="en-US" sz="2200" dirty="0" smtClean="0">
                <a:latin typeface="Helvetica Neue"/>
              </a:rPr>
              <a:t>week)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Periodicity</a:t>
            </a:r>
            <a:r>
              <a:rPr lang="en-US" sz="2200" dirty="0" smtClean="0">
                <a:latin typeface="Helvetica Neue"/>
              </a:rPr>
              <a:t>: </a:t>
            </a:r>
            <a:r>
              <a:rPr lang="en-US" sz="2200" dirty="0">
                <a:latin typeface="Helvetica Neue"/>
              </a:rPr>
              <a:t>exact repetition in regular pattern (seasonal series </a:t>
            </a:r>
            <a:r>
              <a:rPr lang="en-US" sz="2200" dirty="0" smtClean="0">
                <a:latin typeface="Helvetica Neue"/>
              </a:rPr>
              <a:t>often called </a:t>
            </a:r>
            <a:r>
              <a:rPr lang="en-US" sz="2200" dirty="0">
                <a:latin typeface="Helvetica Neue"/>
              </a:rPr>
              <a:t>periodic, although they do not exactly repeat </a:t>
            </a:r>
            <a:r>
              <a:rPr lang="en-US" sz="2200" dirty="0" smtClean="0">
                <a:latin typeface="Helvetica Neue"/>
              </a:rPr>
              <a:t>themselves)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Cyclical trend</a:t>
            </a:r>
            <a:r>
              <a:rPr lang="en-US" sz="2200" dirty="0" smtClean="0">
                <a:latin typeface="Helvetica Neue"/>
              </a:rPr>
              <a:t>: </a:t>
            </a:r>
            <a:r>
              <a:rPr lang="en-US" sz="2200" dirty="0">
                <a:latin typeface="Helvetica Neue"/>
              </a:rPr>
              <a:t>data exhibit rises and falls that are not of a fixed </a:t>
            </a:r>
            <a:r>
              <a:rPr lang="en-US" sz="2200" dirty="0" smtClean="0">
                <a:latin typeface="Helvetica Neue"/>
              </a:rPr>
              <a:t>period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err="1" smtClean="0">
                <a:latin typeface="Helvetica Neue"/>
              </a:rPr>
              <a:t>Heteroskedasticity</a:t>
            </a:r>
            <a:r>
              <a:rPr lang="en-US" sz="2200" dirty="0" smtClean="0">
                <a:latin typeface="Helvetica Neue"/>
              </a:rPr>
              <a:t>: varying variance</a:t>
            </a:r>
            <a:r>
              <a:rPr lang="en-US" sz="2200" dirty="0">
                <a:latin typeface="Helvetica Neue"/>
              </a:rPr>
              <a:t> </a:t>
            </a:r>
            <a:r>
              <a:rPr lang="en-US" sz="2200" dirty="0" smtClean="0">
                <a:latin typeface="Helvetica Neue"/>
              </a:rPr>
              <a:t>with time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Helvetica Neue"/>
              </a:rPr>
              <a:t>Correlation</a:t>
            </a:r>
            <a:r>
              <a:rPr lang="en-US" sz="2200" dirty="0" smtClean="0">
                <a:latin typeface="Helvetica Neue"/>
              </a:rPr>
              <a:t>: positive (</a:t>
            </a:r>
            <a:r>
              <a:rPr lang="en-US" sz="2200" dirty="0">
                <a:latin typeface="Helvetica Neue"/>
              </a:rPr>
              <a:t>successive observations are similar) or </a:t>
            </a:r>
            <a:r>
              <a:rPr lang="en-US" sz="2200" dirty="0" smtClean="0">
                <a:latin typeface="Helvetica Neue"/>
              </a:rPr>
              <a:t>negative (successive </a:t>
            </a:r>
            <a:r>
              <a:rPr lang="en-US" sz="2200" dirty="0">
                <a:latin typeface="Helvetica Neue"/>
              </a:rPr>
              <a:t>observations are dissimilar)</a:t>
            </a:r>
          </a:p>
          <a:p>
            <a:pPr>
              <a:lnSpc>
                <a:spcPct val="110000"/>
              </a:lnSpc>
            </a:pPr>
            <a:endParaRPr lang="en-US" sz="2200" dirty="0" smtClean="0">
              <a:latin typeface="Helvetica Neue"/>
            </a:endParaRPr>
          </a:p>
          <a:p>
            <a:pPr lvl="1" indent="0">
              <a:lnSpc>
                <a:spcPct val="110000"/>
              </a:lnSpc>
              <a:buNone/>
            </a:pPr>
            <a:endParaRPr lang="en-US" sz="2200" dirty="0" smtClean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3357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GDP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1095181"/>
            <a:ext cx="7904498" cy="358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Daily IBM Stock Price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07" y="984877"/>
            <a:ext cx="8096666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S&amp;P500 Intraday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87" y="890955"/>
            <a:ext cx="7087239" cy="41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8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Is Time Series Analysis Necessary?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68393" y="947075"/>
                <a:ext cx="8265119" cy="4111025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Time Series ⇒ Dependence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D</a:t>
                </a:r>
                <a:r>
                  <a:rPr lang="en-US" sz="2200" dirty="0" smtClean="0">
                    <a:latin typeface="Helvetica Neue"/>
                  </a:rPr>
                  <a:t>ata </a:t>
                </a:r>
                <a:r>
                  <a:rPr lang="en-US" sz="2200" dirty="0">
                    <a:latin typeface="Helvetica Neue"/>
                  </a:rPr>
                  <a:t>redundancy: number of degrees of freedom is </a:t>
                </a:r>
                <a:r>
                  <a:rPr lang="en-US" sz="2200" dirty="0" smtClean="0">
                    <a:latin typeface="Helvetica Neue"/>
                  </a:rPr>
                  <a:t>smaller than </a:t>
                </a:r>
                <a:r>
                  <a:rPr lang="en-US" sz="2200" dirty="0">
                    <a:latin typeface="Helvetica Neue"/>
                  </a:rPr>
                  <a:t>T (T is the number of observations</a:t>
                </a:r>
                <a:r>
                  <a:rPr lang="en-US" sz="2200" dirty="0" smtClean="0">
                    <a:latin typeface="Helvetica Neue"/>
                  </a:rPr>
                  <a:t>)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Data sampling: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=1,..,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>
                    <a:latin typeface="Helvetica Neue"/>
                  </a:rPr>
                  <a:t> concentrated about a small part of </a:t>
                </a:r>
                <a:r>
                  <a:rPr lang="en-US" sz="2200" dirty="0" smtClean="0">
                    <a:latin typeface="Helvetica Neue"/>
                  </a:rPr>
                  <a:t>the probability space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Ignoring dependence leads to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I</a:t>
                </a:r>
                <a:r>
                  <a:rPr lang="en-US" sz="2200" dirty="0" smtClean="0">
                    <a:latin typeface="Helvetica Neue"/>
                  </a:rPr>
                  <a:t>nefficient </a:t>
                </a:r>
                <a:r>
                  <a:rPr lang="en-US" sz="2200" dirty="0">
                    <a:latin typeface="Helvetica Neue"/>
                  </a:rPr>
                  <a:t>estimates of regression </a:t>
                </a:r>
                <a:r>
                  <a:rPr lang="en-US" sz="2200" dirty="0" smtClean="0">
                    <a:latin typeface="Helvetica Neue"/>
                  </a:rPr>
                  <a:t>parameters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P</a:t>
                </a:r>
                <a:r>
                  <a:rPr lang="en-US" sz="2200" dirty="0" smtClean="0">
                    <a:latin typeface="Helvetica Neue"/>
                  </a:rPr>
                  <a:t>oor predictions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 Neue"/>
                  </a:rPr>
                  <a:t>S</a:t>
                </a:r>
                <a:r>
                  <a:rPr lang="en-US" sz="2200" dirty="0" smtClean="0">
                    <a:latin typeface="Helvetica Neue"/>
                  </a:rPr>
                  <a:t>tandard </a:t>
                </a:r>
                <a:r>
                  <a:rPr lang="en-US" sz="2200" dirty="0">
                    <a:latin typeface="Helvetica Neue"/>
                  </a:rPr>
                  <a:t>errors unrealistically small (too narrow CI </a:t>
                </a:r>
                <a:r>
                  <a:rPr lang="en-US" sz="2200" dirty="0" smtClean="0">
                    <a:latin typeface="Helvetica Neue"/>
                  </a:rPr>
                  <a:t>⇒ improper </a:t>
                </a:r>
                <a:r>
                  <a:rPr lang="en-US" sz="2200" dirty="0">
                    <a:latin typeface="Helvetica Neue"/>
                  </a:rPr>
                  <a:t>inferences</a:t>
                </a:r>
                <a:r>
                  <a:rPr lang="en-US" sz="2200" dirty="0" smtClean="0">
                    <a:latin typeface="Helvetica Neue"/>
                  </a:rPr>
                  <a:t>)</a:t>
                </a:r>
                <a:endParaRPr lang="en-US" sz="2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68393" y="947075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959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34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Time Series: Basics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68393" y="947075"/>
                <a:ext cx="8265119" cy="4111025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Data</a:t>
                </a:r>
                <a:r>
                  <a:rPr lang="en-US" sz="2200" dirty="0" smtClean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 smtClean="0">
                    <a:latin typeface="Helvetica Neue"/>
                  </a:rPr>
                  <a:t>where </a:t>
                </a:r>
                <a:r>
                  <a:rPr lang="en-US" sz="2200" i="1" dirty="0" smtClean="0">
                    <a:latin typeface="Helvetica Neue"/>
                  </a:rPr>
                  <a:t>t</a:t>
                </a:r>
                <a:r>
                  <a:rPr lang="en-US" sz="2200" dirty="0" smtClean="0">
                    <a:latin typeface="Helvetica Neue"/>
                  </a:rPr>
                  <a:t> indexes time, e.g. minute, hour, day, month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Model</a:t>
                </a:r>
                <a:r>
                  <a:rPr lang="en-US" sz="2200" dirty="0" smtClean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</a:t>
                </a:r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:r>
                  <a:rPr lang="en-US" sz="2200" dirty="0" smtClean="0"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 smtClean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is a trend component;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</a:t>
                </a:r>
                <a:r>
                  <a:rPr lang="en-US" sz="2200" dirty="0" smtClean="0">
                    <a:latin typeface="Helvetica Neue"/>
                  </a:rPr>
                  <a:t>seasonality component with known periodicity </a:t>
                </a:r>
                <a:r>
                  <a:rPr lang="en-US" sz="2200" i="1" dirty="0" smtClean="0">
                    <a:latin typeface="Helvetica Neue"/>
                  </a:rPr>
                  <a:t>d</a:t>
                </a:r>
                <a:r>
                  <a:rPr lang="en-US" sz="2200" dirty="0">
                    <a:latin typeface="Helvetica Neue"/>
                  </a:rPr>
                  <a:t> </a:t>
                </a:r>
                <a:r>
                  <a:rPr lang="en-US" sz="2200" dirty="0" smtClean="0">
                    <a:latin typeface="Helvetica Neue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)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 smtClean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</a:t>
                </a:r>
                <a:r>
                  <a:rPr lang="en-US" sz="2200" dirty="0" smtClean="0">
                    <a:latin typeface="Helvetica Neue"/>
                  </a:rPr>
                  <a:t>stationary component, i.e.  its probability distribution does </a:t>
                </a:r>
                <a:r>
                  <a:rPr lang="en-US" sz="2200" dirty="0">
                    <a:latin typeface="Helvetica Neue"/>
                  </a:rPr>
                  <a:t>not change when shifted in time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 smtClean="0">
                    <a:latin typeface="Helvetica Neue"/>
                  </a:rPr>
                  <a:t>Estimation</a:t>
                </a:r>
                <a:r>
                  <a:rPr lang="en-US" sz="2200" dirty="0" smtClean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are first estimated and subtracted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to have left the stationary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Helvetica Neue"/>
                  </a:rPr>
                  <a:t> to be model using time series modeling approaches.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68393" y="947075"/>
                <a:ext cx="8265119" cy="4111025"/>
              </a:xfrm>
              <a:prstGeom prst="rect">
                <a:avLst/>
              </a:prstGeom>
              <a:blipFill rotWithShape="0">
                <a:blip r:embed="rId3"/>
                <a:stretch>
                  <a:fillRect l="-959" t="-1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57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b057fda7-913b-4ab6-8820-932873bcd66c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17590</TotalTime>
  <Words>540</Words>
  <Application>Microsoft Macintosh PowerPoint</Application>
  <PresentationFormat>On-screen Show (16:9)</PresentationFormat>
  <Paragraphs>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About this lesson</vt:lpstr>
      <vt:lpstr>Multiple Linear Regression</vt:lpstr>
      <vt:lpstr>Example: Time Series</vt:lpstr>
      <vt:lpstr>Time Series: Characteristics</vt:lpstr>
      <vt:lpstr>Example: GDP</vt:lpstr>
      <vt:lpstr>Example: Daily IBM Stock Price</vt:lpstr>
      <vt:lpstr>Example: S&amp;P500 Intraday</vt:lpstr>
      <vt:lpstr>Is Time Series Analysis Necessary?</vt:lpstr>
      <vt:lpstr>Time Series: Basics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852</cp:revision>
  <dcterms:modified xsi:type="dcterms:W3CDTF">2017-04-27T17:48:37Z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