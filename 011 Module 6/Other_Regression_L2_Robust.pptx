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90" r:id="rId5"/>
    <p:sldMasterId id="2147483684" r:id="rId6"/>
    <p:sldMasterId id="2147483654" r:id="rId7"/>
    <p:sldMasterId id="2147483652" r:id="rId8"/>
  </p:sldMasterIdLst>
  <p:notesMasterIdLst>
    <p:notesMasterId r:id="rId16"/>
  </p:notesMasterIdLst>
  <p:handoutMasterIdLst>
    <p:handoutMasterId r:id="rId17"/>
  </p:handoutMasterIdLst>
  <p:sldIdLst>
    <p:sldId id="434" r:id="rId9"/>
    <p:sldId id="408" r:id="rId10"/>
    <p:sldId id="498" r:id="rId11"/>
    <p:sldId id="446" r:id="rId12"/>
    <p:sldId id="499" r:id="rId13"/>
    <p:sldId id="500" r:id="rId14"/>
    <p:sldId id="425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408"/>
            <p14:sldId id="498"/>
            <p14:sldId id="446"/>
            <p14:sldId id="499"/>
            <p14:sldId id="500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>
    <p:extLst/>
  </p:cmAuthor>
  <p:cmAuthor id="2" name="Figueroa, Shabana" initials="FS [2]" lastIdx="1" clrIdx="1">
    <p:extLst/>
  </p:cmAuthor>
  <p:cmAuthor id="3" name="Serban, Nicoleta" initials="SN" lastIdx="11" clrIdx="2">
    <p:extLst/>
  </p:cmAuthor>
  <p:cmAuthor id="4" name="Hu, Rui" initials="HR" lastIdx="1" clrIdx="3">
    <p:extLst/>
  </p:cmAuthor>
  <p:cmAuthor id="5" name="Hu, Rui" initials="HR [2]" lastIdx="1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4221"/>
    <a:srgbClr val="3F6CAF"/>
    <a:srgbClr val="1F497D"/>
    <a:srgbClr val="984807"/>
    <a:srgbClr val="993200"/>
    <a:srgbClr val="F8FFF1"/>
    <a:srgbClr val="EEB21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9216" autoAdjust="0"/>
    <p:restoredTop sz="89904" autoAdjust="0"/>
  </p:normalViewPr>
  <p:slideViewPr>
    <p:cSldViewPr snapToGrid="0">
      <p:cViewPr varScale="1">
        <p:scale>
          <a:sx n="128" d="100"/>
          <a:sy n="128" d="100"/>
        </p:scale>
        <p:origin x="22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4/27/17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7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3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827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0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14CED63-C5B3-475C-BA81-763BF086AFEA}" type="slidenum">
              <a:rPr lang="en-US" altLang="en-US" smtClean="0">
                <a:ea typeface="Cambria Math" charset="0"/>
              </a:rPr>
              <a:pPr/>
              <a:t>5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04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Why n-p-1?  Examination question.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DF14B6E9-90BF-4EC0-8F69-169F3293C0BD}" type="slidenum">
              <a:rPr lang="en-US" altLang="en-US" smtClean="0">
                <a:ea typeface="Cambria Math" charset="0"/>
              </a:rPr>
              <a:pPr/>
              <a:t>6</a:t>
            </a:fld>
            <a:endParaRPr lang="en-US" altLang="en-US" dirty="0" smtClean="0">
              <a:ea typeface="Cambria Mat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88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211138" y="592138"/>
            <a:ext cx="4502150" cy="34782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34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47650" y="274639"/>
            <a:ext cx="8595313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96333"/>
            <a:ext cx="8576502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5"/>
            <a:ext cx="8595315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5"/>
            <a:ext cx="8604722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Title</a:t>
            </a:r>
          </a:p>
          <a:p>
            <a:pPr lvl="0"/>
            <a:endParaRPr lang="en-US" dirty="0" smtClean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814376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7" y="2896113"/>
            <a:ext cx="8595316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6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4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2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 smtClean="0"/>
              <a:t>of the printing and typesetting industry. </a:t>
            </a:r>
            <a:r>
              <a:rPr lang="en-US" sz="1800" dirty="0" err="1" smtClean="0"/>
              <a:t>Lorem</a:t>
            </a:r>
            <a:r>
              <a:rPr lang="en-US" sz="1800" dirty="0" smtClean="0"/>
              <a:t> </a:t>
            </a:r>
            <a:r>
              <a:rPr lang="en-US" sz="1800" dirty="0" err="1" smtClean="0"/>
              <a:t>Ipsum</a:t>
            </a:r>
            <a:r>
              <a:rPr lang="en-US" sz="1800" dirty="0" smtClean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 smtClean="0"/>
              <a:t>remaining essentially unchanged. </a:t>
            </a:r>
            <a:endParaRPr lang="en-US" sz="1800" dirty="0"/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1" y="274639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50" y="1436689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/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3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 smtClean="0"/>
              <a:t>Course title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3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25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 smtClean="0"/>
              <a:t>Module Name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8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342900" rtl="0" eaLnBrk="1" latinLnBrk="0" hangingPunct="1">
              <a:lnSpc>
                <a:spcPts val="1050"/>
              </a:lnSpc>
              <a:spcBef>
                <a:spcPct val="20000"/>
              </a:spcBef>
              <a:buFont typeface="Arial"/>
              <a:buNone/>
              <a:defRPr lang="en-US" sz="18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 smtClean="0"/>
          </a:p>
          <a:p>
            <a:pPr lvl="0"/>
            <a:r>
              <a:rPr lang="en-US" dirty="0" smtClean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1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smtClean="0"/>
              <a:t>Title</a:t>
            </a: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Lesson name: e.g. R Examples</a:t>
            </a:r>
          </a:p>
          <a:p>
            <a:pPr lvl="0"/>
            <a:r>
              <a:rPr lang="en-US" dirty="0" err="1" smtClean="0"/>
              <a:t>Subname</a:t>
            </a:r>
            <a:r>
              <a:rPr lang="en-US" dirty="0" smtClean="0"/>
              <a:t> if applicable (e.g. Part II)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9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 smtClean="0"/>
              <a:t>School Name</a:t>
            </a:r>
          </a:p>
          <a:p>
            <a:pPr lvl="0"/>
            <a:endParaRPr lang="en-US" dirty="0" smtClean="0"/>
          </a:p>
        </p:txBody>
      </p:sp>
    </p:spTree>
    <p:extLst/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52351" y="1268453"/>
            <a:ext cx="4611277" cy="3473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35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2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2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05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9" y="1268454"/>
            <a:ext cx="4705350" cy="3562526"/>
          </a:xfrm>
          <a:prstGeom prst="rect">
            <a:avLst/>
          </a:prstGeom>
        </p:spPr>
        <p:txBody>
          <a:bodyPr/>
          <a:lstStyle>
            <a:lvl1pPr marL="214313" indent="-214313">
              <a:buFont typeface="Arial"/>
              <a:buChar char="•"/>
              <a:defRPr sz="15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 smtClean="0">
                <a:latin typeface="Helvetica"/>
                <a:cs typeface="Helvetica"/>
              </a:rPr>
              <a:t>Lorem</a:t>
            </a:r>
            <a:r>
              <a:rPr lang="en-US" b="1" dirty="0" smtClean="0">
                <a:latin typeface="Helvetica"/>
                <a:cs typeface="Helvetica"/>
              </a:rPr>
              <a:t> </a:t>
            </a:r>
            <a:r>
              <a:rPr lang="en-US" b="1" dirty="0" err="1" smtClean="0">
                <a:latin typeface="Helvetica"/>
                <a:cs typeface="Helvetica"/>
              </a:rPr>
              <a:t>Ipsum</a:t>
            </a:r>
            <a:r>
              <a:rPr lang="en-US" b="1" dirty="0" smtClean="0">
                <a:latin typeface="Helvetica"/>
                <a:cs typeface="Helvetica"/>
              </a:rPr>
              <a:t> is simply dummy text.</a:t>
            </a:r>
          </a:p>
          <a:p>
            <a:endParaRPr lang="en-US" sz="1350" dirty="0" smtClean="0"/>
          </a:p>
          <a:p>
            <a:r>
              <a:rPr lang="en-US" b="1" dirty="0" smtClean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350" dirty="0" smtClean="0"/>
              <a:t>remaining essentially unchanged. </a:t>
            </a:r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104932"/>
            <a:ext cx="4213956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752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823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83272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398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32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74638"/>
            <a:ext cx="5691763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268413"/>
            <a:ext cx="4978400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4400" kern="1200" dirty="0">
                <a:solidFill>
                  <a:srgbClr val="EEB21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lvl="0"/>
            <a:r>
              <a:rPr lang="en-US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435697"/>
            <a:ext cx="4305091" cy="35833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8649" y="4145592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Vitesse Thin" charset="0"/>
                <a:ea typeface="Vitesse Thin" charset="0"/>
                <a:cs typeface="Vitesse Thin" charset="0"/>
              </a:defRPr>
            </a:lvl1pPr>
          </a:lstStyle>
          <a:p>
            <a:pPr lvl="0"/>
            <a:r>
              <a:rPr lang="en-US"/>
              <a:t>Lesson name: e.g. R Examples</a:t>
            </a:r>
          </a:p>
          <a:p>
            <a:pPr lvl="0"/>
            <a:r>
              <a:rPr lang="en-US" err="1"/>
              <a:t>Subname</a:t>
            </a:r>
            <a:r>
              <a:rPr lang="en-US"/>
              <a:t> if applicable (e.g. Part II)</a:t>
            </a:r>
          </a:p>
          <a:p>
            <a:pPr lvl="0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28648" y="2758559"/>
            <a:ext cx="4305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i="1">
                <a:latin typeface="Vitesse" charset="0"/>
                <a:ea typeface="Vitesse" charset="0"/>
                <a:cs typeface="Vitesse" charset="0"/>
              </a:rPr>
              <a:t>Title</a:t>
            </a:r>
            <a:r>
              <a:rPr lang="en-US" b="1" i="1" baseline="0">
                <a:latin typeface="Vitesse" charset="0"/>
                <a:ea typeface="Vitesse" charset="0"/>
                <a:cs typeface="Vitesse" charset="0"/>
              </a:rPr>
              <a:t> Goes Here</a:t>
            </a:r>
            <a:endParaRPr lang="en-US" b="1" i="1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28648" y="3070264"/>
            <a:ext cx="43050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b="0" i="0">
                <a:latin typeface="Vitesse Book" charset="0"/>
                <a:ea typeface="Vitesse Book" charset="0"/>
                <a:cs typeface="Vitesse Book" charset="0"/>
              </a:rPr>
              <a:t>School</a:t>
            </a:r>
            <a:r>
              <a:rPr lang="en-US" sz="1600" b="0" i="0" baseline="0">
                <a:latin typeface="Vitesse Book" charset="0"/>
                <a:ea typeface="Vitesse Book" charset="0"/>
                <a:cs typeface="Vitesse Book" charset="0"/>
              </a:rPr>
              <a:t> name goes here</a:t>
            </a:r>
            <a:endParaRPr lang="en-US" sz="1600" b="0" i="0">
              <a:latin typeface="Vitesse Book" charset="0"/>
              <a:ea typeface="Vitesse Book" charset="0"/>
              <a:cs typeface="Vitesse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56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284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350119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b="1" i="0" kern="1200" dirty="0">
                <a:solidFill>
                  <a:schemeClr val="tx1"/>
                </a:solidFill>
                <a:latin typeface="Vitesse" charset="0"/>
                <a:ea typeface="Vitesse" charset="0"/>
                <a:cs typeface="Vitess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628650" y="1376363"/>
            <a:ext cx="5078814" cy="32861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2563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85911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1257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768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95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22129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6317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theme" Target="../theme/theme2.xml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7" Type="http://schemas.openxmlformats.org/officeDocument/2006/relationships/image" Target="../media/image6.jp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theme" Target="../theme/theme5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ue-Background-Shape-02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Picture 15" descr="honeycomb_gradient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8650" y="274638"/>
            <a:ext cx="4686928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4686928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1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Vitesse" charset="0"/>
          <a:ea typeface="Vitesse" charset="0"/>
          <a:cs typeface="Vitesse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Vitesse Book" charset="0"/>
          <a:ea typeface="Vitesse Book" charset="0"/>
          <a:cs typeface="Vitesse Book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oneycomb_gradient.png"/>
          <p:cNvPicPr>
            <a:picLocks noChangeAspect="1"/>
          </p:cNvPicPr>
          <p:nvPr userDrawn="1"/>
        </p:nvPicPr>
        <p:blipFill>
          <a:blip r:embed="rId10" cstate="print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15250" cy="5143500"/>
          </a:xfrm>
          <a:prstGeom prst="rect">
            <a:avLst/>
          </a:prstGeom>
        </p:spPr>
      </p:pic>
      <p:pic>
        <p:nvPicPr>
          <p:cNvPr id="4" name="Picture 3" descr="corner-patina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3" y="3510676"/>
            <a:ext cx="941817" cy="16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ull-screen-patina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3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-Background-Shape-0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 descr="corner_logo_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080" y="3470730"/>
            <a:ext cx="966919" cy="167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rner_logo_blue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182" y="3514154"/>
            <a:ext cx="941818" cy="16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8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5" r:id="rId2"/>
    <p:sldLayoutId id="2147483668" r:id="rId3"/>
    <p:sldLayoutId id="2147483670" r:id="rId4"/>
    <p:sldLayoutId id="2147483658" r:id="rId5"/>
    <p:sldLayoutId id="2147483649" r:id="rId6"/>
    <p:sldLayoutId id="2147483660" r:id="rId7"/>
    <p:sldLayoutId id="2147483675" r:id="rId8"/>
    <p:sldLayoutId id="2147483676" r:id="rId9"/>
    <p:sldLayoutId id="2147483677" r:id="rId10"/>
    <p:sldLayoutId id="2147483679" r:id="rId11"/>
    <p:sldLayoutId id="2147483680" r:id="rId12"/>
    <p:sldLayoutId id="2147483682" r:id="rId13"/>
    <p:sldLayoutId id="2147483683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192005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0351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Other Regression Methods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Nicoleta Serban,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Associate 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02100"/>
            <a:ext cx="3788173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Robust Regression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20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About </a:t>
            </a:r>
            <a:r>
              <a:rPr lang="en-US" sz="3600" dirty="0" smtClean="0"/>
              <a:t>this lesson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9" y="1268454"/>
            <a:ext cx="4914900" cy="187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8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81000" y="1210006"/>
            <a:ext cx="57721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Data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1p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},….,{(x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n1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,..,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),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</a:p>
          <a:p>
            <a:pPr eaLnBrk="1" hangingPunct="1"/>
            <a:endParaRPr lang="en-US" altLang="en-US" dirty="0" smtClean="0">
              <a:latin typeface="Helvetica Neue" charset="0"/>
              <a:ea typeface="Helvetica Neue" charset="0"/>
              <a:cs typeface="Helvetica Neue" charset="0"/>
            </a:endParaRPr>
          </a:p>
          <a:p>
            <a:r>
              <a:rPr lang="en-US" altLang="en-US" b="1" dirty="0" smtClean="0">
                <a:latin typeface="Helvetica Neue" charset="0"/>
                <a:ea typeface="Helvetica Neue" charset="0"/>
                <a:cs typeface="Helvetica Neue" charset="0"/>
              </a:rPr>
              <a:t>Model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Y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0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i1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</a:t>
            </a:r>
            <a:r>
              <a:rPr lang="en-US" altLang="en-US" dirty="0">
                <a:ea typeface="Cambria Math" charset="0"/>
              </a:rPr>
              <a:t>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i2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+…+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b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p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x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ip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+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=1,…,n</a:t>
            </a:r>
            <a:endParaRPr lang="en-US" altLang="en-US" dirty="0">
              <a:ea typeface="Cambria Math" charset="0"/>
            </a:endParaRP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381000" y="2419350"/>
            <a:ext cx="793903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Helvetica Neue" charset="0"/>
                <a:ea typeface="Helvetica Neue" charset="0"/>
                <a:cs typeface="Helvetica Neue" charset="0"/>
              </a:rPr>
              <a:t>Assumptions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Linearity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/</a:t>
            </a: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Mean Zero Assumption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E(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Constant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Variance 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Cambria Math" charset="0"/>
                <a:ea typeface="Cambria Math" charset="0"/>
                <a:cs typeface="Cambria Math" charset="0"/>
              </a:rPr>
              <a:t>Var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(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) = 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s</a:t>
            </a:r>
            <a:r>
              <a:rPr lang="en-US" altLang="en-US" baseline="30000" dirty="0">
                <a:latin typeface="Cambria Math" charset="0"/>
                <a:ea typeface="Cambria Math" charset="0"/>
                <a:cs typeface="Cambria Math" charset="0"/>
              </a:rPr>
              <a:t>2</a:t>
            </a:r>
            <a:r>
              <a:rPr lang="en-US" altLang="en-US" baseline="30000" dirty="0">
                <a:latin typeface="Times New Roman" panose="02020603050405020304" pitchFamily="18" charset="0"/>
                <a:ea typeface="Cambria Math" charset="0"/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Independence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{</a:t>
            </a:r>
            <a:r>
              <a:rPr lang="en-US" altLang="en-US" dirty="0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>
                <a:latin typeface="Cambria Math" charset="0"/>
                <a:ea typeface="Cambria Math" charset="0"/>
                <a:cs typeface="Cambria Math" charset="0"/>
              </a:rPr>
              <a:t>1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,…,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n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}</a:t>
            </a:r>
            <a:r>
              <a:rPr lang="en-US" altLang="en-US" dirty="0">
                <a:latin typeface="Times New Roman" panose="02020603050405020304" pitchFamily="18" charset="0"/>
                <a:ea typeface="Cambria Math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are 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independent random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variables</a:t>
            </a:r>
            <a:endParaRPr lang="en-US" altLang="en-US" dirty="0">
              <a:latin typeface="Cambria Math" charset="0"/>
              <a:ea typeface="Cambria Math" charset="0"/>
              <a:cs typeface="Cambria Math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i="1" dirty="0" smtClean="0">
                <a:latin typeface="Helvetica Neue" charset="0"/>
                <a:ea typeface="Helvetica Neue" charset="0"/>
                <a:cs typeface="Helvetica Neue" charset="0"/>
              </a:rPr>
              <a:t> Normality </a:t>
            </a:r>
            <a:r>
              <a:rPr lang="en-US" altLang="en-US" i="1" dirty="0">
                <a:latin typeface="Helvetica Neue" charset="0"/>
                <a:ea typeface="Helvetica Neue" charset="0"/>
                <a:cs typeface="Helvetica Neue" charset="0"/>
              </a:rPr>
              <a:t>Assumption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: </a:t>
            </a:r>
            <a:r>
              <a:rPr lang="en-US" altLang="en-US" dirty="0" err="1">
                <a:latin typeface="Symbol" panose="05050102010706020507" pitchFamily="18" charset="2"/>
                <a:ea typeface="Cambria Math" charset="0"/>
              </a:rPr>
              <a:t>e</a:t>
            </a:r>
            <a:r>
              <a:rPr lang="en-US" altLang="en-US" baseline="-25000" dirty="0" err="1">
                <a:latin typeface="Cambria Math" charset="0"/>
                <a:ea typeface="Cambria Math" charset="0"/>
                <a:cs typeface="Cambria Math" charset="0"/>
              </a:rPr>
              <a:t>i</a:t>
            </a:r>
            <a:r>
              <a:rPr lang="en-US" altLang="en-US" dirty="0">
                <a:latin typeface="Cambria Math" charset="0"/>
                <a:ea typeface="Cambria Math" charset="0"/>
                <a:cs typeface="Cambria Math" charset="0"/>
              </a:rPr>
              <a:t> ~</a:t>
            </a:r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dirty="0" smtClean="0">
                <a:latin typeface="Helvetica Neue" charset="0"/>
                <a:ea typeface="Helvetica Neue" charset="0"/>
                <a:cs typeface="Helvetica Neue" charset="0"/>
              </a:rPr>
              <a:t>Normal</a:t>
            </a:r>
            <a:endParaRPr lang="en-US" altLang="en-US" dirty="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50669" y="1267140"/>
            <a:ext cx="7939035" cy="15388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What if there are outliers?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If one or two, remove the outliers and fit again </a:t>
            </a:r>
            <a:r>
              <a:rPr lang="en-US" altLang="en-US" sz="2000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⇒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 Compare models with and without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If many, it is an indication that the normality assumption does not </a:t>
            </a: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hold </a:t>
            </a:r>
            <a:r>
              <a:rPr lang="en-US" altLang="en-US" sz="2000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⇒</a:t>
            </a:r>
            <a:r>
              <a:rPr lang="en-US" altLang="en-US" b="1" dirty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 </a:t>
            </a:r>
            <a:r>
              <a:rPr lang="en-US" altLang="en-US" b="1" dirty="0" smtClean="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</a:rPr>
              <a:t>Use an approach that provider robust estimates to outliers</a:t>
            </a:r>
            <a:endParaRPr lang="en-US" altLang="en-US" b="1" dirty="0">
              <a:solidFill>
                <a:srgbClr val="00000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7520052" cy="614601"/>
          </a:xfrm>
        </p:spPr>
        <p:txBody>
          <a:bodyPr/>
          <a:lstStyle/>
          <a:p>
            <a:r>
              <a:rPr lang="en-US" altLang="zh-CN" sz="3600" dirty="0" smtClean="0"/>
              <a:t>Multiple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Linear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Regression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380999" y="4050080"/>
            <a:ext cx="4763588" cy="400595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8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8" y="274679"/>
            <a:ext cx="8715806" cy="616276"/>
          </a:xfrm>
        </p:spPr>
        <p:txBody>
          <a:bodyPr/>
          <a:lstStyle/>
          <a:p>
            <a:pPr algn="l"/>
            <a:r>
              <a:rPr lang="en-US" sz="3600" dirty="0" smtClean="0"/>
              <a:t>Example: Departure from Normality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</a:t>
                </a:r>
                <a:r>
                  <a:rPr lang="en-US" sz="2200" dirty="0" smtClean="0">
                    <a:latin typeface="Helvetica Neue"/>
                  </a:rPr>
                  <a:t>has a pdf given as</a:t>
                </a: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sSup>
                        <m:sSupPr>
                          <m:ctrlPr>
                            <a:rPr lang="en-US" sz="22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−|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|/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sup>
                      </m:sSup>
                    </m:oMath>
                  </m:oMathPara>
                </a14:m>
                <a:endParaRPr lang="en-US" sz="2200" b="0" dirty="0" smtClean="0"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200" dirty="0">
                    <a:latin typeface="Helvetica Neue"/>
                  </a:rPr>
                  <a:t>    This has heavier tails than the normal distribution.</a:t>
                </a:r>
              </a:p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MLE 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 dirty="0" smtClean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sz="2200" dirty="0" smtClean="0">
                    <a:latin typeface="Helvetica Neue"/>
                  </a:rPr>
                  <a:t> to minimize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 dirty="0">
                    <a:latin typeface="Cambria Math" charset="0"/>
                    <a:ea typeface="Cambria Math" charset="0"/>
                    <a:cs typeface="Cambria Math" charset="0"/>
                  </a:rPr>
                  <a:t>|</a:t>
                </a:r>
                <a:r>
                  <a:rPr lang="en-US" sz="2200" dirty="0">
                    <a:latin typeface="Helvetica Neue"/>
                  </a:rPr>
                  <a:t> </a:t>
                </a:r>
                <a:endParaRPr lang="en-US" sz="2200" dirty="0" smtClean="0">
                  <a:latin typeface="Helvetica Neue"/>
                </a:endParaRP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The </a:t>
                </a:r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estimate of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 is the sample 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median</a:t>
                </a:r>
                <a:endParaRPr lang="en-US" sz="2200" dirty="0" smtClean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dirty="0" smtClean="0">
                    <a:latin typeface="Helvetica Neue"/>
                  </a:rPr>
                  <a:t>Assuming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220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 smtClean="0">
                    <a:latin typeface="Helvetica Neue"/>
                  </a:rPr>
                  <a:t>in regression analysis: </a:t>
                </a:r>
              </a:p>
              <a:p>
                <a:pPr marL="1085850" lvl="1" indent="-3429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Estimate </a:t>
                </a:r>
                <a:r>
                  <a:rPr lang="en-US" altLang="en-US" sz="2400" dirty="0">
                    <a:latin typeface="Cambria Math" charset="0"/>
                    <a:ea typeface="Cambria Math" charset="0"/>
                    <a:cs typeface="Cambria Math" charset="0"/>
                  </a:rPr>
                  <a:t>(</a:t>
                </a:r>
                <a:r>
                  <a:rPr lang="en-US" altLang="en-US" sz="2400" dirty="0">
                    <a:latin typeface="Symbol" panose="05050102010706020507" pitchFamily="18" charset="2"/>
                  </a:rPr>
                  <a:t>b</a:t>
                </a:r>
                <a:r>
                  <a:rPr lang="en-US" altLang="en-US" sz="2400" baseline="-25000" dirty="0">
                    <a:latin typeface="Cambria Math" charset="0"/>
                    <a:ea typeface="Cambria Math" charset="0"/>
                    <a:cs typeface="Cambria Math" charset="0"/>
                  </a:rPr>
                  <a:t>0</a:t>
                </a:r>
                <a:r>
                  <a:rPr lang="en-US" altLang="en-US" sz="2400" dirty="0">
                    <a:latin typeface="Cambria Math" charset="0"/>
                    <a:ea typeface="Cambria Math" charset="0"/>
                    <a:cs typeface="Cambria Math" charset="0"/>
                  </a:rPr>
                  <a:t>,</a:t>
                </a:r>
                <a:r>
                  <a:rPr lang="en-US" altLang="en-US" sz="2400" dirty="0">
                    <a:latin typeface="Symbol" panose="05050102010706020507" pitchFamily="18" charset="2"/>
                  </a:rPr>
                  <a:t>b</a:t>
                </a:r>
                <a:r>
                  <a:rPr lang="en-US" altLang="en-US" sz="24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2400" dirty="0">
                    <a:latin typeface="Cambria Math" charset="0"/>
                    <a:ea typeface="Cambria Math" charset="0"/>
                    <a:cs typeface="Cambria Math" charset="0"/>
                  </a:rPr>
                  <a:t>,</a:t>
                </a:r>
                <a:r>
                  <a:rPr lang="en-US" altLang="en-US" sz="2400" dirty="0">
                    <a:latin typeface="Symbol" panose="05050102010706020507" pitchFamily="18" charset="2"/>
                  </a:rPr>
                  <a:t>b</a:t>
                </a:r>
                <a:r>
                  <a:rPr lang="en-US" altLang="en-US" sz="2400" baseline="-25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US" altLang="en-US" sz="2400" dirty="0">
                    <a:latin typeface="Cambria Math" charset="0"/>
                    <a:ea typeface="Cambria Math" charset="0"/>
                    <a:cs typeface="Cambria Math" charset="0"/>
                  </a:rPr>
                  <a:t>,…,</a:t>
                </a:r>
                <a:r>
                  <a:rPr lang="en-US" altLang="en-US" sz="2400" dirty="0" err="1" smtClean="0">
                    <a:latin typeface="Symbol" panose="05050102010706020507" pitchFamily="18" charset="2"/>
                  </a:rPr>
                  <a:t>b</a:t>
                </a:r>
                <a:r>
                  <a:rPr lang="en-US" altLang="en-US" sz="24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p</a:t>
                </a:r>
                <a:r>
                  <a:rPr lang="en-US" altLang="en-US" sz="2400" dirty="0" smtClean="0">
                    <a:latin typeface="Cambria Math" charset="0"/>
                    <a:ea typeface="Cambria Math" charset="0"/>
                    <a:cs typeface="Cambria Math" charset="0"/>
                  </a:rPr>
                  <a:t>)</a:t>
                </a:r>
                <a:r>
                  <a:rPr lang="en-US" altLang="en-US" sz="2400" dirty="0">
                    <a:latin typeface="Helvetica Neue" charset="0"/>
                    <a:ea typeface="Helvetica Neue" charset="0"/>
                    <a:cs typeface="Helvetica Neue" charset="0"/>
                  </a:rPr>
                  <a:t> </a:t>
                </a:r>
                <a:r>
                  <a:rPr lang="en-US" altLang="en-US" sz="2200" dirty="0" smtClean="0">
                    <a:latin typeface="Helvetica Neue"/>
                  </a:rPr>
                  <a:t>by minimizing</a:t>
                </a:r>
                <a:endParaRPr lang="en-US" sz="2200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 lvl="1" indent="0">
                  <a:lnSpc>
                    <a:spcPct val="110000"/>
                  </a:lnSpc>
                  <a:buNone/>
                </a:pPr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 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charset="0"/>
                          </a:rPr>
                        </m:ctrlPr>
                      </m:funcPr>
                      <m:fName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sz="2200" i="1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sz="2200" dirty="0">
                    <a:ea typeface="Cambria Math" panose="02040503050406030204" pitchFamily="18" charset="0"/>
                  </a:rPr>
                  <a:t> </a:t>
                </a:r>
                <a:r>
                  <a:rPr lang="en-US" altLang="en-US" sz="2200" dirty="0">
                    <a:latin typeface="Symbol" panose="05050102010706020507" pitchFamily="18" charset="2"/>
                  </a:rPr>
                  <a:t>b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0</a:t>
                </a:r>
                <a:r>
                  <a:rPr lang="en-US" altLang="en-US" sz="2200" dirty="0"/>
                  <a:t>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+</a:t>
                </a:r>
                <a:r>
                  <a:rPr lang="en-US" altLang="en-US" sz="2200" dirty="0"/>
                  <a:t> </a:t>
                </a:r>
                <a:r>
                  <a:rPr lang="en-US" altLang="en-US" sz="2200" dirty="0">
                    <a:latin typeface="Symbol" panose="05050102010706020507" pitchFamily="18" charset="2"/>
                  </a:rPr>
                  <a:t>b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1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i1</a:t>
                </a:r>
                <a:r>
                  <a:rPr lang="en-US" altLang="en-US" sz="2200" dirty="0"/>
                  <a:t> 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+</a:t>
                </a:r>
                <a:r>
                  <a:rPr lang="en-US" altLang="en-US" sz="2200" dirty="0"/>
                  <a:t> </a:t>
                </a:r>
                <a:r>
                  <a:rPr lang="en-US" altLang="en-US" sz="2200" dirty="0">
                    <a:latin typeface="Symbol" panose="05050102010706020507" pitchFamily="18" charset="2"/>
                  </a:rPr>
                  <a:t>b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2</a:t>
                </a:r>
                <a:r>
                  <a:rPr lang="en-US" altLang="en-US" sz="2200" dirty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>
                    <a:latin typeface="Cambria Math" charset="0"/>
                    <a:ea typeface="Cambria Math" charset="0"/>
                    <a:cs typeface="Cambria Math" charset="0"/>
                  </a:rPr>
                  <a:t>i2</a:t>
                </a:r>
                <a:r>
                  <a:rPr lang="en-US" altLang="en-US" sz="2200" dirty="0"/>
                  <a:t> </a:t>
                </a:r>
                <a:r>
                  <a:rPr lang="en-US" alt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+…+ </a:t>
                </a:r>
                <a:r>
                  <a:rPr lang="en-US" altLang="en-US" sz="2200" dirty="0" err="1" smtClean="0">
                    <a:latin typeface="Symbol" panose="05050102010706020507" pitchFamily="18" charset="2"/>
                  </a:rPr>
                  <a:t>b</a:t>
                </a:r>
                <a:r>
                  <a:rPr lang="en-US" altLang="en-US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p</a:t>
                </a:r>
                <a:r>
                  <a:rPr lang="en-US" altLang="en-US" sz="22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x</a:t>
                </a:r>
                <a:r>
                  <a:rPr lang="en-US" altLang="en-US" sz="2200" baseline="-25000" dirty="0" err="1" smtClean="0">
                    <a:latin typeface="Cambria Math" charset="0"/>
                    <a:ea typeface="Cambria Math" charset="0"/>
                    <a:cs typeface="Cambria Math" charset="0"/>
                  </a:rPr>
                  <a:t>ip</a:t>
                </a:r>
                <a:r>
                  <a:rPr lang="en-US" altLang="en-US" sz="2200" b="1" baseline="-25000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:r>
                  <a:rPr lang="en-US" sz="2200" dirty="0" smtClean="0">
                    <a:latin typeface="Cambria Math" charset="0"/>
                    <a:ea typeface="Cambria Math" charset="0"/>
                    <a:cs typeface="Cambria Math" charset="0"/>
                  </a:rPr>
                  <a:t>|</a:t>
                </a:r>
                <a:r>
                  <a:rPr lang="en-US" sz="2200" dirty="0" smtClean="0">
                    <a:latin typeface="Helvetica Neue"/>
                  </a:rPr>
                  <a:t> </a:t>
                </a:r>
                <a:endParaRPr lang="en-US" sz="2200" dirty="0">
                  <a:latin typeface="Helvetica Neue"/>
                </a:endParaRPr>
              </a:p>
              <a:p>
                <a:pPr lvl="1" indent="0">
                  <a:lnSpc>
                    <a:spcPct val="110000"/>
                  </a:lnSpc>
                  <a:buNone/>
                </a:pPr>
                <a:endParaRPr lang="en-US" sz="2200" dirty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endParaRPr lang="en-US" sz="2200" dirty="0" smtClean="0">
                  <a:latin typeface="Helvetica Neue"/>
                </a:endParaRPr>
              </a:p>
              <a:p>
                <a:pPr lvl="1" indent="0">
                  <a:lnSpc>
                    <a:spcPct val="110000"/>
                  </a:lnSpc>
                  <a:buNone/>
                </a:pPr>
                <a:endParaRPr lang="en-US" sz="2200" dirty="0" smtClean="0">
                  <a:latin typeface="Helvetica Neue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  <a:blipFill>
                <a:blip r:embed="rId3"/>
                <a:stretch>
                  <a:fillRect l="-886" t="-741" b="-1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98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7520052" cy="993775"/>
          </a:xfrm>
        </p:spPr>
        <p:txBody>
          <a:bodyPr/>
          <a:lstStyle/>
          <a:p>
            <a:r>
              <a:rPr lang="en-US" altLang="zh-CN" sz="3600" dirty="0" smtClean="0"/>
              <a:t>OLS vs </a:t>
            </a:r>
            <a:r>
              <a:rPr lang="en-US" altLang="zh-CN" sz="3600" dirty="0"/>
              <a:t>Robust Regression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l" defTabSz="457200" rtl="0" eaLnBrk="1" latinLnBrk="0" hangingPunct="1">
                  <a:spcBef>
                    <a:spcPct val="20000"/>
                  </a:spcBef>
                  <a:buFont typeface="Arial"/>
                  <a:buNone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10000"/>
                  </a:lnSpc>
                  <a:buFont typeface="Arial" charset="0"/>
                  <a:buChar char="•"/>
                </a:pPr>
                <a:r>
                  <a:rPr lang="en-US" sz="2200" b="1" dirty="0" smtClean="0">
                    <a:solidFill>
                      <a:prstClr val="black"/>
                    </a:solidFill>
                    <a:latin typeface="Helvetica Neue"/>
                  </a:rPr>
                  <a:t>Ordinary Least Squares (OLS): </a:t>
                </a:r>
                <a:r>
                  <a:rPr lang="en-US" sz="2200" dirty="0">
                    <a:solidFill>
                      <a:prstClr val="black"/>
                    </a:solidFill>
                    <a:latin typeface="Helvetica Neue"/>
                  </a:rPr>
                  <a:t>Estimate </a:t>
                </a:r>
                <a:r>
                  <a:rPr lang="en-US" altLang="en-US" sz="2200" dirty="0" smtClean="0">
                    <a:latin typeface="Helvetica Neue"/>
                  </a:rPr>
                  <a:t>by </a:t>
                </a:r>
                <a:r>
                  <a:rPr lang="en-US" altLang="en-US" sz="2200" dirty="0">
                    <a:latin typeface="Helvetica Neue"/>
                  </a:rPr>
                  <a:t>minimizing</a:t>
                </a:r>
                <a:endParaRPr lang="en-US" sz="2200" dirty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2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 smtClean="0"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Symbol" panose="05050102010706020507" pitchFamily="18" charset="2"/>
                                    </a:rPr>
                                    <m:t>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0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Symbol" panose="05050102010706020507" pitchFamily="18" charset="2"/>
                                    </a:rPr>
                                    <m:t>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Symbol" panose="05050102010706020507" pitchFamily="18" charset="2"/>
                                    </a:rPr>
                                    <m:t>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+…+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="0" i="0" dirty="0" smtClean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Symbol" panose="05050102010706020507" pitchFamily="18" charset="2"/>
                                    </a:rPr>
                                    <m:t>b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p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2200" baseline="-25000" dirty="0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ip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dirty="0" smtClean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    Estimate expectation: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1,</m:t>
                    </m:r>
                    <m:r>
                      <m:rPr>
                        <m:nor/>
                      </m:rPr>
                      <a:rPr lang="en-US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2,…,</m:t>
                    </m:r>
                    <m:r>
                      <m:rPr>
                        <m:nor/>
                      </m:rPr>
                      <a:rPr lang="en-US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ip</m:t>
                    </m:r>
                  </m:oMath>
                </a14:m>
                <a:r>
                  <a:rPr lang="en-US" sz="2200" dirty="0" smtClean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) 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sz="2200" b="1" dirty="0" smtClean="0">
                    <a:solidFill>
                      <a:prstClr val="black"/>
                    </a:solidFill>
                    <a:latin typeface="Helvetica Neue"/>
                  </a:rPr>
                  <a:t>Robust Regression</a:t>
                </a: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: Estimate </a:t>
                </a:r>
                <a:r>
                  <a:rPr lang="en-US" altLang="en-US" sz="2200" dirty="0" smtClean="0">
                    <a:latin typeface="Helvetica Neue"/>
                  </a:rPr>
                  <a:t>by minimizing:</a:t>
                </a:r>
                <a:endParaRPr lang="en-US" sz="2200" dirty="0">
                  <a:solidFill>
                    <a:prstClr val="black"/>
                  </a:solidFill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sz="2200" i="1"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20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Symbol" panose="05050102010706020507" pitchFamily="18" charset="2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Symbol" panose="05050102010706020507" pitchFamily="18" charset="2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1 + 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Symbol" panose="05050102010706020507" pitchFamily="18" charset="2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 +…+ 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Symbol" panose="05050102010706020507" pitchFamily="18" charset="2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en-US" sz="2200" baseline="-25000" dirty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ip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dirty="0" smtClean="0">
                  <a:latin typeface="Helvetica Neue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200" dirty="0" smtClean="0">
                    <a:solidFill>
                      <a:prstClr val="black"/>
                    </a:solidFill>
                    <a:latin typeface="Helvetica Neue"/>
                  </a:rPr>
                  <a:t>     Estimate median: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𝑚𝑒𝑑𝑖𝑎𝑛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1,</m:t>
                    </m:r>
                    <m:r>
                      <m:rPr>
                        <m:nor/>
                      </m:rPr>
                      <a:rPr lang="en-US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2,…,</m:t>
                    </m:r>
                    <m:r>
                      <m:rPr>
                        <m:nor/>
                      </m:rPr>
                      <a:rPr lang="en-US" altLang="en-US" sz="22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en-US" sz="2200" baseline="-25000" dirty="0">
                        <a:latin typeface="Cambria Math" charset="0"/>
                        <a:ea typeface="Cambria Math" charset="0"/>
                        <a:cs typeface="Cambria Math" charset="0"/>
                      </a:rPr>
                      <m:t>ip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Cambria Math" charset="0"/>
                    <a:ea typeface="Cambria Math" charset="0"/>
                    <a:cs typeface="Cambria Math" charset="0"/>
                  </a:rPr>
                  <a:t>) 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 smtClean="0">
                  <a:latin typeface="Helvetica Neue"/>
                </a:endParaRPr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39" y="970929"/>
                <a:ext cx="8265119" cy="4111025"/>
              </a:xfrm>
              <a:prstGeom prst="rect">
                <a:avLst/>
              </a:prstGeom>
              <a:blipFill>
                <a:blip r:embed="rId3"/>
                <a:stretch>
                  <a:fillRect l="-886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67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2349" y="1300012"/>
                <a:ext cx="7740548" cy="3843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Estimation Algorithm: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Helvetica Neue" charset="0"/>
                    <a:ea typeface="Helvetica Neue" charset="0"/>
                    <a:cs typeface="Helvetica Neue" charset="0"/>
                  </a:rPr>
                  <a:t>Not close form expression ⇒ Use numeric algorithm to estimate the regression parameters: Iteratively re-</a:t>
                </a:r>
                <a:r>
                  <a:rPr lang="en-US" sz="2000" dirty="0">
                    <a:latin typeface="Helvetica Neue" charset="0"/>
                    <a:ea typeface="Helvetica Neue" charset="0"/>
                    <a:cs typeface="Helvetica Neue" charset="0"/>
                  </a:rPr>
                  <a:t>w</a:t>
                </a:r>
                <a:r>
                  <a:rPr lang="en-US" sz="2000" dirty="0" smtClean="0">
                    <a:latin typeface="Helvetica Neue" charset="0"/>
                    <a:ea typeface="Helvetica Neue" charset="0"/>
                    <a:cs typeface="Helvetica Neue" charset="0"/>
                  </a:rPr>
                  <a:t>eighted least squares</a:t>
                </a:r>
              </a:p>
              <a:p>
                <a:endParaRPr lang="en-US" b="1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r>
                  <a:rPr lang="en-US" sz="2000" b="1" dirty="0" smtClean="0">
                    <a:latin typeface="Helvetica Neue" charset="0"/>
                    <a:ea typeface="Helvetica Neue" charset="0"/>
                    <a:cs typeface="Helvetica Neue" charset="0"/>
                  </a:rPr>
                  <a:t>Statistical Inference</a:t>
                </a:r>
                <a:r>
                  <a:rPr lang="en-US" sz="2000" dirty="0" smtClean="0">
                    <a:latin typeface="Helvetica Neue" charset="0"/>
                    <a:ea typeface="Helvetica Neue" charset="0"/>
                    <a:cs typeface="Helvetica Neue" charset="0"/>
                  </a:rPr>
                  <a:t>: </a:t>
                </a:r>
                <a:endParaRPr lang="en-US" sz="2000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Helvetica Neue" charset="0"/>
                    <a:ea typeface="Helvetica Neue" charset="0"/>
                    <a:cs typeface="Helvetica Neue" charset="0"/>
                  </a:rPr>
                  <a:t>The estimated variance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000" i="1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sz="2000" dirty="0" smtClean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Helvetica Neue" charset="0"/>
                    <a:ea typeface="Helvetica Neue" charset="0"/>
                    <a:cs typeface="Helvetica Neue" charset="0"/>
                  </a:rPr>
                  <a:t>Efficiency comes with a cost: Confidence intervals for Robust Regression are wider than for OLS</a:t>
                </a:r>
              </a:p>
              <a:p>
                <a:endParaRPr lang="en-US" dirty="0" smtClean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endParaRPr lang="en-US" dirty="0" smtClean="0">
                  <a:latin typeface="Helvetica Neue" charset="0"/>
                  <a:ea typeface="Helvetica Neue" charset="0"/>
                  <a:cs typeface="Helvetica Neue" charset="0"/>
                </a:endParaRPr>
              </a:p>
              <a:p>
                <a:endParaRPr lang="en-US" dirty="0"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49" y="1300012"/>
                <a:ext cx="7740548" cy="3843488"/>
              </a:xfrm>
              <a:prstGeom prst="rect">
                <a:avLst/>
              </a:prstGeom>
              <a:blipFill>
                <a:blip r:embed="rId3"/>
                <a:stretch>
                  <a:fillRect l="-787" t="-634" r="-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8739251" cy="729324"/>
          </a:xfrm>
        </p:spPr>
        <p:txBody>
          <a:bodyPr/>
          <a:lstStyle/>
          <a:p>
            <a:r>
              <a:rPr lang="en-US" altLang="zh-CN" sz="3600" dirty="0" smtClean="0"/>
              <a:t>Why not always use Robust Regression?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7345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05"/>
          <a:stretch/>
        </p:blipFill>
        <p:spPr>
          <a:xfrm>
            <a:off x="1357951" y="1162494"/>
            <a:ext cx="2605548" cy="349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347E77A7-2B37-4C4C-98D0-4FAA10DB4A58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001C2D1D-E3C7-1F40-85E2-5B0FD0A83E00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MSA PPT Template 2017-sf-edited" id="{3DD67A12-536E-DC47-ACF6-6675ECE525C5}" vid="{C8FB9013-53DF-0348-872B-A68C29C4A68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B8D62D-BE99-40AF-BF97-BFAE812B12C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b057fda7-913b-4ab6-8820-932873bcd66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16096</TotalTime>
  <Words>464</Words>
  <Application>Microsoft Macintosh PowerPoint</Application>
  <PresentationFormat>On-screen Show (16:9)</PresentationFormat>
  <Paragraphs>53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Arial</vt:lpstr>
      <vt:lpstr>Calibri</vt:lpstr>
      <vt:lpstr>Cambria Math</vt:lpstr>
      <vt:lpstr>Helvetica</vt:lpstr>
      <vt:lpstr>Helvetica Neue</vt:lpstr>
      <vt:lpstr>Symbol</vt:lpstr>
      <vt:lpstr>Times New Roman</vt:lpstr>
      <vt:lpstr>Vitesse</vt:lpstr>
      <vt:lpstr>Vitesse Bold</vt:lpstr>
      <vt:lpstr>Vitesse Book</vt:lpstr>
      <vt:lpstr>Vitesse Medium</vt:lpstr>
      <vt:lpstr>Vitesse Thin</vt:lpstr>
      <vt:lpstr>Wingdings</vt:lpstr>
      <vt:lpstr>宋体</vt:lpstr>
      <vt:lpstr>1_Office Theme</vt:lpstr>
      <vt:lpstr>Full Page Layout</vt:lpstr>
      <vt:lpstr>Half Page Slash</vt:lpstr>
      <vt:lpstr>3_Office Theme</vt:lpstr>
      <vt:lpstr>2_Office Theme</vt:lpstr>
      <vt:lpstr>PowerPoint Presentation</vt:lpstr>
      <vt:lpstr>About this lesson</vt:lpstr>
      <vt:lpstr>Multiple Linear Regression</vt:lpstr>
      <vt:lpstr>Example: Departure from Normality</vt:lpstr>
      <vt:lpstr>OLS vs Robust Regression </vt:lpstr>
      <vt:lpstr>Why not always use Robust Regression?</vt:lpstr>
      <vt:lpstr>Summary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Microsoft Office User</cp:lastModifiedBy>
  <cp:revision>807</cp:revision>
  <dcterms:modified xsi:type="dcterms:W3CDTF">2017-04-27T17:44:19Z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