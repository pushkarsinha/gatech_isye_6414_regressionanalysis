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  <p:sldMasterId id="2147483690" r:id="rId5"/>
    <p:sldMasterId id="2147483684" r:id="rId6"/>
    <p:sldMasterId id="2147483654" r:id="rId7"/>
    <p:sldMasterId id="2147483652" r:id="rId8"/>
  </p:sldMasterIdLst>
  <p:notesMasterIdLst>
    <p:notesMasterId r:id="rId20"/>
  </p:notesMasterIdLst>
  <p:handoutMasterIdLst>
    <p:handoutMasterId r:id="rId21"/>
  </p:handoutMasterIdLst>
  <p:sldIdLst>
    <p:sldId id="434" r:id="rId9"/>
    <p:sldId id="408" r:id="rId10"/>
    <p:sldId id="512" r:id="rId11"/>
    <p:sldId id="513" r:id="rId12"/>
    <p:sldId id="514" r:id="rId13"/>
    <p:sldId id="515" r:id="rId14"/>
    <p:sldId id="517" r:id="rId15"/>
    <p:sldId id="516" r:id="rId16"/>
    <p:sldId id="518" r:id="rId17"/>
    <p:sldId id="521" r:id="rId18"/>
    <p:sldId id="425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408"/>
            <p14:sldId id="512"/>
            <p14:sldId id="513"/>
            <p14:sldId id="514"/>
            <p14:sldId id="515"/>
            <p14:sldId id="517"/>
            <p14:sldId id="516"/>
            <p14:sldId id="518"/>
            <p14:sldId id="521"/>
            <p14:sldId id="4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>
    <p:extLst/>
  </p:cmAuthor>
  <p:cmAuthor id="2" name="Figueroa, Shabana" initials="FS [2]" lastIdx="1" clrIdx="1">
    <p:extLst/>
  </p:cmAuthor>
  <p:cmAuthor id="3" name="Serban, Nicoleta" initials="SN" lastIdx="11" clrIdx="2">
    <p:extLst/>
  </p:cmAuthor>
  <p:cmAuthor id="4" name="Hu, Rui" initials="HR" lastIdx="1" clrIdx="3">
    <p:extLst/>
  </p:cmAuthor>
  <p:cmAuthor id="5" name="Hu, Rui" initials="HR [2]" lastIdx="1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6CAF"/>
    <a:srgbClr val="8E4221"/>
    <a:srgbClr val="1F497D"/>
    <a:srgbClr val="984807"/>
    <a:srgbClr val="993200"/>
    <a:srgbClr val="F8FFF1"/>
    <a:srgbClr val="EEB21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9216" autoAdjust="0"/>
    <p:restoredTop sz="89904" autoAdjust="0"/>
  </p:normalViewPr>
  <p:slideViewPr>
    <p:cSldViewPr snapToGrid="0">
      <p:cViewPr varScale="1">
        <p:scale>
          <a:sx n="128" d="100"/>
          <a:sy n="128" d="100"/>
        </p:scale>
        <p:origin x="22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7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ea typeface="Cambria Math" charset="0"/>
              </a:rPr>
              <a:t>SHOW SLIDE ONLY </a:t>
            </a:r>
          </a:p>
          <a:p>
            <a:pPr eaLnBrk="1" hangingPunct="1"/>
            <a:endParaRPr lang="en-US" altLang="en-US" dirty="0">
              <a:ea typeface="Cambria Math" charset="0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01AF69E3-A06B-A446-82F2-C10DFD26C4FD}" type="slidenum">
              <a:rPr lang="en-US" altLang="en-US">
                <a:ea typeface="Cambria Math" charset="0"/>
              </a:rPr>
              <a:pPr/>
              <a:t>3</a:t>
            </a:fld>
            <a:endParaRPr lang="en-US" altLang="en-US" dirty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507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ea typeface="Cambria Math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3B747F03-8508-DF4D-9B1B-25FA7D2D0783}" type="slidenum">
              <a:rPr lang="en-US" altLang="en-US">
                <a:ea typeface="Cambria Math" charset="0"/>
              </a:rPr>
              <a:pPr/>
              <a:t>4</a:t>
            </a:fld>
            <a:endParaRPr lang="en-US" altLang="en-US" dirty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948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>
                <a:ea typeface="Cambria Math" charset="0"/>
              </a:rPr>
              <a:pPr/>
              <a:t>5</a:t>
            </a:fld>
            <a:endParaRPr lang="en-US" altLang="en-US" dirty="0" smtClean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825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70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85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4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>
                <a:ea typeface="Cambria Math" charset="0"/>
              </a:rPr>
              <a:pPr/>
              <a:t>9</a:t>
            </a:fld>
            <a:endParaRPr lang="en-US" altLang="en-US" dirty="0" smtClean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540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>
                <a:ea typeface="Cambria Math" charset="0"/>
              </a:rPr>
              <a:pPr/>
              <a:t>10</a:t>
            </a:fld>
            <a:endParaRPr lang="en-US" altLang="en-US" dirty="0" smtClean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307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211138" y="592138"/>
            <a:ext cx="4502150" cy="34782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241300" y="492125"/>
            <a:ext cx="4491474" cy="3657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3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7650" y="274639"/>
            <a:ext cx="8595313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96333"/>
            <a:ext cx="8576502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5"/>
            <a:ext cx="8595315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5"/>
            <a:ext cx="8604722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Title</a:t>
            </a:r>
          </a:p>
          <a:p>
            <a:pPr lvl="0"/>
            <a:endParaRPr lang="en-US" dirty="0" smtClean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814376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7" y="2896113"/>
            <a:ext cx="8595316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2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 smtClean="0"/>
              <a:t>of the printing and typesetting industry. </a:t>
            </a: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4639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436689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6174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7651" y="274639"/>
            <a:ext cx="6121165" cy="712848"/>
          </a:xfrm>
          <a:prstGeom prst="rect">
            <a:avLst/>
          </a:prstGeom>
        </p:spPr>
        <p:txBody>
          <a:bodyPr/>
          <a:lstStyle>
            <a:lvl1pPr algn="l">
              <a:defRPr lang="en-US" sz="3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3" y="796334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25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6"/>
            <a:ext cx="5095759" cy="432669"/>
          </a:xfrm>
          <a:prstGeom prst="rect">
            <a:avLst/>
          </a:prstGeom>
        </p:spPr>
        <p:txBody>
          <a:bodyPr anchor="ctr"/>
          <a:lstStyle>
            <a:lvl1pPr marL="0" indent="0" algn="l" defTabSz="342900" rtl="0" eaLnBrk="1" latinLnBrk="0" hangingPunct="1">
              <a:lnSpc>
                <a:spcPts val="1050"/>
              </a:lnSpc>
              <a:spcBef>
                <a:spcPct val="20000"/>
              </a:spcBef>
              <a:buFont typeface="Arial"/>
              <a:buNone/>
              <a:defRPr lang="en-US" sz="18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6"/>
            <a:ext cx="4888796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smtClean="0"/>
              <a:t>Title</a:t>
            </a: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4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9" y="2896114"/>
            <a:ext cx="4794723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252351" y="1268453"/>
            <a:ext cx="4611277" cy="3473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35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2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2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05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9" y="1268454"/>
            <a:ext cx="4705350" cy="3562526"/>
          </a:xfrm>
          <a:prstGeom prst="rect">
            <a:avLst/>
          </a:prstGeom>
        </p:spPr>
        <p:txBody>
          <a:bodyPr/>
          <a:lstStyle>
            <a:lvl1pPr marL="214313" indent="-214313">
              <a:buFont typeface="Arial"/>
              <a:buChar char="•"/>
              <a:defRPr sz="15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35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remaining essentially unchanged. </a:t>
            </a:r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104932"/>
            <a:ext cx="4213956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752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8327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3986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323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74638"/>
            <a:ext cx="5691763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Course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268413"/>
            <a:ext cx="497840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4400" kern="1200" dirty="0">
                <a:solidFill>
                  <a:srgbClr val="EEB21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lvl="0"/>
            <a:r>
              <a:rPr lang="en-US"/>
              <a:t>Module Name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435697"/>
            <a:ext cx="4305091" cy="35833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28649" y="4145592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Vitesse Thin" charset="0"/>
                <a:ea typeface="Vitesse Thin" charset="0"/>
                <a:cs typeface="Vitesse Thin" charset="0"/>
              </a:defRPr>
            </a:lvl1pPr>
          </a:lstStyle>
          <a:p>
            <a:pPr lvl="0"/>
            <a:r>
              <a:rPr lang="en-US"/>
              <a:t>Lesson name: e.g. R Examples</a:t>
            </a:r>
          </a:p>
          <a:p>
            <a:pPr lvl="0"/>
            <a:r>
              <a:rPr lang="en-US" err="1"/>
              <a:t>Subname</a:t>
            </a:r>
            <a:r>
              <a:rPr lang="en-US"/>
              <a:t> if applicable (e.g. Part II)</a:t>
            </a:r>
          </a:p>
          <a:p>
            <a:pPr lvl="0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628648" y="2758559"/>
            <a:ext cx="430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i="1">
                <a:latin typeface="Vitesse" charset="0"/>
                <a:ea typeface="Vitesse" charset="0"/>
                <a:cs typeface="Vitesse" charset="0"/>
              </a:rPr>
              <a:t>Title</a:t>
            </a:r>
            <a:r>
              <a:rPr lang="en-US" b="1" i="1" baseline="0">
                <a:latin typeface="Vitesse" charset="0"/>
                <a:ea typeface="Vitesse" charset="0"/>
                <a:cs typeface="Vitesse" charset="0"/>
              </a:rPr>
              <a:t> Goes Here</a:t>
            </a:r>
            <a:endParaRPr lang="en-US" b="1" i="1">
              <a:latin typeface="Vitesse" charset="0"/>
              <a:ea typeface="Vitesse" charset="0"/>
              <a:cs typeface="Vitesse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28648" y="3070264"/>
            <a:ext cx="4305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0" i="0">
                <a:latin typeface="Vitesse Book" charset="0"/>
                <a:ea typeface="Vitesse Book" charset="0"/>
                <a:cs typeface="Vitesse Book" charset="0"/>
              </a:rPr>
              <a:t>School</a:t>
            </a:r>
            <a:r>
              <a:rPr lang="en-US" sz="1600" b="0" i="0" baseline="0">
                <a:latin typeface="Vitesse Book" charset="0"/>
                <a:ea typeface="Vitesse Book" charset="0"/>
                <a:cs typeface="Vitesse Book" charset="0"/>
              </a:rPr>
              <a:t> name goes here</a:t>
            </a:r>
            <a:endParaRPr lang="en-US" sz="1600" b="0" i="0">
              <a:latin typeface="Vitesse Book" charset="0"/>
              <a:ea typeface="Vitesse Book" charset="0"/>
              <a:cs typeface="Vitesse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9563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62843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350119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628650" y="1376363"/>
            <a:ext cx="5078814" cy="32861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5633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85911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01257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7684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7951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22129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26317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3.xml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theme" Target="../theme/theme5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-Background-Shape-02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6" name="Picture 15" descr="honeycomb_gradient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28650" y="274638"/>
            <a:ext cx="4686928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4686928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4400" b="1" i="0" kern="1200">
          <a:solidFill>
            <a:schemeClr val="tx1"/>
          </a:solidFill>
          <a:latin typeface="Vitesse" charset="0"/>
          <a:ea typeface="Vitesse" charset="0"/>
          <a:cs typeface="Vitesse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oneycomb_gradient.png"/>
          <p:cNvPicPr>
            <a:picLocks noChangeAspect="1"/>
          </p:cNvPicPr>
          <p:nvPr userDrawn="1"/>
        </p:nvPicPr>
        <p:blipFill>
          <a:blip r:embed="rId11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4" name="Picture 3" descr="corner-patina.pn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3" y="3510676"/>
            <a:ext cx="941817" cy="16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1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ull-screen-patina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3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-Background-Shape-0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6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rner_logo_blue.pn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2" y="3514154"/>
            <a:ext cx="941818" cy="1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5" r:id="rId2"/>
    <p:sldLayoutId id="2147483668" r:id="rId3"/>
    <p:sldLayoutId id="2147483670" r:id="rId4"/>
    <p:sldLayoutId id="2147483658" r:id="rId5"/>
    <p:sldLayoutId id="2147483649" r:id="rId6"/>
    <p:sldLayoutId id="2147483660" r:id="rId7"/>
    <p:sldLayoutId id="2147483675" r:id="rId8"/>
    <p:sldLayoutId id="2147483676" r:id="rId9"/>
    <p:sldLayoutId id="2147483677" r:id="rId10"/>
    <p:sldLayoutId id="2147483679" r:id="rId11"/>
    <p:sldLayoutId id="2147483680" r:id="rId12"/>
    <p:sldLayoutId id="2147483682" r:id="rId13"/>
    <p:sldLayoutId id="214748368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192005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0351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Regression </a:t>
            </a:r>
            <a:r>
              <a:rPr lang="en-US" dirty="0"/>
              <a:t>Methods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Nicoleta Serban,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Associate 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Regression Analysis: Overview</a:t>
            </a:r>
            <a:endParaRPr lang="en-US" sz="2000" dirty="0"/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720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35118" y="241856"/>
            <a:ext cx="6182318" cy="993775"/>
          </a:xfrm>
        </p:spPr>
        <p:txBody>
          <a:bodyPr/>
          <a:lstStyle/>
          <a:p>
            <a:r>
              <a:rPr lang="en-US" sz="3600" dirty="0"/>
              <a:t>About </a:t>
            </a:r>
            <a:r>
              <a:rPr lang="en-US" sz="3600" dirty="0" smtClean="0"/>
              <a:t>this lesson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49" y="1268454"/>
            <a:ext cx="4914900" cy="187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8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ChangeArrowheads="1"/>
          </p:cNvSpPr>
          <p:nvPr/>
        </p:nvSpPr>
        <p:spPr bwMode="auto">
          <a:xfrm>
            <a:off x="448403" y="239085"/>
            <a:ext cx="83722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 Bold"/>
                <a:ea typeface="Vitesse" charset="0"/>
                <a:cs typeface="Vitesse" charset="0"/>
              </a:rPr>
              <a:t>Simple Linear </a:t>
            </a:r>
            <a:r>
              <a:rPr lang="en-US" altLang="en-US" sz="3600" dirty="0" smtClean="0">
                <a:latin typeface="Vitesse Bold"/>
                <a:ea typeface="Vitesse" charset="0"/>
                <a:cs typeface="Vitesse" charset="0"/>
              </a:rPr>
              <a:t>Regression</a:t>
            </a:r>
            <a:endParaRPr lang="en-US" altLang="en-US" sz="3600" dirty="0">
              <a:latin typeface="Vitesse Bold"/>
              <a:ea typeface="Vitesse" charset="0"/>
              <a:cs typeface="Vitesse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Text Box 3"/>
              <p:cNvSpPr txBox="1">
                <a:spLocks noChangeArrowheads="1"/>
              </p:cNvSpPr>
              <p:nvPr/>
            </p:nvSpPr>
            <p:spPr bwMode="auto">
              <a:xfrm>
                <a:off x="476007" y="1060788"/>
                <a:ext cx="5772150" cy="723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Aft>
                    <a:spcPts val="600"/>
                  </a:spcAft>
                  <a:defRPr/>
                </a:pPr>
                <a:r>
                  <a:rPr lang="en-US" altLang="en-US" sz="1800" b="1" dirty="0">
                    <a:latin typeface="Helvetica Neue" charset="0"/>
                    <a:ea typeface="Helvetica Neue" charset="0"/>
                    <a:cs typeface="Helvetica Neue" charset="0"/>
                  </a:rPr>
                  <a:t>Data</a:t>
                </a:r>
                <a:r>
                  <a:rPr lang="en-US" altLang="en-US" sz="1800" dirty="0">
                    <a:latin typeface="Helvetica Neue" charset="0"/>
                    <a:ea typeface="Helvetica Neue" charset="0"/>
                    <a:cs typeface="Helvetica Neue" charset="0"/>
                  </a:rPr>
                  <a:t>: 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{(x</a:t>
                </a:r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,Y</a:t>
                </a:r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),….,(</a:t>
                </a:r>
                <a:r>
                  <a:rPr lang="en-US" altLang="en-US" sz="1800" dirty="0" err="1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1800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n</a:t>
                </a:r>
                <a:r>
                  <a:rPr lang="en-US" altLang="en-US" sz="1800" dirty="0" err="1">
                    <a:latin typeface="Cambria Math" charset="0"/>
                    <a:ea typeface="Cambria Math" charset="0"/>
                    <a:cs typeface="Cambria Math" charset="0"/>
                  </a:rPr>
                  <a:t>,Y</a:t>
                </a:r>
                <a:r>
                  <a:rPr lang="en-US" altLang="en-US" sz="1800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n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)} </a:t>
                </a:r>
                <a:endParaRPr lang="en-US" altLang="en-US" sz="1800" dirty="0">
                  <a:ea typeface="Cambria Math" charset="0"/>
                </a:endParaRPr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altLang="en-US" sz="1800" b="1" dirty="0">
                    <a:ea typeface="Cambria Math" charset="0"/>
                  </a:rPr>
                  <a:t>M</a:t>
                </a:r>
                <a:r>
                  <a:rPr lang="en-US" altLang="en-US" sz="1800" b="1" dirty="0" smtClean="0">
                    <a:latin typeface="Helvetica" charset="0"/>
                    <a:ea typeface="Helvetica" charset="0"/>
                    <a:cs typeface="Helvetica" charset="0"/>
                  </a:rPr>
                  <a:t>odel</a:t>
                </a:r>
                <a:r>
                  <a:rPr lang="en-US" altLang="en-US" sz="1800" dirty="0">
                    <a:latin typeface="Helvetica" charset="0"/>
                    <a:ea typeface="Helvetica" charset="0"/>
                    <a:cs typeface="Helvetica" charset="0"/>
                  </a:rPr>
                  <a:t>: 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0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</m:oMath>
                </a14:m>
                <a:r>
                  <a:rPr lang="en-US" altLang="en-US" sz="1800" baseline="-250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ambria Math" charset="0"/>
                    <a:ea typeface="Cambria Math" charset="0"/>
                    <a:cs typeface="Cambria Math" charset="0"/>
                  </a:rPr>
                  <a:t>, </a:t>
                </a:r>
                <a:r>
                  <a:rPr lang="en-US" altLang="en-US" sz="1800" dirty="0" err="1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 =1,…,n</a:t>
                </a:r>
              </a:p>
            </p:txBody>
          </p:sp>
        </mc:Choice>
        <mc:Fallback xmlns="">
          <p:sp>
            <p:nvSpPr>
              <p:cNvPr id="8195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007" y="1060788"/>
                <a:ext cx="5772150" cy="723275"/>
              </a:xfrm>
              <a:prstGeom prst="rect">
                <a:avLst/>
              </a:prstGeom>
              <a:blipFill>
                <a:blip r:embed="rId3"/>
                <a:stretch>
                  <a:fillRect l="-845" t="-5882" b="-1428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476007" y="1863631"/>
            <a:ext cx="7710721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b="1" dirty="0" smtClean="0">
                <a:latin typeface="Helvetica Neue" charset="0"/>
                <a:ea typeface="Helvetica Neue" charset="0"/>
                <a:cs typeface="Helvetica Neue" charset="0"/>
              </a:rPr>
              <a:t>Assumptions</a:t>
            </a: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:</a:t>
            </a:r>
            <a:r>
              <a:rPr lang="en-US" altLang="en-US" sz="2000" b="1" dirty="0">
                <a:latin typeface="Helvetica Neue" charset="0"/>
                <a:ea typeface="Helvetica Neue" charset="0"/>
                <a:cs typeface="Helvetica Neue" charset="0"/>
              </a:rPr>
              <a:t> 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Cambria Math" charset="0"/>
              </a:rPr>
              <a:t>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Linearity/Mean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Zero Assumption 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E(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0</a:t>
            </a:r>
            <a:endParaRPr lang="en-US" altLang="en-US" dirty="0" smtClean="0">
              <a:latin typeface="Times New Roman" panose="02020603050405020304" pitchFamily="18" charset="0"/>
              <a:ea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i="1" dirty="0">
                <a:latin typeface="Times New Roman" panose="02020603050405020304" pitchFamily="18" charset="0"/>
                <a:ea typeface="Cambria Math" charset="0"/>
                <a:cs typeface="Helvetica Neue" charset="0"/>
              </a:rPr>
              <a:t>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Constant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Variance 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Var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s</a:t>
            </a:r>
            <a:r>
              <a:rPr lang="en-US" altLang="en-US" baseline="30000" dirty="0" smtClean="0">
                <a:latin typeface="Cambria Math" charset="0"/>
                <a:ea typeface="Cambria Math" charset="0"/>
                <a:cs typeface="Cambria Math" charset="0"/>
              </a:rPr>
              <a:t>2</a:t>
            </a:r>
            <a:endParaRPr lang="en-US" altLang="en-US" baseline="30000" dirty="0" smtClean="0">
              <a:latin typeface="Times New Roman" panose="02020603050405020304" pitchFamily="18" charset="0"/>
              <a:ea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 Independence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,…,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r>
              <a:rPr lang="en-US" altLang="en-US" dirty="0">
                <a:latin typeface="Times New Roman" panose="02020603050405020304" pitchFamily="18" charset="0"/>
                <a:ea typeface="Cambria Math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are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independent random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variables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 Normality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~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Normal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31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201" name="Rectangle 9"/>
              <p:cNvSpPr>
                <a:spLocks noChangeArrowheads="1"/>
              </p:cNvSpPr>
              <p:nvPr/>
            </p:nvSpPr>
            <p:spPr bwMode="auto">
              <a:xfrm>
                <a:off x="476007" y="1950356"/>
                <a:ext cx="7819795" cy="1878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 Neue"/>
                    <a:ea typeface="Helvetica" charset="0"/>
                    <a:cs typeface="Helvetica" charset="0"/>
                  </a:rPr>
                  <a:t>Assumptions</a:t>
                </a:r>
                <a:r>
                  <a:rPr lang="en-US" altLang="en-US" dirty="0">
                    <a:latin typeface="Helvetica Neue"/>
                    <a:ea typeface="Helvetica" charset="0"/>
                    <a:cs typeface="Helvetica" charset="0"/>
                  </a:rPr>
                  <a:t>:  </a:t>
                </a:r>
                <a:endParaRPr lang="en-US" altLang="en-US" dirty="0" smtClean="0">
                  <a:latin typeface="Helvetica Neue"/>
                  <a:ea typeface="Helvetica" charset="0"/>
                  <a:cs typeface="Helvetica" charset="0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 smtClean="0">
                    <a:latin typeface="Helvetica Neue"/>
                    <a:ea typeface="Helvetica" charset="0"/>
                    <a:cs typeface="Helvetica" charset="0"/>
                  </a:rPr>
                  <a:t> </a:t>
                </a:r>
                <a:r>
                  <a:rPr lang="en-US" altLang="en-US" i="1" dirty="0" smtClean="0">
                    <a:latin typeface="Helvetica Neue"/>
                    <a:ea typeface="Cambria Math" charset="0"/>
                    <a:cs typeface="Cambria Math" charset="0"/>
                  </a:rPr>
                  <a:t>Constant </a:t>
                </a:r>
                <a:r>
                  <a:rPr lang="en-US" altLang="en-US" i="1" dirty="0">
                    <a:latin typeface="Helvetica Neue"/>
                    <a:ea typeface="Cambria Math" charset="0"/>
                    <a:cs typeface="Cambria Math" charset="0"/>
                  </a:rPr>
                  <a:t>Variance Assumption</a:t>
                </a:r>
                <a:r>
                  <a:rPr lang="en-US" altLang="en-US" dirty="0">
                    <a:latin typeface="Cambria Math" charset="0"/>
                    <a:ea typeface="Cambria Math" charset="0"/>
                    <a:cs typeface="Cambria Math" charset="0"/>
                  </a:rPr>
                  <a:t>: </a:t>
                </a:r>
                <a:r>
                  <a:rPr lang="en-US" altLang="en-US" dirty="0" err="1" smtClean="0">
                    <a:latin typeface="Cambria Math" charset="0"/>
                    <a:ea typeface="Cambria Math" charset="0"/>
                    <a:cs typeface="Cambria Math" charset="0"/>
                  </a:rPr>
                  <a:t>Var</a:t>
                </a:r>
                <a:r>
                  <a:rPr lang="en-US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0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ε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0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US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) </a:t>
                </a:r>
                <a:r>
                  <a:rPr lang="en-US" altLang="en-US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altLang="en-US" sz="2000" baseline="30000" dirty="0" smtClean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dirty="0" smtClean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i="1" dirty="0" smtClean="0">
                    <a:latin typeface="Helvetica Neue" charset="0"/>
                    <a:ea typeface="Helvetica Neue" charset="0"/>
                    <a:cs typeface="Helvetica Neue" charset="0"/>
                  </a:rPr>
                  <a:t>Independence Assumption</a:t>
                </a:r>
                <a:r>
                  <a:rPr lang="en-US" altLang="en-US" dirty="0" smtClean="0">
                    <a:latin typeface="Helvetica Neue" charset="0"/>
                    <a:ea typeface="Helvetica Neue" charset="0"/>
                    <a:cs typeface="Helvetica Neue" charset="0"/>
                  </a:rPr>
                  <a:t>: </a:t>
                </a:r>
                <a:r>
                  <a:rPr lang="en-US" altLang="en-US" dirty="0">
                    <a:latin typeface="Cambria Math" charset="0"/>
                    <a:ea typeface="Cambria Math" charset="0"/>
                    <a:cs typeface="Cambria Math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>
                    <a:latin typeface="Cambria Math" charset="0"/>
                    <a:ea typeface="Cambria Math" charset="0"/>
                    <a:cs typeface="Cambria Math" charset="0"/>
                  </a:rPr>
                  <a:t>1j</a:t>
                </a:r>
                <a:r>
                  <a:rPr lang="en-US" altLang="en-US" dirty="0">
                    <a:latin typeface="Cambria Math" charset="0"/>
                    <a:ea typeface="Cambria Math" charset="0"/>
                    <a:cs typeface="Cambria Math" charset="0"/>
                  </a:rPr>
                  <a:t>,…,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nj</a:t>
                </a:r>
                <a:r>
                  <a:rPr lang="en-US" altLang="en-US" dirty="0">
                    <a:latin typeface="Cambria Math" charset="0"/>
                    <a:ea typeface="Cambria Math" charset="0"/>
                    <a:cs typeface="Cambria Math" charset="0"/>
                  </a:rPr>
                  <a:t>}</a:t>
                </a:r>
                <a:r>
                  <a:rPr lang="en-US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are </a:t>
                </a:r>
                <a:r>
                  <a:rPr lang="en-US" altLang="en-US" dirty="0" smtClean="0">
                    <a:latin typeface="Helvetica Neue" charset="0"/>
                    <a:ea typeface="Helvetica Neue" charset="0"/>
                    <a:cs typeface="Helvetica Neue" charset="0"/>
                  </a:rPr>
                  <a:t>independent 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random </a:t>
                </a:r>
                <a:r>
                  <a:rPr lang="en-US" altLang="en-US" dirty="0" smtClean="0">
                    <a:latin typeface="Helvetica Neue" charset="0"/>
                    <a:ea typeface="Helvetica Neue" charset="0"/>
                    <a:cs typeface="Helvetica Neue" charset="0"/>
                  </a:rPr>
                  <a:t>variables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i="1" dirty="0" smtClean="0">
                    <a:latin typeface="Helvetica Neue" charset="0"/>
                    <a:ea typeface="Helvetica Neue" charset="0"/>
                    <a:cs typeface="Helvetica Neue" charset="0"/>
                  </a:rPr>
                  <a:t>Normality </a:t>
                </a:r>
                <a:r>
                  <a:rPr lang="en-US" altLang="en-US" i="1" dirty="0">
                    <a:latin typeface="Helvetica Neue" charset="0"/>
                    <a:ea typeface="Helvetica Neue" charset="0"/>
                    <a:cs typeface="Helvetica Neue" charset="0"/>
                  </a:rPr>
                  <a:t>Assumption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ε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US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US" altLang="en-US" dirty="0">
                    <a:latin typeface="Cambria Math" charset="0"/>
                    <a:ea typeface="Cambria Math" charset="0"/>
                    <a:cs typeface="Cambria Math" charset="0"/>
                  </a:rPr>
                  <a:t>~ Normal(0,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altLang="en-US" sz="2000" baseline="30000" dirty="0" smtClean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US" altLang="en-US" dirty="0">
                    <a:latin typeface="Cambria Math" charset="0"/>
                    <a:ea typeface="Cambria Math" charset="0"/>
                    <a:cs typeface="Cambria Math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201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007" y="1950356"/>
                <a:ext cx="7819795" cy="1878143"/>
              </a:xfrm>
              <a:prstGeom prst="rect">
                <a:avLst/>
              </a:prstGeom>
              <a:blipFill>
                <a:blip r:embed="rId3"/>
                <a:stretch>
                  <a:fillRect l="-624" t="-1948" b="-129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6007" y="220417"/>
            <a:ext cx="8174661" cy="993775"/>
          </a:xfrm>
        </p:spPr>
        <p:txBody>
          <a:bodyPr/>
          <a:lstStyle/>
          <a:p>
            <a:r>
              <a:rPr kumimoji="1" lang="en-US" altLang="zh-CN" sz="3600" dirty="0" smtClean="0"/>
              <a:t> ANOVA</a:t>
            </a:r>
            <a:endParaRPr kumimoji="1" lang="zh-CN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76007" y="1112883"/>
                <a:ext cx="5754646" cy="793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kumimoji="1" lang="en-US" altLang="zh-CN" b="1" dirty="0" smtClean="0">
                    <a:latin typeface="Helvetica" charset="0"/>
                    <a:ea typeface="Helvetica" charset="0"/>
                    <a:cs typeface="Helvetica" charset="0"/>
                  </a:rPr>
                  <a:t>Data</a:t>
                </a:r>
                <a:r>
                  <a:rPr kumimoji="1" lang="en-US" altLang="zh-CN" dirty="0" smtClean="0">
                    <a:latin typeface="Helvetica" charset="0"/>
                    <a:ea typeface="Helvetica" charset="0"/>
                    <a:cs typeface="Helvetica" charset="0"/>
                  </a:rPr>
                  <a:t>:</a:t>
                </a:r>
                <a:r>
                  <a:rPr kumimoji="1" lang="zh-CN" altLang="en-US" dirty="0" smtClean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kumimoji="1" lang="en-US" altLang="zh-CN" dirty="0" err="1" smtClean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kumimoji="1" lang="en-US" altLang="zh-CN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ij</a:t>
                </a:r>
                <a:r>
                  <a:rPr kumimoji="1" lang="en-US" altLang="zh-CN" baseline="-250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dirty="0" smtClean="0">
                    <a:latin typeface="Helvetica Neue" charset="0"/>
                    <a:ea typeface="Helvetica Neue" charset="0"/>
                    <a:cs typeface="Helvetica Neue" charset="0"/>
                  </a:rPr>
                  <a:t>for</a:t>
                </a:r>
                <a:r>
                  <a:rPr kumimoji="1" lang="en-US" altLang="zh-CN" dirty="0" smtClean="0">
                    <a:latin typeface="Cambria Math" charset="0"/>
                    <a:ea typeface="Cambria Math" charset="0"/>
                    <a:cs typeface="Cambria Math" charset="0"/>
                  </a:rPr>
                  <a:t> j</a:t>
                </a:r>
                <a:r>
                  <a:rPr kumimoji="1" lang="zh-CN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kumimoji="1" lang="zh-CN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dirty="0" smtClean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kumimoji="1" lang="zh-CN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，</a:t>
                </a:r>
                <a:r>
                  <a:rPr kumimoji="1" lang="en-US" altLang="zh-CN" dirty="0" smtClean="0">
                    <a:latin typeface="Cambria Math" charset="0"/>
                    <a:ea typeface="Cambria Math" charset="0"/>
                    <a:cs typeface="Cambria Math" charset="0"/>
                  </a:rPr>
                  <a:t>…</a:t>
                </a:r>
                <a:r>
                  <a:rPr kumimoji="1" lang="zh-CN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，</a:t>
                </a:r>
                <a:r>
                  <a:rPr kumimoji="1" lang="en-US" altLang="zh-CN" dirty="0" err="1" smtClean="0">
                    <a:latin typeface="Cambria Math" charset="0"/>
                    <a:ea typeface="Cambria Math" charset="0"/>
                    <a:cs typeface="Cambria Math" charset="0"/>
                  </a:rPr>
                  <a:t>n</a:t>
                </a:r>
                <a:r>
                  <a:rPr kumimoji="1" lang="en-US" altLang="zh-CN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kumimoji="1" lang="en-US" altLang="zh-CN" dirty="0" smtClean="0">
                    <a:latin typeface="Cambria Math" charset="0"/>
                    <a:ea typeface="Cambria Math" charset="0"/>
                    <a:cs typeface="Cambria Math" charset="0"/>
                  </a:rPr>
                  <a:t>;</a:t>
                </a:r>
                <a:r>
                  <a:rPr kumimoji="1" lang="zh-CN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kumimoji="1" lang="zh-CN" altLang="en-US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kumimoji="1" lang="zh-CN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dirty="0" smtClean="0">
                    <a:latin typeface="Cambria Math" charset="0"/>
                    <a:ea typeface="Cambria Math" charset="0"/>
                    <a:cs typeface="Cambria Math" charset="0"/>
                  </a:rPr>
                  <a:t>1,…, k</a:t>
                </a:r>
                <a:endParaRPr kumimoji="1" lang="en-US" altLang="zh-CN" b="1" dirty="0" smtClean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kumimoji="1" lang="en-US" altLang="zh-CN" b="1" dirty="0" smtClean="0">
                    <a:latin typeface="Helvetica" charset="0"/>
                    <a:ea typeface="Helvetica" charset="0"/>
                    <a:cs typeface="Helvetica" charset="0"/>
                  </a:rPr>
                  <a:t>Model</a:t>
                </a:r>
                <a:r>
                  <a:rPr kumimoji="1" lang="en-US" altLang="zh-CN" dirty="0" smtClean="0">
                    <a:latin typeface="Helvetica" charset="0"/>
                    <a:ea typeface="Helvetica" charset="0"/>
                    <a:cs typeface="Helvetica" charset="0"/>
                  </a:rPr>
                  <a:t>:</a:t>
                </a:r>
                <a:r>
                  <a:rPr kumimoji="1" lang="zh-CN" altLang="en-US" dirty="0" smtClean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kumimoji="1" lang="en-US" altLang="zh-CN" dirty="0" err="1" smtClean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kumimoji="1" lang="en-US" altLang="zh-CN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ij</a:t>
                </a:r>
                <a:r>
                  <a:rPr kumimoji="1" lang="zh-CN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kumimoji="1" lang="zh-CN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μ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</m:sub>
                    </m:sSub>
                    <m:r>
                      <a:rPr kumimoji="1" lang="mr-IN" altLang="zh-CN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ε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kumimoji="1" lang="zh-CN" altLang="en-US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dirty="0" smtClean="0">
                    <a:latin typeface="Helvetica Neue"/>
                    <a:ea typeface="Cambria Math" charset="0"/>
                    <a:cs typeface="Cambria Math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mtClean="0">
                            <a:latin typeface="Helvetica Neue"/>
                            <a:ea typeface="Cambria Math" charset="0"/>
                            <a:cs typeface="Cambria Math" charset="0"/>
                          </a:rPr>
                          <m:t>ε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>
                            <a:latin typeface="Helvetica Neue"/>
                            <a:ea typeface="Cambria Math" charset="0"/>
                            <a:cs typeface="Cambria Math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kumimoji="1" lang="en-US" altLang="zh-CN" smtClean="0">
                            <a:latin typeface="Helvetica Neue"/>
                            <a:ea typeface="Cambria Math" charset="0"/>
                            <a:cs typeface="Cambria Math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Helvetica Neue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dirty="0">
                    <a:latin typeface="Helvetica Neue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dirty="0" smtClean="0">
                    <a:latin typeface="Helvetica Neue"/>
                    <a:ea typeface="Cambria Math" charset="0"/>
                    <a:cs typeface="Cambria Math" charset="0"/>
                  </a:rPr>
                  <a:t>is an error term</a:t>
                </a:r>
                <a:endParaRPr kumimoji="1" lang="zh-CN" altLang="en-US" dirty="0">
                  <a:latin typeface="Helvetica Neue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07" y="1112883"/>
                <a:ext cx="5754646" cy="793807"/>
              </a:xfrm>
              <a:prstGeom prst="rect">
                <a:avLst/>
              </a:prstGeom>
              <a:blipFill>
                <a:blip r:embed="rId4"/>
                <a:stretch>
                  <a:fillRect l="-847" t="-6154" b="-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48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476006" y="1085299"/>
            <a:ext cx="6534394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}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pPr>
              <a:spcAft>
                <a:spcPts val="600"/>
              </a:spcAft>
            </a:pP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Model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0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i1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+…+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p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=1,…,n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476005" y="1961145"/>
            <a:ext cx="768392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Assumptions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</a:t>
            </a:r>
            <a:r>
              <a:rPr lang="en-US" altLang="en-US" sz="2000" dirty="0">
                <a:latin typeface="Helvetica Neue" charset="0"/>
                <a:ea typeface="Helvetica Neue" charset="0"/>
                <a:cs typeface="Helvetica Neue" charset="0"/>
              </a:rPr>
              <a:t> 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Linearity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/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Mean Zero Assumption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E(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0</a:t>
            </a:r>
            <a:endParaRPr lang="en-US" altLang="en-US" dirty="0">
              <a:latin typeface="Times New Roman" panose="02020603050405020304" pitchFamily="18" charset="0"/>
              <a:ea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Constant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Variance 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Var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s</a:t>
            </a:r>
            <a:r>
              <a:rPr lang="en-US" altLang="en-US" baseline="30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endParaRPr lang="en-US" altLang="en-US" baseline="30000" dirty="0">
              <a:latin typeface="Times New Roman" panose="02020603050405020304" pitchFamily="18" charset="0"/>
              <a:ea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Independence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,…,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r>
              <a:rPr lang="en-US" altLang="en-US" dirty="0">
                <a:latin typeface="Times New Roman" panose="02020603050405020304" pitchFamily="18" charset="0"/>
                <a:ea typeface="Cambria Math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are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independent random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variables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 Normality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~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Normal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789" y="236670"/>
            <a:ext cx="8638433" cy="993775"/>
          </a:xfrm>
        </p:spPr>
        <p:txBody>
          <a:bodyPr/>
          <a:lstStyle/>
          <a:p>
            <a:r>
              <a:rPr lang="en-US" altLang="zh-CN" sz="3600" dirty="0" smtClean="0"/>
              <a:t>Multiple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Linear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Regression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2746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07" y="166845"/>
            <a:ext cx="8562392" cy="993775"/>
          </a:xfrm>
        </p:spPr>
        <p:txBody>
          <a:bodyPr/>
          <a:lstStyle/>
          <a:p>
            <a:pPr algn="l"/>
            <a:r>
              <a:rPr lang="en-US" sz="3600" dirty="0"/>
              <a:t>Logistic </a:t>
            </a:r>
            <a:r>
              <a:rPr lang="en-US" sz="3600" dirty="0" smtClean="0"/>
              <a:t>Regression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549647" y="1451765"/>
                <a:ext cx="8246978" cy="1630779"/>
              </a:xfrm>
              <a:prstGeom prst="rect">
                <a:avLst/>
              </a:prstGeom>
            </p:spPr>
            <p:txBody>
              <a:bodyPr vert="horz" lIns="0" tIns="34290" rIns="0" bIns="34290" rtlCol="0">
                <a:no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 smtClean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Model</a:t>
                </a:r>
                <a:r>
                  <a:rPr lang="en-US" sz="1800" dirty="0" smtClean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: Probability </a:t>
                </a:r>
                <a:r>
                  <a:rPr lang="en-US" sz="1800" dirty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of success given predictor(s</a:t>
                </a:r>
                <a:r>
                  <a:rPr lang="en-US" sz="1800" dirty="0" smtClean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i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p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en-US" sz="1800" dirty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en-US" sz="1800" baseline="-25000" dirty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,…,</m:t>
                          </m:r>
                          <m:r>
                            <m:rPr>
                              <m:nor/>
                            </m:rPr>
                            <a:rPr lang="en-US" altLang="en-US" sz="1800" dirty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en-US" sz="1800" baseline="-25000" dirty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p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en-US" sz="1800" b="0" i="0" baseline="-25000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P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=1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en-US" sz="1800" dirty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en-US" sz="1800" baseline="-25000" dirty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1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,…,</m:t>
                      </m:r>
                      <m:r>
                        <m:rPr>
                          <m:nor/>
                        </m:rPr>
                        <a:rPr lang="en-US" altLang="en-US" sz="1800" dirty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en-US" sz="1800" baseline="-25000" dirty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p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}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800" dirty="0" smtClean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  link </a:t>
                </a:r>
                <a:r>
                  <a:rPr lang="en-US" sz="1800" i="1" dirty="0" smtClean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p</a:t>
                </a:r>
                <a:r>
                  <a:rPr lang="en-US" sz="1800" dirty="0" smtClean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 to the predicting variables through </a:t>
                </a:r>
                <a:r>
                  <a:rPr lang="en-US" sz="1800" b="1" i="1" dirty="0" smtClean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logit</a:t>
                </a:r>
                <a:r>
                  <a:rPr lang="en-US" sz="1800" dirty="0" smtClean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800" i="1" dirty="0" smtClean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link function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 smtClean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funcPr>
                          <m:fName>
                            <m:func>
                              <m:func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nor/>
                                  </m:rPr>
                                  <a:rPr lang="en-US" sz="1800" i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g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800" i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p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i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i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en-US" sz="1800" i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  <m:t>p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nor/>
                                          </m:rPr>
                                          <a:rPr lang="en-US" sz="1800" i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  <m:t>1−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800" i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  <m:t>p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fName>
                          <m:e>
                            <m:r>
                              <m:rPr>
                                <m:nor/>
                              </m:rPr>
                              <a:rPr lang="en-US" sz="1800" b="0" i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=</m:t>
                            </m:r>
                          </m:e>
                        </m:func>
                        <m:r>
                          <m:rPr>
                            <m:nor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Helvetica Neue" charset="0"/>
                            <a:ea typeface="Helvetica Neue" charset="0"/>
                            <a:cs typeface="Helvetica Neue" charset="0"/>
                          </a:rPr>
                          <m:t>β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800" i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Helvetica Neue" charset="0"/>
                            <a:ea typeface="Helvetica Neue" charset="0"/>
                            <a:cs typeface="Helvetica Neue" charset="0"/>
                          </a:rPr>
                          <m:t>β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i="0" dirty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i="0" baseline="-25000" dirty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Helvetica Neue" charset="0"/>
                            <a:ea typeface="Helvetica Neue" charset="0"/>
                            <a:cs typeface="Helvetica Neue" charset="0"/>
                          </a:rPr>
                          <m:t>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p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="0" i="0" baseline="-25000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p</m:t>
                    </m:r>
                  </m:oMath>
                </a14:m>
                <a:endParaRPr lang="en-US" sz="1800" baseline="-25000" dirty="0" smtClean="0">
                  <a:solidFill>
                    <a:schemeClr val="tx1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47" y="1451765"/>
                <a:ext cx="8246978" cy="1630779"/>
              </a:xfrm>
              <a:prstGeom prst="rect">
                <a:avLst/>
              </a:prstGeom>
              <a:blipFill>
                <a:blip r:embed="rId3"/>
                <a:stretch>
                  <a:fillRect l="-1700" t="-4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476007" y="975954"/>
            <a:ext cx="8394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where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smtClean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binary responses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76007" y="2856451"/>
                <a:ext cx="8023830" cy="19193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 dirty="0">
                    <a:latin typeface="Helvetica Neue" charset="0"/>
                    <a:ea typeface="Helvetica Neue" charset="0"/>
                    <a:cs typeface="Helvetica Neue" charset="0"/>
                  </a:rPr>
                  <a:t>Assumptions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:  </a:t>
                </a: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i="1" dirty="0" smtClean="0">
                    <a:latin typeface="Helvetica Neue" charset="0"/>
                    <a:ea typeface="Helvetica Neue" charset="0"/>
                    <a:cs typeface="Helvetica Neue" charset="0"/>
                  </a:rPr>
                  <a:t>Linearity </a:t>
                </a:r>
                <a:r>
                  <a:rPr lang="en-US" altLang="en-US" i="1" dirty="0">
                    <a:latin typeface="Helvetica Neue" charset="0"/>
                    <a:ea typeface="Helvetica Neue" charset="0"/>
                    <a:cs typeface="Helvetica Neue" charset="0"/>
                  </a:rPr>
                  <a:t>Assumption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nor/>
                          </m:rPr>
                          <a:rPr lang="en-US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g</m:t>
                        </m:r>
                      </m:fName>
                      <m:e>
                        <m:r>
                          <m:rPr>
                            <m:nor/>
                          </m:rPr>
                          <a:rPr lang="en-US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{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p</m:t>
                        </m:r>
                        <m:d>
                          <m:dPr>
                            <m:ctrlP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en-US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altLang="en-US" baseline="-25000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,…,</m:t>
                            </m:r>
                            <m:r>
                              <m:rPr>
                                <m:nor/>
                              </m:rPr>
                              <a:rPr lang="en-US" altLang="en-US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altLang="en-US" baseline="-25000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p</m:t>
                            </m:r>
                          </m:e>
                        </m:d>
                      </m:e>
                    </m:func>
                    <m:r>
                      <m:rPr>
                        <m:nor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} =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Helvetica Neue" charset="0"/>
                            <a:ea typeface="Helvetica Neue" charset="0"/>
                            <a:cs typeface="Helvetica Neue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Helvetica Neue" charset="0"/>
                        <a:cs typeface="Helvetica Neue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Helvetica Neue" charset="0"/>
                            <a:ea typeface="Helvetica Neue" charset="0"/>
                            <a:cs typeface="Helvetica Neue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Cambria Math" charset="0"/>
                    <a:ea typeface="Cambria Math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Helvetica Neue" charset="0"/>
                            <a:ea typeface="Helvetica Neue" charset="0"/>
                            <a:cs typeface="Helvetica Neue" charset="0"/>
                          </a:rPr>
                          <m:t>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p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p</m:t>
                    </m:r>
                  </m:oMath>
                </a14:m>
                <a:endParaRPr lang="en-US" altLang="en-US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 smtClean="0">
                    <a:latin typeface="Helvetica Neue" charset="0"/>
                    <a:ea typeface="Helvetica Neue" charset="0"/>
                    <a:cs typeface="Helvetica Neue" charset="0"/>
                  </a:rPr>
                  <a:t> Independence</a:t>
                </a:r>
                <a:r>
                  <a:rPr lang="en-US" altLang="en-US" dirty="0" smtClean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i="1" dirty="0">
                    <a:latin typeface="Helvetica Neue" charset="0"/>
                    <a:ea typeface="Helvetica Neue" charset="0"/>
                    <a:cs typeface="Helvetica Neue" charset="0"/>
                  </a:rPr>
                  <a:t>Assumption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: </a:t>
                </a:r>
                <a:r>
                  <a:rPr lang="en-US" altLang="en-US" dirty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lang="en-US" altLang="en-US" baseline="-25000" dirty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dirty="0">
                    <a:latin typeface="Cambria Math" charset="0"/>
                    <a:ea typeface="Cambria Math" charset="0"/>
                    <a:cs typeface="Cambria Math" charset="0"/>
                  </a:rPr>
                  <a:t>,.., </a:t>
                </a:r>
                <a:r>
                  <a:rPr lang="en-US" altLang="en-US" dirty="0" err="1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lang="en-US" altLang="en-US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n</a:t>
                </a:r>
                <a:r>
                  <a:rPr lang="en-US" altLang="en-US" baseline="-250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are independent random </a:t>
                </a:r>
                <a:r>
                  <a:rPr lang="en-US" altLang="en-US" dirty="0" smtClean="0">
                    <a:latin typeface="Helvetica Neue" charset="0"/>
                    <a:ea typeface="Helvetica Neue" charset="0"/>
                    <a:cs typeface="Helvetica Neue" charset="0"/>
                  </a:rPr>
                  <a:t>variables</a:t>
                </a: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 smtClean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i="1" dirty="0">
                    <a:latin typeface="Helvetica Neue" charset="0"/>
                    <a:ea typeface="Helvetica Neue" charset="0"/>
                    <a:cs typeface="Helvetica Neue" charset="0"/>
                  </a:rPr>
                  <a:t>Logit link function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:</a:t>
                </a:r>
                <a:r>
                  <a:rPr lang="en-US" altLang="en-US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nor/>
                          </m:rPr>
                          <a:rPr lang="en-US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g</m:t>
                        </m:r>
                        <m:d>
                          <m:dPr>
                            <m:ctrlP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p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p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1−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p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07" y="2856451"/>
                <a:ext cx="8023830" cy="1919308"/>
              </a:xfrm>
              <a:prstGeom prst="rect">
                <a:avLst/>
              </a:prstGeom>
              <a:blipFill>
                <a:blip r:embed="rId4"/>
                <a:stretch>
                  <a:fillRect l="-608" t="-1911" b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823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07" y="248572"/>
            <a:ext cx="8280166" cy="658479"/>
          </a:xfrm>
        </p:spPr>
        <p:txBody>
          <a:bodyPr/>
          <a:lstStyle/>
          <a:p>
            <a:pPr algn="l"/>
            <a:r>
              <a:rPr lang="en-US" sz="3600" dirty="0" smtClean="0">
                <a:latin typeface="Vitesse Bold"/>
              </a:rPr>
              <a:t>Poisson Regression</a:t>
            </a:r>
            <a:endParaRPr lang="en-US" sz="3600" dirty="0">
              <a:latin typeface="Vitesse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584181" y="1614035"/>
                <a:ext cx="7697669" cy="2914126"/>
              </a:xfrm>
              <a:prstGeom prst="rect">
                <a:avLst/>
              </a:prstGeom>
            </p:spPr>
            <p:txBody>
              <a:bodyPr vert="horz" lIns="0" tIns="34290" rIns="0" bIns="3429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 smtClean="0">
                    <a:solidFill>
                      <a:schemeClr val="tx1"/>
                    </a:solidFill>
                    <a:latin typeface="Helvetica Neue"/>
                  </a:rPr>
                  <a:t>Model</a:t>
                </a:r>
                <a:r>
                  <a:rPr lang="en-US" sz="1800" dirty="0">
                    <a:latin typeface="Helvetica Neue"/>
                  </a:rPr>
                  <a:t>: </a:t>
                </a:r>
                <a:r>
                  <a:rPr lang="en-US" sz="1800" dirty="0" smtClean="0">
                    <a:latin typeface="Helvetica Neue"/>
                  </a:rPr>
                  <a:t>Model the conditional expectation</a:t>
                </a:r>
                <a:r>
                  <a:rPr lang="en-US" sz="1800" b="1" dirty="0" smtClean="0">
                    <a:latin typeface="Helvetica Neue"/>
                  </a:rPr>
                  <a:t>: </a:t>
                </a:r>
              </a:p>
              <a:p>
                <a:pPr marL="0" indent="0">
                  <a:buNone/>
                </a:pPr>
                <a:r>
                  <a:rPr lang="en-US" sz="1800" dirty="0" smtClean="0">
                    <a:latin typeface="Helvetica Neue"/>
                    <a:ea typeface="Cambria Math" panose="02040503050406030204" pitchFamily="18" charset="0"/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log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E</m:t>
                                </m:r>
                                <m: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80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sz="1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=</m:t>
                            </m:r>
                          </m:e>
                        </m:func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ambria Math" charset="0"/>
                    <a:ea typeface="Cambria Math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p</m:t>
                    </m:r>
                  </m:oMath>
                </a14:m>
                <a:endParaRPr lang="en-US" sz="1800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spcBef>
                    <a:spcPct val="50000"/>
                  </a:spcBef>
                  <a:buNone/>
                </a:pPr>
                <a:r>
                  <a:rPr lang="en-US" altLang="en-US" sz="1800" b="1" dirty="0">
                    <a:solidFill>
                      <a:schemeClr val="tx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Assumptions</a:t>
                </a:r>
                <a:r>
                  <a:rPr lang="en-US" altLang="en-US" sz="1800" dirty="0">
                    <a:latin typeface="Helvetica Neue" charset="0"/>
                    <a:ea typeface="Helvetica Neue" charset="0"/>
                    <a:cs typeface="Helvetica Neue" charset="0"/>
                  </a:rPr>
                  <a:t>:  </a:t>
                </a:r>
                <a:endParaRPr lang="en-US" altLang="en-US" sz="1800" dirty="0" smtClean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>
                  <a:spcBef>
                    <a:spcPct val="50000"/>
                  </a:spcBef>
                  <a:buClr>
                    <a:schemeClr val="tx1"/>
                  </a:buClr>
                  <a:buFont typeface="Arial" charset="0"/>
                  <a:buChar char="•"/>
                </a:pPr>
                <a:r>
                  <a:rPr lang="en-US" altLang="en-US" sz="1800" i="1" dirty="0" smtClean="0">
                    <a:latin typeface="Helvetica Neue"/>
                    <a:ea typeface="Helvetica Neue" charset="0"/>
                    <a:cs typeface="Helvetica Neue" charset="0"/>
                  </a:rPr>
                  <a:t>Linearity</a:t>
                </a:r>
                <a:r>
                  <a:rPr lang="en-US" altLang="en-US" sz="1800" dirty="0" smtClean="0">
                    <a:latin typeface="Helvetica Neue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sz="1800" i="1" dirty="0">
                    <a:latin typeface="Helvetica Neue"/>
                    <a:ea typeface="Helvetica Neue" charset="0"/>
                    <a:cs typeface="Helvetica Neue" charset="0"/>
                  </a:rPr>
                  <a:t>Assumption</a:t>
                </a:r>
                <a:r>
                  <a:rPr lang="en-US" altLang="en-US" sz="1800" dirty="0">
                    <a:latin typeface="Helvetica Neue"/>
                    <a:ea typeface="Helvetica Neue" charset="0"/>
                    <a:cs typeface="Helvetica Neue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charset="0"/>
                        <a:ea typeface="Cambria Math" charset="0"/>
                        <a:cs typeface="Cambria Math" charset="0"/>
                      </a:rPr>
                      <m:t>log</m:t>
                    </m:r>
                    <m:d>
                      <m:dPr>
                        <m:ctrlP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E</m:t>
                        </m:r>
                        <m: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Y</m:t>
                        </m:r>
                        <m: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sz="1800" baseline="-250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sz="1800" baseline="-250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p</m:t>
                        </m:r>
                      </m:e>
                    </m:d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ambria Math" charset="0"/>
                    <a:ea typeface="Cambria Math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p</m:t>
                    </m:r>
                  </m:oMath>
                </a14:m>
                <a:endParaRPr lang="en-US" altLang="en-US" sz="18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>
                  <a:spcBef>
                    <a:spcPct val="50000"/>
                  </a:spcBef>
                  <a:buClr>
                    <a:schemeClr val="tx1"/>
                  </a:buClr>
                  <a:buFont typeface="Arial" charset="0"/>
                  <a:buChar char="•"/>
                </a:pPr>
                <a:r>
                  <a:rPr lang="en-US" altLang="en-US" sz="1800" i="1" dirty="0" smtClean="0">
                    <a:latin typeface="Helvetica Neue"/>
                    <a:ea typeface="Helvetica Neue" charset="0"/>
                    <a:cs typeface="Helvetica Neue" charset="0"/>
                  </a:rPr>
                  <a:t>Independence</a:t>
                </a:r>
                <a:r>
                  <a:rPr lang="en-US" altLang="en-US" sz="1800" dirty="0" smtClean="0">
                    <a:latin typeface="Helvetica Neue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sz="1800" i="1" dirty="0">
                    <a:latin typeface="Helvetica Neue"/>
                    <a:ea typeface="Helvetica Neue" charset="0"/>
                    <a:cs typeface="Helvetica Neue" charset="0"/>
                  </a:rPr>
                  <a:t>Assumption</a:t>
                </a:r>
                <a:r>
                  <a:rPr lang="en-US" altLang="en-US" sz="1800" dirty="0">
                    <a:latin typeface="Helvetica Neue"/>
                    <a:ea typeface="Helvetica Neue" charset="0"/>
                    <a:cs typeface="Helvetica Neue" charset="0"/>
                  </a:rPr>
                  <a:t>: 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sz="1800" dirty="0" smtClean="0">
                    <a:latin typeface="Cambria Math" charset="0"/>
                    <a:ea typeface="Cambria Math" charset="0"/>
                    <a:cs typeface="Cambria Math" charset="0"/>
                  </a:rPr>
                  <a:t>,.., </a:t>
                </a:r>
                <a:r>
                  <a:rPr lang="en-US" altLang="en-US" sz="1800" dirty="0" err="1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lang="en-US" altLang="en-US" sz="1800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n</a:t>
                </a:r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US" altLang="en-US" sz="1800" dirty="0">
                    <a:latin typeface="Helvetica Neue"/>
                    <a:ea typeface="Helvetica Neue" charset="0"/>
                    <a:cs typeface="Helvetica Neue" charset="0"/>
                  </a:rPr>
                  <a:t>are independent random </a:t>
                </a:r>
                <a:r>
                  <a:rPr lang="en-US" altLang="en-US" sz="1800" dirty="0" smtClean="0">
                    <a:latin typeface="Helvetica Neue"/>
                    <a:ea typeface="Helvetica Neue" charset="0"/>
                    <a:cs typeface="Helvetica Neue" charset="0"/>
                  </a:rPr>
                  <a:t>variables</a:t>
                </a:r>
              </a:p>
              <a:p>
                <a:pPr>
                  <a:spcBef>
                    <a:spcPct val="50000"/>
                  </a:spcBef>
                  <a:buClr>
                    <a:schemeClr val="tx1"/>
                  </a:buClr>
                  <a:buFont typeface="Arial" charset="0"/>
                  <a:buChar char="•"/>
                </a:pPr>
                <a:r>
                  <a:rPr lang="en-US" altLang="en-US" sz="1800" i="1" dirty="0" smtClean="0">
                    <a:latin typeface="Helvetica Neue"/>
                    <a:ea typeface="Helvetica Neue" charset="0"/>
                    <a:cs typeface="Helvetica Neue" charset="0"/>
                  </a:rPr>
                  <a:t>Variance </a:t>
                </a:r>
                <a:r>
                  <a:rPr lang="en-US" altLang="en-US" sz="1800" i="1" dirty="0">
                    <a:latin typeface="Helvetica Neue"/>
                    <a:ea typeface="Helvetica Neue" charset="0"/>
                    <a:cs typeface="Helvetica Neue" charset="0"/>
                  </a:rPr>
                  <a:t>Assumption</a:t>
                </a:r>
                <a:r>
                  <a:rPr lang="en-US" altLang="en-US" sz="1800" dirty="0">
                    <a:latin typeface="Helvetica Neue"/>
                    <a:ea typeface="Helvetica Neue" charset="0"/>
                    <a:cs typeface="Helvetica Neue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Y</m:t>
                        </m:r>
                        <m: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sz="1800" baseline="-250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sz="1800" baseline="-250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p</m:t>
                        </m:r>
                      </m:e>
                    </m:d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latin typeface="Cambria Math" charset="0"/>
                        <a:ea typeface="Cambria Math" charset="0"/>
                        <a:cs typeface="Cambria Math" charset="0"/>
                      </a:rPr>
                      <m:t>V</m:t>
                    </m:r>
                    <m:d>
                      <m:dPr>
                        <m:ctrlPr>
                          <a:rPr lang="en-US" sz="1800" i="1">
                            <a:latin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Y</m:t>
                        </m:r>
                        <m: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sz="1800" baseline="-250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sz="1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sz="1800" baseline="-250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p</m:t>
                        </m:r>
                      </m:e>
                    </m:d>
                  </m:oMath>
                </a14:m>
                <a:endParaRPr lang="en-US" sz="1800" dirty="0" smtClean="0">
                  <a:latin typeface="Helvetica Neue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1" y="1614035"/>
                <a:ext cx="7697669" cy="2914126"/>
              </a:xfrm>
              <a:prstGeom prst="rect">
                <a:avLst/>
              </a:prstGeom>
              <a:blipFill>
                <a:blip r:embed="rId3"/>
                <a:stretch>
                  <a:fillRect l="-1900" t="-2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476007" y="1075877"/>
            <a:ext cx="79277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where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smtClean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 smtClean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 smtClean="0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baseline="-25000" dirty="0" smtClean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count response variable</a:t>
            </a:r>
            <a:endParaRPr lang="en-US" altLang="en-US" b="1" dirty="0">
              <a:latin typeface="Helvetica Neue" charset="0"/>
              <a:ea typeface="Helvetica Neue" charset="0"/>
              <a:cs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380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909" y="260611"/>
            <a:ext cx="8449503" cy="644411"/>
          </a:xfrm>
        </p:spPr>
        <p:txBody>
          <a:bodyPr/>
          <a:lstStyle/>
          <a:p>
            <a:pPr algn="l"/>
            <a:r>
              <a:rPr lang="en-US" sz="3600" dirty="0" smtClean="0">
                <a:latin typeface="Vitesse Bold"/>
              </a:rPr>
              <a:t>Generalized Linear Model</a:t>
            </a:r>
            <a:endParaRPr lang="en-US" sz="3600" dirty="0">
              <a:latin typeface="Vitesse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572609" y="1893063"/>
                <a:ext cx="7802691" cy="2914126"/>
              </a:xfrm>
              <a:prstGeom prst="rect">
                <a:avLst/>
              </a:prstGeom>
            </p:spPr>
            <p:txBody>
              <a:bodyPr vert="horz" lIns="0" tIns="34290" rIns="0" bIns="3429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 smtClean="0">
                    <a:solidFill>
                      <a:schemeClr val="tx1"/>
                    </a:solidFill>
                    <a:latin typeface="Helvetica Neue"/>
                  </a:rPr>
                  <a:t>Model</a:t>
                </a:r>
                <a:r>
                  <a:rPr lang="en-US" sz="1800" dirty="0">
                    <a:latin typeface="Helvetica Neue"/>
                  </a:rPr>
                  <a:t>: </a:t>
                </a:r>
                <a:r>
                  <a:rPr lang="en-US" sz="1800" dirty="0" smtClean="0">
                    <a:latin typeface="Helvetica Neue"/>
                  </a:rPr>
                  <a:t>Model the conditional expectation</a:t>
                </a:r>
                <a:r>
                  <a:rPr lang="en-US" sz="1800" b="1" dirty="0" smtClean="0">
                    <a:latin typeface="Helvetica Neue"/>
                  </a:rPr>
                  <a:t>: </a:t>
                </a:r>
              </a:p>
              <a:p>
                <a:pPr marL="0" indent="0">
                  <a:buNone/>
                </a:pPr>
                <a:r>
                  <a:rPr lang="en-US" sz="1800" dirty="0" smtClean="0">
                    <a:latin typeface="Helvetica Neue"/>
                    <a:ea typeface="Cambria Math" panose="02040503050406030204" pitchFamily="18" charset="0"/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800" i="1">
                                <a:latin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g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E</m:t>
                                </m:r>
                                <m: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80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func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ambria Math" charset="0"/>
                    <a:ea typeface="Cambria Math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p</m:t>
                    </m:r>
                  </m:oMath>
                </a14:m>
                <a:endParaRPr lang="en-US" sz="1800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r>
                  <a:rPr lang="en-US" sz="1800" dirty="0" smtClean="0">
                    <a:latin typeface="Helvetica Neue"/>
                  </a:rPr>
                  <a:t>                                              OR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Helvetica Neue"/>
                    <a:ea typeface="Cambria Math" panose="02040503050406030204" pitchFamily="18" charset="0"/>
                  </a:rPr>
                  <a:t> </a:t>
                </a:r>
                <a:r>
                  <a:rPr lang="en-US" sz="1800" dirty="0" smtClean="0">
                    <a:latin typeface="Helvetica Neue"/>
                    <a:ea typeface="Cambria Math" panose="02040503050406030204" pitchFamily="18" charset="0"/>
                  </a:rPr>
                  <a:t>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800" i="1">
                                <a:latin typeface="Cambria Math" charset="0"/>
                              </a:rPr>
                            </m:ctrlPr>
                          </m:funcPr>
                          <m:fNam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 sz="180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80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, </m:t>
                                </m:r>
                                <m:r>
                                  <a:rPr lang="en-US" sz="18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</m:fName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func>
                        <m:sSup>
                          <m:sSupPr>
                            <m:ctrlPr>
                              <a:rPr lang="en-US" sz="180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ambria Math" charset="0"/>
                    <a:ea typeface="Cambria Math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p</m:t>
                    </m:r>
                  </m:oMath>
                </a14:m>
                <a:r>
                  <a:rPr lang="en-US" sz="1800" dirty="0" smtClean="0">
                    <a:latin typeface="Cambria Math" charset="0"/>
                    <a:ea typeface="Cambria Math" charset="0"/>
                    <a:cs typeface="Cambria Math" charset="0"/>
                  </a:rPr>
                  <a:t>)</a:t>
                </a:r>
                <a:endParaRPr lang="en-US" sz="18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r>
                  <a:rPr lang="en-US" sz="1800" dirty="0" smtClean="0">
                    <a:latin typeface="Helvetica Neue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sz="1800" dirty="0" smtClean="0">
                    <a:latin typeface="Helvetica Neue"/>
                  </a:rPr>
                  <a:t>( ) is a </a:t>
                </a:r>
                <a:r>
                  <a:rPr lang="en-US" sz="1800" i="1" dirty="0" smtClean="0">
                    <a:latin typeface="Helvetica Neue"/>
                  </a:rPr>
                  <a:t>link function </a:t>
                </a:r>
                <a:r>
                  <a:rPr lang="en-US" sz="1800" dirty="0" smtClean="0">
                    <a:latin typeface="Helvetica Neue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 smtClean="0">
                    <a:latin typeface="Helvetica Neue"/>
                  </a:rPr>
                  <a:t>( ) the </a:t>
                </a:r>
                <a:r>
                  <a:rPr lang="en-US" sz="1800" i="1" dirty="0" smtClean="0">
                    <a:latin typeface="Helvetica Neue"/>
                  </a:rPr>
                  <a:t>inverse link function </a:t>
                </a:r>
                <a:r>
                  <a:rPr lang="en-US" sz="1800" dirty="0" smtClean="0">
                    <a:latin typeface="Helvetica Neue"/>
                  </a:rPr>
                  <a:t>depending on the distribution of Y. </a:t>
                </a:r>
                <a:endParaRPr lang="en-US" sz="18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09" y="1893063"/>
                <a:ext cx="7802691" cy="2914126"/>
              </a:xfrm>
              <a:prstGeom prst="rect">
                <a:avLst/>
              </a:prstGeom>
              <a:blipFill>
                <a:blip r:embed="rId3"/>
                <a:stretch>
                  <a:fillRect l="-1875" t="-2510" r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473714" y="1075877"/>
            <a:ext cx="69532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where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smtClean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 smtClean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 smtClean="0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baseline="-25000" dirty="0" smtClean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response variable with </a:t>
            </a:r>
            <a:r>
              <a:rPr lang="en-US" altLang="en-US" b="1" dirty="0" smtClean="0">
                <a:latin typeface="Helvetica Neue" charset="0"/>
                <a:ea typeface="Helvetica Neue" charset="0"/>
                <a:cs typeface="Helvetica Neue" charset="0"/>
              </a:rPr>
              <a:t>a distribution from the exponential family</a:t>
            </a:r>
            <a:endParaRPr lang="en-US" altLang="en-US" b="1" dirty="0">
              <a:latin typeface="Helvetica Neue" charset="0"/>
              <a:ea typeface="Helvetica Neue" charset="0"/>
              <a:cs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10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480696" y="1070952"/>
            <a:ext cx="57721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 </a:t>
            </a:r>
          </a:p>
          <a:p>
            <a:pPr eaLnBrk="1" hangingPunct="1"/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Model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0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i1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+…+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p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=1,…,n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504141" y="2114550"/>
            <a:ext cx="7695314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Assumptions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: For the vector of errors  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e = (e</a:t>
            </a:r>
            <a:r>
              <a:rPr lang="en-US" altLang="en-US" baseline="-25000" dirty="0" smtClean="0">
                <a:ea typeface="Cambria Math" charset="0"/>
              </a:rPr>
              <a:t>1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,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 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..., </a:t>
            </a:r>
            <a:r>
              <a:rPr lang="en-US" altLang="en-US" dirty="0" err="1" smtClean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 smtClean="0">
                <a:ea typeface="Cambria Math" charset="0"/>
              </a:rPr>
              <a:t>n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) </a:t>
            </a:r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Linearity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/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Mean Zero Assumption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E(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) = 0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Covariance-Variance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V(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)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=</a:t>
            </a:r>
            <a:r>
              <a:rPr lang="en-US" altLang="en-US" dirty="0">
                <a:latin typeface="Times New Roman" panose="02020603050405020304" pitchFamily="18" charset="0"/>
                <a:ea typeface="Cambria Math" charset="0"/>
              </a:rPr>
              <a:t>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  <a:sym typeface="Symbol" panose="05050102010706020507" pitchFamily="18" charset="2"/>
              </a:rPr>
              <a:t></a:t>
            </a:r>
            <a:r>
              <a:rPr lang="en-US" altLang="en-US" baseline="30000" dirty="0" smtClean="0">
                <a:latin typeface="Times New Roman" panose="02020603050405020304" pitchFamily="18" charset="0"/>
                <a:ea typeface="Cambria Math" charset="0"/>
              </a:rPr>
              <a:t> </a:t>
            </a:r>
            <a:endParaRPr lang="en-US" altLang="en-US" baseline="30000" dirty="0">
              <a:latin typeface="Times New Roman" panose="02020603050405020304" pitchFamily="18" charset="0"/>
              <a:ea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Independence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,…,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r>
              <a:rPr lang="en-US" altLang="en-US" dirty="0">
                <a:latin typeface="Times New Roman" panose="02020603050405020304" pitchFamily="18" charset="0"/>
                <a:ea typeface="Cambria Math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are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independent random variables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Cambria Math" charset="0"/>
                <a:ea typeface="Cambria Math" charset="0"/>
                <a:cs typeface="Cambria Math" charset="0"/>
              </a:rPr>
              <a:t>Normality Assumption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: 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dirty="0" smtClean="0">
                <a:latin typeface="Times New Roman" panose="02020603050405020304" pitchFamily="18" charset="0"/>
                <a:ea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~ </a:t>
            </a:r>
            <a:r>
              <a:rPr lang="en-US" altLang="en-US" dirty="0" smtClean="0">
                <a:latin typeface="Cambria Math" charset="0"/>
                <a:ea typeface="Cambria Math" charset="0"/>
                <a:cs typeface="Cambria Math" charset="0"/>
              </a:rPr>
              <a:t>Normal</a:t>
            </a:r>
            <a:endParaRPr lang="en-US" altLang="en-US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68" y="260136"/>
            <a:ext cx="8315612" cy="993775"/>
          </a:xfrm>
        </p:spPr>
        <p:txBody>
          <a:bodyPr/>
          <a:lstStyle/>
          <a:p>
            <a:r>
              <a:rPr lang="en-US" altLang="zh-CN" sz="3600" dirty="0" smtClean="0"/>
              <a:t>Weighted Least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Regression (WLS)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726711" y="2917797"/>
            <a:ext cx="4763588" cy="40059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" y="260611"/>
            <a:ext cx="8334302" cy="993775"/>
          </a:xfrm>
        </p:spPr>
        <p:txBody>
          <a:bodyPr/>
          <a:lstStyle/>
          <a:p>
            <a:r>
              <a:rPr lang="en-US" sz="3600" dirty="0">
                <a:solidFill>
                  <a:prstClr val="black"/>
                </a:solidFill>
              </a:rPr>
              <a:t>Generalized Additive Model (GAM</a:t>
            </a:r>
            <a:r>
              <a:rPr lang="en-US" sz="3600" dirty="0" smtClean="0">
                <a:solidFill>
                  <a:prstClr val="black"/>
                </a:solidFill>
              </a:rPr>
              <a:t>)</a:t>
            </a:r>
            <a:r>
              <a:rPr lang="en-US" sz="3600" b="1" dirty="0">
                <a:solidFill>
                  <a:prstClr val="black"/>
                </a:solidFill>
                <a:latin typeface="Helvetica Neue"/>
              </a:rPr>
              <a:t/>
            </a:r>
            <a:br>
              <a:rPr lang="en-US" sz="3600" b="1" dirty="0">
                <a:solidFill>
                  <a:prstClr val="black"/>
                </a:solidFill>
                <a:latin typeface="Helvetica Neue"/>
              </a:rPr>
            </a:br>
            <a:r>
              <a:rPr lang="en-US" altLang="zh-CN" sz="3600" dirty="0" smtClean="0"/>
              <a:t> 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476007" y="1075877"/>
                <a:ext cx="8608630" cy="411102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altLang="en-US" sz="1800" b="1" dirty="0" smtClean="0">
                    <a:latin typeface="Helvetica Neue" charset="0"/>
                    <a:ea typeface="Helvetica Neue" charset="0"/>
                    <a:cs typeface="Helvetica Neue" charset="0"/>
                  </a:rPr>
                  <a:t>Model</a:t>
                </a:r>
                <a:r>
                  <a:rPr lang="en-US" altLang="en-US" sz="1800" b="1" dirty="0">
                    <a:latin typeface="Helvetica Neue" charset="0"/>
                    <a:ea typeface="Helvetica Neue" charset="0"/>
                    <a:cs typeface="Helvetica Neue" charset="0"/>
                  </a:rPr>
                  <a:t>:</a:t>
                </a:r>
                <a:r>
                  <a:rPr lang="en-US" altLang="en-US" sz="18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 = f(x</a:t>
                </a:r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i1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,…,</a:t>
                </a:r>
                <a:r>
                  <a:rPr lang="en-US" altLang="en-US" sz="1800" dirty="0" err="1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1800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ip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)+</a:t>
                </a:r>
                <a:r>
                  <a:rPr lang="en-US" altLang="en-US" sz="1800" dirty="0"/>
                  <a:t> </a:t>
                </a:r>
                <a:r>
                  <a:rPr lang="en-US" altLang="en-US" sz="1800" dirty="0" err="1">
                    <a:latin typeface="Symbol" panose="05050102010706020507" pitchFamily="18" charset="2"/>
                  </a:rPr>
                  <a:t>e</a:t>
                </a:r>
                <a:r>
                  <a:rPr lang="en-US" altLang="en-US" sz="1800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, </a:t>
                </a:r>
                <a:r>
                  <a:rPr lang="en-US" altLang="en-US" sz="1800" dirty="0" err="1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 =1,…,</a:t>
                </a:r>
                <a:r>
                  <a:rPr lang="en-US" altLang="en-US" sz="1800" dirty="0" smtClean="0">
                    <a:latin typeface="Cambria Math" charset="0"/>
                    <a:ea typeface="Cambria Math" charset="0"/>
                    <a:cs typeface="Cambria Math" charset="0"/>
                  </a:rPr>
                  <a:t>n </a:t>
                </a:r>
                <a:r>
                  <a:rPr lang="en-US" altLang="en-US" sz="1800" dirty="0" smtClean="0"/>
                  <a:t>with </a:t>
                </a:r>
                <a:endParaRPr lang="en-US" sz="1800" b="1" dirty="0" smtClean="0">
                  <a:solidFill>
                    <a:prstClr val="black"/>
                  </a:solidFill>
                  <a:latin typeface="Helvetica Neue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en-US" sz="1800" dirty="0" smtClean="0"/>
                  <a:t>               </a:t>
                </a:r>
                <a:r>
                  <a:rPr lang="en-US" altLang="en-US" sz="1800" dirty="0" smtClean="0">
                    <a:latin typeface="Cambria Math" charset="0"/>
                    <a:ea typeface="Cambria Math" charset="0"/>
                    <a:cs typeface="Cambria Math" charset="0"/>
                  </a:rPr>
                  <a:t>f(x</a:t>
                </a:r>
                <a:r>
                  <a:rPr lang="en-US" altLang="en-US" sz="1800" baseline="-25000" dirty="0" smtClean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,…,</a:t>
                </a:r>
                <a:r>
                  <a:rPr lang="en-US" altLang="en-US" sz="18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18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p</a:t>
                </a:r>
                <a:r>
                  <a:rPr lang="en-US" altLang="en-US" sz="1800" dirty="0" smtClean="0">
                    <a:latin typeface="Cambria Math" charset="0"/>
                    <a:ea typeface="Cambria Math" charset="0"/>
                    <a:cs typeface="Cambria Math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1800" dirty="0" smtClean="0">
                    <a:latin typeface="Cambria Math" charset="0"/>
                    <a:ea typeface="Cambria Math" charset="0"/>
                    <a:cs typeface="Cambria Math" charset="0"/>
                  </a:rPr>
                  <a:t>(x</a:t>
                </a:r>
                <a:r>
                  <a:rPr lang="en-US" altLang="en-US" sz="1800" baseline="-25000" dirty="0" smtClean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sz="1800" dirty="0" smtClean="0">
                    <a:latin typeface="Cambria Math" charset="0"/>
                    <a:ea typeface="Cambria Math" charset="0"/>
                    <a:cs typeface="Cambria Math" charset="0"/>
                  </a:rPr>
                  <a:t>)+ …+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 smtClean="0">
                    <a:latin typeface="Cambria Math" charset="0"/>
                    <a:ea typeface="Cambria Math" charset="0"/>
                    <a:cs typeface="Cambria Math" charset="0"/>
                  </a:rPr>
                  <a:t>(</a:t>
                </a:r>
                <a:r>
                  <a:rPr lang="en-US" altLang="en-US" sz="18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18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p</a:t>
                </a:r>
                <a:r>
                  <a:rPr lang="en-US" altLang="en-US" sz="1800" dirty="0" smtClean="0">
                    <a:latin typeface="Cambria Math" charset="0"/>
                    <a:ea typeface="Cambria Math" charset="0"/>
                    <a:cs typeface="Cambria Math" charset="0"/>
                  </a:rPr>
                  <a:t>) </a:t>
                </a:r>
                <a:r>
                  <a:rPr lang="en-US" altLang="en-US" sz="1800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alt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b="1" dirty="0" smtClean="0">
                    <a:solidFill>
                      <a:prstClr val="black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,..,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altLang="en-US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800" b="1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are unknown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           smooth functions </a:t>
                </a:r>
                <a:r>
                  <a:rPr lang="en-US" sz="1800" b="1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1800" b="1" dirty="0" smtClean="0">
                    <a:solidFill>
                      <a:prstClr val="black"/>
                    </a:solidFill>
                    <a:latin typeface="Helvetica Neue"/>
                  </a:rPr>
                  <a:t>Model </a:t>
                </a:r>
                <a:r>
                  <a:rPr lang="en-US" sz="1800" b="1" dirty="0">
                    <a:solidFill>
                      <a:prstClr val="black"/>
                    </a:solidFill>
                    <a:latin typeface="Helvetica Neue"/>
                  </a:rPr>
                  <a:t>Estimation: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err="1" smtClean="0">
                    <a:solidFill>
                      <a:prstClr val="black"/>
                    </a:solidFill>
                    <a:latin typeface="Helvetica Neue"/>
                  </a:rPr>
                  <a:t>Backfitting</a:t>
                </a: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algorithm:</a:t>
                </a: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Initialize: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,…,</a:t>
                </a: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800" dirty="0" smtClean="0">
                  <a:solidFill>
                    <a:prstClr val="black"/>
                  </a:solidFill>
                  <a:latin typeface="Helvetica Neue"/>
                </a:endParaRP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Iterate </a:t>
                </a:r>
                <a:r>
                  <a:rPr lang="en-US" sz="1800" dirty="0">
                    <a:solidFill>
                      <a:prstClr val="black"/>
                    </a:solidFill>
                    <a:latin typeface="Helvetica Neue"/>
                  </a:rPr>
                  <a:t>until </a:t>
                </a: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convergence: For </a:t>
                </a:r>
                <a:r>
                  <a:rPr lang="en-US" sz="1800" dirty="0" smtClean="0">
                    <a:solidFill>
                      <a:prstClr val="black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j=1,..,p </a:t>
                </a:r>
              </a:p>
              <a:p>
                <a:pPr lvl="1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 Y</a:t>
                </a:r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US" altLang="en-US" sz="1800" dirty="0" smtClean="0">
                    <a:latin typeface="Cambria Math" charset="0"/>
                    <a:ea typeface="Cambria Math" charset="0"/>
                    <a:cs typeface="Cambria Math" charset="0"/>
                  </a:rPr>
                  <a:t>-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800" i="1" dirty="0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800" i="1" dirty="0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800" i="1" dirty="0" smtClean="0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dirty="0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and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from regressing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en-US" sz="18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</m:t>
                    </m:r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  <a:endParaRPr lang="en-US" sz="1800" dirty="0">
                  <a:solidFill>
                    <a:prstClr val="black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07" y="1075877"/>
                <a:ext cx="8608630" cy="4111025"/>
              </a:xfrm>
              <a:prstGeom prst="rect">
                <a:avLst/>
              </a:prstGeom>
              <a:blipFill rotWithShape="0">
                <a:blip r:embed="rId3"/>
                <a:stretch>
                  <a:fillRect l="-567" t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04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1671" y="255922"/>
            <a:ext cx="6182318" cy="993775"/>
          </a:xfrm>
        </p:spPr>
        <p:txBody>
          <a:bodyPr/>
          <a:lstStyle/>
          <a:p>
            <a:r>
              <a:rPr lang="en-US" sz="3600" dirty="0"/>
              <a:t>Summary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05"/>
          <a:stretch/>
        </p:blipFill>
        <p:spPr>
          <a:xfrm>
            <a:off x="1357951" y="1162494"/>
            <a:ext cx="2605548" cy="34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8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347E77A7-2B37-4C4C-98D0-4FAA10DB4A58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001C2D1D-E3C7-1F40-85E2-5B0FD0A83E00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C8FB9013-53DF-0348-872B-A68C29C4A68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B8D62D-BE99-40AF-BF97-BFAE812B12CE}">
  <ds:schemaRefs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057fda7-913b-4ab6-8820-932873bcd66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17272</TotalTime>
  <Words>873</Words>
  <Application>Microsoft Macintosh PowerPoint</Application>
  <PresentationFormat>On-screen Show (16:9)</PresentationFormat>
  <Paragraphs>85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30" baseType="lpstr">
      <vt:lpstr>Arial</vt:lpstr>
      <vt:lpstr>Calibri</vt:lpstr>
      <vt:lpstr>Cambria Math</vt:lpstr>
      <vt:lpstr>Helvetica</vt:lpstr>
      <vt:lpstr>Helvetica Neue</vt:lpstr>
      <vt:lpstr>Symbol</vt:lpstr>
      <vt:lpstr>Times New Roman</vt:lpstr>
      <vt:lpstr>Vitesse</vt:lpstr>
      <vt:lpstr>Vitesse Bold</vt:lpstr>
      <vt:lpstr>Vitesse Book</vt:lpstr>
      <vt:lpstr>Vitesse Medium</vt:lpstr>
      <vt:lpstr>Vitesse Thin</vt:lpstr>
      <vt:lpstr>Wingdings</vt:lpstr>
      <vt:lpstr>宋体</vt:lpstr>
      <vt:lpstr>1_Office Theme</vt:lpstr>
      <vt:lpstr>Full Page Layout</vt:lpstr>
      <vt:lpstr>Half Page Slash</vt:lpstr>
      <vt:lpstr>3_Office Theme</vt:lpstr>
      <vt:lpstr>2_Office Theme</vt:lpstr>
      <vt:lpstr>PowerPoint Presentation</vt:lpstr>
      <vt:lpstr>About this lesson</vt:lpstr>
      <vt:lpstr>PowerPoint Presentation</vt:lpstr>
      <vt:lpstr> ANOVA</vt:lpstr>
      <vt:lpstr>Multiple Linear Regression</vt:lpstr>
      <vt:lpstr>Logistic Regression</vt:lpstr>
      <vt:lpstr>Poisson Regression</vt:lpstr>
      <vt:lpstr>Generalized Linear Model</vt:lpstr>
      <vt:lpstr>Weighted Least Regression (WLS)</vt:lpstr>
      <vt:lpstr>Generalized Additive Model (GAM)  </vt:lpstr>
      <vt:lpstr>Summary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Microsoft Office User</cp:lastModifiedBy>
  <cp:revision>909</cp:revision>
  <dcterms:modified xsi:type="dcterms:W3CDTF">2017-04-27T17:49:55Z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