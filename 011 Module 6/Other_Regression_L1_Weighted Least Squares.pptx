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oleObject"/>
  <Default Extension="jpg" ContentType="image/jpeg"/>
  <Default Extension="jpe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17"/>
  </p:notesMasterIdLst>
  <p:handoutMasterIdLst>
    <p:handoutMasterId r:id="rId18"/>
  </p:handoutMasterIdLst>
  <p:sldIdLst>
    <p:sldId id="434" r:id="rId9"/>
    <p:sldId id="408" r:id="rId10"/>
    <p:sldId id="498" r:id="rId11"/>
    <p:sldId id="446" r:id="rId12"/>
    <p:sldId id="499" r:id="rId13"/>
    <p:sldId id="500" r:id="rId14"/>
    <p:sldId id="497" r:id="rId15"/>
    <p:sldId id="42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498"/>
            <p14:sldId id="446"/>
            <p14:sldId id="499"/>
            <p14:sldId id="500"/>
            <p14:sldId id="497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FF1"/>
    <a:srgbClr val="8E4221"/>
    <a:srgbClr val="3F6CAF"/>
    <a:srgbClr val="1F497D"/>
    <a:srgbClr val="984807"/>
    <a:srgbClr val="993200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4" autoAdjust="0"/>
    <p:restoredTop sz="89904" autoAdjust="0"/>
  </p:normalViewPr>
  <p:slideViewPr>
    <p:cSldViewPr snapToGrid="0">
      <p:cViewPr varScale="1">
        <p:scale>
          <a:sx n="118" d="100"/>
          <a:sy n="118" d="100"/>
        </p:scale>
        <p:origin x="200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Relationship Id="rId3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3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2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5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04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Why n-p-1?  Examination question.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F14B6E9-90BF-4EC0-8F69-169F3293C0BD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749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0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11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Other Regression Methods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Weighted Least Squares Regression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7038" y="274679"/>
            <a:ext cx="6182318" cy="993775"/>
          </a:xfrm>
        </p:spPr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37271" y="1020423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</a:p>
          <a:p>
            <a:pPr eaLnBrk="1" hangingPunct="1"/>
            <a:endParaRPr lang="en-US" altLang="en-US" dirty="0">
              <a:latin typeface="Cambria Math" charset="0"/>
              <a:ea typeface="Cambria Math" charset="0"/>
              <a:cs typeface="Cambria Math" charset="0"/>
            </a:endParaRPr>
          </a:p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+…+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37270" y="2119239"/>
            <a:ext cx="772199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baseline="30000" dirty="0">
                <a:latin typeface="Times New Roman" panose="02020603050405020304" pitchFamily="18" charset="0"/>
                <a:ea typeface="Cambria Math" charset="0"/>
              </a:rPr>
              <a:t>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37269" y="1665245"/>
            <a:ext cx="745671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What if the variance is not constant?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Transform the response variable using a variance-stabilizing transformation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Weighted Least Squares Regression  </a:t>
            </a:r>
            <a:endParaRPr lang="en-US" altLang="en-US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7520052" cy="634698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437269" y="2953317"/>
            <a:ext cx="4763588" cy="400595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Normal Approximation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the number of diseased individuals in a population </a:t>
                </a:r>
                <a:r>
                  <a:rPr lang="en-US" sz="2200" dirty="0" smtClean="0">
                    <a:latin typeface="Helvetica Neue"/>
                  </a:rPr>
                  <a:t>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200" b="0" i="1" smtClean="0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2200" dirty="0" smtClean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>
                    <a:latin typeface="Helvetica Neue"/>
                  </a:rPr>
                  <a:t>O</a:t>
                </a:r>
                <a:r>
                  <a:rPr lang="en-US" sz="2200" dirty="0" smtClean="0">
                    <a:latin typeface="Helvetica Neue"/>
                  </a:rPr>
                  <a:t>nly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but generally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is large, thus apply the normal approximation (CLT):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>
                    <a:latin typeface="Helvetica Neue"/>
                  </a:rPr>
                  <a:t>Use a regression analysis under the normality assumption instead of logistic regression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>
                    <a:latin typeface="Cambria Math" charset="0"/>
                    <a:ea typeface="Cambria Math" charset="0"/>
                    <a:cs typeface="Cambria Math" charset="0"/>
                  </a:rPr>
                  <a:t>V(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 charset="0"/>
                    <a:ea typeface="Cambria Math" charset="0"/>
                    <a:cs typeface="Cambria Math" charset="0"/>
                  </a:rPr>
                  <a:t>) =</a:t>
                </a:r>
                <a:r>
                  <a:rPr lang="en-US" sz="2000" dirty="0" smtClean="0"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 smtClean="0">
                    <a:latin typeface="Helvetica Neue"/>
                  </a:rPr>
                  <a:t> thus non-constant variance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  <a:blipFill rotWithShape="0">
                <a:blip r:embed="rId3"/>
                <a:stretch>
                  <a:fillRect l="-886" t="-889" r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81000" y="970181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</a:p>
          <a:p>
            <a:pPr eaLnBrk="1" hangingPunct="1"/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+…+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 smtClean="0">
                <a:ea typeface="Cambria Math" charset="0"/>
              </a:rPr>
              <a:t>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 smtClean="0">
                <a:ea typeface="Cambria Math" charset="0"/>
              </a:rPr>
              <a:t>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80999" y="2068997"/>
            <a:ext cx="786367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For the vector of errors 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= (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,..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.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 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Covariance-Variance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V(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Times New Roman" panose="02020603050405020304" pitchFamily="18" charset="0"/>
                <a:ea typeface="Cambria Math" charset="0"/>
              </a:rPr>
              <a:t>) 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  <a:sym typeface="Symbol" panose="05050102010706020507" pitchFamily="18" charset="2"/>
              </a:rPr>
              <a:t></a:t>
            </a:r>
            <a:r>
              <a:rPr lang="en-US" altLang="en-US" baseline="30000" dirty="0" smtClean="0">
                <a:latin typeface="Times New Roman" panose="02020603050405020304" pitchFamily="18" charset="0"/>
                <a:ea typeface="Cambria Math" charset="0"/>
              </a:rPr>
              <a:t> </a:t>
            </a:r>
            <a:endParaRPr lang="en-US" altLang="en-US" baseline="30000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 </a:t>
            </a:r>
            <a:r>
              <a:rPr lang="en-US" altLang="en-US" u="sng" dirty="0">
                <a:latin typeface="Helvetica Neue" charset="0"/>
                <a:ea typeface="Helvetica Neue" charset="0"/>
                <a:cs typeface="Helvetica Neue" charset="0"/>
              </a:rPr>
              <a:t>if </a:t>
            </a:r>
            <a:r>
              <a:rPr lang="en-US" altLang="en-US" u="sng" dirty="0">
                <a:latin typeface="Symbol" panose="05050102010706020507" pitchFamily="18" charset="2"/>
                <a:sym typeface="Symbol" panose="05050102010706020507" pitchFamily="18" charset="2"/>
              </a:rPr>
              <a:t> </a:t>
            </a:r>
            <a:r>
              <a:rPr lang="en-US" altLang="en-US" u="sng" dirty="0">
                <a:latin typeface="Helvetica Neue"/>
                <a:sym typeface="Symbol" panose="05050102010706020507" pitchFamily="18" charset="2"/>
              </a:rPr>
              <a:t>is a diagonal </a:t>
            </a:r>
            <a:r>
              <a:rPr lang="en-US" altLang="en-US" u="sng" dirty="0" smtClean="0">
                <a:latin typeface="Helvetica Neue"/>
                <a:sym typeface="Symbol" panose="05050102010706020507" pitchFamily="18" charset="2"/>
              </a:rPr>
              <a:t>matrix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Normality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~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192956" cy="614601"/>
          </a:xfrm>
        </p:spPr>
        <p:txBody>
          <a:bodyPr/>
          <a:lstStyle/>
          <a:p>
            <a:r>
              <a:rPr lang="en-US" altLang="zh-CN" sz="3600" dirty="0" smtClean="0"/>
              <a:t>Weighted Least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 (WLS)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587828" y="2872244"/>
            <a:ext cx="4741817" cy="400595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7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2298" y="2822423"/>
            <a:ext cx="78276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Helvetica Neue" charset="0"/>
                <a:ea typeface="Helvetica Neue" charset="0"/>
                <a:cs typeface="Helvetica Neue" charset="0"/>
              </a:rPr>
              <a:t>Statistical Properties</a:t>
            </a:r>
            <a:r>
              <a:rPr 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endParaRPr 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endParaRPr lang="en-US" dirty="0" smtClean="0">
              <a:latin typeface="Helvetica Neue" charset="0"/>
              <a:ea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endParaRPr lang="en-US" dirty="0" smtClean="0">
              <a:latin typeface="Helvetica Neue" charset="0"/>
              <a:ea typeface="Helvetica Neue" charset="0"/>
              <a:cs typeface="Helvetica Neue" charset="0"/>
            </a:endParaRPr>
          </a:p>
          <a:p>
            <a:r>
              <a:rPr lang="en-US" b="1" dirty="0" smtClean="0">
                <a:latin typeface="Helvetica Neue" charset="0"/>
                <a:ea typeface="Helvetica Neue" charset="0"/>
                <a:cs typeface="Helvetica Neue" charset="0"/>
              </a:rPr>
              <a:t>Upshot</a:t>
            </a:r>
            <a:r>
              <a:rPr lang="en-US" dirty="0" smtClean="0">
                <a:latin typeface="Helvetica Neue" charset="0"/>
                <a:ea typeface="Helvetica Neue" charset="0"/>
                <a:cs typeface="Helvetica Neue" charset="0"/>
              </a:rPr>
              <a:t>: The covariance-variance matrix of the error terms is assumed known. However, it is needed for statistical inference.  </a:t>
            </a:r>
            <a:r>
              <a:rPr lang="en-US" i="1" dirty="0" smtClean="0">
                <a:latin typeface="Helvetica Neue" charset="0"/>
                <a:ea typeface="Helvetica Neue" charset="0"/>
                <a:cs typeface="Helvetica Neue" charset="0"/>
              </a:rPr>
              <a:t>How to </a:t>
            </a:r>
            <a:r>
              <a:rPr lang="en-US" i="1" smtClean="0">
                <a:latin typeface="Helvetica Neue" charset="0"/>
                <a:ea typeface="Helvetica Neue" charset="0"/>
                <a:cs typeface="Helvetica Neue" charset="0"/>
              </a:rPr>
              <a:t>get </a:t>
            </a:r>
            <a:r>
              <a:rPr lang="en-US" i="1" smtClean="0">
                <a:latin typeface="Helvetica Neue" charset="0"/>
                <a:ea typeface="Helvetica Neue" charset="0"/>
                <a:cs typeface="Helvetica Neue" charset="0"/>
                <a:sym typeface="Symbol" panose="05050102010706020507" pitchFamily="18" charset="2"/>
              </a:rPr>
              <a:t></a:t>
            </a:r>
            <a:r>
              <a:rPr lang="en-US" i="1" smtClean="0">
                <a:latin typeface="Helvetica Neue" charset="0"/>
                <a:ea typeface="Helvetica Neue" charset="0"/>
                <a:cs typeface="Helvetica Neue" charset="0"/>
              </a:rPr>
              <a:t>?</a:t>
            </a:r>
            <a:endParaRPr lang="en-US" i="1" dirty="0">
              <a:latin typeface="Helvetica Neue" charset="0"/>
              <a:ea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331138" y="1004002"/>
            <a:ext cx="6858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To estimate 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,…,</a:t>
            </a:r>
            <a:r>
              <a:rPr lang="en-US" altLang="en-US" dirty="0" err="1">
                <a:latin typeface="Symbol" panose="05050102010706020507" pitchFamily="18" charset="2"/>
              </a:rPr>
              <a:t>b</a:t>
            </a:r>
            <a:r>
              <a:rPr lang="en-US" altLang="en-US" baseline="-25000" dirty="0" err="1">
                <a:latin typeface="Times New Roman" panose="02020603050405020304" pitchFamily="18" charset="0"/>
              </a:rPr>
              <a:t>p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, we find values that minimize squared error:</a:t>
            </a:r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>
            <p:extLst/>
          </p:nvPr>
        </p:nvGraphicFramePr>
        <p:xfrm>
          <a:off x="3097213" y="1455738"/>
          <a:ext cx="26273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4" imgW="1384200" imgH="241200" progId="Equation.3">
                  <p:embed/>
                </p:oleObj>
              </mc:Choice>
              <mc:Fallback>
                <p:oleObj name="Equation" r:id="rId4" imgW="1384200" imgH="241200" progId="Equation.3">
                  <p:embed/>
                  <p:pic>
                    <p:nvPicPr>
                      <p:cNvPr id="368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1455738"/>
                        <a:ext cx="26273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ight Arrow 3"/>
          <p:cNvSpPr/>
          <p:nvPr/>
        </p:nvSpPr>
        <p:spPr>
          <a:xfrm>
            <a:off x="1198794" y="2275707"/>
            <a:ext cx="734616" cy="296466"/>
          </a:xfrm>
          <a:prstGeom prst="rightArrow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/>
          </p:nvPr>
        </p:nvGraphicFramePr>
        <p:xfrm>
          <a:off x="2092823" y="2095500"/>
          <a:ext cx="3114901" cy="54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6" imgW="1434960" imgH="266400" progId="Equation.3">
                  <p:embed/>
                </p:oleObj>
              </mc:Choice>
              <mc:Fallback>
                <p:oleObj name="Equation" r:id="rId6" imgW="1434960" imgH="266400" progId="Equation.3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823" y="2095500"/>
                        <a:ext cx="3114901" cy="54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8739251" cy="729324"/>
          </a:xfrm>
        </p:spPr>
        <p:txBody>
          <a:bodyPr/>
          <a:lstStyle/>
          <a:p>
            <a:r>
              <a:rPr lang="en-US" altLang="zh-CN" sz="3600" dirty="0" smtClean="0"/>
              <a:t>Parameter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Estimation</a:t>
            </a:r>
            <a:r>
              <a:rPr lang="zh-CN" altLang="en-US" sz="3600" dirty="0" smtClean="0"/>
              <a:t> </a:t>
            </a:r>
            <a:r>
              <a:rPr lang="en-US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en-US" sz="3200" dirty="0">
                <a:latin typeface="Symbol" panose="05050102010706020507" pitchFamily="18" charset="2"/>
              </a:rPr>
              <a:t>b</a:t>
            </a:r>
            <a:r>
              <a:rPr lang="en-US" altLang="en-US" sz="32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3200" dirty="0">
                <a:latin typeface="Times New Roman" panose="02020603050405020304" pitchFamily="18" charset="0"/>
              </a:rPr>
              <a:t>,</a:t>
            </a:r>
            <a:r>
              <a:rPr lang="en-US" altLang="en-US" sz="3200" dirty="0">
                <a:latin typeface="Symbol" panose="05050102010706020507" pitchFamily="18" charset="2"/>
              </a:rPr>
              <a:t>b</a:t>
            </a:r>
            <a:r>
              <a:rPr lang="en-US" altLang="en-US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3200" dirty="0">
                <a:latin typeface="Times New Roman" panose="02020603050405020304" pitchFamily="18" charset="0"/>
              </a:rPr>
              <a:t>,</a:t>
            </a:r>
            <a:r>
              <a:rPr lang="en-US" altLang="en-US" sz="3200" dirty="0">
                <a:latin typeface="Symbol" panose="05050102010706020507" pitchFamily="18" charset="2"/>
              </a:rPr>
              <a:t>b</a:t>
            </a:r>
            <a:r>
              <a:rPr lang="en-US" altLang="en-US" sz="32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</a:rPr>
              <a:t>,…,</a:t>
            </a:r>
            <a:r>
              <a:rPr lang="en-US" altLang="en-US" sz="3200" dirty="0" err="1">
                <a:latin typeface="Symbol" panose="05050102010706020507" pitchFamily="18" charset="2"/>
              </a:rPr>
              <a:t>b</a:t>
            </a:r>
            <a:r>
              <a:rPr lang="en-US" altLang="en-US" sz="3200" baseline="-25000" dirty="0" err="1">
                <a:latin typeface="Times New Roman" panose="02020603050405020304" pitchFamily="18" charset="0"/>
              </a:rPr>
              <a:t>p</a:t>
            </a:r>
            <a:r>
              <a:rPr lang="en-US" altLang="en-US" sz="3200" dirty="0">
                <a:latin typeface="Times New Roman" panose="02020603050405020304" pitchFamily="18" charset="0"/>
              </a:rPr>
              <a:t>) </a:t>
            </a:r>
            <a:endParaRPr lang="en-US" sz="3200" dirty="0"/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>
            <p:extLst/>
          </p:nvPr>
        </p:nvGraphicFramePr>
        <p:xfrm>
          <a:off x="2994570" y="2822423"/>
          <a:ext cx="2657293" cy="1034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8" imgW="1371600" imgH="533160" progId="Equation.3">
                  <p:embed/>
                </p:oleObj>
              </mc:Choice>
              <mc:Fallback>
                <p:oleObj name="Equation" r:id="rId8" imgW="1371600" imgH="533160" progId="Equation.3">
                  <p:embed/>
                  <p:pic>
                    <p:nvPicPr>
                      <p:cNvPr id="1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570" y="2822423"/>
                        <a:ext cx="2657293" cy="1034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93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595579"/>
          </a:xfrm>
        </p:spPr>
        <p:txBody>
          <a:bodyPr/>
          <a:lstStyle/>
          <a:p>
            <a:pPr algn="l"/>
            <a:r>
              <a:rPr lang="en-US" sz="3600" dirty="0" smtClean="0"/>
              <a:t>Simple WLS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50822" y="1023361"/>
                <a:ext cx="8235494" cy="3939737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200" dirty="0" smtClean="0">
                    <a:latin typeface="Helvetica Neue"/>
                  </a:rPr>
                  <a:t>The simplest WLS model</a:t>
                </a:r>
                <a:r>
                  <a:rPr lang="en-US" sz="2200" b="0" i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V(</a:t>
                </a:r>
                <a:r>
                  <a:rPr lang="en-US" altLang="en-US" sz="2200" b="1" dirty="0">
                    <a:latin typeface="Symbol" panose="05050102010706020507" pitchFamily="18" charset="2"/>
                  </a:rPr>
                  <a:t>e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200" b="0" i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Frequency response ~ Normal Approximation: </a:t>
                </a:r>
                <a:r>
                  <a:rPr lang="en-US" sz="2200" dirty="0">
                    <a:latin typeface="Cambria Math" charset="0"/>
                    <a:ea typeface="Cambria Math" charset="0"/>
                    <a:cs typeface="Cambria Math" charset="0"/>
                  </a:rPr>
                  <a:t>V</a:t>
                </a:r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 </a:t>
                </a:r>
                <a:r>
                  <a:rPr lang="en-US" sz="22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lang="en-US" sz="2200" dirty="0"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 smtClean="0">
                    <a:latin typeface="Helvetica Neue"/>
                  </a:rPr>
                  <a:t> where</a:t>
                </a:r>
                <a:br>
                  <a:rPr lang="en-US" sz="2200" dirty="0" smtClean="0">
                    <a:latin typeface="Helvetica Neue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 smtClean="0">
                    <a:latin typeface="Helvetica Neue"/>
                  </a:rPr>
                  <a:t> know.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Generally,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is not known: 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Helvetica Neue"/>
                  </a:rPr>
                  <a:t>Use external </a:t>
                </a:r>
                <a:r>
                  <a:rPr lang="en-US" sz="2000" dirty="0" smtClean="0">
                    <a:latin typeface="Helvetica Neue"/>
                  </a:rPr>
                  <a:t>information: </a:t>
                </a:r>
                <a:r>
                  <a:rPr lang="en-US" sz="2000" dirty="0">
                    <a:latin typeface="Helvetica Neue"/>
                  </a:rPr>
                  <a:t>There are some cases where other </a:t>
                </a:r>
                <a:r>
                  <a:rPr lang="en-US" sz="2000" dirty="0" smtClean="0">
                    <a:latin typeface="Helvetica Neue"/>
                  </a:rPr>
                  <a:t>information on the variance is available (e.g. measurement error) – </a:t>
                </a:r>
                <a:r>
                  <a:rPr lang="en-US" sz="2000" u="sng" dirty="0" smtClean="0">
                    <a:latin typeface="Helvetica Neue"/>
                  </a:rPr>
                  <a:t>very rare</a:t>
                </a:r>
                <a:r>
                  <a:rPr lang="en-US" sz="2000" dirty="0" smtClean="0">
                    <a:latin typeface="Helvetica Neue"/>
                  </a:rPr>
                  <a:t>!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Helvetica Neue"/>
                  </a:rPr>
                  <a:t>Use replications. If there are </a:t>
                </a:r>
                <a:r>
                  <a:rPr lang="en-US" sz="2000" dirty="0" smtClean="0">
                    <a:latin typeface="Helvetica Neue"/>
                  </a:rPr>
                  <a:t>several Y’s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Helvetica Neue"/>
                  </a:rPr>
                  <a:t>,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Helvetica Neue"/>
                  </a:rPr>
                  <a:t> as the sample variance of the replications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>
                    <a:latin typeface="Helvetica Neue"/>
                  </a:rPr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Helvetica Neue"/>
                  </a:rPr>
                  <a:t> = </a:t>
                </a:r>
                <a:r>
                  <a:rPr lang="en-US" sz="2000" dirty="0" smtClean="0">
                    <a:latin typeface="Cambria Math" charset="0"/>
                    <a:ea typeface="Cambria Math" charset="0"/>
                    <a:cs typeface="Cambria Math" charset="0"/>
                  </a:rPr>
                  <a:t>w(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sz="2000" dirty="0" smtClean="0">
                    <a:latin typeface="Helvetica Neue"/>
                  </a:rPr>
                  <a:t> as a smooth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Helvetica Neue"/>
                  </a:rPr>
                  <a:t> using nonparametric regression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endParaRPr lang="en-US" sz="2200" dirty="0">
                  <a:latin typeface="Helvetica Neue"/>
                </a:endParaRP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50822" y="1023361"/>
                <a:ext cx="8235494" cy="3939737"/>
              </a:xfrm>
              <a:prstGeom prst="rect">
                <a:avLst/>
              </a:prstGeom>
              <a:blipFill rotWithShape="0">
                <a:blip r:embed="rId3"/>
                <a:stretch>
                  <a:fillRect l="-814" t="-1703" r="-740" b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>
                <a:spLocks noChangeArrowheads="1"/>
              </p:cNvSpPr>
              <p:nvPr/>
            </p:nvSpPr>
            <p:spPr bwMode="auto">
              <a:xfrm>
                <a:off x="447153" y="1384991"/>
                <a:ext cx="7526214" cy="13234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How to implement WLS in R?</a:t>
                </a:r>
              </a:p>
              <a:p>
                <a:pPr marL="285750" indent="-28575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lm(</a:t>
                </a:r>
                <a:r>
                  <a:rPr lang="en-US" altLang="en-US" sz="2000" b="1" dirty="0" err="1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y</a:t>
                </a:r>
                <a:r>
                  <a:rPr lang="en-US" altLang="en-US" sz="2000" b="1" dirty="0" err="1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~x</a:t>
                </a:r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, weights = 1/w) where w is a vector of the weights</a:t>
                </a:r>
              </a:p>
              <a:p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How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mbria Math" charset="0"/>
                    <a:ea typeface="Cambria Math" charset="0"/>
                    <a:cs typeface="Cambria Math" charset="0"/>
                  </a:rPr>
                  <a:t> = w(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sz="2000" b="1" dirty="0">
                    <a:latin typeface="Helvetica Neue"/>
                    <a:ea typeface="Cambria Math" charset="0"/>
                  </a:rPr>
                  <a:t> as a smooth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charset="0"/>
                            <a:ea typeface="Cambria Math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charset="0"/>
                          </a:rPr>
                          <m:t>𝒙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Several smoothing functions: simplest to use is ‘</a:t>
                </a:r>
                <a:r>
                  <a:rPr lang="en-US" altLang="en-US" sz="2000" b="1" dirty="0" err="1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lowess</a:t>
                </a:r>
                <a:r>
                  <a:rPr lang="en-US" altLang="en-US" sz="2000" b="1" dirty="0" smtClea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’ </a:t>
                </a:r>
                <a:endParaRPr lang="en-US" altLang="en-US" sz="2000" b="1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153" y="1384991"/>
                <a:ext cx="7526214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727" t="-1818" b="-6364"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8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057fda7-913b-4ab6-8820-932873bcd66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16096</TotalTime>
  <Words>480</Words>
  <Application>Microsoft Macintosh PowerPoint</Application>
  <PresentationFormat>On-screen Show (16:9)</PresentationFormat>
  <Paragraphs>60</Paragraphs>
  <Slides>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9" baseType="lpstr">
      <vt:lpstr>Arial</vt:lpstr>
      <vt:lpstr>Calibri</vt:lpstr>
      <vt:lpstr>Cambria Math</vt:lpstr>
      <vt:lpstr>Helvetica</vt:lpstr>
      <vt:lpstr>Helvetica Neue</vt:lpstr>
      <vt:lpstr>MS PGothic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Wingdings</vt:lpstr>
      <vt:lpstr>宋体</vt:lpstr>
      <vt:lpstr>1_Office Theme</vt:lpstr>
      <vt:lpstr>Full Page Layout</vt:lpstr>
      <vt:lpstr>Half Page Slash</vt:lpstr>
      <vt:lpstr>3_Office Theme</vt:lpstr>
      <vt:lpstr>2_Office Theme</vt:lpstr>
      <vt:lpstr>Equation</vt:lpstr>
      <vt:lpstr>PowerPoint Presentation</vt:lpstr>
      <vt:lpstr>About this lesson</vt:lpstr>
      <vt:lpstr>Multiple Linear Regression</vt:lpstr>
      <vt:lpstr>Example: Normal Approximation</vt:lpstr>
      <vt:lpstr>Weighted Least Regression (WLS)</vt:lpstr>
      <vt:lpstr>Parameter Estimation (b0,b1,b2,…,bp) </vt:lpstr>
      <vt:lpstr>Simple WLS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800</cp:revision>
  <dcterms:modified xsi:type="dcterms:W3CDTF">2017-04-27T17:43:47Z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