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16"/>
  </p:notesMasterIdLst>
  <p:handoutMasterIdLst>
    <p:handoutMasterId r:id="rId17"/>
  </p:handoutMasterIdLst>
  <p:sldIdLst>
    <p:sldId id="434" r:id="rId9"/>
    <p:sldId id="408" r:id="rId10"/>
    <p:sldId id="508" r:id="rId11"/>
    <p:sldId id="510" r:id="rId12"/>
    <p:sldId id="509" r:id="rId13"/>
    <p:sldId id="511" r:id="rId14"/>
    <p:sldId id="425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508"/>
            <p14:sldId id="510"/>
            <p14:sldId id="509"/>
            <p14:sldId id="511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3F6CAF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9216" autoAdjust="0"/>
    <p:restoredTop sz="89904" autoAdjust="0"/>
  </p:normalViewPr>
  <p:slideViewPr>
    <p:cSldViewPr snapToGrid="0">
      <p:cViewPr varScale="1">
        <p:scale>
          <a:sx n="128" d="100"/>
          <a:sy n="128" d="100"/>
        </p:scale>
        <p:origin x="22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Notes Placeholder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val="1"/>
                </a:ext>
              </a:extLst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US" altLang="zh-CN" sz="1200" dirty="0" smtClean="0">
                  <a:latin typeface="Helvetica Neue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67587" name="Notes Placeholder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="" xmlns:ma14="http://schemas.microsoft.com/office/mac/drawingml/2011/main" val="1"/>
                </a:ext>
              </a:extLst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zh-CN" sz="1200" dirty="0" smtClean="0">
                    <a:latin typeface="Helvetica Neue"/>
                    <a:ea typeface="KishoreFont Medium" charset="0"/>
                    <a:cs typeface="KishoreFont Medium" charset="0"/>
                  </a:rPr>
                  <a:t>In this case, the “group” effect </a:t>
                </a:r>
                <a:r>
                  <a:rPr kumimoji="1" lang="en-US" altLang="zh-CN" sz="1200" i="0"/>
                  <a:t>"</a:t>
                </a:r>
                <a:r>
                  <a:rPr kumimoji="1" lang="en-US" altLang="zh-CN" sz="1200" i="0">
                    <a:ea typeface="KishoreFont Medium" charset="0"/>
                    <a:cs typeface="KishoreFont Medium" charset="0"/>
                  </a:rPr>
                  <a:t>τ</a:t>
                </a:r>
                <a:r>
                  <a:rPr kumimoji="1" lang="en-US" altLang="zh-CN" sz="1200" i="0"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" _"</a:t>
                </a:r>
                <a:r>
                  <a:rPr kumimoji="1" lang="en-US" altLang="zh-CN" sz="1200" i="0">
                    <a:ea typeface="KishoreFont Medium" charset="0"/>
                    <a:cs typeface="KishoreFont Medium" charset="0"/>
                  </a:rPr>
                  <a:t>i</a:t>
                </a:r>
                <a:r>
                  <a:rPr kumimoji="1" lang="en-US" altLang="zh-CN" sz="1200" i="0">
                    <a:latin typeface="Cambria Math" panose="02040503050406030204" pitchFamily="18" charset="0"/>
                    <a:ea typeface="KishoreFont Medium" charset="0"/>
                    <a:cs typeface="KishoreFont Medium" charset="0"/>
                  </a:rPr>
                  <a:t>" </a:t>
                </a:r>
                <a:r>
                  <a:rPr kumimoji="1" lang="en-US" altLang="zh-CN" sz="1200" dirty="0" smtClean="0">
                    <a:latin typeface="Helvetica Neue"/>
                    <a:ea typeface="KishoreFont Medium" charset="0"/>
                    <a:cs typeface="KishoreFont Medium" charset="0"/>
                  </a:rPr>
                  <a:t> is </a:t>
                </a:r>
                <a:r>
                  <a:rPr kumimoji="1" lang="en-US" altLang="zh-CN" sz="1200" dirty="0">
                    <a:latin typeface="Helvetica Neue"/>
                    <a:ea typeface="KishoreFont Medium" charset="0"/>
                    <a:cs typeface="KishoreFont Medium" charset="0"/>
                  </a:rPr>
                  <a:t>best thought of </a:t>
                </a:r>
                <a:r>
                  <a:rPr kumimoji="1" lang="en-US" altLang="zh-CN" sz="1200" dirty="0" smtClean="0">
                    <a:latin typeface="Helvetica Neue"/>
                    <a:ea typeface="KishoreFont Medium" charset="0"/>
                    <a:cs typeface="KishoreFont Medium" charset="0"/>
                  </a:rPr>
                  <a:t>as </a:t>
                </a:r>
                <a:r>
                  <a:rPr kumimoji="1" lang="en-US" altLang="zh-CN" sz="1200" dirty="0" smtClean="0">
                    <a:latin typeface="Helvetica Neue"/>
                    <a:ea typeface="KishoreFont Medium" charset="0"/>
                    <a:cs typeface="KishoreFont Medium" charset="0"/>
                  </a:rPr>
                  <a:t>random</a:t>
                </a:r>
                <a:r>
                  <a:rPr kumimoji="1" lang="zh-CN" altLang="en-US" sz="1200" baseline="0" dirty="0" smtClean="0">
                    <a:latin typeface="Helvetica" charset="0"/>
                    <a:ea typeface="KishoreFont Medium" charset="0"/>
                    <a:cs typeface="Helvetica" charset="0"/>
                  </a:rPr>
                  <a:t> </a:t>
                </a:r>
                <a:r>
                  <a:rPr kumimoji="1" lang="en-US" altLang="zh-CN" sz="1200" dirty="0" smtClean="0">
                    <a:latin typeface="Helvetica Neue"/>
                    <a:ea typeface="KishoreFont Medium" charset="0"/>
                    <a:cs typeface="KishoreFont Medium" charset="0"/>
                  </a:rPr>
                  <a:t>because we only sample a subset of the possible</a:t>
                </a:r>
                <a:r>
                  <a:rPr kumimoji="1" lang="en-US" altLang="zh-CN" sz="1200" baseline="0" dirty="0" smtClean="0">
                    <a:latin typeface="Helvetica Neue"/>
                    <a:ea typeface="KishoreFont Medium" charset="0"/>
                    <a:cs typeface="KishoreFont Medium" charset="0"/>
                  </a:rPr>
                  <a:t> outcomes for each subject</a:t>
                </a:r>
                <a:endParaRPr kumimoji="1" lang="en-US" altLang="zh-CN" sz="1200" dirty="0" smtClean="0">
                  <a:latin typeface="Helvetica Neue"/>
                  <a:ea typeface="KishoreFont Medium" charset="0"/>
                  <a:cs typeface="KishoreFont Medium" charset="0"/>
                </a:endParaRP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E5D08161-6681-014A-9CA1-0BAF896A7FEF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84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CN" sz="1200" dirty="0" smtClean="0">
              <a:latin typeface="Helvetica Neue"/>
              <a:ea typeface="KishoreFont Medium" charset="0"/>
              <a:cs typeface="KishoreFont Medium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E5D08161-6681-014A-9CA1-0BAF896A7FEF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811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CN" sz="1200" dirty="0" smtClean="0">
              <a:latin typeface="Helvetica Neue"/>
              <a:ea typeface="KishoreFont Medium" charset="0"/>
              <a:cs typeface="KishoreFont Medium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E5D08161-6681-014A-9CA1-0BAF896A7FEF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834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CN" sz="1200" dirty="0" smtClean="0">
              <a:latin typeface="Helvetica Neue"/>
              <a:ea typeface="KishoreFont Medium" charset="0"/>
              <a:cs typeface="KishoreFont Medium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E5D08161-6681-014A-9CA1-0BAF896A7FEF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60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Regression Methods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Mixed Effects Models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  <p:sp>
        <p:nvSpPr>
          <p:cNvPr id="5" name="Title 5"/>
          <p:cNvSpPr txBox="1">
            <a:spLocks/>
          </p:cNvSpPr>
          <p:nvPr/>
        </p:nvSpPr>
        <p:spPr>
          <a:xfrm>
            <a:off x="135118" y="241856"/>
            <a:ext cx="5463824" cy="993775"/>
          </a:xfrm>
          <a:prstGeom prst="rect">
            <a:avLst/>
          </a:prstGeom>
        </p:spPr>
        <p:txBody>
          <a:bodyPr/>
          <a:lstStyle>
            <a:lvl1pPr algn="l" defTabSz="342900" rtl="0" eaLnBrk="1" latinLnBrk="0" hangingPunct="1">
              <a:spcBef>
                <a:spcPct val="0"/>
              </a:spcBef>
              <a:buNone/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 smtClean="0"/>
              <a:t>About this lesson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18" y="241856"/>
            <a:ext cx="8562392" cy="592830"/>
          </a:xfrm>
        </p:spPr>
        <p:txBody>
          <a:bodyPr/>
          <a:lstStyle/>
          <a:p>
            <a:r>
              <a:rPr kumimoji="1" lang="en-US" altLang="zh-CN" sz="3600" dirty="0" smtClean="0"/>
              <a:t>ANOVA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Model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52349" y="1033321"/>
                <a:ext cx="7820497" cy="3619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b="1" dirty="0" smtClean="0">
                    <a:latin typeface="Helvetica" charset="0"/>
                    <a:ea typeface="Helvetica" charset="0"/>
                    <a:cs typeface="Helvetica" charset="0"/>
                  </a:rPr>
                  <a:t>Data</a:t>
                </a:r>
                <a:r>
                  <a:rPr kumimoji="1" lang="en-US" altLang="zh-CN" sz="2200" dirty="0" smtClean="0">
                    <a:latin typeface="Helvetica" charset="0"/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sz="2200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en-US" altLang="zh-CN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 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for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j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…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kumimoji="1" lang="en-US" altLang="zh-CN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;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1,…, k</a:t>
                </a:r>
              </a:p>
              <a:p>
                <a:endParaRPr kumimoji="1" lang="en-US" altLang="zh-CN" sz="2200" b="1" dirty="0" smtClean="0">
                  <a:latin typeface="Helvetica" charset="0"/>
                  <a:ea typeface="Helvetica" charset="0"/>
                  <a:cs typeface="Helvetica" charset="0"/>
                </a:endParaRPr>
              </a:p>
              <a:p>
                <a:r>
                  <a:rPr kumimoji="1" lang="en-US" altLang="zh-CN" sz="2200" b="1" dirty="0" smtClean="0">
                    <a:latin typeface="Helvetica" charset="0"/>
                    <a:ea typeface="Helvetica" charset="0"/>
                    <a:cs typeface="Helvetica" charset="0"/>
                  </a:rPr>
                  <a:t>Model</a:t>
                </a:r>
                <a:r>
                  <a:rPr kumimoji="1" lang="en-US" altLang="zh-CN" sz="2200" dirty="0" smtClean="0"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sz="2200" dirty="0" smtClean="0"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sz="2200" dirty="0" err="1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sz="2200" baseline="-25000" dirty="0" err="1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kumimoji="1" lang="mr-IN" altLang="zh-CN" sz="220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20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</m:oMath>
                </a14:m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μ</m:t>
                    </m:r>
                    <m:r>
                      <m:rPr>
                        <m:nor/>
                      </m:rPr>
                      <a:rPr kumimoji="1" lang="mr-IN" altLang="zh-CN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kumimoji="1" lang="mr-IN" altLang="zh-CN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  <m:r>
                      <a:rPr kumimoji="1" lang="zh-CN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latin typeface="Helvetica Neue" charset="0"/>
                    <a:ea typeface="Helvetica Neue" charset="0"/>
                    <a:cs typeface="Helvetica Neue" charset="0"/>
                  </a:rPr>
                  <a:t>where</a:t>
                </a:r>
                <a:r>
                  <a:rPr kumimoji="1" lang="zh-CN" altLang="en-US" sz="2200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nor/>
                            <m:brk m:alnAt="23"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k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20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kumimoji="1" lang="en-US" altLang="zh-CN" sz="220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mr-IN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e>
                    </m:nary>
                  </m:oMath>
                </a14:m>
                <a:endParaRPr kumimoji="1" lang="en-US" altLang="zh-CN" sz="22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err="1">
                    <a:latin typeface="Cambria Math" charset="0"/>
                    <a:ea typeface="Cambria Math" charset="0"/>
                    <a:cs typeface="Cambria Math" charset="0"/>
                  </a:rPr>
                  <a:t>i-th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group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mean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decomposed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into</a:t>
                </a:r>
                <a:r>
                  <a:rPr kumimoji="1" lang="zh-CN" altLang="en-US" sz="2200" dirty="0" smtClean="0"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20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μ</m:t>
                    </m:r>
                    <m:r>
                      <m:rPr>
                        <m:nor/>
                      </m:rPr>
                      <a:rPr kumimoji="1" lang="en-US" altLang="zh-CN" sz="2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b="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endParaRPr kumimoji="1" lang="en-US" altLang="zh-CN" sz="2200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kumimoji="1" lang="en-US" altLang="zh-CN" sz="2200" dirty="0" smtClean="0">
                  <a:latin typeface="Helvetica Neue"/>
                  <a:ea typeface="KishoreFont Medium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In some designs, the categorical variable is “subject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” or experimental setting</a:t>
                </a:r>
                <a:b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</a:br>
                <a:endParaRPr kumimoji="1" lang="en-US" altLang="zh-CN" sz="2200" dirty="0" smtClean="0">
                  <a:latin typeface="Helvetica Neue"/>
                  <a:ea typeface="KishoreFont Medium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Simplest example: repeated measures, where more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than one 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(identical) measurement is taken on the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same setting.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49" y="1033321"/>
                <a:ext cx="7820497" cy="3619837"/>
              </a:xfrm>
              <a:prstGeom prst="rect">
                <a:avLst/>
              </a:prstGeom>
              <a:blipFill rotWithShape="0">
                <a:blip r:embed="rId3"/>
                <a:stretch>
                  <a:fillRect l="-1013" t="-1686" b="-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24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18" y="241856"/>
            <a:ext cx="8562392" cy="993775"/>
          </a:xfrm>
        </p:spPr>
        <p:txBody>
          <a:bodyPr/>
          <a:lstStyle/>
          <a:p>
            <a:r>
              <a:rPr kumimoji="1" lang="en-US" altLang="zh-CN" sz="3600" dirty="0" smtClean="0"/>
              <a:t>ANOVA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/>
              <a:t>Model: Random Effects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52349" y="1033321"/>
                <a:ext cx="7820497" cy="3382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b="1" dirty="0" smtClean="0">
                    <a:latin typeface="Helvetica" charset="0"/>
                    <a:ea typeface="Helvetica" charset="0"/>
                    <a:cs typeface="Helvetica" charset="0"/>
                  </a:rPr>
                  <a:t>Data</a:t>
                </a:r>
                <a:r>
                  <a:rPr kumimoji="1" lang="en-US" altLang="zh-CN" sz="2200" dirty="0" smtClean="0">
                    <a:latin typeface="Helvetica" charset="0"/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sz="2200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en-US" altLang="zh-CN" sz="2200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 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j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…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n</a:t>
                </a:r>
                <a:r>
                  <a:rPr kumimoji="1" lang="en-US" altLang="zh-CN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;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1,…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，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k</a:t>
                </a:r>
              </a:p>
              <a:p>
                <a:endParaRPr kumimoji="1" lang="en-US" altLang="zh-CN" sz="2200" b="1" dirty="0" smtClean="0">
                  <a:latin typeface="Helvetica" charset="0"/>
                  <a:ea typeface="Helvetica" charset="0"/>
                  <a:cs typeface="Helvetica" charset="0"/>
                </a:endParaRPr>
              </a:p>
              <a:p>
                <a:r>
                  <a:rPr kumimoji="1" lang="en-US" altLang="zh-CN" sz="2200" b="1" dirty="0" smtClean="0">
                    <a:latin typeface="Helvetica" charset="0"/>
                    <a:ea typeface="Helvetica" charset="0"/>
                    <a:cs typeface="Helvetica" charset="0"/>
                  </a:rPr>
                  <a:t>Model</a:t>
                </a:r>
                <a:r>
                  <a:rPr kumimoji="1" lang="en-US" altLang="zh-CN" sz="2200" dirty="0" smtClean="0">
                    <a:ea typeface="Helvetica" charset="0"/>
                    <a:cs typeface="Helvetica" charset="0"/>
                  </a:rPr>
                  <a:t>:</a:t>
                </a:r>
                <a:r>
                  <a:rPr kumimoji="1" lang="zh-CN" altLang="en-US" sz="2200" dirty="0" smtClean="0">
                    <a:ea typeface="Helvetica" charset="0"/>
                    <a:cs typeface="Helvetica" charset="0"/>
                  </a:rPr>
                  <a:t> </a:t>
                </a:r>
                <a:r>
                  <a:rPr kumimoji="1" lang="en-US" altLang="zh-CN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Y</a:t>
                </a:r>
                <a:r>
                  <a:rPr kumimoji="1" lang="en-US" altLang="zh-CN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ij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kumimoji="1" lang="mr-IN" altLang="zh-CN" sz="220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</m:oMath>
                </a14:m>
                <a:r>
                  <a:rPr kumimoji="1" lang="zh-CN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20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μ</m:t>
                    </m:r>
                    <m:r>
                      <m:rPr>
                        <m:nor/>
                      </m:rPr>
                      <a:rPr kumimoji="1" lang="mr-IN" altLang="zh-CN" sz="220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kumimoji="1" lang="mr-IN" altLang="zh-CN" sz="220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b="0" i="0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ij</m:t>
                        </m:r>
                      </m:sub>
                    </m:sSub>
                    <m:r>
                      <a:rPr kumimoji="1" lang="zh-CN" altLang="en-US" sz="2200" b="0" i="1" dirty="0" smtClean="0">
                        <a:latin typeface="Cambria Math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where</a:t>
                </a:r>
                <a:r>
                  <a:rPr kumimoji="1" lang="zh-CN" altLang="en-US" sz="2200" dirty="0" smtClean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nor/>
                            <m:brk m:alnAt="23"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k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20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kumimoji="1" lang="en-US" altLang="zh-CN" sz="220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mr-IN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e>
                    </m:nary>
                  </m:oMath>
                </a14:m>
                <a:endParaRPr kumimoji="1" lang="en-US" altLang="zh-CN" sz="22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err="1">
                    <a:latin typeface="Cambria Math" charset="0"/>
                    <a:ea typeface="Cambria Math" charset="0"/>
                    <a:cs typeface="Cambria Math" charset="0"/>
                  </a:rPr>
                  <a:t>i-th</a:t>
                </a:r>
                <a:r>
                  <a:rPr kumimoji="1" lang="zh-CN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group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mean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decomposed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kumimoji="1" lang="en-US" altLang="zh-CN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into</a:t>
                </a:r>
                <a:r>
                  <a:rPr kumimoji="1" lang="zh-CN" altLang="en-US" sz="2200" dirty="0" smtClean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μ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2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μ</m:t>
                    </m:r>
                    <m:r>
                      <m:rPr>
                        <m:nor/>
                      </m:rPr>
                      <a:rPr kumimoji="1" lang="en-US" altLang="zh-CN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i</m:t>
                        </m:r>
                      </m:sub>
                    </m:sSub>
                  </m:oMath>
                </a14:m>
                <a:endParaRPr kumimoji="1" lang="en-US" altLang="zh-CN" sz="22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kumimoji="1" lang="en-US" altLang="zh-CN" sz="2200" dirty="0">
                  <a:latin typeface="+mj-lt"/>
                  <a:ea typeface="KishoreFont Medium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ij</m:t>
                        </m:r>
                      </m:sub>
                    </m:sSub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𝑁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(0,</m:t>
                    </m:r>
                    <m:sSup>
                      <m:sSupPr>
                        <m:ctrlPr>
                          <a:rPr kumimoji="1" lang="en-US" altLang="zh-CN" sz="2200" b="0" i="1" dirty="0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zh-CN" alt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)</m:t>
                    </m:r>
                  </m:oMath>
                </a14:m>
                <a:endParaRPr kumimoji="1" lang="en-US" altLang="zh-CN" sz="2200" dirty="0" smtClean="0">
                  <a:latin typeface="+mj-lt"/>
                  <a:ea typeface="KishoreFont Medium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𝑁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(0,</m:t>
                    </m:r>
                    <m:sSubSup>
                      <m:sSubSupPr>
                        <m:ctrlPr>
                          <a:rPr kumimoji="1" lang="en-US" altLang="zh-CN" sz="2200" i="1" dirty="0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zh-CN" altLang="en-US" sz="2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)</m:t>
                    </m:r>
                  </m:oMath>
                </a14:m>
                <a:endParaRPr kumimoji="1" lang="en-US" altLang="zh-CN" sz="2200" dirty="0">
                  <a:ea typeface="KishoreFont Medium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We might be interested in the in the variability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across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subjects, i.e.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zh-CN" alt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. Is it zero?</a:t>
                </a:r>
                <a:endParaRPr kumimoji="1" lang="en-US" altLang="zh-CN" sz="2200" dirty="0">
                  <a:latin typeface="Helvetica Neue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49" y="1033321"/>
                <a:ext cx="7820497" cy="3382786"/>
              </a:xfrm>
              <a:prstGeom prst="rect">
                <a:avLst/>
              </a:prstGeom>
              <a:blipFill rotWithShape="0">
                <a:blip r:embed="rId3"/>
                <a:stretch>
                  <a:fillRect l="-1013" t="-1805" b="-2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91319" y="1649595"/>
            <a:ext cx="8052162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Are the assumptions the same as in ANOVA with fixed effects?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In random effects model, the observations are no longer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independent (even if </a:t>
            </a: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the error terms </a:t>
            </a: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are independent).</a:t>
            </a:r>
          </a:p>
        </p:txBody>
      </p:sp>
    </p:spTree>
    <p:extLst>
      <p:ext uri="{BB962C8B-B14F-4D97-AF65-F5344CB8AC3E}">
        <p14:creationId xmlns:p14="http://schemas.microsoft.com/office/powerpoint/2010/main" val="27067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18" y="241855"/>
            <a:ext cx="8562392" cy="993775"/>
          </a:xfrm>
        </p:spPr>
        <p:txBody>
          <a:bodyPr/>
          <a:lstStyle/>
          <a:p>
            <a:r>
              <a:rPr kumimoji="1" lang="en-US" altLang="zh-CN" sz="3600" dirty="0" smtClean="0"/>
              <a:t>ANOVA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Model: Random Effects</a:t>
            </a:r>
            <a:endParaRPr kumimoji="1"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252349" y="1268453"/>
            <a:ext cx="78204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When to use random effects?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A “group” effect is random if we can think of the </a:t>
            </a: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responses we observe </a:t>
            </a:r>
            <a:r>
              <a:rPr kumimoji="1" lang="en-US" altLang="zh-CN" sz="2200">
                <a:latin typeface="Helvetica Neue"/>
                <a:ea typeface="KishoreFont Medium" charset="0"/>
                <a:cs typeface="KishoreFont Medium" charset="0"/>
              </a:rPr>
              <a:t>in </a:t>
            </a:r>
            <a:r>
              <a:rPr kumimoji="1" lang="en-US" altLang="zh-CN" sz="2200" smtClean="0">
                <a:latin typeface="Helvetica Neue"/>
                <a:ea typeface="KishoreFont Medium" charset="0"/>
                <a:cs typeface="KishoreFont Medium" charset="0"/>
              </a:rPr>
              <a:t>the </a:t>
            </a: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group to be samples from a larger </a:t>
            </a: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population.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Example</a:t>
            </a: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: if collecting data from different medical centers</a:t>
            </a: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, “</a:t>
            </a: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center” might be thought of as </a:t>
            </a: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random.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Example</a:t>
            </a: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: if surveying students on different campuses</a:t>
            </a:r>
            <a:r>
              <a:rPr kumimoji="1" lang="en-US" altLang="zh-CN" sz="2200" dirty="0" smtClean="0">
                <a:latin typeface="Helvetica Neue"/>
                <a:ea typeface="KishoreFont Medium" charset="0"/>
                <a:cs typeface="KishoreFont Medium" charset="0"/>
              </a:rPr>
              <a:t>, “</a:t>
            </a:r>
            <a:r>
              <a:rPr kumimoji="1" lang="en-US" altLang="zh-CN" sz="2200" dirty="0">
                <a:latin typeface="Helvetica Neue"/>
                <a:ea typeface="KishoreFont Medium" charset="0"/>
                <a:cs typeface="KishoreFont Medium" charset="0"/>
              </a:rPr>
              <a:t>campus” may be a random effect.</a:t>
            </a:r>
            <a:endParaRPr kumimoji="1" lang="en-US" altLang="zh-CN" sz="2200" dirty="0" smtClean="0">
              <a:latin typeface="Helvetica Neue"/>
              <a:ea typeface="KishoreFont Medium" charset="0"/>
              <a:cs typeface="KishoreFont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0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18" y="241855"/>
            <a:ext cx="8562392" cy="993775"/>
          </a:xfrm>
        </p:spPr>
        <p:txBody>
          <a:bodyPr/>
          <a:lstStyle/>
          <a:p>
            <a:r>
              <a:rPr kumimoji="1" lang="en-US" altLang="zh-CN" sz="3600" dirty="0" smtClean="0"/>
              <a:t>Regression Model: Mixed Effects</a:t>
            </a:r>
            <a:endParaRPr kumimoji="1"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52349" y="1129115"/>
                <a:ext cx="7820497" cy="3642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In 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some studies, some factors can be thought of as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fixed, others 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random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Suppose we study the effect of a blood pressure meant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to lower 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blood pressure over time and we study r patients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For each patient we record BP at regular intervals over 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a week </a:t>
                </a:r>
                <a:r>
                  <a:rPr kumimoji="1" lang="en-US" altLang="zh-CN" sz="2200" dirty="0">
                    <a:latin typeface="Helvetica Neue"/>
                    <a:ea typeface="KishoreFont Medium" charset="0"/>
                    <a:cs typeface="KishoreFont Medium" charset="0"/>
                  </a:rPr>
                  <a:t>(every day, say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CN" sz="2200" b="1" dirty="0" smtClean="0">
                    <a:latin typeface="Helvetica Neue"/>
                    <a:ea typeface="KishoreFont Medium" charset="0"/>
                    <a:cs typeface="KishoreFont Medium" charset="0"/>
                  </a:rPr>
                  <a:t>Model</a:t>
                </a:r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: </a:t>
                </a:r>
                <a:r>
                  <a:rPr kumimoji="1" lang="en-US" altLang="zh-CN" sz="2200" dirty="0" err="1" smtClean="0">
                    <a:ea typeface="Cambria Math" panose="02040503050406030204" pitchFamily="18" charset="0"/>
                    <a:cs typeface="KishoreFont Medium" charset="0"/>
                  </a:rPr>
                  <a:t>Y</a:t>
                </a:r>
                <a:r>
                  <a:rPr kumimoji="1" lang="en-US" altLang="zh-CN" sz="2200" baseline="-25000" dirty="0" err="1" smtClean="0">
                    <a:ea typeface="Cambria Math" panose="02040503050406030204" pitchFamily="18" charset="0"/>
                    <a:cs typeface="KishoreFont Medium" charset="0"/>
                  </a:rPr>
                  <a:t>ij</a:t>
                </a:r>
                <a:r>
                  <a:rPr kumimoji="1" lang="zh-CN" altLang="en-US" sz="2200" dirty="0" smtClean="0">
                    <a:ea typeface="KishoreFont Medium" charset="0"/>
                    <a:cs typeface="KishoreFont Medium" charset="0"/>
                  </a:rPr>
                  <a:t> </a:t>
                </a:r>
                <a:r>
                  <a:rPr kumimoji="1" lang="en-US" altLang="zh-CN" sz="2200" dirty="0">
                    <a:ea typeface="Cambria Math" panose="02040503050406030204" pitchFamily="18" charset="0"/>
                    <a:cs typeface="KishoreFont Medium" charset="0"/>
                  </a:rPr>
                  <a:t>=</a:t>
                </a:r>
                <a:r>
                  <a:rPr kumimoji="1" lang="zh-CN" altLang="en-US" sz="220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200" dirty="0">
                        <a:ea typeface="KishoreFont Medium" charset="0"/>
                        <a:cs typeface="KishoreFont Medium" charset="0"/>
                      </a:rPr>
                      <m:t>μ</m:t>
                    </m:r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l-GR" altLang="zh-C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α</m:t>
                    </m:r>
                    <m:r>
                      <m:rPr>
                        <m:nor/>
                      </m:rP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2200" b="0" i="1" dirty="0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+</m:t>
                    </m:r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ij</m:t>
                        </m:r>
                      </m:sub>
                    </m:sSub>
                  </m:oMath>
                </a14:m>
                <a:endParaRPr kumimoji="1" lang="en-US" altLang="zh-CN" sz="220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ε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ij</m:t>
                        </m:r>
                      </m:sub>
                    </m:sSub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𝑁</m:t>
                    </m:r>
                    <m:d>
                      <m:d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d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0,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CN" sz="22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-US" altLang="zh-CN" sz="2200" dirty="0"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~ 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𝑁</m:t>
                    </m:r>
                    <m:d>
                      <m:d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d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0,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zh-CN" altLang="en-US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kumimoji="1" lang="en-US" altLang="zh-CN" sz="220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j</m:t>
                    </m:r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 7</m:t>
                    </m:r>
                  </m:oMath>
                </a14:m>
                <a:r>
                  <a:rPr kumimoji="1" lang="en-US" altLang="zh-CN" sz="2200" dirty="0" smtClean="0">
                    <a:latin typeface="Helvetica Neue"/>
                    <a:ea typeface="KishoreFont Medium" charset="0"/>
                    <a:cs typeface="KishoreFont Medium" charset="0"/>
                  </a:rPr>
                  <a:t> in this example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49" y="1129115"/>
                <a:ext cx="7820497" cy="3642792"/>
              </a:xfrm>
              <a:prstGeom prst="rect">
                <a:avLst/>
              </a:prstGeom>
              <a:blipFill>
                <a:blip r:embed="rId3"/>
                <a:stretch>
                  <a:fillRect l="-857" t="-1003" r="-78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33016" y="1865299"/>
            <a:ext cx="8052162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</a:t>
            </a: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not all the X’s are the same for each subject, or </a:t>
            </a: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some observations </a:t>
            </a: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are missing, things are more complicated</a:t>
            </a: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Covariance matrix of Y is more complicated; use a computer to estimate such models!</a:t>
            </a:r>
            <a:endParaRPr lang="en-US" altLang="en-US" sz="2000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8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6363" y="241856"/>
            <a:ext cx="6182318" cy="993775"/>
          </a:xfrm>
        </p:spPr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b057fda7-913b-4ab6-8820-932873bcd66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16897</TotalTime>
  <Words>535</Words>
  <Application>Microsoft Macintosh PowerPoint</Application>
  <PresentationFormat>On-screen Show (16:9)</PresentationFormat>
  <Paragraphs>49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Arial</vt:lpstr>
      <vt:lpstr>Calibri</vt:lpstr>
      <vt:lpstr>Cambria Math</vt:lpstr>
      <vt:lpstr>Helvetica</vt:lpstr>
      <vt:lpstr>Helvetica Neue</vt:lpstr>
      <vt:lpstr>KishoreFont Medium</vt:lpstr>
      <vt:lpstr>MS PGothic</vt:lpstr>
      <vt:lpstr>Vitesse</vt:lpstr>
      <vt:lpstr>Vitesse Bold</vt:lpstr>
      <vt:lpstr>Vitesse Book</vt:lpstr>
      <vt:lpstr>Vitesse Medium</vt:lpstr>
      <vt:lpstr>Vitesse Thin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PowerPoint Presentation</vt:lpstr>
      <vt:lpstr>ANOVA Model</vt:lpstr>
      <vt:lpstr>ANOVA Model: Random Effects</vt:lpstr>
      <vt:lpstr>ANOVA Model: Random Effects</vt:lpstr>
      <vt:lpstr>Regression Model: Mixed Effects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869</cp:revision>
  <dcterms:modified xsi:type="dcterms:W3CDTF">2017-04-27T17:49:18Z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