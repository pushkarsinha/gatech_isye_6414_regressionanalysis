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  <p:sldMasterId id="2147483690" r:id="rId5"/>
    <p:sldMasterId id="2147483684" r:id="rId6"/>
    <p:sldMasterId id="2147483654" r:id="rId7"/>
    <p:sldMasterId id="2147483652" r:id="rId8"/>
  </p:sldMasterIdLst>
  <p:notesMasterIdLst>
    <p:notesMasterId r:id="rId19"/>
  </p:notesMasterIdLst>
  <p:handoutMasterIdLst>
    <p:handoutMasterId r:id="rId20"/>
  </p:handoutMasterIdLst>
  <p:sldIdLst>
    <p:sldId id="434" r:id="rId9"/>
    <p:sldId id="408" r:id="rId10"/>
    <p:sldId id="498" r:id="rId11"/>
    <p:sldId id="446" r:id="rId12"/>
    <p:sldId id="502" r:id="rId13"/>
    <p:sldId id="503" r:id="rId14"/>
    <p:sldId id="504" r:id="rId15"/>
    <p:sldId id="505" r:id="rId16"/>
    <p:sldId id="507" r:id="rId17"/>
    <p:sldId id="425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408"/>
            <p14:sldId id="498"/>
            <p14:sldId id="446"/>
            <p14:sldId id="502"/>
            <p14:sldId id="503"/>
            <p14:sldId id="504"/>
            <p14:sldId id="505"/>
            <p14:sldId id="507"/>
            <p14:sldId id="4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>
    <p:extLst/>
  </p:cmAuthor>
  <p:cmAuthor id="2" name="Figueroa, Shabana" initials="FS [2]" lastIdx="1" clrIdx="1">
    <p:extLst/>
  </p:cmAuthor>
  <p:cmAuthor id="3" name="Serban, Nicoleta" initials="SN" lastIdx="11" clrIdx="2">
    <p:extLst/>
  </p:cmAuthor>
  <p:cmAuthor id="4" name="Hu, Rui" initials="HR" lastIdx="1" clrIdx="3">
    <p:extLst/>
  </p:cmAuthor>
  <p:cmAuthor id="5" name="Hu, Rui" initials="HR [2]" lastIdx="1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4221"/>
    <a:srgbClr val="3F6CAF"/>
    <a:srgbClr val="1F497D"/>
    <a:srgbClr val="984807"/>
    <a:srgbClr val="993200"/>
    <a:srgbClr val="F8FFF1"/>
    <a:srgbClr val="EEB211"/>
    <a:srgbClr val="000000"/>
    <a:srgbClr val="F7FFEE"/>
    <a:srgbClr val="F5F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9216" autoAdjust="0"/>
    <p:restoredTop sz="89904" autoAdjust="0"/>
  </p:normalViewPr>
  <p:slideViewPr>
    <p:cSldViewPr snapToGrid="0">
      <p:cViewPr varScale="1">
        <p:scale>
          <a:sx n="128" d="100"/>
          <a:sy n="128" d="100"/>
        </p:scale>
        <p:origin x="22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20" Type="http://schemas.openxmlformats.org/officeDocument/2006/relationships/handoutMaster" Target="handoutMasters/handout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4/27/17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4/27/17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778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>
                <a:ea typeface="Cambria Math" charset="0"/>
              </a:rPr>
              <a:pPr/>
              <a:t>3</a:t>
            </a:fld>
            <a:endParaRPr lang="en-US" altLang="en-US" dirty="0" smtClean="0">
              <a:ea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827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80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47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079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33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09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Regular</a:t>
            </a:r>
            <a:r>
              <a:rPr lang="en-US" baseline="0" dirty="0" smtClean="0"/>
              <a:t> design or lattice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32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0"/>
          </p:nvPr>
        </p:nvSpPr>
        <p:spPr>
          <a:xfrm>
            <a:off x="211138" y="592138"/>
            <a:ext cx="4502150" cy="347821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2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241300" y="492125"/>
            <a:ext cx="4491474" cy="3657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3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47650" y="274639"/>
            <a:ext cx="8595313" cy="712848"/>
          </a:xfrm>
          <a:prstGeom prst="rect">
            <a:avLst/>
          </a:prstGeom>
        </p:spPr>
        <p:txBody>
          <a:bodyPr/>
          <a:lstStyle>
            <a:lvl1pPr algn="l"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 smtClean="0"/>
              <a:t>Course title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96333"/>
            <a:ext cx="8576502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 smtClean="0"/>
              <a:t>Module Name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5"/>
            <a:ext cx="8595315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Professor Name, Ph.D.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5"/>
            <a:ext cx="8604722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Title</a:t>
            </a:r>
          </a:p>
          <a:p>
            <a:pPr lvl="0"/>
            <a:endParaRPr lang="en-US" dirty="0" smtClean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814376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Lesson name: e.g. R Examples</a:t>
            </a:r>
          </a:p>
          <a:p>
            <a:pPr lvl="0"/>
            <a:r>
              <a:rPr lang="en-US" dirty="0" err="1" smtClean="0"/>
              <a:t>Subname</a:t>
            </a:r>
            <a:r>
              <a:rPr lang="en-US" dirty="0" smtClean="0"/>
              <a:t> if applicable (e.g. Part II)</a:t>
            </a:r>
          </a:p>
          <a:p>
            <a:pPr lvl="0"/>
            <a:endParaRPr lang="en-US" dirty="0" smtClean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7" y="2896113"/>
            <a:ext cx="8595316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School Name</a:t>
            </a:r>
          </a:p>
          <a:p>
            <a:pPr lvl="0"/>
            <a:endParaRPr lang="en-US" dirty="0" smtClean="0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2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 smtClean="0"/>
              <a:t>of the printing and typesetting industry. </a:t>
            </a: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remaining essentially unchanged. </a:t>
            </a:r>
            <a:endParaRPr lang="en-US" sz="18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remaining essentially unchanged. </a:t>
            </a:r>
            <a:endParaRPr lang="en-US" sz="1800" dirty="0"/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74639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50" y="1436689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7651" y="274639"/>
            <a:ext cx="6121165" cy="712848"/>
          </a:xfrm>
          <a:prstGeom prst="rect">
            <a:avLst/>
          </a:prstGeom>
        </p:spPr>
        <p:txBody>
          <a:bodyPr/>
          <a:lstStyle>
            <a:lvl1pPr algn="l">
              <a:defRPr lang="en-US" sz="3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 smtClean="0"/>
              <a:t>Course title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3" y="796334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25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 smtClean="0"/>
              <a:t>Module Name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6"/>
            <a:ext cx="5095759" cy="432669"/>
          </a:xfrm>
          <a:prstGeom prst="rect">
            <a:avLst/>
          </a:prstGeom>
        </p:spPr>
        <p:txBody>
          <a:bodyPr anchor="ctr"/>
          <a:lstStyle>
            <a:lvl1pPr marL="0" indent="0" algn="l" defTabSz="342900" rtl="0" eaLnBrk="1" latinLnBrk="0" hangingPunct="1">
              <a:lnSpc>
                <a:spcPts val="1050"/>
              </a:lnSpc>
              <a:spcBef>
                <a:spcPct val="20000"/>
              </a:spcBef>
              <a:buFont typeface="Arial"/>
              <a:buNone/>
              <a:defRPr lang="en-US" sz="18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6"/>
            <a:ext cx="4888796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smtClean="0"/>
              <a:t>Title</a:t>
            </a: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4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Lesson name: e.g. R Examples</a:t>
            </a:r>
          </a:p>
          <a:p>
            <a:pPr lvl="0"/>
            <a:r>
              <a:rPr lang="en-US" dirty="0" err="1" smtClean="0"/>
              <a:t>Subname</a:t>
            </a:r>
            <a:r>
              <a:rPr lang="en-US" dirty="0" smtClean="0"/>
              <a:t> if applicable (e.g. Part II)</a:t>
            </a:r>
          </a:p>
          <a:p>
            <a:pPr lvl="0"/>
            <a:endParaRPr lang="en-US" dirty="0" smtClean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9" y="2896114"/>
            <a:ext cx="4794723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School Name</a:t>
            </a:r>
          </a:p>
          <a:p>
            <a:pPr lvl="0"/>
            <a:endParaRPr lang="en-US" dirty="0" smtClean="0"/>
          </a:p>
        </p:txBody>
      </p:sp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252351" y="1268453"/>
            <a:ext cx="4611277" cy="3473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35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2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2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05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9" y="1268454"/>
            <a:ext cx="4705350" cy="3562526"/>
          </a:xfrm>
          <a:prstGeom prst="rect">
            <a:avLst/>
          </a:prstGeom>
        </p:spPr>
        <p:txBody>
          <a:bodyPr/>
          <a:lstStyle>
            <a:lvl1pPr marL="214313" indent="-214313">
              <a:buFont typeface="Arial"/>
              <a:buChar char="•"/>
              <a:defRPr sz="15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text.</a:t>
            </a:r>
          </a:p>
          <a:p>
            <a:endParaRPr lang="en-US" sz="135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remaining essentially unchanged. </a:t>
            </a:r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104932"/>
            <a:ext cx="4213956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752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823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83272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4398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3234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274638"/>
            <a:ext cx="5691763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b="1" i="0" kern="1200" dirty="0">
                <a:solidFill>
                  <a:schemeClr val="tx1"/>
                </a:solidFill>
                <a:latin typeface="Vitesse" charset="0"/>
                <a:ea typeface="Vitesse" charset="0"/>
                <a:cs typeface="Vitesse" charset="0"/>
              </a:defRPr>
            </a:lvl1pPr>
          </a:lstStyle>
          <a:p>
            <a:r>
              <a:rPr lang="en-US"/>
              <a:t>Course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268413"/>
            <a:ext cx="497840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4400" kern="1200" dirty="0">
                <a:solidFill>
                  <a:srgbClr val="EEB21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lvl="0"/>
            <a:r>
              <a:rPr lang="en-US"/>
              <a:t>Module Name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435697"/>
            <a:ext cx="4305091" cy="35833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Vitesse Book" charset="0"/>
                <a:ea typeface="Vitesse Book" charset="0"/>
                <a:cs typeface="Vitesse Book" charset="0"/>
              </a:defRPr>
            </a:lvl1pPr>
          </a:lstStyle>
          <a:p>
            <a:pPr lvl="0"/>
            <a:r>
              <a:rPr lang="en-US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28649" y="4145592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Vitesse Thin" charset="0"/>
                <a:ea typeface="Vitesse Thin" charset="0"/>
                <a:cs typeface="Vitesse Thin" charset="0"/>
              </a:defRPr>
            </a:lvl1pPr>
          </a:lstStyle>
          <a:p>
            <a:pPr lvl="0"/>
            <a:r>
              <a:rPr lang="en-US"/>
              <a:t>Lesson name: e.g. R Examples</a:t>
            </a:r>
          </a:p>
          <a:p>
            <a:pPr lvl="0"/>
            <a:r>
              <a:rPr lang="en-US" err="1"/>
              <a:t>Subname</a:t>
            </a:r>
            <a:r>
              <a:rPr lang="en-US"/>
              <a:t> if applicable (e.g. Part II)</a:t>
            </a:r>
          </a:p>
          <a:p>
            <a:pPr lvl="0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628648" y="2758559"/>
            <a:ext cx="4305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i="1">
                <a:latin typeface="Vitesse" charset="0"/>
                <a:ea typeface="Vitesse" charset="0"/>
                <a:cs typeface="Vitesse" charset="0"/>
              </a:rPr>
              <a:t>Title</a:t>
            </a:r>
            <a:r>
              <a:rPr lang="en-US" b="1" i="1" baseline="0">
                <a:latin typeface="Vitesse" charset="0"/>
                <a:ea typeface="Vitesse" charset="0"/>
                <a:cs typeface="Vitesse" charset="0"/>
              </a:rPr>
              <a:t> Goes Here</a:t>
            </a:r>
            <a:endParaRPr lang="en-US" b="1" i="1">
              <a:latin typeface="Vitesse" charset="0"/>
              <a:ea typeface="Vitesse" charset="0"/>
              <a:cs typeface="Vitesse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628648" y="3070264"/>
            <a:ext cx="4305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b="0" i="0">
                <a:latin typeface="Vitesse Book" charset="0"/>
                <a:ea typeface="Vitesse Book" charset="0"/>
                <a:cs typeface="Vitesse Book" charset="0"/>
              </a:rPr>
              <a:t>School</a:t>
            </a:r>
            <a:r>
              <a:rPr lang="en-US" sz="1600" b="0" i="0" baseline="0">
                <a:latin typeface="Vitesse Book" charset="0"/>
                <a:ea typeface="Vitesse Book" charset="0"/>
                <a:cs typeface="Vitesse Book" charset="0"/>
              </a:rPr>
              <a:t> name goes here</a:t>
            </a:r>
            <a:endParaRPr lang="en-US" sz="1600" b="0" i="0">
              <a:latin typeface="Vitesse Book" charset="0"/>
              <a:ea typeface="Vitesse Book" charset="0"/>
              <a:cs typeface="Vitesse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9563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62843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350119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b="1" i="0" kern="1200" dirty="0">
                <a:solidFill>
                  <a:schemeClr val="tx1"/>
                </a:solidFill>
                <a:latin typeface="Vitesse" charset="0"/>
                <a:ea typeface="Vitesse" charset="0"/>
                <a:cs typeface="Vitess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628650" y="1376363"/>
            <a:ext cx="5078814" cy="32861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2563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85911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01257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07684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7951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22129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26317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6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theme" Target="../theme/theme2.xml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theme" Target="../theme/theme5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lue-Background-Shape-02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6" name="Picture 15" descr="honeycomb_gradient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12" name="Picture 11" descr="corner_logo_white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0" y="3470730"/>
            <a:ext cx="966919" cy="1672770"/>
          </a:xfrm>
          <a:prstGeom prst="rect">
            <a:avLst/>
          </a:prstGeom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628650" y="274638"/>
            <a:ext cx="4686928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4686928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2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1" r:id="rId2"/>
  </p:sldLayoutIdLst>
  <p:txStyles>
    <p:titleStyle>
      <a:lvl1pPr algn="l" defTabSz="457200" rtl="0" eaLnBrk="1" latinLnBrk="0" hangingPunct="1">
        <a:spcBef>
          <a:spcPct val="0"/>
        </a:spcBef>
        <a:buNone/>
        <a:defRPr sz="4400" b="1" i="0" kern="1200">
          <a:solidFill>
            <a:schemeClr val="tx1"/>
          </a:solidFill>
          <a:latin typeface="Vitesse" charset="0"/>
          <a:ea typeface="Vitesse" charset="0"/>
          <a:cs typeface="Vitesse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oneycomb_gradient.png"/>
          <p:cNvPicPr>
            <a:picLocks noChangeAspect="1"/>
          </p:cNvPicPr>
          <p:nvPr userDrawn="1"/>
        </p:nvPicPr>
        <p:blipFill>
          <a:blip r:embed="rId10" cstate="print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4" name="Picture 3" descr="corner-patina.pn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183" y="3510676"/>
            <a:ext cx="941817" cy="163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1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ull-screen-patina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3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-Background-Shape-03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" name="Picture 11" descr="corner_logo_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0" y="3470730"/>
            <a:ext cx="966919" cy="167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6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rner_logo_blue.pn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182" y="3514154"/>
            <a:ext cx="941818" cy="1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5" r:id="rId2"/>
    <p:sldLayoutId id="2147483668" r:id="rId3"/>
    <p:sldLayoutId id="2147483670" r:id="rId4"/>
    <p:sldLayoutId id="2147483658" r:id="rId5"/>
    <p:sldLayoutId id="2147483649" r:id="rId6"/>
    <p:sldLayoutId id="2147483660" r:id="rId7"/>
    <p:sldLayoutId id="2147483675" r:id="rId8"/>
    <p:sldLayoutId id="2147483676" r:id="rId9"/>
    <p:sldLayoutId id="2147483677" r:id="rId10"/>
    <p:sldLayoutId id="2147483679" r:id="rId11"/>
    <p:sldLayoutId id="2147483680" r:id="rId12"/>
    <p:sldLayoutId id="2147483682" r:id="rId13"/>
    <p:sldLayoutId id="2147483683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192005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/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0351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Other Regression Methods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Nicoleta Serban,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Associate 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102100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Spatial Regression</a:t>
            </a:r>
            <a:endParaRPr lang="en-US" sz="2000" dirty="0"/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720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About </a:t>
            </a:r>
            <a:r>
              <a:rPr lang="en-US" sz="3600" dirty="0" smtClean="0"/>
              <a:t>this lesson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49" y="1268454"/>
            <a:ext cx="4914900" cy="187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8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85479" y="1059070"/>
            <a:ext cx="57721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Data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1p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},….,{(x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n1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</a:t>
            </a: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  <a:p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Model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0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+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i1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+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i2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+…+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p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+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=1,…,n</a:t>
            </a:r>
          </a:p>
          <a:p>
            <a:pPr eaLnBrk="1" hangingPunct="1"/>
            <a:endParaRPr lang="en-US" altLang="en-US" dirty="0">
              <a:ea typeface="Cambria Math" charset="0"/>
            </a:endParaRP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381000" y="2419350"/>
            <a:ext cx="7838552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Assumptions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Linearity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/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Mean Zero Assumption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E(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 0</a:t>
            </a:r>
            <a:endParaRPr lang="en-US" altLang="en-US" dirty="0">
              <a:latin typeface="Times New Roman" panose="02020603050405020304" pitchFamily="18" charset="0"/>
              <a:ea typeface="Cambria Math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Constant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Variance 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Var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(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s</a:t>
            </a:r>
            <a:r>
              <a:rPr lang="en-US" altLang="en-US" baseline="30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endParaRPr lang="en-US" altLang="en-US" baseline="30000" dirty="0">
              <a:latin typeface="Times New Roman" panose="02020603050405020304" pitchFamily="18" charset="0"/>
              <a:ea typeface="Cambria Math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Independence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,…,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</a:t>
            </a:r>
            <a:r>
              <a:rPr lang="en-US" altLang="en-US" dirty="0">
                <a:latin typeface="Times New Roman" panose="02020603050405020304" pitchFamily="18" charset="0"/>
                <a:ea typeface="Cambria Math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are 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independent random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variables</a:t>
            </a:r>
            <a:endParaRPr lang="en-US" altLang="en-US" dirty="0">
              <a:latin typeface="Cambria Math" charset="0"/>
              <a:ea typeface="Cambria Math" charset="0"/>
              <a:cs typeface="Cambria Math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 Normality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~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Normal</a:t>
            </a: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81000" y="1576560"/>
            <a:ext cx="7456714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What if uncorrelated errors assumption does not hold?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Degrees of freedom: not equal to the sample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H</a:t>
            </a: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igher variability or uncertainty than estimated thus less reliable statistical inference</a:t>
            </a:r>
            <a:endParaRPr lang="en-US" altLang="en-US" b="1" dirty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7520052" cy="993775"/>
          </a:xfrm>
        </p:spPr>
        <p:txBody>
          <a:bodyPr/>
          <a:lstStyle/>
          <a:p>
            <a:r>
              <a:rPr lang="en-US" altLang="zh-CN" sz="3600" dirty="0" smtClean="0"/>
              <a:t>Multiple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Linear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Regression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8188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pPr algn="l"/>
            <a:r>
              <a:rPr lang="en-US" sz="3600" dirty="0" smtClean="0"/>
              <a:t>Example: Spatial Processes</a:t>
            </a:r>
            <a:endParaRPr lang="en-US" sz="3600" dirty="0"/>
          </a:p>
        </p:txBody>
      </p:sp>
      <p:sp>
        <p:nvSpPr>
          <p:cNvPr id="5" name="Content Placeholder 2"/>
          <p:cNvSpPr>
            <a:spLocks noGrp="1"/>
          </p:cNvSpPr>
          <p:nvPr>
            <p:ph idx="4294967295"/>
          </p:nvPr>
        </p:nvSpPr>
        <p:spPr>
          <a:xfrm>
            <a:off x="285479" y="1060609"/>
            <a:ext cx="8265119" cy="411102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200" b="1" dirty="0" smtClean="0">
                <a:latin typeface="Helvetica Neue"/>
              </a:rPr>
              <a:t>Correlation in space</a:t>
            </a:r>
            <a:r>
              <a:rPr lang="en-US" sz="2200" dirty="0" smtClean="0">
                <a:latin typeface="Helvetica Neue"/>
              </a:rPr>
              <a:t>: 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Helvetica Neue"/>
              </a:rPr>
              <a:t>Travel distance to a primary care provider evaluated at the community level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Helvetica Neue"/>
              </a:rPr>
              <a:t>The number emergency department visit per member per-month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Helvetica Neue"/>
              </a:rPr>
              <a:t>Locations of outbreak of a disease, for example, </a:t>
            </a:r>
            <a:r>
              <a:rPr lang="en-US" sz="2200" dirty="0" err="1" smtClean="0">
                <a:latin typeface="Helvetica Neue"/>
              </a:rPr>
              <a:t>Zika</a:t>
            </a:r>
            <a:endParaRPr lang="en-US" sz="2200" dirty="0" smtClean="0">
              <a:latin typeface="Helvetica Neue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Helvetica Neue"/>
              </a:rPr>
              <a:t>Functional </a:t>
            </a:r>
            <a:r>
              <a:rPr lang="en-US" sz="2200" dirty="0" err="1" smtClean="0">
                <a:latin typeface="Helvetica Neue"/>
              </a:rPr>
              <a:t>Magentic</a:t>
            </a:r>
            <a:r>
              <a:rPr lang="en-US" sz="2200" dirty="0" smtClean="0">
                <a:latin typeface="Helvetica Neue"/>
              </a:rPr>
              <a:t> Resonance Imaging (fMRI)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Helvetica Neue"/>
              </a:rPr>
              <a:t>Trajectory of the bison in the landscape </a:t>
            </a:r>
          </a:p>
          <a:p>
            <a:pPr lvl="1" indent="0">
              <a:lnSpc>
                <a:spcPct val="110000"/>
              </a:lnSpc>
              <a:buNone/>
            </a:pPr>
            <a:endParaRPr lang="en-US" sz="1800" dirty="0">
              <a:solidFill>
                <a:prstClr val="black"/>
              </a:solidFill>
              <a:latin typeface="Helvetica Neue"/>
            </a:endParaRPr>
          </a:p>
          <a:p>
            <a:pPr>
              <a:lnSpc>
                <a:spcPct val="110000"/>
              </a:lnSpc>
            </a:pPr>
            <a:endParaRPr lang="en-US" sz="1800" dirty="0" smtClean="0">
              <a:latin typeface="Helvetica Neue"/>
            </a:endParaRPr>
          </a:p>
          <a:p>
            <a:pPr lvl="1" indent="0">
              <a:lnSpc>
                <a:spcPct val="110000"/>
              </a:lnSpc>
              <a:buNone/>
            </a:pPr>
            <a:endParaRPr lang="en-US" sz="1800" dirty="0" smtClean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4498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pPr algn="l"/>
            <a:r>
              <a:rPr lang="en-US" sz="3600" dirty="0" smtClean="0"/>
              <a:t>Spatial Process: Characteristics</a:t>
            </a:r>
            <a:endParaRPr lang="en-US" sz="3600" dirty="0"/>
          </a:p>
        </p:txBody>
      </p:sp>
      <p:sp>
        <p:nvSpPr>
          <p:cNvPr id="5" name="Content Placeholder 2"/>
          <p:cNvSpPr>
            <a:spLocks noGrp="1"/>
          </p:cNvSpPr>
          <p:nvPr>
            <p:ph idx="4294967295"/>
          </p:nvPr>
        </p:nvSpPr>
        <p:spPr>
          <a:xfrm>
            <a:off x="285479" y="1008035"/>
            <a:ext cx="8265119" cy="41110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 Neue"/>
              </a:rPr>
              <a:t>T</a:t>
            </a:r>
            <a:r>
              <a:rPr lang="en-US" sz="2200" b="1" dirty="0" smtClean="0">
                <a:latin typeface="Helvetica Neue"/>
              </a:rPr>
              <a:t>rend</a:t>
            </a:r>
            <a:r>
              <a:rPr lang="en-US" sz="2200" dirty="0" smtClean="0">
                <a:latin typeface="Helvetica Neue"/>
              </a:rPr>
              <a:t>: long-distance </a:t>
            </a:r>
            <a:r>
              <a:rPr lang="en-US" sz="2200" dirty="0">
                <a:latin typeface="Helvetica Neue"/>
              </a:rPr>
              <a:t>increase or decrease in the </a:t>
            </a:r>
            <a:r>
              <a:rPr lang="en-US" sz="2200" dirty="0" smtClean="0">
                <a:latin typeface="Helvetica Neue"/>
              </a:rPr>
              <a:t>data over space</a:t>
            </a:r>
            <a:endParaRPr lang="en-US" sz="2200" dirty="0">
              <a:latin typeface="Helvetica Neue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Helvetica Neue"/>
              </a:rPr>
              <a:t>Smoothness</a:t>
            </a:r>
            <a:r>
              <a:rPr lang="en-US" sz="2200" dirty="0" smtClean="0">
                <a:latin typeface="Helvetica Neue"/>
              </a:rPr>
              <a:t>: observations change slowly as the distance between their location increases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 err="1" smtClean="0">
                <a:latin typeface="Helvetica Neue"/>
              </a:rPr>
              <a:t>Heteroskedasticity</a:t>
            </a:r>
            <a:r>
              <a:rPr lang="en-US" sz="2200" dirty="0" smtClean="0">
                <a:latin typeface="Helvetica Neue"/>
              </a:rPr>
              <a:t>: varying variance</a:t>
            </a:r>
            <a:r>
              <a:rPr lang="en-US" sz="2200" dirty="0">
                <a:latin typeface="Helvetica Neue"/>
              </a:rPr>
              <a:t> </a:t>
            </a:r>
            <a:r>
              <a:rPr lang="en-US" sz="2200" dirty="0" smtClean="0">
                <a:latin typeface="Helvetica Neue"/>
              </a:rPr>
              <a:t>with space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Helvetica Neue"/>
              </a:rPr>
              <a:t>Continuous vs. Discrete</a:t>
            </a:r>
            <a:r>
              <a:rPr lang="en-US" sz="2200" dirty="0" smtClean="0">
                <a:latin typeface="Helvetica Neue"/>
              </a:rPr>
              <a:t>: at each location observe a numeric value versus a binary response versus a count response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Helvetica Neue"/>
              </a:rPr>
              <a:t>Regular vs. irregular design</a:t>
            </a:r>
            <a:r>
              <a:rPr lang="en-US" sz="2200" dirty="0" smtClean="0">
                <a:latin typeface="Helvetica Neue"/>
              </a:rPr>
              <a:t>: the spatial process can be observed within regular or irregular division of the space</a:t>
            </a:r>
          </a:p>
          <a:p>
            <a:pPr>
              <a:lnSpc>
                <a:spcPct val="110000"/>
              </a:lnSpc>
            </a:pPr>
            <a:endParaRPr lang="en-US" sz="2200" dirty="0" smtClean="0">
              <a:latin typeface="Helvetica Neue"/>
            </a:endParaRPr>
          </a:p>
          <a:p>
            <a:pPr lvl="1" indent="0">
              <a:lnSpc>
                <a:spcPct val="110000"/>
              </a:lnSpc>
              <a:buNone/>
            </a:pPr>
            <a:endParaRPr lang="en-US" sz="2200" dirty="0" smtClean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3357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r>
              <a:rPr lang="en-US" sz="3600" dirty="0" smtClean="0"/>
              <a:t>Example 1: ED Care Utilization</a:t>
            </a:r>
            <a:endParaRPr lang="en-US" sz="36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48" y="1637211"/>
            <a:ext cx="3753595" cy="32630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017" y="1637211"/>
            <a:ext cx="3847068" cy="33307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1110194"/>
            <a:ext cx="3111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smtClean="0"/>
              <a:t>Percentage of </a:t>
            </a:r>
            <a:r>
              <a:rPr lang="en-US" sz="1400" b="1" i="1" dirty="0" smtClean="0"/>
              <a:t>Children </a:t>
            </a:r>
            <a:r>
              <a:rPr lang="en-US" sz="1400" i="1" dirty="0" smtClean="0"/>
              <a:t>with an ED visit</a:t>
            </a:r>
            <a:endParaRPr lang="en-US" sz="1400" i="1" dirty="0"/>
          </a:p>
        </p:txBody>
      </p:sp>
      <p:sp>
        <p:nvSpPr>
          <p:cNvPr id="13" name="TextBox 12"/>
          <p:cNvSpPr txBox="1"/>
          <p:nvPr/>
        </p:nvSpPr>
        <p:spPr>
          <a:xfrm>
            <a:off x="4149634" y="1110193"/>
            <a:ext cx="3111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smtClean="0"/>
              <a:t>Percentage of </a:t>
            </a:r>
            <a:r>
              <a:rPr lang="en-US" sz="1400" b="1" i="1" dirty="0" smtClean="0"/>
              <a:t>Adults </a:t>
            </a:r>
            <a:r>
              <a:rPr lang="en-US" sz="1400" i="1" dirty="0" smtClean="0"/>
              <a:t>with an ED visit</a:t>
            </a:r>
            <a:endParaRPr lang="en-US" sz="1400" i="1" dirty="0"/>
          </a:p>
        </p:txBody>
      </p:sp>
      <p:sp>
        <p:nvSpPr>
          <p:cNvPr id="14" name="Rectangle 13"/>
          <p:cNvSpPr/>
          <p:nvPr/>
        </p:nvSpPr>
        <p:spPr>
          <a:xfrm>
            <a:off x="2044807" y="1509150"/>
            <a:ext cx="1219200" cy="7216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525367" y="1803404"/>
            <a:ext cx="1219200" cy="7216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7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pPr algn="l"/>
            <a:r>
              <a:rPr lang="en-US" sz="3600" dirty="0" smtClean="0"/>
              <a:t>Example 2: fMRI</a:t>
            </a: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34" y="1299950"/>
            <a:ext cx="6862185" cy="321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40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pPr algn="l"/>
            <a:r>
              <a:rPr lang="en-US" sz="3600" dirty="0" smtClean="0"/>
              <a:t>Example: Bison Trajectory</a:t>
            </a: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04" y="1011674"/>
            <a:ext cx="5122470" cy="396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8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pPr algn="l"/>
            <a:r>
              <a:rPr lang="en-US" sz="3600" dirty="0" smtClean="0"/>
              <a:t>Spatial Analysis: Basics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280790" y="1004341"/>
                <a:ext cx="8265119" cy="41110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2200" b="1" dirty="0" smtClean="0">
                    <a:latin typeface="Helvetica Neue"/>
                  </a:rPr>
                  <a:t>Data</a:t>
                </a:r>
                <a:r>
                  <a:rPr lang="en-US" sz="2200" dirty="0" smtClean="0"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200" dirty="0" smtClean="0">
                    <a:latin typeface="Helvetica Neue"/>
                  </a:rPr>
                  <a:t>where </a:t>
                </a:r>
                <a:r>
                  <a:rPr lang="en-US" sz="2200" i="1" dirty="0">
                    <a:latin typeface="Helvetica Neue"/>
                  </a:rPr>
                  <a:t>s</a:t>
                </a:r>
                <a:r>
                  <a:rPr lang="en-US" sz="2200" dirty="0" smtClean="0">
                    <a:latin typeface="Helvetica Neue"/>
                  </a:rPr>
                  <a:t> indexes space, e.g. voxels, census tract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200" b="1" dirty="0" smtClean="0">
                    <a:latin typeface="Helvetica Neue"/>
                  </a:rPr>
                  <a:t>Model</a:t>
                </a:r>
                <a:r>
                  <a:rPr lang="en-US" sz="2200" dirty="0" smtClean="0">
                    <a:latin typeface="Helvetica Neue"/>
                  </a:rPr>
                  <a:t>: 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Helvetica Neue"/>
                  </a:rPr>
                  <a:t> numeric response vs. point process 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</a:t>
                </a:r>
                <a:r>
                  <a:rPr lang="en-US" sz="2200" dirty="0" smtClean="0">
                    <a:latin typeface="Helvetica Neue"/>
                  </a:rPr>
                  <a:t>stationary vs. non-stationary 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</a:t>
                </a:r>
                <a:r>
                  <a:rPr lang="en-US" sz="2200" dirty="0" smtClean="0">
                    <a:latin typeface="Helvetica Neue"/>
                  </a:rPr>
                  <a:t>isotropic process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00" dirty="0" smtClean="0">
                    <a:latin typeface="Helvetica Neue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00" dirty="0">
                    <a:latin typeface="Helvetica Neue"/>
                  </a:rPr>
                  <a:t> </a:t>
                </a:r>
                <a:r>
                  <a:rPr lang="en-US" sz="2200" dirty="0" smtClean="0">
                    <a:latin typeface="Helvetica Neue"/>
                  </a:rPr>
                  <a:t>is the space domain: irregular vs regular observation grid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 smtClean="0">
                    <a:latin typeface="Helvetica Neue"/>
                  </a:rPr>
                  <a:t>Large scale vs. small-scale spatial dependence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endParaRPr lang="en-US" sz="2200" dirty="0" smtClean="0">
                  <a:latin typeface="Helvetica Neue"/>
                </a:endParaRP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endParaRPr lang="en-US" sz="22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280790" y="1004341"/>
                <a:ext cx="8265119" cy="4111025"/>
              </a:xfrm>
              <a:prstGeom prst="rect">
                <a:avLst/>
              </a:prstGeom>
              <a:blipFill>
                <a:blip r:embed="rId3"/>
                <a:stretch>
                  <a:fillRect l="-959" t="-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157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Summary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05"/>
          <a:stretch/>
        </p:blipFill>
        <p:spPr>
          <a:xfrm>
            <a:off x="1357951" y="1162494"/>
            <a:ext cx="2605548" cy="349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8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347E77A7-2B37-4C4C-98D0-4FAA10DB4A58}"/>
    </a:ext>
  </a:extLst>
</a:theme>
</file>

<file path=ppt/theme/theme2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001C2D1D-E3C7-1F40-85E2-5B0FD0A83E00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C8FB9013-53DF-0348-872B-A68C29C4A68B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B8D62D-BE99-40AF-BF97-BFAE812B12CE}">
  <ds:schemaRefs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b057fda7-913b-4ab6-8820-932873bcd66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16774</TotalTime>
  <Words>372</Words>
  <Application>Microsoft Macintosh PowerPoint</Application>
  <PresentationFormat>On-screen Show (16:9)</PresentationFormat>
  <Paragraphs>57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28" baseType="lpstr">
      <vt:lpstr>Arial</vt:lpstr>
      <vt:lpstr>Calibri</vt:lpstr>
      <vt:lpstr>Cambria Math</vt:lpstr>
      <vt:lpstr>Helvetica</vt:lpstr>
      <vt:lpstr>Helvetica Neue</vt:lpstr>
      <vt:lpstr>Symbol</vt:lpstr>
      <vt:lpstr>Times New Roman</vt:lpstr>
      <vt:lpstr>Vitesse</vt:lpstr>
      <vt:lpstr>Vitesse Bold</vt:lpstr>
      <vt:lpstr>Vitesse Book</vt:lpstr>
      <vt:lpstr>Vitesse Medium</vt:lpstr>
      <vt:lpstr>Vitesse Thin</vt:lpstr>
      <vt:lpstr>宋体</vt:lpstr>
      <vt:lpstr>1_Office Theme</vt:lpstr>
      <vt:lpstr>Full Page Layout</vt:lpstr>
      <vt:lpstr>Half Page Slash</vt:lpstr>
      <vt:lpstr>3_Office Theme</vt:lpstr>
      <vt:lpstr>2_Office Theme</vt:lpstr>
      <vt:lpstr>PowerPoint Presentation</vt:lpstr>
      <vt:lpstr>About this lesson</vt:lpstr>
      <vt:lpstr>Multiple Linear Regression</vt:lpstr>
      <vt:lpstr>Example: Spatial Processes</vt:lpstr>
      <vt:lpstr>Spatial Process: Characteristics</vt:lpstr>
      <vt:lpstr>Example 1: ED Care Utilization</vt:lpstr>
      <vt:lpstr>Example 2: fMRI</vt:lpstr>
      <vt:lpstr>Example: Bison Trajectory</vt:lpstr>
      <vt:lpstr>Spatial Analysis: Basics</vt:lpstr>
      <vt:lpstr>Summary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Microsoft Office User</cp:lastModifiedBy>
  <cp:revision>857</cp:revision>
  <dcterms:modified xsi:type="dcterms:W3CDTF">2017-04-27T17:48:55Z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