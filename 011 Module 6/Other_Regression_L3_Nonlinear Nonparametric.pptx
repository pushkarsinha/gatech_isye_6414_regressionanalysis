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17"/>
  </p:notesMasterIdLst>
  <p:handoutMasterIdLst>
    <p:handoutMasterId r:id="rId18"/>
  </p:handoutMasterIdLst>
  <p:sldIdLst>
    <p:sldId id="434" r:id="rId9"/>
    <p:sldId id="408" r:id="rId10"/>
    <p:sldId id="498" r:id="rId11"/>
    <p:sldId id="446" r:id="rId12"/>
    <p:sldId id="499" r:id="rId13"/>
    <p:sldId id="500" r:id="rId14"/>
    <p:sldId id="501" r:id="rId15"/>
    <p:sldId id="42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498"/>
            <p14:sldId id="446"/>
            <p14:sldId id="499"/>
            <p14:sldId id="500"/>
            <p14:sldId id="501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3F6CAF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4" autoAdjust="0"/>
    <p:restoredTop sz="89904" autoAdjust="0"/>
  </p:normalViewPr>
  <p:slideViewPr>
    <p:cSldViewPr snapToGrid="0">
      <p:cViewPr varScale="1">
        <p:scale>
          <a:sx n="118" d="100"/>
          <a:sy n="118" d="100"/>
        </p:scale>
        <p:origin x="200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4582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5704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1447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3569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Other Regression Methods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Nonlinear &amp; Nonparametric Regression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85479" y="1059070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</a:p>
          <a:p>
            <a:pPr eaLnBrk="1" hangingPunct="1"/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b="1" dirty="0"/>
              <a:t> 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b="1" dirty="0"/>
              <a:t>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b="1" dirty="0"/>
              <a:t> 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b="1" dirty="0"/>
              <a:t>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b="1" dirty="0"/>
              <a:t> </a:t>
            </a:r>
            <a:r>
              <a:rPr lang="en-US" altLang="en-US" b="1" dirty="0" smtClean="0">
                <a:latin typeface="Cambria Math" charset="0"/>
                <a:ea typeface="Cambria Math" charset="0"/>
                <a:cs typeface="Cambria Math" charset="0"/>
              </a:rPr>
              <a:t>+…+</a:t>
            </a:r>
            <a:r>
              <a:rPr lang="en-US" altLang="en-US" b="1" dirty="0" smtClean="0"/>
              <a:t> </a:t>
            </a:r>
            <a:r>
              <a:rPr lang="en-US" altLang="en-US" b="1" dirty="0" err="1" smtClean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 err="1" smtClean="0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b="1" dirty="0" err="1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 err="1" smtClean="0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="1" baseline="-25000" dirty="0" smtClean="0"/>
              <a:t> </a:t>
            </a:r>
            <a:r>
              <a:rPr lang="en-US" altLang="en-US" b="1" dirty="0" smtClean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b="1" dirty="0" smtClean="0"/>
              <a:t> </a:t>
            </a:r>
            <a:r>
              <a:rPr lang="en-US" altLang="en-US" b="1" dirty="0" err="1" smtClean="0">
                <a:latin typeface="Symbol" panose="05050102010706020507" pitchFamily="18" charset="2"/>
              </a:rPr>
              <a:t>e</a:t>
            </a:r>
            <a:r>
              <a:rPr lang="en-US" altLang="en-US" b="1" baseline="-25000" dirty="0" err="1" smtClean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85479" y="2333942"/>
            <a:ext cx="8155136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 smtClean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 smtClean="0">
                <a:latin typeface="Cambria Math" charset="0"/>
                <a:ea typeface="Cambria Math" charset="0"/>
                <a:cs typeface="Cambria Math" charset="0"/>
              </a:rPr>
              <a:t>2</a:t>
            </a:r>
            <a:endParaRPr lang="en-US" altLang="en-US" baseline="30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54917" y="1104286"/>
            <a:ext cx="8305801" cy="23698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What if nonlinearity assumption does not hold?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it does not hold for few quantitative predicting variables and transformation not known </a:t>
            </a: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⇒ 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Use transformations of the predicting variables to improve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the relationship between response and the predicting variables is known </a:t>
            </a: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⇒</a:t>
            </a: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 Use Nonlinear 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it does not hold for many variables </a:t>
            </a: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⇒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 Use Generalized Additive Regression </a:t>
            </a:r>
            <a:endParaRPr lang="en-US" altLang="en-US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7520052" cy="649770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18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Nonlinear Regression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Mass spectroscopy or NMR frequency data: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f>
                            <m:fPr>
                              <m:ctrlPr>
                                <a:rPr lang="en-US" sz="220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20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200" i="1" smtClean="0"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200" i="1" smtClean="0">
                                              <a:latin typeface="Cambria Math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latin typeface="Cambria Math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200" b="0" i="1" smtClean="0"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b="0" dirty="0" smtClean="0"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200" dirty="0">
                    <a:latin typeface="Helvetica Neue"/>
                  </a:rPr>
                  <a:t>    </a:t>
                </a:r>
              </a:p>
              <a:p>
                <a:pPr lvl="1" indent="0">
                  <a:lnSpc>
                    <a:spcPct val="110000"/>
                  </a:lnSpc>
                  <a:buNone/>
                </a:pPr>
                <a:endParaRPr lang="en-US" sz="2200" dirty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endParaRPr lang="en-US" sz="2200" dirty="0" smtClean="0">
                  <a:latin typeface="Helvetica Neue"/>
                </a:endParaRPr>
              </a:p>
              <a:p>
                <a:pPr lvl="1" indent="0">
                  <a:lnSpc>
                    <a:spcPct val="110000"/>
                  </a:lnSpc>
                  <a:buNone/>
                </a:pPr>
                <a:endParaRPr lang="en-US" sz="2200" dirty="0" smtClean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886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28" y="2464443"/>
            <a:ext cx="2591571" cy="2545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 rot="10800000" flipV="1">
                <a:off x="3268088" y="2464443"/>
                <a:ext cx="4890053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Helvetica Neue"/>
                  </a:rPr>
                  <a:t>Each peak corresponds to one component in the sum, with L different peaks;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Helvetica Neue"/>
                  </a:rPr>
                  <a:t>Assume L is known;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Helvetica Neue"/>
                  </a:rPr>
                  <a:t>Parameters: 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 smtClean="0">
                    <a:latin typeface="Helvetica Neue"/>
                  </a:rPr>
                  <a:t> for l=1,..,L which are the centers of the peaks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>
                    <a:latin typeface="Helvetica Neue"/>
                  </a:rPr>
                  <a:t> for l=1,..,L which are the </a:t>
                </a:r>
                <a:r>
                  <a:rPr lang="en-US" dirty="0" smtClean="0">
                    <a:latin typeface="Helvetica Neue"/>
                  </a:rPr>
                  <a:t>amplitudes </a:t>
                </a:r>
                <a:r>
                  <a:rPr lang="en-US" dirty="0">
                    <a:latin typeface="Helvetica Neue"/>
                  </a:rPr>
                  <a:t>of the peaks</a:t>
                </a:r>
              </a:p>
              <a:p>
                <a:pPr lvl="1"/>
                <a:endParaRPr lang="en-US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268088" y="2464443"/>
                <a:ext cx="4890053" cy="2585323"/>
              </a:xfrm>
              <a:prstGeom prst="rect">
                <a:avLst/>
              </a:prstGeom>
              <a:blipFill rotWithShape="0">
                <a:blip r:embed="rId5"/>
                <a:stretch>
                  <a:fillRect l="-748" t="-1179" r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91376" y="2843562"/>
            <a:ext cx="745671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Nonlinear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regression function has a known structure given the predicting variable(s);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regression function depends on a series of parameters.</a:t>
            </a:r>
          </a:p>
        </p:txBody>
      </p:sp>
    </p:spTree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993775"/>
          </a:xfrm>
        </p:spPr>
        <p:txBody>
          <a:bodyPr/>
          <a:lstStyle/>
          <a:p>
            <a:r>
              <a:rPr lang="en-US" altLang="zh-CN" sz="3600" dirty="0" smtClean="0"/>
              <a:t>Nonlinear Regression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68393" y="970929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en-US" sz="2200" b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Model Description: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Data</a:t>
                </a:r>
                <a:r>
                  <a:rPr lang="en-US" altLang="en-US" sz="2200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{(x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11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,.., 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1p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),Y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},….,{(x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n1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,.., 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np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),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}</a:t>
                </a:r>
                <a:r>
                  <a:rPr lang="en-US" altLang="en-US" sz="22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Model</a:t>
                </a:r>
                <a:r>
                  <a:rPr lang="en-US" altLang="en-US" sz="2200" dirty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= 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f(x</a:t>
                </a:r>
                <a:r>
                  <a:rPr lang="en-US" altLang="en-US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i1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ip</a:t>
                </a:r>
                <a:r>
                  <a:rPr lang="en-US" altLang="en-US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|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 +</a:t>
                </a:r>
                <a:r>
                  <a:rPr lang="en-US" altLang="en-US" sz="2200" dirty="0" smtClean="0"/>
                  <a:t> </a:t>
                </a:r>
                <a:r>
                  <a:rPr lang="en-US" altLang="en-US" sz="2200" dirty="0" err="1" smtClean="0">
                    <a:latin typeface="Symbol" panose="05050102010706020507" pitchFamily="18" charset="2"/>
                  </a:rPr>
                  <a:t>e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 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=1,…,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f(x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ip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|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altLang="en-US" sz="2200" dirty="0" smtClean="0"/>
                  <a:t> </a:t>
                </a:r>
                <a:r>
                  <a:rPr lang="en-US" altLang="en-US" sz="2200" dirty="0" smtClean="0">
                    <a:latin typeface="Helvetica Neue"/>
                  </a:rPr>
                  <a:t>known up to the </a:t>
                </a:r>
                <a:r>
                  <a:rPr lang="en-US" altLang="en-US" sz="2200" dirty="0">
                    <a:solidFill>
                      <a:prstClr val="black"/>
                    </a:solidFill>
                    <a:latin typeface="Helvetica Neue"/>
                  </a:rPr>
                  <a:t>p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arameter Vector: 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2200" dirty="0" smtClean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Model Estimation: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Estimate </a:t>
                </a:r>
                <a:r>
                  <a:rPr lang="en-US" altLang="en-US" sz="2200" dirty="0" smtClean="0">
                    <a:latin typeface="Helvetica Neue"/>
                  </a:rPr>
                  <a:t>by minimizing with respect to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22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2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f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xi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1,…,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xip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|)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 marL="342900" lvl="0" indent="-342900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Apply numeric algorithms to obtain the estimate for </a:t>
                </a:r>
                <a:r>
                  <a:rPr lang="en-US" altLang="en-US" sz="2200" dirty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93" y="970929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959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803490" y="3938954"/>
            <a:ext cx="1024932" cy="2512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31731" y="1099851"/>
            <a:ext cx="7456714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Nonlinear vs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Use least 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squares approach </a:t>
            </a: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for estimation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;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Assume same assumptions on the error terms hence goodness of fit can be performed similarly;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Regression function is nonlinear vs linear in the parameters;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Estimation of the parameters not in close form expression for nonlinear regression.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R software: </a:t>
            </a:r>
            <a:r>
              <a:rPr lang="en-US" altLang="en-US" b="1" dirty="0" err="1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nls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() vs lm() 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Symbol" panose="05050102010706020507" pitchFamily="18" charset="2"/>
              </a:rPr>
              <a:t> Nonlinear regression is more challenging to implement</a:t>
            </a:r>
            <a:endParaRPr lang="en-US" altLang="en-US" b="1" dirty="0" smtClean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7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993775"/>
          </a:xfrm>
        </p:spPr>
        <p:txBody>
          <a:bodyPr/>
          <a:lstStyle/>
          <a:p>
            <a:r>
              <a:rPr lang="en-US" altLang="zh-CN" sz="3600" dirty="0" smtClean="0"/>
              <a:t>Nonparametric Regression </a:t>
            </a:r>
            <a:endParaRPr lang="en-US" sz="3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68394" y="970929"/>
            <a:ext cx="7881304" cy="4111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b="1" dirty="0" smtClean="0">
                <a:latin typeface="Helvetica Neue" charset="0"/>
                <a:ea typeface="Helvetica Neue" charset="0"/>
                <a:cs typeface="Helvetica Neue" charset="0"/>
              </a:rPr>
              <a:t>Model 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sz="2200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sz="2200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sz="2200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sz="2200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sz="2200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}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sz="2200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sz="2200" dirty="0" smtClean="0">
                <a:latin typeface="Cambria Math" charset="0"/>
                <a:ea typeface="Cambria Math" charset="0"/>
                <a:cs typeface="Cambria Math" charset="0"/>
              </a:rPr>
              <a:t>f(x</a:t>
            </a:r>
            <a:r>
              <a:rPr lang="en-US" altLang="en-US" sz="2200" baseline="-25000" dirty="0" smtClean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sz="2200" dirty="0" smtClean="0">
                <a:latin typeface="Cambria Math" charset="0"/>
                <a:ea typeface="Cambria Math" charset="0"/>
                <a:cs typeface="Cambria Math" charset="0"/>
              </a:rPr>
              <a:t>,…,</a:t>
            </a:r>
            <a:r>
              <a:rPr lang="en-US" altLang="en-US" sz="2200" dirty="0" err="1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sz="2200" baseline="-25000" dirty="0" err="1" smtClean="0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sz="2200" dirty="0" smtClean="0">
                <a:latin typeface="Cambria Math" charset="0"/>
                <a:ea typeface="Cambria Math" charset="0"/>
                <a:cs typeface="Cambria Math" charset="0"/>
              </a:rPr>
              <a:t>) +</a:t>
            </a:r>
            <a:r>
              <a:rPr lang="en-US" altLang="en-US" sz="2200" dirty="0" smtClean="0"/>
              <a:t> </a:t>
            </a:r>
            <a:r>
              <a:rPr lang="en-US" altLang="en-US" sz="2200" dirty="0" err="1" smtClean="0">
                <a:latin typeface="Symbol" panose="05050102010706020507" pitchFamily="18" charset="2"/>
              </a:rPr>
              <a:t>e</a:t>
            </a:r>
            <a:r>
              <a:rPr lang="en-US" altLang="en-US" sz="2200" baseline="-25000" dirty="0" err="1" smtClean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sz="22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 =1,…,</a:t>
            </a:r>
            <a:r>
              <a:rPr lang="en-US" altLang="en-US" sz="2200" dirty="0" smtClean="0">
                <a:latin typeface="Cambria Math" charset="0"/>
                <a:ea typeface="Cambria Math" charset="0"/>
                <a:cs typeface="Cambria Math" charset="0"/>
              </a:rPr>
              <a:t>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f(x</a:t>
            </a:r>
            <a:r>
              <a:rPr lang="en-US" altLang="en-US" sz="2200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sz="2200" dirty="0">
                <a:latin typeface="Cambria Math" charset="0"/>
                <a:ea typeface="Cambria Math" charset="0"/>
                <a:cs typeface="Cambria Math" charset="0"/>
              </a:rPr>
              <a:t>,…,</a:t>
            </a:r>
            <a:r>
              <a:rPr lang="en-US" altLang="en-US" sz="2200" dirty="0" err="1" smtClean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sz="2200" baseline="-25000" dirty="0" err="1" smtClean="0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sz="2200" dirty="0" smtClean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US" altLang="en-US" sz="2200" u="sng" dirty="0" smtClean="0"/>
              <a:t>un</a:t>
            </a:r>
            <a:r>
              <a:rPr lang="en-US" altLang="en-US" sz="2200" u="sng" dirty="0" smtClean="0">
                <a:latin typeface="Helvetica Neue"/>
              </a:rPr>
              <a:t>known</a:t>
            </a:r>
            <a:r>
              <a:rPr lang="en-US" altLang="en-US" sz="2200" dirty="0" smtClean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2200" b="1" dirty="0" smtClean="0">
                <a:solidFill>
                  <a:prstClr val="black"/>
                </a:solidFill>
                <a:latin typeface="Helvetica Neue"/>
              </a:rPr>
              <a:t>Model Estimation: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i="1" dirty="0" smtClean="0">
                <a:solidFill>
                  <a:prstClr val="black"/>
                </a:solidFill>
                <a:latin typeface="Helvetica Neue"/>
              </a:rPr>
              <a:t>Curse of dimensionality</a:t>
            </a:r>
            <a:r>
              <a:rPr lang="en-US" sz="2200" dirty="0">
                <a:solidFill>
                  <a:prstClr val="black"/>
                </a:solidFill>
                <a:latin typeface="Helvetica Neue"/>
              </a:rPr>
              <a:t>: To maintain a given degree of accuracy of an estimator, the sample size </a:t>
            </a:r>
            <a:r>
              <a:rPr lang="en-US" sz="2200" dirty="0" smtClean="0">
                <a:solidFill>
                  <a:prstClr val="black"/>
                </a:solidFill>
                <a:latin typeface="Helvetica Neue"/>
              </a:rPr>
              <a:t>must increase </a:t>
            </a:r>
            <a:r>
              <a:rPr lang="en-US" sz="2200" dirty="0">
                <a:solidFill>
                  <a:prstClr val="black"/>
                </a:solidFill>
                <a:latin typeface="Helvetica Neue"/>
              </a:rPr>
              <a:t>exponentially with the dimension </a:t>
            </a:r>
            <a:r>
              <a:rPr lang="en-US" sz="2200" dirty="0" smtClean="0">
                <a:solidFill>
                  <a:prstClr val="black"/>
                </a:solidFill>
                <a:latin typeface="Helvetica Neue"/>
              </a:rPr>
              <a:t>p.</a:t>
            </a:r>
          </a:p>
          <a:p>
            <a:pPr marL="108585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prstClr val="black"/>
                </a:solidFill>
                <a:latin typeface="Helvetica Neue"/>
              </a:rPr>
              <a:t>n </a:t>
            </a:r>
            <a:r>
              <a:rPr lang="en-US" sz="2000" dirty="0">
                <a:solidFill>
                  <a:prstClr val="black"/>
                </a:solidFill>
                <a:latin typeface="Helvetica Neue"/>
              </a:rPr>
              <a:t>= 30000 points when d = 5 to get the same accuracy as n </a:t>
            </a:r>
            <a:r>
              <a:rPr lang="en-US" sz="2000" dirty="0" smtClean="0">
                <a:solidFill>
                  <a:prstClr val="black"/>
                </a:solidFill>
                <a:latin typeface="Helvetica Neue"/>
              </a:rPr>
              <a:t>= </a:t>
            </a:r>
            <a:r>
              <a:rPr lang="en-US" sz="2000" dirty="0">
                <a:solidFill>
                  <a:prstClr val="black"/>
                </a:solidFill>
                <a:latin typeface="Helvetica Neue"/>
              </a:rPr>
              <a:t>300 </a:t>
            </a:r>
            <a:r>
              <a:rPr lang="en-US" sz="2000" dirty="0" smtClean="0">
                <a:solidFill>
                  <a:prstClr val="black"/>
                </a:solidFill>
                <a:latin typeface="Helvetica Neue"/>
              </a:rPr>
              <a:t>when d </a:t>
            </a:r>
            <a:r>
              <a:rPr lang="en-US" sz="2000" dirty="0">
                <a:solidFill>
                  <a:prstClr val="black"/>
                </a:solidFill>
                <a:latin typeface="Helvetica Neue"/>
              </a:rPr>
              <a:t>= 1.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39979" y="1374710"/>
            <a:ext cx="745671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Nonparametric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regression function has an unknown structure given the predicting variable(s);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regression function does not depend on parameters.</a:t>
            </a:r>
          </a:p>
        </p:txBody>
      </p:sp>
    </p:spTree>
    <p:extLst>
      <p:ext uri="{BB962C8B-B14F-4D97-AF65-F5344CB8AC3E}">
        <p14:creationId xmlns:p14="http://schemas.microsoft.com/office/powerpoint/2010/main" val="6872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361768" cy="993775"/>
          </a:xfrm>
        </p:spPr>
        <p:txBody>
          <a:bodyPr/>
          <a:lstStyle/>
          <a:p>
            <a:r>
              <a:rPr lang="en-US" altLang="zh-CN" sz="3600" dirty="0" smtClean="0"/>
              <a:t>Nonparametric Regression (cont’d)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08104" y="970929"/>
                <a:ext cx="8710293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Generalized Additive Model (GAM):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en-US" sz="2200" b="1" dirty="0">
                    <a:latin typeface="Helvetica Neue" charset="0"/>
                    <a:ea typeface="Helvetica Neue" charset="0"/>
                    <a:cs typeface="Helvetica Neue" charset="0"/>
                  </a:rPr>
                  <a:t>Model:</a:t>
                </a:r>
                <a:r>
                  <a:rPr lang="en-US" altLang="en-US" sz="22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= f(x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ip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 + </a:t>
                </a:r>
                <a:r>
                  <a:rPr lang="en-US" altLang="en-US" sz="2200" dirty="0" err="1">
                    <a:latin typeface="Symbol" panose="05050102010706020507" pitchFamily="18" charset="2"/>
                  </a:rPr>
                  <a:t>e</a:t>
                </a:r>
                <a:r>
                  <a:rPr lang="en-US" altLang="en-US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 </a:t>
                </a:r>
                <a:r>
                  <a:rPr lang="en-US" altLang="en-US" sz="2200" dirty="0" err="1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=1,…,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n with</a:t>
                </a:r>
                <a:r>
                  <a:rPr lang="en-US" altLang="en-US" sz="2200" dirty="0" smtClean="0"/>
                  <a:t> </a:t>
                </a:r>
                <a:endParaRPr lang="en-US" sz="2200" b="1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2200" dirty="0" smtClean="0"/>
                  <a:t>              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f(x</a:t>
                </a:r>
                <a:r>
                  <a:rPr lang="en-US" altLang="en-US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(x</a:t>
                </a:r>
                <a:r>
                  <a:rPr lang="en-US" altLang="en-US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 + 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:r>
                  <a:rPr lang="en-US" altLang="en-US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altLang="en-US" sz="2200" dirty="0" smtClean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b="1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, 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alt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are unknown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          smooth functions </a:t>
                </a:r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solidFill>
                      <a:prstClr val="black"/>
                    </a:solidFill>
                    <a:latin typeface="Helvetica Neue"/>
                  </a:rPr>
                  <a:t>Model Estimation: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err="1" smtClean="0">
                    <a:solidFill>
                      <a:prstClr val="black"/>
                    </a:solidFill>
                    <a:latin typeface="Helvetica Neue"/>
                  </a:rPr>
                  <a:t>Backfitting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 algorithm: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Initialize: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Iterate </a:t>
                </a:r>
                <a:r>
                  <a:rPr lang="en-US" sz="1800" dirty="0">
                    <a:solidFill>
                      <a:prstClr val="black"/>
                    </a:solidFill>
                    <a:latin typeface="Helvetica Neue"/>
                  </a:rPr>
                  <a:t>until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convergence: For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j=1,..,p</a:t>
                </a:r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</a:p>
              <a:p>
                <a:pPr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sz="1800" i="1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alt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lang="en-US" altLang="en-US" sz="1800" baseline="-25000" dirty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lang="en-US" altLang="en-US" sz="18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altLang="en-US" sz="1800" dirty="0" smtClean="0">
                    <a:latin typeface="Cambria Math" charset="0"/>
                    <a:ea typeface="Cambria Math" charset="0"/>
                    <a:cs typeface="Cambria Math" charset="0"/>
                  </a:rPr>
                  <a:t>-</a:t>
                </a:r>
                <a:r>
                  <a:rPr lang="en-US" altLang="en-US" sz="18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sz="18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800" i="1" dirty="0" smtClean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dirty="0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800" i="1" dirty="0" smtClean="0">
                                    <a:solidFill>
                                      <a:prstClr val="black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and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from regressing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</m:t>
                    </m:r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prstClr val="black"/>
                    </a:solidFill>
                    <a:latin typeface="Helvetica Neue"/>
                  </a:rPr>
                  <a:t> </a:t>
                </a:r>
                <a:endParaRPr lang="en-US" sz="1800" dirty="0">
                  <a:solidFill>
                    <a:prstClr val="black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4" y="970929"/>
                <a:ext cx="8710293" cy="4111025"/>
              </a:xfrm>
              <a:prstGeom prst="rect">
                <a:avLst/>
              </a:prstGeom>
              <a:blipFill rotWithShape="0">
                <a:blip r:embed="rId3"/>
                <a:stretch>
                  <a:fillRect l="-910" t="-889" r="-770" b="-10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606602" y="1863969"/>
            <a:ext cx="1361552" cy="4672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58344" y="1074017"/>
            <a:ext cx="7456714" cy="1754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Nonparametric vs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relationship of a predicting variable to the response is assumed unknown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Estimation using the least squares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Estimation of the parameters not in close form expression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R software: gam() in </a:t>
            </a:r>
            <a:r>
              <a:rPr lang="en-US" altLang="en-US" b="1" dirty="0" err="1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mgcv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 or gam library</a:t>
            </a:r>
          </a:p>
        </p:txBody>
      </p:sp>
    </p:spTree>
    <p:extLst>
      <p:ext uri="{BB962C8B-B14F-4D97-AF65-F5344CB8AC3E}">
        <p14:creationId xmlns:p14="http://schemas.microsoft.com/office/powerpoint/2010/main" val="159790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057fda7-913b-4ab6-8820-932873bcd66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16182</TotalTime>
  <Words>753</Words>
  <Application>Microsoft Macintosh PowerPoint</Application>
  <PresentationFormat>On-screen Show (16:9)</PresentationFormat>
  <Paragraphs>82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28" baseType="lpstr">
      <vt:lpstr>Arial</vt:lpstr>
      <vt:lpstr>Calibri</vt:lpstr>
      <vt:lpstr>Cambria Math</vt:lpstr>
      <vt:lpstr>Helvetica</vt:lpstr>
      <vt:lpstr>Helvetica Neue</vt:lpstr>
      <vt:lpstr>MS PGothic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Wingdings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About this lesson</vt:lpstr>
      <vt:lpstr>Multiple Linear Regression</vt:lpstr>
      <vt:lpstr>Example: Nonlinear Regression</vt:lpstr>
      <vt:lpstr>Nonlinear Regression </vt:lpstr>
      <vt:lpstr>Nonparametric Regression </vt:lpstr>
      <vt:lpstr>Nonparametric Regression (cont’d) 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829</cp:revision>
  <dcterms:modified xsi:type="dcterms:W3CDTF">2017-04-27T17:44:34Z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